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6" r:id="rId3"/>
  </p:sldMasterIdLst>
  <p:notesMasterIdLst>
    <p:notesMasterId r:id="rId49"/>
  </p:notesMasterIdLst>
  <p:sldIdLst>
    <p:sldId id="514" r:id="rId4"/>
    <p:sldId id="971" r:id="rId5"/>
    <p:sldId id="1689" r:id="rId6"/>
    <p:sldId id="1705" r:id="rId7"/>
    <p:sldId id="1994" r:id="rId8"/>
    <p:sldId id="1995" r:id="rId9"/>
    <p:sldId id="2311" r:id="rId10"/>
    <p:sldId id="2312" r:id="rId11"/>
    <p:sldId id="2313" r:id="rId12"/>
    <p:sldId id="1997" r:id="rId13"/>
    <p:sldId id="2309" r:id="rId14"/>
    <p:sldId id="2302" r:id="rId15"/>
    <p:sldId id="1996" r:id="rId16"/>
    <p:sldId id="2002" r:id="rId17"/>
    <p:sldId id="2003" r:id="rId18"/>
    <p:sldId id="2005" r:id="rId19"/>
    <p:sldId id="2347" r:id="rId20"/>
    <p:sldId id="2007" r:id="rId21"/>
    <p:sldId id="454" r:id="rId22"/>
    <p:sldId id="462" r:id="rId23"/>
    <p:sldId id="2315" r:id="rId24"/>
    <p:sldId id="2317" r:id="rId25"/>
    <p:sldId id="2318" r:id="rId26"/>
    <p:sldId id="2319" r:id="rId27"/>
    <p:sldId id="2320" r:id="rId28"/>
    <p:sldId id="2314" r:id="rId29"/>
    <p:sldId id="2354" r:id="rId30"/>
    <p:sldId id="2321" r:id="rId31"/>
    <p:sldId id="2332" r:id="rId32"/>
    <p:sldId id="2334" r:id="rId33"/>
    <p:sldId id="2322" r:id="rId34"/>
    <p:sldId id="1690" r:id="rId35"/>
    <p:sldId id="2326" r:id="rId36"/>
    <p:sldId id="2327" r:id="rId37"/>
    <p:sldId id="2355" r:id="rId38"/>
    <p:sldId id="2329" r:id="rId39"/>
    <p:sldId id="2330" r:id="rId40"/>
    <p:sldId id="2331" r:id="rId41"/>
    <p:sldId id="1693" r:id="rId42"/>
    <p:sldId id="2323" r:id="rId43"/>
    <p:sldId id="2335" r:id="rId44"/>
    <p:sldId id="2336" r:id="rId45"/>
    <p:sldId id="2338" r:id="rId46"/>
    <p:sldId id="2337" r:id="rId47"/>
    <p:sldId id="2356"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7" d="100"/>
          <a:sy n="77" d="100"/>
        </p:scale>
        <p:origin x="23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226CC-D057-4076-973D-28E1C9E2EB25}" type="datetimeFigureOut">
              <a:rPr lang="zh-CN" altLang="en-US" smtClean="0"/>
              <a:t>2026-03-27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DC9969-7BFD-472B-BE30-5B3FAF9D0D4D}" type="slidenum">
              <a:rPr lang="zh-CN" altLang="en-US" smtClean="0"/>
              <a:t>‹#›</a:t>
            </a:fld>
            <a:endParaRPr lang="zh-CN" altLang="en-US"/>
          </a:p>
        </p:txBody>
      </p:sp>
    </p:spTree>
    <p:extLst>
      <p:ext uri="{BB962C8B-B14F-4D97-AF65-F5344CB8AC3E}">
        <p14:creationId xmlns:p14="http://schemas.microsoft.com/office/powerpoint/2010/main" val="3736091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A718BCC-8E0E-4014-A15C-131A86B0AD6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今年</a:t>
            </a:r>
            <a:r>
              <a:rPr lang="en-US" altLang="zh-CN" dirty="0"/>
              <a:t>2</a:t>
            </a:r>
            <a:r>
              <a:rPr lang="zh-CN" altLang="en-US" dirty="0"/>
              <a:t>月，学校发布了以“</a:t>
            </a:r>
            <a:r>
              <a:rPr lang="en-US" altLang="zh-CN" dirty="0"/>
              <a:t>1358</a:t>
            </a:r>
            <a:r>
              <a:rPr lang="zh-CN" altLang="en-US" dirty="0"/>
              <a:t>”为构架</a:t>
            </a:r>
            <a:r>
              <a:rPr lang="en-US" altLang="zh-CN" dirty="0"/>
              <a:t> </a:t>
            </a:r>
            <a:r>
              <a:rPr lang="zh-CN" altLang="en-US" dirty="0"/>
              <a:t>的</a:t>
            </a:r>
            <a:r>
              <a:rPr lang="en-US" altLang="zh-CN" dirty="0"/>
              <a:t>《</a:t>
            </a:r>
            <a:r>
              <a:rPr lang="zh-CN" altLang="en-US" dirty="0"/>
              <a:t>一流研究生教育行动计划</a:t>
            </a:r>
            <a:r>
              <a:rPr lang="en-US" altLang="zh-CN" dirty="0"/>
              <a:t>》</a:t>
            </a:r>
            <a:r>
              <a:rPr lang="zh-CN" altLang="en-US" dirty="0"/>
              <a:t>，其中重点提到了要加强核心课程建设。</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今年</a:t>
            </a:r>
            <a:r>
              <a:rPr lang="en-US" altLang="zh-CN" dirty="0"/>
              <a:t>2</a:t>
            </a:r>
            <a:r>
              <a:rPr lang="zh-CN" altLang="en-US" dirty="0"/>
              <a:t>月，学校发布了以“</a:t>
            </a:r>
            <a:r>
              <a:rPr lang="en-US" altLang="zh-CN" dirty="0"/>
              <a:t>1358</a:t>
            </a:r>
            <a:r>
              <a:rPr lang="zh-CN" altLang="en-US" dirty="0"/>
              <a:t>”为构架</a:t>
            </a:r>
            <a:r>
              <a:rPr lang="en-US" altLang="zh-CN" dirty="0"/>
              <a:t> </a:t>
            </a:r>
            <a:r>
              <a:rPr lang="zh-CN" altLang="en-US" dirty="0"/>
              <a:t>的</a:t>
            </a:r>
            <a:r>
              <a:rPr lang="en-US" altLang="zh-CN" dirty="0"/>
              <a:t>《</a:t>
            </a:r>
            <a:r>
              <a:rPr lang="zh-CN" altLang="en-US" dirty="0"/>
              <a:t>一流研究生教育行动计划</a:t>
            </a:r>
            <a:r>
              <a:rPr lang="en-US" altLang="zh-CN" dirty="0"/>
              <a:t>》</a:t>
            </a:r>
            <a:r>
              <a:rPr lang="zh-CN" altLang="en-US" dirty="0"/>
              <a:t>，其中重点提到了要加强核心课程建设。</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42383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今年</a:t>
            </a:r>
            <a:r>
              <a:rPr lang="en-US" altLang="zh-CN" dirty="0"/>
              <a:t>2</a:t>
            </a:r>
            <a:r>
              <a:rPr lang="zh-CN" altLang="en-US" dirty="0"/>
              <a:t>月，学校发布了以“</a:t>
            </a:r>
            <a:r>
              <a:rPr lang="en-US" altLang="zh-CN" dirty="0"/>
              <a:t>1358</a:t>
            </a:r>
            <a:r>
              <a:rPr lang="zh-CN" altLang="en-US" dirty="0"/>
              <a:t>”为构架</a:t>
            </a:r>
            <a:r>
              <a:rPr lang="en-US" altLang="zh-CN" dirty="0"/>
              <a:t> </a:t>
            </a:r>
            <a:r>
              <a:rPr lang="zh-CN" altLang="en-US" dirty="0"/>
              <a:t>的</a:t>
            </a:r>
            <a:r>
              <a:rPr lang="en-US" altLang="zh-CN" dirty="0"/>
              <a:t>《</a:t>
            </a:r>
            <a:r>
              <a:rPr lang="zh-CN" altLang="en-US" dirty="0"/>
              <a:t>一流研究生教育行动计划</a:t>
            </a:r>
            <a:r>
              <a:rPr lang="en-US" altLang="zh-CN" dirty="0"/>
              <a:t>》</a:t>
            </a:r>
            <a:r>
              <a:rPr lang="zh-CN" altLang="en-US" dirty="0"/>
              <a:t>，其中重点提到了要加强核心课程建设。</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23872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今年</a:t>
            </a:r>
            <a:r>
              <a:rPr lang="en-US" altLang="zh-CN" dirty="0"/>
              <a:t>2</a:t>
            </a:r>
            <a:r>
              <a:rPr lang="zh-CN" altLang="en-US" dirty="0"/>
              <a:t>月，学校发布了以“</a:t>
            </a:r>
            <a:r>
              <a:rPr lang="en-US" altLang="zh-CN" dirty="0"/>
              <a:t>1358</a:t>
            </a:r>
            <a:r>
              <a:rPr lang="zh-CN" altLang="en-US" dirty="0"/>
              <a:t>”为构架</a:t>
            </a:r>
            <a:r>
              <a:rPr lang="en-US" altLang="zh-CN" dirty="0"/>
              <a:t> </a:t>
            </a:r>
            <a:r>
              <a:rPr lang="zh-CN" altLang="en-US" dirty="0"/>
              <a:t>的</a:t>
            </a:r>
            <a:r>
              <a:rPr lang="en-US" altLang="zh-CN" dirty="0"/>
              <a:t>《</a:t>
            </a:r>
            <a:r>
              <a:rPr lang="zh-CN" altLang="en-US" dirty="0"/>
              <a:t>一流研究生教育行动计划</a:t>
            </a:r>
            <a:r>
              <a:rPr lang="en-US" altLang="zh-CN" dirty="0"/>
              <a:t>》</a:t>
            </a:r>
            <a:r>
              <a:rPr lang="zh-CN" altLang="en-US" dirty="0"/>
              <a:t>，其中重点提到了要加强核心课程建设。</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66233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今年</a:t>
            </a:r>
            <a:r>
              <a:rPr lang="en-US" altLang="zh-CN" dirty="0"/>
              <a:t>2</a:t>
            </a:r>
            <a:r>
              <a:rPr lang="zh-CN" altLang="en-US" dirty="0"/>
              <a:t>月，学校发布了以“</a:t>
            </a:r>
            <a:r>
              <a:rPr lang="en-US" altLang="zh-CN" dirty="0"/>
              <a:t>1358</a:t>
            </a:r>
            <a:r>
              <a:rPr lang="zh-CN" altLang="en-US" dirty="0"/>
              <a:t>”为构架</a:t>
            </a:r>
            <a:r>
              <a:rPr lang="en-US" altLang="zh-CN" dirty="0"/>
              <a:t> </a:t>
            </a:r>
            <a:r>
              <a:rPr lang="zh-CN" altLang="en-US" dirty="0"/>
              <a:t>的</a:t>
            </a:r>
            <a:r>
              <a:rPr lang="en-US" altLang="zh-CN" dirty="0"/>
              <a:t>《</a:t>
            </a:r>
            <a:r>
              <a:rPr lang="zh-CN" altLang="en-US" dirty="0"/>
              <a:t>一流研究生教育行动计划</a:t>
            </a:r>
            <a:r>
              <a:rPr lang="en-US" altLang="zh-CN" dirty="0"/>
              <a:t>》</a:t>
            </a:r>
            <a:r>
              <a:rPr lang="zh-CN" altLang="en-US" dirty="0"/>
              <a:t>，其中重点提到了要加强核心课程建设。</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00617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今年</a:t>
            </a:r>
            <a:r>
              <a:rPr lang="en-US" altLang="zh-CN" dirty="0"/>
              <a:t>2</a:t>
            </a:r>
            <a:r>
              <a:rPr lang="zh-CN" altLang="en-US" dirty="0"/>
              <a:t>月，学校发布了以“</a:t>
            </a:r>
            <a:r>
              <a:rPr lang="en-US" altLang="zh-CN" dirty="0"/>
              <a:t>1358</a:t>
            </a:r>
            <a:r>
              <a:rPr lang="zh-CN" altLang="en-US" dirty="0"/>
              <a:t>”为构架</a:t>
            </a:r>
            <a:r>
              <a:rPr lang="en-US" altLang="zh-CN" dirty="0"/>
              <a:t> </a:t>
            </a:r>
            <a:r>
              <a:rPr lang="zh-CN" altLang="en-US" dirty="0"/>
              <a:t>的</a:t>
            </a:r>
            <a:r>
              <a:rPr lang="en-US" altLang="zh-CN" dirty="0"/>
              <a:t>《</a:t>
            </a:r>
            <a:r>
              <a:rPr lang="zh-CN" altLang="en-US" dirty="0"/>
              <a:t>一流研究生教育行动计划</a:t>
            </a:r>
            <a:r>
              <a:rPr lang="en-US" altLang="zh-CN" dirty="0"/>
              <a:t>》</a:t>
            </a:r>
            <a:r>
              <a:rPr lang="zh-CN" altLang="en-US" dirty="0"/>
              <a:t>，其中重点提到了要加强核心课程建设。</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16684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01128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900526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344523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363253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今年</a:t>
            </a:r>
            <a:r>
              <a:rPr lang="en-US" altLang="zh-CN" dirty="0"/>
              <a:t>2</a:t>
            </a:r>
            <a:r>
              <a:rPr lang="zh-CN" altLang="en-US" dirty="0"/>
              <a:t>月，学校发布了以“</a:t>
            </a:r>
            <a:r>
              <a:rPr lang="en-US" altLang="zh-CN" dirty="0"/>
              <a:t>1358</a:t>
            </a:r>
            <a:r>
              <a:rPr lang="zh-CN" altLang="en-US" dirty="0"/>
              <a:t>”为构架</a:t>
            </a:r>
            <a:r>
              <a:rPr lang="en-US" altLang="zh-CN" dirty="0"/>
              <a:t> </a:t>
            </a:r>
            <a:r>
              <a:rPr lang="zh-CN" altLang="en-US" dirty="0"/>
              <a:t>的</a:t>
            </a:r>
            <a:r>
              <a:rPr lang="en-US" altLang="zh-CN" dirty="0"/>
              <a:t>《</a:t>
            </a:r>
            <a:r>
              <a:rPr lang="zh-CN" altLang="en-US" dirty="0"/>
              <a:t>一流研究生教育行动计划</a:t>
            </a:r>
            <a:r>
              <a:rPr lang="en-US" altLang="zh-CN" dirty="0"/>
              <a:t>》</a:t>
            </a:r>
            <a:r>
              <a:rPr lang="zh-CN" altLang="en-US" dirty="0"/>
              <a:t>，其中重点提到了要加强核心课程建设。</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36147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今年</a:t>
            </a:r>
            <a:r>
              <a:rPr lang="en-US" altLang="zh-CN" dirty="0"/>
              <a:t>2</a:t>
            </a:r>
            <a:r>
              <a:rPr lang="zh-CN" altLang="en-US" dirty="0"/>
              <a:t>月，学校发布了以“</a:t>
            </a:r>
            <a:r>
              <a:rPr lang="en-US" altLang="zh-CN" dirty="0"/>
              <a:t>1358</a:t>
            </a:r>
            <a:r>
              <a:rPr lang="zh-CN" altLang="en-US" dirty="0"/>
              <a:t>”为构架</a:t>
            </a:r>
            <a:r>
              <a:rPr lang="en-US" altLang="zh-CN" dirty="0"/>
              <a:t> </a:t>
            </a:r>
            <a:r>
              <a:rPr lang="zh-CN" altLang="en-US" dirty="0"/>
              <a:t>的</a:t>
            </a:r>
            <a:r>
              <a:rPr lang="en-US" altLang="zh-CN" dirty="0"/>
              <a:t>《</a:t>
            </a:r>
            <a:r>
              <a:rPr lang="zh-CN" altLang="en-US" dirty="0"/>
              <a:t>一流研究生教育行动计划</a:t>
            </a:r>
            <a:r>
              <a:rPr lang="en-US" altLang="zh-CN" dirty="0"/>
              <a:t>》</a:t>
            </a:r>
            <a:r>
              <a:rPr lang="zh-CN" altLang="en-US" dirty="0"/>
              <a:t>，其中重点提到了要加强核心课程建设。</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95448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t>我很强，我的代码写的很高明，一般人看不懂。</a:t>
            </a:r>
            <a:endParaRPr lang="en-US" altLang="zh-CN" sz="1200" b="1" dirty="0"/>
          </a:p>
          <a:p>
            <a:r>
              <a:rPr lang="zh-CN" altLang="en-US" sz="1200" b="1" dirty="0"/>
              <a:t>我的代码很简练，能少写一个括号就少写一个括号。</a:t>
            </a:r>
            <a:endParaRPr lang="en-US" altLang="zh-CN" sz="1200" b="1" dirty="0"/>
          </a:p>
          <a:p>
            <a:r>
              <a:rPr lang="zh-CN" altLang="en-US" sz="1200" b="1" dirty="0"/>
              <a:t>我从来不写注释，但最烦不写注释的代码。</a:t>
            </a:r>
            <a:endParaRPr lang="en-US" altLang="zh-CN" sz="1200" b="1" dirty="0"/>
          </a:p>
          <a:p>
            <a:r>
              <a:rPr lang="zh-CN" altLang="en-US" sz="1200" b="1" dirty="0"/>
              <a:t>在我这可以啊，为什么到你那不行？</a:t>
            </a:r>
            <a:endParaRPr lang="en-US" altLang="zh-CN" sz="1200" b="1" dirty="0"/>
          </a:p>
          <a:p>
            <a:r>
              <a:rPr lang="zh-CN" altLang="en-US" sz="1200" b="1" dirty="0"/>
              <a:t>我写的代码你最好别随便动。</a:t>
            </a:r>
            <a:endParaRPr lang="en-US" altLang="zh-CN" sz="1200" b="1" dirty="0"/>
          </a:p>
          <a:p>
            <a:r>
              <a:rPr lang="zh-CN" altLang="en-US" sz="1200" b="1" dirty="0"/>
              <a:t>我自己十分钟前写的代码我自己都看不懂。</a:t>
            </a:r>
            <a:endParaRPr lang="en-US" altLang="zh-CN" sz="1200"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17771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A718BCC-8E0E-4014-A15C-131A86B0AD65}" type="slidenum">
              <a:rPr lang="zh-CN" altLang="en-US" smtClean="0"/>
              <a:t>18</a:t>
            </a:fld>
            <a:endParaRPr lang="zh-CN" altLang="en-US"/>
          </a:p>
        </p:txBody>
      </p:sp>
    </p:spTree>
    <p:extLst>
      <p:ext uri="{BB962C8B-B14F-4D97-AF65-F5344CB8AC3E}">
        <p14:creationId xmlns:p14="http://schemas.microsoft.com/office/powerpoint/2010/main" val="2383603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6C68A64-069C-4FC3-A227-B9F541D15B3C}" type="slidenum">
              <a:rPr lang="zh-CN" altLang="en-US" smtClean="0"/>
              <a:t>20</a:t>
            </a:fld>
            <a:endParaRPr lang="zh-CN" altLang="en-US"/>
          </a:p>
        </p:txBody>
      </p:sp>
    </p:spTree>
    <p:extLst>
      <p:ext uri="{BB962C8B-B14F-4D97-AF65-F5344CB8AC3E}">
        <p14:creationId xmlns:p14="http://schemas.microsoft.com/office/powerpoint/2010/main" val="31410647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56448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298525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661408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18BCC-8E0E-4014-A15C-131A86B0AD6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94118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3.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2026-03-27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2026-03-27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2026-03-27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2026-03-27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2026-03-27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2026-03-27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2026-03-27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2026-03-27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2026-03-27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2026-03-27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2026-03-27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956108"/>
            <a:ext cx="9144000" cy="2387600"/>
          </a:xfrm>
        </p:spPr>
        <p:txBody>
          <a:bodyPr anchor="b">
            <a:normAutofit/>
          </a:bodyPr>
          <a:lstStyle>
            <a:lvl1pPr algn="ctr">
              <a:defRPr sz="4400">
                <a:solidFill>
                  <a:schemeClr val="accent5">
                    <a:lumMod val="7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solidFill>
                  <a:schemeClr val="accent5">
                    <a:lumMod val="75000"/>
                  </a:schemeClr>
                </a:solidFill>
                <a:latin typeface="黑体" panose="02010609060101010101" pitchFamily="49" charset="-122"/>
                <a:ea typeface="黑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pic>
        <p:nvPicPr>
          <p:cNvPr id="8" name="图片 7">
            <a:extLst>
              <a:ext uri="{FF2B5EF4-FFF2-40B4-BE49-F238E27FC236}">
                <a16:creationId xmlns:a16="http://schemas.microsoft.com/office/drawing/2014/main" id="{4292AA5B-3511-4AA4-AF20-4D87F26197D3}"/>
              </a:ext>
            </a:extLst>
          </p:cNvPr>
          <p:cNvPicPr>
            <a:picLocks noChangeAspect="1"/>
          </p:cNvPicPr>
          <p:nvPr userDrawn="1"/>
        </p:nvPicPr>
        <p:blipFill rotWithShape="1">
          <a:blip r:embed="rId2" cstate="print">
            <a:biLevel thresh="25000"/>
            <a:extLst>
              <a:ext uri="{28A0092B-C50C-407E-A947-70E740481C1C}">
                <a14:useLocalDpi xmlns:a14="http://schemas.microsoft.com/office/drawing/2010/main" val="0"/>
              </a:ext>
            </a:extLst>
          </a:blip>
          <a:srcRect t="55949" b="20928"/>
          <a:stretch>
            <a:fillRect/>
          </a:stretch>
        </p:blipFill>
        <p:spPr>
          <a:xfrm>
            <a:off x="0" y="5272269"/>
            <a:ext cx="12192000" cy="1585731"/>
          </a:xfrm>
          <a:prstGeom prst="rect">
            <a:avLst/>
          </a:prstGeom>
        </p:spPr>
      </p:pic>
    </p:spTree>
    <p:extLst>
      <p:ext uri="{BB962C8B-B14F-4D97-AF65-F5344CB8AC3E}">
        <p14:creationId xmlns:p14="http://schemas.microsoft.com/office/powerpoint/2010/main" val="2791328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930381"/>
            <a:ext cx="10515600" cy="933261"/>
          </a:xfrm>
        </p:spPr>
        <p:txBody>
          <a:bodyPr>
            <a:normAutofit/>
          </a:bodyPr>
          <a:lstStyle>
            <a:lvl1pPr>
              <a:defRPr sz="4000">
                <a:solidFill>
                  <a:schemeClr val="accent5">
                    <a:lumMod val="75000"/>
                  </a:schemeClr>
                </a:solidFill>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838200" y="2158134"/>
            <a:ext cx="10515600"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3196494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37520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956108"/>
            <a:ext cx="9144000" cy="2387600"/>
          </a:xfrm>
        </p:spPr>
        <p:txBody>
          <a:bodyPr anchor="b">
            <a:normAutofit/>
          </a:bodyPr>
          <a:lstStyle>
            <a:lvl1pPr algn="ctr">
              <a:defRPr sz="4400">
                <a:solidFill>
                  <a:schemeClr val="accent5">
                    <a:lumMod val="7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solidFill>
                  <a:schemeClr val="accent5">
                    <a:lumMod val="75000"/>
                  </a:schemeClr>
                </a:solidFill>
                <a:latin typeface="黑体" panose="02010609060101010101" pitchFamily="49" charset="-122"/>
                <a:ea typeface="黑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pic>
        <p:nvPicPr>
          <p:cNvPr id="7" name="图片 8" descr="WechatIMG2.jpeg">
            <a:extLst>
              <a:ext uri="{FF2B5EF4-FFF2-40B4-BE49-F238E27FC236}">
                <a16:creationId xmlns:a16="http://schemas.microsoft.com/office/drawing/2014/main" id="{D00077EC-4D16-4C91-8618-505DD6F94F6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0277" y="289894"/>
            <a:ext cx="1897862" cy="55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4292AA5B-3511-4AA4-AF20-4D87F26197D3}"/>
              </a:ext>
            </a:extLst>
          </p:cNvPr>
          <p:cNvPicPr>
            <a:picLocks noChangeAspect="1"/>
          </p:cNvPicPr>
          <p:nvPr userDrawn="1"/>
        </p:nvPicPr>
        <p:blipFill rotWithShape="1">
          <a:blip r:embed="rId3" cstate="print">
            <a:biLevel thresh="25000"/>
            <a:extLst>
              <a:ext uri="{28A0092B-C50C-407E-A947-70E740481C1C}">
                <a14:useLocalDpi xmlns:a14="http://schemas.microsoft.com/office/drawing/2010/main" val="0"/>
              </a:ext>
            </a:extLst>
          </a:blip>
          <a:srcRect t="55949" b="20928"/>
          <a:stretch>
            <a:fillRect/>
          </a:stretch>
        </p:blipFill>
        <p:spPr>
          <a:xfrm>
            <a:off x="0" y="5272269"/>
            <a:ext cx="12192000" cy="1585731"/>
          </a:xfrm>
          <a:prstGeom prst="rect">
            <a:avLst/>
          </a:prstGeom>
        </p:spPr>
      </p:pic>
      <p:grpSp>
        <p:nvGrpSpPr>
          <p:cNvPr id="12" name="组合 11">
            <a:extLst>
              <a:ext uri="{FF2B5EF4-FFF2-40B4-BE49-F238E27FC236}">
                <a16:creationId xmlns:a16="http://schemas.microsoft.com/office/drawing/2014/main" id="{EA669C68-972E-46B1-8B64-D60D2A871D83}"/>
              </a:ext>
            </a:extLst>
          </p:cNvPr>
          <p:cNvGrpSpPr/>
          <p:nvPr userDrawn="1"/>
        </p:nvGrpSpPr>
        <p:grpSpPr>
          <a:xfrm>
            <a:off x="7293502" y="295897"/>
            <a:ext cx="4593698" cy="523220"/>
            <a:chOff x="2655000" y="288412"/>
            <a:chExt cx="4593698" cy="523220"/>
          </a:xfrm>
        </p:grpSpPr>
        <p:pic>
          <p:nvPicPr>
            <p:cNvPr id="10" name="图片 9">
              <a:extLst>
                <a:ext uri="{FF2B5EF4-FFF2-40B4-BE49-F238E27FC236}">
                  <a16:creationId xmlns:a16="http://schemas.microsoft.com/office/drawing/2014/main" id="{14256995-F5B1-447D-8720-ED6645328CF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55000" y="326376"/>
              <a:ext cx="461666" cy="461666"/>
            </a:xfrm>
            <a:prstGeom prst="rect">
              <a:avLst/>
            </a:prstGeom>
          </p:spPr>
        </p:pic>
        <p:sp>
          <p:nvSpPr>
            <p:cNvPr id="11" name="文本框 10">
              <a:extLst>
                <a:ext uri="{FF2B5EF4-FFF2-40B4-BE49-F238E27FC236}">
                  <a16:creationId xmlns:a16="http://schemas.microsoft.com/office/drawing/2014/main" id="{87D48BFE-4033-498A-83AD-94D4F84AEF8A}"/>
                </a:ext>
              </a:extLst>
            </p:cNvPr>
            <p:cNvSpPr txBox="1"/>
            <p:nvPr userDrawn="1"/>
          </p:nvSpPr>
          <p:spPr>
            <a:xfrm>
              <a:off x="3116666" y="288412"/>
              <a:ext cx="4132032" cy="523220"/>
            </a:xfrm>
            <a:prstGeom prst="rect">
              <a:avLst/>
            </a:prstGeom>
            <a:noFill/>
          </p:spPr>
          <p:txBody>
            <a:bodyPr wrap="square" rtlCol="0">
              <a:spAutoFit/>
            </a:bodyPr>
            <a:lstStyle/>
            <a:p>
              <a:r>
                <a:rPr lang="en-US" altLang="zh-CN" sz="2800" dirty="0">
                  <a:solidFill>
                    <a:schemeClr val="accent5">
                      <a:lumMod val="75000"/>
                    </a:schemeClr>
                  </a:solidFill>
                  <a:latin typeface="Consolas" panose="020B0609020204030204" pitchFamily="49" charset="0"/>
                  <a:ea typeface="隶书" panose="02010509060101010101" pitchFamily="49" charset="-122"/>
                </a:rPr>
                <a:t>IT</a:t>
              </a:r>
              <a:r>
                <a:rPr lang="zh-CN" altLang="en-US" sz="2800" dirty="0">
                  <a:solidFill>
                    <a:schemeClr val="accent5">
                      <a:lumMod val="75000"/>
                    </a:schemeClr>
                  </a:solidFill>
                  <a:latin typeface="隶书" panose="02010509060101010101" pitchFamily="49" charset="-122"/>
                  <a:ea typeface="隶书" panose="02010509060101010101" pitchFamily="49" charset="-122"/>
                </a:rPr>
                <a:t>学科创新创业训练基地</a:t>
              </a:r>
            </a:p>
          </p:txBody>
        </p:sp>
      </p:grpSp>
    </p:spTree>
    <p:extLst>
      <p:ext uri="{BB962C8B-B14F-4D97-AF65-F5344CB8AC3E}">
        <p14:creationId xmlns:p14="http://schemas.microsoft.com/office/powerpoint/2010/main" val="23268521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930381"/>
            <a:ext cx="10515600" cy="933261"/>
          </a:xfrm>
        </p:spPr>
        <p:txBody>
          <a:bodyPr>
            <a:normAutofit/>
          </a:bodyPr>
          <a:lstStyle>
            <a:lvl1pPr>
              <a:defRPr sz="4000">
                <a:solidFill>
                  <a:schemeClr val="accent5">
                    <a:lumMod val="75000"/>
                  </a:schemeClr>
                </a:solidFill>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838200" y="2158134"/>
            <a:ext cx="10515600"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931503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27413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2026-03-27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94429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0213295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zmk@tju.edu.cn"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hyperlink" Target="https://space.bilibili.com/495188938" TargetMode="External"/><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14.xml"/><Relationship Id="rId5" Type="http://schemas.openxmlformats.org/officeDocument/2006/relationships/image" Target="../media/image10.jpe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17.xml"/><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t="55949" b="20928"/>
          <a:stretch>
            <a:fillRect/>
          </a:stretch>
        </p:blipFill>
        <p:spPr>
          <a:xfrm>
            <a:off x="0" y="5272269"/>
            <a:ext cx="12192000" cy="1585731"/>
          </a:xfrm>
          <a:prstGeom prst="rect">
            <a:avLst/>
          </a:prstGeom>
        </p:spPr>
      </p:pic>
      <p:sp>
        <p:nvSpPr>
          <p:cNvPr id="2" name="灯片编号占位符 1"/>
          <p:cNvSpPr>
            <a:spLocks noGrp="1"/>
          </p:cNvSpPr>
          <p:nvPr>
            <p:ph type="sldNum" sz="quarter" idx="4294967295"/>
          </p:nvPr>
        </p:nvSpPr>
        <p:spPr>
          <a:xfrm>
            <a:off x="9448800" y="6492875"/>
            <a:ext cx="2743200" cy="365125"/>
          </a:xfrm>
          <a:prstGeom prst="rect">
            <a:avLst/>
          </a:prstGeom>
        </p:spPr>
        <p:txBody>
          <a:bodyPr/>
          <a:lstStyle/>
          <a:p>
            <a:fld id="{CFD2B472-FC81-4D56-BB73-EBB478A21F5E}" type="slidenum">
              <a:rPr lang="zh-CN" altLang="en-US" smtClean="0"/>
              <a:t>1</a:t>
            </a:fld>
            <a:endParaRPr lang="zh-CN" altLang="en-US"/>
          </a:p>
        </p:txBody>
      </p:sp>
      <p:sp>
        <p:nvSpPr>
          <p:cNvPr id="5" name="文本框 5">
            <a:extLst>
              <a:ext uri="{FF2B5EF4-FFF2-40B4-BE49-F238E27FC236}">
                <a16:creationId xmlns:a16="http://schemas.microsoft.com/office/drawing/2014/main" id="{084FCB18-6666-4468-AED9-6CAD5EFC1AAB}"/>
              </a:ext>
            </a:extLst>
          </p:cNvPr>
          <p:cNvSpPr txBox="1">
            <a:spLocks noChangeArrowheads="1"/>
          </p:cNvSpPr>
          <p:nvPr/>
        </p:nvSpPr>
        <p:spPr bwMode="auto">
          <a:xfrm>
            <a:off x="1032671" y="2051405"/>
            <a:ext cx="10311215" cy="2343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defTabSz="6858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1pPr>
            <a:lvl2pPr marL="742950" indent="-285750" defTabSz="685800">
              <a:spcBef>
                <a:spcPct val="2000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2pPr>
            <a:lvl3pPr marL="1143000" indent="-228600" defTabSz="6858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defTabSz="685800">
              <a:spcBef>
                <a:spcPct val="20000"/>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4pPr>
            <a:lvl5pPr marL="2057400" indent="-228600" defTabSz="685800">
              <a:spcBef>
                <a:spcPct val="20000"/>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20000"/>
              </a:spcBef>
              <a:spcAft>
                <a:spcPct val="0"/>
              </a:spcAft>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9pPr>
          </a:lstStyle>
          <a:p>
            <a:pPr algn="ctr">
              <a:buNone/>
            </a:pPr>
            <a:r>
              <a:rPr lang="zh-CN" altLang="en-US" sz="36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程序设计综合实践</a:t>
            </a:r>
            <a:endParaRPr lang="en-US" altLang="zh-CN" sz="36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endParaRPr lang="en-US" altLang="zh-CN" sz="36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hlinkClick r:id="rId4"/>
              </a:rPr>
              <a:t>zmk@tju.edu.cn</a:t>
            </a:r>
            <a:endPar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r>
              <a:rPr lang="zh-CN" altLang="en-US"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喻梅，于瑞国，王建荣，李雪威，赵满坤，应翔</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336557" y="3660596"/>
            <a:ext cx="5652000" cy="933907"/>
            <a:chOff x="2363538" y="2160418"/>
            <a:chExt cx="5613852" cy="933907"/>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3538" y="2160418"/>
              <a:ext cx="715704" cy="933907"/>
            </a:xfrm>
            <a:prstGeom prst="rect">
              <a:avLst/>
            </a:prstGeom>
          </p:spPr>
        </p:pic>
        <p:cxnSp>
          <p:nvCxnSpPr>
            <p:cNvPr id="14" name="直接连接符 13"/>
            <p:cNvCxnSpPr/>
            <p:nvPr/>
          </p:nvCxnSpPr>
          <p:spPr>
            <a:xfrm>
              <a:off x="2721390" y="3079085"/>
              <a:ext cx="5256000" cy="0"/>
            </a:xfrm>
            <a:prstGeom prst="line">
              <a:avLst/>
            </a:prstGeom>
            <a:ln w="19050">
              <a:solidFill>
                <a:srgbClr val="014B88"/>
              </a:solidFill>
              <a:prstDash val="dash"/>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3338705" y="2060554"/>
            <a:ext cx="5649852" cy="933907"/>
            <a:chOff x="2211138" y="2008018"/>
            <a:chExt cx="5649852" cy="933907"/>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11138" y="2008018"/>
              <a:ext cx="715704" cy="933907"/>
            </a:xfrm>
            <a:prstGeom prst="rect">
              <a:avLst/>
            </a:prstGeom>
          </p:spPr>
        </p:pic>
        <p:cxnSp>
          <p:nvCxnSpPr>
            <p:cNvPr id="6" name="直接连接符 5"/>
            <p:cNvCxnSpPr/>
            <p:nvPr/>
          </p:nvCxnSpPr>
          <p:spPr>
            <a:xfrm>
              <a:off x="2568990" y="2926685"/>
              <a:ext cx="5292000" cy="0"/>
            </a:xfrm>
            <a:prstGeom prst="line">
              <a:avLst/>
            </a:prstGeom>
            <a:ln w="19050">
              <a:solidFill>
                <a:srgbClr val="014B88"/>
              </a:solidFill>
              <a:prstDash val="dash"/>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5365081" y="636022"/>
            <a:ext cx="175001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目  录</a:t>
            </a:r>
          </a:p>
        </p:txBody>
      </p:sp>
      <p:sp>
        <p:nvSpPr>
          <p:cNvPr id="15" name="内容占位符 2"/>
          <p:cNvSpPr txBox="1"/>
          <p:nvPr/>
        </p:nvSpPr>
        <p:spPr>
          <a:xfrm>
            <a:off x="3374705" y="1875922"/>
            <a:ext cx="739863" cy="1023029"/>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en-US" altLang="zh-CN"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内容占位符 2"/>
          <p:cNvSpPr txBox="1"/>
          <p:nvPr/>
        </p:nvSpPr>
        <p:spPr>
          <a:xfrm>
            <a:off x="3365133" y="3405825"/>
            <a:ext cx="948479" cy="12808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lang="zh-CN" altLang="en-US" sz="3600" b="1" dirty="0">
                <a:solidFill>
                  <a:prstClr val="white"/>
                </a:solidFill>
                <a:latin typeface="微软雅黑" panose="020B0503020204020204" pitchFamily="34" charset="-122"/>
                <a:ea typeface="微软雅黑" panose="020B0503020204020204" pitchFamily="34" charset="-122"/>
              </a:rPr>
              <a:t>二</a:t>
            </a:r>
            <a:endParaRPr kumimoji="0" lang="zh-CN" alt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4300885" y="2191542"/>
            <a:ext cx="5009022" cy="646331"/>
          </a:xfrm>
          <a:prstGeom prst="rect">
            <a:avLst/>
          </a:prstGeom>
        </p:spPr>
        <p:txBody>
          <a:bodyPr wrap="non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课程介绍</a:t>
            </a:r>
          </a:p>
        </p:txBody>
      </p:sp>
      <p:sp>
        <p:nvSpPr>
          <p:cNvPr id="18" name="矩形 17"/>
          <p:cNvSpPr/>
          <p:nvPr/>
        </p:nvSpPr>
        <p:spPr>
          <a:xfrm>
            <a:off x="4300885" y="3781186"/>
            <a:ext cx="6107629" cy="584775"/>
          </a:xfrm>
          <a:prstGeom prst="rect">
            <a:avLst/>
          </a:prstGeom>
        </p:spPr>
        <p:txBody>
          <a:bodyPr wrap="square"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基础算法选讲</a:t>
            </a:r>
          </a:p>
        </p:txBody>
      </p:sp>
      <p:sp>
        <p:nvSpPr>
          <p:cNvPr id="22" name="内容占位符 2"/>
          <p:cNvSpPr txBox="1"/>
          <p:nvPr/>
        </p:nvSpPr>
        <p:spPr>
          <a:xfrm>
            <a:off x="3329265" y="4847941"/>
            <a:ext cx="948479" cy="12808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四</a:t>
            </a:r>
            <a:endParaRPr kumimoji="0" lang="zh-CN" alt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内容占位符 2"/>
          <p:cNvSpPr txBox="1"/>
          <p:nvPr/>
        </p:nvSpPr>
        <p:spPr>
          <a:xfrm>
            <a:off x="3336557" y="4917357"/>
            <a:ext cx="948479" cy="12808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四</a:t>
            </a:r>
            <a:endParaRPr kumimoji="0" lang="zh-CN" alt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课程介绍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课程目标</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559419" y="1292630"/>
            <a:ext cx="10558347" cy="4633641"/>
          </a:xfrm>
          <a:prstGeom prst="rect">
            <a:avLst/>
          </a:prstGeom>
        </p:spPr>
        <p:txBody>
          <a:bodyPr wrap="square">
            <a:spAutoFit/>
          </a:bodyPr>
          <a:lstStyle/>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课程目的：该课程是一门面向问题求解的程序设计实践课程，知识点覆盖</a:t>
            </a:r>
            <a:r>
              <a:rPr kumimoji="0" lang="zh-CN" altLang="en-US" sz="20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程序设计原理、数据结构、算法设计与分析</a:t>
            </a: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三大核心课程；</a:t>
            </a:r>
            <a:endPar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endPar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课程目标：培养逻辑思维、抽象思维能力，以问题求解为主要方式和途径，提高程序设计能力，进行编程实践能力的训练，增强程序设计的核心素养。了解有哪些知识点，能够通过编码解决简单问题。</a:t>
            </a:r>
            <a:endPar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457200" marR="0" lvl="1" indent="0" algn="ctr" defTabSz="914400" rtl="0" eaLnBrk="1" fontAlgn="auto" latinLnBrk="0" hangingPunct="1">
              <a:lnSpc>
                <a:spcPct val="200000"/>
              </a:lnSpc>
              <a:spcBef>
                <a:spcPts val="0"/>
              </a:spcBef>
              <a:spcAft>
                <a:spcPts val="0"/>
              </a:spcAft>
              <a:buClrTx/>
              <a:buSzTx/>
              <a:buFontTx/>
              <a:buNone/>
              <a:tabLst/>
              <a:defRPr/>
            </a:pPr>
            <a:r>
              <a:rPr kumimoji="0" lang="zh-CN" altLang="en-US" sz="32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计算机、人工智能相关学科核心能力提升↑↑↑↑↑↑</a:t>
            </a:r>
            <a:endPar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36"/>
          <p:cNvSpPr txBox="1"/>
          <p:nvPr/>
        </p:nvSpPr>
        <p:spPr>
          <a:xfrm>
            <a:off x="334800" y="320400"/>
            <a:ext cx="11684480" cy="584775"/>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课程介绍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前提条件（先修知识）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 name="矩形 3">
            <a:extLst>
              <a:ext uri="{FF2B5EF4-FFF2-40B4-BE49-F238E27FC236}">
                <a16:creationId xmlns:a16="http://schemas.microsoft.com/office/drawing/2014/main" id="{5E78E93C-543F-497C-B635-CCDD6B0E21E9}"/>
              </a:ext>
            </a:extLst>
          </p:cNvPr>
          <p:cNvSpPr/>
          <p:nvPr/>
        </p:nvSpPr>
        <p:spPr>
          <a:xfrm>
            <a:off x="559419" y="1292630"/>
            <a:ext cx="4692806" cy="3084562"/>
          </a:xfrm>
          <a:prstGeom prst="rect">
            <a:avLst/>
          </a:prstGeom>
        </p:spPr>
        <p:txBody>
          <a:bodyPr wrap="square">
            <a:spAutoFit/>
          </a:bodyPr>
          <a:lstStyle/>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要求：</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C/C++</a:t>
            </a: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面向过程编程</a:t>
            </a:r>
            <a:endPar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程序设计原理</a:t>
            </a:r>
            <a:endPar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C/C++</a:t>
            </a:r>
            <a:r>
              <a:rPr kumimoji="0" lang="zh-CN" altLang="en-US"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程序设计</a:t>
            </a:r>
            <a:endPar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软件技术基础</a:t>
            </a:r>
            <a:endPar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计算机等级考试二级</a:t>
            </a:r>
            <a:r>
              <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C</a:t>
            </a:r>
            <a:r>
              <a:rPr kumimoji="0" lang="zh-CN" altLang="en-US"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语言</a:t>
            </a:r>
            <a:endPar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endParaRPr>
          </a:p>
        </p:txBody>
      </p:sp>
      <p:sp>
        <p:nvSpPr>
          <p:cNvPr id="5" name="矩形 4">
            <a:extLst>
              <a:ext uri="{FF2B5EF4-FFF2-40B4-BE49-F238E27FC236}">
                <a16:creationId xmlns:a16="http://schemas.microsoft.com/office/drawing/2014/main" id="{3BDB539B-D675-4676-AC4F-659EAC710A69}"/>
              </a:ext>
            </a:extLst>
          </p:cNvPr>
          <p:cNvSpPr/>
          <p:nvPr/>
        </p:nvSpPr>
        <p:spPr>
          <a:xfrm>
            <a:off x="4680195" y="1250343"/>
            <a:ext cx="7339085" cy="4315027"/>
          </a:xfrm>
          <a:prstGeom prst="rect">
            <a:avLst/>
          </a:prstGeom>
        </p:spPr>
        <p:txBody>
          <a:bodyPr wrap="square">
            <a:spAutoFit/>
          </a:bodyPr>
          <a:lstStyle/>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在线课程推荐</a:t>
            </a:r>
            <a:endPar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程序设计基础</a:t>
            </a:r>
            <a:endPar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https://www.icourse163.org/course/HIT-56001</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程序设计与算法（一）</a:t>
            </a:r>
            <a:r>
              <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C</a:t>
            </a:r>
            <a:r>
              <a:rPr kumimoji="0" lang="zh-CN" altLang="en-US"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语言程序设计</a:t>
            </a:r>
            <a:endPar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https://www.icourse163.org/course/PKU-1001553023</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程序设计入门</a:t>
            </a:r>
            <a:r>
              <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——C</a:t>
            </a:r>
            <a:r>
              <a:rPr kumimoji="0" lang="zh-CN" altLang="en-US"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语言</a:t>
            </a:r>
            <a:endPar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https://www.icourse163.org/course/ZJU-199001</a:t>
            </a:r>
            <a:endParaRPr kumimoji="0" lang="zh-CN"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36"/>
          <p:cNvSpPr txBox="1"/>
          <p:nvPr/>
        </p:nvSpPr>
        <p:spPr>
          <a:xfrm>
            <a:off x="334800" y="320400"/>
            <a:ext cx="11684480" cy="584775"/>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课程介绍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课程内容及安排</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 name="矩形 1">
            <a:extLst>
              <a:ext uri="{FF2B5EF4-FFF2-40B4-BE49-F238E27FC236}">
                <a16:creationId xmlns:a16="http://schemas.microsoft.com/office/drawing/2014/main" id="{B4D95EFB-197D-4A57-BF0C-B65FA2370991}"/>
              </a:ext>
            </a:extLst>
          </p:cNvPr>
          <p:cNvSpPr/>
          <p:nvPr/>
        </p:nvSpPr>
        <p:spPr>
          <a:xfrm>
            <a:off x="617033" y="1265884"/>
            <a:ext cx="7257460" cy="2468368"/>
          </a:xfrm>
          <a:prstGeom prst="rect">
            <a:avLst/>
          </a:prstGeom>
        </p:spPr>
        <p:txBody>
          <a:bodyPr wrap="square">
            <a:spAutoFit/>
          </a:bodyPr>
          <a:lstStyle/>
          <a:p>
            <a:pPr marL="342900" marR="0" lvl="0"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时间：</a:t>
            </a:r>
            <a:endPar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lvl="1" indent="-342900" algn="just">
              <a:lnSpc>
                <a:spcPct val="200000"/>
              </a:lnSpc>
              <a:buFont typeface="Wingdings" panose="05000000000000000000" pitchFamily="2" charset="2"/>
              <a:buChar char="l"/>
            </a:pP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线上：</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3~10</a:t>
            </a: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周周五晚上</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18</a:t>
            </a:r>
            <a:r>
              <a:rPr lang="en-US" altLang="zh-CN" sz="2000" b="1" kern="100" dirty="0">
                <a:solidFill>
                  <a:srgbClr val="014B88"/>
                </a:solidFill>
                <a:latin typeface="仿宋_GB2312"/>
                <a:ea typeface="等线" panose="02010600030101010101" pitchFamily="2" charset="-122"/>
                <a:cs typeface="Times New Roman" panose="02020603050405020304" pitchFamily="18" charset="0"/>
              </a:rPr>
              <a:t>:30~21:30</a:t>
            </a:r>
            <a:r>
              <a:rPr lang="zh-CN" altLang="en-US" sz="2000" b="1" kern="100" dirty="0">
                <a:solidFill>
                  <a:srgbClr val="014B88"/>
                </a:solidFill>
                <a:latin typeface="仿宋_GB2312"/>
                <a:ea typeface="等线" panose="02010600030101010101" pitchFamily="2" charset="-122"/>
                <a:cs typeface="Times New Roman" panose="02020603050405020304" pitchFamily="18" charset="0"/>
              </a:rPr>
              <a:t>（学练结合）</a:t>
            </a:r>
            <a:endPar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lvl="1" indent="-342900" algn="just">
              <a:lnSpc>
                <a:spcPct val="200000"/>
              </a:lnSpc>
              <a:buFont typeface="Wingdings" panose="05000000000000000000" pitchFamily="2" charset="2"/>
              <a:buChar char="l"/>
            </a:pPr>
            <a:r>
              <a:rPr kumimoji="0" lang="zh-CN" altLang="en-US"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线下：实践练习</a:t>
            </a:r>
            <a:endPar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endParaRPr>
          </a:p>
          <a:p>
            <a:pPr marL="800100" lvl="1" indent="-342900" algn="just">
              <a:lnSpc>
                <a:spcPct val="200000"/>
              </a:lnSpc>
              <a:buFont typeface="Wingdings" panose="05000000000000000000" pitchFamily="2" charset="2"/>
              <a:buChar char="l"/>
            </a:pPr>
            <a:r>
              <a:rPr kumimoji="0" lang="zh-CN" altLang="en-US"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上机考试：线下</a:t>
            </a:r>
            <a:r>
              <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47</a:t>
            </a:r>
            <a:r>
              <a:rPr kumimoji="0" lang="zh-CN" altLang="en-US"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楼上机考试，拟计划</a:t>
            </a:r>
            <a:r>
              <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11</a:t>
            </a:r>
            <a:r>
              <a:rPr kumimoji="0" lang="zh-CN" altLang="en-US"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rPr>
              <a:t>周周五晚</a:t>
            </a:r>
            <a:endParaRPr kumimoji="0" lang="en-US" altLang="zh-CN" sz="2000" b="1" i="0" u="none" strike="noStrike" kern="100" cap="none" spc="0" normalizeH="0" baseline="0" noProof="0" dirty="0">
              <a:ln>
                <a:noFill/>
              </a:ln>
              <a:solidFill>
                <a:prstClr val="black"/>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3526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36"/>
          <p:cNvSpPr txBox="1"/>
          <p:nvPr/>
        </p:nvSpPr>
        <p:spPr>
          <a:xfrm>
            <a:off x="334800" y="320400"/>
            <a:ext cx="11684480" cy="584775"/>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课程介绍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成绩评定</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 name="矩形 1">
            <a:extLst>
              <a:ext uri="{FF2B5EF4-FFF2-40B4-BE49-F238E27FC236}">
                <a16:creationId xmlns:a16="http://schemas.microsoft.com/office/drawing/2014/main" id="{29DF12EF-6BBF-40AF-939E-6DB418806F61}"/>
              </a:ext>
            </a:extLst>
          </p:cNvPr>
          <p:cNvSpPr/>
          <p:nvPr/>
        </p:nvSpPr>
        <p:spPr>
          <a:xfrm>
            <a:off x="769434" y="1336049"/>
            <a:ext cx="8530683" cy="3692806"/>
          </a:xfrm>
          <a:prstGeom prst="rect">
            <a:avLst/>
          </a:prstGeom>
        </p:spPr>
        <p:txBody>
          <a:bodyPr wrap="square">
            <a:spAutoFit/>
          </a:bodyPr>
          <a:lstStyle/>
          <a:p>
            <a:pPr marL="285750" marR="0" lvl="0" indent="-28575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平时：</a:t>
            </a: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30%</a:t>
            </a:r>
          </a:p>
          <a:p>
            <a:pPr marL="285750" marR="0" lvl="0" indent="-28575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上机考试（</a:t>
            </a: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个小时，</a:t>
            </a: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10</a:t>
            </a:r>
            <a:r>
              <a:rPr kumimoji="0" lang="zh-CN" altLang="en-US"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道题）：</a:t>
            </a: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70%</a:t>
            </a:r>
          </a:p>
          <a:p>
            <a:pPr marL="742950" lvl="1" indent="-285750" algn="just">
              <a:lnSpc>
                <a:spcPct val="200000"/>
              </a:lnSpc>
              <a:buFont typeface="Wingdings" panose="05000000000000000000" pitchFamily="2" charset="2"/>
              <a:buChar char="l"/>
            </a:pP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每道题</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分</a:t>
            </a:r>
            <a:endPar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marL="742950" lvl="1" indent="-285750" algn="just">
              <a:lnSpc>
                <a:spcPct val="200000"/>
              </a:lnSpc>
              <a:buFont typeface="Wingdings" panose="05000000000000000000" pitchFamily="2" charset="2"/>
              <a:buChar char="l"/>
            </a:pP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大致分布</a:t>
            </a:r>
            <a:endPar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marL="1200150" lvl="2" indent="-285750" algn="just">
              <a:lnSpc>
                <a:spcPct val="200000"/>
              </a:lnSpc>
              <a:buFont typeface="Wingdings" panose="05000000000000000000" pitchFamily="2" charset="2"/>
              <a:buChar char="l"/>
            </a:pP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题目构成：例题</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练习题</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拓展题</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p>
          <a:p>
            <a:pPr marL="1200150" lvl="2" indent="-285750" algn="just">
              <a:lnSpc>
                <a:spcPct val="200000"/>
              </a:lnSpc>
              <a:buFont typeface="Wingdings" panose="05000000000000000000" pitchFamily="2" charset="2"/>
              <a:buChar char="l"/>
            </a:pPr>
            <a:r>
              <a:rPr kumimoji="0" lang="zh-CN" altLang="en-US"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题目难度：简单</a:t>
            </a: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a:t>
            </a: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入门题</a:t>
            </a: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a:t>
            </a: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中等题</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难题</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684306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36"/>
          <p:cNvSpPr txBox="1"/>
          <p:nvPr/>
        </p:nvSpPr>
        <p:spPr>
          <a:xfrm>
            <a:off x="334800" y="320400"/>
            <a:ext cx="11684480" cy="584775"/>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课程介绍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基础篇</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9" name="矩形 8">
            <a:extLst>
              <a:ext uri="{FF2B5EF4-FFF2-40B4-BE49-F238E27FC236}">
                <a16:creationId xmlns:a16="http://schemas.microsoft.com/office/drawing/2014/main" id="{1B52A8B6-BA1F-4BD0-9944-5BBDB505D7CB}"/>
              </a:ext>
            </a:extLst>
          </p:cNvPr>
          <p:cNvSpPr/>
          <p:nvPr/>
        </p:nvSpPr>
        <p:spPr>
          <a:xfrm>
            <a:off x="531303" y="1283116"/>
            <a:ext cx="2178341" cy="3754874"/>
          </a:xfrm>
          <a:prstGeom prst="rect">
            <a:avLst/>
          </a:prstGeom>
        </p:spPr>
        <p:txBody>
          <a:bodyPr wrap="square">
            <a:spAutoFit/>
          </a:bodyPr>
          <a:lstStyle/>
          <a:p>
            <a:pPr lvl="0" algn="just">
              <a:spcAft>
                <a:spcPts val="0"/>
              </a:spcAft>
            </a:pPr>
            <a:r>
              <a:rPr lang="en-US" altLang="zh-CN" sz="1400" b="1" kern="100" dirty="0">
                <a:latin typeface="宋体" panose="02010600030101010101" pitchFamily="2" charset="-122"/>
                <a:ea typeface="宋体" panose="02010600030101010101" pitchFamily="2" charset="-122"/>
                <a:cs typeface="Times New Roman" panose="02020603050405020304" pitchFamily="18" charset="0"/>
              </a:rPr>
              <a:t>1. </a:t>
            </a: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简单算法</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算法概念与描述</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入门算法</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枚举</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模拟</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基础算法</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贪心</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递推</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递归</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二分</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倍增</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数值处理算法</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排序算法</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冒泡排序</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选择排序</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插入排序</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宋体" panose="02010600030101010101" pitchFamily="2" charset="-122"/>
                <a:ea typeface="宋体" panose="02010600030101010101" pitchFamily="2" charset="-122"/>
                <a:cs typeface="Times New Roman" panose="02020603050405020304" pitchFamily="18" charset="0"/>
              </a:rPr>
              <a:t>计数排序</a:t>
            </a:r>
            <a:endParaRPr lang="zh-CN" altLang="zh-CN" sz="1050" b="1" kern="100" dirty="0">
              <a:latin typeface="宋体" panose="02010600030101010101" pitchFamily="2" charset="-122"/>
              <a:ea typeface="宋体" panose="02010600030101010101" pitchFamily="2" charset="-122"/>
              <a:cs typeface="Times New Roman" panose="02020603050405020304" pitchFamily="18" charset="0"/>
            </a:endParaRPr>
          </a:p>
        </p:txBody>
      </p:sp>
      <p:sp>
        <p:nvSpPr>
          <p:cNvPr id="10" name="矩形 9">
            <a:extLst>
              <a:ext uri="{FF2B5EF4-FFF2-40B4-BE49-F238E27FC236}">
                <a16:creationId xmlns:a16="http://schemas.microsoft.com/office/drawing/2014/main" id="{C9AEBF5A-00FB-43E3-BCC7-7BD6BE60DE00}"/>
              </a:ext>
            </a:extLst>
          </p:cNvPr>
          <p:cNvSpPr/>
          <p:nvPr/>
        </p:nvSpPr>
        <p:spPr>
          <a:xfrm>
            <a:off x="2938944" y="1282716"/>
            <a:ext cx="3990363" cy="4401205"/>
          </a:xfrm>
          <a:prstGeom prst="rect">
            <a:avLst/>
          </a:prstGeom>
        </p:spPr>
        <p:txBody>
          <a:bodyPr wrap="square">
            <a:spAutoFit/>
          </a:bodyPr>
          <a:lstStyle/>
          <a:p>
            <a:pPr lvl="0" algn="just">
              <a:spcAft>
                <a:spcPts val="0"/>
              </a:spcAf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2.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简单数据结构</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基本概念</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线性结构</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链表</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栈</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队列</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简单树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树的定义与相关概念</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树的表示与存储</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二叉树的定义与基本性质</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二叉树的表示与存储</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二叉树的遍历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特殊树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完全二叉树的定义与基本性质</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完全二叉树的数组表示法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哈夫曼树定义、构造和哈夫曼编码</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二叉搜索树的定义和构造</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简单图</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图的定义与相关概念</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图的表示与存储：邻接矩阵与邻接表</a:t>
            </a:r>
            <a:endParaRPr lang="zh-CN" altLang="zh-CN" sz="1050" b="1"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F8445D56-57CD-44A2-8163-8AB38B04A7A8}"/>
              </a:ext>
            </a:extLst>
          </p:cNvPr>
          <p:cNvSpPr/>
          <p:nvPr/>
        </p:nvSpPr>
        <p:spPr>
          <a:xfrm>
            <a:off x="6177040" y="1273527"/>
            <a:ext cx="2673291" cy="2893100"/>
          </a:xfrm>
          <a:prstGeom prst="rect">
            <a:avLst/>
          </a:prstGeom>
        </p:spPr>
        <p:txBody>
          <a:bodyPr wrap="square">
            <a:spAutoFit/>
          </a:bodyPr>
          <a:lstStyle/>
          <a:p>
            <a:pPr lvl="0" algn="just">
              <a:spcAft>
                <a:spcPts val="0"/>
              </a:spcAf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3.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初级算法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搜索算法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深度优先</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广度优先</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图论算法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深度优先遍历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广度优先遍历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泛洪算法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动态规划</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基本思想</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一维动态规划</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背包问题</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区间动态规划</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12" name="矩形 11">
            <a:extLst>
              <a:ext uri="{FF2B5EF4-FFF2-40B4-BE49-F238E27FC236}">
                <a16:creationId xmlns:a16="http://schemas.microsoft.com/office/drawing/2014/main" id="{299FBE5A-C6AF-4759-A1EF-A3695C713848}"/>
              </a:ext>
            </a:extLst>
          </p:cNvPr>
          <p:cNvSpPr/>
          <p:nvPr/>
        </p:nvSpPr>
        <p:spPr>
          <a:xfrm>
            <a:off x="8818553" y="1282716"/>
            <a:ext cx="2842144" cy="3754874"/>
          </a:xfrm>
          <a:prstGeom prst="rect">
            <a:avLst/>
          </a:prstGeom>
        </p:spPr>
        <p:txBody>
          <a:bodyPr wrap="square">
            <a:spAutoFit/>
          </a:bodyPr>
          <a:lstStyle/>
          <a:p>
            <a:pPr lvl="0" algn="just">
              <a:spcAft>
                <a:spcPts val="0"/>
              </a:spcAf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4.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简单数学</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数及其运算</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初等数论</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整除、因数、倍数、指数、质数、合数</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取整</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模运算与同余</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整数唯一分解定理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辗转相除法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素数筛法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离散与组合数学</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集合</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加法原理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乘法原理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排列</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组合</a:t>
            </a:r>
            <a:endParaRPr lang="en-US"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杨辉三角</a:t>
            </a:r>
            <a:endParaRPr lang="zh-CN" altLang="en-US" b="1" dirty="0"/>
          </a:p>
        </p:txBody>
      </p:sp>
    </p:spTree>
    <p:extLst>
      <p:ext uri="{BB962C8B-B14F-4D97-AF65-F5344CB8AC3E}">
        <p14:creationId xmlns:p14="http://schemas.microsoft.com/office/powerpoint/2010/main" val="3360661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36"/>
          <p:cNvSpPr txBox="1"/>
          <p:nvPr/>
        </p:nvSpPr>
        <p:spPr>
          <a:xfrm>
            <a:off x="334800" y="320400"/>
            <a:ext cx="11684480" cy="584775"/>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课程介绍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进阶篇</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 name="矩形 1">
            <a:extLst>
              <a:ext uri="{FF2B5EF4-FFF2-40B4-BE49-F238E27FC236}">
                <a16:creationId xmlns:a16="http://schemas.microsoft.com/office/drawing/2014/main" id="{DD93E226-AF70-4B7A-876C-857C1426EE31}"/>
              </a:ext>
            </a:extLst>
          </p:cNvPr>
          <p:cNvSpPr/>
          <p:nvPr/>
        </p:nvSpPr>
        <p:spPr>
          <a:xfrm>
            <a:off x="514525" y="1063867"/>
            <a:ext cx="3411523" cy="3754874"/>
          </a:xfrm>
          <a:prstGeom prst="rect">
            <a:avLst/>
          </a:prstGeom>
        </p:spPr>
        <p:txBody>
          <a:bodyPr wrap="square">
            <a:spAutoFit/>
          </a:bodyPr>
          <a:lstStyle/>
          <a:p>
            <a:pPr marL="342900" lvl="0" indent="-342900" algn="just">
              <a:spcAft>
                <a:spcPts val="0"/>
              </a:spcAft>
              <a:buFont typeface="+mj-lt"/>
              <a:buAutoNum type="arabicPeriod"/>
              <a:tabLst>
                <a:tab pos="19812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进阶算法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复杂度分析</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时间复杂度分析</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空间复杂度分析</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分治算法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进阶排序算法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归并排序</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快速排序</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堆排序</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基数排序</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字符串算法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搜素优化</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剪枝</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记忆化搜索</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启发式搜索</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双向广度优先搜索</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迭代加深搜索</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3" name="矩形 2">
            <a:extLst>
              <a:ext uri="{FF2B5EF4-FFF2-40B4-BE49-F238E27FC236}">
                <a16:creationId xmlns:a16="http://schemas.microsoft.com/office/drawing/2014/main" id="{B4B9D801-71CB-44A5-9BFF-44A6A87D3A8C}"/>
              </a:ext>
            </a:extLst>
          </p:cNvPr>
          <p:cNvSpPr/>
          <p:nvPr/>
        </p:nvSpPr>
        <p:spPr>
          <a:xfrm>
            <a:off x="2600534" y="1225728"/>
            <a:ext cx="3766710" cy="3970318"/>
          </a:xfrm>
          <a:prstGeom prst="rect">
            <a:avLst/>
          </a:prstGeom>
        </p:spPr>
        <p:txBody>
          <a:bodyPr wrap="square">
            <a:spAutoFit/>
          </a:bodyPr>
          <a:lstStyle/>
          <a:p>
            <a:pPr lvl="1" algn="just">
              <a:spcAft>
                <a:spcPts val="0"/>
              </a:spcAft>
              <a:tabLst>
                <a:tab pos="5334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(6)</a:t>
            </a:r>
            <a:r>
              <a:rPr lang="zh-CN" altLang="en-US" sz="1400" b="1" kern="100" dirty="0">
                <a:latin typeface="Calibri" panose="020F0502020204030204" pitchFamily="34" charset="0"/>
                <a:ea typeface="宋体" panose="02010600030101010101" pitchFamily="2" charset="-122"/>
                <a:cs typeface="Times New Roman" panose="02020603050405020304" pitchFamily="18" charset="0"/>
              </a:rPr>
              <a:t>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图论算法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最小生成树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次小生成树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单源最短路径</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单源次短路</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Floyd-</a:t>
            </a:r>
            <a:r>
              <a:rPr lang="en-US" altLang="zh-CN" sz="1400" b="1" kern="100" dirty="0" err="1">
                <a:latin typeface="Calibri" panose="020F0502020204030204" pitchFamily="34" charset="0"/>
                <a:ea typeface="宋体" panose="02010600030101010101" pitchFamily="2" charset="-122"/>
                <a:cs typeface="Times New Roman" panose="02020603050405020304" pitchFamily="18" charset="0"/>
              </a:rPr>
              <a:t>Warshall</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拓扑排序</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欧拉路和欧拉回路</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二分图的判定</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强连通分量</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割点、割边</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树的重心、直径、</a:t>
            </a: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DFS</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序与欧拉序</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树上差分、子树和与倍增</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最近公共祖先</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1" algn="just">
              <a:spcAft>
                <a:spcPts val="0"/>
              </a:spcAft>
              <a:tabLst>
                <a:tab pos="5334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(7)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动态规划</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树型动态规划</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状态压缩动态规划</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动态规划的常用优化</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F6BFFD72-0914-42D7-8D86-6722C7A713E4}"/>
              </a:ext>
            </a:extLst>
          </p:cNvPr>
          <p:cNvSpPr/>
          <p:nvPr/>
        </p:nvSpPr>
        <p:spPr>
          <a:xfrm>
            <a:off x="5697468" y="501804"/>
            <a:ext cx="3475893" cy="6124754"/>
          </a:xfrm>
          <a:prstGeom prst="rect">
            <a:avLst/>
          </a:prstGeom>
        </p:spPr>
        <p:txBody>
          <a:bodyPr wrap="square">
            <a:spAutoFit/>
          </a:bodyPr>
          <a:lstStyle/>
          <a:p>
            <a:pPr lvl="0" algn="just">
              <a:spcAft>
                <a:spcPts val="0"/>
              </a:spcAft>
              <a:tabLst>
                <a:tab pos="19812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2.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进阶数据结构</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线性结构</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双端栈</a:t>
            </a:r>
            <a:r>
              <a:rPr lang="zh-CN" altLang="en-US" sz="1050" b="1"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双端队列</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单调栈</a:t>
            </a:r>
            <a:r>
              <a:rPr lang="zh-CN" altLang="en-US" sz="1050" b="1"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单调队列</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优先队列</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ST</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表</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集合与森林</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并查集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树的孩子兄弟表示法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特殊树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二叉堆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树状数组</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线段树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字典树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笛卡尔树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平衡树：</a:t>
            </a: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AVL</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a:t>
            </a:r>
            <a:r>
              <a:rPr lang="en-US" altLang="zh-CN" sz="1400" b="1" kern="100" dirty="0" err="1">
                <a:latin typeface="Calibri" panose="020F0502020204030204" pitchFamily="34" charset="0"/>
                <a:ea typeface="宋体" panose="02010600030101010101" pitchFamily="2" charset="-122"/>
                <a:cs typeface="Times New Roman" panose="02020603050405020304" pitchFamily="18" charset="0"/>
              </a:rPr>
              <a:t>Treap</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a:t>
            </a: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Splay</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常见图</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稀疏图</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二分图</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欧拉图</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有向无环图</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连通图与强连通图</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双连通图</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哈希表</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数值哈希函数构造</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字符串哈希函数构造</a:t>
            </a:r>
            <a:endParaRPr lang="en-US"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哈希冲突的处理方法</a:t>
            </a:r>
            <a:endParaRPr lang="zh-CN" altLang="en-US" b="1" dirty="0"/>
          </a:p>
        </p:txBody>
      </p:sp>
      <p:sp>
        <p:nvSpPr>
          <p:cNvPr id="5" name="矩形 4">
            <a:extLst>
              <a:ext uri="{FF2B5EF4-FFF2-40B4-BE49-F238E27FC236}">
                <a16:creationId xmlns:a16="http://schemas.microsoft.com/office/drawing/2014/main" id="{455A37D2-24BE-40BB-AAA8-178093EEA239}"/>
              </a:ext>
            </a:extLst>
          </p:cNvPr>
          <p:cNvSpPr/>
          <p:nvPr/>
        </p:nvSpPr>
        <p:spPr>
          <a:xfrm>
            <a:off x="8486807" y="501804"/>
            <a:ext cx="3370393" cy="6340197"/>
          </a:xfrm>
          <a:prstGeom prst="rect">
            <a:avLst/>
          </a:prstGeom>
        </p:spPr>
        <p:txBody>
          <a:bodyPr wrap="square">
            <a:spAutoFit/>
          </a:bodyPr>
          <a:lstStyle/>
          <a:p>
            <a:pPr lvl="0" algn="just">
              <a:spcAft>
                <a:spcPts val="0"/>
              </a:spcAft>
              <a:tabLst>
                <a:tab pos="198120" algn="l"/>
              </a:tabLst>
            </a:pP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3</a:t>
            </a: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进阶数学</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初等数学</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初等数论</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同余</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欧拉定理和欧拉函数</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费马小定理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威尔逊定理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裴蜀定理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模运算意义下的逆元</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扩展欧几里得算法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中国剩余定理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离散与组合数学</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多重集合</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等价类</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多重集上的排列</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多重集上的组合</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错排列、圆排列</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鸽巢原理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二项式定理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容斥原理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卡特兰数</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线性代数</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向量与矩阵</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向量运算</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矩阵的初等变换</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矩阵运算</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特殊矩阵的概念：单位阵、三角阵、对称阵和稀疏矩阵</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高斯消元</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05810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36"/>
          <p:cNvSpPr txBox="1"/>
          <p:nvPr/>
        </p:nvSpPr>
        <p:spPr>
          <a:xfrm>
            <a:off x="334800" y="320400"/>
            <a:ext cx="11684480" cy="584775"/>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课程介绍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高级篇</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6" name="矩形 5">
            <a:extLst>
              <a:ext uri="{FF2B5EF4-FFF2-40B4-BE49-F238E27FC236}">
                <a16:creationId xmlns:a16="http://schemas.microsoft.com/office/drawing/2014/main" id="{B69D9D31-3C44-4B35-B195-2DFB615A9246}"/>
              </a:ext>
            </a:extLst>
          </p:cNvPr>
          <p:cNvSpPr/>
          <p:nvPr/>
        </p:nvSpPr>
        <p:spPr>
          <a:xfrm>
            <a:off x="334800" y="948690"/>
            <a:ext cx="3507358" cy="5909310"/>
          </a:xfrm>
          <a:prstGeom prst="rect">
            <a:avLst/>
          </a:prstGeom>
        </p:spPr>
        <p:txBody>
          <a:bodyPr wrap="square">
            <a:spAutoFit/>
          </a:bodyPr>
          <a:lstStyle/>
          <a:p>
            <a:pPr marL="342900" lvl="0" indent="-342900" algn="just">
              <a:spcAft>
                <a:spcPts val="0"/>
              </a:spcAft>
              <a:buFont typeface="+mj-lt"/>
              <a:buAutoNum type="arabicPeriod"/>
              <a:tabLst>
                <a:tab pos="19812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高级算法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算法策略</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分块</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离线处理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复杂分治</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平衡规划</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构造思想</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字符串算法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en-US" altLang="zh-CN" sz="1400" b="1" kern="100" dirty="0" err="1">
                <a:latin typeface="Calibri" panose="020F0502020204030204" pitchFamily="34" charset="0"/>
                <a:ea typeface="宋体" panose="02010600030101010101" pitchFamily="2" charset="-122"/>
                <a:cs typeface="Times New Roman" panose="02020603050405020304" pitchFamily="18" charset="0"/>
              </a:rPr>
              <a:t>Manacher</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扩展</a:t>
            </a: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KMP</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有穷自动机</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AC</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自动机</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后缀数组</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后缀树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后缀自动机</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图论算法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基环树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最小树形图</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2-SAT</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网络流</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图的支配集、独立集与覆盖集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匈牙利算法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KM</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一般图的匹配</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动态规划</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复杂动态规划模型的构建</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复杂动态规划模型的优化</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7" name="矩形 6">
            <a:extLst>
              <a:ext uri="{FF2B5EF4-FFF2-40B4-BE49-F238E27FC236}">
                <a16:creationId xmlns:a16="http://schemas.microsoft.com/office/drawing/2014/main" id="{F4970CAD-2522-41AB-A172-C346DDF260EB}"/>
              </a:ext>
            </a:extLst>
          </p:cNvPr>
          <p:cNvSpPr/>
          <p:nvPr/>
        </p:nvSpPr>
        <p:spPr>
          <a:xfrm>
            <a:off x="3091981" y="905175"/>
            <a:ext cx="3260521" cy="3539430"/>
          </a:xfrm>
          <a:prstGeom prst="rect">
            <a:avLst/>
          </a:prstGeom>
        </p:spPr>
        <p:txBody>
          <a:bodyPr wrap="square">
            <a:spAutoFit/>
          </a:bodyPr>
          <a:lstStyle/>
          <a:p>
            <a:pPr lvl="0" algn="just">
              <a:spcAft>
                <a:spcPts val="0"/>
              </a:spcAft>
              <a:tabLst>
                <a:tab pos="19812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2.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高级数据结构</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块状链表</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跳跃表</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复杂树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树链剖分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动态树：</a:t>
            </a: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LCT</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多维线段树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树套树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K-D</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虚树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可合并堆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左偏树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二项堆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可持久化数据结构</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可持久化线段树</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其他可持久化数据结构</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CF447183-FA79-4C00-8F92-5CEBC951FF10}"/>
              </a:ext>
            </a:extLst>
          </p:cNvPr>
          <p:cNvSpPr/>
          <p:nvPr/>
        </p:nvSpPr>
        <p:spPr>
          <a:xfrm>
            <a:off x="6096000" y="905175"/>
            <a:ext cx="3260521" cy="4832092"/>
          </a:xfrm>
          <a:prstGeom prst="rect">
            <a:avLst/>
          </a:prstGeom>
        </p:spPr>
        <p:txBody>
          <a:bodyPr wrap="square">
            <a:spAutoFit/>
          </a:bodyPr>
          <a:lstStyle/>
          <a:p>
            <a:pPr lvl="0" algn="just">
              <a:spcAft>
                <a:spcPts val="0"/>
              </a:spcAft>
              <a:tabLst>
                <a:tab pos="19812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3.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高级数学</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初等数论</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原根和指数</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大步小步算法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二次同余式</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离散与组合数学</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群及其基本性质</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置换群与循环群</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母函数</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莫比乌斯反演</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Burnside</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引理与</a:t>
            </a:r>
            <a:r>
              <a:rPr lang="en-US" altLang="zh-CN" sz="1400" b="1" kern="100" dirty="0" err="1">
                <a:latin typeface="Calibri" panose="020F0502020204030204" pitchFamily="34" charset="0"/>
                <a:ea typeface="宋体" panose="02010600030101010101" pitchFamily="2" charset="-122"/>
                <a:cs typeface="Times New Roman" panose="02020603050405020304" pitchFamily="18" charset="0"/>
              </a:rPr>
              <a:t>Polya</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定理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斯特林数</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无根数的</a:t>
            </a:r>
            <a:r>
              <a:rPr lang="en-US" altLang="zh-CN" sz="1400" b="1" kern="100" dirty="0" err="1">
                <a:latin typeface="Calibri" panose="020F0502020204030204" pitchFamily="34" charset="0"/>
                <a:ea typeface="宋体" panose="02010600030101010101" pitchFamily="2" charset="-122"/>
                <a:cs typeface="Times New Roman" panose="02020603050405020304" pitchFamily="18" charset="0"/>
              </a:rPr>
              <a:t>Prufer</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序列</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线性代数</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逆矩阵</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行列式</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向量空间与线性相关</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spcAft>
                <a:spcPts val="0"/>
              </a:spcAft>
              <a:buFont typeface="+mj-lt"/>
              <a:buAutoNum type="arabicParenBoth"/>
              <a:tabLst>
                <a:tab pos="5334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高等数学</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多项式函数的微分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多项式函数的积分</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泰勒级数</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快速傅里叶变换</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13E08B52-2B9D-440B-861C-B2A40C8FD00F}"/>
              </a:ext>
            </a:extLst>
          </p:cNvPr>
          <p:cNvSpPr/>
          <p:nvPr/>
        </p:nvSpPr>
        <p:spPr>
          <a:xfrm>
            <a:off x="8853181" y="1127387"/>
            <a:ext cx="3004019" cy="3539430"/>
          </a:xfrm>
          <a:prstGeom prst="rect">
            <a:avLst/>
          </a:prstGeom>
        </p:spPr>
        <p:txBody>
          <a:bodyPr wrap="square">
            <a:spAutoFit/>
          </a:bodyPr>
          <a:lstStyle/>
          <a:p>
            <a:pPr lvl="1" algn="just">
              <a:spcAft>
                <a:spcPts val="0"/>
              </a:spcAft>
              <a:tabLst>
                <a:tab pos="5334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(5)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概率论</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概率的基本概念</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随机变量的期望与方差</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条件概率</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贝叶斯公式</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1" algn="just">
              <a:spcAft>
                <a:spcPts val="0"/>
              </a:spcAft>
              <a:tabLst>
                <a:tab pos="5334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(6)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博弈论</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尼姆博弈</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SG</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函数</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1" algn="just">
              <a:spcAft>
                <a:spcPts val="0"/>
              </a:spcAft>
              <a:tabLst>
                <a:tab pos="5334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(7)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最优化</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1" algn="just">
              <a:spcAft>
                <a:spcPts val="0"/>
              </a:spcAft>
              <a:tabLst>
                <a:tab pos="5334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(8)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计算几何</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点线面位置关系的判定</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一般图形面积计算</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二维凸包</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2" algn="just">
              <a:spcAft>
                <a:spcPts val="0"/>
              </a:spcAft>
              <a:tabLst>
                <a:tab pos="800100" algn="l"/>
              </a:tabLst>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半平面交</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1" algn="just">
              <a:spcAft>
                <a:spcPts val="0"/>
              </a:spcAft>
              <a:tabLst>
                <a:tab pos="5334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(9)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信息论</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a:p>
            <a:pPr lvl="1" algn="just">
              <a:spcAft>
                <a:spcPts val="0"/>
              </a:spcAft>
              <a:tabLst>
                <a:tab pos="533400" algn="l"/>
              </a:tabLst>
            </a:pP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(10) </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其他</a:t>
            </a:r>
            <a:endParaRPr lang="zh-CN" altLang="zh-CN" sz="1050" b="1" kern="100" dirty="0">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85354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36"/>
          <p:cNvSpPr txBox="1"/>
          <p:nvPr/>
        </p:nvSpPr>
        <p:spPr>
          <a:xfrm>
            <a:off x="334800" y="320400"/>
            <a:ext cx="11684480" cy="584775"/>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课程介绍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相关网站</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 name="矩形 3">
            <a:extLst>
              <a:ext uri="{FF2B5EF4-FFF2-40B4-BE49-F238E27FC236}">
                <a16:creationId xmlns:a16="http://schemas.microsoft.com/office/drawing/2014/main" id="{AC1AF70B-6978-4F2F-A56F-1ADCEBE954C6}"/>
              </a:ext>
            </a:extLst>
          </p:cNvPr>
          <p:cNvSpPr/>
          <p:nvPr/>
        </p:nvSpPr>
        <p:spPr>
          <a:xfrm>
            <a:off x="422507" y="1008485"/>
            <a:ext cx="388119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prstClr val="black"/>
                </a:solidFill>
                <a:latin typeface="等线"/>
                <a:ea typeface="等线" panose="02010600030101010101" pitchFamily="2" charset="-122"/>
              </a:rPr>
              <a:t>程天学平台：</a:t>
            </a:r>
            <a:r>
              <a:rPr lang="en-US" altLang="zh-CN" b="1" dirty="0">
                <a:solidFill>
                  <a:prstClr val="black"/>
                </a:solidFill>
                <a:latin typeface="等线"/>
                <a:ea typeface="等线" panose="02010600030101010101" pitchFamily="2" charset="-122"/>
              </a:rPr>
              <a:t>https://acm.tju.edu.cn</a:t>
            </a:r>
            <a:endParaRPr kumimoji="0" lang="zh-CN" altLang="en-US"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pic>
        <p:nvPicPr>
          <p:cNvPr id="5" name="图片 4">
            <a:extLst>
              <a:ext uri="{FF2B5EF4-FFF2-40B4-BE49-F238E27FC236}">
                <a16:creationId xmlns:a16="http://schemas.microsoft.com/office/drawing/2014/main" id="{B1055360-AAF2-4EBB-98B1-8CABA0F23A2B}"/>
              </a:ext>
            </a:extLst>
          </p:cNvPr>
          <p:cNvPicPr>
            <a:picLocks noChangeAspect="1"/>
          </p:cNvPicPr>
          <p:nvPr/>
        </p:nvPicPr>
        <p:blipFill rotWithShape="1">
          <a:blip r:embed="rId3">
            <a:extLst>
              <a:ext uri="{28A0092B-C50C-407E-A947-70E740481C1C}">
                <a14:useLocalDpi xmlns:a14="http://schemas.microsoft.com/office/drawing/2010/main" val="0"/>
              </a:ext>
            </a:extLst>
          </a:blip>
          <a:srcRect r="1743"/>
          <a:stretch/>
        </p:blipFill>
        <p:spPr>
          <a:xfrm>
            <a:off x="576043" y="1579855"/>
            <a:ext cx="11039913" cy="5278145"/>
          </a:xfrm>
          <a:prstGeom prst="rect">
            <a:avLst/>
          </a:prstGeom>
        </p:spPr>
      </p:pic>
    </p:spTree>
    <p:extLst>
      <p:ext uri="{BB962C8B-B14F-4D97-AF65-F5344CB8AC3E}">
        <p14:creationId xmlns:p14="http://schemas.microsoft.com/office/powerpoint/2010/main" val="2340248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36"/>
          <p:cNvSpPr txBox="1"/>
          <p:nvPr/>
        </p:nvSpPr>
        <p:spPr>
          <a:xfrm>
            <a:off x="334800" y="320400"/>
            <a:ext cx="11684480" cy="584775"/>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课程介绍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相关网站</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 name="矩形 3">
            <a:extLst>
              <a:ext uri="{FF2B5EF4-FFF2-40B4-BE49-F238E27FC236}">
                <a16:creationId xmlns:a16="http://schemas.microsoft.com/office/drawing/2014/main" id="{AC1AF70B-6978-4F2F-A56F-1ADCEBE954C6}"/>
              </a:ext>
            </a:extLst>
          </p:cNvPr>
          <p:cNvSpPr/>
          <p:nvPr/>
        </p:nvSpPr>
        <p:spPr>
          <a:xfrm>
            <a:off x="422507" y="1008485"/>
            <a:ext cx="5291833" cy="369332"/>
          </a:xfrm>
          <a:prstGeom prst="rect">
            <a:avLst/>
          </a:prstGeom>
        </p:spPr>
        <p:txBody>
          <a:bodyPr wrap="none">
            <a:spAutoFit/>
          </a:bodyPr>
          <a:lstStyle/>
          <a:p>
            <a:pPr lvl="0"/>
            <a:r>
              <a:rPr kumimoji="0" lang="zh-CN" altLang="en-US"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班级：</a:t>
            </a:r>
            <a:r>
              <a:rPr lang="en-US" altLang="zh-CN" b="1" dirty="0">
                <a:solidFill>
                  <a:prstClr val="black"/>
                </a:solidFill>
              </a:rPr>
              <a:t> https://acm.tju.edu.cn/group/1028/home</a:t>
            </a:r>
            <a:endParaRPr kumimoji="0" lang="zh-CN" altLang="en-US"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pic>
        <p:nvPicPr>
          <p:cNvPr id="2" name="图片 1">
            <a:extLst>
              <a:ext uri="{FF2B5EF4-FFF2-40B4-BE49-F238E27FC236}">
                <a16:creationId xmlns:a16="http://schemas.microsoft.com/office/drawing/2014/main" id="{079A4737-C22C-486F-94C0-4EB244715E53}"/>
              </a:ext>
            </a:extLst>
          </p:cNvPr>
          <p:cNvPicPr>
            <a:picLocks noChangeAspect="1"/>
          </p:cNvPicPr>
          <p:nvPr/>
        </p:nvPicPr>
        <p:blipFill>
          <a:blip r:embed="rId3"/>
          <a:stretch>
            <a:fillRect/>
          </a:stretch>
        </p:blipFill>
        <p:spPr>
          <a:xfrm>
            <a:off x="631767" y="1664744"/>
            <a:ext cx="9875310" cy="4872856"/>
          </a:xfrm>
          <a:prstGeom prst="rect">
            <a:avLst/>
          </a:prstGeom>
        </p:spPr>
      </p:pic>
    </p:spTree>
    <p:extLst>
      <p:ext uri="{BB962C8B-B14F-4D97-AF65-F5344CB8AC3E}">
        <p14:creationId xmlns:p14="http://schemas.microsoft.com/office/powerpoint/2010/main" val="2175818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36"/>
          <p:cNvSpPr txBox="1"/>
          <p:nvPr/>
        </p:nvSpPr>
        <p:spPr>
          <a:xfrm>
            <a:off x="334800" y="284890"/>
            <a:ext cx="11684480" cy="584775"/>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课程介绍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相关网站</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 name="矩形 3">
            <a:extLst>
              <a:ext uri="{FF2B5EF4-FFF2-40B4-BE49-F238E27FC236}">
                <a16:creationId xmlns:a16="http://schemas.microsoft.com/office/drawing/2014/main" id="{AC1AF70B-6978-4F2F-A56F-1ADCEBE954C6}"/>
              </a:ext>
            </a:extLst>
          </p:cNvPr>
          <p:cNvSpPr/>
          <p:nvPr/>
        </p:nvSpPr>
        <p:spPr>
          <a:xfrm>
            <a:off x="567812" y="910050"/>
            <a:ext cx="668644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B</a:t>
            </a:r>
            <a:r>
              <a:rPr kumimoji="0" lang="zh-CN" altLang="en-US"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站</a:t>
            </a:r>
            <a:r>
              <a:rPr kumimoji="0" lang="en-US" altLang="zh-CN"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a:t>
            </a:r>
            <a:r>
              <a:rPr kumimoji="0" lang="en-US" altLang="zh-CN"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hlinkClick r:id="rId3"/>
              </a:rPr>
              <a:t>https://space.bilibili.com/495188938</a:t>
            </a:r>
            <a:r>
              <a:rPr kumimoji="0" lang="en-US" altLang="zh-CN"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a:t>
            </a:r>
            <a:r>
              <a:rPr kumimoji="0" lang="zh-CN" altLang="en-US" sz="18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用户名：天大算协</a:t>
            </a:r>
          </a:p>
        </p:txBody>
      </p:sp>
      <p:pic>
        <p:nvPicPr>
          <p:cNvPr id="5" name="图片 4">
            <a:extLst>
              <a:ext uri="{FF2B5EF4-FFF2-40B4-BE49-F238E27FC236}">
                <a16:creationId xmlns:a16="http://schemas.microsoft.com/office/drawing/2014/main" id="{45D3AF38-FB8F-45E4-B74F-7DCED9C108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433" y="1377817"/>
            <a:ext cx="10062117" cy="5338866"/>
          </a:xfrm>
          <a:prstGeom prst="rect">
            <a:avLst/>
          </a:prstGeom>
        </p:spPr>
      </p:pic>
    </p:spTree>
    <p:extLst>
      <p:ext uri="{BB962C8B-B14F-4D97-AF65-F5344CB8AC3E}">
        <p14:creationId xmlns:p14="http://schemas.microsoft.com/office/powerpoint/2010/main" val="1018515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36"/>
          <p:cNvSpPr txBox="1"/>
          <p:nvPr/>
        </p:nvSpPr>
        <p:spPr>
          <a:xfrm>
            <a:off x="334800" y="320400"/>
            <a:ext cx="11684480" cy="584775"/>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课程介绍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教材与参考资料</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12" name="图片 11" descr="https://bkimg.cdn.bcebos.com/pic/359b033b5bb5c9eaacc8a8c8d539b6003af3b3e6?x-bce-process=image/resize,m_lfit,w_268,limit_1/format,f_auto">
            <a:extLst>
              <a:ext uri="{FF2B5EF4-FFF2-40B4-BE49-F238E27FC236}">
                <a16:creationId xmlns:a16="http://schemas.microsoft.com/office/drawing/2014/main" id="{9B9937B5-FD5E-4AA9-8909-7D09BF0FEC9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654705" y="1515844"/>
            <a:ext cx="2192144" cy="3307058"/>
          </a:xfrm>
          <a:prstGeom prst="rect">
            <a:avLst/>
          </a:prstGeom>
          <a:noFill/>
          <a:ln>
            <a:noFill/>
          </a:ln>
        </p:spPr>
      </p:pic>
      <p:pic>
        <p:nvPicPr>
          <p:cNvPr id="13" name="图片 12">
            <a:extLst>
              <a:ext uri="{FF2B5EF4-FFF2-40B4-BE49-F238E27FC236}">
                <a16:creationId xmlns:a16="http://schemas.microsoft.com/office/drawing/2014/main" id="{C797D805-AD06-4377-9AD3-F1124846B9B6}"/>
              </a:ext>
            </a:extLst>
          </p:cNvPr>
          <p:cNvPicPr/>
          <p:nvPr/>
        </p:nvPicPr>
        <p:blipFill>
          <a:blip r:embed="rId4"/>
          <a:stretch>
            <a:fillRect/>
          </a:stretch>
        </p:blipFill>
        <p:spPr>
          <a:xfrm>
            <a:off x="8107418" y="1367367"/>
            <a:ext cx="3222221" cy="3215784"/>
          </a:xfrm>
          <a:prstGeom prst="rect">
            <a:avLst/>
          </a:prstGeom>
        </p:spPr>
      </p:pic>
      <p:sp>
        <p:nvSpPr>
          <p:cNvPr id="6" name="矩形 5">
            <a:extLst>
              <a:ext uri="{FF2B5EF4-FFF2-40B4-BE49-F238E27FC236}">
                <a16:creationId xmlns:a16="http://schemas.microsoft.com/office/drawing/2014/main" id="{397CD626-566E-448C-8F4F-C7748EAA0AD3}"/>
              </a:ext>
            </a:extLst>
          </p:cNvPr>
          <p:cNvSpPr/>
          <p:nvPr/>
        </p:nvSpPr>
        <p:spPr>
          <a:xfrm>
            <a:off x="8528926" y="4893926"/>
            <a:ext cx="2800713" cy="9233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a:t>
            </a:r>
            <a:r>
              <a:rPr kumimoji="0" lang="zh-CN"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计算机程序设计艺术</a:t>
            </a: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a:t>
            </a:r>
            <a:r>
              <a:rPr kumimoji="0" lang="zh-CN"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a:t>
            </a:r>
            <a:endPar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1-3</a:t>
            </a:r>
            <a:r>
              <a:rPr kumimoji="0" lang="zh-CN"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卷，</a:t>
            </a: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Donald Knuth</a:t>
            </a:r>
            <a:r>
              <a:rPr kumimoji="0" lang="zh-CN"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a:t>
            </a:r>
            <a:endPar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清华大学出版社</a:t>
            </a:r>
            <a:endParaRPr kumimoji="0" lang="zh-CN" altLang="en-US"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endParaRPr>
          </a:p>
        </p:txBody>
      </p:sp>
      <p:sp>
        <p:nvSpPr>
          <p:cNvPr id="7" name="矩形 6">
            <a:extLst>
              <a:ext uri="{FF2B5EF4-FFF2-40B4-BE49-F238E27FC236}">
                <a16:creationId xmlns:a16="http://schemas.microsoft.com/office/drawing/2014/main" id="{FF4EEBAF-6AC2-4C90-9D0A-D8A6C5A8C113}"/>
              </a:ext>
            </a:extLst>
          </p:cNvPr>
          <p:cNvSpPr/>
          <p:nvPr/>
        </p:nvSpPr>
        <p:spPr>
          <a:xfrm>
            <a:off x="3999913" y="4932956"/>
            <a:ext cx="3653680" cy="1200329"/>
          </a:xfrm>
          <a:prstGeom prst="rect">
            <a:avLst/>
          </a:prstGeom>
        </p:spPr>
        <p:txBody>
          <a:bodyPr wrap="square">
            <a:spAutoFit/>
          </a:bodyPr>
          <a:lstStyle/>
          <a:p>
            <a:pPr marL="0" marR="0" lvl="0" indent="266700"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a:t>
            </a:r>
            <a:r>
              <a:rPr kumimoji="0" lang="zh-CN"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算法导论</a:t>
            </a: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a:t>
            </a:r>
            <a:r>
              <a:rPr kumimoji="0" lang="zh-CN"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a:t>
            </a: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Thomas H. </a:t>
            </a:r>
            <a:r>
              <a:rPr kumimoji="0" lang="en-US" altLang="zh-CN" sz="1800" b="1" i="0" u="none" strike="noStrike" kern="100" cap="none" spc="0" normalizeH="0" baseline="0" noProof="0" dirty="0" err="1">
                <a:ln>
                  <a:noFill/>
                </a:ln>
                <a:solidFill>
                  <a:prstClr val="black"/>
                </a:solidFill>
                <a:effectLst/>
                <a:uLnTx/>
                <a:uFillTx/>
                <a:latin typeface="微软雅黑" panose="020B0503020204020204" pitchFamily="34" charset="-122"/>
                <a:ea typeface="等线" panose="02010600030101010101" pitchFamily="2" charset="-122"/>
                <a:cs typeface="+mn-cs"/>
              </a:rPr>
              <a:t>Cormen</a:t>
            </a:r>
            <a:r>
              <a:rPr kumimoji="0" lang="zh-CN" altLang="en-US"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a:t>
            </a: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Charles E. </a:t>
            </a:r>
            <a:r>
              <a:rPr kumimoji="0" lang="en-US" altLang="zh-CN" sz="1800" b="1" i="0" u="none" strike="noStrike" kern="100" cap="none" spc="0" normalizeH="0" baseline="0" noProof="0" dirty="0" err="1">
                <a:ln>
                  <a:noFill/>
                </a:ln>
                <a:solidFill>
                  <a:prstClr val="black"/>
                </a:solidFill>
                <a:effectLst/>
                <a:uLnTx/>
                <a:uFillTx/>
                <a:latin typeface="微软雅黑" panose="020B0503020204020204" pitchFamily="34" charset="-122"/>
                <a:ea typeface="等线" panose="02010600030101010101" pitchFamily="2" charset="-122"/>
                <a:cs typeface="+mn-cs"/>
              </a:rPr>
              <a:t>Leiserson</a:t>
            </a:r>
            <a:r>
              <a:rPr kumimoji="0" lang="zh-CN" altLang="en-US"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a:t>
            </a: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Ronald L. </a:t>
            </a:r>
            <a:r>
              <a:rPr kumimoji="0" lang="en-US" altLang="zh-CN" sz="1800" b="1" i="0" u="none" strike="noStrike" kern="100" cap="none" spc="0" normalizeH="0" baseline="0" noProof="0" dirty="0" err="1">
                <a:ln>
                  <a:noFill/>
                </a:ln>
                <a:solidFill>
                  <a:prstClr val="black"/>
                </a:solidFill>
                <a:effectLst/>
                <a:uLnTx/>
                <a:uFillTx/>
                <a:latin typeface="微软雅黑" panose="020B0503020204020204" pitchFamily="34" charset="-122"/>
                <a:ea typeface="等线" panose="02010600030101010101" pitchFamily="2" charset="-122"/>
                <a:cs typeface="+mn-cs"/>
              </a:rPr>
              <a:t>Rivest</a:t>
            </a:r>
            <a:r>
              <a:rPr kumimoji="0" lang="zh-CN" altLang="en-US"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a:t>
            </a: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Clifford Stein</a:t>
            </a:r>
            <a:r>
              <a:rPr kumimoji="0" lang="zh-CN"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等线" panose="02010600030101010101" pitchFamily="2" charset="-122"/>
                <a:cs typeface="+mn-cs"/>
              </a:rPr>
              <a:t>，机械工业出版社</a:t>
            </a:r>
          </a:p>
        </p:txBody>
      </p:sp>
      <p:sp>
        <p:nvSpPr>
          <p:cNvPr id="8" name="矩形 7">
            <a:extLst>
              <a:ext uri="{FF2B5EF4-FFF2-40B4-BE49-F238E27FC236}">
                <a16:creationId xmlns:a16="http://schemas.microsoft.com/office/drawing/2014/main" id="{5191CDBD-7F27-4F88-AC47-E530C1B6B316}"/>
              </a:ext>
            </a:extLst>
          </p:cNvPr>
          <p:cNvSpPr/>
          <p:nvPr/>
        </p:nvSpPr>
        <p:spPr>
          <a:xfrm>
            <a:off x="470740" y="5210000"/>
            <a:ext cx="3046077" cy="9233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4472C4"/>
                </a:solidFill>
                <a:effectLst/>
                <a:uLnTx/>
                <a:uFillTx/>
                <a:latin typeface="等线"/>
                <a:ea typeface="微软雅黑" panose="020B0503020204020204" pitchFamily="34" charset="-122"/>
                <a:cs typeface="+mn-cs"/>
              </a:rPr>
              <a:t>《</a:t>
            </a:r>
            <a:r>
              <a:rPr kumimoji="0" lang="zh-CN" altLang="en-US" sz="1800" b="1" i="0" u="none" strike="noStrike" kern="100" cap="none" spc="0" normalizeH="0" baseline="0" noProof="0" dirty="0">
                <a:ln>
                  <a:noFill/>
                </a:ln>
                <a:solidFill>
                  <a:srgbClr val="4472C4"/>
                </a:solidFill>
                <a:effectLst/>
                <a:uLnTx/>
                <a:uFillTx/>
                <a:latin typeface="等线"/>
                <a:ea typeface="微软雅黑" panose="020B0503020204020204" pitchFamily="34" charset="-122"/>
                <a:cs typeface="+mn-cs"/>
              </a:rPr>
              <a:t>程序设计算法基础</a:t>
            </a:r>
            <a:r>
              <a:rPr kumimoji="0" lang="en-US" altLang="zh-CN" sz="1800" b="1" i="0" u="none" strike="noStrike" kern="100" cap="none" spc="0" normalizeH="0" baseline="0" noProof="0" dirty="0">
                <a:ln>
                  <a:noFill/>
                </a:ln>
                <a:solidFill>
                  <a:srgbClr val="4472C4"/>
                </a:solidFill>
                <a:effectLst/>
                <a:uLnTx/>
                <a:uFillTx/>
                <a:latin typeface="等线"/>
                <a:ea typeface="微软雅黑" panose="020B0503020204020204" pitchFamily="34" charset="-122"/>
                <a:cs typeface="+mn-cs"/>
              </a:rPr>
              <a:t>》</a:t>
            </a:r>
            <a:r>
              <a:rPr kumimoji="0" lang="zh-CN" altLang="en-US" sz="1800" b="1" i="0" u="none" strike="noStrike" kern="100" cap="none" spc="0" normalizeH="0" baseline="0" noProof="0" dirty="0">
                <a:ln>
                  <a:noFill/>
                </a:ln>
                <a:solidFill>
                  <a:srgbClr val="4472C4"/>
                </a:solidFill>
                <a:effectLst/>
                <a:uLnTx/>
                <a:uFillTx/>
                <a:latin typeface="等线"/>
                <a:ea typeface="微软雅黑" panose="020B0503020204020204" pitchFamily="34" charset="-122"/>
                <a:cs typeface="+mn-cs"/>
              </a:rPr>
              <a:t>，清华大学出版社，喻梅 于瑞国主编，李雪威 赵满坤副主编</a:t>
            </a:r>
            <a:endParaRPr kumimoji="0" lang="zh-CN" altLang="en-US" sz="1800" b="1" i="0" u="none" strike="noStrike" kern="1200" cap="none" spc="0" normalizeH="0" baseline="0" noProof="0" dirty="0">
              <a:ln>
                <a:noFill/>
              </a:ln>
              <a:solidFill>
                <a:srgbClr val="4472C4"/>
              </a:solidFill>
              <a:effectLst/>
              <a:uLnTx/>
              <a:uFillTx/>
              <a:latin typeface="等线"/>
              <a:ea typeface="等线" panose="02010600030101010101" pitchFamily="2" charset="-122"/>
              <a:cs typeface="+mn-cs"/>
            </a:endParaRPr>
          </a:p>
        </p:txBody>
      </p:sp>
      <p:pic>
        <p:nvPicPr>
          <p:cNvPr id="1026" name="Picture 2" descr="https://bkimg.cdn.bcebos.com/pic/caef76094b36acaf2eddea6668819a1001e9380136ab?x-bce-process=image/format,f_auto/watermark,image_d2F0ZXIvYmFpa2UyNzI,g_7,xp_5,yp_5,P_20/resize,m_lfit,limit_1,h_1080">
            <a:extLst>
              <a:ext uri="{FF2B5EF4-FFF2-40B4-BE49-F238E27FC236}">
                <a16:creationId xmlns:a16="http://schemas.microsoft.com/office/drawing/2014/main" id="{7A38C864-EF7E-4B7F-ABD4-6BA79D66214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4962" t="3792" r="11060" b="2630"/>
          <a:stretch/>
        </p:blipFill>
        <p:spPr bwMode="auto">
          <a:xfrm>
            <a:off x="593423" y="1515844"/>
            <a:ext cx="2800713" cy="3542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5399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36"/>
          <p:cNvSpPr txBox="1"/>
          <p:nvPr/>
        </p:nvSpPr>
        <p:spPr>
          <a:xfrm>
            <a:off x="334800" y="320400"/>
            <a:ext cx="11684480" cy="584775"/>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C++</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预备知识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程序的编译和运行原理</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59C845B7-C29E-483D-BF30-B2F29D1D20CE}"/>
              </a:ext>
            </a:extLst>
          </p:cNvPr>
          <p:cNvSpPr txBox="1"/>
          <p:nvPr/>
        </p:nvSpPr>
        <p:spPr>
          <a:xfrm>
            <a:off x="719627" y="1028834"/>
            <a:ext cx="10176707" cy="7961988"/>
          </a:xfrm>
          <a:prstGeom prst="rect">
            <a:avLst/>
          </a:prstGeom>
          <a:noFill/>
        </p:spPr>
        <p:txBody>
          <a:bodyPr wrap="square" rtlCol="0">
            <a:spAutoFit/>
          </a:bodyPr>
          <a:lstStyle/>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编译过程：</a:t>
            </a: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914400" marR="0" lvl="1"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高级语言（如</a:t>
            </a:r>
            <a:r>
              <a:rPr kumimoji="0" lang="en-US" altLang="zh-CN" sz="24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t>
            </a:r>
            <a:r>
              <a:rPr kumimoji="0" lang="zh-CN" altLang="en-US" sz="24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a:t>
            </a:r>
            <a:r>
              <a:rPr kumimoji="0" lang="zh-CN" altLang="en-US" sz="24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低级语言（汇编语言、机器语言）的过程</a:t>
            </a:r>
            <a:endParaRPr kumimoji="0" lang="en-US" altLang="zh-CN" sz="24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源文件：</a:t>
            </a:r>
            <a:r>
              <a:rPr kumimoji="0" lang="en-US" altLang="zh-CN"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CPP</a:t>
            </a:r>
            <a:r>
              <a:rPr kumimoji="0" lang="zh-CN" altLang="en-US"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代码</a:t>
            </a:r>
            <a:endParaRPr kumimoji="0" lang="en-US" altLang="zh-CN"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目标文件：</a:t>
            </a:r>
            <a:r>
              <a:rPr kumimoji="0" lang="en-US" altLang="zh-CN"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Object</a:t>
            </a:r>
            <a:r>
              <a:rPr kumimoji="0" lang="zh-CN" altLang="en-US"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文件</a:t>
            </a:r>
            <a:endParaRPr kumimoji="0" lang="en-US" altLang="zh-CN"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可执行文件：如</a:t>
            </a:r>
            <a:r>
              <a:rPr kumimoji="0" lang="en-US" altLang="zh-CN"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Windows</a:t>
            </a:r>
            <a:r>
              <a:rPr kumimoji="0" lang="zh-CN" altLang="en-US"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a:t>
            </a:r>
            <a:r>
              <a:rPr kumimoji="0" lang="en-US" altLang="zh-CN"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EXE</a:t>
            </a:r>
            <a:r>
              <a:rPr kumimoji="0" lang="zh-CN" altLang="en-US"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格式</a:t>
            </a:r>
            <a:endParaRPr kumimoji="0" lang="en-US" altLang="zh-CN"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endParaRPr kumimoji="0" lang="en-US" altLang="zh-CN"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189" marR="0" lvl="0" indent="-457189"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altLang="zh-CN" sz="2667" b="1" i="0" u="none" strike="noStrike" kern="100" cap="none" spc="0" normalizeH="0" baseline="0" noProof="0" dirty="0">
              <a:ln>
                <a:noFill/>
              </a:ln>
              <a:solidFill>
                <a:srgbClr val="1A6693"/>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667" b="1" i="0" u="none" strike="noStrike" kern="100" cap="none" spc="0" normalizeH="0" baseline="0" noProof="0" dirty="0">
              <a:ln>
                <a:noFill/>
              </a:ln>
              <a:solidFill>
                <a:srgbClr val="1A6693"/>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667" b="1" i="0" u="none" strike="noStrike" kern="100" cap="none" spc="0" normalizeH="0" baseline="0" noProof="0" dirty="0">
              <a:ln>
                <a:noFill/>
              </a:ln>
              <a:solidFill>
                <a:srgbClr val="1A6693"/>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箭头: 下 1">
            <a:extLst>
              <a:ext uri="{FF2B5EF4-FFF2-40B4-BE49-F238E27FC236}">
                <a16:creationId xmlns:a16="http://schemas.microsoft.com/office/drawing/2014/main" id="{D46DC1F9-DC33-4034-83D0-176A4A7948F4}"/>
              </a:ext>
            </a:extLst>
          </p:cNvPr>
          <p:cNvSpPr/>
          <p:nvPr/>
        </p:nvSpPr>
        <p:spPr>
          <a:xfrm>
            <a:off x="2095131" y="2991775"/>
            <a:ext cx="870011" cy="1020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5" name="箭头: 下 4">
            <a:extLst>
              <a:ext uri="{FF2B5EF4-FFF2-40B4-BE49-F238E27FC236}">
                <a16:creationId xmlns:a16="http://schemas.microsoft.com/office/drawing/2014/main" id="{C18DD99A-D5CF-4C8B-A5F2-E56E4335AEB2}"/>
              </a:ext>
            </a:extLst>
          </p:cNvPr>
          <p:cNvSpPr/>
          <p:nvPr/>
        </p:nvSpPr>
        <p:spPr>
          <a:xfrm>
            <a:off x="2095131" y="4954716"/>
            <a:ext cx="870011" cy="1020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 name="矩形 3">
            <a:extLst>
              <a:ext uri="{FF2B5EF4-FFF2-40B4-BE49-F238E27FC236}">
                <a16:creationId xmlns:a16="http://schemas.microsoft.com/office/drawing/2014/main" id="{5BFE9D2B-521E-4A0F-8A8B-C5CAE8EAAFAA}"/>
              </a:ext>
            </a:extLst>
          </p:cNvPr>
          <p:cNvSpPr/>
          <p:nvPr/>
        </p:nvSpPr>
        <p:spPr>
          <a:xfrm>
            <a:off x="2705747" y="3009531"/>
            <a:ext cx="902811" cy="52322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00" cap="none" spc="0" normalizeH="0" baseline="0" noProof="0" dirty="0">
                <a:ln w="0"/>
                <a:solidFill>
                  <a:prstClr val="black"/>
                </a:solidFill>
                <a:effectLst>
                  <a:outerShdw blurRad="38100" dist="1905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编译</a:t>
            </a:r>
            <a:endParaRPr kumimoji="0" lang="zh-CN" altLang="en-US" sz="2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
        <p:nvSpPr>
          <p:cNvPr id="7" name="矩形 6">
            <a:extLst>
              <a:ext uri="{FF2B5EF4-FFF2-40B4-BE49-F238E27FC236}">
                <a16:creationId xmlns:a16="http://schemas.microsoft.com/office/drawing/2014/main" id="{BECB99C7-99A2-46A0-A656-A2F2DA668153}"/>
              </a:ext>
            </a:extLst>
          </p:cNvPr>
          <p:cNvSpPr/>
          <p:nvPr/>
        </p:nvSpPr>
        <p:spPr>
          <a:xfrm>
            <a:off x="2705747" y="5021528"/>
            <a:ext cx="5570756" cy="52322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00" cap="none" spc="0" normalizeH="0" baseline="0" noProof="0" dirty="0">
                <a:ln w="0"/>
                <a:solidFill>
                  <a:prstClr val="black"/>
                </a:solidFill>
                <a:effectLst>
                  <a:outerShdw blurRad="38100" dist="1905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链接：组合各个模块为可执行程序</a:t>
            </a:r>
            <a:endParaRPr kumimoji="0" lang="zh-CN" altLang="en-US" sz="2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6263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36"/>
          <p:cNvSpPr txBox="1"/>
          <p:nvPr/>
        </p:nvSpPr>
        <p:spPr>
          <a:xfrm>
            <a:off x="334800" y="320400"/>
            <a:ext cx="11684480" cy="584775"/>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C++</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预备知识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编译器的使用</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D469E253-F116-43F6-B954-21653771BB69}"/>
              </a:ext>
            </a:extLst>
          </p:cNvPr>
          <p:cNvSpPr txBox="1"/>
          <p:nvPr/>
        </p:nvSpPr>
        <p:spPr>
          <a:xfrm>
            <a:off x="719627" y="1028834"/>
            <a:ext cx="10176707" cy="7669087"/>
          </a:xfrm>
          <a:prstGeom prst="rect">
            <a:avLst/>
          </a:prstGeom>
          <a:noFill/>
        </p:spPr>
        <p:txBody>
          <a:bodyPr wrap="square" rtlCol="0">
            <a:spAutoFit/>
          </a:bodyPr>
          <a:lstStyle/>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编译器：将一种语言翻译为另一种语言的程序</a:t>
            </a: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en-US" altLang="zh-CN" sz="1800" b="1" i="0" u="none" strike="noStrike" kern="100" cap="none" spc="0" normalizeH="0" baseline="0" noProof="0" dirty="0" err="1">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Gcc</a:t>
            </a:r>
            <a:r>
              <a:rPr kumimoji="0" lang="zh-CN" altLang="en-US" sz="18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GNU Compiler Collection</a:t>
            </a:r>
            <a:r>
              <a:rPr kumimoji="0" lang="zh-CN" altLang="en-US" sz="18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GNU</a:t>
            </a:r>
            <a:r>
              <a:rPr kumimoji="0" lang="zh-CN" altLang="en-US" sz="18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编译器套装）、</a:t>
            </a:r>
            <a:r>
              <a:rPr kumimoji="0" lang="en-US" altLang="zh-CN" sz="18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MinGW</a:t>
            </a: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编辑器</a:t>
            </a: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0" dirty="0" err="1">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VSCode</a:t>
            </a:r>
            <a:r>
              <a:rPr kumimoji="0" lang="zh-CN" altLang="en-US" sz="20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Txt</a:t>
            </a:r>
            <a:r>
              <a:rPr kumimoji="0" lang="zh-CN" altLang="en-US" sz="20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文本编辑器、</a:t>
            </a:r>
            <a:r>
              <a:rPr kumimoji="0" lang="en-US" altLang="zh-CN" sz="20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Vim</a:t>
            </a:r>
            <a:r>
              <a:rPr kumimoji="0" lang="zh-CN" altLang="en-US" sz="20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1" i="0" u="none" strike="noStrike" kern="100" cap="none" spc="0" normalizeH="0" baseline="0" noProof="0" dirty="0" err="1">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Emac</a:t>
            </a:r>
            <a:r>
              <a:rPr kumimoji="0" lang="zh-CN" altLang="en-US" sz="20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Sublime</a:t>
            </a:r>
            <a:r>
              <a:rPr kumimoji="0" lang="zh-CN" altLang="en-US" sz="20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Notepad++</a:t>
            </a:r>
          </a:p>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常用</a:t>
            </a:r>
            <a:r>
              <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IDE</a:t>
            </a:r>
            <a:r>
              <a:rPr kumimoji="0" lang="zh-CN" altLang="en-US"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（集成开发环境）</a:t>
            </a: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914400" marR="0" lvl="1"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0" dirty="0" err="1">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Codeblocks</a:t>
            </a:r>
            <a:r>
              <a:rPr kumimoji="0" lang="zh-CN" altLang="en-US" sz="20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https://www.codeblocks.org/</a:t>
            </a:r>
          </a:p>
          <a:p>
            <a:pPr marL="914400" marR="0" lvl="1"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Dev C++</a:t>
            </a:r>
          </a:p>
          <a:p>
            <a:pPr marL="914400" marR="0" lvl="1"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Visual C++</a:t>
            </a:r>
          </a:p>
          <a:p>
            <a:pPr marL="914400" marR="0" lvl="1"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en-US" altLang="zh-CN" sz="2000"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Visual Studio</a:t>
            </a:r>
          </a:p>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endParaRPr kumimoji="0" lang="en-US" altLang="zh-CN"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endParaRPr kumimoji="0" lang="en-US" altLang="zh-CN" sz="2667"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189" marR="0" lvl="0" indent="-457189"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altLang="zh-CN" sz="2667" b="1" i="0" u="none" strike="noStrike" kern="100" cap="none" spc="0" normalizeH="0" baseline="0" noProof="0" dirty="0">
              <a:ln>
                <a:noFill/>
              </a:ln>
              <a:solidFill>
                <a:srgbClr val="1A6693"/>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667" b="1" i="0" u="none" strike="noStrike" kern="100" cap="none" spc="0" normalizeH="0" baseline="0" noProof="0" dirty="0">
              <a:ln>
                <a:noFill/>
              </a:ln>
              <a:solidFill>
                <a:srgbClr val="1A6693"/>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667" b="1" i="0" u="none" strike="noStrike" kern="100" cap="none" spc="0" normalizeH="0" baseline="0" noProof="0" dirty="0">
              <a:ln>
                <a:noFill/>
              </a:ln>
              <a:solidFill>
                <a:srgbClr val="1A6693"/>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a:extLst>
              <a:ext uri="{FF2B5EF4-FFF2-40B4-BE49-F238E27FC236}">
                <a16:creationId xmlns:a16="http://schemas.microsoft.com/office/drawing/2014/main" id="{5D87FFDE-29B2-43DB-85CB-599E8A43BBED}"/>
              </a:ext>
            </a:extLst>
          </p:cNvPr>
          <p:cNvPicPr>
            <a:picLocks noChangeAspect="1"/>
          </p:cNvPicPr>
          <p:nvPr/>
        </p:nvPicPr>
        <p:blipFill>
          <a:blip r:embed="rId3"/>
          <a:stretch>
            <a:fillRect/>
          </a:stretch>
        </p:blipFill>
        <p:spPr>
          <a:xfrm>
            <a:off x="7111014" y="4177780"/>
            <a:ext cx="5080986" cy="2680220"/>
          </a:xfrm>
          <a:prstGeom prst="rect">
            <a:avLst/>
          </a:prstGeom>
        </p:spPr>
      </p:pic>
    </p:spTree>
    <p:extLst>
      <p:ext uri="{BB962C8B-B14F-4D97-AF65-F5344CB8AC3E}">
        <p14:creationId xmlns:p14="http://schemas.microsoft.com/office/powerpoint/2010/main" val="1159456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36"/>
          <p:cNvSpPr txBox="1"/>
          <p:nvPr/>
        </p:nvSpPr>
        <p:spPr>
          <a:xfrm>
            <a:off x="334800" y="320400"/>
            <a:ext cx="11684480" cy="584775"/>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C++</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预备知识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程序设计风格</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F18B48B2-0D72-440D-AEAB-0B4A2DD018B7}"/>
              </a:ext>
            </a:extLst>
          </p:cNvPr>
          <p:cNvSpPr txBox="1"/>
          <p:nvPr/>
        </p:nvSpPr>
        <p:spPr>
          <a:xfrm>
            <a:off x="825623" y="1320553"/>
            <a:ext cx="7812350" cy="5262979"/>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等线"/>
                <a:ea typeface="等线" panose="02010600030101010101" pitchFamily="2" charset="-122"/>
                <a:cs typeface="+mn-cs"/>
              </a:rPr>
              <a:t>程序设计风格</a:t>
            </a:r>
            <a:r>
              <a:rPr kumimoji="0" lang="zh-CN" altLang="en-US" sz="2400" b="1" i="0" u="none" strike="noStrike" kern="1200" cap="none" spc="0" normalizeH="0" baseline="0" noProof="0" dirty="0">
                <a:ln>
                  <a:noFill/>
                </a:ln>
                <a:solidFill>
                  <a:srgbClr val="014B88"/>
                </a:solidFill>
                <a:effectLst/>
                <a:uLnTx/>
                <a:uFillTx/>
                <a:latin typeface="等线"/>
                <a:ea typeface="等线" panose="02010600030101010101" pitchFamily="2" charset="-122"/>
                <a:cs typeface="+mn-cs"/>
              </a:rPr>
              <a:t>指一个人编制程序时所表现出来的特点，习惯逻辑思路等。 在程序设计中要使程序结构合理、清晰，形成良好的编程习惯，对程序的要求不仅是可以在机器上执行，给出正确的结果，而且要便于程序的调试和维护，这就要求编写的程序不仅自己看得懂，而且也要让别人能看懂。</a:t>
            </a:r>
            <a:endParaRPr kumimoji="0" lang="en-US" altLang="zh-CN" sz="2400" b="1" i="0" u="none" strike="noStrike" kern="1200" cap="none" spc="0" normalizeH="0" baseline="0" noProof="0" dirty="0">
              <a:ln>
                <a:noFill/>
              </a:ln>
              <a:solidFill>
                <a:srgbClr val="014B88"/>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rgbClr val="014B88"/>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rgbClr val="014B88"/>
              </a:solidFill>
              <a:effectLst/>
              <a:uLnTx/>
              <a:uFillTx/>
              <a:latin typeface="等线"/>
              <a:ea typeface="等线" panose="02010600030101010101" pitchFamily="2" charset="-122"/>
              <a:cs typeface="+mn-cs"/>
            </a:endParaRPr>
          </a:p>
        </p:txBody>
      </p:sp>
      <p:pic>
        <p:nvPicPr>
          <p:cNvPr id="62466" name="Picture 2" descr="https://img1.baidu.com/it/u=4118848706,2823244389&amp;fm=26&amp;fmt=auto">
            <a:extLst>
              <a:ext uri="{FF2B5EF4-FFF2-40B4-BE49-F238E27FC236}">
                <a16:creationId xmlns:a16="http://schemas.microsoft.com/office/drawing/2014/main" id="{D0A6130A-4C8B-4CAA-B63C-9D03232B8D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6144" y="690226"/>
            <a:ext cx="2298392" cy="2831619"/>
          </a:xfrm>
          <a:prstGeom prst="rect">
            <a:avLst/>
          </a:prstGeom>
          <a:noFill/>
          <a:extLst>
            <a:ext uri="{909E8E84-426E-40DD-AFC4-6F175D3DCCD1}">
              <a14:hiddenFill xmlns:a14="http://schemas.microsoft.com/office/drawing/2010/main">
                <a:solidFill>
                  <a:srgbClr val="FFFFFF"/>
                </a:solidFill>
              </a14:hiddenFill>
            </a:ext>
          </a:extLst>
        </p:spPr>
      </p:pic>
      <p:pic>
        <p:nvPicPr>
          <p:cNvPr id="62468" name="Picture 4" descr="https://gimg2.baidu.com/image_search/src=http%3A%2F%2Fpic1.zhimg.com%2Fv2-16d3d2806f584d08b3e07081875c49fb_1440w.jpg%3Fsource%3D172ae18b&amp;refer=http%3A%2F%2Fpic1.zhimg.com&amp;app=2002&amp;size=f9999,10000&amp;q=a80&amp;n=0&amp;g=0n&amp;fmt=jpeg?sec=1639288631&amp;t=6fcbd923e0bf6df4089c01b77f29dbe2">
            <a:extLst>
              <a:ext uri="{FF2B5EF4-FFF2-40B4-BE49-F238E27FC236}">
                <a16:creationId xmlns:a16="http://schemas.microsoft.com/office/drawing/2014/main" id="{A319AF5E-FDA9-4B28-A31E-E0DABF22DB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8074" y="4143251"/>
            <a:ext cx="3154532" cy="2340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6635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6">
            <a:extLst>
              <a:ext uri="{FF2B5EF4-FFF2-40B4-BE49-F238E27FC236}">
                <a16:creationId xmlns:a16="http://schemas.microsoft.com/office/drawing/2014/main" id="{2403632F-CE4E-49C5-A834-A6C6892CD889}"/>
              </a:ext>
            </a:extLst>
          </p:cNvPr>
          <p:cNvSpPr txBox="1"/>
          <p:nvPr/>
        </p:nvSpPr>
        <p:spPr>
          <a:xfrm>
            <a:off x="334800" y="320400"/>
            <a:ext cx="11684480" cy="584775"/>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C++</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预备知识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程序设计风格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Style</a:t>
            </a:r>
          </a:p>
        </p:txBody>
      </p:sp>
      <p:sp>
        <p:nvSpPr>
          <p:cNvPr id="4" name="文本框 3">
            <a:extLst>
              <a:ext uri="{FF2B5EF4-FFF2-40B4-BE49-F238E27FC236}">
                <a16:creationId xmlns:a16="http://schemas.microsoft.com/office/drawing/2014/main" id="{E16B7B12-7EFD-48F4-A5BE-E2F21F494A47}"/>
              </a:ext>
            </a:extLst>
          </p:cNvPr>
          <p:cNvSpPr txBox="1"/>
          <p:nvPr/>
        </p:nvSpPr>
        <p:spPr>
          <a:xfrm>
            <a:off x="825623" y="1320553"/>
            <a:ext cx="2452344" cy="3046988"/>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缩进</a:t>
            </a:r>
            <a:endPar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括号</a:t>
            </a:r>
            <a:endPar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空格</a:t>
            </a:r>
            <a:endPar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变量名</a:t>
            </a:r>
            <a:endPar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pic>
        <p:nvPicPr>
          <p:cNvPr id="6" name="图片 5">
            <a:extLst>
              <a:ext uri="{FF2B5EF4-FFF2-40B4-BE49-F238E27FC236}">
                <a16:creationId xmlns:a16="http://schemas.microsoft.com/office/drawing/2014/main" id="{4E05213A-B607-41A9-A06D-2EF5649B67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9143" y="3797184"/>
            <a:ext cx="2914800" cy="2819545"/>
          </a:xfrm>
          <a:prstGeom prst="rect">
            <a:avLst/>
          </a:prstGeom>
        </p:spPr>
      </p:pic>
      <p:pic>
        <p:nvPicPr>
          <p:cNvPr id="7" name="图片 6">
            <a:extLst>
              <a:ext uri="{FF2B5EF4-FFF2-40B4-BE49-F238E27FC236}">
                <a16:creationId xmlns:a16="http://schemas.microsoft.com/office/drawing/2014/main" id="{0E8A5EE1-476D-4FAB-89DB-B5F0F847D846}"/>
              </a:ext>
            </a:extLst>
          </p:cNvPr>
          <p:cNvPicPr>
            <a:picLocks noChangeAspect="1"/>
          </p:cNvPicPr>
          <p:nvPr/>
        </p:nvPicPr>
        <p:blipFill>
          <a:blip r:embed="rId3"/>
          <a:stretch>
            <a:fillRect/>
          </a:stretch>
        </p:blipFill>
        <p:spPr>
          <a:xfrm>
            <a:off x="580211" y="3797184"/>
            <a:ext cx="2943167" cy="2740416"/>
          </a:xfrm>
          <a:prstGeom prst="rect">
            <a:avLst/>
          </a:prstGeom>
        </p:spPr>
      </p:pic>
      <p:sp>
        <p:nvSpPr>
          <p:cNvPr id="10" name="矩形 9">
            <a:extLst>
              <a:ext uri="{FF2B5EF4-FFF2-40B4-BE49-F238E27FC236}">
                <a16:creationId xmlns:a16="http://schemas.microsoft.com/office/drawing/2014/main" id="{24761795-0294-4A6B-8384-3D57F7D6FD5C}"/>
              </a:ext>
            </a:extLst>
          </p:cNvPr>
          <p:cNvSpPr/>
          <p:nvPr/>
        </p:nvSpPr>
        <p:spPr>
          <a:xfrm>
            <a:off x="7604298" y="428178"/>
            <a:ext cx="4414982" cy="600164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#include &lt;iostream&gt;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using namespace std;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mn-cs"/>
              </a:rPr>
              <a:t>int isLeapYear1(int 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mn-cs"/>
              </a:rPr>
              <a:t>    return ( y% (y%100?4:400) ? 0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mn-cs"/>
              </a:rPr>
              <a:t>int isLeapYear2(int 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mn-cs"/>
              </a:rPr>
              <a:t>    if (y%4 == 0)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mn-cs"/>
              </a:rPr>
              <a:t>        if (y%400 == 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mn-cs"/>
              </a:rPr>
              <a:t>            return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mn-cs"/>
              </a:rPr>
              <a:t>        if (y%100 != 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mn-cs"/>
              </a:rPr>
              <a:t>            return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mn-cs"/>
              </a:rPr>
              <a:t>    return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int main()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int year;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cin &gt;&gt; year;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cout &lt;&lt; isLeapYear1(year) &lt;&lt; endl;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return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p:txBody>
      </p:sp>
    </p:spTree>
    <p:extLst>
      <p:ext uri="{BB962C8B-B14F-4D97-AF65-F5344CB8AC3E}">
        <p14:creationId xmlns:p14="http://schemas.microsoft.com/office/powerpoint/2010/main" val="2496841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36"/>
          <p:cNvSpPr txBox="1"/>
          <p:nvPr/>
        </p:nvSpPr>
        <p:spPr>
          <a:xfrm>
            <a:off x="334800" y="320400"/>
            <a:ext cx="11684480" cy="584775"/>
          </a:xfrm>
          <a:prstGeom prst="rect">
            <a:avLst/>
          </a:prstGeom>
          <a:noFill/>
        </p:spPr>
        <p:txBody>
          <a:bodyPr wrap="square" rtlCol="0">
            <a:spAutoFit/>
          </a:bodyPr>
          <a:lstStyle/>
          <a:p>
            <a:pPr marL="571500" indent="-571500">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在线评测平台 </a:t>
            </a: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常用平台</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C61FFEB6-65DC-4C42-A141-04D78B68FC26}"/>
              </a:ext>
            </a:extLst>
          </p:cNvPr>
          <p:cNvSpPr/>
          <p:nvPr/>
        </p:nvSpPr>
        <p:spPr>
          <a:xfrm>
            <a:off x="769435" y="1336049"/>
            <a:ext cx="5797620" cy="3082190"/>
          </a:xfrm>
          <a:prstGeom prst="rect">
            <a:avLst/>
          </a:prstGeom>
        </p:spPr>
        <p:txBody>
          <a:bodyPr wrap="square">
            <a:spAutoFit/>
          </a:bodyPr>
          <a:lstStyle/>
          <a:p>
            <a:pPr marL="285750" indent="-285750" algn="just">
              <a:lnSpc>
                <a:spcPct val="200000"/>
              </a:lnSpc>
              <a:spcAft>
                <a:spcPts val="0"/>
              </a:spcAft>
              <a:buFont typeface="Wingdings" panose="05000000000000000000" pitchFamily="2" charset="2"/>
              <a:buChar char="l"/>
            </a:pPr>
            <a:r>
              <a:rPr lang="zh-CN" altLang="en-US" sz="2000" b="1" kern="100" dirty="0">
                <a:latin typeface="Consolas" panose="020B0609020204030204" pitchFamily="49" charset="0"/>
                <a:ea typeface="仿宋_GB2312"/>
                <a:cs typeface="Times New Roman" panose="02020603050405020304" pitchFamily="18" charset="0"/>
              </a:rPr>
              <a:t>程天学 </a:t>
            </a:r>
            <a:r>
              <a:rPr lang="en-US" altLang="zh-CN" sz="2000" b="1" kern="100" dirty="0">
                <a:latin typeface="Consolas" panose="020B0609020204030204" pitchFamily="49" charset="0"/>
                <a:ea typeface="仿宋_GB2312"/>
                <a:cs typeface="Times New Roman" panose="02020603050405020304" pitchFamily="18" charset="0"/>
              </a:rPr>
              <a:t>https://acm.tju.edu.cn</a:t>
            </a:r>
          </a:p>
          <a:p>
            <a:pPr marL="285750" indent="-285750" algn="just">
              <a:lnSpc>
                <a:spcPct val="200000"/>
              </a:lnSpc>
              <a:spcAft>
                <a:spcPts val="0"/>
              </a:spcAft>
              <a:buFont typeface="Wingdings" panose="05000000000000000000" pitchFamily="2" charset="2"/>
              <a:buChar char="l"/>
            </a:pPr>
            <a:r>
              <a:rPr lang="en-US" altLang="zh-CN" sz="2000" b="1" kern="100" dirty="0">
                <a:latin typeface="Consolas" panose="020B0609020204030204" pitchFamily="49" charset="0"/>
                <a:ea typeface="仿宋_GB2312"/>
                <a:cs typeface="Times New Roman" panose="02020603050405020304" pitchFamily="18" charset="0"/>
              </a:rPr>
              <a:t>POJ http://poj.org/</a:t>
            </a:r>
          </a:p>
          <a:p>
            <a:pPr marL="285750" indent="-285750" algn="just">
              <a:lnSpc>
                <a:spcPct val="200000"/>
              </a:lnSpc>
              <a:spcAft>
                <a:spcPts val="0"/>
              </a:spcAft>
              <a:buFont typeface="Wingdings" panose="05000000000000000000" pitchFamily="2" charset="2"/>
              <a:buChar char="l"/>
            </a:pPr>
            <a:r>
              <a:rPr lang="en-US" altLang="zh-CN" sz="2000" b="1" kern="100" dirty="0">
                <a:latin typeface="Consolas" panose="020B0609020204030204" pitchFamily="49" charset="0"/>
                <a:ea typeface="仿宋_GB2312"/>
                <a:cs typeface="Times New Roman" panose="02020603050405020304" pitchFamily="18" charset="0"/>
              </a:rPr>
              <a:t>HDOJ </a:t>
            </a:r>
            <a:r>
              <a:rPr lang="en-US" altLang="zh-CN" sz="2000" b="1" kern="100" dirty="0">
                <a:latin typeface="Consolas" panose="020B0609020204030204" pitchFamily="49" charset="0"/>
                <a:cs typeface="Times New Roman" panose="02020603050405020304" pitchFamily="18" charset="0"/>
              </a:rPr>
              <a:t>https://acm.hdu.edu.cn/</a:t>
            </a:r>
          </a:p>
          <a:p>
            <a:pPr marL="285750" indent="-285750" algn="just">
              <a:lnSpc>
                <a:spcPct val="200000"/>
              </a:lnSpc>
              <a:spcAft>
                <a:spcPts val="0"/>
              </a:spcAft>
              <a:buFont typeface="Wingdings" panose="05000000000000000000" pitchFamily="2" charset="2"/>
              <a:buChar char="l"/>
            </a:pPr>
            <a:r>
              <a:rPr lang="en-US" altLang="zh-CN" sz="2000" b="1" kern="100" dirty="0">
                <a:latin typeface="Consolas" panose="020B0609020204030204" pitchFamily="49" charset="0"/>
                <a:ea typeface="仿宋_GB2312"/>
                <a:cs typeface="Times New Roman" panose="02020603050405020304" pitchFamily="18" charset="0"/>
              </a:rPr>
              <a:t>PTA</a:t>
            </a:r>
            <a:r>
              <a:rPr lang="zh-CN" altLang="en-US" sz="2000" b="1" kern="100" dirty="0">
                <a:latin typeface="Consolas" panose="020B0609020204030204" pitchFamily="49" charset="0"/>
                <a:ea typeface="仿宋_GB2312"/>
                <a:cs typeface="Times New Roman" panose="02020603050405020304" pitchFamily="18" charset="0"/>
              </a:rPr>
              <a:t>：</a:t>
            </a:r>
            <a:r>
              <a:rPr lang="en-US" altLang="zh-CN" sz="2000" b="1" kern="100" dirty="0">
                <a:latin typeface="Consolas" panose="020B0609020204030204" pitchFamily="49" charset="0"/>
                <a:ea typeface="仿宋_GB2312"/>
                <a:cs typeface="Times New Roman" panose="02020603050405020304" pitchFamily="18" charset="0"/>
              </a:rPr>
              <a:t>https://pintia.cn/</a:t>
            </a:r>
          </a:p>
          <a:p>
            <a:pPr marL="285750" indent="-285750" algn="just">
              <a:lnSpc>
                <a:spcPct val="200000"/>
              </a:lnSpc>
              <a:spcAft>
                <a:spcPts val="0"/>
              </a:spcAft>
              <a:buFont typeface="Wingdings" panose="05000000000000000000" pitchFamily="2" charset="2"/>
              <a:buChar char="l"/>
            </a:pPr>
            <a:r>
              <a:rPr lang="en-US" altLang="zh-CN" sz="2000" b="1" kern="100" dirty="0" err="1">
                <a:latin typeface="Consolas" panose="020B0609020204030204" pitchFamily="49" charset="0"/>
                <a:ea typeface="仿宋_GB2312"/>
                <a:cs typeface="Times New Roman" panose="02020603050405020304" pitchFamily="18" charset="0"/>
              </a:rPr>
              <a:t>LibreOJ</a:t>
            </a:r>
            <a:r>
              <a:rPr lang="en-US" altLang="zh-CN" sz="2000" b="1" kern="100" dirty="0">
                <a:latin typeface="Consolas" panose="020B0609020204030204" pitchFamily="49" charset="0"/>
                <a:ea typeface="仿宋_GB2312"/>
                <a:cs typeface="Times New Roman" panose="02020603050405020304" pitchFamily="18" charset="0"/>
              </a:rPr>
              <a:t> https://loj.ac/</a:t>
            </a:r>
          </a:p>
        </p:txBody>
      </p:sp>
      <p:sp>
        <p:nvSpPr>
          <p:cNvPr id="3" name="矩形 2">
            <a:extLst>
              <a:ext uri="{FF2B5EF4-FFF2-40B4-BE49-F238E27FC236}">
                <a16:creationId xmlns:a16="http://schemas.microsoft.com/office/drawing/2014/main" id="{9BBC5979-5AF8-42AA-94C1-034564F13C3F}"/>
              </a:ext>
            </a:extLst>
          </p:cNvPr>
          <p:cNvSpPr/>
          <p:nvPr/>
        </p:nvSpPr>
        <p:spPr>
          <a:xfrm>
            <a:off x="6502400" y="1336049"/>
            <a:ext cx="5516879" cy="2783198"/>
          </a:xfrm>
          <a:prstGeom prst="rect">
            <a:avLst/>
          </a:prstGeom>
        </p:spPr>
        <p:txBody>
          <a:bodyPr wrap="square">
            <a:spAutoFit/>
          </a:bodyPr>
          <a:lstStyle/>
          <a:p>
            <a:pPr marL="285750" indent="-285750" algn="just">
              <a:lnSpc>
                <a:spcPct val="200000"/>
              </a:lnSpc>
              <a:spcAft>
                <a:spcPts val="0"/>
              </a:spcAft>
              <a:buFont typeface="Wingdings" panose="05000000000000000000" pitchFamily="2" charset="2"/>
              <a:buChar char="l"/>
            </a:pPr>
            <a:r>
              <a:rPr lang="en-US" altLang="zh-CN" b="1" kern="100" dirty="0" err="1">
                <a:latin typeface="Consolas" panose="020B0609020204030204" pitchFamily="49" charset="0"/>
                <a:ea typeface="宋体" panose="02010600030101010101" pitchFamily="2" charset="-122"/>
                <a:cs typeface="Times New Roman" panose="02020603050405020304" pitchFamily="18" charset="0"/>
              </a:rPr>
              <a:t>Codeforces</a:t>
            </a:r>
            <a:r>
              <a:rPr lang="en-US" altLang="zh-CN" b="1" kern="100" dirty="0">
                <a:latin typeface="Consolas" panose="020B0609020204030204" pitchFamily="49" charset="0"/>
                <a:ea typeface="宋体" panose="02010600030101010101" pitchFamily="2" charset="-122"/>
                <a:cs typeface="Times New Roman" panose="02020603050405020304" pitchFamily="18" charset="0"/>
              </a:rPr>
              <a:t> https://codeforces.com/</a:t>
            </a:r>
          </a:p>
          <a:p>
            <a:pPr marL="285750" indent="-285750" algn="just">
              <a:lnSpc>
                <a:spcPct val="200000"/>
              </a:lnSpc>
              <a:buFont typeface="Wingdings" panose="05000000000000000000" pitchFamily="2" charset="2"/>
              <a:buChar char="l"/>
            </a:pPr>
            <a:r>
              <a:rPr lang="en-US" altLang="zh-CN" b="1" kern="100" dirty="0" err="1">
                <a:latin typeface="Consolas" panose="020B0609020204030204" pitchFamily="49" charset="0"/>
                <a:ea typeface="宋体" panose="02010600030101010101" pitchFamily="2" charset="-122"/>
                <a:cs typeface="Times New Roman" panose="02020603050405020304" pitchFamily="18" charset="0"/>
              </a:rPr>
              <a:t>AtCoder</a:t>
            </a:r>
            <a:r>
              <a:rPr lang="en-US" altLang="zh-CN" b="1" kern="100" dirty="0">
                <a:latin typeface="Consolas" panose="020B0609020204030204" pitchFamily="49" charset="0"/>
                <a:ea typeface="宋体" panose="02010600030101010101" pitchFamily="2" charset="-122"/>
                <a:cs typeface="Times New Roman" panose="02020603050405020304" pitchFamily="18" charset="0"/>
              </a:rPr>
              <a:t> https://atcoder.jp</a:t>
            </a:r>
          </a:p>
          <a:p>
            <a:pPr marL="285750" indent="-285750" algn="just">
              <a:lnSpc>
                <a:spcPct val="200000"/>
              </a:lnSpc>
              <a:buFont typeface="Wingdings" panose="05000000000000000000" pitchFamily="2" charset="2"/>
              <a:buChar char="l"/>
            </a:pPr>
            <a:r>
              <a:rPr lang="en-US" altLang="zh-CN" b="1" kern="100" dirty="0" err="1">
                <a:latin typeface="Consolas" panose="020B0609020204030204" pitchFamily="49" charset="0"/>
                <a:ea typeface="宋体" panose="02010600030101010101" pitchFamily="2" charset="-122"/>
                <a:cs typeface="Times New Roman" panose="02020603050405020304" pitchFamily="18" charset="0"/>
              </a:rPr>
              <a:t>TopCoder</a:t>
            </a:r>
            <a:r>
              <a:rPr lang="en-US" altLang="zh-CN" b="1" kern="100" dirty="0">
                <a:latin typeface="Consolas" panose="020B0609020204030204" pitchFamily="49" charset="0"/>
                <a:ea typeface="宋体" panose="02010600030101010101" pitchFamily="2" charset="-122"/>
                <a:cs typeface="Times New Roman" panose="02020603050405020304" pitchFamily="18" charset="0"/>
              </a:rPr>
              <a:t> https://www.topcoder.com/</a:t>
            </a:r>
          </a:p>
          <a:p>
            <a:pPr marL="285750" indent="-285750" algn="just">
              <a:lnSpc>
                <a:spcPct val="200000"/>
              </a:lnSpc>
              <a:spcAft>
                <a:spcPts val="0"/>
              </a:spcAft>
              <a:buFont typeface="Wingdings" panose="05000000000000000000" pitchFamily="2" charset="2"/>
              <a:buChar char="l"/>
            </a:pPr>
            <a:r>
              <a:rPr lang="en-US" altLang="zh-CN" b="1" kern="100" dirty="0">
                <a:latin typeface="Consolas" panose="020B0609020204030204" pitchFamily="49" charset="0"/>
                <a:ea typeface="宋体" panose="02010600030101010101" pitchFamily="2" charset="-122"/>
                <a:cs typeface="Times New Roman" panose="02020603050405020304" pitchFamily="18" charset="0"/>
              </a:rPr>
              <a:t>UVA https://onlinejudge.org/</a:t>
            </a:r>
          </a:p>
          <a:p>
            <a:pPr marL="285750" indent="-285750" algn="just">
              <a:lnSpc>
                <a:spcPct val="200000"/>
              </a:lnSpc>
              <a:spcAft>
                <a:spcPts val="0"/>
              </a:spcAft>
              <a:buFont typeface="Wingdings" panose="05000000000000000000" pitchFamily="2" charset="2"/>
              <a:buChar char="l"/>
            </a:pPr>
            <a:r>
              <a:rPr lang="en-US" altLang="zh-CN" b="1" kern="100" dirty="0">
                <a:latin typeface="Consolas" panose="020B0609020204030204" pitchFamily="49" charset="0"/>
                <a:ea typeface="宋体" panose="02010600030101010101" pitchFamily="2" charset="-122"/>
                <a:cs typeface="Times New Roman" panose="02020603050405020304" pitchFamily="18" charset="0"/>
              </a:rPr>
              <a:t>USACO http://www.usaco.org/</a:t>
            </a:r>
          </a:p>
        </p:txBody>
      </p:sp>
      <p:sp>
        <p:nvSpPr>
          <p:cNvPr id="2" name="矩形 1">
            <a:extLst>
              <a:ext uri="{FF2B5EF4-FFF2-40B4-BE49-F238E27FC236}">
                <a16:creationId xmlns:a16="http://schemas.microsoft.com/office/drawing/2014/main" id="{4216CE34-384E-406D-8F0B-0F97D8E37494}"/>
              </a:ext>
            </a:extLst>
          </p:cNvPr>
          <p:cNvSpPr/>
          <p:nvPr/>
        </p:nvSpPr>
        <p:spPr>
          <a:xfrm>
            <a:off x="769435" y="4407831"/>
            <a:ext cx="6096000" cy="2228239"/>
          </a:xfrm>
          <a:prstGeom prst="rect">
            <a:avLst/>
          </a:prstGeom>
        </p:spPr>
        <p:txBody>
          <a:bodyPr>
            <a:spAutoFit/>
          </a:bodyPr>
          <a:lstStyle/>
          <a:p>
            <a:pPr marL="285750" indent="-285750" algn="just">
              <a:lnSpc>
                <a:spcPct val="200000"/>
              </a:lnSpc>
              <a:spcAft>
                <a:spcPts val="0"/>
              </a:spcAft>
              <a:buFont typeface="Wingdings" panose="05000000000000000000" pitchFamily="2" charset="2"/>
              <a:buChar char="l"/>
            </a:pPr>
            <a:r>
              <a:rPr lang="zh-CN" altLang="en-US" b="1" kern="100" dirty="0">
                <a:latin typeface="Consolas" panose="020B0609020204030204" pitchFamily="49" charset="0"/>
                <a:ea typeface="仿宋_GB2312"/>
                <a:cs typeface="Times New Roman" panose="02020603050405020304" pitchFamily="18" charset="0"/>
              </a:rPr>
              <a:t>洛谷 </a:t>
            </a:r>
            <a:r>
              <a:rPr lang="en-US" altLang="zh-CN" b="1" kern="100" dirty="0">
                <a:latin typeface="Consolas" panose="020B0609020204030204" pitchFamily="49" charset="0"/>
                <a:ea typeface="仿宋_GB2312"/>
                <a:cs typeface="Times New Roman" panose="02020603050405020304" pitchFamily="18" charset="0"/>
              </a:rPr>
              <a:t>https://www.luogu.com.cn/</a:t>
            </a:r>
          </a:p>
          <a:p>
            <a:pPr marL="285750" indent="-285750" algn="just">
              <a:lnSpc>
                <a:spcPct val="200000"/>
              </a:lnSpc>
              <a:spcAft>
                <a:spcPts val="0"/>
              </a:spcAft>
              <a:buFont typeface="Wingdings" panose="05000000000000000000" pitchFamily="2" charset="2"/>
              <a:buChar char="l"/>
            </a:pPr>
            <a:r>
              <a:rPr lang="zh-CN" altLang="en-US" b="1" kern="100" dirty="0">
                <a:latin typeface="Consolas" panose="020B0609020204030204" pitchFamily="49" charset="0"/>
                <a:ea typeface="仿宋_GB2312"/>
                <a:cs typeface="Times New Roman" panose="02020603050405020304" pitchFamily="18" charset="0"/>
              </a:rPr>
              <a:t>牛客 </a:t>
            </a:r>
            <a:r>
              <a:rPr lang="en-US" altLang="zh-CN" b="1" kern="100" dirty="0">
                <a:latin typeface="Consolas" panose="020B0609020204030204" pitchFamily="49" charset="0"/>
                <a:ea typeface="仿宋_GB2312"/>
                <a:cs typeface="Times New Roman" panose="02020603050405020304" pitchFamily="18" charset="0"/>
              </a:rPr>
              <a:t>https://ac.nowcoder.com/acm/home</a:t>
            </a:r>
          </a:p>
          <a:p>
            <a:pPr marL="285750" indent="-285750" algn="just">
              <a:lnSpc>
                <a:spcPct val="200000"/>
              </a:lnSpc>
              <a:spcAft>
                <a:spcPts val="0"/>
              </a:spcAft>
              <a:buFont typeface="Wingdings" panose="05000000000000000000" pitchFamily="2" charset="2"/>
              <a:buChar char="l"/>
            </a:pPr>
            <a:r>
              <a:rPr lang="zh-CN" altLang="en-US" b="1" kern="100" dirty="0">
                <a:latin typeface="Consolas" panose="020B0609020204030204" pitchFamily="49" charset="0"/>
                <a:ea typeface="仿宋_GB2312"/>
                <a:cs typeface="Times New Roman" panose="02020603050405020304" pitchFamily="18" charset="0"/>
              </a:rPr>
              <a:t>计蒜客 </a:t>
            </a:r>
            <a:r>
              <a:rPr lang="en-US" altLang="zh-CN" b="1" kern="100" dirty="0">
                <a:latin typeface="Consolas" panose="020B0609020204030204" pitchFamily="49" charset="0"/>
                <a:ea typeface="仿宋_GB2312"/>
                <a:cs typeface="Times New Roman" panose="02020603050405020304" pitchFamily="18" charset="0"/>
              </a:rPr>
              <a:t>https://nanti.jisuanke.com/</a:t>
            </a:r>
          </a:p>
          <a:p>
            <a:pPr marL="285750" indent="-285750" algn="just">
              <a:lnSpc>
                <a:spcPct val="200000"/>
              </a:lnSpc>
              <a:spcAft>
                <a:spcPts val="0"/>
              </a:spcAft>
              <a:buFont typeface="Wingdings" panose="05000000000000000000" pitchFamily="2" charset="2"/>
              <a:buChar char="l"/>
            </a:pPr>
            <a:r>
              <a:rPr lang="zh-CN" altLang="en-US" b="1" kern="100" dirty="0">
                <a:latin typeface="Consolas" panose="020B0609020204030204" pitchFamily="49" charset="0"/>
                <a:ea typeface="仿宋_GB2312"/>
                <a:cs typeface="Times New Roman" panose="02020603050405020304" pitchFamily="18" charset="0"/>
              </a:rPr>
              <a:t>力扣 </a:t>
            </a:r>
            <a:r>
              <a:rPr lang="en-US" altLang="zh-CN" b="1" kern="100" dirty="0">
                <a:latin typeface="Consolas" panose="020B0609020204030204" pitchFamily="49" charset="0"/>
                <a:ea typeface="仿宋_GB2312"/>
                <a:cs typeface="Times New Roman" panose="02020603050405020304" pitchFamily="18" charset="0"/>
              </a:rPr>
              <a:t>https://leetcode-cn.com/</a:t>
            </a:r>
          </a:p>
        </p:txBody>
      </p:sp>
    </p:spTree>
    <p:extLst>
      <p:ext uri="{BB962C8B-B14F-4D97-AF65-F5344CB8AC3E}">
        <p14:creationId xmlns:p14="http://schemas.microsoft.com/office/powerpoint/2010/main" val="1400452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2" name="组合 141">
            <a:extLst>
              <a:ext uri="{FF2B5EF4-FFF2-40B4-BE49-F238E27FC236}">
                <a16:creationId xmlns:a16="http://schemas.microsoft.com/office/drawing/2014/main" id="{7DDE499F-C17B-43EA-9477-56234E41C189}"/>
              </a:ext>
            </a:extLst>
          </p:cNvPr>
          <p:cNvGrpSpPr/>
          <p:nvPr/>
        </p:nvGrpSpPr>
        <p:grpSpPr>
          <a:xfrm>
            <a:off x="6476819" y="212010"/>
            <a:ext cx="3969447" cy="3689808"/>
            <a:chOff x="384666" y="742011"/>
            <a:chExt cx="11659926" cy="229783639"/>
          </a:xfrm>
        </p:grpSpPr>
        <p:sp>
          <p:nvSpPr>
            <p:cNvPr id="143" name="矩形 142">
              <a:extLst>
                <a:ext uri="{FF2B5EF4-FFF2-40B4-BE49-F238E27FC236}">
                  <a16:creationId xmlns:a16="http://schemas.microsoft.com/office/drawing/2014/main" id="{F1FD43D5-D78B-4FC1-9B1E-0463EC481106}"/>
                </a:ext>
              </a:extLst>
            </p:cNvPr>
            <p:cNvSpPr/>
            <p:nvPr/>
          </p:nvSpPr>
          <p:spPr>
            <a:xfrm>
              <a:off x="384666" y="767001"/>
              <a:ext cx="11031477" cy="229758649"/>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1400" b="1" dirty="0">
                  <a:solidFill>
                    <a:schemeClr val="accent6">
                      <a:lumMod val="75000"/>
                    </a:schemeClr>
                  </a:solidFill>
                  <a:latin typeface="华文楷体" panose="02010600040101010101" pitchFamily="2" charset="-122"/>
                  <a:ea typeface="华文楷体" panose="02010600040101010101" pitchFamily="2" charset="-122"/>
                </a:rPr>
                <a:t>Runtime Error (RE)</a:t>
              </a:r>
            </a:p>
            <a:p>
              <a:pPr marL="285750" indent="-285750">
                <a:lnSpc>
                  <a:spcPct val="150000"/>
                </a:lnSpc>
                <a:buFont typeface="Arial" panose="020B0604020202020204" pitchFamily="34" charset="0"/>
                <a:buChar char="•"/>
              </a:pPr>
              <a:r>
                <a:rPr lang="en-US" altLang="zh-CN" sz="1400" b="1" dirty="0">
                  <a:solidFill>
                    <a:schemeClr val="accent6">
                      <a:lumMod val="75000"/>
                    </a:schemeClr>
                  </a:solidFill>
                  <a:latin typeface="华文楷体" panose="02010600040101010101" pitchFamily="2" charset="-122"/>
                  <a:ea typeface="华文楷体" panose="02010600040101010101" pitchFamily="2" charset="-122"/>
                </a:rPr>
                <a:t>Memory Limit Exceeded (MLE)</a:t>
              </a:r>
            </a:p>
            <a:p>
              <a:pPr marL="285750" indent="-285750">
                <a:lnSpc>
                  <a:spcPct val="150000"/>
                </a:lnSpc>
                <a:buFont typeface="Arial" panose="020B0604020202020204" pitchFamily="34" charset="0"/>
                <a:buChar char="•"/>
              </a:pPr>
              <a:r>
                <a:rPr lang="en-US" altLang="zh-CN" sz="1400" b="1" dirty="0">
                  <a:solidFill>
                    <a:schemeClr val="accent6">
                      <a:lumMod val="75000"/>
                    </a:schemeClr>
                  </a:solidFill>
                  <a:latin typeface="华文楷体" panose="02010600040101010101" pitchFamily="2" charset="-122"/>
                  <a:ea typeface="华文楷体" panose="02010600040101010101" pitchFamily="2" charset="-122"/>
                </a:rPr>
                <a:t>Output Limit Exceeded (OLE)</a:t>
              </a:r>
            </a:p>
            <a:p>
              <a:pPr marL="285750" indent="-285750">
                <a:lnSpc>
                  <a:spcPct val="150000"/>
                </a:lnSpc>
                <a:buFont typeface="Arial" panose="020B0604020202020204" pitchFamily="34" charset="0"/>
                <a:buChar char="•"/>
              </a:pPr>
              <a:r>
                <a:rPr lang="en-US" altLang="zh-CN" sz="1400" b="1" dirty="0">
                  <a:solidFill>
                    <a:schemeClr val="accent6">
                      <a:lumMod val="75000"/>
                    </a:schemeClr>
                  </a:solidFill>
                  <a:latin typeface="华文楷体" panose="02010600040101010101" pitchFamily="2" charset="-122"/>
                  <a:ea typeface="华文楷体" panose="02010600040101010101" pitchFamily="2" charset="-122"/>
                </a:rPr>
                <a:t>Time Limit Exceeded (TLE)</a:t>
              </a: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1600" b="1" dirty="0">
                <a:solidFill>
                  <a:srgbClr val="186CA6"/>
                </a:solidFill>
                <a:latin typeface="华文楷体" panose="02010600040101010101" pitchFamily="2" charset="-122"/>
                <a:ea typeface="华文楷体" panose="02010600040101010101" pitchFamily="2" charset="-122"/>
              </a:endParaRPr>
            </a:p>
          </p:txBody>
        </p:sp>
        <p:sp>
          <p:nvSpPr>
            <p:cNvPr id="144" name="矩形: 圆角 143">
              <a:extLst>
                <a:ext uri="{FF2B5EF4-FFF2-40B4-BE49-F238E27FC236}">
                  <a16:creationId xmlns:a16="http://schemas.microsoft.com/office/drawing/2014/main" id="{6593E59C-ED6A-4040-915D-8A8055B9E453}"/>
                </a:ext>
              </a:extLst>
            </p:cNvPr>
            <p:cNvSpPr/>
            <p:nvPr/>
          </p:nvSpPr>
          <p:spPr>
            <a:xfrm>
              <a:off x="384666" y="742011"/>
              <a:ext cx="11659926" cy="82771280"/>
            </a:xfrm>
            <a:prstGeom prst="roundRect">
              <a:avLst>
                <a:gd name="adj" fmla="val 6289"/>
              </a:avLst>
            </a:prstGeom>
            <a:noFill/>
            <a:ln w="19050">
              <a:solidFill>
                <a:srgbClr val="186C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119" name="矩形: 圆角 118">
            <a:extLst>
              <a:ext uri="{FF2B5EF4-FFF2-40B4-BE49-F238E27FC236}">
                <a16:creationId xmlns:a16="http://schemas.microsoft.com/office/drawing/2014/main" id="{497EB8A4-EC42-4E10-866F-22B60DD3E471}"/>
              </a:ext>
            </a:extLst>
          </p:cNvPr>
          <p:cNvSpPr/>
          <p:nvPr/>
        </p:nvSpPr>
        <p:spPr>
          <a:xfrm>
            <a:off x="4529987" y="3175065"/>
            <a:ext cx="3527222" cy="1308855"/>
          </a:xfrm>
          <a:prstGeom prst="roundRect">
            <a:avLst/>
          </a:prstGeom>
          <a:solidFill>
            <a:schemeClr val="tx2">
              <a:lumMod val="20000"/>
              <a:lumOff val="80000"/>
            </a:schemeClr>
          </a:solid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a:extLst>
              <a:ext uri="{FF2B5EF4-FFF2-40B4-BE49-F238E27FC236}">
                <a16:creationId xmlns:a16="http://schemas.microsoft.com/office/drawing/2014/main" id="{0A004B14-C064-4F3F-9774-93B9FEE63790}"/>
              </a:ext>
            </a:extLst>
          </p:cNvPr>
          <p:cNvSpPr/>
          <p:nvPr/>
        </p:nvSpPr>
        <p:spPr>
          <a:xfrm>
            <a:off x="897973" y="1236345"/>
            <a:ext cx="3297698" cy="461665"/>
          </a:xfrm>
          <a:prstGeom prst="rect">
            <a:avLst/>
          </a:prstGeom>
        </p:spPr>
        <p:txBody>
          <a:bodyPr wrap="none">
            <a:spAutoFit/>
          </a:bodyPr>
          <a:lstStyle/>
          <a:p>
            <a:r>
              <a:rPr lang="en-US" altLang="zh-CN" sz="2400" b="1" dirty="0">
                <a:solidFill>
                  <a:srgbClr val="005D9D"/>
                </a:solidFill>
                <a:latin typeface="华文楷体" panose="02010600040101010101" pitchFamily="2" charset="-122"/>
                <a:ea typeface="华文楷体" panose="02010600040101010101" pitchFamily="2" charset="-122"/>
              </a:rPr>
              <a:t>Online Judge</a:t>
            </a:r>
            <a:r>
              <a:rPr lang="zh-CN" altLang="en-US" sz="2400" b="1" dirty="0">
                <a:solidFill>
                  <a:srgbClr val="005D9D"/>
                </a:solidFill>
                <a:latin typeface="华文楷体" panose="02010600040101010101" pitchFamily="2" charset="-122"/>
                <a:ea typeface="华文楷体" panose="02010600040101010101" pitchFamily="2" charset="-122"/>
              </a:rPr>
              <a:t>的评测机制</a:t>
            </a:r>
            <a:endParaRPr lang="zh-CN" altLang="en-US" sz="2400" dirty="0">
              <a:solidFill>
                <a:srgbClr val="005D9D"/>
              </a:solidFill>
            </a:endParaRPr>
          </a:p>
        </p:txBody>
      </p:sp>
      <p:sp>
        <p:nvSpPr>
          <p:cNvPr id="10" name="矩形: 圆角 9">
            <a:extLst>
              <a:ext uri="{FF2B5EF4-FFF2-40B4-BE49-F238E27FC236}">
                <a16:creationId xmlns:a16="http://schemas.microsoft.com/office/drawing/2014/main" id="{93BAB6C6-2BCF-4F7A-84EC-1FC1863384AD}"/>
              </a:ext>
            </a:extLst>
          </p:cNvPr>
          <p:cNvSpPr/>
          <p:nvPr/>
        </p:nvSpPr>
        <p:spPr>
          <a:xfrm>
            <a:off x="4538897" y="5926498"/>
            <a:ext cx="1921822" cy="461665"/>
          </a:xfrm>
          <a:prstGeom prst="roundRect">
            <a:avLst/>
          </a:prstGeom>
          <a:solidFill>
            <a:srgbClr val="005D9D"/>
          </a:solidFill>
          <a:ln>
            <a:solidFill>
              <a:srgbClr val="005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华文楷体" panose="02010600040101010101" pitchFamily="2" charset="-122"/>
                <a:ea typeface="华文楷体" panose="02010600040101010101" pitchFamily="2" charset="-122"/>
              </a:rPr>
              <a:t>用户</a:t>
            </a:r>
          </a:p>
        </p:txBody>
      </p:sp>
      <p:sp>
        <p:nvSpPr>
          <p:cNvPr id="14" name="矩形: 圆角 13">
            <a:extLst>
              <a:ext uri="{FF2B5EF4-FFF2-40B4-BE49-F238E27FC236}">
                <a16:creationId xmlns:a16="http://schemas.microsoft.com/office/drawing/2014/main" id="{E7E08873-A849-4426-A104-5AB5046B294C}"/>
              </a:ext>
            </a:extLst>
          </p:cNvPr>
          <p:cNvSpPr/>
          <p:nvPr/>
        </p:nvSpPr>
        <p:spPr>
          <a:xfrm>
            <a:off x="5014159" y="3705584"/>
            <a:ext cx="971299" cy="526584"/>
          </a:xfrm>
          <a:prstGeom prst="roundRect">
            <a:avLst/>
          </a:prstGeom>
          <a:solidFill>
            <a:srgbClr val="005D9D"/>
          </a:solidFill>
          <a:ln>
            <a:solidFill>
              <a:srgbClr val="005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ltLang="zh-CN" sz="2000" dirty="0">
              <a:latin typeface="华文楷体" panose="02010600040101010101" pitchFamily="2" charset="-122"/>
              <a:ea typeface="华文楷体" panose="02010600040101010101" pitchFamily="2" charset="-122"/>
            </a:endParaRPr>
          </a:p>
          <a:p>
            <a:pPr algn="ctr">
              <a:lnSpc>
                <a:spcPct val="150000"/>
              </a:lnSpc>
            </a:pPr>
            <a:r>
              <a:rPr lang="zh-CN" altLang="en-US" sz="2000" dirty="0">
                <a:latin typeface="华文楷体" panose="02010600040101010101" pitchFamily="2" charset="-122"/>
                <a:ea typeface="华文楷体" panose="02010600040101010101" pitchFamily="2" charset="-122"/>
              </a:rPr>
              <a:t>编译</a:t>
            </a:r>
            <a:endParaRPr lang="en-US" altLang="zh-CN" sz="2000" dirty="0">
              <a:latin typeface="华文楷体" panose="02010600040101010101" pitchFamily="2" charset="-122"/>
              <a:ea typeface="华文楷体" panose="02010600040101010101" pitchFamily="2" charset="-122"/>
            </a:endParaRPr>
          </a:p>
          <a:p>
            <a:pPr algn="ctr">
              <a:lnSpc>
                <a:spcPct val="150000"/>
              </a:lnSpc>
            </a:pPr>
            <a:endParaRPr lang="zh-CN" altLang="en-US" sz="2000" dirty="0">
              <a:latin typeface="华文楷体" panose="02010600040101010101" pitchFamily="2" charset="-122"/>
              <a:ea typeface="华文楷体" panose="02010600040101010101" pitchFamily="2" charset="-122"/>
            </a:endParaRPr>
          </a:p>
        </p:txBody>
      </p:sp>
      <p:sp>
        <p:nvSpPr>
          <p:cNvPr id="15" name="矩形: 圆角 14">
            <a:extLst>
              <a:ext uri="{FF2B5EF4-FFF2-40B4-BE49-F238E27FC236}">
                <a16:creationId xmlns:a16="http://schemas.microsoft.com/office/drawing/2014/main" id="{0E9375AA-B720-4299-9653-04079850AE6B}"/>
              </a:ext>
            </a:extLst>
          </p:cNvPr>
          <p:cNvSpPr/>
          <p:nvPr/>
        </p:nvSpPr>
        <p:spPr>
          <a:xfrm>
            <a:off x="1034671" y="2364588"/>
            <a:ext cx="1942597" cy="591554"/>
          </a:xfrm>
          <a:prstGeom prst="roundRect">
            <a:avLst/>
          </a:prstGeom>
          <a:solidFill>
            <a:srgbClr val="005D9D"/>
          </a:solidFill>
          <a:ln>
            <a:solidFill>
              <a:srgbClr val="005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华文楷体" panose="02010600040101010101" pitchFamily="2" charset="-122"/>
                <a:ea typeface="华文楷体" panose="02010600040101010101" pitchFamily="2" charset="-122"/>
              </a:rPr>
              <a:t>标准输入数据</a:t>
            </a:r>
          </a:p>
        </p:txBody>
      </p:sp>
      <p:sp>
        <p:nvSpPr>
          <p:cNvPr id="16" name="矩形: 圆角 15">
            <a:extLst>
              <a:ext uri="{FF2B5EF4-FFF2-40B4-BE49-F238E27FC236}">
                <a16:creationId xmlns:a16="http://schemas.microsoft.com/office/drawing/2014/main" id="{3D78E6DE-1469-4181-B814-F363CAAC7289}"/>
              </a:ext>
            </a:extLst>
          </p:cNvPr>
          <p:cNvSpPr/>
          <p:nvPr/>
        </p:nvSpPr>
        <p:spPr>
          <a:xfrm>
            <a:off x="8491403" y="1698010"/>
            <a:ext cx="2161296" cy="461665"/>
          </a:xfrm>
          <a:prstGeom prst="roundRect">
            <a:avLst/>
          </a:prstGeom>
          <a:solidFill>
            <a:srgbClr val="005D9D"/>
          </a:solidFill>
          <a:ln>
            <a:solidFill>
              <a:srgbClr val="005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华文楷体" panose="02010600040101010101" pitchFamily="2" charset="-122"/>
                <a:ea typeface="华文楷体" panose="02010600040101010101" pitchFamily="2" charset="-122"/>
              </a:rPr>
              <a:t>标准输出数据</a:t>
            </a:r>
          </a:p>
        </p:txBody>
      </p:sp>
      <p:sp>
        <p:nvSpPr>
          <p:cNvPr id="17" name="椭圆 16">
            <a:extLst>
              <a:ext uri="{FF2B5EF4-FFF2-40B4-BE49-F238E27FC236}">
                <a16:creationId xmlns:a16="http://schemas.microsoft.com/office/drawing/2014/main" id="{5423BE57-C153-415C-BFBA-B47E6922F328}"/>
              </a:ext>
            </a:extLst>
          </p:cNvPr>
          <p:cNvSpPr/>
          <p:nvPr/>
        </p:nvSpPr>
        <p:spPr>
          <a:xfrm>
            <a:off x="4377591" y="2288924"/>
            <a:ext cx="2244436" cy="720426"/>
          </a:xfrm>
          <a:prstGeom prst="ellipse">
            <a:avLst/>
          </a:prstGeom>
          <a:solidFill>
            <a:srgbClr val="005D9D"/>
          </a:solidFill>
          <a:ln>
            <a:solidFill>
              <a:srgbClr val="005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华文楷体" panose="02010600040101010101" pitchFamily="2" charset="-122"/>
                <a:ea typeface="华文楷体" panose="02010600040101010101" pitchFamily="2" charset="-122"/>
              </a:rPr>
              <a:t>可执行文件</a:t>
            </a:r>
          </a:p>
        </p:txBody>
      </p:sp>
      <p:cxnSp>
        <p:nvCxnSpPr>
          <p:cNvPr id="19" name="直接箭头连接符 18">
            <a:extLst>
              <a:ext uri="{FF2B5EF4-FFF2-40B4-BE49-F238E27FC236}">
                <a16:creationId xmlns:a16="http://schemas.microsoft.com/office/drawing/2014/main" id="{DAC45401-4502-48A3-B134-78B8ACF272CC}"/>
              </a:ext>
            </a:extLst>
          </p:cNvPr>
          <p:cNvCxnSpPr>
            <a:cxnSpLocks/>
            <a:stCxn id="14" idx="0"/>
            <a:endCxn id="17" idx="4"/>
          </p:cNvCxnSpPr>
          <p:nvPr/>
        </p:nvCxnSpPr>
        <p:spPr>
          <a:xfrm flipV="1">
            <a:off x="5499809" y="3009350"/>
            <a:ext cx="0" cy="6962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BF4E04E2-5471-4584-B3F9-0DE16D12AE5A}"/>
              </a:ext>
            </a:extLst>
          </p:cNvPr>
          <p:cNvCxnSpPr>
            <a:cxnSpLocks/>
            <a:stCxn id="15" idx="3"/>
            <a:endCxn id="17" idx="2"/>
          </p:cNvCxnSpPr>
          <p:nvPr/>
        </p:nvCxnSpPr>
        <p:spPr>
          <a:xfrm flipV="1">
            <a:off x="2977268" y="2649137"/>
            <a:ext cx="1400323" cy="1122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圆角 26">
            <a:extLst>
              <a:ext uri="{FF2B5EF4-FFF2-40B4-BE49-F238E27FC236}">
                <a16:creationId xmlns:a16="http://schemas.microsoft.com/office/drawing/2014/main" id="{7B507381-8F52-458B-AB21-683306CD29E6}"/>
              </a:ext>
            </a:extLst>
          </p:cNvPr>
          <p:cNvSpPr/>
          <p:nvPr/>
        </p:nvSpPr>
        <p:spPr>
          <a:xfrm>
            <a:off x="8491403" y="2429533"/>
            <a:ext cx="2161296" cy="461665"/>
          </a:xfrm>
          <a:prstGeom prst="roundRect">
            <a:avLst/>
          </a:prstGeom>
          <a:solidFill>
            <a:srgbClr val="005D9D"/>
          </a:solidFill>
          <a:ln>
            <a:solidFill>
              <a:srgbClr val="005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华文楷体" panose="02010600040101010101" pitchFamily="2" charset="-122"/>
                <a:ea typeface="华文楷体" panose="02010600040101010101" pitchFamily="2" charset="-122"/>
              </a:rPr>
              <a:t>输出文件</a:t>
            </a:r>
          </a:p>
        </p:txBody>
      </p:sp>
      <p:cxnSp>
        <p:nvCxnSpPr>
          <p:cNvPr id="28" name="直接箭头连接符 27">
            <a:extLst>
              <a:ext uri="{FF2B5EF4-FFF2-40B4-BE49-F238E27FC236}">
                <a16:creationId xmlns:a16="http://schemas.microsoft.com/office/drawing/2014/main" id="{18F400F4-47A8-4224-80D6-D4F0CE5EE343}"/>
              </a:ext>
            </a:extLst>
          </p:cNvPr>
          <p:cNvCxnSpPr>
            <a:cxnSpLocks/>
            <a:stCxn id="17" idx="6"/>
            <a:endCxn id="27" idx="1"/>
          </p:cNvCxnSpPr>
          <p:nvPr/>
        </p:nvCxnSpPr>
        <p:spPr>
          <a:xfrm>
            <a:off x="6622027" y="2649137"/>
            <a:ext cx="1869376" cy="112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左大括号 31">
            <a:extLst>
              <a:ext uri="{FF2B5EF4-FFF2-40B4-BE49-F238E27FC236}">
                <a16:creationId xmlns:a16="http://schemas.microsoft.com/office/drawing/2014/main" id="{298ACBD4-22C2-4B0E-8808-477C33B509CD}"/>
              </a:ext>
            </a:extLst>
          </p:cNvPr>
          <p:cNvSpPr/>
          <p:nvPr/>
        </p:nvSpPr>
        <p:spPr>
          <a:xfrm rot="10800000">
            <a:off x="10712420" y="1731100"/>
            <a:ext cx="344381" cy="1115650"/>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4" name="连接符: 肘形 33">
            <a:extLst>
              <a:ext uri="{FF2B5EF4-FFF2-40B4-BE49-F238E27FC236}">
                <a16:creationId xmlns:a16="http://schemas.microsoft.com/office/drawing/2014/main" id="{6ABCF558-1DC2-451D-A35F-8425C3EF36AF}"/>
              </a:ext>
            </a:extLst>
          </p:cNvPr>
          <p:cNvCxnSpPr>
            <a:cxnSpLocks/>
            <a:stCxn id="32" idx="1"/>
            <a:endCxn id="109" idx="3"/>
          </p:cNvCxnSpPr>
          <p:nvPr/>
        </p:nvCxnSpPr>
        <p:spPr>
          <a:xfrm flipH="1">
            <a:off x="7489295" y="2288925"/>
            <a:ext cx="3567506" cy="1690156"/>
          </a:xfrm>
          <a:prstGeom prst="bentConnector3">
            <a:avLst>
              <a:gd name="adj1" fmla="val -6408"/>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25C38697-D3DA-4DCC-AF2F-D1F56F999B88}"/>
              </a:ext>
            </a:extLst>
          </p:cNvPr>
          <p:cNvCxnSpPr>
            <a:cxnSpLocks/>
            <a:stCxn id="109" idx="2"/>
            <a:endCxn id="44" idx="0"/>
          </p:cNvCxnSpPr>
          <p:nvPr/>
        </p:nvCxnSpPr>
        <p:spPr>
          <a:xfrm>
            <a:off x="6761563" y="4242373"/>
            <a:ext cx="1222418" cy="150657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椭圆 37">
            <a:extLst>
              <a:ext uri="{FF2B5EF4-FFF2-40B4-BE49-F238E27FC236}">
                <a16:creationId xmlns:a16="http://schemas.microsoft.com/office/drawing/2014/main" id="{E0F6570A-EB96-435A-8430-0BFB709F43CC}"/>
              </a:ext>
            </a:extLst>
          </p:cNvPr>
          <p:cNvSpPr/>
          <p:nvPr/>
        </p:nvSpPr>
        <p:spPr>
          <a:xfrm>
            <a:off x="4496095" y="4740132"/>
            <a:ext cx="2007426" cy="788657"/>
          </a:xfrm>
          <a:prstGeom prst="ellipse">
            <a:avLst/>
          </a:prstGeom>
          <a:solidFill>
            <a:srgbClr val="005D9D"/>
          </a:solidFill>
          <a:ln>
            <a:solidFill>
              <a:srgbClr val="005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华文楷体" panose="02010600040101010101" pitchFamily="2" charset="-122"/>
                <a:ea typeface="华文楷体" panose="02010600040101010101" pitchFamily="2" charset="-122"/>
              </a:rPr>
              <a:t>用户待评测代码</a:t>
            </a:r>
          </a:p>
        </p:txBody>
      </p:sp>
      <p:cxnSp>
        <p:nvCxnSpPr>
          <p:cNvPr id="39" name="直接箭头连接符 38">
            <a:extLst>
              <a:ext uri="{FF2B5EF4-FFF2-40B4-BE49-F238E27FC236}">
                <a16:creationId xmlns:a16="http://schemas.microsoft.com/office/drawing/2014/main" id="{6745EC11-7A5C-4A1A-87D4-01865C883158}"/>
              </a:ext>
            </a:extLst>
          </p:cNvPr>
          <p:cNvCxnSpPr>
            <a:cxnSpLocks/>
            <a:stCxn id="10" idx="0"/>
            <a:endCxn id="38" idx="4"/>
          </p:cNvCxnSpPr>
          <p:nvPr/>
        </p:nvCxnSpPr>
        <p:spPr>
          <a:xfrm flipV="1">
            <a:off x="5499808" y="5528789"/>
            <a:ext cx="0" cy="3977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EE301098-4DA1-451D-B8DD-A4DBFC06585C}"/>
              </a:ext>
            </a:extLst>
          </p:cNvPr>
          <p:cNvCxnSpPr>
            <a:cxnSpLocks/>
            <a:stCxn id="38" idx="0"/>
            <a:endCxn id="14" idx="2"/>
          </p:cNvCxnSpPr>
          <p:nvPr/>
        </p:nvCxnSpPr>
        <p:spPr>
          <a:xfrm flipV="1">
            <a:off x="5499808" y="4232168"/>
            <a:ext cx="1" cy="50796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8269790E-47A4-4587-838B-DB34AF8FD640}"/>
              </a:ext>
            </a:extLst>
          </p:cNvPr>
          <p:cNvCxnSpPr>
            <a:cxnSpLocks/>
            <a:stCxn id="44" idx="2"/>
            <a:endCxn id="10" idx="3"/>
          </p:cNvCxnSpPr>
          <p:nvPr/>
        </p:nvCxnSpPr>
        <p:spPr>
          <a:xfrm flipH="1">
            <a:off x="6460719" y="6143272"/>
            <a:ext cx="519549" cy="140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a16="http://schemas.microsoft.com/office/drawing/2014/main" id="{C3657A43-7D2B-4F7F-8F1D-E79F83D18DA7}"/>
              </a:ext>
            </a:extLst>
          </p:cNvPr>
          <p:cNvSpPr/>
          <p:nvPr/>
        </p:nvSpPr>
        <p:spPr>
          <a:xfrm>
            <a:off x="6980268" y="5748943"/>
            <a:ext cx="2007426" cy="788657"/>
          </a:xfrm>
          <a:prstGeom prst="ellipse">
            <a:avLst/>
          </a:prstGeom>
          <a:solidFill>
            <a:srgbClr val="005D9D"/>
          </a:solidFill>
          <a:ln>
            <a:solidFill>
              <a:srgbClr val="005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华文楷体" panose="02010600040101010101" pitchFamily="2" charset="-122"/>
                <a:ea typeface="华文楷体" panose="02010600040101010101" pitchFamily="2" charset="-122"/>
              </a:rPr>
              <a:t>评测结果</a:t>
            </a:r>
          </a:p>
        </p:txBody>
      </p:sp>
      <p:grpSp>
        <p:nvGrpSpPr>
          <p:cNvPr id="49" name="组合 48">
            <a:extLst>
              <a:ext uri="{FF2B5EF4-FFF2-40B4-BE49-F238E27FC236}">
                <a16:creationId xmlns:a16="http://schemas.microsoft.com/office/drawing/2014/main" id="{CCE2F2F6-E8E7-4DD4-8ED0-42C3C2AA8697}"/>
              </a:ext>
            </a:extLst>
          </p:cNvPr>
          <p:cNvGrpSpPr/>
          <p:nvPr/>
        </p:nvGrpSpPr>
        <p:grpSpPr>
          <a:xfrm>
            <a:off x="1034671" y="4649114"/>
            <a:ext cx="2804260" cy="635061"/>
            <a:chOff x="384666" y="742015"/>
            <a:chExt cx="11659926" cy="76308781"/>
          </a:xfrm>
        </p:grpSpPr>
        <p:sp>
          <p:nvSpPr>
            <p:cNvPr id="51" name="矩形 50">
              <a:extLst>
                <a:ext uri="{FF2B5EF4-FFF2-40B4-BE49-F238E27FC236}">
                  <a16:creationId xmlns:a16="http://schemas.microsoft.com/office/drawing/2014/main" id="{D07C074F-7FDB-48E0-92A3-D53E5B073E00}"/>
                </a:ext>
              </a:extLst>
            </p:cNvPr>
            <p:cNvSpPr/>
            <p:nvPr/>
          </p:nvSpPr>
          <p:spPr>
            <a:xfrm>
              <a:off x="384666" y="770899"/>
              <a:ext cx="11031479" cy="64051134"/>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2000" b="1" dirty="0">
                  <a:latin typeface="华文楷体" panose="02010600040101010101" pitchFamily="2" charset="-122"/>
                  <a:ea typeface="华文楷体" panose="02010600040101010101" pitchFamily="2" charset="-122"/>
                </a:rPr>
                <a:t>Code Too Long</a:t>
              </a:r>
              <a:endParaRPr lang="en-US" altLang="zh-CN" sz="20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1600" b="1" dirty="0">
                <a:solidFill>
                  <a:srgbClr val="186CA6"/>
                </a:solidFill>
                <a:latin typeface="华文楷体" panose="02010600040101010101" pitchFamily="2" charset="-122"/>
                <a:ea typeface="华文楷体" panose="02010600040101010101" pitchFamily="2" charset="-122"/>
              </a:endParaRPr>
            </a:p>
          </p:txBody>
        </p:sp>
        <p:sp>
          <p:nvSpPr>
            <p:cNvPr id="52" name="矩形: 圆角 51">
              <a:extLst>
                <a:ext uri="{FF2B5EF4-FFF2-40B4-BE49-F238E27FC236}">
                  <a16:creationId xmlns:a16="http://schemas.microsoft.com/office/drawing/2014/main" id="{567C60D7-43B5-444C-BB40-62319826816B}"/>
                </a:ext>
              </a:extLst>
            </p:cNvPr>
            <p:cNvSpPr/>
            <p:nvPr/>
          </p:nvSpPr>
          <p:spPr>
            <a:xfrm>
              <a:off x="384666" y="742015"/>
              <a:ext cx="11659926" cy="76308781"/>
            </a:xfrm>
            <a:prstGeom prst="roundRect">
              <a:avLst>
                <a:gd name="adj" fmla="val 6289"/>
              </a:avLst>
            </a:prstGeom>
            <a:noFill/>
            <a:ln w="19050">
              <a:solidFill>
                <a:srgbClr val="186C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57" name="组合 56">
            <a:extLst>
              <a:ext uri="{FF2B5EF4-FFF2-40B4-BE49-F238E27FC236}">
                <a16:creationId xmlns:a16="http://schemas.microsoft.com/office/drawing/2014/main" id="{E1029AC5-2046-4E8F-94CC-C50EC27CEBFC}"/>
              </a:ext>
            </a:extLst>
          </p:cNvPr>
          <p:cNvGrpSpPr/>
          <p:nvPr/>
        </p:nvGrpSpPr>
        <p:grpSpPr>
          <a:xfrm>
            <a:off x="8491403" y="4326416"/>
            <a:ext cx="3199932" cy="1141854"/>
            <a:chOff x="384666" y="742011"/>
            <a:chExt cx="11659926" cy="271309556"/>
          </a:xfrm>
        </p:grpSpPr>
        <p:sp>
          <p:nvSpPr>
            <p:cNvPr id="58" name="矩形 57">
              <a:extLst>
                <a:ext uri="{FF2B5EF4-FFF2-40B4-BE49-F238E27FC236}">
                  <a16:creationId xmlns:a16="http://schemas.microsoft.com/office/drawing/2014/main" id="{65A2A1FF-A1D2-4CBA-A34D-D2B99C851CBE}"/>
                </a:ext>
              </a:extLst>
            </p:cNvPr>
            <p:cNvSpPr/>
            <p:nvPr/>
          </p:nvSpPr>
          <p:spPr>
            <a:xfrm>
              <a:off x="384666" y="766959"/>
              <a:ext cx="11031475" cy="271284608"/>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2000" b="1" dirty="0">
                  <a:solidFill>
                    <a:srgbClr val="00B050"/>
                  </a:solidFill>
                  <a:latin typeface="华文楷体" panose="02010600040101010101" pitchFamily="2" charset="-122"/>
                  <a:ea typeface="华文楷体" panose="02010600040101010101" pitchFamily="2" charset="-122"/>
                </a:rPr>
                <a:t>Wrong Answer (WA)</a:t>
              </a:r>
            </a:p>
            <a:p>
              <a:pPr marL="285750" indent="-285750">
                <a:lnSpc>
                  <a:spcPct val="150000"/>
                </a:lnSpc>
                <a:buFont typeface="Arial" panose="020B0604020202020204" pitchFamily="34" charset="0"/>
                <a:buChar char="•"/>
              </a:pPr>
              <a:r>
                <a:rPr lang="en-US" altLang="zh-CN" sz="2000" b="1" dirty="0">
                  <a:solidFill>
                    <a:srgbClr val="00B050"/>
                  </a:solidFill>
                  <a:latin typeface="华文楷体" panose="02010600040101010101" pitchFamily="2" charset="-122"/>
                  <a:ea typeface="华文楷体" panose="02010600040101010101" pitchFamily="2" charset="-122"/>
                </a:rPr>
                <a:t>Presentation Error (PE)</a:t>
              </a: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1600" b="1" dirty="0">
                <a:solidFill>
                  <a:srgbClr val="186CA6"/>
                </a:solidFill>
                <a:latin typeface="华文楷体" panose="02010600040101010101" pitchFamily="2" charset="-122"/>
                <a:ea typeface="华文楷体" panose="02010600040101010101" pitchFamily="2" charset="-122"/>
              </a:endParaRPr>
            </a:p>
          </p:txBody>
        </p:sp>
        <p:sp>
          <p:nvSpPr>
            <p:cNvPr id="59" name="矩形: 圆角 58">
              <a:extLst>
                <a:ext uri="{FF2B5EF4-FFF2-40B4-BE49-F238E27FC236}">
                  <a16:creationId xmlns:a16="http://schemas.microsoft.com/office/drawing/2014/main" id="{F7938943-ED7B-42FF-8DC3-9FD410BB9A25}"/>
                </a:ext>
              </a:extLst>
            </p:cNvPr>
            <p:cNvSpPr/>
            <p:nvPr/>
          </p:nvSpPr>
          <p:spPr>
            <a:xfrm>
              <a:off x="384666" y="742011"/>
              <a:ext cx="11659926" cy="271284221"/>
            </a:xfrm>
            <a:prstGeom prst="roundRect">
              <a:avLst>
                <a:gd name="adj" fmla="val 6289"/>
              </a:avLst>
            </a:prstGeom>
            <a:noFill/>
            <a:ln w="19050">
              <a:solidFill>
                <a:srgbClr val="186C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60" name="组合 59">
            <a:extLst>
              <a:ext uri="{FF2B5EF4-FFF2-40B4-BE49-F238E27FC236}">
                <a16:creationId xmlns:a16="http://schemas.microsoft.com/office/drawing/2014/main" id="{35F60C9A-C55B-4BB4-957A-E59E4F5DF8D9}"/>
              </a:ext>
            </a:extLst>
          </p:cNvPr>
          <p:cNvGrpSpPr/>
          <p:nvPr/>
        </p:nvGrpSpPr>
        <p:grpSpPr>
          <a:xfrm>
            <a:off x="8491403" y="2935534"/>
            <a:ext cx="1836990" cy="905835"/>
            <a:chOff x="384666" y="742015"/>
            <a:chExt cx="11659926" cy="62581678"/>
          </a:xfrm>
        </p:grpSpPr>
        <p:sp>
          <p:nvSpPr>
            <p:cNvPr id="61" name="矩形 60">
              <a:extLst>
                <a:ext uri="{FF2B5EF4-FFF2-40B4-BE49-F238E27FC236}">
                  <a16:creationId xmlns:a16="http://schemas.microsoft.com/office/drawing/2014/main" id="{4DCF36F8-8772-4137-B10B-6005662C40B3}"/>
                </a:ext>
              </a:extLst>
            </p:cNvPr>
            <p:cNvSpPr/>
            <p:nvPr/>
          </p:nvSpPr>
          <p:spPr>
            <a:xfrm>
              <a:off x="384666" y="770905"/>
              <a:ext cx="11031479" cy="62552788"/>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2000" b="1" dirty="0">
                  <a:solidFill>
                    <a:srgbClr val="FF0000"/>
                  </a:solidFill>
                  <a:latin typeface="华文楷体" panose="02010600040101010101" pitchFamily="2" charset="-122"/>
                  <a:ea typeface="华文楷体" panose="02010600040101010101" pitchFamily="2" charset="-122"/>
                </a:rPr>
                <a:t>Accepted</a:t>
              </a:r>
            </a:p>
            <a:p>
              <a:pPr marL="285750" indent="-285750">
                <a:lnSpc>
                  <a:spcPct val="150000"/>
                </a:lnSpc>
                <a:buFont typeface="Arial" panose="020B0604020202020204" pitchFamily="34" charset="0"/>
                <a:buChar char="•"/>
              </a:pPr>
              <a:r>
                <a:rPr lang="en-US" altLang="zh-CN" sz="2000" b="1" dirty="0">
                  <a:solidFill>
                    <a:srgbClr val="FF0000"/>
                  </a:solidFill>
                  <a:latin typeface="华文楷体" panose="02010600040101010101" pitchFamily="2" charset="-122"/>
                  <a:ea typeface="华文楷体" panose="02010600040101010101" pitchFamily="2" charset="-122"/>
                </a:rPr>
                <a:t>Yes</a:t>
              </a: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1600" b="1" dirty="0">
                <a:solidFill>
                  <a:srgbClr val="186CA6"/>
                </a:solidFill>
                <a:latin typeface="华文楷体" panose="02010600040101010101" pitchFamily="2" charset="-122"/>
                <a:ea typeface="华文楷体" panose="02010600040101010101" pitchFamily="2" charset="-122"/>
              </a:endParaRPr>
            </a:p>
          </p:txBody>
        </p:sp>
        <p:sp>
          <p:nvSpPr>
            <p:cNvPr id="62" name="矩形: 圆角 61">
              <a:extLst>
                <a:ext uri="{FF2B5EF4-FFF2-40B4-BE49-F238E27FC236}">
                  <a16:creationId xmlns:a16="http://schemas.microsoft.com/office/drawing/2014/main" id="{E5C42176-4244-4C43-A577-67A59D563EF3}"/>
                </a:ext>
              </a:extLst>
            </p:cNvPr>
            <p:cNvSpPr/>
            <p:nvPr/>
          </p:nvSpPr>
          <p:spPr>
            <a:xfrm>
              <a:off x="384666" y="742015"/>
              <a:ext cx="11659926" cy="62552788"/>
            </a:xfrm>
            <a:prstGeom prst="roundRect">
              <a:avLst>
                <a:gd name="adj" fmla="val 6289"/>
              </a:avLst>
            </a:prstGeom>
            <a:noFill/>
            <a:ln w="19050">
              <a:solidFill>
                <a:srgbClr val="186C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cxnSp>
        <p:nvCxnSpPr>
          <p:cNvPr id="63" name="直接连接符 62">
            <a:extLst>
              <a:ext uri="{FF2B5EF4-FFF2-40B4-BE49-F238E27FC236}">
                <a16:creationId xmlns:a16="http://schemas.microsoft.com/office/drawing/2014/main" id="{94910D7A-B145-427B-B67D-22788649C918}"/>
              </a:ext>
            </a:extLst>
          </p:cNvPr>
          <p:cNvCxnSpPr>
            <a:cxnSpLocks/>
            <a:stCxn id="52" idx="3"/>
          </p:cNvCxnSpPr>
          <p:nvPr/>
        </p:nvCxnSpPr>
        <p:spPr>
          <a:xfrm flipV="1">
            <a:off x="3838931" y="4535928"/>
            <a:ext cx="1660877" cy="430717"/>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04811C38-16EC-4237-B4E1-94166FF87EFE}"/>
              </a:ext>
            </a:extLst>
          </p:cNvPr>
          <p:cNvCxnSpPr>
            <a:cxnSpLocks/>
            <a:stCxn id="109" idx="0"/>
            <a:endCxn id="62" idx="1"/>
          </p:cNvCxnSpPr>
          <p:nvPr/>
        </p:nvCxnSpPr>
        <p:spPr>
          <a:xfrm flipV="1">
            <a:off x="6761563" y="3388243"/>
            <a:ext cx="1729840" cy="327546"/>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sp>
        <p:nvSpPr>
          <p:cNvPr id="109" name="矩形: 圆角 108">
            <a:extLst>
              <a:ext uri="{FF2B5EF4-FFF2-40B4-BE49-F238E27FC236}">
                <a16:creationId xmlns:a16="http://schemas.microsoft.com/office/drawing/2014/main" id="{A41D2567-CCCC-4E29-9BA5-76F296998F44}"/>
              </a:ext>
            </a:extLst>
          </p:cNvPr>
          <p:cNvSpPr/>
          <p:nvPr/>
        </p:nvSpPr>
        <p:spPr>
          <a:xfrm>
            <a:off x="6033830" y="3715789"/>
            <a:ext cx="1455465" cy="526584"/>
          </a:xfrm>
          <a:prstGeom prst="roundRect">
            <a:avLst/>
          </a:prstGeom>
          <a:solidFill>
            <a:srgbClr val="005D9D"/>
          </a:solidFill>
          <a:ln>
            <a:solidFill>
              <a:srgbClr val="005D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ltLang="zh-CN" sz="2000" dirty="0">
              <a:latin typeface="华文楷体" panose="02010600040101010101" pitchFamily="2" charset="-122"/>
              <a:ea typeface="华文楷体" panose="02010600040101010101" pitchFamily="2" charset="-122"/>
            </a:endParaRPr>
          </a:p>
          <a:p>
            <a:pPr algn="ctr">
              <a:lnSpc>
                <a:spcPct val="150000"/>
              </a:lnSpc>
            </a:pPr>
            <a:r>
              <a:rPr lang="zh-CN" altLang="en-US" sz="2000" dirty="0">
                <a:latin typeface="华文楷体" panose="02010600040101010101" pitchFamily="2" charset="-122"/>
                <a:ea typeface="华文楷体" panose="02010600040101010101" pitchFamily="2" charset="-122"/>
              </a:rPr>
              <a:t>文件比对</a:t>
            </a:r>
            <a:endParaRPr lang="en-US" altLang="zh-CN" sz="2000" dirty="0">
              <a:latin typeface="华文楷体" panose="02010600040101010101" pitchFamily="2" charset="-122"/>
              <a:ea typeface="华文楷体" panose="02010600040101010101" pitchFamily="2" charset="-122"/>
            </a:endParaRPr>
          </a:p>
          <a:p>
            <a:pPr algn="ctr">
              <a:lnSpc>
                <a:spcPct val="150000"/>
              </a:lnSpc>
            </a:pPr>
            <a:endParaRPr lang="zh-CN" altLang="en-US" sz="2000" dirty="0">
              <a:latin typeface="华文楷体" panose="02010600040101010101" pitchFamily="2" charset="-122"/>
              <a:ea typeface="华文楷体" panose="02010600040101010101" pitchFamily="2" charset="-122"/>
            </a:endParaRPr>
          </a:p>
        </p:txBody>
      </p:sp>
      <p:cxnSp>
        <p:nvCxnSpPr>
          <p:cNvPr id="136" name="直接连接符 135">
            <a:extLst>
              <a:ext uri="{FF2B5EF4-FFF2-40B4-BE49-F238E27FC236}">
                <a16:creationId xmlns:a16="http://schemas.microsoft.com/office/drawing/2014/main" id="{75A18D6B-C5CB-489A-8999-C059BC9F8DA2}"/>
              </a:ext>
            </a:extLst>
          </p:cNvPr>
          <p:cNvCxnSpPr>
            <a:cxnSpLocks/>
            <a:stCxn id="109" idx="2"/>
            <a:endCxn id="59" idx="1"/>
          </p:cNvCxnSpPr>
          <p:nvPr/>
        </p:nvCxnSpPr>
        <p:spPr>
          <a:xfrm>
            <a:off x="6761563" y="4242373"/>
            <a:ext cx="1729840" cy="654917"/>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FD89DB1F-F80C-4592-885D-316E06F8755D}"/>
              </a:ext>
            </a:extLst>
          </p:cNvPr>
          <p:cNvCxnSpPr>
            <a:cxnSpLocks/>
          </p:cNvCxnSpPr>
          <p:nvPr/>
        </p:nvCxnSpPr>
        <p:spPr>
          <a:xfrm flipH="1" flipV="1">
            <a:off x="7311690" y="1629648"/>
            <a:ext cx="123424" cy="1033727"/>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sp>
        <p:nvSpPr>
          <p:cNvPr id="148" name="文本框 147">
            <a:extLst>
              <a:ext uri="{FF2B5EF4-FFF2-40B4-BE49-F238E27FC236}">
                <a16:creationId xmlns:a16="http://schemas.microsoft.com/office/drawing/2014/main" id="{4FC10514-8BF3-4A5F-87B4-1FF8FBB91A9A}"/>
              </a:ext>
            </a:extLst>
          </p:cNvPr>
          <p:cNvSpPr txBox="1"/>
          <p:nvPr/>
        </p:nvSpPr>
        <p:spPr>
          <a:xfrm>
            <a:off x="5583711" y="3254241"/>
            <a:ext cx="1274708" cy="369332"/>
          </a:xfrm>
          <a:prstGeom prst="rect">
            <a:avLst/>
          </a:prstGeom>
          <a:noFill/>
        </p:spPr>
        <p:txBody>
          <a:bodyPr wrap="none" rtlCol="0">
            <a:spAutoFit/>
          </a:bodyPr>
          <a:lstStyle/>
          <a:p>
            <a:r>
              <a:rPr lang="en-US" altLang="zh-CN" dirty="0"/>
              <a:t>Judge</a:t>
            </a:r>
            <a:r>
              <a:rPr lang="zh-CN" altLang="en-US" dirty="0"/>
              <a:t>进程</a:t>
            </a:r>
          </a:p>
        </p:txBody>
      </p:sp>
      <p:grpSp>
        <p:nvGrpSpPr>
          <p:cNvPr id="152" name="组合 151">
            <a:extLst>
              <a:ext uri="{FF2B5EF4-FFF2-40B4-BE49-F238E27FC236}">
                <a16:creationId xmlns:a16="http://schemas.microsoft.com/office/drawing/2014/main" id="{BD01591C-366B-4590-AAF7-31D95ADEE8C7}"/>
              </a:ext>
            </a:extLst>
          </p:cNvPr>
          <p:cNvGrpSpPr/>
          <p:nvPr/>
        </p:nvGrpSpPr>
        <p:grpSpPr>
          <a:xfrm>
            <a:off x="1136801" y="3602288"/>
            <a:ext cx="2804260" cy="2088697"/>
            <a:chOff x="384666" y="742015"/>
            <a:chExt cx="11659926" cy="250977342"/>
          </a:xfrm>
        </p:grpSpPr>
        <p:sp>
          <p:nvSpPr>
            <p:cNvPr id="153" name="矩形 152">
              <a:extLst>
                <a:ext uri="{FF2B5EF4-FFF2-40B4-BE49-F238E27FC236}">
                  <a16:creationId xmlns:a16="http://schemas.microsoft.com/office/drawing/2014/main" id="{CF60893F-9526-4BB0-AA7A-B68C7E6C4FD8}"/>
                </a:ext>
              </a:extLst>
            </p:cNvPr>
            <p:cNvSpPr/>
            <p:nvPr/>
          </p:nvSpPr>
          <p:spPr>
            <a:xfrm>
              <a:off x="384666" y="770853"/>
              <a:ext cx="11031479" cy="250948504"/>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2400" b="1" dirty="0">
                  <a:solidFill>
                    <a:srgbClr val="186CA6"/>
                  </a:solidFill>
                  <a:latin typeface="华文楷体" panose="02010600040101010101" pitchFamily="2" charset="-122"/>
                  <a:ea typeface="华文楷体" panose="02010600040101010101" pitchFamily="2" charset="-122"/>
                </a:rPr>
                <a:t>Compile Error</a:t>
              </a: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1600" b="1" dirty="0">
                <a:solidFill>
                  <a:srgbClr val="186CA6"/>
                </a:solidFill>
                <a:latin typeface="华文楷体" panose="02010600040101010101" pitchFamily="2" charset="-122"/>
                <a:ea typeface="华文楷体" panose="02010600040101010101" pitchFamily="2" charset="-122"/>
              </a:endParaRPr>
            </a:p>
          </p:txBody>
        </p:sp>
        <p:sp>
          <p:nvSpPr>
            <p:cNvPr id="154" name="矩形: 圆角 153">
              <a:extLst>
                <a:ext uri="{FF2B5EF4-FFF2-40B4-BE49-F238E27FC236}">
                  <a16:creationId xmlns:a16="http://schemas.microsoft.com/office/drawing/2014/main" id="{6D12745A-8E38-48D4-85A4-A400B84BF82E}"/>
                </a:ext>
              </a:extLst>
            </p:cNvPr>
            <p:cNvSpPr/>
            <p:nvPr/>
          </p:nvSpPr>
          <p:spPr>
            <a:xfrm>
              <a:off x="384666" y="742015"/>
              <a:ext cx="11659926" cy="76308781"/>
            </a:xfrm>
            <a:prstGeom prst="roundRect">
              <a:avLst>
                <a:gd name="adj" fmla="val 6289"/>
              </a:avLst>
            </a:prstGeom>
            <a:noFill/>
            <a:ln w="19050">
              <a:solidFill>
                <a:srgbClr val="186C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cxnSp>
        <p:nvCxnSpPr>
          <p:cNvPr id="155" name="直接连接符 154">
            <a:extLst>
              <a:ext uri="{FF2B5EF4-FFF2-40B4-BE49-F238E27FC236}">
                <a16:creationId xmlns:a16="http://schemas.microsoft.com/office/drawing/2014/main" id="{3E21923C-D1C3-4FA0-AD25-1558048E180F}"/>
              </a:ext>
            </a:extLst>
          </p:cNvPr>
          <p:cNvCxnSpPr>
            <a:cxnSpLocks/>
            <a:stCxn id="154" idx="3"/>
          </p:cNvCxnSpPr>
          <p:nvPr/>
        </p:nvCxnSpPr>
        <p:spPr>
          <a:xfrm flipV="1">
            <a:off x="3941061" y="3407061"/>
            <a:ext cx="1558747" cy="512758"/>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sp>
        <p:nvSpPr>
          <p:cNvPr id="56" name="TextBox 36">
            <a:extLst>
              <a:ext uri="{FF2B5EF4-FFF2-40B4-BE49-F238E27FC236}">
                <a16:creationId xmlns:a16="http://schemas.microsoft.com/office/drawing/2014/main" id="{F50BDA82-80C5-4F44-9063-71FCBF1131AC}"/>
              </a:ext>
            </a:extLst>
          </p:cNvPr>
          <p:cNvSpPr txBox="1"/>
          <p:nvPr/>
        </p:nvSpPr>
        <p:spPr>
          <a:xfrm>
            <a:off x="334800" y="320400"/>
            <a:ext cx="5380383" cy="584775"/>
          </a:xfrm>
          <a:prstGeom prst="rect">
            <a:avLst/>
          </a:prstGeom>
          <a:noFill/>
        </p:spPr>
        <p:txBody>
          <a:bodyPr wrap="square" rtlCol="0">
            <a:spAutoFit/>
          </a:bodyPr>
          <a:lstStyle/>
          <a:p>
            <a:pPr marL="571500" indent="-571500">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在线评测平台 </a:t>
            </a: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评测原理</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43487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9"/>
                                        </p:tgtEl>
                                        <p:attrNameLst>
                                          <p:attrName>style.visibility</p:attrName>
                                        </p:attrNameLst>
                                      </p:cBhvr>
                                      <p:to>
                                        <p:strVal val="visible"/>
                                      </p:to>
                                    </p:set>
                                    <p:animEffect transition="in" filter="fade">
                                      <p:cBhvr>
                                        <p:cTn id="18" dur="500"/>
                                        <p:tgtEl>
                                          <p:spTgt spid="11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fade">
                                      <p:cBhvr>
                                        <p:cTn id="30" dur="500"/>
                                        <p:tgtEl>
                                          <p:spTgt spid="4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8"/>
                                        </p:tgtEl>
                                        <p:attrNameLst>
                                          <p:attrName>style.visibility</p:attrName>
                                        </p:attrNameLst>
                                      </p:cBhvr>
                                      <p:to>
                                        <p:strVal val="visible"/>
                                      </p:to>
                                    </p:set>
                                    <p:animEffect transition="in" filter="fade">
                                      <p:cBhvr>
                                        <p:cTn id="33" dur="500"/>
                                        <p:tgtEl>
                                          <p:spTgt spid="14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9"/>
                                        </p:tgtEl>
                                        <p:attrNameLst>
                                          <p:attrName>style.visibility</p:attrName>
                                        </p:attrNameLst>
                                      </p:cBhvr>
                                      <p:to>
                                        <p:strVal val="visible"/>
                                      </p:to>
                                    </p:set>
                                    <p:animEffect transition="in" filter="fade">
                                      <p:cBhvr>
                                        <p:cTn id="38" dur="500"/>
                                        <p:tgtEl>
                                          <p:spTgt spid="49"/>
                                        </p:tgtEl>
                                      </p:cBhvr>
                                    </p:animEffect>
                                  </p:childTnLst>
                                </p:cTn>
                              </p:par>
                              <p:par>
                                <p:cTn id="39" presetID="10" presetClass="entr" presetSubtype="0" fill="hold" nodeType="withEffect">
                                  <p:stCondLst>
                                    <p:cond delay="0"/>
                                  </p:stCondLst>
                                  <p:childTnLst>
                                    <p:set>
                                      <p:cBhvr>
                                        <p:cTn id="40" dur="1" fill="hold">
                                          <p:stCondLst>
                                            <p:cond delay="0"/>
                                          </p:stCondLst>
                                        </p:cTn>
                                        <p:tgtEl>
                                          <p:spTgt spid="63"/>
                                        </p:tgtEl>
                                        <p:attrNameLst>
                                          <p:attrName>style.visibility</p:attrName>
                                        </p:attrNameLst>
                                      </p:cBhvr>
                                      <p:to>
                                        <p:strVal val="visible"/>
                                      </p:to>
                                    </p:set>
                                    <p:animEffect transition="in" filter="fade">
                                      <p:cBhvr>
                                        <p:cTn id="41" dur="500"/>
                                        <p:tgtEl>
                                          <p:spTgt spid="6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52"/>
                                        </p:tgtEl>
                                        <p:attrNameLst>
                                          <p:attrName>style.visibility</p:attrName>
                                        </p:attrNameLst>
                                      </p:cBhvr>
                                      <p:to>
                                        <p:strVal val="visible"/>
                                      </p:to>
                                    </p:set>
                                    <p:animEffect transition="in" filter="fade">
                                      <p:cBhvr>
                                        <p:cTn id="46" dur="500"/>
                                        <p:tgtEl>
                                          <p:spTgt spid="152"/>
                                        </p:tgtEl>
                                      </p:cBhvr>
                                    </p:animEffect>
                                  </p:childTnLst>
                                </p:cTn>
                              </p:par>
                              <p:par>
                                <p:cTn id="47" presetID="10" presetClass="entr" presetSubtype="0" fill="hold" nodeType="withEffect">
                                  <p:stCondLst>
                                    <p:cond delay="0"/>
                                  </p:stCondLst>
                                  <p:childTnLst>
                                    <p:set>
                                      <p:cBhvr>
                                        <p:cTn id="48" dur="1" fill="hold">
                                          <p:stCondLst>
                                            <p:cond delay="0"/>
                                          </p:stCondLst>
                                        </p:cTn>
                                        <p:tgtEl>
                                          <p:spTgt spid="155"/>
                                        </p:tgtEl>
                                        <p:attrNameLst>
                                          <p:attrName>style.visibility</p:attrName>
                                        </p:attrNameLst>
                                      </p:cBhvr>
                                      <p:to>
                                        <p:strVal val="visible"/>
                                      </p:to>
                                    </p:set>
                                    <p:animEffect transition="in" filter="fade">
                                      <p:cBhvr>
                                        <p:cTn id="49" dur="500"/>
                                        <p:tgtEl>
                                          <p:spTgt spid="15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500"/>
                                        <p:tgtEl>
                                          <p:spTgt spid="27"/>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45"/>
                                        </p:tgtEl>
                                        <p:attrNameLst>
                                          <p:attrName>style.visibility</p:attrName>
                                        </p:attrNameLst>
                                      </p:cBhvr>
                                      <p:to>
                                        <p:strVal val="visible"/>
                                      </p:to>
                                    </p:set>
                                    <p:animEffect transition="in" filter="fade">
                                      <p:cBhvr>
                                        <p:cTn id="73" dur="500"/>
                                        <p:tgtEl>
                                          <p:spTgt spid="145"/>
                                        </p:tgtEl>
                                      </p:cBhvr>
                                    </p:animEffect>
                                  </p:childTnLst>
                                </p:cTn>
                              </p:par>
                              <p:par>
                                <p:cTn id="74" presetID="10" presetClass="entr" presetSubtype="0" fill="hold" nodeType="withEffect">
                                  <p:stCondLst>
                                    <p:cond delay="0"/>
                                  </p:stCondLst>
                                  <p:childTnLst>
                                    <p:set>
                                      <p:cBhvr>
                                        <p:cTn id="75" dur="1" fill="hold">
                                          <p:stCondLst>
                                            <p:cond delay="0"/>
                                          </p:stCondLst>
                                        </p:cTn>
                                        <p:tgtEl>
                                          <p:spTgt spid="142"/>
                                        </p:tgtEl>
                                        <p:attrNameLst>
                                          <p:attrName>style.visibility</p:attrName>
                                        </p:attrNameLst>
                                      </p:cBhvr>
                                      <p:to>
                                        <p:strVal val="visible"/>
                                      </p:to>
                                    </p:set>
                                    <p:animEffect transition="in" filter="fade">
                                      <p:cBhvr>
                                        <p:cTn id="76" dur="500"/>
                                        <p:tgtEl>
                                          <p:spTgt spid="14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109"/>
                                        </p:tgtEl>
                                        <p:attrNameLst>
                                          <p:attrName>style.visibility</p:attrName>
                                        </p:attrNameLst>
                                      </p:cBhvr>
                                      <p:to>
                                        <p:strVal val="visible"/>
                                      </p:to>
                                    </p:set>
                                    <p:animEffect transition="in" filter="fade">
                                      <p:cBhvr>
                                        <p:cTn id="81" dur="500"/>
                                        <p:tgtEl>
                                          <p:spTgt spid="109"/>
                                        </p:tgtEl>
                                      </p:cBhvr>
                                    </p:animEffect>
                                  </p:childTnLst>
                                </p:cTn>
                              </p:par>
                              <p:par>
                                <p:cTn id="82" presetID="10" presetClass="entr" presetSubtype="0" fill="hold"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500"/>
                                        <p:tgtEl>
                                          <p:spTgt spid="3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500"/>
                                        <p:tgtEl>
                                          <p:spTgt spid="32"/>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36"/>
                                        </p:tgtEl>
                                        <p:attrNameLst>
                                          <p:attrName>style.visibility</p:attrName>
                                        </p:attrNameLst>
                                      </p:cBhvr>
                                      <p:to>
                                        <p:strVal val="visible"/>
                                      </p:to>
                                    </p:set>
                                    <p:animEffect transition="in" filter="fade">
                                      <p:cBhvr>
                                        <p:cTn id="92" dur="500"/>
                                        <p:tgtEl>
                                          <p:spTgt spid="136"/>
                                        </p:tgtEl>
                                      </p:cBhvr>
                                    </p:animEffect>
                                  </p:childTnLst>
                                </p:cTn>
                              </p:par>
                              <p:par>
                                <p:cTn id="93" presetID="10" presetClass="entr" presetSubtype="0" fill="hold" nodeType="withEffect">
                                  <p:stCondLst>
                                    <p:cond delay="0"/>
                                  </p:stCondLst>
                                  <p:childTnLst>
                                    <p:set>
                                      <p:cBhvr>
                                        <p:cTn id="94" dur="1" fill="hold">
                                          <p:stCondLst>
                                            <p:cond delay="0"/>
                                          </p:stCondLst>
                                        </p:cTn>
                                        <p:tgtEl>
                                          <p:spTgt spid="57"/>
                                        </p:tgtEl>
                                        <p:attrNameLst>
                                          <p:attrName>style.visibility</p:attrName>
                                        </p:attrNameLst>
                                      </p:cBhvr>
                                      <p:to>
                                        <p:strVal val="visible"/>
                                      </p:to>
                                    </p:set>
                                    <p:animEffect transition="in" filter="fade">
                                      <p:cBhvr>
                                        <p:cTn id="95" dur="500"/>
                                        <p:tgtEl>
                                          <p:spTgt spid="57"/>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67"/>
                                        </p:tgtEl>
                                        <p:attrNameLst>
                                          <p:attrName>style.visibility</p:attrName>
                                        </p:attrNameLst>
                                      </p:cBhvr>
                                      <p:to>
                                        <p:strVal val="visible"/>
                                      </p:to>
                                    </p:set>
                                    <p:animEffect transition="in" filter="fade">
                                      <p:cBhvr>
                                        <p:cTn id="100" dur="500"/>
                                        <p:tgtEl>
                                          <p:spTgt spid="67"/>
                                        </p:tgtEl>
                                      </p:cBhvr>
                                    </p:animEffect>
                                  </p:childTnLst>
                                </p:cTn>
                              </p:par>
                              <p:par>
                                <p:cTn id="101" presetID="10" presetClass="entr" presetSubtype="0" fill="hold" nodeType="withEffect">
                                  <p:stCondLst>
                                    <p:cond delay="0"/>
                                  </p:stCondLst>
                                  <p:childTnLst>
                                    <p:set>
                                      <p:cBhvr>
                                        <p:cTn id="102" dur="1" fill="hold">
                                          <p:stCondLst>
                                            <p:cond delay="0"/>
                                          </p:stCondLst>
                                        </p:cTn>
                                        <p:tgtEl>
                                          <p:spTgt spid="60"/>
                                        </p:tgtEl>
                                        <p:attrNameLst>
                                          <p:attrName>style.visibility</p:attrName>
                                        </p:attrNameLst>
                                      </p:cBhvr>
                                      <p:to>
                                        <p:strVal val="visible"/>
                                      </p:to>
                                    </p:set>
                                    <p:animEffect transition="in" filter="fade">
                                      <p:cBhvr>
                                        <p:cTn id="103" dur="500"/>
                                        <p:tgtEl>
                                          <p:spTgt spid="60"/>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fade">
                                      <p:cBhvr>
                                        <p:cTn id="108" dur="500"/>
                                        <p:tgtEl>
                                          <p:spTgt spid="35"/>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11" dur="500"/>
                                        <p:tgtEl>
                                          <p:spTgt spid="44"/>
                                        </p:tgtEl>
                                      </p:cBhvr>
                                    </p:animEffect>
                                  </p:childTnLst>
                                </p:cTn>
                              </p:par>
                              <p:par>
                                <p:cTn id="112" presetID="10" presetClass="entr" presetSubtype="0" fill="hold" nodeType="withEffect">
                                  <p:stCondLst>
                                    <p:cond delay="0"/>
                                  </p:stCondLst>
                                  <p:childTnLst>
                                    <p:set>
                                      <p:cBhvr>
                                        <p:cTn id="113" dur="1" fill="hold">
                                          <p:stCondLst>
                                            <p:cond delay="0"/>
                                          </p:stCondLst>
                                        </p:cTn>
                                        <p:tgtEl>
                                          <p:spTgt spid="66"/>
                                        </p:tgtEl>
                                        <p:attrNameLst>
                                          <p:attrName>style.visibility</p:attrName>
                                        </p:attrNameLst>
                                      </p:cBhvr>
                                      <p:to>
                                        <p:strVal val="visible"/>
                                      </p:to>
                                    </p:set>
                                    <p:animEffect transition="in" filter="fade">
                                      <p:cBhvr>
                                        <p:cTn id="114"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10" grpId="0" animBg="1"/>
      <p:bldP spid="14" grpId="0" animBg="1"/>
      <p:bldP spid="15" grpId="0" animBg="1"/>
      <p:bldP spid="16" grpId="0" animBg="1"/>
      <p:bldP spid="17" grpId="0" animBg="1"/>
      <p:bldP spid="27" grpId="0" animBg="1"/>
      <p:bldP spid="32" grpId="0" animBg="1"/>
      <p:bldP spid="38" grpId="0" animBg="1"/>
      <p:bldP spid="44" grpId="0" animBg="1"/>
      <p:bldP spid="109" grpId="0" animBg="1"/>
      <p:bldP spid="14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0A004B14-C064-4F3F-9774-93B9FEE63790}"/>
              </a:ext>
            </a:extLst>
          </p:cNvPr>
          <p:cNvSpPr/>
          <p:nvPr/>
        </p:nvSpPr>
        <p:spPr>
          <a:xfrm>
            <a:off x="912634" y="1174603"/>
            <a:ext cx="3605474" cy="461665"/>
          </a:xfrm>
          <a:prstGeom prst="rect">
            <a:avLst/>
          </a:prstGeom>
        </p:spPr>
        <p:txBody>
          <a:bodyPr wrap="none">
            <a:spAutoFit/>
          </a:bodyPr>
          <a:lstStyle/>
          <a:p>
            <a:r>
              <a:rPr lang="en-US" altLang="zh-CN" sz="2400" b="1" dirty="0">
                <a:solidFill>
                  <a:srgbClr val="005D9D"/>
                </a:solidFill>
                <a:latin typeface="华文楷体" panose="02010600040101010101" pitchFamily="2" charset="-122"/>
                <a:ea typeface="华文楷体" panose="02010600040101010101" pitchFamily="2" charset="-122"/>
              </a:rPr>
              <a:t>Online Judge</a:t>
            </a:r>
            <a:r>
              <a:rPr lang="zh-CN" altLang="en-US" sz="2400" b="1" dirty="0">
                <a:solidFill>
                  <a:srgbClr val="005D9D"/>
                </a:solidFill>
                <a:latin typeface="华文楷体" panose="02010600040101010101" pitchFamily="2" charset="-122"/>
                <a:ea typeface="华文楷体" panose="02010600040101010101" pitchFamily="2" charset="-122"/>
              </a:rPr>
              <a:t>错误类型解释</a:t>
            </a:r>
            <a:endParaRPr lang="zh-CN" altLang="en-US" sz="2400" dirty="0">
              <a:solidFill>
                <a:srgbClr val="005D9D"/>
              </a:solidFill>
            </a:endParaRPr>
          </a:p>
        </p:txBody>
      </p:sp>
      <p:grpSp>
        <p:nvGrpSpPr>
          <p:cNvPr id="11" name="组合 10">
            <a:extLst>
              <a:ext uri="{FF2B5EF4-FFF2-40B4-BE49-F238E27FC236}">
                <a16:creationId xmlns:a16="http://schemas.microsoft.com/office/drawing/2014/main" id="{9A50E55E-C86F-4FA1-BDE1-54224AD8004F}"/>
              </a:ext>
            </a:extLst>
          </p:cNvPr>
          <p:cNvGrpSpPr/>
          <p:nvPr/>
        </p:nvGrpSpPr>
        <p:grpSpPr>
          <a:xfrm>
            <a:off x="1708339" y="1899553"/>
            <a:ext cx="3494912" cy="1221223"/>
            <a:chOff x="384666" y="742015"/>
            <a:chExt cx="11659926" cy="10074859"/>
          </a:xfrm>
        </p:grpSpPr>
        <p:sp>
          <p:nvSpPr>
            <p:cNvPr id="12" name="矩形 11">
              <a:extLst>
                <a:ext uri="{FF2B5EF4-FFF2-40B4-BE49-F238E27FC236}">
                  <a16:creationId xmlns:a16="http://schemas.microsoft.com/office/drawing/2014/main" id="{8B6E3FFC-2214-49C9-BD08-131B70696E3B}"/>
                </a:ext>
              </a:extLst>
            </p:cNvPr>
            <p:cNvSpPr/>
            <p:nvPr/>
          </p:nvSpPr>
          <p:spPr>
            <a:xfrm>
              <a:off x="384666" y="770901"/>
              <a:ext cx="11031479" cy="10045973"/>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2400" b="1" dirty="0">
                  <a:latin typeface="华文楷体" panose="02010600040101010101" pitchFamily="2" charset="-122"/>
                  <a:ea typeface="华文楷体" panose="02010600040101010101" pitchFamily="2" charset="-122"/>
                </a:rPr>
                <a:t>Code Too Long</a:t>
              </a:r>
            </a:p>
            <a:p>
              <a:pPr marL="285750" indent="-285750">
                <a:lnSpc>
                  <a:spcPct val="150000"/>
                </a:lnSpc>
                <a:buFont typeface="Arial" panose="020B0604020202020204" pitchFamily="34" charset="0"/>
                <a:buChar char="•"/>
              </a:pPr>
              <a:r>
                <a:rPr lang="en-US" altLang="zh-CN" sz="2400" b="1" dirty="0">
                  <a:solidFill>
                    <a:srgbClr val="186CA6"/>
                  </a:solidFill>
                  <a:latin typeface="华文楷体" panose="02010600040101010101" pitchFamily="2" charset="-122"/>
                  <a:ea typeface="华文楷体" panose="02010600040101010101" pitchFamily="2" charset="-122"/>
                </a:rPr>
                <a:t>Compile Error (CE)</a:t>
              </a: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1600" b="1" dirty="0">
                <a:solidFill>
                  <a:srgbClr val="186CA6"/>
                </a:solidFill>
                <a:latin typeface="华文楷体" panose="02010600040101010101" pitchFamily="2" charset="-122"/>
                <a:ea typeface="华文楷体" panose="02010600040101010101" pitchFamily="2" charset="-122"/>
              </a:endParaRPr>
            </a:p>
          </p:txBody>
        </p:sp>
        <p:sp>
          <p:nvSpPr>
            <p:cNvPr id="13" name="矩形: 圆角 12">
              <a:extLst>
                <a:ext uri="{FF2B5EF4-FFF2-40B4-BE49-F238E27FC236}">
                  <a16:creationId xmlns:a16="http://schemas.microsoft.com/office/drawing/2014/main" id="{E6B9729B-D18D-46AB-9841-D2B8F2F280F7}"/>
                </a:ext>
              </a:extLst>
            </p:cNvPr>
            <p:cNvSpPr/>
            <p:nvPr/>
          </p:nvSpPr>
          <p:spPr>
            <a:xfrm>
              <a:off x="384666" y="742015"/>
              <a:ext cx="11659926" cy="10045972"/>
            </a:xfrm>
            <a:prstGeom prst="roundRect">
              <a:avLst>
                <a:gd name="adj" fmla="val 6289"/>
              </a:avLst>
            </a:prstGeom>
            <a:noFill/>
            <a:ln w="19050">
              <a:solidFill>
                <a:srgbClr val="186C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17" name="组合 16">
            <a:extLst>
              <a:ext uri="{FF2B5EF4-FFF2-40B4-BE49-F238E27FC236}">
                <a16:creationId xmlns:a16="http://schemas.microsoft.com/office/drawing/2014/main" id="{4AC82316-9039-44D7-B977-DFA831603CAF}"/>
              </a:ext>
            </a:extLst>
          </p:cNvPr>
          <p:cNvGrpSpPr/>
          <p:nvPr/>
        </p:nvGrpSpPr>
        <p:grpSpPr>
          <a:xfrm>
            <a:off x="1112672" y="3702014"/>
            <a:ext cx="5086323" cy="4861427"/>
            <a:chOff x="384666" y="742011"/>
            <a:chExt cx="11659926" cy="40728258"/>
          </a:xfrm>
        </p:grpSpPr>
        <p:sp>
          <p:nvSpPr>
            <p:cNvPr id="18" name="矩形 17">
              <a:extLst>
                <a:ext uri="{FF2B5EF4-FFF2-40B4-BE49-F238E27FC236}">
                  <a16:creationId xmlns:a16="http://schemas.microsoft.com/office/drawing/2014/main" id="{0D33D0B9-35BC-4CC1-8F37-A7EC9A580DD7}"/>
                </a:ext>
              </a:extLst>
            </p:cNvPr>
            <p:cNvSpPr/>
            <p:nvPr/>
          </p:nvSpPr>
          <p:spPr>
            <a:xfrm>
              <a:off x="384666" y="766985"/>
              <a:ext cx="11031478" cy="40703284"/>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2400" b="1" dirty="0">
                  <a:solidFill>
                    <a:schemeClr val="accent6">
                      <a:lumMod val="75000"/>
                    </a:schemeClr>
                  </a:solidFill>
                  <a:latin typeface="华文楷体" panose="02010600040101010101" pitchFamily="2" charset="-122"/>
                  <a:ea typeface="华文楷体" panose="02010600040101010101" pitchFamily="2" charset="-122"/>
                </a:rPr>
                <a:t>Runtime Error (RE)</a:t>
              </a:r>
            </a:p>
            <a:p>
              <a:pPr marL="285750" indent="-285750">
                <a:lnSpc>
                  <a:spcPct val="150000"/>
                </a:lnSpc>
                <a:buFont typeface="Arial" panose="020B0604020202020204" pitchFamily="34" charset="0"/>
                <a:buChar char="•"/>
              </a:pPr>
              <a:r>
                <a:rPr lang="en-US" altLang="zh-CN" sz="2400" b="1" dirty="0">
                  <a:solidFill>
                    <a:schemeClr val="accent6">
                      <a:lumMod val="75000"/>
                    </a:schemeClr>
                  </a:solidFill>
                  <a:latin typeface="华文楷体" panose="02010600040101010101" pitchFamily="2" charset="-122"/>
                  <a:ea typeface="华文楷体" panose="02010600040101010101" pitchFamily="2" charset="-122"/>
                </a:rPr>
                <a:t>Memory Limit Exceeded (MLE)</a:t>
              </a:r>
            </a:p>
            <a:p>
              <a:pPr marL="285750" indent="-285750">
                <a:lnSpc>
                  <a:spcPct val="150000"/>
                </a:lnSpc>
                <a:buFont typeface="Arial" panose="020B0604020202020204" pitchFamily="34" charset="0"/>
                <a:buChar char="•"/>
              </a:pPr>
              <a:r>
                <a:rPr lang="en-US" altLang="zh-CN" sz="2400" b="1" dirty="0">
                  <a:solidFill>
                    <a:schemeClr val="accent6">
                      <a:lumMod val="75000"/>
                    </a:schemeClr>
                  </a:solidFill>
                  <a:latin typeface="华文楷体" panose="02010600040101010101" pitchFamily="2" charset="-122"/>
                  <a:ea typeface="华文楷体" panose="02010600040101010101" pitchFamily="2" charset="-122"/>
                </a:rPr>
                <a:t>Output Limit Exceeded (OLE)</a:t>
              </a:r>
            </a:p>
            <a:p>
              <a:pPr marL="285750" indent="-285750">
                <a:lnSpc>
                  <a:spcPct val="150000"/>
                </a:lnSpc>
                <a:buFont typeface="Arial" panose="020B0604020202020204" pitchFamily="34" charset="0"/>
                <a:buChar char="•"/>
              </a:pPr>
              <a:r>
                <a:rPr lang="en-US" altLang="zh-CN" sz="2400" b="1" dirty="0">
                  <a:solidFill>
                    <a:schemeClr val="accent6">
                      <a:lumMod val="75000"/>
                    </a:schemeClr>
                  </a:solidFill>
                  <a:latin typeface="华文楷体" panose="02010600040101010101" pitchFamily="2" charset="-122"/>
                  <a:ea typeface="华文楷体" panose="02010600040101010101" pitchFamily="2" charset="-122"/>
                </a:rPr>
                <a:t>Time Limit Exceeded (TLE)</a:t>
              </a: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1600" b="1" dirty="0">
                <a:solidFill>
                  <a:srgbClr val="186CA6"/>
                </a:solidFill>
                <a:latin typeface="华文楷体" panose="02010600040101010101" pitchFamily="2" charset="-122"/>
                <a:ea typeface="华文楷体" panose="02010600040101010101" pitchFamily="2" charset="-122"/>
              </a:endParaRPr>
            </a:p>
          </p:txBody>
        </p:sp>
        <p:sp>
          <p:nvSpPr>
            <p:cNvPr id="19" name="矩形: 圆角 18">
              <a:extLst>
                <a:ext uri="{FF2B5EF4-FFF2-40B4-BE49-F238E27FC236}">
                  <a16:creationId xmlns:a16="http://schemas.microsoft.com/office/drawing/2014/main" id="{7E3D2F85-3BEC-449F-A411-431B10A6CB82}"/>
                </a:ext>
              </a:extLst>
            </p:cNvPr>
            <p:cNvSpPr/>
            <p:nvPr/>
          </p:nvSpPr>
          <p:spPr>
            <a:xfrm>
              <a:off x="384666" y="742011"/>
              <a:ext cx="11659926" cy="20517737"/>
            </a:xfrm>
            <a:prstGeom prst="roundRect">
              <a:avLst>
                <a:gd name="adj" fmla="val 6289"/>
              </a:avLst>
            </a:prstGeom>
            <a:noFill/>
            <a:ln w="19050">
              <a:solidFill>
                <a:srgbClr val="186C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20" name="组合 19">
            <a:extLst>
              <a:ext uri="{FF2B5EF4-FFF2-40B4-BE49-F238E27FC236}">
                <a16:creationId xmlns:a16="http://schemas.microsoft.com/office/drawing/2014/main" id="{0ECA8A87-513D-4D78-998B-47B8490E214C}"/>
              </a:ext>
            </a:extLst>
          </p:cNvPr>
          <p:cNvGrpSpPr/>
          <p:nvPr/>
        </p:nvGrpSpPr>
        <p:grpSpPr>
          <a:xfrm>
            <a:off x="6989980" y="4210230"/>
            <a:ext cx="3744854" cy="1277595"/>
            <a:chOff x="384666" y="742011"/>
            <a:chExt cx="11659926" cy="97199340"/>
          </a:xfrm>
        </p:grpSpPr>
        <p:sp>
          <p:nvSpPr>
            <p:cNvPr id="21" name="矩形 20">
              <a:extLst>
                <a:ext uri="{FF2B5EF4-FFF2-40B4-BE49-F238E27FC236}">
                  <a16:creationId xmlns:a16="http://schemas.microsoft.com/office/drawing/2014/main" id="{BFC5C7A2-520D-4E9B-A4DC-2C0FF78A65C9}"/>
                </a:ext>
              </a:extLst>
            </p:cNvPr>
            <p:cNvSpPr/>
            <p:nvPr/>
          </p:nvSpPr>
          <p:spPr>
            <a:xfrm>
              <a:off x="384666" y="766974"/>
              <a:ext cx="11031478" cy="83740775"/>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2400" b="1" dirty="0">
                  <a:solidFill>
                    <a:srgbClr val="00B050"/>
                  </a:solidFill>
                  <a:latin typeface="华文楷体" panose="02010600040101010101" pitchFamily="2" charset="-122"/>
                  <a:ea typeface="华文楷体" panose="02010600040101010101" pitchFamily="2" charset="-122"/>
                </a:rPr>
                <a:t>Wrong Answer (WA)</a:t>
              </a:r>
            </a:p>
            <a:p>
              <a:pPr marL="285750" indent="-285750">
                <a:lnSpc>
                  <a:spcPct val="150000"/>
                </a:lnSpc>
                <a:buFont typeface="Arial" panose="020B0604020202020204" pitchFamily="34" charset="0"/>
                <a:buChar char="•"/>
              </a:pPr>
              <a:r>
                <a:rPr lang="en-US" altLang="zh-CN" sz="2400" b="1" dirty="0">
                  <a:solidFill>
                    <a:srgbClr val="00B050"/>
                  </a:solidFill>
                  <a:latin typeface="华文楷体" panose="02010600040101010101" pitchFamily="2" charset="-122"/>
                  <a:ea typeface="华文楷体" panose="02010600040101010101" pitchFamily="2" charset="-122"/>
                </a:rPr>
                <a:t>Presentation Error (PE)</a:t>
              </a: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1600" b="1" dirty="0">
                <a:solidFill>
                  <a:srgbClr val="186CA6"/>
                </a:solidFill>
                <a:latin typeface="华文楷体" panose="02010600040101010101" pitchFamily="2" charset="-122"/>
                <a:ea typeface="华文楷体" panose="02010600040101010101" pitchFamily="2" charset="-122"/>
              </a:endParaRPr>
            </a:p>
          </p:txBody>
        </p:sp>
        <p:sp>
          <p:nvSpPr>
            <p:cNvPr id="22" name="矩形: 圆角 21">
              <a:extLst>
                <a:ext uri="{FF2B5EF4-FFF2-40B4-BE49-F238E27FC236}">
                  <a16:creationId xmlns:a16="http://schemas.microsoft.com/office/drawing/2014/main" id="{8EF4A352-1290-4618-8991-E2BF22189221}"/>
                </a:ext>
              </a:extLst>
            </p:cNvPr>
            <p:cNvSpPr/>
            <p:nvPr/>
          </p:nvSpPr>
          <p:spPr>
            <a:xfrm>
              <a:off x="384666" y="742011"/>
              <a:ext cx="11659926" cy="97199340"/>
            </a:xfrm>
            <a:prstGeom prst="roundRect">
              <a:avLst>
                <a:gd name="adj" fmla="val 6289"/>
              </a:avLst>
            </a:prstGeom>
            <a:noFill/>
            <a:ln w="19050">
              <a:solidFill>
                <a:srgbClr val="186C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23" name="箭头: 右 22">
            <a:extLst>
              <a:ext uri="{FF2B5EF4-FFF2-40B4-BE49-F238E27FC236}">
                <a16:creationId xmlns:a16="http://schemas.microsoft.com/office/drawing/2014/main" id="{632AF0F5-9FED-44B0-A852-64837B5B87B7}"/>
              </a:ext>
            </a:extLst>
          </p:cNvPr>
          <p:cNvSpPr/>
          <p:nvPr/>
        </p:nvSpPr>
        <p:spPr>
          <a:xfrm rot="5400000">
            <a:off x="3167255" y="3191073"/>
            <a:ext cx="388709" cy="440644"/>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8948A5E6-ADCA-495F-9811-9B532791B871}"/>
              </a:ext>
            </a:extLst>
          </p:cNvPr>
          <p:cNvSpPr/>
          <p:nvPr/>
        </p:nvSpPr>
        <p:spPr>
          <a:xfrm>
            <a:off x="6288948" y="4674079"/>
            <a:ext cx="621864" cy="440644"/>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25" name="箭头: 右 24">
            <a:extLst>
              <a:ext uri="{FF2B5EF4-FFF2-40B4-BE49-F238E27FC236}">
                <a16:creationId xmlns:a16="http://schemas.microsoft.com/office/drawing/2014/main" id="{E6F3F896-A793-4EF7-8665-0F0DD34E2963}"/>
              </a:ext>
            </a:extLst>
          </p:cNvPr>
          <p:cNvSpPr/>
          <p:nvPr/>
        </p:nvSpPr>
        <p:spPr>
          <a:xfrm rot="16200000">
            <a:off x="8777024" y="3488432"/>
            <a:ext cx="609073" cy="440644"/>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grpSp>
        <p:nvGrpSpPr>
          <p:cNvPr id="26" name="组合 25">
            <a:extLst>
              <a:ext uri="{FF2B5EF4-FFF2-40B4-BE49-F238E27FC236}">
                <a16:creationId xmlns:a16="http://schemas.microsoft.com/office/drawing/2014/main" id="{CAC26406-D8BB-4D7C-A7A5-BB9025739642}"/>
              </a:ext>
            </a:extLst>
          </p:cNvPr>
          <p:cNvGrpSpPr/>
          <p:nvPr/>
        </p:nvGrpSpPr>
        <p:grpSpPr>
          <a:xfrm>
            <a:off x="7828729" y="2201889"/>
            <a:ext cx="2505662" cy="1015151"/>
            <a:chOff x="384666" y="742015"/>
            <a:chExt cx="11659926" cy="62581678"/>
          </a:xfrm>
        </p:grpSpPr>
        <p:sp>
          <p:nvSpPr>
            <p:cNvPr id="27" name="矩形 26">
              <a:extLst>
                <a:ext uri="{FF2B5EF4-FFF2-40B4-BE49-F238E27FC236}">
                  <a16:creationId xmlns:a16="http://schemas.microsoft.com/office/drawing/2014/main" id="{1242DD92-5870-4969-804A-7FFBDB4D72A7}"/>
                </a:ext>
              </a:extLst>
            </p:cNvPr>
            <p:cNvSpPr/>
            <p:nvPr/>
          </p:nvSpPr>
          <p:spPr>
            <a:xfrm>
              <a:off x="384666" y="770905"/>
              <a:ext cx="11031479" cy="62552788"/>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2000" b="1" dirty="0">
                  <a:solidFill>
                    <a:srgbClr val="FF0000"/>
                  </a:solidFill>
                  <a:latin typeface="华文楷体" panose="02010600040101010101" pitchFamily="2" charset="-122"/>
                  <a:ea typeface="华文楷体" panose="02010600040101010101" pitchFamily="2" charset="-122"/>
                </a:rPr>
                <a:t>Accepted</a:t>
              </a:r>
            </a:p>
            <a:p>
              <a:pPr marL="285750" indent="-285750">
                <a:lnSpc>
                  <a:spcPct val="150000"/>
                </a:lnSpc>
                <a:buFont typeface="Arial" panose="020B0604020202020204" pitchFamily="34" charset="0"/>
                <a:buChar char="•"/>
              </a:pPr>
              <a:r>
                <a:rPr lang="en-US" altLang="zh-CN" sz="2000" b="1" dirty="0">
                  <a:solidFill>
                    <a:srgbClr val="FF0000"/>
                  </a:solidFill>
                  <a:latin typeface="华文楷体" panose="02010600040101010101" pitchFamily="2" charset="-122"/>
                  <a:ea typeface="华文楷体" panose="02010600040101010101" pitchFamily="2" charset="-122"/>
                </a:rPr>
                <a:t>Yes</a:t>
              </a: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2400" b="1" dirty="0">
                <a:solidFill>
                  <a:srgbClr val="186CA6"/>
                </a:solidFill>
                <a:latin typeface="华文楷体" panose="02010600040101010101" pitchFamily="2" charset="-122"/>
                <a:ea typeface="华文楷体" panose="02010600040101010101" pitchFamily="2" charset="-122"/>
              </a:endParaRPr>
            </a:p>
            <a:p>
              <a:pPr marL="285750" indent="-285750">
                <a:lnSpc>
                  <a:spcPct val="150000"/>
                </a:lnSpc>
                <a:buFont typeface="Arial" panose="020B0604020202020204" pitchFamily="34" charset="0"/>
                <a:buChar char="•"/>
              </a:pPr>
              <a:endParaRPr lang="en-US" altLang="zh-CN" sz="1600" b="1" dirty="0">
                <a:solidFill>
                  <a:srgbClr val="186CA6"/>
                </a:solidFill>
                <a:latin typeface="华文楷体" panose="02010600040101010101" pitchFamily="2" charset="-122"/>
                <a:ea typeface="华文楷体" panose="02010600040101010101" pitchFamily="2" charset="-122"/>
              </a:endParaRPr>
            </a:p>
          </p:txBody>
        </p:sp>
        <p:sp>
          <p:nvSpPr>
            <p:cNvPr id="28" name="矩形: 圆角 27">
              <a:extLst>
                <a:ext uri="{FF2B5EF4-FFF2-40B4-BE49-F238E27FC236}">
                  <a16:creationId xmlns:a16="http://schemas.microsoft.com/office/drawing/2014/main" id="{17BBFD39-7977-429B-9DD4-A659FA0F7F11}"/>
                </a:ext>
              </a:extLst>
            </p:cNvPr>
            <p:cNvSpPr/>
            <p:nvPr/>
          </p:nvSpPr>
          <p:spPr>
            <a:xfrm>
              <a:off x="384666" y="742015"/>
              <a:ext cx="11659926" cy="62552788"/>
            </a:xfrm>
            <a:prstGeom prst="roundRect">
              <a:avLst>
                <a:gd name="adj" fmla="val 6289"/>
              </a:avLst>
            </a:prstGeom>
            <a:noFill/>
            <a:ln w="19050">
              <a:solidFill>
                <a:srgbClr val="186C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33" name="TextBox 36">
            <a:extLst>
              <a:ext uri="{FF2B5EF4-FFF2-40B4-BE49-F238E27FC236}">
                <a16:creationId xmlns:a16="http://schemas.microsoft.com/office/drawing/2014/main" id="{4149EE46-B4EF-44B2-9E10-E909CF7DA5A8}"/>
              </a:ext>
            </a:extLst>
          </p:cNvPr>
          <p:cNvSpPr txBox="1"/>
          <p:nvPr/>
        </p:nvSpPr>
        <p:spPr>
          <a:xfrm>
            <a:off x="334800" y="320400"/>
            <a:ext cx="5380383" cy="584775"/>
          </a:xfrm>
          <a:prstGeom prst="rect">
            <a:avLst/>
          </a:prstGeom>
          <a:noFill/>
        </p:spPr>
        <p:txBody>
          <a:bodyPr wrap="square" rtlCol="0">
            <a:spAutoFit/>
          </a:bodyPr>
          <a:lstStyle/>
          <a:p>
            <a:pPr marL="571500" indent="-571500">
              <a:buFont typeface="Wingdings" panose="05000000000000000000" pitchFamily="2" charset="2"/>
              <a:buChar char="n"/>
            </a:pPr>
            <a:r>
              <a:rPr lang="zh-CN" altLang="en-US" sz="3200" b="1" dirty="0">
                <a:solidFill>
                  <a:srgbClr val="C00000"/>
                </a:solidFill>
                <a:latin typeface="微软雅黑" panose="020B0503020204020204" pitchFamily="34" charset="-122"/>
                <a:ea typeface="微软雅黑" panose="020B0503020204020204" pitchFamily="34" charset="-122"/>
              </a:rPr>
              <a:t>在线评测平台 </a:t>
            </a: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en-US" sz="3200" b="1" dirty="0">
                <a:solidFill>
                  <a:srgbClr val="C00000"/>
                </a:solidFill>
                <a:latin typeface="微软雅黑" panose="020B0503020204020204" pitchFamily="34" charset="-122"/>
                <a:ea typeface="微软雅黑" panose="020B0503020204020204" pitchFamily="34" charset="-122"/>
              </a:rPr>
              <a:t>评测原理</a:t>
            </a: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33380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基本输入输出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输入的数据类型</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322729C-1179-4B4C-843D-272796EB0B0A}"/>
              </a:ext>
            </a:extLst>
          </p:cNvPr>
          <p:cNvSpPr/>
          <p:nvPr/>
        </p:nvSpPr>
        <p:spPr>
          <a:xfrm>
            <a:off x="504001" y="927889"/>
            <a:ext cx="10558347" cy="5159874"/>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整形：</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int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long </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long</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等</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浮点型：</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float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double</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等</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一次多个输入</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cin</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&gt;&gt; a &gt;&gt; b;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scanf</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d%d</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”,&amp;</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a,&amp;b</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p:txBody>
      </p:sp>
      <p:sp>
        <p:nvSpPr>
          <p:cNvPr id="2" name="文本框 1">
            <a:extLst>
              <a:ext uri="{FF2B5EF4-FFF2-40B4-BE49-F238E27FC236}">
                <a16:creationId xmlns:a16="http://schemas.microsoft.com/office/drawing/2014/main" id="{61B6750E-930B-4131-AF91-FEE62B04469E}"/>
              </a:ext>
            </a:extLst>
          </p:cNvPr>
          <p:cNvSpPr txBox="1"/>
          <p:nvPr/>
        </p:nvSpPr>
        <p:spPr>
          <a:xfrm>
            <a:off x="1403926" y="1782619"/>
            <a:ext cx="3463637"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int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a_int</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cin</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&gt;&gt;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a_int</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long long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a_long</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cin</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&gt;&gt;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a_long</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endParaRPr kumimoji="0" lang="zh-CN" altLang="en-US"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endParaRPr>
          </a:p>
        </p:txBody>
      </p:sp>
      <p:sp>
        <p:nvSpPr>
          <p:cNvPr id="5" name="文本框 4">
            <a:extLst>
              <a:ext uri="{FF2B5EF4-FFF2-40B4-BE49-F238E27FC236}">
                <a16:creationId xmlns:a16="http://schemas.microsoft.com/office/drawing/2014/main" id="{CFDB25E0-9D48-43A4-A8D9-0F1AE6C5DA0F}"/>
              </a:ext>
            </a:extLst>
          </p:cNvPr>
          <p:cNvSpPr txBox="1"/>
          <p:nvPr/>
        </p:nvSpPr>
        <p:spPr>
          <a:xfrm>
            <a:off x="6451599" y="1767147"/>
            <a:ext cx="3985492"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int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a_int</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scanf</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(“%d”,&amp;</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a_int</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long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long</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a_long</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scanf</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lld</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”,&amp;</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a_long</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endParaRPr kumimoji="0" lang="zh-CN" altLang="en-US"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endParaRPr>
          </a:p>
        </p:txBody>
      </p:sp>
      <p:sp>
        <p:nvSpPr>
          <p:cNvPr id="6" name="文本框 5">
            <a:extLst>
              <a:ext uri="{FF2B5EF4-FFF2-40B4-BE49-F238E27FC236}">
                <a16:creationId xmlns:a16="http://schemas.microsoft.com/office/drawing/2014/main" id="{24D021DC-1D82-445C-9FE4-54BBC650F827}"/>
              </a:ext>
            </a:extLst>
          </p:cNvPr>
          <p:cNvSpPr txBox="1"/>
          <p:nvPr/>
        </p:nvSpPr>
        <p:spPr>
          <a:xfrm>
            <a:off x="1403925" y="3920837"/>
            <a:ext cx="3463637"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float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a_float</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cin</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&gt;&gt;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a_float</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double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a_double</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cin</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&gt;&gt;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a_double</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endParaRPr kumimoji="0" lang="zh-CN" altLang="en-US"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endParaRPr>
          </a:p>
        </p:txBody>
      </p:sp>
      <p:sp>
        <p:nvSpPr>
          <p:cNvPr id="7" name="文本框 6">
            <a:extLst>
              <a:ext uri="{FF2B5EF4-FFF2-40B4-BE49-F238E27FC236}">
                <a16:creationId xmlns:a16="http://schemas.microsoft.com/office/drawing/2014/main" id="{E0A33CA2-E1F3-49A0-A7C1-FB388DAB7761}"/>
              </a:ext>
            </a:extLst>
          </p:cNvPr>
          <p:cNvSpPr txBox="1"/>
          <p:nvPr/>
        </p:nvSpPr>
        <p:spPr>
          <a:xfrm>
            <a:off x="6451598" y="3833091"/>
            <a:ext cx="3985492"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float</a:t>
            </a:r>
            <a:r>
              <a:rPr kumimoji="0" lang="en-US" altLang="zh-CN" sz="24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a_float</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scanf</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(“%f”,&amp;</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a_float</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double </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a_double</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scanf</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lf</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”,&amp;</a:t>
            </a:r>
            <a:r>
              <a:rPr kumimoji="0" lang="en-US" altLang="zh-CN" sz="2400" b="0"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a_double</a:t>
            </a:r>
            <a:r>
              <a:rPr kumimoji="0" lang="en-US" altLang="zh-CN"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endParaRPr kumimoji="0" lang="zh-CN" altLang="en-US" sz="24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endParaRPr>
          </a:p>
        </p:txBody>
      </p:sp>
    </p:spTree>
    <p:extLst>
      <p:ext uri="{BB962C8B-B14F-4D97-AF65-F5344CB8AC3E}">
        <p14:creationId xmlns:p14="http://schemas.microsoft.com/office/powerpoint/2010/main" val="3223007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基本输入输出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字符串的定义和输入</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F94196E9-0463-44BB-9031-2286ACF9FE63}"/>
              </a:ext>
            </a:extLst>
          </p:cNvPr>
          <p:cNvSpPr/>
          <p:nvPr/>
        </p:nvSpPr>
        <p:spPr>
          <a:xfrm>
            <a:off x="334800" y="768758"/>
            <a:ext cx="11522400" cy="5037213"/>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字符串：由字符构成的数组（字符数组）</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定义：</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char str[10001];</a:t>
            </a:r>
          </a:p>
          <a:p>
            <a:pPr marL="1714500" marR="0" lvl="3"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表示一万长的字符数组，用于存储长度不大于一万的字符串（</a:t>
            </a:r>
            <a:r>
              <a:rPr kumimoji="0" lang="zh-CN" altLang="en-US" sz="20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定义数组时，一般开得足够长</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比题目中要求的长度多一些</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，建议用常量定义数组长度）</a:t>
            </a:r>
            <a:endPar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输入：</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714500" marR="0" lvl="3"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cin</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&gt;&gt; str; </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scanf</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s”,str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a:t>
            </a:r>
          </a:p>
          <a:p>
            <a:pPr marL="1714500" marR="0" lvl="3"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整行输入：</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cin.getline</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(str,10000,’\n’);</a:t>
            </a:r>
            <a:r>
              <a:rPr kumimoji="0" lang="en-US" altLang="zh-CN" sz="18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t>
            </a:r>
            <a:r>
              <a:rPr kumimoji="0" lang="zh-CN" altLang="en-US" sz="18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注意输入流中的空格及换行</a:t>
            </a:r>
            <a:r>
              <a:rPr kumimoji="0" lang="en-US" altLang="zh-CN" sz="18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20320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基本输入输出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字符串的常用操作</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F94196E9-0463-44BB-9031-2286ACF9FE63}"/>
              </a:ext>
            </a:extLst>
          </p:cNvPr>
          <p:cNvSpPr/>
          <p:nvPr/>
        </p:nvSpPr>
        <p:spPr>
          <a:xfrm>
            <a:off x="334800" y="758989"/>
            <a:ext cx="10771165" cy="5898987"/>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strlen</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(str) :</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返回字符数组的长度，从头到空字符</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str[</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i</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：取字符数组第</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i</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位的元素</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strcmp</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(str1,str2)</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：比价两个字符串大小，为</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0</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表示两个字符串相等</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strcpy,strcat,strstr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：复制、连接、查找</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string</a:t>
            </a: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类：是字符数组的封装，提供了更强大的功能，操作字符串更方便，但是效率低于直接操作字符数组</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输入：</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string str; </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cin</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 &gt;&gt; str;</a:t>
            </a: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整行输入：</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getline</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err="1">
                <a:ln>
                  <a:noFill/>
                </a:ln>
                <a:solidFill>
                  <a:srgbClr val="014B88"/>
                </a:solidFill>
                <a:effectLst/>
                <a:uLnTx/>
                <a:uFillTx/>
                <a:latin typeface="仿宋_GB2312"/>
                <a:ea typeface="等线" panose="02010600030101010101" pitchFamily="2" charset="-122"/>
                <a:cs typeface="Times New Roman" panose="02020603050405020304" pitchFamily="18" charset="0"/>
              </a:rPr>
              <a:t>cin,str</a:t>
            </a:r>
            <a:r>
              <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88596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基本输入输出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不同的输入方式</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F94196E9-0463-44BB-9031-2286ACF9FE63}"/>
              </a:ext>
            </a:extLst>
          </p:cNvPr>
          <p:cNvSpPr/>
          <p:nvPr/>
        </p:nvSpPr>
        <p:spPr>
          <a:xfrm>
            <a:off x="334800" y="972053"/>
            <a:ext cx="10771165" cy="5300554"/>
          </a:xfrm>
          <a:prstGeom prst="rect">
            <a:avLst/>
          </a:prstGeom>
        </p:spPr>
        <p:txBody>
          <a:bodyPr wrap="square">
            <a:spAutoFit/>
          </a:bodyPr>
          <a:lstStyle/>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例：题目要求输入两个数，求两个数的和</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单组样例</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输入描述：给两个数，</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b</a:t>
            </a: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示例输入：</a:t>
            </a:r>
            <a:endPar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多组样例</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要求输入测试样例数量</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输入描述：有多组测试样例，首先输入测试样例的数量，再输入每组样例中的两个数</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b</a:t>
            </a: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示例输入：</a:t>
            </a:r>
            <a:endPar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09F5F79F-E711-4EBD-887A-139D37B0EBB9}"/>
              </a:ext>
            </a:extLst>
          </p:cNvPr>
          <p:cNvSpPr txBox="1"/>
          <p:nvPr/>
        </p:nvSpPr>
        <p:spPr>
          <a:xfrm>
            <a:off x="3113103" y="5434926"/>
            <a:ext cx="612668"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1 2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3 4</a:t>
            </a:r>
            <a:endParaRPr kumimoji="0" lang="zh-CN" altLang="en-US"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5" name="文本框 4">
            <a:extLst>
              <a:ext uri="{FF2B5EF4-FFF2-40B4-BE49-F238E27FC236}">
                <a16:creationId xmlns:a16="http://schemas.microsoft.com/office/drawing/2014/main" id="{B8F951D3-BE39-478C-8099-1FCB4CC26046}"/>
              </a:ext>
            </a:extLst>
          </p:cNvPr>
          <p:cNvSpPr txBox="1"/>
          <p:nvPr/>
        </p:nvSpPr>
        <p:spPr>
          <a:xfrm>
            <a:off x="3043562" y="2855468"/>
            <a:ext cx="612668"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1 2</a:t>
            </a:r>
          </a:p>
        </p:txBody>
      </p:sp>
      <p:sp>
        <p:nvSpPr>
          <p:cNvPr id="6" name="文本框 5">
            <a:extLst>
              <a:ext uri="{FF2B5EF4-FFF2-40B4-BE49-F238E27FC236}">
                <a16:creationId xmlns:a16="http://schemas.microsoft.com/office/drawing/2014/main" id="{7D1AF3AF-B7ED-467E-B84C-84B9C6E44A41}"/>
              </a:ext>
            </a:extLst>
          </p:cNvPr>
          <p:cNvSpPr txBox="1"/>
          <p:nvPr/>
        </p:nvSpPr>
        <p:spPr>
          <a:xfrm>
            <a:off x="5058792" y="4985268"/>
            <a:ext cx="5112297" cy="193899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cin</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&gt;&gt; 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for (int i = 0;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i</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&lt; T;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i</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cin</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&gt;&gt; a &gt;&gt;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cout</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&lt;&lt; a + b &lt;&lt;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endl</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endParaRPr kumimoji="0" lang="zh-CN" altLang="en-US"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endParaRPr>
          </a:p>
        </p:txBody>
      </p:sp>
      <p:sp>
        <p:nvSpPr>
          <p:cNvPr id="7" name="文本框 6">
            <a:extLst>
              <a:ext uri="{FF2B5EF4-FFF2-40B4-BE49-F238E27FC236}">
                <a16:creationId xmlns:a16="http://schemas.microsoft.com/office/drawing/2014/main" id="{B3B8E2CB-D7FE-4760-9D05-C7775A326B4B}"/>
              </a:ext>
            </a:extLst>
          </p:cNvPr>
          <p:cNvSpPr txBox="1"/>
          <p:nvPr/>
        </p:nvSpPr>
        <p:spPr>
          <a:xfrm>
            <a:off x="5058792" y="2372492"/>
            <a:ext cx="3922869"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cin</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&gt;&gt; a &gt;&gt;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cout</a:t>
            </a:r>
            <a:r>
              <a:rPr kumimoji="0" lang="zh-CN" altLang="en-US"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&lt;&lt;</a:t>
            </a:r>
            <a:r>
              <a:rPr kumimoji="0" lang="zh-CN" altLang="en-US"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a:t>
            </a:r>
            <a:r>
              <a:rPr kumimoji="0" lang="zh-CN" altLang="en-US"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b</a:t>
            </a:r>
            <a:r>
              <a:rPr kumimoji="0" lang="zh-CN" altLang="en-US"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&lt;&lt;</a:t>
            </a:r>
            <a:r>
              <a:rPr kumimoji="0" lang="zh-CN" altLang="en-US"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endl</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endParaRPr kumimoji="0" lang="zh-CN" altLang="en-US"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endParaRPr>
          </a:p>
        </p:txBody>
      </p:sp>
    </p:spTree>
    <p:extLst>
      <p:ext uri="{BB962C8B-B14F-4D97-AF65-F5344CB8AC3E}">
        <p14:creationId xmlns:p14="http://schemas.microsoft.com/office/powerpoint/2010/main" val="567305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基本输入输出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不同的输入方式</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F94196E9-0463-44BB-9031-2286ACF9FE63}"/>
              </a:ext>
            </a:extLst>
          </p:cNvPr>
          <p:cNvSpPr/>
          <p:nvPr/>
        </p:nvSpPr>
        <p:spPr>
          <a:xfrm>
            <a:off x="334800" y="972053"/>
            <a:ext cx="10771165" cy="5300554"/>
          </a:xfrm>
          <a:prstGeom prst="rect">
            <a:avLst/>
          </a:prstGeom>
        </p:spPr>
        <p:txBody>
          <a:bodyPr wrap="square">
            <a:spAutoFit/>
          </a:bodyPr>
          <a:lstStyle/>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例：题目要求输入两个数，求两个数的和</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多组样例</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给出输入终止条件</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输入描述：多组测试样例，每个样例有两个整数</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b</a:t>
            </a: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，当</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为</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-1</a:t>
            </a: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并且</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b</a:t>
            </a: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为</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-1</a:t>
            </a: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的时候终止输入</a:t>
            </a:r>
            <a:endPar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示例输入：</a:t>
            </a:r>
            <a:endPar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多组样例</a:t>
            </a:r>
            <a:r>
              <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输入到文件尾结束</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输入描述：有多组测试样例，每组样例有两个数</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a</a:t>
            </a: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和</a:t>
            </a:r>
            <a:r>
              <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b</a:t>
            </a:r>
          </a:p>
          <a:p>
            <a:pPr marL="1257300" marR="0" lvl="2"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示例输入：</a:t>
            </a:r>
            <a:endParaRPr kumimoji="0" lang="en-US" altLang="zh-CN" sz="20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09F5F79F-E711-4EBD-887A-139D37B0EBB9}"/>
              </a:ext>
            </a:extLst>
          </p:cNvPr>
          <p:cNvSpPr txBox="1"/>
          <p:nvPr/>
        </p:nvSpPr>
        <p:spPr>
          <a:xfrm>
            <a:off x="2905777" y="5601181"/>
            <a:ext cx="612668"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1 2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3 4</a:t>
            </a:r>
            <a:endParaRPr kumimoji="0" lang="zh-CN" altLang="en-US"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5" name="文本框 4">
            <a:extLst>
              <a:ext uri="{FF2B5EF4-FFF2-40B4-BE49-F238E27FC236}">
                <a16:creationId xmlns:a16="http://schemas.microsoft.com/office/drawing/2014/main" id="{B8F951D3-BE39-478C-8099-1FCB4CC26046}"/>
              </a:ext>
            </a:extLst>
          </p:cNvPr>
          <p:cNvSpPr txBox="1"/>
          <p:nvPr/>
        </p:nvSpPr>
        <p:spPr>
          <a:xfrm>
            <a:off x="2959214" y="3329942"/>
            <a:ext cx="920445"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1 2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2 3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-1 -1</a:t>
            </a:r>
          </a:p>
        </p:txBody>
      </p:sp>
      <p:sp>
        <p:nvSpPr>
          <p:cNvPr id="6" name="文本框 5">
            <a:extLst>
              <a:ext uri="{FF2B5EF4-FFF2-40B4-BE49-F238E27FC236}">
                <a16:creationId xmlns:a16="http://schemas.microsoft.com/office/drawing/2014/main" id="{7D1AF3AF-B7ED-467E-B84C-84B9C6E44A41}"/>
              </a:ext>
            </a:extLst>
          </p:cNvPr>
          <p:cNvSpPr txBox="1"/>
          <p:nvPr/>
        </p:nvSpPr>
        <p:spPr>
          <a:xfrm>
            <a:off x="5430815" y="3391590"/>
            <a:ext cx="6131807" cy="34163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while(</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cin</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&gt;&gt; a &gt;&gt; b)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cout</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&lt;&lt; a + b &lt;&lt;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endl</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while(</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scanf</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d%d</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”,&amp;</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a,&amp;b</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r>
              <a:rPr kumimoji="0" lang="zh-CN" altLang="en-US"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EOF)</a:t>
            </a:r>
            <a:r>
              <a:rPr kumimoji="0" lang="zh-CN" altLang="en-US"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cout</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&lt;&lt; a + b &lt;&lt;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endl</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endParaRPr kumimoji="0" lang="zh-CN" altLang="en-US"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endParaRPr>
          </a:p>
        </p:txBody>
      </p:sp>
      <p:sp>
        <p:nvSpPr>
          <p:cNvPr id="7" name="文本框 6">
            <a:extLst>
              <a:ext uri="{FF2B5EF4-FFF2-40B4-BE49-F238E27FC236}">
                <a16:creationId xmlns:a16="http://schemas.microsoft.com/office/drawing/2014/main" id="{B3B8E2CB-D7FE-4760-9D05-C7775A326B4B}"/>
              </a:ext>
            </a:extLst>
          </p:cNvPr>
          <p:cNvSpPr txBox="1"/>
          <p:nvPr/>
        </p:nvSpPr>
        <p:spPr>
          <a:xfrm>
            <a:off x="6274056" y="969180"/>
            <a:ext cx="6035627" cy="15696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while(</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cin</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&gt;&gt; a &gt;&gt; b)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if (a == -1 &amp;&amp; b == -1)break;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cout</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&lt;&lt; a + b &lt;&lt;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endl</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endParaRPr kumimoji="0" lang="zh-CN" altLang="en-US"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endParaRPr>
          </a:p>
        </p:txBody>
      </p:sp>
    </p:spTree>
    <p:extLst>
      <p:ext uri="{BB962C8B-B14F-4D97-AF65-F5344CB8AC3E}">
        <p14:creationId xmlns:p14="http://schemas.microsoft.com/office/powerpoint/2010/main" val="474806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480562" y="409520"/>
            <a:ext cx="349929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4000" b="1" dirty="0">
                <a:solidFill>
                  <a:srgbClr val="002060"/>
                </a:solidFill>
                <a:latin typeface="微软雅黑" panose="020B0503020204020204" pitchFamily="34" charset="-122"/>
                <a:ea typeface="微软雅黑" panose="020B0503020204020204" pitchFamily="34" charset="-122"/>
              </a:rPr>
              <a:t>基础算法思想</a:t>
            </a:r>
            <a:endParaRPr kumimoji="0" lang="zh-CN" altLang="en-US" sz="4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32" name="文本框 31">
            <a:extLst>
              <a:ext uri="{FF2B5EF4-FFF2-40B4-BE49-F238E27FC236}">
                <a16:creationId xmlns:a16="http://schemas.microsoft.com/office/drawing/2014/main" id="{8C1EEC76-9438-42B7-B812-44E28A048970}"/>
              </a:ext>
            </a:extLst>
          </p:cNvPr>
          <p:cNvSpPr txBox="1"/>
          <p:nvPr/>
        </p:nvSpPr>
        <p:spPr>
          <a:xfrm>
            <a:off x="1961783" y="1117406"/>
            <a:ext cx="3715605" cy="4945265"/>
          </a:xfrm>
          <a:prstGeom prst="rect">
            <a:avLst/>
          </a:prstGeom>
          <a:noFill/>
        </p:spPr>
        <p:txBody>
          <a:bodyPr wrap="square" rtlCol="0">
            <a:spAutoFit/>
          </a:bodyPr>
          <a:lstStyle/>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en-US" sz="2667" b="1" kern="100" dirty="0">
                <a:solidFill>
                  <a:srgbClr val="2E75B6"/>
                </a:solidFill>
                <a:latin typeface="微软雅黑" panose="020B0503020204020204" pitchFamily="34" charset="-122"/>
                <a:ea typeface="微软雅黑" panose="020B0503020204020204" pitchFamily="34" charset="-122"/>
                <a:cs typeface="Times New Roman" panose="02020603050405020304" pitchFamily="18" charset="0"/>
              </a:rPr>
              <a:t>算法的概念与描述</a:t>
            </a: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入门算法</a:t>
            </a: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914400" lvl="1" indent="-457200">
              <a:lnSpc>
                <a:spcPct val="150000"/>
              </a:lnSpc>
              <a:buFont typeface="Wingdings" panose="05000000000000000000" pitchFamily="2" charset="2"/>
              <a:buChar char="l"/>
            </a:pPr>
            <a:r>
              <a:rPr lang="zh-CN" altLang="en-US" sz="2667" b="1" kern="100" noProof="0" dirty="0">
                <a:solidFill>
                  <a:srgbClr val="2E75B6"/>
                </a:solidFill>
                <a:latin typeface="微软雅黑" panose="020B0503020204020204" pitchFamily="34" charset="-122"/>
                <a:ea typeface="微软雅黑" panose="020B0503020204020204" pitchFamily="34" charset="-122"/>
                <a:cs typeface="Times New Roman" panose="02020603050405020304" pitchFamily="18" charset="0"/>
              </a:rPr>
              <a:t>枚举</a:t>
            </a: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914400" lvl="1" indent="-457200">
              <a:lnSpc>
                <a:spcPct val="150000"/>
              </a:lnSpc>
              <a:buFont typeface="Wingdings" panose="05000000000000000000" pitchFamily="2" charset="2"/>
              <a:buChar char="l"/>
            </a:pPr>
            <a:r>
              <a:rPr lang="zh-CN" altLang="en-US" sz="2667" b="1" kern="100" dirty="0">
                <a:solidFill>
                  <a:srgbClr val="2E75B6"/>
                </a:solidFill>
                <a:latin typeface="微软雅黑" panose="020B0503020204020204" pitchFamily="34" charset="-122"/>
                <a:ea typeface="微软雅黑" panose="020B0503020204020204" pitchFamily="34" charset="-122"/>
                <a:cs typeface="Times New Roman" panose="02020603050405020304" pitchFamily="18" charset="0"/>
              </a:rPr>
              <a:t>模拟、数值处理</a:t>
            </a: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lang="zh-CN" altLang="en-US" sz="2667" b="1" kern="100" dirty="0">
                <a:solidFill>
                  <a:srgbClr val="2E75B6"/>
                </a:solidFill>
                <a:latin typeface="微软雅黑" panose="020B0503020204020204" pitchFamily="34" charset="-122"/>
                <a:ea typeface="微软雅黑" panose="020B0503020204020204" pitchFamily="34" charset="-122"/>
                <a:cs typeface="Times New Roman" panose="02020603050405020304" pitchFamily="18" charset="0"/>
              </a:rPr>
              <a:t>基础算法</a:t>
            </a: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914400" lvl="1" indent="-457200">
              <a:lnSpc>
                <a:spcPct val="150000"/>
              </a:lnSpc>
              <a:buFont typeface="Wingdings" panose="05000000000000000000" pitchFamily="2" charset="2"/>
              <a:buChar char="l"/>
            </a:pPr>
            <a:r>
              <a:rPr kumimoji="0" lang="zh-CN" altLang="en-US"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贪心</a:t>
            </a: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914400" lvl="1" indent="-457200">
              <a:lnSpc>
                <a:spcPct val="150000"/>
              </a:lnSpc>
              <a:buFont typeface="Wingdings" panose="05000000000000000000" pitchFamily="2" charset="2"/>
              <a:buChar char="l"/>
            </a:pPr>
            <a:r>
              <a:rPr kumimoji="0" lang="zh-CN" altLang="en-US"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递推与递归</a:t>
            </a:r>
          </a:p>
          <a:p>
            <a:pPr marL="914400" lvl="1" indent="-457200">
              <a:lnSpc>
                <a:spcPct val="150000"/>
              </a:lnSpc>
              <a:buFont typeface="Wingdings" panose="05000000000000000000" pitchFamily="2" charset="2"/>
              <a:buChar char="l"/>
            </a:pPr>
            <a:r>
              <a:rPr lang="zh-CN" altLang="en-US" sz="2667" b="1" kern="100" dirty="0">
                <a:solidFill>
                  <a:srgbClr val="2E75B6"/>
                </a:solidFill>
                <a:latin typeface="微软雅黑" panose="020B0503020204020204" pitchFamily="34" charset="-122"/>
                <a:ea typeface="微软雅黑" panose="020B0503020204020204" pitchFamily="34" charset="-122"/>
                <a:cs typeface="Times New Roman" panose="02020603050405020304" pitchFamily="18" charset="0"/>
              </a:rPr>
              <a:t>二分</a:t>
            </a:r>
            <a:endParaRPr kumimoji="0" lang="en-US" altLang="zh-CN" sz="2667" b="1" i="0" u="none" strike="noStrike" kern="100" cap="none" spc="0" normalizeH="0" baseline="0"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D540619C-684D-46D0-9699-86E064FC477D}"/>
              </a:ext>
            </a:extLst>
          </p:cNvPr>
          <p:cNvSpPr txBox="1"/>
          <p:nvPr/>
        </p:nvSpPr>
        <p:spPr>
          <a:xfrm>
            <a:off x="6632058" y="1117406"/>
            <a:ext cx="3715605" cy="6176627"/>
          </a:xfrm>
          <a:prstGeom prst="rect">
            <a:avLst/>
          </a:prstGeom>
          <a:noFill/>
        </p:spPr>
        <p:txBody>
          <a:bodyPr wrap="square" rtlCol="0">
            <a:spAutoFit/>
          </a:bodyPr>
          <a:lstStyle/>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简单排序</a:t>
            </a: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914400" lvl="1" indent="-457200">
              <a:lnSpc>
                <a:spcPct val="150000"/>
              </a:lnSpc>
              <a:buFont typeface="Wingdings" panose="05000000000000000000" pitchFamily="2" charset="2"/>
              <a:buChar char="l"/>
            </a:pPr>
            <a:r>
              <a:rPr lang="zh-CN" altLang="en-US" sz="2667" b="1" kern="100" noProof="0" dirty="0">
                <a:solidFill>
                  <a:srgbClr val="2E75B6"/>
                </a:solidFill>
                <a:latin typeface="微软雅黑" panose="020B0503020204020204" pitchFamily="34" charset="-122"/>
                <a:ea typeface="微软雅黑" panose="020B0503020204020204" pitchFamily="34" charset="-122"/>
                <a:cs typeface="Times New Roman" panose="02020603050405020304" pitchFamily="18" charset="0"/>
              </a:rPr>
              <a:t>选择排序</a:t>
            </a:r>
            <a:endParaRPr lang="en-US" altLang="zh-CN" sz="2667" b="1" kern="100" noProof="0" dirty="0">
              <a:solidFill>
                <a:srgbClr val="2E75B6"/>
              </a:solidFill>
              <a:latin typeface="微软雅黑" panose="020B0503020204020204" pitchFamily="34" charset="-122"/>
              <a:ea typeface="微软雅黑" panose="020B0503020204020204" pitchFamily="34" charset="-122"/>
              <a:cs typeface="Times New Roman" panose="02020603050405020304" pitchFamily="18" charset="0"/>
            </a:endParaRPr>
          </a:p>
          <a:p>
            <a:pPr marL="914400" lvl="1" indent="-457200">
              <a:lnSpc>
                <a:spcPct val="150000"/>
              </a:lnSpc>
              <a:buFont typeface="Wingdings" panose="05000000000000000000" pitchFamily="2" charset="2"/>
              <a:buChar char="l"/>
            </a:pPr>
            <a:r>
              <a:rPr kumimoji="0" lang="zh-CN" altLang="en-US" sz="2667" b="1" i="0" u="none" strike="noStrike" kern="100" cap="none" spc="0" normalizeH="0" baseline="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冒泡排序</a:t>
            </a:r>
            <a:endParaRPr kumimoji="0" lang="en-US" altLang="zh-CN" sz="2667" b="1" i="0" u="none" strike="noStrike" kern="100" cap="none" spc="0" normalizeH="0" baseline="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914400" lvl="1" indent="-457200">
              <a:lnSpc>
                <a:spcPct val="150000"/>
              </a:lnSpc>
              <a:buFont typeface="Wingdings" panose="05000000000000000000" pitchFamily="2" charset="2"/>
              <a:buChar char="l"/>
            </a:pPr>
            <a:r>
              <a:rPr lang="zh-CN" altLang="en-US" sz="2667" b="1" kern="100" noProof="0" dirty="0">
                <a:solidFill>
                  <a:srgbClr val="2E75B6"/>
                </a:solidFill>
                <a:latin typeface="微软雅黑" panose="020B0503020204020204" pitchFamily="34" charset="-122"/>
                <a:ea typeface="微软雅黑" panose="020B0503020204020204" pitchFamily="34" charset="-122"/>
                <a:cs typeface="Times New Roman" panose="02020603050405020304" pitchFamily="18" charset="0"/>
              </a:rPr>
              <a:t>插入排序</a:t>
            </a:r>
            <a:endParaRPr lang="en-US" altLang="zh-CN" sz="2667" b="1" kern="100" noProof="0" dirty="0">
              <a:solidFill>
                <a:srgbClr val="2E75B6"/>
              </a:solidFill>
              <a:latin typeface="微软雅黑" panose="020B0503020204020204" pitchFamily="34" charset="-122"/>
              <a:ea typeface="微软雅黑" panose="020B0503020204020204" pitchFamily="34" charset="-122"/>
              <a:cs typeface="Times New Roman" panose="02020603050405020304" pitchFamily="18" charset="0"/>
            </a:endParaRPr>
          </a:p>
          <a:p>
            <a:pPr marL="914400" lvl="1" indent="-457200">
              <a:lnSpc>
                <a:spcPct val="150000"/>
              </a:lnSpc>
              <a:buFont typeface="Wingdings" panose="05000000000000000000" pitchFamily="2" charset="2"/>
              <a:buChar char="l"/>
            </a:pPr>
            <a:r>
              <a:rPr kumimoji="0" lang="zh-CN" altLang="en-US" sz="2667" b="1" i="0" u="none" strike="noStrike" kern="100" cap="none" spc="0" normalizeH="0" baseline="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计数排序</a:t>
            </a:r>
            <a:endParaRPr kumimoji="0" lang="en-US" altLang="zh-CN" sz="2667" b="1" i="0" u="none" strike="noStrike" kern="100" cap="none" spc="0" normalizeH="0" baseline="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nSpc>
                <a:spcPct val="150000"/>
              </a:lnSpc>
              <a:buFont typeface="Wingdings" panose="05000000000000000000" pitchFamily="2" charset="2"/>
              <a:buChar char="l"/>
            </a:pPr>
            <a:r>
              <a:rPr lang="zh-CN" altLang="en-US" sz="2667" b="1" kern="100" dirty="0">
                <a:solidFill>
                  <a:srgbClr val="2E75B6"/>
                </a:solidFill>
                <a:latin typeface="微软雅黑" panose="020B0503020204020204" pitchFamily="34" charset="-122"/>
                <a:ea typeface="微软雅黑" panose="020B0503020204020204" pitchFamily="34" charset="-122"/>
                <a:cs typeface="Times New Roman" panose="02020603050405020304" pitchFamily="18" charset="0"/>
              </a:rPr>
              <a:t>常用技巧</a:t>
            </a:r>
            <a:endParaRPr lang="en-US" altLang="zh-CN" sz="2667" b="1" kern="100" dirty="0">
              <a:solidFill>
                <a:srgbClr val="2E75B6"/>
              </a:solidFill>
              <a:latin typeface="微软雅黑" panose="020B0503020204020204" pitchFamily="34" charset="-122"/>
              <a:ea typeface="微软雅黑" panose="020B0503020204020204" pitchFamily="34" charset="-122"/>
              <a:cs typeface="Times New Roman" panose="02020603050405020304" pitchFamily="18" charset="0"/>
            </a:endParaRPr>
          </a:p>
          <a:p>
            <a:pPr marL="914400" lvl="1" indent="-457200">
              <a:lnSpc>
                <a:spcPct val="150000"/>
              </a:lnSpc>
              <a:buFont typeface="Wingdings" panose="05000000000000000000" pitchFamily="2" charset="2"/>
              <a:buChar char="l"/>
            </a:pPr>
            <a:r>
              <a:rPr kumimoji="0" lang="zh-CN" altLang="en-US"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尺取法</a:t>
            </a: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914400" lvl="1" indent="-457200">
              <a:lnSpc>
                <a:spcPct val="150000"/>
              </a:lnSpc>
              <a:buFont typeface="Wingdings" panose="05000000000000000000" pitchFamily="2" charset="2"/>
              <a:buChar char="l"/>
            </a:pPr>
            <a:r>
              <a:rPr lang="zh-CN" altLang="en-US" sz="2667" b="1" kern="100" dirty="0">
                <a:solidFill>
                  <a:srgbClr val="2E75B6"/>
                </a:solidFill>
                <a:latin typeface="微软雅黑" panose="020B0503020204020204" pitchFamily="34" charset="-122"/>
                <a:ea typeface="微软雅黑" panose="020B0503020204020204" pitchFamily="34" charset="-122"/>
                <a:cs typeface="Times New Roman" panose="02020603050405020304" pitchFamily="18" charset="0"/>
              </a:rPr>
              <a:t>前缀和与差分</a:t>
            </a:r>
            <a:endParaRPr lang="en-US" altLang="zh-CN" sz="2667" b="1" kern="100" dirty="0">
              <a:solidFill>
                <a:srgbClr val="2E75B6"/>
              </a:solidFill>
              <a:latin typeface="微软雅黑" panose="020B0503020204020204" pitchFamily="34" charset="-122"/>
              <a:ea typeface="微软雅黑" panose="020B0503020204020204" pitchFamily="34" charset="-122"/>
              <a:cs typeface="Times New Roman" panose="02020603050405020304" pitchFamily="18" charset="0"/>
            </a:endParaRPr>
          </a:p>
          <a:p>
            <a:pPr marL="914400" lvl="1" indent="-457200">
              <a:lnSpc>
                <a:spcPct val="150000"/>
              </a:lnSpc>
              <a:buFont typeface="Wingdings" panose="05000000000000000000" pitchFamily="2" charset="2"/>
              <a:buChar char="l"/>
            </a:pPr>
            <a:r>
              <a:rPr kumimoji="0" lang="zh-CN" altLang="en-US"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离散化</a:t>
            </a:r>
            <a:r>
              <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结构体</a:t>
            </a: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914400" lvl="1" indent="-457200">
              <a:lnSpc>
                <a:spcPct val="150000"/>
              </a:lnSpc>
              <a:buFont typeface="Wingdings" panose="05000000000000000000" pitchFamily="2" charset="2"/>
              <a:buChar char="l"/>
            </a:pPr>
            <a:endParaRPr kumimoji="0" lang="en-US" altLang="zh-CN" sz="2667" b="1" i="0" u="none" strike="noStrike" kern="100" cap="none" spc="0" normalizeH="0" baseline="0" noProof="0" dirty="0">
              <a:ln>
                <a:noFill/>
              </a:ln>
              <a:solidFill>
                <a:srgbClr val="2E75B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xEl>
                                              <p:pRg st="1" end="1"/>
                                            </p:txEl>
                                          </p:spTgt>
                                        </p:tgtEl>
                                        <p:attrNameLst>
                                          <p:attrName>style.visibility</p:attrName>
                                        </p:attrNameLst>
                                      </p:cBhvr>
                                      <p:to>
                                        <p:strVal val="visible"/>
                                      </p:to>
                                    </p:set>
                                    <p:animEffect transition="in" filter="fade">
                                      <p:cBhvr>
                                        <p:cTn id="7" dur="500"/>
                                        <p:tgtEl>
                                          <p:spTgt spid="3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2" end="2"/>
                                            </p:txEl>
                                          </p:spTgt>
                                        </p:tgtEl>
                                        <p:attrNameLst>
                                          <p:attrName>style.visibility</p:attrName>
                                        </p:attrNameLst>
                                      </p:cBhvr>
                                      <p:to>
                                        <p:strVal val="visible"/>
                                      </p:to>
                                    </p:set>
                                    <p:animEffect transition="in" filter="fade">
                                      <p:cBhvr>
                                        <p:cTn id="12" dur="500"/>
                                        <p:tgtEl>
                                          <p:spTgt spid="3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xEl>
                                              <p:pRg st="3" end="3"/>
                                            </p:txEl>
                                          </p:spTgt>
                                        </p:tgtEl>
                                        <p:attrNameLst>
                                          <p:attrName>style.visibility</p:attrName>
                                        </p:attrNameLst>
                                      </p:cBhvr>
                                      <p:to>
                                        <p:strVal val="visible"/>
                                      </p:to>
                                    </p:set>
                                    <p:animEffect transition="in" filter="fade">
                                      <p:cBhvr>
                                        <p:cTn id="17" dur="500"/>
                                        <p:tgtEl>
                                          <p:spTgt spid="3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xEl>
                                              <p:pRg st="4" end="4"/>
                                            </p:txEl>
                                          </p:spTgt>
                                        </p:tgtEl>
                                        <p:attrNameLst>
                                          <p:attrName>style.visibility</p:attrName>
                                        </p:attrNameLst>
                                      </p:cBhvr>
                                      <p:to>
                                        <p:strVal val="visible"/>
                                      </p:to>
                                    </p:set>
                                    <p:animEffect transition="in" filter="fade">
                                      <p:cBhvr>
                                        <p:cTn id="22" dur="500"/>
                                        <p:tgtEl>
                                          <p:spTgt spid="3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xEl>
                                              <p:pRg st="0" end="0"/>
                                            </p:txEl>
                                          </p:spTgt>
                                        </p:tgtEl>
                                        <p:attrNameLst>
                                          <p:attrName>style.visibility</p:attrName>
                                        </p:attrNameLst>
                                      </p:cBhvr>
                                      <p:to>
                                        <p:strVal val="visible"/>
                                      </p:to>
                                    </p:set>
                                    <p:animEffect transition="in" filter="fade">
                                      <p:cBhvr>
                                        <p:cTn id="27" dur="500"/>
                                        <p:tgtEl>
                                          <p:spTgt spid="3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xEl>
                                              <p:pRg st="5" end="5"/>
                                            </p:txEl>
                                          </p:spTgt>
                                        </p:tgtEl>
                                        <p:attrNameLst>
                                          <p:attrName>style.visibility</p:attrName>
                                        </p:attrNameLst>
                                      </p:cBhvr>
                                      <p:to>
                                        <p:strVal val="visible"/>
                                      </p:to>
                                    </p:set>
                                    <p:animEffect transition="in" filter="fade">
                                      <p:cBhvr>
                                        <p:cTn id="32" dur="500"/>
                                        <p:tgtEl>
                                          <p:spTgt spid="3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
                                            <p:txEl>
                                              <p:pRg st="6" end="6"/>
                                            </p:txEl>
                                          </p:spTgt>
                                        </p:tgtEl>
                                        <p:attrNameLst>
                                          <p:attrName>style.visibility</p:attrName>
                                        </p:attrNameLst>
                                      </p:cBhvr>
                                      <p:to>
                                        <p:strVal val="visible"/>
                                      </p:to>
                                    </p:set>
                                    <p:animEffect transition="in" filter="fade">
                                      <p:cBhvr>
                                        <p:cTn id="37" dur="500"/>
                                        <p:tgtEl>
                                          <p:spTgt spid="3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2">
                                            <p:txEl>
                                              <p:pRg st="7" end="7"/>
                                            </p:txEl>
                                          </p:spTgt>
                                        </p:tgtEl>
                                        <p:attrNameLst>
                                          <p:attrName>style.visibility</p:attrName>
                                        </p:attrNameLst>
                                      </p:cBhvr>
                                      <p:to>
                                        <p:strVal val="visible"/>
                                      </p:to>
                                    </p:set>
                                    <p:animEffect transition="in" filter="fade">
                                      <p:cBhvr>
                                        <p:cTn id="42" dur="500"/>
                                        <p:tgtEl>
                                          <p:spTgt spid="3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0" end="0"/>
                                            </p:txEl>
                                          </p:spTgt>
                                        </p:tgtEl>
                                        <p:attrNameLst>
                                          <p:attrName>style.visibility</p:attrName>
                                        </p:attrNameLst>
                                      </p:cBhvr>
                                      <p:to>
                                        <p:strVal val="visible"/>
                                      </p:to>
                                    </p:set>
                                    <p:animEffect transition="in" filter="fade">
                                      <p:cBhvr>
                                        <p:cTn id="47" dur="500"/>
                                        <p:tgtEl>
                                          <p:spTgt spid="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1" end="1"/>
                                            </p:txEl>
                                          </p:spTgt>
                                        </p:tgtEl>
                                        <p:attrNameLst>
                                          <p:attrName>style.visibility</p:attrName>
                                        </p:attrNameLst>
                                      </p:cBhvr>
                                      <p:to>
                                        <p:strVal val="visible"/>
                                      </p:to>
                                    </p:set>
                                    <p:animEffect transition="in" filter="fade">
                                      <p:cBhvr>
                                        <p:cTn id="52" dur="500"/>
                                        <p:tgtEl>
                                          <p:spTgt spid="5">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
                                            <p:txEl>
                                              <p:pRg st="2" end="2"/>
                                            </p:txEl>
                                          </p:spTgt>
                                        </p:tgtEl>
                                        <p:attrNameLst>
                                          <p:attrName>style.visibility</p:attrName>
                                        </p:attrNameLst>
                                      </p:cBhvr>
                                      <p:to>
                                        <p:strVal val="visible"/>
                                      </p:to>
                                    </p:set>
                                    <p:animEffect transition="in" filter="fade">
                                      <p:cBhvr>
                                        <p:cTn id="57" dur="500"/>
                                        <p:tgtEl>
                                          <p:spTgt spid="5">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
                                            <p:txEl>
                                              <p:pRg st="3" end="3"/>
                                            </p:txEl>
                                          </p:spTgt>
                                        </p:tgtEl>
                                        <p:attrNameLst>
                                          <p:attrName>style.visibility</p:attrName>
                                        </p:attrNameLst>
                                      </p:cBhvr>
                                      <p:to>
                                        <p:strVal val="visible"/>
                                      </p:to>
                                    </p:set>
                                    <p:animEffect transition="in" filter="fade">
                                      <p:cBhvr>
                                        <p:cTn id="62" dur="500"/>
                                        <p:tgtEl>
                                          <p:spTgt spid="5">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
                                            <p:txEl>
                                              <p:pRg st="4" end="4"/>
                                            </p:txEl>
                                          </p:spTgt>
                                        </p:tgtEl>
                                        <p:attrNameLst>
                                          <p:attrName>style.visibility</p:attrName>
                                        </p:attrNameLst>
                                      </p:cBhvr>
                                      <p:to>
                                        <p:strVal val="visible"/>
                                      </p:to>
                                    </p:set>
                                    <p:animEffect transition="in" filter="fade">
                                      <p:cBhvr>
                                        <p:cTn id="67" dur="500"/>
                                        <p:tgtEl>
                                          <p:spTgt spid="5">
                                            <p:txEl>
                                              <p:pRg st="4" end="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
                                            <p:txEl>
                                              <p:pRg st="5" end="5"/>
                                            </p:txEl>
                                          </p:spTgt>
                                        </p:tgtEl>
                                        <p:attrNameLst>
                                          <p:attrName>style.visibility</p:attrName>
                                        </p:attrNameLst>
                                      </p:cBhvr>
                                      <p:to>
                                        <p:strVal val="visible"/>
                                      </p:to>
                                    </p:set>
                                    <p:animEffect transition="in" filter="fade">
                                      <p:cBhvr>
                                        <p:cTn id="72" dur="500"/>
                                        <p:tgtEl>
                                          <p:spTgt spid="5">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5">
                                            <p:txEl>
                                              <p:pRg st="6" end="6"/>
                                            </p:txEl>
                                          </p:spTgt>
                                        </p:tgtEl>
                                        <p:attrNameLst>
                                          <p:attrName>style.visibility</p:attrName>
                                        </p:attrNameLst>
                                      </p:cBhvr>
                                      <p:to>
                                        <p:strVal val="visible"/>
                                      </p:to>
                                    </p:set>
                                    <p:animEffect transition="in" filter="fade">
                                      <p:cBhvr>
                                        <p:cTn id="77" dur="500"/>
                                        <p:tgtEl>
                                          <p:spTgt spid="5">
                                            <p:txEl>
                                              <p:pRg st="6" end="6"/>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5">
                                            <p:txEl>
                                              <p:pRg st="7" end="7"/>
                                            </p:txEl>
                                          </p:spTgt>
                                        </p:tgtEl>
                                        <p:attrNameLst>
                                          <p:attrName>style.visibility</p:attrName>
                                        </p:attrNameLst>
                                      </p:cBhvr>
                                      <p:to>
                                        <p:strVal val="visible"/>
                                      </p:to>
                                    </p:set>
                                    <p:animEffect transition="in" filter="fade">
                                      <p:cBhvr>
                                        <p:cTn id="82" dur="500"/>
                                        <p:tgtEl>
                                          <p:spTgt spid="5">
                                            <p:txEl>
                                              <p:pRg st="7" end="7"/>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5">
                                            <p:txEl>
                                              <p:pRg st="8" end="8"/>
                                            </p:txEl>
                                          </p:spTgt>
                                        </p:tgtEl>
                                        <p:attrNameLst>
                                          <p:attrName>style.visibility</p:attrName>
                                        </p:attrNameLst>
                                      </p:cBhvr>
                                      <p:to>
                                        <p:strVal val="visible"/>
                                      </p:to>
                                    </p:set>
                                    <p:animEffect transition="in" filter="fade">
                                      <p:cBhvr>
                                        <p:cTn id="8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算法概念</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 name="Text 1">
            <a:extLst>
              <a:ext uri="{FF2B5EF4-FFF2-40B4-BE49-F238E27FC236}">
                <a16:creationId xmlns:a16="http://schemas.microsoft.com/office/drawing/2014/main" id="{C2FFD20B-A487-4BF9-9D6C-37DD1BD506F0}"/>
              </a:ext>
            </a:extLst>
          </p:cNvPr>
          <p:cNvSpPr/>
          <p:nvPr/>
        </p:nvSpPr>
        <p:spPr>
          <a:xfrm>
            <a:off x="817849" y="1252120"/>
            <a:ext cx="9938138" cy="68580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buSzPct val="100000"/>
            </a:pPr>
            <a:r>
              <a:rPr lang="zh-CN" altLang="en-US" sz="2400" b="1" dirty="0">
                <a:latin typeface="微软雅黑" panose="020B0503020204020204" pitchFamily="34" charset="-122"/>
                <a:ea typeface="微软雅黑" panose="020B0503020204020204" pitchFamily="34" charset="-122"/>
                <a:cs typeface="+mn-ea"/>
              </a:rPr>
              <a:t>算法是求解问题的一系列</a:t>
            </a:r>
            <a:r>
              <a:rPr lang="zh-CN" altLang="en-US" sz="2400" b="1" dirty="0">
                <a:solidFill>
                  <a:srgbClr val="FF0000"/>
                </a:solidFill>
                <a:latin typeface="微软雅黑" panose="020B0503020204020204" pitchFamily="34" charset="-122"/>
                <a:ea typeface="微软雅黑" panose="020B0503020204020204" pitchFamily="34" charset="-122"/>
                <a:cs typeface="+mn-ea"/>
              </a:rPr>
              <a:t>计算步骤</a:t>
            </a:r>
            <a:r>
              <a:rPr lang="zh-CN" altLang="en-US" sz="2400" b="1" dirty="0">
                <a:latin typeface="微软雅黑" panose="020B0503020204020204" pitchFamily="34" charset="-122"/>
                <a:ea typeface="微软雅黑" panose="020B0503020204020204" pitchFamily="34" charset="-122"/>
                <a:cs typeface="+mn-ea"/>
              </a:rPr>
              <a:t>，用来将</a:t>
            </a:r>
            <a:r>
              <a:rPr lang="zh-CN" altLang="en-US" sz="2400" b="1" dirty="0">
                <a:solidFill>
                  <a:srgbClr val="FF0000"/>
                </a:solidFill>
                <a:latin typeface="微软雅黑" panose="020B0503020204020204" pitchFamily="34" charset="-122"/>
                <a:ea typeface="微软雅黑" panose="020B0503020204020204" pitchFamily="34" charset="-122"/>
                <a:cs typeface="+mn-ea"/>
              </a:rPr>
              <a:t>输入</a:t>
            </a:r>
            <a:r>
              <a:rPr lang="zh-CN" altLang="en-US" sz="2400" b="1" dirty="0">
                <a:latin typeface="微软雅黑" panose="020B0503020204020204" pitchFamily="34" charset="-122"/>
                <a:ea typeface="微软雅黑" panose="020B0503020204020204" pitchFamily="34" charset="-122"/>
                <a:cs typeface="+mn-ea"/>
              </a:rPr>
              <a:t>数据转换成</a:t>
            </a:r>
            <a:r>
              <a:rPr lang="zh-CN" altLang="en-US" sz="2400" b="1" dirty="0">
                <a:solidFill>
                  <a:srgbClr val="FF0000"/>
                </a:solidFill>
                <a:latin typeface="微软雅黑" panose="020B0503020204020204" pitchFamily="34" charset="-122"/>
                <a:ea typeface="微软雅黑" panose="020B0503020204020204" pitchFamily="34" charset="-122"/>
                <a:cs typeface="+mn-ea"/>
              </a:rPr>
              <a:t>输出</a:t>
            </a:r>
            <a:r>
              <a:rPr lang="zh-CN" altLang="en-US" sz="2400" b="1" dirty="0">
                <a:latin typeface="微软雅黑" panose="020B0503020204020204" pitchFamily="34" charset="-122"/>
                <a:ea typeface="微软雅黑" panose="020B0503020204020204" pitchFamily="34" charset="-122"/>
                <a:cs typeface="+mn-ea"/>
              </a:rPr>
              <a:t>结果 </a:t>
            </a:r>
            <a:endParaRPr lang="en-US" sz="2400" b="1" dirty="0">
              <a:latin typeface="微软雅黑" panose="020B0503020204020204" pitchFamily="34" charset="-122"/>
              <a:ea typeface="微软雅黑" panose="020B0503020204020204" pitchFamily="34" charset="-122"/>
              <a:cs typeface="+mn-ea"/>
            </a:endParaRPr>
          </a:p>
        </p:txBody>
      </p:sp>
      <p:grpSp>
        <p:nvGrpSpPr>
          <p:cNvPr id="5" name="组合 4">
            <a:extLst>
              <a:ext uri="{FF2B5EF4-FFF2-40B4-BE49-F238E27FC236}">
                <a16:creationId xmlns:a16="http://schemas.microsoft.com/office/drawing/2014/main" id="{FABF4F2E-9C8B-9C0A-DA9D-D1F45447A24D}"/>
              </a:ext>
            </a:extLst>
          </p:cNvPr>
          <p:cNvGrpSpPr/>
          <p:nvPr/>
        </p:nvGrpSpPr>
        <p:grpSpPr>
          <a:xfrm>
            <a:off x="1121440" y="2796526"/>
            <a:ext cx="4194273" cy="1146469"/>
            <a:chOff x="2142206" y="2019980"/>
            <a:chExt cx="4194273" cy="1146469"/>
          </a:xfrm>
        </p:grpSpPr>
        <p:grpSp>
          <p:nvGrpSpPr>
            <p:cNvPr id="7" name="组合 6">
              <a:extLst>
                <a:ext uri="{FF2B5EF4-FFF2-40B4-BE49-F238E27FC236}">
                  <a16:creationId xmlns:a16="http://schemas.microsoft.com/office/drawing/2014/main" id="{0D11F525-30F0-A840-2966-45043BF91066}"/>
                </a:ext>
              </a:extLst>
            </p:cNvPr>
            <p:cNvGrpSpPr/>
            <p:nvPr/>
          </p:nvGrpSpPr>
          <p:grpSpPr>
            <a:xfrm>
              <a:off x="3625084" y="2019980"/>
              <a:ext cx="1146469" cy="1146469"/>
              <a:chOff x="3623794" y="2593215"/>
              <a:chExt cx="1146469" cy="1146469"/>
            </a:xfrm>
          </p:grpSpPr>
          <p:sp>
            <p:nvSpPr>
              <p:cNvPr id="12" name="椭圆 11">
                <a:extLst>
                  <a:ext uri="{FF2B5EF4-FFF2-40B4-BE49-F238E27FC236}">
                    <a16:creationId xmlns:a16="http://schemas.microsoft.com/office/drawing/2014/main" id="{D1D496A1-78FE-DE07-3A79-522C943FEE8B}"/>
                  </a:ext>
                </a:extLst>
              </p:cNvPr>
              <p:cNvSpPr/>
              <p:nvPr/>
            </p:nvSpPr>
            <p:spPr>
              <a:xfrm>
                <a:off x="3623794" y="2593215"/>
                <a:ext cx="1146469" cy="1146469"/>
              </a:xfrm>
              <a:prstGeom prst="ellipse">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椭圆 12">
                <a:extLst>
                  <a:ext uri="{FF2B5EF4-FFF2-40B4-BE49-F238E27FC236}">
                    <a16:creationId xmlns:a16="http://schemas.microsoft.com/office/drawing/2014/main" id="{8BADD23E-3A1E-6801-600A-56BAC0CC975D}"/>
                  </a:ext>
                </a:extLst>
              </p:cNvPr>
              <p:cNvSpPr/>
              <p:nvPr/>
            </p:nvSpPr>
            <p:spPr>
              <a:xfrm>
                <a:off x="3764499" y="2727340"/>
                <a:ext cx="865062" cy="8782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文本框 6">
                <a:extLst>
                  <a:ext uri="{FF2B5EF4-FFF2-40B4-BE49-F238E27FC236}">
                    <a16:creationId xmlns:a16="http://schemas.microsoft.com/office/drawing/2014/main" id="{D44E9994-9B20-1654-A0E1-CEB6DBD10E2D}"/>
                  </a:ext>
                </a:extLst>
              </p:cNvPr>
              <p:cNvSpPr txBox="1"/>
              <p:nvPr/>
            </p:nvSpPr>
            <p:spPr>
              <a:xfrm>
                <a:off x="3846548" y="2966395"/>
                <a:ext cx="700963" cy="40011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bg1"/>
                    </a:solidFill>
                  </a:rPr>
                  <a:t>算法</a:t>
                </a:r>
              </a:p>
            </p:txBody>
          </p:sp>
        </p:grpSp>
        <p:sp>
          <p:nvSpPr>
            <p:cNvPr id="8" name="文本框 8">
              <a:extLst>
                <a:ext uri="{FF2B5EF4-FFF2-40B4-BE49-F238E27FC236}">
                  <a16:creationId xmlns:a16="http://schemas.microsoft.com/office/drawing/2014/main" id="{5F223E9D-CB25-72E0-E739-8CB6AF4AFF30}"/>
                </a:ext>
              </a:extLst>
            </p:cNvPr>
            <p:cNvSpPr txBox="1"/>
            <p:nvPr/>
          </p:nvSpPr>
          <p:spPr>
            <a:xfrm>
              <a:off x="2142206" y="2371695"/>
              <a:ext cx="700963" cy="40011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t>输入</a:t>
              </a:r>
            </a:p>
          </p:txBody>
        </p:sp>
        <p:sp>
          <p:nvSpPr>
            <p:cNvPr id="9" name="箭头: 右 8">
              <a:extLst>
                <a:ext uri="{FF2B5EF4-FFF2-40B4-BE49-F238E27FC236}">
                  <a16:creationId xmlns:a16="http://schemas.microsoft.com/office/drawing/2014/main" id="{B4D59408-6196-D97F-FC08-4B4FB233AD4E}"/>
                </a:ext>
              </a:extLst>
            </p:cNvPr>
            <p:cNvSpPr/>
            <p:nvPr/>
          </p:nvSpPr>
          <p:spPr>
            <a:xfrm>
              <a:off x="2843169" y="2460328"/>
              <a:ext cx="699865" cy="2499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文本框 10">
              <a:extLst>
                <a:ext uri="{FF2B5EF4-FFF2-40B4-BE49-F238E27FC236}">
                  <a16:creationId xmlns:a16="http://schemas.microsoft.com/office/drawing/2014/main" id="{11BDEB71-9AE2-9051-2688-D4C477A876E3}"/>
                </a:ext>
              </a:extLst>
            </p:cNvPr>
            <p:cNvSpPr txBox="1"/>
            <p:nvPr/>
          </p:nvSpPr>
          <p:spPr>
            <a:xfrm>
              <a:off x="5635516" y="2385263"/>
              <a:ext cx="700963" cy="40011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t>输出</a:t>
              </a:r>
            </a:p>
          </p:txBody>
        </p:sp>
        <p:sp>
          <p:nvSpPr>
            <p:cNvPr id="11" name="箭头: 右 10">
              <a:extLst>
                <a:ext uri="{FF2B5EF4-FFF2-40B4-BE49-F238E27FC236}">
                  <a16:creationId xmlns:a16="http://schemas.microsoft.com/office/drawing/2014/main" id="{7E4C0F07-A94B-7C2A-D831-3C23484F706C}"/>
                </a:ext>
              </a:extLst>
            </p:cNvPr>
            <p:cNvSpPr/>
            <p:nvPr/>
          </p:nvSpPr>
          <p:spPr>
            <a:xfrm>
              <a:off x="4853602" y="2460969"/>
              <a:ext cx="699865" cy="2499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6" name="文本框 14">
            <a:extLst>
              <a:ext uri="{FF2B5EF4-FFF2-40B4-BE49-F238E27FC236}">
                <a16:creationId xmlns:a16="http://schemas.microsoft.com/office/drawing/2014/main" id="{D9EBC37B-2985-B78B-BFF1-9381924E791B}"/>
              </a:ext>
            </a:extLst>
          </p:cNvPr>
          <p:cNvSpPr txBox="1"/>
          <p:nvPr/>
        </p:nvSpPr>
        <p:spPr>
          <a:xfrm>
            <a:off x="1041633" y="4335628"/>
            <a:ext cx="4572000" cy="646331"/>
          </a:xfrm>
          <a:prstGeom prst="rect">
            <a:avLst/>
          </a:prstGeom>
          <a:noFill/>
        </p:spPr>
        <p:txBody>
          <a:bodyPr wrap="square">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mn-ea"/>
                <a:cs typeface="+mn-ea"/>
              </a:rPr>
              <a:t>如果一个算法对其</a:t>
            </a:r>
            <a:r>
              <a:rPr lang="zh-CN" altLang="en-US" dirty="0">
                <a:solidFill>
                  <a:srgbClr val="FF0000"/>
                </a:solidFill>
                <a:latin typeface="+mn-ea"/>
                <a:cs typeface="+mn-ea"/>
              </a:rPr>
              <a:t>每一个</a:t>
            </a:r>
            <a:r>
              <a:rPr lang="zh-CN" altLang="en-US" dirty="0">
                <a:latin typeface="+mn-ea"/>
                <a:cs typeface="+mn-ea"/>
              </a:rPr>
              <a:t>输入实例，都能输出正确的结果并停止，则称它是</a:t>
            </a:r>
            <a:r>
              <a:rPr lang="zh-CN" altLang="en-US" dirty="0">
                <a:solidFill>
                  <a:srgbClr val="FF0000"/>
                </a:solidFill>
                <a:latin typeface="+mn-ea"/>
                <a:cs typeface="+mn-ea"/>
              </a:rPr>
              <a:t>正确的</a:t>
            </a:r>
            <a:r>
              <a:rPr lang="zh-CN" altLang="en-US" dirty="0">
                <a:latin typeface="+mn-ea"/>
                <a:cs typeface="+mn-ea"/>
              </a:rPr>
              <a:t>。 </a:t>
            </a:r>
          </a:p>
        </p:txBody>
      </p:sp>
      <p:sp>
        <p:nvSpPr>
          <p:cNvPr id="15" name="Text Box 5">
            <a:extLst>
              <a:ext uri="{FF2B5EF4-FFF2-40B4-BE49-F238E27FC236}">
                <a16:creationId xmlns:a16="http://schemas.microsoft.com/office/drawing/2014/main" id="{F7FC4DED-D1F6-5D3E-4BAD-C435753CBDAF}"/>
              </a:ext>
            </a:extLst>
          </p:cNvPr>
          <p:cNvSpPr txBox="1">
            <a:spLocks noChangeArrowheads="1"/>
          </p:cNvSpPr>
          <p:nvPr/>
        </p:nvSpPr>
        <p:spPr bwMode="auto">
          <a:xfrm>
            <a:off x="5989206" y="2598704"/>
            <a:ext cx="2934651" cy="2820131"/>
          </a:xfrm>
          <a:prstGeom prst="rect">
            <a:avLst/>
          </a:prstGeom>
          <a:noFill/>
          <a:ln w="9525">
            <a:noFill/>
            <a:miter lim="800000"/>
            <a:headEnd/>
            <a:tailEnd/>
          </a:ln>
          <a:effectLst/>
        </p:spPr>
        <p:txBody>
          <a:bodyPr wrap="square">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ts val="3600"/>
              </a:lnSpc>
              <a:buFont typeface="Arial" panose="020B0604020202020204" pitchFamily="34" charset="0"/>
              <a:buChar char="•"/>
            </a:pPr>
            <a:r>
              <a:rPr lang="zh-CN" altLang="en-US" sz="2400" dirty="0">
                <a:latin typeface="微软雅黑" pitchFamily="34" charset="-122"/>
                <a:ea typeface="微软雅黑" pitchFamily="34" charset="-122"/>
              </a:rPr>
              <a:t>正确性</a:t>
            </a:r>
          </a:p>
          <a:p>
            <a:pPr marL="342900" indent="-342900">
              <a:lnSpc>
                <a:spcPts val="3600"/>
              </a:lnSpc>
              <a:buFont typeface="Arial" panose="020B0604020202020204" pitchFamily="34" charset="0"/>
              <a:buChar char="•"/>
            </a:pPr>
            <a:r>
              <a:rPr lang="zh-CN" altLang="en-US" sz="2400" dirty="0">
                <a:latin typeface="微软雅黑" pitchFamily="34" charset="-122"/>
                <a:ea typeface="微软雅黑" pitchFamily="34" charset="-122"/>
              </a:rPr>
              <a:t>可使用性</a:t>
            </a:r>
          </a:p>
          <a:p>
            <a:pPr marL="342900" indent="-342900">
              <a:lnSpc>
                <a:spcPts val="3600"/>
              </a:lnSpc>
              <a:buFont typeface="Arial" panose="020B0604020202020204" pitchFamily="34" charset="0"/>
              <a:buChar char="•"/>
            </a:pPr>
            <a:r>
              <a:rPr lang="zh-CN" altLang="en-US" sz="2400" dirty="0">
                <a:latin typeface="微软雅黑" pitchFamily="34" charset="-122"/>
                <a:ea typeface="微软雅黑" pitchFamily="34" charset="-122"/>
              </a:rPr>
              <a:t>可读性</a:t>
            </a:r>
          </a:p>
          <a:p>
            <a:pPr marL="342900" indent="-342900">
              <a:lnSpc>
                <a:spcPts val="3600"/>
              </a:lnSpc>
              <a:buFont typeface="Arial" panose="020B0604020202020204" pitchFamily="34" charset="0"/>
              <a:buChar char="•"/>
            </a:pPr>
            <a:r>
              <a:rPr lang="zh-CN" altLang="en-US" sz="2400" dirty="0">
                <a:latin typeface="微软雅黑" pitchFamily="34" charset="-122"/>
                <a:ea typeface="微软雅黑" pitchFamily="34" charset="-122"/>
              </a:rPr>
              <a:t>健壮性</a:t>
            </a:r>
          </a:p>
          <a:p>
            <a:pPr marL="342900" indent="-342900">
              <a:lnSpc>
                <a:spcPts val="3600"/>
              </a:lnSpc>
              <a:buFont typeface="Arial" panose="020B0604020202020204" pitchFamily="34" charset="0"/>
              <a:buChar char="•"/>
            </a:pPr>
            <a:r>
              <a:rPr lang="zh-CN" altLang="en-US" sz="2400" dirty="0">
                <a:latin typeface="微软雅黑" pitchFamily="34" charset="-122"/>
                <a:ea typeface="微软雅黑" pitchFamily="34" charset="-122"/>
              </a:rPr>
              <a:t>高效率与低存储量需求</a:t>
            </a:r>
          </a:p>
        </p:txBody>
      </p:sp>
      <p:sp>
        <p:nvSpPr>
          <p:cNvPr id="16" name="Text Box 5">
            <a:extLst>
              <a:ext uri="{FF2B5EF4-FFF2-40B4-BE49-F238E27FC236}">
                <a16:creationId xmlns:a16="http://schemas.microsoft.com/office/drawing/2014/main" id="{F7FC4DED-D1F6-5D3E-4BAD-C435753CBDAF}"/>
              </a:ext>
            </a:extLst>
          </p:cNvPr>
          <p:cNvSpPr txBox="1">
            <a:spLocks noChangeArrowheads="1"/>
          </p:cNvSpPr>
          <p:nvPr/>
        </p:nvSpPr>
        <p:spPr bwMode="auto">
          <a:xfrm>
            <a:off x="9299430" y="2598704"/>
            <a:ext cx="1685644" cy="2820131"/>
          </a:xfrm>
          <a:prstGeom prst="rect">
            <a:avLst/>
          </a:prstGeom>
          <a:noFill/>
          <a:ln w="9525">
            <a:noFill/>
            <a:miter lim="800000"/>
            <a:headEnd/>
            <a:tailEnd/>
          </a:ln>
          <a:effectLst/>
        </p:spPr>
        <p:txBody>
          <a:bodyPr wrap="square">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ts val="3600"/>
              </a:lnSpc>
              <a:buFont typeface="Arial" panose="020B0604020202020204" pitchFamily="34" charset="0"/>
              <a:buChar char="•"/>
            </a:pPr>
            <a:r>
              <a:rPr lang="zh-CN" altLang="en-US" sz="2400" dirty="0">
                <a:latin typeface="微软雅黑" pitchFamily="34" charset="-122"/>
                <a:ea typeface="微软雅黑" pitchFamily="34" charset="-122"/>
              </a:rPr>
              <a:t>有限性</a:t>
            </a:r>
          </a:p>
          <a:p>
            <a:pPr marL="342900" indent="-342900">
              <a:lnSpc>
                <a:spcPts val="3600"/>
              </a:lnSpc>
              <a:buFont typeface="Arial" panose="020B0604020202020204" pitchFamily="34" charset="0"/>
              <a:buChar char="•"/>
            </a:pPr>
            <a:r>
              <a:rPr lang="zh-CN" altLang="en-US" sz="2400" dirty="0">
                <a:latin typeface="微软雅黑" pitchFamily="34" charset="-122"/>
                <a:ea typeface="微软雅黑" pitchFamily="34" charset="-122"/>
              </a:rPr>
              <a:t>确定性</a:t>
            </a:r>
          </a:p>
          <a:p>
            <a:pPr marL="342900" indent="-342900">
              <a:lnSpc>
                <a:spcPts val="3600"/>
              </a:lnSpc>
              <a:buFont typeface="Arial" panose="020B0604020202020204" pitchFamily="34" charset="0"/>
              <a:buChar char="•"/>
            </a:pPr>
            <a:r>
              <a:rPr lang="zh-CN" altLang="en-US" sz="2400" dirty="0">
                <a:latin typeface="微软雅黑" pitchFamily="34" charset="-122"/>
                <a:ea typeface="微软雅黑" pitchFamily="34" charset="-122"/>
              </a:rPr>
              <a:t>可行性</a:t>
            </a:r>
          </a:p>
          <a:p>
            <a:pPr marL="342900" indent="-342900">
              <a:lnSpc>
                <a:spcPts val="3600"/>
              </a:lnSpc>
              <a:buFont typeface="Arial" panose="020B0604020202020204" pitchFamily="34" charset="0"/>
              <a:buChar char="•"/>
            </a:pPr>
            <a:r>
              <a:rPr lang="zh-CN" altLang="en-US" sz="2400" dirty="0">
                <a:latin typeface="微软雅黑" pitchFamily="34" charset="-122"/>
                <a:ea typeface="微软雅黑" pitchFamily="34" charset="-122"/>
              </a:rPr>
              <a:t>输入</a:t>
            </a:r>
          </a:p>
          <a:p>
            <a:pPr marL="342900" indent="-342900">
              <a:lnSpc>
                <a:spcPts val="3600"/>
              </a:lnSpc>
              <a:buFont typeface="Arial" panose="020B0604020202020204" pitchFamily="34" charset="0"/>
              <a:buChar char="•"/>
            </a:pPr>
            <a:r>
              <a:rPr lang="zh-CN" altLang="en-US" sz="2400" dirty="0">
                <a:latin typeface="微软雅黑" pitchFamily="34" charset="-122"/>
                <a:ea typeface="微软雅黑" pitchFamily="34" charset="-122"/>
              </a:rPr>
              <a:t>输出</a:t>
            </a:r>
          </a:p>
          <a:p>
            <a:pPr marL="342900" indent="-342900">
              <a:lnSpc>
                <a:spcPts val="3600"/>
              </a:lnSpc>
              <a:buFont typeface="Arial" panose="020B0604020202020204" pitchFamily="34" charset="0"/>
              <a:buChar char="•"/>
            </a:pPr>
            <a:endParaRPr lang="zh-CN" altLang="en-US" sz="2400" dirty="0">
              <a:latin typeface="微软雅黑" pitchFamily="34" charset="-122"/>
              <a:ea typeface="微软雅黑" pitchFamily="34" charset="-122"/>
            </a:endParaRPr>
          </a:p>
        </p:txBody>
      </p:sp>
    </p:spTree>
    <p:extLst>
      <p:ext uri="{BB962C8B-B14F-4D97-AF65-F5344CB8AC3E}">
        <p14:creationId xmlns:p14="http://schemas.microsoft.com/office/powerpoint/2010/main" val="706569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lang="zh-CN" altLang="en-US" sz="3200" b="1" dirty="0">
                <a:solidFill>
                  <a:srgbClr val="C00000"/>
                </a:solidFill>
                <a:latin typeface="微软雅黑" panose="020B0503020204020204" pitchFamily="34" charset="-122"/>
                <a:ea typeface="微软雅黑" panose="020B0503020204020204" pitchFamily="34" charset="-122"/>
              </a:rPr>
              <a:t>入门</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枚举</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1B08C0A0-C346-4F23-BD25-EB7264B79A5A}"/>
              </a:ext>
            </a:extLst>
          </p:cNvPr>
          <p:cNvSpPr txBox="1"/>
          <p:nvPr/>
        </p:nvSpPr>
        <p:spPr>
          <a:xfrm>
            <a:off x="334800" y="1068021"/>
            <a:ext cx="11057859" cy="6001643"/>
          </a:xfrm>
          <a:prstGeom prst="rect">
            <a:avLst/>
          </a:prstGeom>
          <a:noFill/>
        </p:spPr>
        <p:txBody>
          <a:bodyPr wrap="square" rtlCol="0">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基本思想：把所有可能情况一一列举出来，找到符合条件的情况</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不太考虑算法和复杂度</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一般出现在简单题目</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可以优先考虑，因为实现最简单，最不容易出错</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有些情况只能枚举，没有别的方法</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可进行适当优化</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28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4132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500"/>
                                        <p:tgtEl>
                                          <p:spTgt spid="10">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xEl>
                                              <p:pRg st="2" end="2"/>
                                            </p:txEl>
                                          </p:spTgt>
                                        </p:tgtEl>
                                        <p:attrNameLst>
                                          <p:attrName>style.visibility</p:attrName>
                                        </p:attrNameLst>
                                      </p:cBhvr>
                                      <p:to>
                                        <p:strVal val="visible"/>
                                      </p:to>
                                    </p:set>
                                    <p:animEffect transition="in" filter="fade">
                                      <p:cBhvr>
                                        <p:cTn id="10" dur="500"/>
                                        <p:tgtEl>
                                          <p:spTgt spid="10">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fade">
                                      <p:cBhvr>
                                        <p:cTn id="15" dur="500"/>
                                        <p:tgtEl>
                                          <p:spTgt spid="10">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Effect transition="in" filter="fade">
                                      <p:cBhvr>
                                        <p:cTn id="20" dur="500"/>
                                        <p:tgtEl>
                                          <p:spTgt spid="10">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
                                            <p:txEl>
                                              <p:pRg st="5" end="5"/>
                                            </p:txEl>
                                          </p:spTgt>
                                        </p:tgtEl>
                                        <p:attrNameLst>
                                          <p:attrName>style.visibility</p:attrName>
                                        </p:attrNameLst>
                                      </p:cBhvr>
                                      <p:to>
                                        <p:strVal val="visible"/>
                                      </p:to>
                                    </p:set>
                                    <p:animEffect transition="in" filter="fade">
                                      <p:cBhvr>
                                        <p:cTn id="25"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lang="zh-CN" altLang="en-US" sz="3200" b="1" dirty="0">
                <a:solidFill>
                  <a:srgbClr val="C00000"/>
                </a:solidFill>
                <a:latin typeface="微软雅黑" panose="020B0503020204020204" pitchFamily="34" charset="-122"/>
                <a:ea typeface="微软雅黑" panose="020B0503020204020204" pitchFamily="34" charset="-122"/>
              </a:rPr>
              <a:t>入门</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枚举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找出所有勾股数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1B08C0A0-C346-4F23-BD25-EB7264B79A5A}"/>
              </a:ext>
            </a:extLst>
          </p:cNvPr>
          <p:cNvSpPr txBox="1"/>
          <p:nvPr/>
        </p:nvSpPr>
        <p:spPr>
          <a:xfrm>
            <a:off x="334800" y="1068021"/>
            <a:ext cx="11057859" cy="4278094"/>
          </a:xfrm>
          <a:prstGeom prst="rect">
            <a:avLst/>
          </a:prstGeom>
          <a:noFill/>
        </p:spPr>
        <p:txBody>
          <a:bodyPr wrap="square" rtlCol="0">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描述：找到所有的三元组</a:t>
            </a:r>
            <a:r>
              <a:rPr kumimoji="0" lang="en-US" altLang="zh-CN" sz="2800" b="1" i="0" u="none" strike="noStrike" kern="100" cap="none" spc="0" normalizeH="0" baseline="0" noProof="0" dirty="0" err="1">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a,b,c</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满足条件</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a^2+b^2=c^2,</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且</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1&lt;= a &lt;= b &lt; c &lt;= 100</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优化</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1</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a^2+b^2 &gt; 100*100</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的时候，</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break</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优化</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2</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c^2 &gt; a^2+b^2</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的时候，</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break</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28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9039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lang="zh-CN" altLang="en-US" sz="3200" b="1" dirty="0">
                <a:solidFill>
                  <a:srgbClr val="C00000"/>
                </a:solidFill>
                <a:latin typeface="微软雅黑" panose="020B0503020204020204" pitchFamily="34" charset="-122"/>
                <a:ea typeface="微软雅黑" panose="020B0503020204020204" pitchFamily="34" charset="-122"/>
              </a:rPr>
              <a:t>入门</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枚举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找出所有勾股数</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1B08C0A0-C346-4F23-BD25-EB7264B79A5A}"/>
              </a:ext>
            </a:extLst>
          </p:cNvPr>
          <p:cNvSpPr txBox="1"/>
          <p:nvPr/>
        </p:nvSpPr>
        <p:spPr>
          <a:xfrm>
            <a:off x="334800" y="1068021"/>
            <a:ext cx="11057859" cy="6001643"/>
          </a:xfrm>
          <a:prstGeom prst="rect">
            <a:avLst/>
          </a:prstGeom>
          <a:noFill/>
        </p:spPr>
        <p:txBody>
          <a:bodyPr wrap="square" rtlCol="0">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描述：找到所有的三元组</a:t>
            </a:r>
            <a:r>
              <a:rPr kumimoji="0" lang="en-US" altLang="zh-CN" sz="2800" b="1" i="0" u="none" strike="noStrike" kern="100" cap="none" spc="0" normalizeH="0" baseline="0" noProof="0" dirty="0" err="1">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a,b,c</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满足条件</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a^2+b^2=c^2,</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且</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1&lt;= a &lt;= b &lt; c &lt;= 100</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优化</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3</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：二分查找</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优化</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4</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：直接利用</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sqrt</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函数判断平方数</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优化</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5</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：用空间换时间</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endParaRPr kumimoji="0" lang="en-US" altLang="zh-CN" sz="28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95963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fade">
                                      <p:cBhvr>
                                        <p:cTn id="12" dur="500"/>
                                        <p:tgtEl>
                                          <p:spTgt spid="10">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fade">
                                      <p:cBhvr>
                                        <p:cTn id="17"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lang="zh-CN" altLang="en-US" sz="3200" b="1" dirty="0">
                <a:solidFill>
                  <a:srgbClr val="C00000"/>
                </a:solidFill>
                <a:latin typeface="微软雅黑" panose="020B0503020204020204" pitchFamily="34" charset="-122"/>
                <a:ea typeface="微软雅黑" panose="020B0503020204020204" pitchFamily="34" charset="-122"/>
              </a:rPr>
              <a:t>入门</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模拟</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F743B0FD-35D0-4A98-802D-AE072BAB0D0C}"/>
              </a:ext>
            </a:extLst>
          </p:cNvPr>
          <p:cNvSpPr/>
          <p:nvPr/>
        </p:nvSpPr>
        <p:spPr>
          <a:xfrm>
            <a:off x="464144" y="972053"/>
            <a:ext cx="10771165" cy="5160323"/>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基本思想：根据要求一步一步地，通过程序设计语言实现需要做的事情</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主要考察编码功底，如何正确编码实现所描述的问题；较少考虑复杂度</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可能会有边界条件等陷阱，代码不严谨的时候可能会出错，需要注意</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可以很简单（很多签到题）</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rPr>
              <a:t>可以很复杂（编码时间长，容易出错，比赛时不作为优先选项）</a:t>
            </a:r>
            <a:endParaRPr kumimoji="0" lang="en-US" altLang="zh-CN" sz="2400" b="1" i="0" u="none" strike="noStrike" kern="100" cap="none" spc="0" normalizeH="0" baseline="0" noProof="0" dirty="0">
              <a:ln>
                <a:noFill/>
              </a:ln>
              <a:solidFill>
                <a:srgbClr val="014B88"/>
              </a:solidFill>
              <a:effectLst/>
              <a:uLnTx/>
              <a:uFillTx/>
              <a:latin typeface="仿宋_GB2312"/>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rPr>
              <a:t>关键问题：如何用程序设计语言表示事件的状态及变化过程，并且正确实现。</a:t>
            </a:r>
            <a:endParaRPr kumimoji="0" lang="en-US" altLang="zh-CN" sz="2400" b="1" i="0" u="none" strike="noStrike" kern="100" cap="none" spc="0" normalizeH="0" baseline="0" noProof="0" dirty="0">
              <a:ln>
                <a:noFill/>
              </a:ln>
              <a:solidFill>
                <a:srgbClr val="FF0000"/>
              </a:solidFill>
              <a:effectLst/>
              <a:uLnTx/>
              <a:uFillTx/>
              <a:latin typeface="仿宋_GB231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57761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基础算法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简单排序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插入排序</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p:cNvSpPr/>
          <p:nvPr/>
        </p:nvSpPr>
        <p:spPr>
          <a:xfrm>
            <a:off x="504001" y="927889"/>
            <a:ext cx="10558347" cy="3682226"/>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基本思想：在待排序的元素中，假设前面</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n-1(</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其中</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n&gt;=2)</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个数已经是排好顺序的，现将第</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个数插到前面已经排好的序列中，然后找到合适自己的位置，使得插入第</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个数的这个序列也是排好顺序的。按照此法对所有元素进行插入，直到整个序列排为有序的过程，称为插入排序。</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	</a:t>
            </a:r>
          </a:p>
          <a:p>
            <a:pPr marL="457200" marR="0" lvl="1" indent="0" algn="just" defTabSz="914400" rtl="0" eaLnBrk="1" fontAlgn="auto" latinLnBrk="0" hangingPunct="1">
              <a:lnSpc>
                <a:spcPct val="200000"/>
              </a:lnSpc>
              <a:spcBef>
                <a:spcPts val="0"/>
              </a:spcBef>
              <a:spcAft>
                <a:spcPts val="0"/>
              </a:spcAft>
              <a:buClrTx/>
              <a:buSzTx/>
              <a:buFontTx/>
              <a:buNone/>
              <a:tabLst/>
              <a:defRPr/>
            </a:pPr>
            <a:endPar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8860020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lang="zh-CN" altLang="en-US" sz="3200" b="1" dirty="0">
                <a:solidFill>
                  <a:srgbClr val="C00000"/>
                </a:solidFill>
                <a:latin typeface="微软雅黑" panose="020B0503020204020204" pitchFamily="34" charset="-122"/>
                <a:ea typeface="微软雅黑" panose="020B0503020204020204" pitchFamily="34" charset="-122"/>
              </a:rPr>
              <a:t>入门</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模拟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约瑟夫环问题</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25E990C1-0939-4E89-86D1-D2A824A1C015}"/>
              </a:ext>
            </a:extLst>
          </p:cNvPr>
          <p:cNvSpPr txBox="1"/>
          <p:nvPr/>
        </p:nvSpPr>
        <p:spPr>
          <a:xfrm>
            <a:off x="457201" y="1206244"/>
            <a:ext cx="11057859" cy="5157502"/>
          </a:xfrm>
          <a:prstGeom prst="rect">
            <a:avLst/>
          </a:prstGeom>
          <a:noFill/>
        </p:spPr>
        <p:txBody>
          <a:bodyPr wrap="square" rtlCol="0">
            <a:spAutoFit/>
          </a:bodyPr>
          <a:lstStyle/>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著名犹太历史学家</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Josephus</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有过以下的故事：在罗马人占领乔塔帕特后，</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39 </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个犹太人与</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Josephus</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及他的朋友躲到一个洞中，</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39</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个犹太人决定宁愿死也不要被敌人抓到，于是决定了一个自杀方式，</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41</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个人排成一个圆圈，由第</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1</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个人开始报数，每报数到第</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3</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人该人就必须自杀，然后再由下一个重新报数，直到所有人都自杀身亡为止。然而</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Josephus </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和他的朋友并不想遵从。首先从一个人开始，越过</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k-2</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个人（因为第一个人已经被越过），并杀掉第</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k</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个人。接着，再越过</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k-1</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个人，并杀掉第</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k</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个人。这个过程沿着圆圈一直进行，直到最终只剩下一个人留下，这个人就可以继续活着。问题是，给定了</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k</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，一开始要站在什么地方才能避免被处决。</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Josephus</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要他的朋友先假装遵从，他将朋友与自己安排在第</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16</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个与第</a:t>
            </a:r>
            <a:r>
              <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31</a:t>
            </a:r>
            <a:r>
              <a:rPr kumimoji="0" lang="zh-CN" altLang="en-US"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个位置，于是逃过了这场死亡游戏。</a:t>
            </a:r>
            <a:endParaRPr kumimoji="0" lang="en-US" altLang="zh-CN" sz="1800" b="0"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endParaRP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问题：给出一共的人数</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和</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k</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，在哪个位置可以活到最后？</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633623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lang="zh-CN" altLang="en-US" sz="3200" b="1" dirty="0">
                <a:solidFill>
                  <a:srgbClr val="C00000"/>
                </a:solidFill>
                <a:latin typeface="微软雅黑" panose="020B0503020204020204" pitchFamily="34" charset="-122"/>
                <a:ea typeface="微软雅黑" panose="020B0503020204020204" pitchFamily="34" charset="-122"/>
              </a:rPr>
              <a:t>入门</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模拟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约瑟夫环问题</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25E990C1-0939-4E89-86D1-D2A824A1C015}"/>
              </a:ext>
            </a:extLst>
          </p:cNvPr>
          <p:cNvSpPr txBox="1"/>
          <p:nvPr/>
        </p:nvSpPr>
        <p:spPr>
          <a:xfrm>
            <a:off x="334800" y="876635"/>
            <a:ext cx="11057859" cy="5898538"/>
          </a:xfrm>
          <a:prstGeom prst="rect">
            <a:avLst/>
          </a:prstGeom>
          <a:noFill/>
        </p:spPr>
        <p:txBody>
          <a:bodyPr wrap="square" rtlCol="0">
            <a:spAutoFit/>
          </a:bodyPr>
          <a:lstStyle/>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问题分析：给出人数</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n</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和</a:t>
            </a: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k</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，在哪个位置可以活到最后？</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、怎么模拟这个环？</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、怎么记录当前位置的状态？</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、怎么让计数重新开始？</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、用数组模拟人，设置一个游动下标，当下标走到</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n-1</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时返回</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0</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（环），其他情况不断</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a:t>
            </a: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、数组里的元素标记当前位置的状态</a:t>
            </a:r>
            <a:endPar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457200" marR="0" lvl="1" indent="0" algn="just" defTabSz="914400" rtl="0" eaLnBrk="1" fontAlgn="auto" latinLnBrk="0" hangingPunct="1">
              <a:lnSpc>
                <a:spcPct val="200000"/>
              </a:lnSpc>
              <a:spcBef>
                <a:spcPts val="0"/>
              </a:spcBef>
              <a:spcAft>
                <a:spcPts val="0"/>
              </a:spcAft>
              <a:buClrTx/>
              <a:buSzTx/>
              <a:buFontTx/>
              <a:buNone/>
              <a:tabLst/>
              <a:defRPr/>
            </a:pP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、设置一个计数变量，到</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k</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以后变为</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，其他情况不断</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a:t>
            </a:r>
          </a:p>
        </p:txBody>
      </p:sp>
      <p:sp>
        <p:nvSpPr>
          <p:cNvPr id="5" name="矩形 4">
            <a:extLst>
              <a:ext uri="{FF2B5EF4-FFF2-40B4-BE49-F238E27FC236}">
                <a16:creationId xmlns:a16="http://schemas.microsoft.com/office/drawing/2014/main" id="{9C04F2DB-17B2-404F-BFC4-14B4823EC6E2}"/>
              </a:ext>
            </a:extLst>
          </p:cNvPr>
          <p:cNvSpPr/>
          <p:nvPr/>
        </p:nvSpPr>
        <p:spPr>
          <a:xfrm>
            <a:off x="7720584" y="5328795"/>
            <a:ext cx="3985386"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Coding Time</a:t>
            </a:r>
            <a:endParaRPr kumimoji="0" lang="zh-CN" alt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99978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fade">
                                      <p:cBhvr>
                                        <p:cTn id="12" dur="500"/>
                                        <p:tgtEl>
                                          <p:spTgt spid="4">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500"/>
                                        <p:tgtEl>
                                          <p:spTgt spid="4">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lang="zh-CN" altLang="en-US" sz="3200" b="1" dirty="0">
                <a:solidFill>
                  <a:srgbClr val="C00000"/>
                </a:solidFill>
                <a:latin typeface="微软雅黑" panose="020B0503020204020204" pitchFamily="34" charset="-122"/>
                <a:ea typeface="微软雅黑" panose="020B0503020204020204" pitchFamily="34" charset="-122"/>
              </a:rPr>
              <a:t>入门</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模拟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Ants (POJ-1852)</a:t>
            </a:r>
          </a:p>
        </p:txBody>
      </p:sp>
      <p:sp>
        <p:nvSpPr>
          <p:cNvPr id="4" name="文本框 3">
            <a:extLst>
              <a:ext uri="{FF2B5EF4-FFF2-40B4-BE49-F238E27FC236}">
                <a16:creationId xmlns:a16="http://schemas.microsoft.com/office/drawing/2014/main" id="{25E990C1-0939-4E89-86D1-D2A824A1C015}"/>
              </a:ext>
            </a:extLst>
          </p:cNvPr>
          <p:cNvSpPr txBox="1"/>
          <p:nvPr/>
        </p:nvSpPr>
        <p:spPr>
          <a:xfrm>
            <a:off x="457201" y="1206244"/>
            <a:ext cx="11057859" cy="1676998"/>
          </a:xfrm>
          <a:prstGeom prst="rect">
            <a:avLst/>
          </a:prstGeom>
          <a:noFill/>
        </p:spPr>
        <p:txBody>
          <a:bodyPr wrap="square" rtlCol="0">
            <a:spAutoFit/>
          </a:bodyPr>
          <a:lstStyle/>
          <a:p>
            <a:pPr lvl="1" algn="just">
              <a:lnSpc>
                <a:spcPct val="200000"/>
              </a:lnSpc>
            </a:pPr>
            <a:r>
              <a:rPr lang="zh-CN" altLang="en-US" dirty="0">
                <a:solidFill>
                  <a:prstClr val="black"/>
                </a:solidFill>
                <a:latin typeface="Consolas" panose="020B0609020204030204" pitchFamily="49" charset="0"/>
              </a:rPr>
              <a:t>一群蚂蚁在长度为</a:t>
            </a:r>
            <a:r>
              <a:rPr lang="en-US" altLang="zh-CN" dirty="0">
                <a:solidFill>
                  <a:prstClr val="black"/>
                </a:solidFill>
                <a:latin typeface="Consolas" panose="020B0609020204030204" pitchFamily="49" charset="0"/>
              </a:rPr>
              <a:t>L</a:t>
            </a:r>
            <a:r>
              <a:rPr lang="zh-CN" altLang="en-US" dirty="0">
                <a:solidFill>
                  <a:prstClr val="black"/>
                </a:solidFill>
                <a:latin typeface="Consolas" panose="020B0609020204030204" pitchFamily="49" charset="0"/>
              </a:rPr>
              <a:t>的水平杆上行走，每只速度为</a:t>
            </a:r>
            <a:r>
              <a:rPr lang="en-US" altLang="zh-CN" dirty="0">
                <a:solidFill>
                  <a:prstClr val="black"/>
                </a:solidFill>
                <a:latin typeface="Consolas" panose="020B0609020204030204" pitchFamily="49" charset="0"/>
              </a:rPr>
              <a:t>1cm/s</a:t>
            </a:r>
            <a:r>
              <a:rPr lang="zh-CN" altLang="en-US" dirty="0">
                <a:solidFill>
                  <a:prstClr val="black"/>
                </a:solidFill>
                <a:latin typeface="Consolas" panose="020B0609020204030204" pitchFamily="49" charset="0"/>
              </a:rPr>
              <a:t>。当蚂蚁到达杆的一端时，它立即从杆上掉下来。当两只蚂蚁相遇时，他们转身开始向相反的方向行走。 我们知道蚂蚁在杆子上的原始位置，不幸的是，我们不知道蚂蚁的行走方向。 您的任务是计算所有蚂蚁掉下来所需的最长和最短的时间。</a:t>
            </a:r>
            <a:endParaRPr kumimoji="0" lang="en-US" altLang="zh-CN" sz="24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1CA9FEA1-789A-46BC-B4D5-0298665DCD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906" y="3974759"/>
            <a:ext cx="3377370" cy="1551088"/>
          </a:xfrm>
          <a:prstGeom prst="rect">
            <a:avLst/>
          </a:prstGeom>
        </p:spPr>
      </p:pic>
      <p:sp>
        <p:nvSpPr>
          <p:cNvPr id="6" name="矩形 5">
            <a:extLst>
              <a:ext uri="{FF2B5EF4-FFF2-40B4-BE49-F238E27FC236}">
                <a16:creationId xmlns:a16="http://schemas.microsoft.com/office/drawing/2014/main" id="{8AF5DF3B-C982-46C8-BE8C-7B4BFD359D44}"/>
              </a:ext>
            </a:extLst>
          </p:cNvPr>
          <p:cNvSpPr/>
          <p:nvPr/>
        </p:nvSpPr>
        <p:spPr>
          <a:xfrm>
            <a:off x="4591573" y="4004910"/>
            <a:ext cx="7069123" cy="1477328"/>
          </a:xfrm>
          <a:prstGeom prst="rect">
            <a:avLst/>
          </a:prstGeom>
        </p:spPr>
        <p:txBody>
          <a:bodyPr wrap="square">
            <a:spAutoFit/>
          </a:bodyPr>
          <a:lstStyle/>
          <a:p>
            <a:r>
              <a:rPr lang="zh-CN" altLang="en-US" dirty="0"/>
              <a:t>最长时间取最大值</a:t>
            </a:r>
            <a:r>
              <a:rPr lang="en-US" altLang="zh-CN" dirty="0"/>
              <a:t>,</a:t>
            </a:r>
            <a:r>
              <a:rPr lang="zh-CN" altLang="en-US" dirty="0"/>
              <a:t>我们可以认为每只蚂蚁都很傻</a:t>
            </a:r>
            <a:r>
              <a:rPr lang="en-US" altLang="zh-CN" dirty="0"/>
              <a:t>,</a:t>
            </a:r>
            <a:r>
              <a:rPr lang="zh-CN" altLang="en-US" dirty="0"/>
              <a:t>选择最长的路走</a:t>
            </a:r>
            <a:r>
              <a:rPr lang="en-US" altLang="zh-CN" dirty="0"/>
              <a:t>,</a:t>
            </a:r>
            <a:r>
              <a:rPr lang="zh-CN" altLang="en-US" dirty="0"/>
              <a:t>然后最后一只蚂蚁掉下来的时间就是答案</a:t>
            </a:r>
          </a:p>
          <a:p>
            <a:endParaRPr lang="zh-CN" altLang="en-US" dirty="0"/>
          </a:p>
          <a:p>
            <a:r>
              <a:rPr lang="zh-CN" altLang="en-US" dirty="0"/>
              <a:t>最短时间取最小值</a:t>
            </a:r>
            <a:r>
              <a:rPr lang="en-US" altLang="zh-CN" dirty="0"/>
              <a:t>,</a:t>
            </a:r>
            <a:r>
              <a:rPr lang="zh-CN" altLang="en-US" dirty="0"/>
              <a:t>我们可以认为每只蚂蚁都很聪明</a:t>
            </a:r>
            <a:r>
              <a:rPr lang="en-US" altLang="zh-CN" dirty="0"/>
              <a:t>,</a:t>
            </a:r>
            <a:r>
              <a:rPr lang="zh-CN" altLang="en-US" dirty="0"/>
              <a:t>选择最短的路走</a:t>
            </a:r>
            <a:r>
              <a:rPr lang="en-US" altLang="zh-CN" dirty="0"/>
              <a:t>,</a:t>
            </a:r>
            <a:r>
              <a:rPr lang="zh-CN" altLang="en-US" dirty="0"/>
              <a:t>然后最后一只蚂蚁掉下来的时间就是答案</a:t>
            </a:r>
          </a:p>
        </p:txBody>
      </p:sp>
    </p:spTree>
    <p:extLst>
      <p:ext uri="{BB962C8B-B14F-4D97-AF65-F5344CB8AC3E}">
        <p14:creationId xmlns:p14="http://schemas.microsoft.com/office/powerpoint/2010/main" val="375380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lang="zh-CN" altLang="en-US" sz="3200" b="1" dirty="0">
                <a:solidFill>
                  <a:srgbClr val="C00000"/>
                </a:solidFill>
                <a:latin typeface="微软雅黑" panose="020B0503020204020204" pitchFamily="34" charset="-122"/>
                <a:ea typeface="微软雅黑" panose="020B0503020204020204" pitchFamily="34" charset="-122"/>
              </a:rPr>
              <a:t>入门</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模拟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斐波那契数列</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 name="矩形 3">
            <a:extLst>
              <a:ext uri="{FF2B5EF4-FFF2-40B4-BE49-F238E27FC236}">
                <a16:creationId xmlns:a16="http://schemas.microsoft.com/office/drawing/2014/main" id="{3D412F98-8FFE-473F-AF2E-F72D69EB83CB}"/>
              </a:ext>
            </a:extLst>
          </p:cNvPr>
          <p:cNvSpPr/>
          <p:nvPr/>
        </p:nvSpPr>
        <p:spPr>
          <a:xfrm>
            <a:off x="861238" y="1403498"/>
            <a:ext cx="5337544" cy="458587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故事得从西元</a:t>
            </a:r>
            <a:r>
              <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1202</a:t>
            </a:r>
            <a:r>
              <a:rPr kumimoji="0" lang="zh-CN" altLang="en-US"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年说起，话说有一位意大利青年，名叫斐波那契。在他的一部著作中提出了一个有趣的问题：假设一对刚出生的小兔一个月后就能长成大兔，再过一个月就能生下一对小兔，并且此后每个月都生一对小兔，一年内没有发生死亡，问：一对刚出生的兔子，一年内繁殖成多少对兔子</a:t>
            </a:r>
            <a:r>
              <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兔子数量：</a:t>
            </a:r>
            <a:r>
              <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1</a:t>
            </a:r>
            <a:r>
              <a:rPr kumimoji="0" lang="zh-CN" altLang="en-US"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a:t>
            </a:r>
            <a:r>
              <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1</a:t>
            </a:r>
            <a:r>
              <a:rPr kumimoji="0" lang="zh-CN" altLang="en-US"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a:t>
            </a:r>
            <a:r>
              <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2</a:t>
            </a:r>
            <a:r>
              <a:rPr kumimoji="0" lang="zh-CN" altLang="en-US"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a:t>
            </a:r>
            <a:r>
              <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3</a:t>
            </a:r>
            <a:r>
              <a:rPr kumimoji="0" lang="zh-CN" altLang="en-US"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a:t>
            </a:r>
            <a:r>
              <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5</a:t>
            </a:r>
            <a:r>
              <a:rPr kumimoji="0" lang="zh-CN" altLang="en-US"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a:t>
            </a:r>
            <a:r>
              <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8</a:t>
            </a:r>
            <a:r>
              <a:rPr kumimoji="0" lang="zh-CN" altLang="en-US"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a:t>
            </a:r>
            <a:r>
              <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13</a:t>
            </a:r>
            <a:r>
              <a:rPr kumimoji="0" lang="zh-CN" altLang="en-US"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a:t>
            </a:r>
            <a:r>
              <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21</a:t>
            </a:r>
            <a:r>
              <a:rPr kumimoji="0" lang="zh-CN" altLang="en-US"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a:t>
            </a:r>
            <a:r>
              <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34</a:t>
            </a:r>
            <a:r>
              <a:rPr kumimoji="0" lang="zh-CN" altLang="en-US"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a:t>
            </a:r>
            <a:r>
              <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55</a:t>
            </a:r>
            <a:r>
              <a:rPr kumimoji="0" lang="zh-CN" altLang="en-US"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a:t>
            </a:r>
            <a:r>
              <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89</a:t>
            </a:r>
            <a:r>
              <a:rPr kumimoji="0" lang="zh-CN" altLang="en-US"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a:t>
            </a:r>
            <a:r>
              <a:rPr kumimoji="0" lang="en-US" altLang="zh-CN" sz="24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rPr>
              <a:t>144……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800" b="0" i="0" u="none" strike="noStrike" kern="1200" cap="none" spc="0" normalizeH="0" baseline="0" noProof="0" dirty="0">
              <a:ln>
                <a:noFill/>
              </a:ln>
              <a:solidFill>
                <a:srgbClr val="121212"/>
              </a:solidFill>
              <a:effectLst/>
              <a:uLnTx/>
              <a:uFillTx/>
              <a:latin typeface="-apple-system"/>
              <a:ea typeface="等线" panose="02010600030101010101" pitchFamily="2" charset="-122"/>
              <a:cs typeface="+mn-cs"/>
            </a:endParaRPr>
          </a:p>
        </p:txBody>
      </p:sp>
      <p:pic>
        <p:nvPicPr>
          <p:cNvPr id="1026" name="Picture 2" descr="https://pic1.zhimg.com/80/v2-70dbcfcac92e9dbbe84091295875d2ec_1440w.jpg">
            <a:extLst>
              <a:ext uri="{FF2B5EF4-FFF2-40B4-BE49-F238E27FC236}">
                <a16:creationId xmlns:a16="http://schemas.microsoft.com/office/drawing/2014/main" id="{489CEE23-B7F4-47EB-BFB4-281E1F26C5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8782" y="1661747"/>
            <a:ext cx="5863231" cy="3699969"/>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7293FC1A-5D5F-47EC-9E43-D45D866682DF}"/>
              </a:ext>
            </a:extLst>
          </p:cNvPr>
          <p:cNvSpPr/>
          <p:nvPr/>
        </p:nvSpPr>
        <p:spPr>
          <a:xfrm>
            <a:off x="980132" y="5619965"/>
            <a:ext cx="10613804" cy="830997"/>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F(n)</a:t>
            </a:r>
            <a:r>
              <a:rPr kumimoji="0" lang="zh-CN" altLang="en-US"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 </a:t>
            </a:r>
            <a:r>
              <a:rPr kumimoji="0" lang="en-US" altLang="zh-CN"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a:t>
            </a:r>
            <a:r>
              <a:rPr kumimoji="0" lang="zh-CN" altLang="en-US"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 </a:t>
            </a:r>
            <a:r>
              <a:rPr kumimoji="0" lang="en-US" altLang="zh-CN"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F(n-1)</a:t>
            </a:r>
            <a:r>
              <a:rPr kumimoji="0" lang="zh-CN" altLang="en-US"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 </a:t>
            </a:r>
            <a:r>
              <a:rPr kumimoji="0" lang="en-US" altLang="zh-CN"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a:t>
            </a:r>
            <a:r>
              <a:rPr kumimoji="0" lang="zh-CN" altLang="en-US"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 </a:t>
            </a:r>
            <a:r>
              <a:rPr kumimoji="0" lang="en-US" altLang="zh-CN"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F(n-2); F(1) = 1; F(2) = 1</a:t>
            </a:r>
            <a:endParaRPr kumimoji="0" lang="zh-CN" altLang="en-US"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78873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lang="zh-CN" altLang="en-US" sz="3200" b="1" dirty="0">
                <a:solidFill>
                  <a:srgbClr val="C00000"/>
                </a:solidFill>
                <a:latin typeface="微软雅黑" panose="020B0503020204020204" pitchFamily="34" charset="-122"/>
                <a:ea typeface="微软雅黑" panose="020B0503020204020204" pitchFamily="34" charset="-122"/>
              </a:rPr>
              <a:t>入门</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模拟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斐波那契数列</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7293FC1A-5D5F-47EC-9E43-D45D866682DF}"/>
              </a:ext>
            </a:extLst>
          </p:cNvPr>
          <p:cNvSpPr/>
          <p:nvPr/>
        </p:nvSpPr>
        <p:spPr>
          <a:xfrm>
            <a:off x="870138" y="1345676"/>
            <a:ext cx="10613804" cy="830997"/>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F(n)</a:t>
            </a:r>
            <a:r>
              <a:rPr kumimoji="0" lang="zh-CN" altLang="en-US"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 </a:t>
            </a:r>
            <a:r>
              <a:rPr kumimoji="0" lang="en-US" altLang="zh-CN"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a:t>
            </a:r>
            <a:r>
              <a:rPr kumimoji="0" lang="zh-CN" altLang="en-US"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 </a:t>
            </a:r>
            <a:r>
              <a:rPr kumimoji="0" lang="en-US" altLang="zh-CN"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F(n-1)</a:t>
            </a:r>
            <a:r>
              <a:rPr kumimoji="0" lang="zh-CN" altLang="en-US"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 </a:t>
            </a:r>
            <a:r>
              <a:rPr kumimoji="0" lang="en-US" altLang="zh-CN"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a:t>
            </a:r>
            <a:r>
              <a:rPr kumimoji="0" lang="zh-CN" altLang="en-US"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 </a:t>
            </a:r>
            <a:r>
              <a:rPr kumimoji="0" lang="en-US" altLang="zh-CN"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rPr>
              <a:t>F(n-2); F(1) = 1; F(2) = 1</a:t>
            </a:r>
            <a:endParaRPr kumimoji="0" lang="zh-CN" altLang="en-US" sz="48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等线"/>
              <a:ea typeface="等线" panose="02010600030101010101" pitchFamily="2" charset="-122"/>
              <a:cs typeface="+mn-cs"/>
            </a:endParaRPr>
          </a:p>
        </p:txBody>
      </p:sp>
      <p:sp>
        <p:nvSpPr>
          <p:cNvPr id="6" name="文本框 5">
            <a:extLst>
              <a:ext uri="{FF2B5EF4-FFF2-40B4-BE49-F238E27FC236}">
                <a16:creationId xmlns:a16="http://schemas.microsoft.com/office/drawing/2014/main" id="{981050C9-3EF9-49FB-8933-FDFB97796013}"/>
              </a:ext>
            </a:extLst>
          </p:cNvPr>
          <p:cNvSpPr txBox="1"/>
          <p:nvPr/>
        </p:nvSpPr>
        <p:spPr>
          <a:xfrm>
            <a:off x="3711610" y="3007496"/>
            <a:ext cx="5282215" cy="230832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int a[1000];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a[1] = 1,a[2]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for (int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i</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 3;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i</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&lt;= n;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i</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a[</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i</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 a[i-1] + a[i-2];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cout</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&lt;&lt; a[</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i</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 &lt;&lt; </a:t>
            </a:r>
            <a:r>
              <a:rPr kumimoji="0" lang="en-US" altLang="zh-CN" sz="2400" b="1" i="0" u="none" strike="noStrike" kern="1200" cap="none" spc="0" normalizeH="0" baseline="0" noProof="0" dirty="0" err="1">
                <a:ln>
                  <a:noFill/>
                </a:ln>
                <a:solidFill>
                  <a:prstClr val="black"/>
                </a:solidFill>
                <a:effectLst/>
                <a:uLnTx/>
                <a:uFillTx/>
                <a:latin typeface="Consolas" panose="020B0609020204030204" pitchFamily="49" charset="0"/>
                <a:ea typeface="等线" panose="02010600030101010101" pitchFamily="2" charset="-122"/>
                <a:cs typeface="+mn-cs"/>
              </a:rPr>
              <a:t>endl</a:t>
            </a:r>
            <a:r>
              <a:rPr kumimoji="0" lang="en-US" altLang="zh-CN"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rPr>
              <a:t>;</a:t>
            </a:r>
            <a:endParaRPr kumimoji="0" lang="zh-CN" altLang="en-US" sz="2400" b="1" i="0" u="none" strike="noStrike" kern="1200" cap="none" spc="0" normalizeH="0" baseline="0" noProof="0" dirty="0">
              <a:ln>
                <a:noFill/>
              </a:ln>
              <a:solidFill>
                <a:prstClr val="black"/>
              </a:solidFill>
              <a:effectLst/>
              <a:uLnTx/>
              <a:uFillTx/>
              <a:latin typeface="Consolas" panose="020B0609020204030204" pitchFamily="49" charset="0"/>
              <a:ea typeface="等线" panose="02010600030101010101" pitchFamily="2" charset="-122"/>
              <a:cs typeface="+mn-cs"/>
            </a:endParaRPr>
          </a:p>
        </p:txBody>
      </p:sp>
    </p:spTree>
    <p:extLst>
      <p:ext uri="{BB962C8B-B14F-4D97-AF65-F5344CB8AC3E}">
        <p14:creationId xmlns:p14="http://schemas.microsoft.com/office/powerpoint/2010/main" val="395215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lang="zh-CN" altLang="en-US" sz="3200" b="1" dirty="0">
                <a:solidFill>
                  <a:srgbClr val="C00000"/>
                </a:solidFill>
                <a:latin typeface="微软雅黑" panose="020B0503020204020204" pitchFamily="34" charset="-122"/>
                <a:ea typeface="微软雅黑" panose="020B0503020204020204" pitchFamily="34" charset="-122"/>
              </a:rPr>
              <a:t>入门</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模拟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3200" b="1" dirty="0">
                <a:solidFill>
                  <a:srgbClr val="C00000"/>
                </a:solidFill>
                <a:latin typeface="微软雅黑" panose="020B0503020204020204" pitchFamily="34" charset="-122"/>
                <a:ea typeface="微软雅黑" panose="020B0503020204020204" pitchFamily="34" charset="-122"/>
              </a:rPr>
              <a:t>数值计算</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FA8E2B6B-75E1-46B1-A7F7-CF319504C264}"/>
              </a:ext>
            </a:extLst>
          </p:cNvPr>
          <p:cNvSpPr txBox="1"/>
          <p:nvPr/>
        </p:nvSpPr>
        <p:spPr>
          <a:xfrm>
            <a:off x="334800" y="1068021"/>
            <a:ext cx="11057859" cy="3416320"/>
          </a:xfrm>
          <a:prstGeom prst="rect">
            <a:avLst/>
          </a:prstGeom>
          <a:noFill/>
        </p:spPr>
        <p:txBody>
          <a:bodyPr wrap="square" rtlCol="0">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用字符串存储中间的斐波那契数</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模拟列竖式进行加法运算的过程</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注意控制进位</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减法、乘法、除法都可以进行模拟计算</a:t>
            </a:r>
            <a:endParaRPr kumimoji="0" lang="en-US" altLang="zh-CN" sz="28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05500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基础算法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3200" b="1" dirty="0">
                <a:solidFill>
                  <a:srgbClr val="C00000"/>
                </a:solidFill>
                <a:latin typeface="微软雅黑" panose="020B0503020204020204" pitchFamily="34" charset="-122"/>
                <a:ea typeface="微软雅黑" panose="020B0503020204020204" pitchFamily="34" charset="-122"/>
              </a:rPr>
              <a:t>简单排序</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选择排序</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矩形 2"/>
          <p:cNvSpPr/>
          <p:nvPr/>
        </p:nvSpPr>
        <p:spPr>
          <a:xfrm>
            <a:off x="504001" y="927889"/>
            <a:ext cx="10558347" cy="1467005"/>
          </a:xfrm>
          <a:prstGeom prst="rect">
            <a:avLst/>
          </a:prstGeom>
        </p:spPr>
        <p:txBody>
          <a:bodyPr wrap="square">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直接选择排序：以从小到大排序为例，每次选择未排序序列中最大的元素与最后面的元素交换。</a:t>
            </a:r>
            <a:r>
              <a:rPr kumimoji="0" lang="zh-CN" altLang="en-US" sz="1800" b="0" i="0" u="none" strike="noStrike" kern="1200" cap="none" spc="0" normalizeH="0" baseline="30000" noProof="0" dirty="0">
                <a:ln>
                  <a:noFill/>
                </a:ln>
                <a:solidFill>
                  <a:srgbClr val="000000"/>
                </a:solidFill>
                <a:effectLst/>
                <a:uLnTx/>
                <a:uFillTx/>
                <a:latin typeface="Calibri"/>
                <a:ea typeface="微软雅黑" panose="020B0503020204020204" pitchFamily="34" charset="-122"/>
                <a:cs typeface="+mn-cs"/>
              </a:rPr>
              <a:t> </a:t>
            </a:r>
            <a:r>
              <a:rPr kumimoji="0" lang="en-US" altLang="zh-CN" sz="2400" b="1" i="0" u="none" strike="noStrike" kern="100" cap="none" spc="0" normalizeH="0" baseline="0" noProof="0" dirty="0">
                <a:ln>
                  <a:noFill/>
                </a:ln>
                <a:solidFill>
                  <a:srgbClr val="014B88"/>
                </a:solidFill>
                <a:effectLst/>
                <a:uLnTx/>
                <a:uFillTx/>
                <a:latin typeface="仿宋_GB2312"/>
                <a:ea typeface="微软雅黑" panose="020B0503020204020204" pitchFamily="34" charset="-122"/>
                <a:cs typeface="Times New Roman" panose="02020603050405020304" pitchFamily="18" charset="0"/>
              </a:rPr>
              <a:t>	</a:t>
            </a:r>
          </a:p>
        </p:txBody>
      </p:sp>
    </p:spTree>
    <p:extLst>
      <p:ext uri="{BB962C8B-B14F-4D97-AF65-F5344CB8AC3E}">
        <p14:creationId xmlns:p14="http://schemas.microsoft.com/office/powerpoint/2010/main" val="8404960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基础算法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贪心</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BBD48017-E8C4-4503-BB4F-F1976CAC6415}"/>
              </a:ext>
            </a:extLst>
          </p:cNvPr>
          <p:cNvSpPr txBox="1"/>
          <p:nvPr/>
        </p:nvSpPr>
        <p:spPr>
          <a:xfrm>
            <a:off x="334800" y="1068021"/>
            <a:ext cx="11057859" cy="4280916"/>
          </a:xfrm>
          <a:prstGeom prst="rect">
            <a:avLst/>
          </a:prstGeom>
          <a:noFill/>
        </p:spPr>
        <p:txBody>
          <a:bodyPr wrap="square" rtlCol="0">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基本思想：贪心就是把整个问题分解成多个步骤，在每个步骤中选取当前步骤的最优方案，直到所有步骤结束。其中每一步都不考虑对后续步骤的影响，后续步骤也不考虑前面步骤的选择，在特定规则下能够</a:t>
            </a:r>
            <a:r>
              <a:rPr kumimoji="0" lang="zh-CN" altLang="en-US" sz="28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rPr>
              <a:t>使局部最优达到全局最优</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，或者近似全局最优。这就是贪心思想。</a:t>
            </a:r>
            <a:endParaRPr kumimoji="0" lang="en-US" altLang="zh-CN" sz="28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407030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基础算法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贪心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需要满足的性质</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BBD48017-E8C4-4503-BB4F-F1976CAC6415}"/>
              </a:ext>
            </a:extLst>
          </p:cNvPr>
          <p:cNvSpPr txBox="1"/>
          <p:nvPr/>
        </p:nvSpPr>
        <p:spPr>
          <a:xfrm>
            <a:off x="334800" y="1068021"/>
            <a:ext cx="11057859" cy="5139869"/>
          </a:xfrm>
          <a:prstGeom prst="rect">
            <a:avLst/>
          </a:prstGeom>
          <a:noFill/>
        </p:spPr>
        <p:txBody>
          <a:bodyPr wrap="square" rtlCol="0">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性质</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1</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：最优子结构性质。当一个问题的最优解包含子问题的最优解时，这种情况下就称满足最优子结构性质，能从局部最优达到全局最优。</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性质</a:t>
            </a:r>
            <a:r>
              <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2</a:t>
            </a: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：贪心选择性质。问题的全局最优解可以由局部最优解所得到。</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rPr>
              <a:t>只顾眼前的利益，也能达到长远利益</a:t>
            </a:r>
            <a:endParaRPr kumimoji="0" lang="en-US" altLang="zh-CN" sz="28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72016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基础算法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贪心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问题求解步骤</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BBD48017-E8C4-4503-BB4F-F1976CAC6415}"/>
              </a:ext>
            </a:extLst>
          </p:cNvPr>
          <p:cNvSpPr txBox="1"/>
          <p:nvPr/>
        </p:nvSpPr>
        <p:spPr>
          <a:xfrm>
            <a:off x="334800" y="1068021"/>
            <a:ext cx="11057859" cy="5142690"/>
          </a:xfrm>
          <a:prstGeom prst="rect">
            <a:avLst/>
          </a:prstGeom>
          <a:noFill/>
        </p:spPr>
        <p:txBody>
          <a:bodyPr wrap="square" rtlCol="0">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将具体问题抽象成数学模型，并选择合适的贪心策略；</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将要求解的问题分成若干个子问题；</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寻求每个子问题的局部最优解；</a:t>
            </a: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rPr>
              <a:t>将局部最优解整合得到全局最优解。</a:t>
            </a:r>
            <a:endParaRPr kumimoji="0" lang="en-US" altLang="zh-CN" sz="2800" b="1" i="0" u="none" strike="noStrike" kern="100" cap="none" spc="0" normalizeH="0" baseline="0" noProof="0" dirty="0">
              <a:ln>
                <a:noFill/>
              </a:ln>
              <a:solidFill>
                <a:srgbClr val="014B88"/>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8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rPr>
              <a:t>很容易错误地把非贪心问题当成贪心问题或者使用错误的贪心策略</a:t>
            </a:r>
            <a:endParaRPr kumimoji="0" lang="en-US" altLang="zh-CN" sz="28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3551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10775"/>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基础算法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贪心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简化</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01</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背包问题</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BBD48017-E8C4-4503-BB4F-F1976CAC6415}"/>
              </a:ext>
            </a:extLst>
          </p:cNvPr>
          <p:cNvSpPr txBox="1"/>
          <p:nvPr/>
        </p:nvSpPr>
        <p:spPr>
          <a:xfrm>
            <a:off x="334800" y="1087271"/>
            <a:ext cx="11057859" cy="5157502"/>
          </a:xfrm>
          <a:prstGeom prst="rect">
            <a:avLst/>
          </a:prstGeom>
          <a:noFill/>
        </p:spPr>
        <p:txBody>
          <a:bodyPr wrap="square" rtlCol="0">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描述：有</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10</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块宝石，每块宝石的体积是</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，价值不等，分别为</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4</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5</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6</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7</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8</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9</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10</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，有一个体积为</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5</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的背包，怎样选择宝石，使价值最大</a:t>
            </a:r>
            <a:endPar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贪心策略：每次取价值最大的宝石</a:t>
            </a:r>
            <a:endPar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每块宝石的体积也不等，分别为</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4</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5</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6</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7</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8</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9</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10</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，怎样选择？</a:t>
            </a:r>
            <a:endPar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宝石的体积分别为</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5</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6</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7</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8</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9</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10</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呢？</a:t>
            </a:r>
            <a:endPar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endParaRPr>
          </a:p>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rPr>
              <a:t>贪心的适用范围有限</a:t>
            </a:r>
            <a:endParaRPr kumimoji="0" lang="en-US" altLang="zh-CN" sz="2400" b="1" i="0" u="none" strike="noStrike" kern="100" cap="none" spc="0" normalizeH="0" baseline="0" noProof="0" dirty="0">
              <a:ln>
                <a:noFill/>
              </a:ln>
              <a:solidFill>
                <a:srgbClr val="FF0000"/>
              </a:solidFill>
              <a:effectLst/>
              <a:uLnTx/>
              <a:uFillTx/>
              <a:latin typeface="Consolas" panose="020B0609020204030204" pitchFamily="49"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2248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基础算法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贪心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农场奶牛</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BBD48017-E8C4-4503-BB4F-F1976CAC6415}"/>
              </a:ext>
            </a:extLst>
          </p:cNvPr>
          <p:cNvSpPr txBox="1"/>
          <p:nvPr/>
        </p:nvSpPr>
        <p:spPr>
          <a:xfrm>
            <a:off x="334800" y="1096896"/>
            <a:ext cx="11057859" cy="2943883"/>
          </a:xfrm>
          <a:prstGeom prst="rect">
            <a:avLst/>
          </a:prstGeom>
          <a:noFill/>
        </p:spPr>
        <p:txBody>
          <a:bodyPr wrap="square" rtlCol="0">
            <a:spAutoFit/>
          </a:bodyPr>
          <a:lstStyle/>
          <a:p>
            <a:pPr marL="800100" marR="0" lvl="1" indent="-342900" algn="just" defTabSz="914400" rtl="0" eaLnBrk="1" fontAlgn="auto" latinLnBrk="0" hangingPunct="1">
              <a:lnSpc>
                <a:spcPct val="200000"/>
              </a:lnSpc>
              <a:spcBef>
                <a:spcPts val="0"/>
              </a:spcBef>
              <a:spcAft>
                <a:spcPts val="0"/>
              </a:spcAft>
              <a:buClrTx/>
              <a:buSzTx/>
              <a:buFont typeface="Wingdings" panose="05000000000000000000" pitchFamily="2" charset="2"/>
              <a:buChar char="l"/>
              <a:tabLst/>
              <a:defRPr/>
            </a:pP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描述：农场主</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John</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有 </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N </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头牛，他分配这些牛去打扫圈地卫生（给出每头牛的工作起止时间），</a:t>
            </a:r>
            <a:r>
              <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John</a:t>
            </a:r>
            <a:r>
              <a:rPr kumimoji="0" lang="zh-CN" altLang="en-US"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rPr>
              <a:t>把一天分成若干个时间段让牛去打扫，每头牛打扫的时间是整段时间（不可被分割），你的任务是安排尽量少的牛去完成一天的打扫任务。</a:t>
            </a:r>
            <a:endParaRPr kumimoji="0" lang="en-US" altLang="zh-CN" sz="2400" b="1" i="0" u="none" strike="noStrike" kern="100" cap="none" spc="0" normalizeH="0" baseline="0" noProof="0" dirty="0">
              <a:ln>
                <a:noFill/>
              </a:ln>
              <a:solidFill>
                <a:srgbClr val="00B050"/>
              </a:solidFill>
              <a:effectLst/>
              <a:uLnTx/>
              <a:uFillTx/>
              <a:latin typeface="Consolas" panose="020B0609020204030204" pitchFamily="49" charset="0"/>
              <a:ea typeface="等线"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8F190DDA-2487-4031-89E1-3DC29F5D7127}"/>
              </a:ext>
            </a:extLst>
          </p:cNvPr>
          <p:cNvSpPr/>
          <p:nvPr/>
        </p:nvSpPr>
        <p:spPr>
          <a:xfrm>
            <a:off x="1007370" y="4011904"/>
            <a:ext cx="10582117" cy="2353786"/>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要想安排的牛尽量少，每头牛工作的时间就得尽量长，因此贪心策略为：每头牛的工作时间尽可能长。同时考虑上每头牛的工作开始时间，使得最终的安排充斥整个时间段。具体做法：（1）把每头牛的工作时间按起始时间递增排序；（2）更新已经覆盖的区间，再在剩下的牛的工作时间中找到起始时间小于等于区间右端点且终止时间最靠右的工作时间，再将这个区间加入到已覆盖的区间；（3）重复步骤（2），直到区间全部覆盖。</a:t>
            </a:r>
          </a:p>
        </p:txBody>
      </p:sp>
    </p:spTree>
    <p:extLst>
      <p:ext uri="{BB962C8B-B14F-4D97-AF65-F5344CB8AC3E}">
        <p14:creationId xmlns:p14="http://schemas.microsoft.com/office/powerpoint/2010/main" val="23761927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6">
            <a:extLst>
              <a:ext uri="{FF2B5EF4-FFF2-40B4-BE49-F238E27FC236}">
                <a16:creationId xmlns:a16="http://schemas.microsoft.com/office/drawing/2014/main" id="{933F0046-4AF9-4D59-A230-E18D5E5DB04F}"/>
              </a:ext>
            </a:extLst>
          </p:cNvPr>
          <p:cNvSpPr txBox="1"/>
          <p:nvPr/>
        </p:nvSpPr>
        <p:spPr>
          <a:xfrm>
            <a:off x="334800" y="320400"/>
            <a:ext cx="11684480" cy="651653"/>
          </a:xfrm>
          <a:prstGeom prst="rect">
            <a:avLst/>
          </a:prstGeom>
          <a:noFill/>
        </p:spPr>
        <p:txBody>
          <a:bodyPr wrap="square" rtlCol="0">
            <a:spAutoFit/>
          </a:bodyPr>
          <a:lstStyle/>
          <a:p>
            <a:pPr marL="457200" marR="0" lvl="0" indent="-457200" algn="l" defTabSz="914400" rtl="0" eaLnBrk="1" fontAlgn="auto" latinLnBrk="0" hangingPunct="1">
              <a:lnSpc>
                <a:spcPct val="125000"/>
              </a:lnSpc>
              <a:spcBef>
                <a:spcPts val="0"/>
              </a:spcBef>
              <a:spcAft>
                <a:spcPts val="1200"/>
              </a:spcAft>
              <a:buClrTx/>
              <a:buSzTx/>
              <a:buFont typeface="Wingdings" panose="05000000000000000000" pitchFamily="2" charset="2"/>
              <a:buChar char="n"/>
              <a:tabLst/>
              <a:defRPr/>
            </a:pP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基础算法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贪心 </a:t>
            </a:r>
            <a:r>
              <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田忌赛马</a:t>
            </a:r>
            <a:endParaRPr kumimoji="0" lang="en-US" altLang="zh-CN"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A22B72C7-EBCD-4608-A3F4-21407E9FB3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120" y="1158212"/>
            <a:ext cx="10148116" cy="1836658"/>
          </a:xfrm>
          <a:prstGeom prst="rect">
            <a:avLst/>
          </a:prstGeom>
        </p:spPr>
      </p:pic>
    </p:spTree>
    <p:extLst>
      <p:ext uri="{BB962C8B-B14F-4D97-AF65-F5344CB8AC3E}">
        <p14:creationId xmlns:p14="http://schemas.microsoft.com/office/powerpoint/2010/main" val="578875405"/>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TotalTime>
  <Words>4783</Words>
  <Application>Microsoft Office PowerPoint</Application>
  <PresentationFormat>宽屏</PresentationFormat>
  <Paragraphs>663</Paragraphs>
  <Slides>45</Slides>
  <Notes>21</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45</vt:i4>
      </vt:variant>
    </vt:vector>
  </HeadingPairs>
  <TitlesOfParts>
    <vt:vector size="62" baseType="lpstr">
      <vt:lpstr>-apple-system</vt:lpstr>
      <vt:lpstr>等线</vt:lpstr>
      <vt:lpstr>等线 Light</vt:lpstr>
      <vt:lpstr>仿宋_GB2312</vt:lpstr>
      <vt:lpstr>黑体</vt:lpstr>
      <vt:lpstr>华文楷体</vt:lpstr>
      <vt:lpstr>隶书</vt:lpstr>
      <vt:lpstr>宋体</vt:lpstr>
      <vt:lpstr>微软雅黑</vt:lpstr>
      <vt:lpstr>Arial</vt:lpstr>
      <vt:lpstr>Calibri</vt:lpstr>
      <vt:lpstr>Consolas</vt:lpstr>
      <vt:lpstr>Times New Roman</vt:lpstr>
      <vt:lpstr>Wingdings</vt:lpstr>
      <vt:lpstr>WPS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zmk</dc:creator>
  <cp:lastModifiedBy>zmk</cp:lastModifiedBy>
  <cp:revision>33</cp:revision>
  <dcterms:created xsi:type="dcterms:W3CDTF">2023-08-09T12:44:55Z</dcterms:created>
  <dcterms:modified xsi:type="dcterms:W3CDTF">2026-03-27T12:48:21Z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2052-12.1.0.15259</vt:lpwstr>
  </property>
</Properties>
</file>