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60" r:id="rId3"/>
  </p:sldMasterIdLst>
  <p:notesMasterIdLst>
    <p:notesMasterId r:id="rId155"/>
  </p:notesMasterIdLst>
  <p:sldIdLst>
    <p:sldId id="514" r:id="rId4"/>
    <p:sldId id="308" r:id="rId5"/>
    <p:sldId id="310" r:id="rId6"/>
    <p:sldId id="991" r:id="rId7"/>
    <p:sldId id="307" r:id="rId8"/>
    <p:sldId id="972" r:id="rId9"/>
    <p:sldId id="973" r:id="rId10"/>
    <p:sldId id="309" r:id="rId11"/>
    <p:sldId id="992" r:id="rId12"/>
    <p:sldId id="1730" r:id="rId13"/>
    <p:sldId id="306" r:id="rId14"/>
    <p:sldId id="321" r:id="rId15"/>
    <p:sldId id="322" r:id="rId16"/>
    <p:sldId id="323" r:id="rId17"/>
    <p:sldId id="2397" r:id="rId18"/>
    <p:sldId id="327" r:id="rId19"/>
    <p:sldId id="328" r:id="rId20"/>
    <p:sldId id="329" r:id="rId21"/>
    <p:sldId id="2498" r:id="rId22"/>
    <p:sldId id="1690" r:id="rId23"/>
    <p:sldId id="1721" r:id="rId24"/>
    <p:sldId id="2496" r:id="rId25"/>
    <p:sldId id="1692" r:id="rId26"/>
    <p:sldId id="2497" r:id="rId27"/>
    <p:sldId id="1722" r:id="rId28"/>
    <p:sldId id="1723" r:id="rId29"/>
    <p:sldId id="1724" r:id="rId30"/>
    <p:sldId id="1726" r:id="rId31"/>
    <p:sldId id="1735" r:id="rId32"/>
    <p:sldId id="1740" r:id="rId33"/>
    <p:sldId id="2391" r:id="rId34"/>
    <p:sldId id="1741" r:id="rId35"/>
    <p:sldId id="1742" r:id="rId36"/>
    <p:sldId id="2424" r:id="rId37"/>
    <p:sldId id="1744" r:id="rId38"/>
    <p:sldId id="1745" r:id="rId39"/>
    <p:sldId id="2429" r:id="rId40"/>
    <p:sldId id="2425" r:id="rId41"/>
    <p:sldId id="2427" r:id="rId42"/>
    <p:sldId id="2499" r:id="rId43"/>
    <p:sldId id="2428" r:id="rId44"/>
    <p:sldId id="2430" r:id="rId45"/>
    <p:sldId id="1746" r:id="rId46"/>
    <p:sldId id="2431" r:id="rId47"/>
    <p:sldId id="2470" r:id="rId48"/>
    <p:sldId id="2471" r:id="rId49"/>
    <p:sldId id="2472" r:id="rId50"/>
    <p:sldId id="2473" r:id="rId51"/>
    <p:sldId id="1747" r:id="rId52"/>
    <p:sldId id="1748" r:id="rId53"/>
    <p:sldId id="2474" r:id="rId54"/>
    <p:sldId id="2475" r:id="rId55"/>
    <p:sldId id="2476" r:id="rId56"/>
    <p:sldId id="2478" r:id="rId57"/>
    <p:sldId id="2479" r:id="rId58"/>
    <p:sldId id="2481" r:id="rId59"/>
    <p:sldId id="2493" r:id="rId60"/>
    <p:sldId id="2480" r:id="rId61"/>
    <p:sldId id="2482" r:id="rId62"/>
    <p:sldId id="2484" r:id="rId63"/>
    <p:sldId id="2489" r:id="rId64"/>
    <p:sldId id="2491" r:id="rId65"/>
    <p:sldId id="2490" r:id="rId66"/>
    <p:sldId id="2485" r:id="rId67"/>
    <p:sldId id="2486" r:id="rId68"/>
    <p:sldId id="2487" r:id="rId69"/>
    <p:sldId id="2488" r:id="rId70"/>
    <p:sldId id="438" r:id="rId71"/>
    <p:sldId id="439" r:id="rId72"/>
    <p:sldId id="442" r:id="rId73"/>
    <p:sldId id="443" r:id="rId74"/>
    <p:sldId id="444" r:id="rId75"/>
    <p:sldId id="466" r:id="rId76"/>
    <p:sldId id="445" r:id="rId77"/>
    <p:sldId id="2494" r:id="rId78"/>
    <p:sldId id="1719" r:id="rId79"/>
    <p:sldId id="1720" r:id="rId80"/>
    <p:sldId id="2392" r:id="rId81"/>
    <p:sldId id="2393" r:id="rId82"/>
    <p:sldId id="2394" r:id="rId83"/>
    <p:sldId id="2395" r:id="rId84"/>
    <p:sldId id="2396" r:id="rId85"/>
    <p:sldId id="319" r:id="rId86"/>
    <p:sldId id="320" r:id="rId87"/>
    <p:sldId id="2495" r:id="rId88"/>
    <p:sldId id="2398" r:id="rId89"/>
    <p:sldId id="325" r:id="rId90"/>
    <p:sldId id="326" r:id="rId91"/>
    <p:sldId id="2399" r:id="rId92"/>
    <p:sldId id="2400" r:id="rId93"/>
    <p:sldId id="2401" r:id="rId94"/>
    <p:sldId id="330" r:id="rId95"/>
    <p:sldId id="332" r:id="rId96"/>
    <p:sldId id="333" r:id="rId97"/>
    <p:sldId id="335" r:id="rId98"/>
    <p:sldId id="336" r:id="rId99"/>
    <p:sldId id="337" r:id="rId100"/>
    <p:sldId id="338" r:id="rId101"/>
    <p:sldId id="339" r:id="rId102"/>
    <p:sldId id="340" r:id="rId103"/>
    <p:sldId id="341" r:id="rId104"/>
    <p:sldId id="342" r:id="rId105"/>
    <p:sldId id="343" r:id="rId106"/>
    <p:sldId id="344" r:id="rId107"/>
    <p:sldId id="345" r:id="rId108"/>
    <p:sldId id="346" r:id="rId109"/>
    <p:sldId id="347" r:id="rId110"/>
    <p:sldId id="348" r:id="rId111"/>
    <p:sldId id="2402" r:id="rId112"/>
    <p:sldId id="2403" r:id="rId113"/>
    <p:sldId id="2404" r:id="rId114"/>
    <p:sldId id="2405" r:id="rId115"/>
    <p:sldId id="351" r:id="rId116"/>
    <p:sldId id="1725" r:id="rId117"/>
    <p:sldId id="2406" r:id="rId118"/>
    <p:sldId id="1727" r:id="rId119"/>
    <p:sldId id="1728" r:id="rId120"/>
    <p:sldId id="1729" r:id="rId121"/>
    <p:sldId id="352" r:id="rId122"/>
    <p:sldId id="353" r:id="rId123"/>
    <p:sldId id="354" r:id="rId124"/>
    <p:sldId id="355" r:id="rId125"/>
    <p:sldId id="2407" r:id="rId126"/>
    <p:sldId id="357" r:id="rId127"/>
    <p:sldId id="369" r:id="rId128"/>
    <p:sldId id="359" r:id="rId129"/>
    <p:sldId id="360" r:id="rId130"/>
    <p:sldId id="361" r:id="rId131"/>
    <p:sldId id="362" r:id="rId132"/>
    <p:sldId id="370" r:id="rId133"/>
    <p:sldId id="2408" r:id="rId134"/>
    <p:sldId id="363" r:id="rId135"/>
    <p:sldId id="2409" r:id="rId136"/>
    <p:sldId id="378" r:id="rId137"/>
    <p:sldId id="379" r:id="rId138"/>
    <p:sldId id="377" r:id="rId139"/>
    <p:sldId id="2410" r:id="rId140"/>
    <p:sldId id="376" r:id="rId141"/>
    <p:sldId id="375" r:id="rId142"/>
    <p:sldId id="2411" r:id="rId143"/>
    <p:sldId id="2413" r:id="rId144"/>
    <p:sldId id="2414" r:id="rId145"/>
    <p:sldId id="2415" r:id="rId146"/>
    <p:sldId id="2416" r:id="rId147"/>
    <p:sldId id="2417" r:id="rId148"/>
    <p:sldId id="2418" r:id="rId149"/>
    <p:sldId id="1737" r:id="rId150"/>
    <p:sldId id="2419" r:id="rId151"/>
    <p:sldId id="2420" r:id="rId152"/>
    <p:sldId id="2421" r:id="rId153"/>
    <p:sldId id="2422" r:id="rId1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7" d="100"/>
          <a:sy n="77" d="100"/>
        </p:scale>
        <p:origin x="23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tableStyles" Target="tableStyles.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50" Type="http://schemas.openxmlformats.org/officeDocument/2006/relationships/slide" Target="slides/slide147.xml"/><Relationship Id="rId155" Type="http://schemas.openxmlformats.org/officeDocument/2006/relationships/notesMaster" Target="notesMasters/notesMaster1.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slide" Target="slides/slide142.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presProps" Target="pres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1.wmf"/><Relationship Id="rId7" Type="http://schemas.openxmlformats.org/officeDocument/2006/relationships/image" Target="../media/image75.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8.wmf"/><Relationship Id="rId1" Type="http://schemas.openxmlformats.org/officeDocument/2006/relationships/image" Target="../media/image1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226CC-D057-4076-973D-28E1C9E2EB25}" type="datetimeFigureOut">
              <a:rPr lang="zh-CN" altLang="en-US" smtClean="0"/>
              <a:t>2026-05-08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C9969-7BFD-472B-BE30-5B3FAF9D0D4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A718BCC-8E0E-4014-A15C-131A86B0AD6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718BCC-8E0E-4014-A15C-131A86B0AD65}" type="slidenum">
              <a:rPr lang="zh-CN" altLang="en-US" smtClean="0"/>
              <a:t>13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body"/>
          </p:nvPr>
        </p:nvSpPr>
        <p:spPr>
          <a:xfrm>
            <a:off x="685800" y="4400640"/>
            <a:ext cx="5485320" cy="3599280"/>
          </a:xfrm>
          <a:prstGeom prst="rect">
            <a:avLst/>
          </a:prstGeom>
        </p:spPr>
        <p:txBody>
          <a:bodyPr lIns="0" tIns="0" rIns="0" bIns="0"/>
          <a:lstStyle/>
          <a:p>
            <a:r>
              <a:rPr lang="en-US" sz="2000" strike="noStrike" spc="-1" dirty="0">
                <a:solidFill>
                  <a:srgbClr val="000000"/>
                </a:solidFill>
                <a:uFill>
                  <a:solidFill>
                    <a:srgbClr val="FFFFFF"/>
                  </a:solidFill>
                </a:uFill>
                <a:latin typeface="Arial" panose="020B0604020202020204"/>
              </a:rPr>
              <a:t>一颗深度为n，且没有任何剪枝行为的搜索树，节点总数为2^0+2^1+…2^(n-1)=2^n-1</a:t>
            </a:r>
          </a:p>
          <a:p>
            <a:r>
              <a:rPr lang="en-US" sz="2000" strike="noStrike" spc="-1" dirty="0">
                <a:solidFill>
                  <a:srgbClr val="000000"/>
                </a:solidFill>
                <a:uFill>
                  <a:solidFill>
                    <a:srgbClr val="FFFFFF"/>
                  </a:solidFill>
                </a:uFill>
                <a:latin typeface="Arial" panose="020B0604020202020204"/>
              </a:rPr>
              <a:t>假设解在第n+1层，搜索树的深度增加1后，为2^n-1+2^n=2^(n+1)-1。</a:t>
            </a:r>
          </a:p>
          <a:p>
            <a:r>
              <a:rPr lang="en-US" sz="2000" strike="noStrike" spc="-1" dirty="0">
                <a:solidFill>
                  <a:srgbClr val="000000"/>
                </a:solidFill>
                <a:uFill>
                  <a:solidFill>
                    <a:srgbClr val="FFFFFF"/>
                  </a:solidFill>
                </a:uFill>
                <a:latin typeface="Arial" panose="020B0604020202020204"/>
              </a:rPr>
              <a:t>深度1~n的搜索代价总和为2^(n+1)-n-2，于是深度为n+1时的代价和之前所有深度的搜索代价和几乎是同一数量级的。</a:t>
            </a:r>
          </a:p>
        </p:txBody>
      </p:sp>
      <p:sp>
        <p:nvSpPr>
          <p:cNvPr id="112" name="CustomShape 2"/>
          <p:cNvSpPr/>
          <p:nvPr/>
        </p:nvSpPr>
        <p:spPr>
          <a:xfrm>
            <a:off x="3884760" y="8685360"/>
            <a:ext cx="2970720" cy="45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1DEC955-3180-4269-994F-BE7AC82AD3D3}" type="slidenum">
              <a:rPr lang="en-US" sz="1200" strike="noStrike" spc="-1">
                <a:solidFill>
                  <a:srgbClr val="000000"/>
                </a:solidFill>
                <a:uFill>
                  <a:solidFill>
                    <a:srgbClr val="FFFFFF"/>
                  </a:solidFill>
                </a:uFill>
                <a:latin typeface="+mn-lt"/>
                <a:ea typeface="+mn-ea"/>
              </a:rPr>
              <a:t>16</a:t>
            </a:fld>
            <a:endParaRPr lang="en-US" sz="1800" strike="noStrike" spc="-1">
              <a:solidFill>
                <a:srgbClr val="000000"/>
              </a:solidFill>
              <a:uFill>
                <a:solidFill>
                  <a:srgbClr val="FFFFFF"/>
                </a:solidFill>
              </a:uFill>
              <a:latin typeface="Arial" panose="020B060402020202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33485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20533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93805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89781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51237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272386" name="幻灯片图像占位符 272385"/>
          <p:cNvSpPr>
            <a:spLocks noGrp="1" noRot="1" noChangeAspect="1" noTextEdit="1"/>
          </p:cNvSpPr>
          <p:nvPr>
            <p:ph type="sldImg"/>
          </p:nvPr>
        </p:nvSpPr>
        <p:spPr>
          <a:ln/>
        </p:spPr>
      </p:sp>
      <p:sp>
        <p:nvSpPr>
          <p:cNvPr id="272387" name="文本占位符 272386"/>
          <p:cNvSpPr>
            <a:spLocks noGrp="1"/>
          </p:cNvSpPr>
          <p:nvPr>
            <p:ph type="body" idx="1"/>
          </p:nvPr>
        </p:nvSpPr>
        <p:spPr>
          <a:ln/>
        </p:spPr>
        <p:txBody>
          <a:bodyPr/>
          <a:lstStyle/>
          <a:p>
            <a:pPr lvl="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655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E4A77A-AC59-4A65-901D-04A850609173}" type="slidenum">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6" name="Slide Image Placeholder 1"/>
          <p:cNvSpPr>
            <a:spLocks noGrp="1" noRot="1" noChangeAspect="1"/>
          </p:cNvSpPr>
          <p:nvPr>
            <p:ph type="sldImg"/>
          </p:nvPr>
        </p:nvSpPr>
        <p:spPr/>
      </p:sp>
      <p:sp>
        <p:nvSpPr>
          <p:cNvPr id="1048767" name="Notes Placeholder 2"/>
          <p:cNvSpPr>
            <a:spLocks noGrp="1"/>
          </p:cNvSpPr>
          <p:nvPr>
            <p:ph type="body" idx="1"/>
          </p:nvPr>
        </p:nvSpPr>
        <p:spPr/>
        <p:txBody>
          <a:bodyPr/>
          <a:lstStyle/>
          <a:p>
            <a:endParaRPr lang="en-US" dirty="0"/>
          </a:p>
        </p:txBody>
      </p:sp>
      <p:sp>
        <p:nvSpPr>
          <p:cNvPr id="1048768"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2" name="Slide Image Placeholder 1"/>
          <p:cNvSpPr>
            <a:spLocks noGrp="1" noRot="1" noChangeAspect="1"/>
          </p:cNvSpPr>
          <p:nvPr>
            <p:ph type="sldImg"/>
          </p:nvPr>
        </p:nvSpPr>
        <p:spPr/>
      </p:sp>
      <p:sp>
        <p:nvSpPr>
          <p:cNvPr id="1048773" name="Notes Placeholder 2"/>
          <p:cNvSpPr>
            <a:spLocks noGrp="1"/>
          </p:cNvSpPr>
          <p:nvPr>
            <p:ph type="body" idx="1"/>
          </p:nvPr>
        </p:nvSpPr>
        <p:spPr/>
        <p:txBody>
          <a:bodyPr/>
          <a:lstStyle/>
          <a:p>
            <a:endParaRPr lang="en-US" dirty="0"/>
          </a:p>
        </p:txBody>
      </p:sp>
      <p:sp>
        <p:nvSpPr>
          <p:cNvPr id="104877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8" name="Slide Image Placeholder 1"/>
          <p:cNvSpPr>
            <a:spLocks noGrp="1" noRot="1" noChangeAspect="1"/>
          </p:cNvSpPr>
          <p:nvPr>
            <p:ph type="sldImg"/>
          </p:nvPr>
        </p:nvSpPr>
        <p:spPr/>
      </p:sp>
      <p:sp>
        <p:nvSpPr>
          <p:cNvPr id="1048779" name="Notes Placeholder 2"/>
          <p:cNvSpPr>
            <a:spLocks noGrp="1"/>
          </p:cNvSpPr>
          <p:nvPr>
            <p:ph type="body" idx="1"/>
          </p:nvPr>
        </p:nvSpPr>
        <p:spPr/>
        <p:txBody>
          <a:bodyPr/>
          <a:lstStyle/>
          <a:p>
            <a:endParaRPr lang="en-US" dirty="0"/>
          </a:p>
        </p:txBody>
      </p:sp>
      <p:sp>
        <p:nvSpPr>
          <p:cNvPr id="1048780"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5" name="Slide Image Placeholder 1"/>
          <p:cNvSpPr>
            <a:spLocks noGrp="1" noRot="1" noChangeAspect="1"/>
          </p:cNvSpPr>
          <p:nvPr>
            <p:ph type="sldImg"/>
          </p:nvPr>
        </p:nvSpPr>
        <p:spPr/>
      </p:sp>
      <p:sp>
        <p:nvSpPr>
          <p:cNvPr id="1048786" name="Notes Placeholder 2"/>
          <p:cNvSpPr>
            <a:spLocks noGrp="1"/>
          </p:cNvSpPr>
          <p:nvPr>
            <p:ph type="body" idx="1"/>
          </p:nvPr>
        </p:nvSpPr>
        <p:spPr/>
        <p:txBody>
          <a:bodyPr/>
          <a:lstStyle/>
          <a:p>
            <a:endParaRPr lang="en-US" dirty="0"/>
          </a:p>
        </p:txBody>
      </p:sp>
      <p:sp>
        <p:nvSpPr>
          <p:cNvPr id="1048787"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8" name="图片 7"/>
          <p:cNvPicPr>
            <a:picLocks noChangeAspect="1"/>
          </p:cNvPicPr>
          <p:nvPr userDrawn="1"/>
        </p:nvPicPr>
        <p:blipFill rotWithShape="1">
          <a:blip r:embed="rId2"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7" name="图片 8" descr="WechatIMG2.jpe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0277" y="289894"/>
            <a:ext cx="1897862" cy="55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userDrawn="1"/>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 name="图片 8" descr="WechatIMG2.jpe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0277" y="289894"/>
            <a:ext cx="1897862" cy="55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CB077E6C-12EB-46C4-85B9-839AD5856171}"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25963"/>
          </a:xfrm>
        </p:spPr>
        <p:txBody>
          <a:bodyPr/>
          <a:lstStyle/>
          <a:p>
            <a:endParaRPr lang="zh-CN" altLang="en-US"/>
          </a:p>
        </p:txBody>
      </p:sp>
      <p:sp>
        <p:nvSpPr>
          <p:cNvPr id="4" name="日期占位符 3"/>
          <p:cNvSpPr>
            <a:spLocks noGrp="1"/>
          </p:cNvSpPr>
          <p:nvPr>
            <p:ph type="dt" sz="half" idx="10"/>
          </p:nvPr>
        </p:nvSpPr>
        <p:spPr>
          <a:xfrm>
            <a:off x="609600" y="6245225"/>
            <a:ext cx="2844800" cy="476250"/>
          </a:xfrm>
        </p:spPr>
        <p:txBody>
          <a:bodyPr/>
          <a:lstStyle>
            <a:lvl1pPr>
              <a:defRPr/>
            </a:lvl1pPr>
          </a:lstStyle>
          <a:p>
            <a:endParaRPr lang="en-US" altLang="zh-CN"/>
          </a:p>
        </p:txBody>
      </p:sp>
      <p:sp>
        <p:nvSpPr>
          <p:cNvPr id="5" name="页脚占位符 4"/>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5225"/>
            <a:ext cx="2844800" cy="476250"/>
          </a:xfrm>
        </p:spPr>
        <p:txBody>
          <a:bodyPr/>
          <a:lstStyle>
            <a:lvl1pPr>
              <a:defRPr/>
            </a:lvl1pPr>
          </a:lstStyle>
          <a:p>
            <a:fld id="{90E15AEE-7382-452F-9082-1351453B8B90}"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r>
              <a:rPr lang="zh-CN" altLang="en-US" dirty="0"/>
              <a:t>单击此处编辑一级标题样式</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0" indent="0">
              <a:buFontTx/>
              <a:buNone/>
              <a:defRPr sz="2000">
                <a:latin typeface="微软雅黑" panose="020B0503020204020204" pitchFamily="34" charset="-122"/>
                <a:ea typeface="微软雅黑" panose="020B0503020204020204" pitchFamily="34" charset="-122"/>
              </a:defRPr>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r>
              <a:rPr lang="zh-CN" altLang="en-US" dirty="0"/>
              <a:t>单击此处编辑一级标题样式</a:t>
            </a:r>
          </a:p>
        </p:txBody>
      </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单击此处编辑小节名</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0" indent="0">
              <a:buFontTx/>
              <a:buNone/>
              <a:defRPr sz="2000">
                <a:latin typeface="微软雅黑" panose="020B0503020204020204" pitchFamily="34" charset="-122"/>
                <a:ea typeface="微软雅黑" panose="020B0503020204020204" pitchFamily="34" charset="-122"/>
              </a:defRPr>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82300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133461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124641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264790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334348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1657460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1175198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9307215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22871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0303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2026-05-08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143529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_slides">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94251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2026-05-08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5679740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zmk@tju.edu.cn"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hyperlink" Target="http://poj.org/problem?id=1011" TargetMode="Externa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6.xml"/><Relationship Id="rId4" Type="http://schemas.openxmlformats.org/officeDocument/2006/relationships/image" Target="../media/image12.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7.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7.xml"/><Relationship Id="rId1" Type="http://schemas.openxmlformats.org/officeDocument/2006/relationships/vmlDrawing" Target="../drawings/vmlDrawing1.vml"/><Relationship Id="rId6" Type="http://schemas.openxmlformats.org/officeDocument/2006/relationships/image" Target="../media/image26.wmf"/><Relationship Id="rId5" Type="http://schemas.openxmlformats.org/officeDocument/2006/relationships/oleObject" Target="../embeddings/oleObject2.bin"/><Relationship Id="rId4" Type="http://schemas.openxmlformats.org/officeDocument/2006/relationships/image" Target="../media/image25.wmf"/></Relationships>
</file>

<file path=ppt/slides/_rels/slide46.xml.rels><?xml version="1.0" encoding="UTF-8" standalone="yes"?>
<Relationships xmlns="http://schemas.openxmlformats.org/package/2006/relationships"><Relationship Id="rId3" Type="http://schemas.openxmlformats.org/officeDocument/2006/relationships/image" Target="../media/image160.png"/><Relationship Id="rId7" Type="http://schemas.openxmlformats.org/officeDocument/2006/relationships/image" Target="../media/image200.png"/><Relationship Id="rId2" Type="http://schemas.openxmlformats.org/officeDocument/2006/relationships/image" Target="../media/image150.png"/><Relationship Id="rId1" Type="http://schemas.openxmlformats.org/officeDocument/2006/relationships/slideLayout" Target="../slideLayouts/slideLayout17.xml"/><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170.png"/></Relationships>
</file>

<file path=ppt/slides/_rels/slide47.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0.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7.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slideLayout" Target="../slideLayouts/slideLayout17.xml"/><Relationship Id="rId4" Type="http://schemas.openxmlformats.org/officeDocument/2006/relationships/image" Target="../media/image35.wmf"/></Relationships>
</file>

<file path=ppt/slides/_rels/slide54.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41.wmf"/><Relationship Id="rId12" Type="http://schemas.openxmlformats.org/officeDocument/2006/relationships/image" Target="../media/image46.wmf"/><Relationship Id="rId2" Type="http://schemas.openxmlformats.org/officeDocument/2006/relationships/image" Target="../media/image36.wmf"/><Relationship Id="rId1" Type="http://schemas.openxmlformats.org/officeDocument/2006/relationships/slideLayout" Target="../slideLayouts/slideLayout17.xml"/><Relationship Id="rId6" Type="http://schemas.openxmlformats.org/officeDocument/2006/relationships/image" Target="../media/image40.wmf"/><Relationship Id="rId11" Type="http://schemas.openxmlformats.org/officeDocument/2006/relationships/image" Target="../media/image45.wmf"/><Relationship Id="rId5" Type="http://schemas.openxmlformats.org/officeDocument/2006/relationships/image" Target="../media/image39.wmf"/><Relationship Id="rId10" Type="http://schemas.openxmlformats.org/officeDocument/2006/relationships/image" Target="../media/image44.wmf"/><Relationship Id="rId4" Type="http://schemas.openxmlformats.org/officeDocument/2006/relationships/image" Target="../media/image38.wmf"/><Relationship Id="rId9" Type="http://schemas.openxmlformats.org/officeDocument/2006/relationships/image" Target="../media/image43.wmf"/></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hyperlink" Target="https://baike.baidu.com/item/%E7%A7%A6%E4%B9%9D%E9%9F%B6/0?fromModule=lemma_inlink" TargetMode="External"/><Relationship Id="rId2" Type="http://schemas.openxmlformats.org/officeDocument/2006/relationships/hyperlink" Target="https://baike.baidu.com/item/%E5%AE%8B%E6%9C%9D/0?fromModule=lemma_inlink" TargetMode="External"/><Relationship Id="rId1" Type="http://schemas.openxmlformats.org/officeDocument/2006/relationships/slideLayout" Target="../slideLayouts/slideLayout17.xml"/><Relationship Id="rId5" Type="http://schemas.openxmlformats.org/officeDocument/2006/relationships/hyperlink" Target="https://baike.baidu.com/item/%E7%A8%8B%E5%A4%A7%E4%BD%8D/0?fromModule=lemma_inlink" TargetMode="External"/><Relationship Id="rId4" Type="http://schemas.openxmlformats.org/officeDocument/2006/relationships/hyperlink" Target="https://baike.baidu.com/item/%E6%95%B0%E4%B9%A6%E4%B9%9D%E7%AB%A0/0?fromModule=lemma_inlink"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7.xml"/><Relationship Id="rId5" Type="http://schemas.openxmlformats.org/officeDocument/2006/relationships/image" Target="../media/image54.png"/><Relationship Id="rId4" Type="http://schemas.openxmlformats.org/officeDocument/2006/relationships/image" Target="../media/image53.png"/></Relationships>
</file>

<file path=ppt/slides/_rels/slide6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6.png"/><Relationship Id="rId7" Type="http://schemas.openxmlformats.org/officeDocument/2006/relationships/image" Target="../media/image58.png"/><Relationship Id="rId2" Type="http://schemas.openxmlformats.org/officeDocument/2006/relationships/image" Target="../media/image55.png"/><Relationship Id="rId1" Type="http://schemas.openxmlformats.org/officeDocument/2006/relationships/slideLayout" Target="../slideLayouts/slideLayout17.xml"/><Relationship Id="rId6" Type="http://schemas.openxmlformats.org/officeDocument/2006/relationships/image" Target="../media/image57.png"/><Relationship Id="rId5" Type="http://schemas.openxmlformats.org/officeDocument/2006/relationships/image" Target="../media/image520.png"/><Relationship Id="rId4"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73.wmf"/><Relationship Id="rId3" Type="http://schemas.openxmlformats.org/officeDocument/2006/relationships/notesSlide" Target="../notesSlides/notesSlide10.xml"/><Relationship Id="rId7" Type="http://schemas.openxmlformats.org/officeDocument/2006/relationships/image" Target="../media/image70.wmf"/><Relationship Id="rId12" Type="http://schemas.openxmlformats.org/officeDocument/2006/relationships/oleObject" Target="../embeddings/oleObject7.bin"/><Relationship Id="rId17" Type="http://schemas.openxmlformats.org/officeDocument/2006/relationships/image" Target="../media/image75.wmf"/><Relationship Id="rId2" Type="http://schemas.openxmlformats.org/officeDocument/2006/relationships/slideLayout" Target="../slideLayouts/slideLayout17.xml"/><Relationship Id="rId16" Type="http://schemas.openxmlformats.org/officeDocument/2006/relationships/oleObject" Target="../embeddings/oleObject9.bin"/><Relationship Id="rId1" Type="http://schemas.openxmlformats.org/officeDocument/2006/relationships/vmlDrawing" Target="../drawings/vmlDrawing2.vml"/><Relationship Id="rId6" Type="http://schemas.openxmlformats.org/officeDocument/2006/relationships/oleObject" Target="../embeddings/oleObject4.bin"/><Relationship Id="rId11" Type="http://schemas.openxmlformats.org/officeDocument/2006/relationships/image" Target="../media/image72.wmf"/><Relationship Id="rId5" Type="http://schemas.openxmlformats.org/officeDocument/2006/relationships/image" Target="../media/image69.wmf"/><Relationship Id="rId15" Type="http://schemas.openxmlformats.org/officeDocument/2006/relationships/image" Target="../media/image74.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71.wmf"/><Relationship Id="rId14" Type="http://schemas.openxmlformats.org/officeDocument/2006/relationships/oleObject" Target="../embeddings/oleObject8.bin"/></Relationships>
</file>

<file path=ppt/slides/_rels/slide8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7.xml"/><Relationship Id="rId1" Type="http://schemas.openxmlformats.org/officeDocument/2006/relationships/vmlDrawing" Target="../drawings/vmlDrawing3.vml"/><Relationship Id="rId4" Type="http://schemas.openxmlformats.org/officeDocument/2006/relationships/image" Target="../media/image78.w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79.png"/><Relationship Id="rId1" Type="http://schemas.openxmlformats.org/officeDocument/2006/relationships/slideLayout" Target="../slideLayouts/slideLayout1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6.png"/></Relationships>
</file>

<file path=ppt/slides/_rels/slide8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7.xml"/><Relationship Id="rId1" Type="http://schemas.openxmlformats.org/officeDocument/2006/relationships/vmlDrawing" Target="../drawings/vmlDrawing4.vml"/><Relationship Id="rId4" Type="http://schemas.openxmlformats.org/officeDocument/2006/relationships/image" Target="../media/image90.w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17.xml"/></Relationships>
</file>

<file path=ppt/slides/_rels/slide95.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17.xml"/></Relationships>
</file>

<file path=ppt/slides/_rels/slide101.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17.xml"/></Relationships>
</file>

<file path=ppt/slides/_rels/slide102.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17.xml"/></Relationships>
</file>

<file path=ppt/slides/_rels/slide103.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17.xml"/></Relationships>
</file>

<file path=ppt/slides/_rels/slide104.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17.xml"/></Relationships>
</file>

<file path=ppt/slides/_rels/slide105.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17.xml"/></Relationships>
</file>

<file path=ppt/slides/_rels/slide106.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1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3.xml"/><Relationship Id="rId1" Type="http://schemas.openxmlformats.org/officeDocument/2006/relationships/slideLayout" Target="../slideLayouts/slideLayout22.xml"/><Relationship Id="rId4" Type="http://schemas.openxmlformats.org/officeDocument/2006/relationships/image" Target="../media/image107.pn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7.xml"/></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7.xml"/><Relationship Id="rId1" Type="http://schemas.openxmlformats.org/officeDocument/2006/relationships/vmlDrawing" Target="../drawings/vmlDrawing5.vml"/><Relationship Id="rId6" Type="http://schemas.openxmlformats.org/officeDocument/2006/relationships/image" Target="../media/image118.wmf"/><Relationship Id="rId5" Type="http://schemas.openxmlformats.org/officeDocument/2006/relationships/oleObject" Target="../embeddings/oleObject13.bin"/><Relationship Id="rId4" Type="http://schemas.openxmlformats.org/officeDocument/2006/relationships/image" Target="../media/image117.wmf"/></Relationships>
</file>

<file path=ppt/slides/_rels/slide14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17.xml"/></Relationships>
</file>

<file path=ppt/slides/_rels/slide14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7.xml"/></Relationships>
</file>

<file path=ppt/slides/_rels/slide14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7.xml"/></Relationships>
</file>

<file path=ppt/slides/_rels/slide14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7.xml"/></Relationships>
</file>

<file path=ppt/slides/_rels/slide14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7.xml"/></Relationships>
</file>

<file path=ppt/slides/_rels/slide14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17.xml"/></Relationships>
</file>

<file path=ppt/slides/_rels/slide147.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7.xml"/></Relationships>
</file>

<file path=ppt/slides/_rels/slide14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7.xml"/></Relationships>
</file>

<file path=ppt/slides/_rels/slide149.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7.xml"/></Relationships>
</file>

<file path=ppt/slides/_rels/slide150.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17.xml"/></Relationships>
</file>

<file path=ppt/slides/_rels/slide15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
        <p:nvSpPr>
          <p:cNvPr id="2" name="灯片编号占位符 1"/>
          <p:cNvSpPr>
            <a:spLocks noGrp="1"/>
          </p:cNvSpPr>
          <p:nvPr>
            <p:ph type="sldNum" sz="quarter" idx="4294967295"/>
          </p:nvPr>
        </p:nvSpPr>
        <p:spPr>
          <a:xfrm>
            <a:off x="9448800" y="6492875"/>
            <a:ext cx="2743200" cy="365125"/>
          </a:xfrm>
          <a:prstGeom prst="rect">
            <a:avLst/>
          </a:prstGeom>
        </p:spPr>
        <p:txBody>
          <a:bodyPr/>
          <a:lstStyle/>
          <a:p>
            <a:fld id="{CFD2B472-FC81-4D56-BB73-EBB478A21F5E}" type="slidenum">
              <a:rPr lang="zh-CN" altLang="en-US" smtClean="0"/>
              <a:t>1</a:t>
            </a:fld>
            <a:endParaRPr lang="zh-CN" altLang="en-US"/>
          </a:p>
        </p:txBody>
      </p:sp>
      <p:sp>
        <p:nvSpPr>
          <p:cNvPr id="5" name="文本框 5"/>
          <p:cNvSpPr txBox="1">
            <a:spLocks noChangeArrowheads="1"/>
          </p:cNvSpPr>
          <p:nvPr/>
        </p:nvSpPr>
        <p:spPr bwMode="auto">
          <a:xfrm>
            <a:off x="1032671" y="2051405"/>
            <a:ext cx="10311215" cy="2343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defTabSz="6858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1pPr>
            <a:lvl2pPr marL="742950" indent="-285750" defTabSz="685800">
              <a:spcBef>
                <a:spcPct val="20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2pPr>
            <a:lvl3pPr marL="1143000" indent="-228600" defTabSz="6858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685800">
              <a:spcBef>
                <a:spcPct val="20000"/>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4pPr>
            <a:lvl5pPr marL="2057400" indent="-228600" defTabSz="685800">
              <a:spcBef>
                <a:spcPct val="20000"/>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9pPr>
          </a:lstStyle>
          <a:p>
            <a:pPr algn="ctr">
              <a:buNone/>
            </a:pPr>
            <a:r>
              <a:rPr lang="zh-CN" altLang="en-US"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程序设计综合实践</a:t>
            </a:r>
            <a:endParaRPr lang="en-US" altLang="zh-CN"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endParaRPr lang="en-US" altLang="zh-CN"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hlinkClick r:id="rId4"/>
              </a:rPr>
              <a:t>zmk@tju.edu.cn</a:t>
            </a:r>
            <a:endPar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喻梅，于瑞国，王建荣，李雪威，赵满坤，应翔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文本占位符 68610"/>
          <p:cNvSpPr>
            <a:spLocks noGrp="1" noRot="1"/>
          </p:cNvSpPr>
          <p:nvPr>
            <p:ph type="body" idx="4294967295"/>
          </p:nvPr>
        </p:nvSpPr>
        <p:spPr>
          <a:xfrm>
            <a:off x="-107617" y="1253331"/>
            <a:ext cx="12126897" cy="651653"/>
          </a:xfrm>
        </p:spPr>
        <p:txBody>
          <a:bodyPr/>
          <a:lstStyle/>
          <a:p>
            <a:pPr>
              <a:buFont typeface="Arial" panose="020B0604020202020204" pitchFamily="34" charset="0"/>
              <a:buNone/>
            </a:pPr>
            <a:r>
              <a:rPr lang="en-US" altLang="zh-CN" noProof="1"/>
              <a:t>		</a:t>
            </a:r>
            <a:r>
              <a:rPr lang="en-US" altLang="zh-CN" sz="2400" b="1" kern="100" noProof="1">
                <a:solidFill>
                  <a:srgbClr val="014B88"/>
                </a:solidFill>
                <a:latin typeface="仿宋_GB2312"/>
                <a:cs typeface="Times New Roman" panose="02020603050405020304" pitchFamily="18" charset="0"/>
              </a:rPr>
              <a:t>  </a:t>
            </a:r>
            <a:r>
              <a:rPr lang="zh-CN" altLang="en-US" sz="2400" b="1" kern="100" noProof="1">
                <a:solidFill>
                  <a:srgbClr val="014B88"/>
                </a:solidFill>
                <a:latin typeface="仿宋_GB2312"/>
                <a:cs typeface="Times New Roman" panose="02020603050405020304" pitchFamily="18" charset="0"/>
              </a:rPr>
              <a:t>给定</a:t>
            </a:r>
            <a:r>
              <a:rPr lang="en-US" altLang="zh-CN" sz="2400" b="1" kern="100" noProof="1">
                <a:solidFill>
                  <a:srgbClr val="014B88"/>
                </a:solidFill>
                <a:latin typeface="仿宋_GB2312"/>
                <a:cs typeface="Times New Roman" panose="02020603050405020304" pitchFamily="18" charset="0"/>
              </a:rPr>
              <a:t>n</a:t>
            </a:r>
            <a:r>
              <a:rPr lang="zh-CN" altLang="en-US" sz="2400" b="1" kern="100" noProof="1">
                <a:solidFill>
                  <a:srgbClr val="014B88"/>
                </a:solidFill>
                <a:latin typeface="仿宋_GB2312"/>
                <a:cs typeface="Times New Roman" panose="02020603050405020304" pitchFamily="18" charset="0"/>
              </a:rPr>
              <a:t>，求一个</a:t>
            </a:r>
            <a:r>
              <a:rPr lang="en-US" altLang="zh-CN" sz="2400" b="1" kern="100" noProof="1">
                <a:solidFill>
                  <a:srgbClr val="014B88"/>
                </a:solidFill>
                <a:latin typeface="仿宋_GB2312"/>
                <a:cs typeface="Times New Roman" panose="02020603050405020304" pitchFamily="18" charset="0"/>
              </a:rPr>
              <a:t>1 ~ n</a:t>
            </a:r>
            <a:r>
              <a:rPr lang="zh-CN" altLang="en-US" sz="2400" b="1" kern="100" noProof="1">
                <a:solidFill>
                  <a:srgbClr val="014B88"/>
                </a:solidFill>
                <a:latin typeface="仿宋_GB2312"/>
                <a:cs typeface="Times New Roman" panose="02020603050405020304" pitchFamily="18" charset="0"/>
              </a:rPr>
              <a:t>的圆环，使得该圆环任意两个相邻的数的和为素数。</a:t>
            </a:r>
          </a:p>
        </p:txBody>
      </p:sp>
      <p:pic>
        <p:nvPicPr>
          <p:cNvPr id="56323" name="Picture 4" descr="showim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0467" y="2186262"/>
            <a:ext cx="29527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素数环问题</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334800" y="1145358"/>
            <a:ext cx="10515600" cy="4351337"/>
          </a:xfrm>
        </p:spPr>
        <p:txBody>
          <a:bodyPr/>
          <a:lstStyle/>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从</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开始，将</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作为树的根节点，不断向下</a:t>
            </a:r>
            <a:r>
              <a:rPr lang="en-US" altLang="zh-CN" b="1" kern="100" noProof="1">
                <a:solidFill>
                  <a:srgbClr val="014B88"/>
                </a:solidFill>
                <a:latin typeface="仿宋_GB2312"/>
                <a:cs typeface="Times New Roman" panose="02020603050405020304" pitchFamily="18" charset="0"/>
              </a:rPr>
              <a:t>dfs</a:t>
            </a:r>
            <a:r>
              <a:rPr lang="zh-CN" altLang="en-US" b="1" kern="100" noProof="1">
                <a:solidFill>
                  <a:srgbClr val="014B88"/>
                </a:solidFill>
                <a:latin typeface="仿宋_GB2312"/>
                <a:cs typeface="Times New Roman" panose="02020603050405020304" pitchFamily="18" charset="0"/>
              </a:rPr>
              <a:t>搜索可行解。</a:t>
            </a:r>
          </a:p>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注意判断解是否可行的函数的使用。</a:t>
            </a:r>
          </a:p>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注意终止条件。</a:t>
            </a:r>
            <a:endParaRPr lang="zh-CN" altLang="en-US" noProof="1"/>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素数环问题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一种可行方法</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pic>
        <p:nvPicPr>
          <p:cNvPr id="5" name="内容占位符 3" descr="QQ图片20170114145746"/>
          <p:cNvPicPr>
            <a:picLocks noChangeAspect="1" noChangeArrowheads="1"/>
          </p:cNvPicPr>
          <p:nvPr/>
        </p:nvPicPr>
        <p:blipFill rotWithShape="1">
          <a:blip r:embed="rId2">
            <a:extLst>
              <a:ext uri="{28A0092B-C50C-407E-A947-70E740481C1C}">
                <a14:useLocalDpi xmlns:a14="http://schemas.microsoft.com/office/drawing/2010/main" val="0"/>
              </a:ext>
            </a:extLst>
          </a:blip>
          <a:srcRect l="976"/>
          <a:stretch>
            <a:fillRect/>
          </a:stretch>
        </p:blipFill>
        <p:spPr bwMode="auto">
          <a:xfrm>
            <a:off x="6232124" y="2038625"/>
            <a:ext cx="5586891" cy="44989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txBox="1">
            <a:spLocks noChangeArrowheads="1"/>
          </p:cNvSpPr>
          <p:nvPr/>
        </p:nvSpPr>
        <p:spPr bwMode="auto">
          <a:xfrm>
            <a:off x="1752600" y="304800"/>
            <a:ext cx="8686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algn="r" eaLnBrk="1" hangingPunct="1"/>
            <a:endParaRPr lang="zh-CN" altLang="zh-CN" sz="2600">
              <a:ea typeface="宋体" panose="02010600030101010101" pitchFamily="2" charset="-122"/>
            </a:endParaRPr>
          </a:p>
        </p:txBody>
      </p:sp>
      <p:sp>
        <p:nvSpPr>
          <p:cNvPr id="45060" name="Rectangle 2"/>
          <p:cNvSpPr>
            <a:spLocks noGrp="1" noChangeArrowheads="1"/>
          </p:cNvSpPr>
          <p:nvPr/>
        </p:nvSpPr>
        <p:spPr bwMode="auto">
          <a:xfrm>
            <a:off x="1981200" y="476250"/>
            <a:ext cx="8229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algn="ctr" eaLnBrk="1" hangingPunct="1"/>
            <a:r>
              <a:rPr lang="en-US" altLang="zh-CN" sz="4400">
                <a:solidFill>
                  <a:schemeClr val="bg1"/>
                </a:solidFill>
                <a:ea typeface="宋体" panose="02010600030101010101" pitchFamily="2" charset="-122"/>
              </a:rPr>
              <a:t>DFS </a:t>
            </a:r>
            <a:r>
              <a:rPr lang="zh-CN" altLang="en-US" sz="4400">
                <a:solidFill>
                  <a:schemeClr val="bg1"/>
                </a:solidFill>
                <a:ea typeface="宋体" panose="02010600030101010101" pitchFamily="2" charset="-122"/>
              </a:rPr>
              <a:t>对状态的搜索</a:t>
            </a:r>
            <a:endParaRPr lang="en-US" altLang="zh-CN" sz="4400">
              <a:solidFill>
                <a:schemeClr val="bg1"/>
              </a:solidFill>
              <a:ea typeface="宋体" panose="02010600030101010101" pitchFamily="2" charset="-122"/>
            </a:endParaRPr>
          </a:p>
        </p:txBody>
      </p:sp>
      <p:sp>
        <p:nvSpPr>
          <p:cNvPr id="45061" name="Text Box 4"/>
          <p:cNvSpPr txBox="1">
            <a:spLocks noChangeArrowheads="1"/>
          </p:cNvSpPr>
          <p:nvPr/>
        </p:nvSpPr>
        <p:spPr bwMode="auto">
          <a:xfrm>
            <a:off x="689530" y="1204098"/>
            <a:ext cx="82296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void DFS( int depth ){</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if (depth &gt; n){</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if (</a:t>
            </a:r>
            <a:r>
              <a:rPr lang="zh-CN" altLang="en-US" sz="2000" i="0" dirty="0">
                <a:ea typeface="宋体" panose="02010600030101010101" pitchFamily="2" charset="-122"/>
              </a:rPr>
              <a:t>搜索到结果</a:t>
            </a:r>
            <a:r>
              <a:rPr lang="en-US" altLang="zh-CN" sz="2000" i="0" dirty="0">
                <a:ea typeface="宋体" panose="02010600030101010101" pitchFamily="2" charset="-122"/>
              </a:rPr>
              <a:t>)  </a:t>
            </a:r>
            <a:r>
              <a:rPr lang="zh-CN" altLang="en-US" sz="2000" i="0" dirty="0">
                <a:ea typeface="宋体" panose="02010600030101010101" pitchFamily="2" charset="-122"/>
              </a:rPr>
              <a:t>比较并记录</a:t>
            </a:r>
            <a:r>
              <a:rPr lang="en-US" altLang="zh-CN" sz="2000" i="0" dirty="0">
                <a:ea typeface="宋体" panose="02010600030101010101" pitchFamily="2" charset="-122"/>
              </a:rPr>
              <a:t>;</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return;</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else{</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for(</a:t>
            </a:r>
            <a:r>
              <a:rPr lang="zh-CN" altLang="en-US" sz="2000" i="0" dirty="0">
                <a:ea typeface="宋体" panose="02010600030101010101" pitchFamily="2" charset="-122"/>
              </a:rPr>
              <a:t>所有状态</a:t>
            </a:r>
            <a:r>
              <a:rPr lang="en-US" altLang="zh-CN" sz="2000" i="0" dirty="0">
                <a:ea typeface="宋体" panose="02010600030101010101" pitchFamily="2" charset="-122"/>
              </a:rPr>
              <a:t>)</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if (</a:t>
            </a:r>
            <a:r>
              <a:rPr lang="zh-CN" altLang="en-US" sz="2000" i="0" dirty="0">
                <a:ea typeface="宋体" panose="02010600030101010101" pitchFamily="2" charset="-122"/>
              </a:rPr>
              <a:t>符合递归条件</a:t>
            </a:r>
            <a:r>
              <a:rPr lang="en-US" altLang="zh-CN" sz="2000" i="0" dirty="0">
                <a:ea typeface="宋体" panose="02010600030101010101" pitchFamily="2" charset="-122"/>
              </a:rPr>
              <a:t>){</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a:t>
            </a:r>
            <a:r>
              <a:rPr lang="zh-CN" altLang="en-US" sz="2000" i="0" dirty="0">
                <a:ea typeface="宋体" panose="02010600030101010101" pitchFamily="2" charset="-122"/>
              </a:rPr>
              <a:t>标记状态</a:t>
            </a:r>
            <a:r>
              <a:rPr lang="en-US" altLang="zh-CN" sz="2000" i="0" dirty="0">
                <a:ea typeface="宋体" panose="02010600030101010101" pitchFamily="2" charset="-122"/>
              </a:rPr>
              <a:t>;</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a:t>
            </a:r>
            <a:r>
              <a:rPr lang="en-US" altLang="zh-CN" sz="2000" i="0" dirty="0" err="1">
                <a:ea typeface="宋体" panose="02010600030101010101" pitchFamily="2" charset="-122"/>
              </a:rPr>
              <a:t>dfs</a:t>
            </a:r>
            <a:r>
              <a:rPr lang="en-US" altLang="zh-CN" sz="2000" i="0" dirty="0">
                <a:ea typeface="宋体" panose="02010600030101010101" pitchFamily="2" charset="-122"/>
              </a:rPr>
              <a:t>( depth + 1 );</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a:t>
            </a:r>
            <a:r>
              <a:rPr lang="zh-CN" altLang="en-US" sz="2000" i="0" dirty="0">
                <a:ea typeface="宋体" panose="02010600030101010101" pitchFamily="2" charset="-122"/>
              </a:rPr>
              <a:t>回溯</a:t>
            </a:r>
            <a:r>
              <a:rPr lang="en-US" altLang="zh-CN" sz="2000" i="0" dirty="0">
                <a:ea typeface="宋体" panose="02010600030101010101" pitchFamily="2" charset="-122"/>
              </a:rPr>
              <a:t>;</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    }</a:t>
            </a:r>
          </a:p>
          <a:p>
            <a:pPr eaLnBrk="1" hangingPunct="1">
              <a:lnSpc>
                <a:spcPct val="80000"/>
              </a:lnSpc>
              <a:spcBef>
                <a:spcPct val="20000"/>
              </a:spcBef>
              <a:buFont typeface="Wingdings" panose="05000000000000000000" pitchFamily="2" charset="2"/>
              <a:buNone/>
            </a:pPr>
            <a:r>
              <a:rPr lang="en-US" altLang="zh-CN" sz="2000" i="0" dirty="0">
                <a:ea typeface="宋体" panose="02010600030101010101" pitchFamily="2" charset="-122"/>
              </a:rPr>
              <a:t>}</a:t>
            </a:r>
          </a:p>
        </p:txBody>
      </p:sp>
      <p:sp>
        <p:nvSpPr>
          <p:cNvPr id="45062" name="Text Box 5"/>
          <p:cNvSpPr txBox="1">
            <a:spLocks noChangeArrowheads="1"/>
          </p:cNvSpPr>
          <p:nvPr/>
        </p:nvSpPr>
        <p:spPr bwMode="auto">
          <a:xfrm>
            <a:off x="5334770" y="991334"/>
            <a:ext cx="6025657" cy="4794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1">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171450" lvl="1" indent="0" algn="just" eaLnBrk="1" hangingPunct="1">
              <a:lnSpc>
                <a:spcPct val="200000"/>
              </a:lnSpc>
              <a:spcBef>
                <a:spcPts val="500"/>
              </a:spcBef>
              <a:buClr>
                <a:srgbClr val="F9F9F9"/>
              </a:buClr>
              <a:buSzPct val="65000"/>
            </a:pPr>
            <a:r>
              <a:rPr lang="zh-CN" altLang="en-US" sz="2400" i="0" kern="100" dirty="0">
                <a:solidFill>
                  <a:srgbClr val="014B88"/>
                </a:solidFill>
                <a:latin typeface="仿宋_GB2312"/>
                <a:ea typeface="+mn-ea"/>
                <a:cs typeface="Times New Roman" panose="02020603050405020304" pitchFamily="18" charset="0"/>
              </a:rPr>
              <a:t>可以看到，这样的搜索，时间复杂度是</a:t>
            </a:r>
            <a:r>
              <a:rPr lang="en-US" altLang="zh-CN" sz="2400" i="0" kern="100" dirty="0">
                <a:solidFill>
                  <a:srgbClr val="014B88"/>
                </a:solidFill>
                <a:latin typeface="仿宋_GB2312"/>
                <a:ea typeface="+mn-ea"/>
                <a:cs typeface="Times New Roman" panose="02020603050405020304" pitchFamily="18" charset="0"/>
              </a:rPr>
              <a:t>(</a:t>
            </a:r>
            <a:r>
              <a:rPr lang="en-US" altLang="zh-CN" sz="2400" i="0" kern="100" dirty="0" err="1">
                <a:solidFill>
                  <a:srgbClr val="014B88"/>
                </a:solidFill>
                <a:latin typeface="仿宋_GB2312"/>
                <a:ea typeface="+mn-ea"/>
                <a:cs typeface="Times New Roman" panose="02020603050405020304" pitchFamily="18" charset="0"/>
              </a:rPr>
              <a:t>a^n</a:t>
            </a:r>
            <a:r>
              <a:rPr lang="en-US" altLang="zh-CN" sz="2400" i="0" kern="100" dirty="0">
                <a:solidFill>
                  <a:srgbClr val="014B88"/>
                </a:solidFill>
                <a:latin typeface="仿宋_GB2312"/>
                <a:ea typeface="+mn-ea"/>
                <a:cs typeface="Times New Roman" panose="02020603050405020304" pitchFamily="18" charset="0"/>
              </a:rPr>
              <a:t>)</a:t>
            </a:r>
            <a:r>
              <a:rPr lang="zh-CN" altLang="en-US" sz="2400" i="0" kern="100" dirty="0">
                <a:solidFill>
                  <a:srgbClr val="014B88"/>
                </a:solidFill>
                <a:latin typeface="仿宋_GB2312"/>
                <a:ea typeface="+mn-ea"/>
                <a:cs typeface="Times New Roman" panose="02020603050405020304" pitchFamily="18" charset="0"/>
              </a:rPr>
              <a:t>的，</a:t>
            </a:r>
            <a:r>
              <a:rPr lang="en-US" altLang="zh-CN" sz="2400" i="0" kern="100" dirty="0">
                <a:solidFill>
                  <a:srgbClr val="014B88"/>
                </a:solidFill>
                <a:latin typeface="仿宋_GB2312"/>
                <a:ea typeface="+mn-ea"/>
                <a:cs typeface="Times New Roman" panose="02020603050405020304" pitchFamily="18" charset="0"/>
              </a:rPr>
              <a:t>a</a:t>
            </a:r>
            <a:r>
              <a:rPr lang="zh-CN" altLang="en-US" sz="2400" i="0" kern="100" dirty="0">
                <a:solidFill>
                  <a:srgbClr val="014B88"/>
                </a:solidFill>
                <a:latin typeface="仿宋_GB2312"/>
                <a:ea typeface="+mn-ea"/>
                <a:cs typeface="Times New Roman" panose="02020603050405020304" pitchFamily="18" charset="0"/>
              </a:rPr>
              <a:t>为每次的状态数，</a:t>
            </a:r>
            <a:r>
              <a:rPr lang="en-US" altLang="zh-CN" sz="2400" i="0" kern="100" dirty="0">
                <a:solidFill>
                  <a:srgbClr val="014B88"/>
                </a:solidFill>
                <a:latin typeface="仿宋_GB2312"/>
                <a:ea typeface="+mn-ea"/>
                <a:cs typeface="Times New Roman" panose="02020603050405020304" pitchFamily="18" charset="0"/>
              </a:rPr>
              <a:t>n</a:t>
            </a:r>
            <a:r>
              <a:rPr lang="zh-CN" altLang="en-US" sz="2400" i="0" kern="100" dirty="0">
                <a:solidFill>
                  <a:srgbClr val="014B88"/>
                </a:solidFill>
                <a:latin typeface="仿宋_GB2312"/>
                <a:ea typeface="+mn-ea"/>
                <a:cs typeface="Times New Roman" panose="02020603050405020304" pitchFamily="18" charset="0"/>
              </a:rPr>
              <a:t>为总的递归层数；这个复杂度属于指数复杂度，当</a:t>
            </a:r>
            <a:r>
              <a:rPr lang="en-US" altLang="zh-CN" sz="2400" i="0" kern="100" dirty="0">
                <a:solidFill>
                  <a:srgbClr val="014B88"/>
                </a:solidFill>
                <a:latin typeface="仿宋_GB2312"/>
                <a:ea typeface="+mn-ea"/>
                <a:cs typeface="Times New Roman" panose="02020603050405020304" pitchFamily="18" charset="0"/>
              </a:rPr>
              <a:t>n</a:t>
            </a:r>
            <a:r>
              <a:rPr lang="zh-CN" altLang="en-US" sz="2400" i="0" kern="100" dirty="0">
                <a:solidFill>
                  <a:srgbClr val="014B88"/>
                </a:solidFill>
                <a:latin typeface="仿宋_GB2312"/>
                <a:ea typeface="+mn-ea"/>
                <a:cs typeface="Times New Roman" panose="02020603050405020304" pitchFamily="18" charset="0"/>
              </a:rPr>
              <a:t>比较大时，很容易超时，所以，一般在</a:t>
            </a:r>
            <a:r>
              <a:rPr lang="en-US" altLang="zh-CN" sz="2400" i="0" kern="100" dirty="0">
                <a:solidFill>
                  <a:srgbClr val="014B88"/>
                </a:solidFill>
                <a:latin typeface="仿宋_GB2312"/>
                <a:ea typeface="+mn-ea"/>
                <a:cs typeface="Times New Roman" panose="02020603050405020304" pitchFamily="18" charset="0"/>
              </a:rPr>
              <a:t>n</a:t>
            </a:r>
            <a:r>
              <a:rPr lang="zh-CN" altLang="en-US" sz="2400" i="0" kern="100" dirty="0">
                <a:solidFill>
                  <a:srgbClr val="014B88"/>
                </a:solidFill>
                <a:latin typeface="仿宋_GB2312"/>
                <a:ea typeface="+mn-ea"/>
                <a:cs typeface="Times New Roman" panose="02020603050405020304" pitchFamily="18" charset="0"/>
              </a:rPr>
              <a:t>比较小的时候可以考虑</a:t>
            </a:r>
            <a:r>
              <a:rPr lang="en-US" altLang="zh-CN" sz="2400" i="0" kern="100" dirty="0">
                <a:solidFill>
                  <a:srgbClr val="014B88"/>
                </a:solidFill>
                <a:latin typeface="仿宋_GB2312"/>
                <a:ea typeface="+mn-ea"/>
                <a:cs typeface="Times New Roman" panose="02020603050405020304" pitchFamily="18" charset="0"/>
              </a:rPr>
              <a:t>DFS</a:t>
            </a:r>
          </a:p>
          <a:p>
            <a:pPr marL="171450" lvl="1" indent="0" algn="just" eaLnBrk="1" hangingPunct="1">
              <a:lnSpc>
                <a:spcPct val="200000"/>
              </a:lnSpc>
              <a:spcBef>
                <a:spcPts val="500"/>
              </a:spcBef>
              <a:buClr>
                <a:srgbClr val="F9F9F9"/>
              </a:buClr>
              <a:buSzPct val="65000"/>
            </a:pPr>
            <a:r>
              <a:rPr lang="zh-CN" altLang="en-US" sz="2400" i="0" kern="100" dirty="0">
                <a:solidFill>
                  <a:srgbClr val="014B88"/>
                </a:solidFill>
                <a:latin typeface="仿宋_GB2312"/>
                <a:ea typeface="+mn-ea"/>
                <a:cs typeface="Times New Roman" panose="02020603050405020304" pitchFamily="18" charset="0"/>
              </a:rPr>
              <a:t>很多情况下需要</a:t>
            </a:r>
            <a:r>
              <a:rPr lang="zh-CN" altLang="en-US" sz="3600" i="0" kern="100" dirty="0">
                <a:solidFill>
                  <a:srgbClr val="FF0000"/>
                </a:solidFill>
                <a:latin typeface="仿宋_GB2312"/>
                <a:ea typeface="+mn-ea"/>
                <a:cs typeface="Times New Roman" panose="02020603050405020304" pitchFamily="18" charset="0"/>
              </a:rPr>
              <a:t>剪枝</a:t>
            </a:r>
            <a:r>
              <a:rPr lang="zh-CN" altLang="en-US" sz="3600" i="0" dirty="0">
                <a:solidFill>
                  <a:schemeClr val="bg1"/>
                </a:solidFill>
                <a:ea typeface="宋体" panose="02010600030101010101" pitchFamily="2" charset="-122"/>
              </a:rPr>
              <a:t>。</a:t>
            </a:r>
            <a:endParaRPr lang="zh-CN" altLang="en-US" sz="2400" i="0" dirty="0">
              <a:solidFill>
                <a:schemeClr val="bg1"/>
              </a:solidFill>
              <a:ea typeface="宋体" panose="02010600030101010101" pitchFamily="2" charset="-122"/>
            </a:endParaRPr>
          </a:p>
        </p:txBody>
      </p:sp>
      <p:sp>
        <p:nvSpPr>
          <p:cNvPr id="7"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DFS</a:t>
            </a:r>
            <a:r>
              <a:rPr lang="zh-CN" altLang="en-US" sz="3200" b="1" dirty="0">
                <a:solidFill>
                  <a:srgbClr val="C00000"/>
                </a:solidFill>
                <a:latin typeface="微软雅黑" panose="020B0503020204020204" pitchFamily="34" charset="-122"/>
                <a:ea typeface="微软雅黑" panose="020B0503020204020204" pitchFamily="34" charset="-122"/>
              </a:rPr>
              <a:t>代码分析</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内容占位符 2"/>
          <p:cNvSpPr txBox="1">
            <a:spLocks noChangeArrowheads="1"/>
          </p:cNvSpPr>
          <p:nvPr/>
        </p:nvSpPr>
        <p:spPr bwMode="auto">
          <a:xfrm>
            <a:off x="510111" y="1006475"/>
            <a:ext cx="10942083"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48005" indent="-41148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gn="just">
              <a:lnSpc>
                <a:spcPct val="200000"/>
              </a:lnSpc>
              <a:spcBef>
                <a:spcPts val="500"/>
              </a:spcBef>
              <a:buClr>
                <a:srgbClr val="F9F9F9"/>
              </a:buClr>
              <a:buSzPct val="65000"/>
            </a:pPr>
            <a:r>
              <a:rPr lang="zh-CN" altLang="en-US" sz="2400" b="1" kern="100" dirty="0">
                <a:solidFill>
                  <a:srgbClr val="014B88"/>
                </a:solidFill>
                <a:latin typeface="仿宋_GB2312"/>
                <a:ea typeface="+mn-ea"/>
                <a:cs typeface="Times New Roman" panose="02020603050405020304" pitchFamily="18" charset="0"/>
              </a:rPr>
              <a:t>因为大量的搜索状态空间可以看成一个树形结构，我们的任务就是探测每个叶子节点来获取信息，如果我们能在某个结点就将其所有子结点的可能性都排除我们就能减少搜索量</a:t>
            </a:r>
          </a:p>
        </p:txBody>
      </p:sp>
      <p:sp>
        <p:nvSpPr>
          <p:cNvPr id="62468" name="椭圆 5"/>
          <p:cNvSpPr>
            <a:spLocks noChangeArrowheads="1"/>
          </p:cNvSpPr>
          <p:nvPr/>
        </p:nvSpPr>
        <p:spPr bwMode="auto">
          <a:xfrm>
            <a:off x="5667376" y="3857626"/>
            <a:ext cx="214313" cy="214313"/>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69" name="椭圆 6"/>
          <p:cNvSpPr>
            <a:spLocks noChangeArrowheads="1"/>
          </p:cNvSpPr>
          <p:nvPr/>
        </p:nvSpPr>
        <p:spPr bwMode="auto">
          <a:xfrm>
            <a:off x="5095876" y="4357688"/>
            <a:ext cx="214313" cy="214312"/>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0" name="椭圆 7"/>
          <p:cNvSpPr>
            <a:spLocks noChangeArrowheads="1"/>
          </p:cNvSpPr>
          <p:nvPr/>
        </p:nvSpPr>
        <p:spPr bwMode="auto">
          <a:xfrm>
            <a:off x="5738813" y="4357688"/>
            <a:ext cx="214312" cy="214312"/>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1" name="椭圆 8"/>
          <p:cNvSpPr>
            <a:spLocks noChangeArrowheads="1"/>
          </p:cNvSpPr>
          <p:nvPr/>
        </p:nvSpPr>
        <p:spPr bwMode="auto">
          <a:xfrm>
            <a:off x="6238876" y="4357688"/>
            <a:ext cx="214313" cy="214312"/>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2" name="椭圆 9"/>
          <p:cNvSpPr>
            <a:spLocks noChangeArrowheads="1"/>
          </p:cNvSpPr>
          <p:nvPr/>
        </p:nvSpPr>
        <p:spPr bwMode="auto">
          <a:xfrm>
            <a:off x="5524501" y="4857751"/>
            <a:ext cx="214313" cy="214313"/>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3" name="椭圆 10"/>
          <p:cNvSpPr>
            <a:spLocks noChangeArrowheads="1"/>
          </p:cNvSpPr>
          <p:nvPr/>
        </p:nvSpPr>
        <p:spPr bwMode="auto">
          <a:xfrm>
            <a:off x="4381501" y="5500688"/>
            <a:ext cx="214313" cy="214312"/>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4" name="椭圆 11"/>
          <p:cNvSpPr>
            <a:spLocks noChangeArrowheads="1"/>
          </p:cNvSpPr>
          <p:nvPr/>
        </p:nvSpPr>
        <p:spPr bwMode="auto">
          <a:xfrm>
            <a:off x="5095876" y="5429251"/>
            <a:ext cx="214313" cy="214313"/>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5" name="椭圆 12"/>
          <p:cNvSpPr>
            <a:spLocks noChangeArrowheads="1"/>
          </p:cNvSpPr>
          <p:nvPr/>
        </p:nvSpPr>
        <p:spPr bwMode="auto">
          <a:xfrm>
            <a:off x="4810126" y="4857751"/>
            <a:ext cx="214313" cy="214313"/>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6" name="椭圆 13"/>
          <p:cNvSpPr>
            <a:spLocks noChangeArrowheads="1"/>
          </p:cNvSpPr>
          <p:nvPr/>
        </p:nvSpPr>
        <p:spPr bwMode="auto">
          <a:xfrm>
            <a:off x="6024563" y="4786313"/>
            <a:ext cx="214312" cy="214312"/>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7" name="椭圆 14"/>
          <p:cNvSpPr>
            <a:spLocks noChangeArrowheads="1"/>
          </p:cNvSpPr>
          <p:nvPr/>
        </p:nvSpPr>
        <p:spPr bwMode="auto">
          <a:xfrm>
            <a:off x="5810251" y="5429251"/>
            <a:ext cx="214313" cy="214313"/>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sp>
        <p:nvSpPr>
          <p:cNvPr id="62478" name="椭圆 15"/>
          <p:cNvSpPr>
            <a:spLocks noChangeArrowheads="1"/>
          </p:cNvSpPr>
          <p:nvPr/>
        </p:nvSpPr>
        <p:spPr bwMode="auto">
          <a:xfrm>
            <a:off x="6096001" y="5786438"/>
            <a:ext cx="214313" cy="214312"/>
          </a:xfrm>
          <a:prstGeom prst="ellipse">
            <a:avLst/>
          </a:prstGeom>
          <a:solidFill>
            <a:schemeClr val="accent1"/>
          </a:solidFill>
          <a:ln w="25400">
            <a:solidFill>
              <a:srgbClr val="978749"/>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solidFill>
                <a:srgbClr val="FFFFFF"/>
              </a:solidFill>
              <a:latin typeface="Book Antiqua" panose="02040602050305030304" pitchFamily="18" charset="0"/>
            </a:endParaRPr>
          </a:p>
        </p:txBody>
      </p:sp>
      <p:cxnSp>
        <p:nvCxnSpPr>
          <p:cNvPr id="62479" name="直接箭头连接符 16"/>
          <p:cNvCxnSpPr>
            <a:cxnSpLocks noChangeShapeType="1"/>
            <a:stCxn id="62468" idx="3"/>
            <a:endCxn id="62469" idx="7"/>
          </p:cNvCxnSpPr>
          <p:nvPr/>
        </p:nvCxnSpPr>
        <p:spPr bwMode="auto">
          <a:xfrm rot="5400000">
            <a:off x="5314157" y="4004470"/>
            <a:ext cx="349250" cy="420687"/>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0" name="直接箭头连接符 17"/>
          <p:cNvCxnSpPr>
            <a:cxnSpLocks noChangeShapeType="1"/>
            <a:stCxn id="62468" idx="4"/>
            <a:endCxn id="62470" idx="0"/>
          </p:cNvCxnSpPr>
          <p:nvPr/>
        </p:nvCxnSpPr>
        <p:spPr bwMode="auto">
          <a:xfrm rot="16200000" flipH="1">
            <a:off x="5666582" y="4179095"/>
            <a:ext cx="285750" cy="71437"/>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1" name="直接箭头连接符 18"/>
          <p:cNvCxnSpPr>
            <a:cxnSpLocks noChangeShapeType="1"/>
            <a:stCxn id="62468" idx="5"/>
            <a:endCxn id="62471" idx="0"/>
          </p:cNvCxnSpPr>
          <p:nvPr/>
        </p:nvCxnSpPr>
        <p:spPr bwMode="auto">
          <a:xfrm rot="16200000" flipH="1">
            <a:off x="5939632" y="3950495"/>
            <a:ext cx="317500" cy="496887"/>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2" name="直接箭头连接符 19"/>
          <p:cNvCxnSpPr>
            <a:cxnSpLocks noChangeShapeType="1"/>
            <a:stCxn id="62469" idx="4"/>
            <a:endCxn id="62475" idx="7"/>
          </p:cNvCxnSpPr>
          <p:nvPr/>
        </p:nvCxnSpPr>
        <p:spPr bwMode="auto">
          <a:xfrm rot="5400000">
            <a:off x="4938713" y="4625975"/>
            <a:ext cx="317500" cy="209550"/>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3" name="直接箭头连接符 20"/>
          <p:cNvCxnSpPr>
            <a:cxnSpLocks noChangeShapeType="1"/>
            <a:stCxn id="62475" idx="4"/>
            <a:endCxn id="62473" idx="7"/>
          </p:cNvCxnSpPr>
          <p:nvPr/>
        </p:nvCxnSpPr>
        <p:spPr bwMode="auto">
          <a:xfrm rot="5400000">
            <a:off x="4510089" y="5126039"/>
            <a:ext cx="460375" cy="352425"/>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4" name="直接箭头连接符 21"/>
          <p:cNvCxnSpPr>
            <a:cxnSpLocks noChangeShapeType="1"/>
            <a:stCxn id="62475" idx="6"/>
            <a:endCxn id="62474" idx="0"/>
          </p:cNvCxnSpPr>
          <p:nvPr/>
        </p:nvCxnSpPr>
        <p:spPr bwMode="auto">
          <a:xfrm>
            <a:off x="5024438" y="4965700"/>
            <a:ext cx="177800" cy="463550"/>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5" name="直接箭头连接符 22"/>
          <p:cNvCxnSpPr>
            <a:cxnSpLocks noChangeShapeType="1"/>
            <a:stCxn id="62470" idx="4"/>
            <a:endCxn id="62472" idx="7"/>
          </p:cNvCxnSpPr>
          <p:nvPr/>
        </p:nvCxnSpPr>
        <p:spPr bwMode="auto">
          <a:xfrm rot="5400000">
            <a:off x="5615782" y="4660107"/>
            <a:ext cx="317500" cy="138113"/>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6" name="直接箭头连接符 23"/>
          <p:cNvCxnSpPr>
            <a:cxnSpLocks noChangeShapeType="1"/>
            <a:stCxn id="62470" idx="6"/>
            <a:endCxn id="62476" idx="1"/>
          </p:cNvCxnSpPr>
          <p:nvPr/>
        </p:nvCxnSpPr>
        <p:spPr bwMode="auto">
          <a:xfrm>
            <a:off x="5953125" y="4465639"/>
            <a:ext cx="103188" cy="352425"/>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7" name="直接箭头连接符 24"/>
          <p:cNvCxnSpPr>
            <a:cxnSpLocks noChangeShapeType="1"/>
            <a:stCxn id="62476" idx="4"/>
            <a:endCxn id="62477" idx="0"/>
          </p:cNvCxnSpPr>
          <p:nvPr/>
        </p:nvCxnSpPr>
        <p:spPr bwMode="auto">
          <a:xfrm rot="5400000">
            <a:off x="5810251" y="5106988"/>
            <a:ext cx="428625" cy="215900"/>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cxnSp>
        <p:nvCxnSpPr>
          <p:cNvPr id="62488" name="直接箭头连接符 25"/>
          <p:cNvCxnSpPr>
            <a:cxnSpLocks noChangeShapeType="1"/>
            <a:stCxn id="62477" idx="5"/>
            <a:endCxn id="62478" idx="1"/>
          </p:cNvCxnSpPr>
          <p:nvPr/>
        </p:nvCxnSpPr>
        <p:spPr bwMode="auto">
          <a:xfrm rot="16200000" flipH="1">
            <a:off x="5956301" y="5648326"/>
            <a:ext cx="206375" cy="133350"/>
          </a:xfrm>
          <a:prstGeom prst="straightConnector1">
            <a:avLst/>
          </a:prstGeom>
          <a:noFill/>
          <a:ln w="9525">
            <a:solidFill>
              <a:srgbClr val="988744"/>
            </a:solidFill>
            <a:round/>
            <a:tailEnd type="arrow" w="med" len="med"/>
          </a:ln>
          <a:extLst>
            <a:ext uri="{909E8E84-426E-40DD-AFC4-6F175D3DCCD1}">
              <a14:hiddenFill xmlns:a14="http://schemas.microsoft.com/office/drawing/2010/main">
                <a:noFill/>
              </a14:hiddenFill>
            </a:ext>
          </a:extLst>
        </p:spPr>
      </p:cxnSp>
      <p:sp>
        <p:nvSpPr>
          <p:cNvPr id="62489" name="椭圆 26"/>
          <p:cNvSpPr>
            <a:spLocks noChangeArrowheads="1"/>
          </p:cNvSpPr>
          <p:nvPr/>
        </p:nvSpPr>
        <p:spPr bwMode="auto">
          <a:xfrm>
            <a:off x="5310188" y="4286250"/>
            <a:ext cx="1143000" cy="2071688"/>
          </a:xfrm>
          <a:prstGeom prst="ellipse">
            <a:avLst/>
          </a:pr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1600">
              <a:solidFill>
                <a:srgbClr val="FFFFFF"/>
              </a:solidFill>
              <a:latin typeface="Book Antiqua" panose="02040602050305030304" pitchFamily="18" charset="0"/>
            </a:endParaRPr>
          </a:p>
        </p:txBody>
      </p:sp>
      <p:sp>
        <p:nvSpPr>
          <p:cNvPr id="26"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剪枝</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Effect transition="in" filter="barn(inHorizontal)">
                                      <p:cBhvr>
                                        <p:cTn id="7" dur="500"/>
                                        <p:tgtEl>
                                          <p:spTgt spid="62468"/>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62469"/>
                                        </p:tgtEl>
                                        <p:attrNameLst>
                                          <p:attrName>style.visibility</p:attrName>
                                        </p:attrNameLst>
                                      </p:cBhvr>
                                      <p:to>
                                        <p:strVal val="visible"/>
                                      </p:to>
                                    </p:set>
                                    <p:animEffect transition="in" filter="barn(inHorizontal)">
                                      <p:cBhvr>
                                        <p:cTn id="10" dur="500"/>
                                        <p:tgtEl>
                                          <p:spTgt spid="62469"/>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62470"/>
                                        </p:tgtEl>
                                        <p:attrNameLst>
                                          <p:attrName>style.visibility</p:attrName>
                                        </p:attrNameLst>
                                      </p:cBhvr>
                                      <p:to>
                                        <p:strVal val="visible"/>
                                      </p:to>
                                    </p:set>
                                    <p:animEffect transition="in" filter="barn(inHorizontal)">
                                      <p:cBhvr>
                                        <p:cTn id="13" dur="500"/>
                                        <p:tgtEl>
                                          <p:spTgt spid="62470"/>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62471"/>
                                        </p:tgtEl>
                                        <p:attrNameLst>
                                          <p:attrName>style.visibility</p:attrName>
                                        </p:attrNameLst>
                                      </p:cBhvr>
                                      <p:to>
                                        <p:strVal val="visible"/>
                                      </p:to>
                                    </p:set>
                                    <p:animEffect transition="in" filter="barn(inHorizontal)">
                                      <p:cBhvr>
                                        <p:cTn id="16" dur="500"/>
                                        <p:tgtEl>
                                          <p:spTgt spid="62471"/>
                                        </p:tgtEl>
                                      </p:cBhvr>
                                    </p:animEffect>
                                  </p:childTnLst>
                                </p:cTn>
                              </p:par>
                              <p:par>
                                <p:cTn id="17" presetID="16" presetClass="entr" presetSubtype="26" fill="hold" grpId="0" nodeType="withEffect">
                                  <p:stCondLst>
                                    <p:cond delay="0"/>
                                  </p:stCondLst>
                                  <p:childTnLst>
                                    <p:set>
                                      <p:cBhvr>
                                        <p:cTn id="18" dur="1" fill="hold">
                                          <p:stCondLst>
                                            <p:cond delay="0"/>
                                          </p:stCondLst>
                                        </p:cTn>
                                        <p:tgtEl>
                                          <p:spTgt spid="62472"/>
                                        </p:tgtEl>
                                        <p:attrNameLst>
                                          <p:attrName>style.visibility</p:attrName>
                                        </p:attrNameLst>
                                      </p:cBhvr>
                                      <p:to>
                                        <p:strVal val="visible"/>
                                      </p:to>
                                    </p:set>
                                    <p:animEffect transition="in" filter="barn(inHorizontal)">
                                      <p:cBhvr>
                                        <p:cTn id="19" dur="500"/>
                                        <p:tgtEl>
                                          <p:spTgt spid="62472"/>
                                        </p:tgtEl>
                                      </p:cBhvr>
                                    </p:animEffect>
                                  </p:childTnLst>
                                </p:cTn>
                              </p:par>
                              <p:par>
                                <p:cTn id="20" presetID="16" presetClass="entr" presetSubtype="26" fill="hold" grpId="0" nodeType="withEffect">
                                  <p:stCondLst>
                                    <p:cond delay="0"/>
                                  </p:stCondLst>
                                  <p:childTnLst>
                                    <p:set>
                                      <p:cBhvr>
                                        <p:cTn id="21" dur="1" fill="hold">
                                          <p:stCondLst>
                                            <p:cond delay="0"/>
                                          </p:stCondLst>
                                        </p:cTn>
                                        <p:tgtEl>
                                          <p:spTgt spid="62473"/>
                                        </p:tgtEl>
                                        <p:attrNameLst>
                                          <p:attrName>style.visibility</p:attrName>
                                        </p:attrNameLst>
                                      </p:cBhvr>
                                      <p:to>
                                        <p:strVal val="visible"/>
                                      </p:to>
                                    </p:set>
                                    <p:animEffect transition="in" filter="barn(inHorizontal)">
                                      <p:cBhvr>
                                        <p:cTn id="22" dur="500"/>
                                        <p:tgtEl>
                                          <p:spTgt spid="62473"/>
                                        </p:tgtEl>
                                      </p:cBhvr>
                                    </p:animEffect>
                                  </p:childTnLst>
                                </p:cTn>
                              </p:par>
                              <p:par>
                                <p:cTn id="23" presetID="16" presetClass="entr" presetSubtype="26" fill="hold" grpId="0" nodeType="withEffect">
                                  <p:stCondLst>
                                    <p:cond delay="0"/>
                                  </p:stCondLst>
                                  <p:childTnLst>
                                    <p:set>
                                      <p:cBhvr>
                                        <p:cTn id="24" dur="1" fill="hold">
                                          <p:stCondLst>
                                            <p:cond delay="0"/>
                                          </p:stCondLst>
                                        </p:cTn>
                                        <p:tgtEl>
                                          <p:spTgt spid="62474"/>
                                        </p:tgtEl>
                                        <p:attrNameLst>
                                          <p:attrName>style.visibility</p:attrName>
                                        </p:attrNameLst>
                                      </p:cBhvr>
                                      <p:to>
                                        <p:strVal val="visible"/>
                                      </p:to>
                                    </p:set>
                                    <p:animEffect transition="in" filter="barn(inHorizontal)">
                                      <p:cBhvr>
                                        <p:cTn id="25" dur="500"/>
                                        <p:tgtEl>
                                          <p:spTgt spid="62474"/>
                                        </p:tgtEl>
                                      </p:cBhvr>
                                    </p:animEffect>
                                  </p:childTnLst>
                                </p:cTn>
                              </p:par>
                              <p:par>
                                <p:cTn id="26" presetID="16" presetClass="entr" presetSubtype="26" fill="hold" grpId="0" nodeType="withEffect">
                                  <p:stCondLst>
                                    <p:cond delay="0"/>
                                  </p:stCondLst>
                                  <p:childTnLst>
                                    <p:set>
                                      <p:cBhvr>
                                        <p:cTn id="27" dur="1" fill="hold">
                                          <p:stCondLst>
                                            <p:cond delay="0"/>
                                          </p:stCondLst>
                                        </p:cTn>
                                        <p:tgtEl>
                                          <p:spTgt spid="62475"/>
                                        </p:tgtEl>
                                        <p:attrNameLst>
                                          <p:attrName>style.visibility</p:attrName>
                                        </p:attrNameLst>
                                      </p:cBhvr>
                                      <p:to>
                                        <p:strVal val="visible"/>
                                      </p:to>
                                    </p:set>
                                    <p:animEffect transition="in" filter="barn(inHorizontal)">
                                      <p:cBhvr>
                                        <p:cTn id="28" dur="500"/>
                                        <p:tgtEl>
                                          <p:spTgt spid="62475"/>
                                        </p:tgtEl>
                                      </p:cBhvr>
                                    </p:animEffect>
                                  </p:childTnLst>
                                </p:cTn>
                              </p:par>
                              <p:par>
                                <p:cTn id="29" presetID="16" presetClass="entr" presetSubtype="26" fill="hold" grpId="0" nodeType="withEffect">
                                  <p:stCondLst>
                                    <p:cond delay="0"/>
                                  </p:stCondLst>
                                  <p:childTnLst>
                                    <p:set>
                                      <p:cBhvr>
                                        <p:cTn id="30" dur="1" fill="hold">
                                          <p:stCondLst>
                                            <p:cond delay="0"/>
                                          </p:stCondLst>
                                        </p:cTn>
                                        <p:tgtEl>
                                          <p:spTgt spid="62476"/>
                                        </p:tgtEl>
                                        <p:attrNameLst>
                                          <p:attrName>style.visibility</p:attrName>
                                        </p:attrNameLst>
                                      </p:cBhvr>
                                      <p:to>
                                        <p:strVal val="visible"/>
                                      </p:to>
                                    </p:set>
                                    <p:animEffect transition="in" filter="barn(inHorizontal)">
                                      <p:cBhvr>
                                        <p:cTn id="31" dur="500"/>
                                        <p:tgtEl>
                                          <p:spTgt spid="62476"/>
                                        </p:tgtEl>
                                      </p:cBhvr>
                                    </p:animEffect>
                                  </p:childTnLst>
                                </p:cTn>
                              </p:par>
                              <p:par>
                                <p:cTn id="32" presetID="16" presetClass="entr" presetSubtype="26" fill="hold" grpId="0" nodeType="withEffect">
                                  <p:stCondLst>
                                    <p:cond delay="0"/>
                                  </p:stCondLst>
                                  <p:childTnLst>
                                    <p:set>
                                      <p:cBhvr>
                                        <p:cTn id="33" dur="1" fill="hold">
                                          <p:stCondLst>
                                            <p:cond delay="0"/>
                                          </p:stCondLst>
                                        </p:cTn>
                                        <p:tgtEl>
                                          <p:spTgt spid="62477"/>
                                        </p:tgtEl>
                                        <p:attrNameLst>
                                          <p:attrName>style.visibility</p:attrName>
                                        </p:attrNameLst>
                                      </p:cBhvr>
                                      <p:to>
                                        <p:strVal val="visible"/>
                                      </p:to>
                                    </p:set>
                                    <p:animEffect transition="in" filter="barn(inHorizontal)">
                                      <p:cBhvr>
                                        <p:cTn id="34" dur="500"/>
                                        <p:tgtEl>
                                          <p:spTgt spid="62477"/>
                                        </p:tgtEl>
                                      </p:cBhvr>
                                    </p:animEffect>
                                  </p:childTnLst>
                                </p:cTn>
                              </p:par>
                              <p:par>
                                <p:cTn id="35" presetID="16" presetClass="entr" presetSubtype="26" fill="hold" grpId="0" nodeType="withEffect">
                                  <p:stCondLst>
                                    <p:cond delay="0"/>
                                  </p:stCondLst>
                                  <p:childTnLst>
                                    <p:set>
                                      <p:cBhvr>
                                        <p:cTn id="36" dur="1" fill="hold">
                                          <p:stCondLst>
                                            <p:cond delay="0"/>
                                          </p:stCondLst>
                                        </p:cTn>
                                        <p:tgtEl>
                                          <p:spTgt spid="62478"/>
                                        </p:tgtEl>
                                        <p:attrNameLst>
                                          <p:attrName>style.visibility</p:attrName>
                                        </p:attrNameLst>
                                      </p:cBhvr>
                                      <p:to>
                                        <p:strVal val="visible"/>
                                      </p:to>
                                    </p:set>
                                    <p:animEffect transition="in" filter="barn(inHorizontal)">
                                      <p:cBhvr>
                                        <p:cTn id="37" dur="500"/>
                                        <p:tgtEl>
                                          <p:spTgt spid="62478"/>
                                        </p:tgtEl>
                                      </p:cBhvr>
                                    </p:animEffect>
                                  </p:childTnLst>
                                </p:cTn>
                              </p:par>
                              <p:par>
                                <p:cTn id="38" presetID="16" presetClass="entr" presetSubtype="26" fill="hold" nodeType="withEffect">
                                  <p:stCondLst>
                                    <p:cond delay="0"/>
                                  </p:stCondLst>
                                  <p:childTnLst>
                                    <p:set>
                                      <p:cBhvr>
                                        <p:cTn id="39" dur="1" fill="hold">
                                          <p:stCondLst>
                                            <p:cond delay="0"/>
                                          </p:stCondLst>
                                        </p:cTn>
                                        <p:tgtEl>
                                          <p:spTgt spid="62479"/>
                                        </p:tgtEl>
                                        <p:attrNameLst>
                                          <p:attrName>style.visibility</p:attrName>
                                        </p:attrNameLst>
                                      </p:cBhvr>
                                      <p:to>
                                        <p:strVal val="visible"/>
                                      </p:to>
                                    </p:set>
                                    <p:animEffect transition="in" filter="barn(inHorizontal)">
                                      <p:cBhvr>
                                        <p:cTn id="40" dur="500"/>
                                        <p:tgtEl>
                                          <p:spTgt spid="62479"/>
                                        </p:tgtEl>
                                      </p:cBhvr>
                                    </p:animEffect>
                                  </p:childTnLst>
                                </p:cTn>
                              </p:par>
                              <p:par>
                                <p:cTn id="41" presetID="16" presetClass="entr" presetSubtype="26" fill="hold" nodeType="withEffect">
                                  <p:stCondLst>
                                    <p:cond delay="0"/>
                                  </p:stCondLst>
                                  <p:childTnLst>
                                    <p:set>
                                      <p:cBhvr>
                                        <p:cTn id="42" dur="1" fill="hold">
                                          <p:stCondLst>
                                            <p:cond delay="0"/>
                                          </p:stCondLst>
                                        </p:cTn>
                                        <p:tgtEl>
                                          <p:spTgt spid="62480"/>
                                        </p:tgtEl>
                                        <p:attrNameLst>
                                          <p:attrName>style.visibility</p:attrName>
                                        </p:attrNameLst>
                                      </p:cBhvr>
                                      <p:to>
                                        <p:strVal val="visible"/>
                                      </p:to>
                                    </p:set>
                                    <p:animEffect transition="in" filter="barn(inHorizontal)">
                                      <p:cBhvr>
                                        <p:cTn id="43" dur="500"/>
                                        <p:tgtEl>
                                          <p:spTgt spid="62480"/>
                                        </p:tgtEl>
                                      </p:cBhvr>
                                    </p:animEffect>
                                  </p:childTnLst>
                                </p:cTn>
                              </p:par>
                              <p:par>
                                <p:cTn id="44" presetID="16" presetClass="entr" presetSubtype="26" fill="hold" nodeType="withEffect">
                                  <p:stCondLst>
                                    <p:cond delay="0"/>
                                  </p:stCondLst>
                                  <p:childTnLst>
                                    <p:set>
                                      <p:cBhvr>
                                        <p:cTn id="45" dur="1" fill="hold">
                                          <p:stCondLst>
                                            <p:cond delay="0"/>
                                          </p:stCondLst>
                                        </p:cTn>
                                        <p:tgtEl>
                                          <p:spTgt spid="62481"/>
                                        </p:tgtEl>
                                        <p:attrNameLst>
                                          <p:attrName>style.visibility</p:attrName>
                                        </p:attrNameLst>
                                      </p:cBhvr>
                                      <p:to>
                                        <p:strVal val="visible"/>
                                      </p:to>
                                    </p:set>
                                    <p:animEffect transition="in" filter="barn(inHorizontal)">
                                      <p:cBhvr>
                                        <p:cTn id="46" dur="500"/>
                                        <p:tgtEl>
                                          <p:spTgt spid="62481"/>
                                        </p:tgtEl>
                                      </p:cBhvr>
                                    </p:animEffect>
                                  </p:childTnLst>
                                </p:cTn>
                              </p:par>
                              <p:par>
                                <p:cTn id="47" presetID="16" presetClass="entr" presetSubtype="26" fill="hold" nodeType="withEffect">
                                  <p:stCondLst>
                                    <p:cond delay="0"/>
                                  </p:stCondLst>
                                  <p:childTnLst>
                                    <p:set>
                                      <p:cBhvr>
                                        <p:cTn id="48" dur="1" fill="hold">
                                          <p:stCondLst>
                                            <p:cond delay="0"/>
                                          </p:stCondLst>
                                        </p:cTn>
                                        <p:tgtEl>
                                          <p:spTgt spid="62482"/>
                                        </p:tgtEl>
                                        <p:attrNameLst>
                                          <p:attrName>style.visibility</p:attrName>
                                        </p:attrNameLst>
                                      </p:cBhvr>
                                      <p:to>
                                        <p:strVal val="visible"/>
                                      </p:to>
                                    </p:set>
                                    <p:animEffect transition="in" filter="barn(inHorizontal)">
                                      <p:cBhvr>
                                        <p:cTn id="49" dur="500"/>
                                        <p:tgtEl>
                                          <p:spTgt spid="62482"/>
                                        </p:tgtEl>
                                      </p:cBhvr>
                                    </p:animEffect>
                                  </p:childTnLst>
                                </p:cTn>
                              </p:par>
                              <p:par>
                                <p:cTn id="50" presetID="16" presetClass="entr" presetSubtype="26" fill="hold" nodeType="withEffect">
                                  <p:stCondLst>
                                    <p:cond delay="0"/>
                                  </p:stCondLst>
                                  <p:childTnLst>
                                    <p:set>
                                      <p:cBhvr>
                                        <p:cTn id="51" dur="1" fill="hold">
                                          <p:stCondLst>
                                            <p:cond delay="0"/>
                                          </p:stCondLst>
                                        </p:cTn>
                                        <p:tgtEl>
                                          <p:spTgt spid="62483"/>
                                        </p:tgtEl>
                                        <p:attrNameLst>
                                          <p:attrName>style.visibility</p:attrName>
                                        </p:attrNameLst>
                                      </p:cBhvr>
                                      <p:to>
                                        <p:strVal val="visible"/>
                                      </p:to>
                                    </p:set>
                                    <p:animEffect transition="in" filter="barn(inHorizontal)">
                                      <p:cBhvr>
                                        <p:cTn id="52" dur="500"/>
                                        <p:tgtEl>
                                          <p:spTgt spid="62483"/>
                                        </p:tgtEl>
                                      </p:cBhvr>
                                    </p:animEffect>
                                  </p:childTnLst>
                                </p:cTn>
                              </p:par>
                              <p:par>
                                <p:cTn id="53" presetID="16" presetClass="entr" presetSubtype="26" fill="hold" nodeType="withEffect">
                                  <p:stCondLst>
                                    <p:cond delay="0"/>
                                  </p:stCondLst>
                                  <p:childTnLst>
                                    <p:set>
                                      <p:cBhvr>
                                        <p:cTn id="54" dur="1" fill="hold">
                                          <p:stCondLst>
                                            <p:cond delay="0"/>
                                          </p:stCondLst>
                                        </p:cTn>
                                        <p:tgtEl>
                                          <p:spTgt spid="62484"/>
                                        </p:tgtEl>
                                        <p:attrNameLst>
                                          <p:attrName>style.visibility</p:attrName>
                                        </p:attrNameLst>
                                      </p:cBhvr>
                                      <p:to>
                                        <p:strVal val="visible"/>
                                      </p:to>
                                    </p:set>
                                    <p:animEffect transition="in" filter="barn(inHorizontal)">
                                      <p:cBhvr>
                                        <p:cTn id="55" dur="500"/>
                                        <p:tgtEl>
                                          <p:spTgt spid="62484"/>
                                        </p:tgtEl>
                                      </p:cBhvr>
                                    </p:animEffect>
                                  </p:childTnLst>
                                </p:cTn>
                              </p:par>
                              <p:par>
                                <p:cTn id="56" presetID="16" presetClass="entr" presetSubtype="26" fill="hold" nodeType="withEffect">
                                  <p:stCondLst>
                                    <p:cond delay="0"/>
                                  </p:stCondLst>
                                  <p:childTnLst>
                                    <p:set>
                                      <p:cBhvr>
                                        <p:cTn id="57" dur="1" fill="hold">
                                          <p:stCondLst>
                                            <p:cond delay="0"/>
                                          </p:stCondLst>
                                        </p:cTn>
                                        <p:tgtEl>
                                          <p:spTgt spid="62485"/>
                                        </p:tgtEl>
                                        <p:attrNameLst>
                                          <p:attrName>style.visibility</p:attrName>
                                        </p:attrNameLst>
                                      </p:cBhvr>
                                      <p:to>
                                        <p:strVal val="visible"/>
                                      </p:to>
                                    </p:set>
                                    <p:animEffect transition="in" filter="barn(inHorizontal)">
                                      <p:cBhvr>
                                        <p:cTn id="58" dur="500"/>
                                        <p:tgtEl>
                                          <p:spTgt spid="62485"/>
                                        </p:tgtEl>
                                      </p:cBhvr>
                                    </p:animEffect>
                                  </p:childTnLst>
                                </p:cTn>
                              </p:par>
                              <p:par>
                                <p:cTn id="59" presetID="16" presetClass="entr" presetSubtype="26" fill="hold" nodeType="withEffect">
                                  <p:stCondLst>
                                    <p:cond delay="0"/>
                                  </p:stCondLst>
                                  <p:childTnLst>
                                    <p:set>
                                      <p:cBhvr>
                                        <p:cTn id="60" dur="1" fill="hold">
                                          <p:stCondLst>
                                            <p:cond delay="0"/>
                                          </p:stCondLst>
                                        </p:cTn>
                                        <p:tgtEl>
                                          <p:spTgt spid="62486"/>
                                        </p:tgtEl>
                                        <p:attrNameLst>
                                          <p:attrName>style.visibility</p:attrName>
                                        </p:attrNameLst>
                                      </p:cBhvr>
                                      <p:to>
                                        <p:strVal val="visible"/>
                                      </p:to>
                                    </p:set>
                                    <p:animEffect transition="in" filter="barn(inHorizontal)">
                                      <p:cBhvr>
                                        <p:cTn id="61" dur="500"/>
                                        <p:tgtEl>
                                          <p:spTgt spid="62486"/>
                                        </p:tgtEl>
                                      </p:cBhvr>
                                    </p:animEffect>
                                  </p:childTnLst>
                                </p:cTn>
                              </p:par>
                              <p:par>
                                <p:cTn id="62" presetID="16" presetClass="entr" presetSubtype="26" fill="hold" nodeType="withEffect">
                                  <p:stCondLst>
                                    <p:cond delay="0"/>
                                  </p:stCondLst>
                                  <p:childTnLst>
                                    <p:set>
                                      <p:cBhvr>
                                        <p:cTn id="63" dur="1" fill="hold">
                                          <p:stCondLst>
                                            <p:cond delay="0"/>
                                          </p:stCondLst>
                                        </p:cTn>
                                        <p:tgtEl>
                                          <p:spTgt spid="62487"/>
                                        </p:tgtEl>
                                        <p:attrNameLst>
                                          <p:attrName>style.visibility</p:attrName>
                                        </p:attrNameLst>
                                      </p:cBhvr>
                                      <p:to>
                                        <p:strVal val="visible"/>
                                      </p:to>
                                    </p:set>
                                    <p:animEffect transition="in" filter="barn(inHorizontal)">
                                      <p:cBhvr>
                                        <p:cTn id="64" dur="500"/>
                                        <p:tgtEl>
                                          <p:spTgt spid="62487"/>
                                        </p:tgtEl>
                                      </p:cBhvr>
                                    </p:animEffect>
                                  </p:childTnLst>
                                </p:cTn>
                              </p:par>
                              <p:par>
                                <p:cTn id="65" presetID="16" presetClass="entr" presetSubtype="26" fill="hold" nodeType="withEffect">
                                  <p:stCondLst>
                                    <p:cond delay="0"/>
                                  </p:stCondLst>
                                  <p:childTnLst>
                                    <p:set>
                                      <p:cBhvr>
                                        <p:cTn id="66" dur="1" fill="hold">
                                          <p:stCondLst>
                                            <p:cond delay="0"/>
                                          </p:stCondLst>
                                        </p:cTn>
                                        <p:tgtEl>
                                          <p:spTgt spid="62488"/>
                                        </p:tgtEl>
                                        <p:attrNameLst>
                                          <p:attrName>style.visibility</p:attrName>
                                        </p:attrNameLst>
                                      </p:cBhvr>
                                      <p:to>
                                        <p:strVal val="visible"/>
                                      </p:to>
                                    </p:set>
                                    <p:animEffect transition="in" filter="barn(inHorizontal)">
                                      <p:cBhvr>
                                        <p:cTn id="67" dur="500"/>
                                        <p:tgtEl>
                                          <p:spTgt spid="62488"/>
                                        </p:tgtEl>
                                      </p:cBhvr>
                                    </p:animEffect>
                                  </p:childTnLst>
                                </p:cTn>
                              </p:par>
                            </p:childTnLst>
                          </p:cTn>
                        </p:par>
                      </p:childTnLst>
                    </p:cTn>
                  </p:par>
                  <p:par>
                    <p:cTn id="68" fill="hold">
                      <p:stCondLst>
                        <p:cond delay="indefinite"/>
                      </p:stCondLst>
                      <p:childTnLst>
                        <p:par>
                          <p:cTn id="69" fill="hold">
                            <p:stCondLst>
                              <p:cond delay="0"/>
                            </p:stCondLst>
                            <p:childTnLst>
                              <p:par>
                                <p:cTn id="70" presetID="13" presetClass="entr" presetSubtype="16" fill="hold" grpId="0" nodeType="clickEffect">
                                  <p:stCondLst>
                                    <p:cond delay="0"/>
                                  </p:stCondLst>
                                  <p:childTnLst>
                                    <p:set>
                                      <p:cBhvr>
                                        <p:cTn id="71" dur="1" fill="hold">
                                          <p:stCondLst>
                                            <p:cond delay="0"/>
                                          </p:stCondLst>
                                        </p:cTn>
                                        <p:tgtEl>
                                          <p:spTgt spid="62489"/>
                                        </p:tgtEl>
                                        <p:attrNameLst>
                                          <p:attrName>style.visibility</p:attrName>
                                        </p:attrNameLst>
                                      </p:cBhvr>
                                      <p:to>
                                        <p:strVal val="visible"/>
                                      </p:to>
                                    </p:set>
                                    <p:animEffect transition="in" filter="plus(in)">
                                      <p:cBhvr>
                                        <p:cTn id="72" dur="2000"/>
                                        <p:tgtEl>
                                          <p:spTgt spid="62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nimBg="1"/>
      <p:bldP spid="62469" grpId="0" animBg="1"/>
      <p:bldP spid="62470" grpId="0" animBg="1"/>
      <p:bldP spid="62471" grpId="0" animBg="1"/>
      <p:bldP spid="62472" grpId="0" animBg="1"/>
      <p:bldP spid="62473" grpId="0" animBg="1"/>
      <p:bldP spid="62474" grpId="0" animBg="1"/>
      <p:bldP spid="62475" grpId="0" animBg="1"/>
      <p:bldP spid="62476" grpId="0" animBg="1"/>
      <p:bldP spid="62477" grpId="0" animBg="1"/>
      <p:bldP spid="62478" grpId="0" animBg="1"/>
      <p:bldP spid="6248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内容占位符 2"/>
          <p:cNvSpPr>
            <a:spLocks noGrp="1"/>
          </p:cNvSpPr>
          <p:nvPr>
            <p:ph idx="4294967295"/>
          </p:nvPr>
        </p:nvSpPr>
        <p:spPr>
          <a:xfrm>
            <a:off x="488272" y="1100970"/>
            <a:ext cx="10515600" cy="4351337"/>
          </a:xfrm>
        </p:spPr>
        <p:txBody>
          <a:bodyPr/>
          <a:lstStyle/>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经典剪枝</a:t>
            </a:r>
            <a:r>
              <a:rPr lang="en-US" altLang="zh-CN" sz="2400" b="1" kern="100" dirty="0">
                <a:solidFill>
                  <a:srgbClr val="014B88"/>
                </a:solidFill>
                <a:latin typeface="仿宋_GB2312"/>
                <a:cs typeface="Times New Roman" panose="02020603050405020304" pitchFamily="18" charset="0"/>
              </a:rPr>
              <a:t>——Sticks</a:t>
            </a:r>
            <a:r>
              <a:rPr lang="zh-CN" altLang="en-US" sz="2400" b="1" kern="100" dirty="0">
                <a:solidFill>
                  <a:srgbClr val="014B88"/>
                </a:solidFill>
                <a:latin typeface="仿宋_GB2312"/>
                <a:cs typeface="Times New Roman" panose="02020603050405020304" pitchFamily="18" charset="0"/>
              </a:rPr>
              <a:t>（</a:t>
            </a:r>
            <a:r>
              <a:rPr lang="en-US" altLang="zh-CN" sz="2400" b="1" kern="100" dirty="0">
                <a:solidFill>
                  <a:srgbClr val="014B88"/>
                </a:solidFill>
                <a:latin typeface="仿宋_GB2312"/>
                <a:cs typeface="Times New Roman" panose="02020603050405020304" pitchFamily="18" charset="0"/>
                <a:hlinkClick r:id="rId2"/>
              </a:rPr>
              <a:t>POJ1011</a:t>
            </a:r>
            <a:r>
              <a:rPr lang="zh-CN" altLang="en-US" sz="2400" b="1" kern="100" dirty="0">
                <a:solidFill>
                  <a:srgbClr val="014B88"/>
                </a:solidFill>
                <a:latin typeface="仿宋_GB2312"/>
                <a:cs typeface="Times New Roman" panose="02020603050405020304" pitchFamily="18" charset="0"/>
              </a:rPr>
              <a:t>）</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问题描述：乔治有一堆长度相同的木棍，他将这些木棍切成若干（不超过</a:t>
            </a:r>
            <a:r>
              <a:rPr lang="en-US" altLang="zh-CN" sz="2400" b="1" kern="100" dirty="0">
                <a:solidFill>
                  <a:srgbClr val="014B88"/>
                </a:solidFill>
                <a:latin typeface="仿宋_GB2312"/>
                <a:cs typeface="Times New Roman" panose="02020603050405020304" pitchFamily="18" charset="0"/>
              </a:rPr>
              <a:t>64</a:t>
            </a:r>
            <a:r>
              <a:rPr lang="zh-CN" altLang="en-US" sz="2400" b="1" kern="100" dirty="0">
                <a:solidFill>
                  <a:srgbClr val="014B88"/>
                </a:solidFill>
                <a:latin typeface="仿宋_GB2312"/>
                <a:cs typeface="Times New Roman" panose="02020603050405020304" pitchFamily="18" charset="0"/>
              </a:rPr>
              <a:t>根）长度不超过</a:t>
            </a:r>
            <a:r>
              <a:rPr lang="en-US" altLang="zh-CN" sz="2400" b="1" kern="100" dirty="0">
                <a:solidFill>
                  <a:srgbClr val="014B88"/>
                </a:solidFill>
                <a:latin typeface="仿宋_GB2312"/>
                <a:cs typeface="Times New Roman" panose="02020603050405020304" pitchFamily="18" charset="0"/>
              </a:rPr>
              <a:t>50</a:t>
            </a:r>
            <a:r>
              <a:rPr lang="zh-CN" altLang="en-US" sz="2400" b="1" kern="100" dirty="0">
                <a:solidFill>
                  <a:srgbClr val="014B88"/>
                </a:solidFill>
                <a:latin typeface="仿宋_GB2312"/>
                <a:cs typeface="Times New Roman" panose="02020603050405020304" pitchFamily="18" charset="0"/>
              </a:rPr>
              <a:t>的小木棍，问原来的木棍可能的最短长度为多少 ？输入</a:t>
            </a:r>
            <a:r>
              <a:rPr lang="en-US" altLang="zh-CN" sz="2400" b="1" kern="100" dirty="0">
                <a:solidFill>
                  <a:srgbClr val="014B88"/>
                </a:solidFill>
                <a:latin typeface="仿宋_GB2312"/>
                <a:cs typeface="Times New Roman" panose="02020603050405020304" pitchFamily="18" charset="0"/>
              </a:rPr>
              <a:t>n</a:t>
            </a:r>
            <a:r>
              <a:rPr lang="zh-CN" altLang="en-US" sz="2400" b="1" kern="100" dirty="0">
                <a:solidFill>
                  <a:srgbClr val="014B88"/>
                </a:solidFill>
                <a:latin typeface="仿宋_GB2312"/>
                <a:cs typeface="Times New Roman" panose="02020603050405020304" pitchFamily="18" charset="0"/>
              </a:rPr>
              <a:t>，然后给出</a:t>
            </a:r>
            <a:r>
              <a:rPr lang="en-US" altLang="zh-CN" sz="2400" b="1" kern="100" dirty="0">
                <a:solidFill>
                  <a:srgbClr val="014B88"/>
                </a:solidFill>
                <a:latin typeface="仿宋_GB2312"/>
                <a:cs typeface="Times New Roman" panose="02020603050405020304" pitchFamily="18" charset="0"/>
              </a:rPr>
              <a:t>n</a:t>
            </a:r>
            <a:r>
              <a:rPr lang="zh-CN" altLang="en-US" sz="2400" b="1" kern="100" dirty="0">
                <a:solidFill>
                  <a:srgbClr val="014B88"/>
                </a:solidFill>
                <a:latin typeface="仿宋_GB2312"/>
                <a:cs typeface="Times New Roman" panose="02020603050405020304" pitchFamily="18" charset="0"/>
              </a:rPr>
              <a:t>个小木棍的长度，输出结果。（保证有解）</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搜索方法：从小到大枚举可能的长度</a:t>
            </a:r>
            <a:r>
              <a:rPr lang="en-US" altLang="zh-CN" sz="2400" b="1" kern="100" dirty="0">
                <a:solidFill>
                  <a:srgbClr val="014B88"/>
                </a:solidFill>
                <a:latin typeface="仿宋_GB2312"/>
                <a:cs typeface="Times New Roman" panose="02020603050405020304" pitchFamily="18" charset="0"/>
              </a:rPr>
              <a:t>L</a:t>
            </a:r>
            <a:r>
              <a:rPr lang="zh-CN" altLang="en-US" sz="2400" b="1" kern="100" dirty="0">
                <a:solidFill>
                  <a:srgbClr val="014B88"/>
                </a:solidFill>
                <a:latin typeface="仿宋_GB2312"/>
                <a:cs typeface="Times New Roman" panose="02020603050405020304" pitchFamily="18" charset="0"/>
              </a:rPr>
              <a:t>，然后判断是否可行（</a:t>
            </a:r>
            <a:r>
              <a:rPr lang="en-US" altLang="zh-CN" sz="2400" b="1" kern="100" dirty="0">
                <a:solidFill>
                  <a:srgbClr val="014B88"/>
                </a:solidFill>
                <a:latin typeface="仿宋_GB2312"/>
                <a:cs typeface="Times New Roman" panose="02020603050405020304" pitchFamily="18" charset="0"/>
              </a:rPr>
              <a:t>n</a:t>
            </a:r>
            <a:r>
              <a:rPr lang="zh-CN" altLang="en-US" sz="2400" b="1" kern="100" dirty="0">
                <a:solidFill>
                  <a:srgbClr val="014B88"/>
                </a:solidFill>
                <a:latin typeface="仿宋_GB2312"/>
                <a:cs typeface="Times New Roman" panose="02020603050405020304" pitchFamily="18" charset="0"/>
              </a:rPr>
              <a:t>根小木棒能否恰好拼成整数根 </a:t>
            </a:r>
            <a:r>
              <a:rPr lang="en-US" altLang="zh-CN" sz="2400" b="1" kern="100" dirty="0">
                <a:solidFill>
                  <a:srgbClr val="014B88"/>
                </a:solidFill>
                <a:latin typeface="仿宋_GB2312"/>
                <a:cs typeface="Times New Roman" panose="02020603050405020304" pitchFamily="18" charset="0"/>
              </a:rPr>
              <a:t>L</a:t>
            </a:r>
            <a:r>
              <a:rPr lang="zh-CN" altLang="en-US" sz="2400" b="1" kern="100" dirty="0">
                <a:solidFill>
                  <a:srgbClr val="014B88"/>
                </a:solidFill>
                <a:latin typeface="仿宋_GB2312"/>
                <a:cs typeface="Times New Roman" panose="02020603050405020304" pitchFamily="18" charset="0"/>
              </a:rPr>
              <a:t>长的木棒）。</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不加优化纯暴力</a:t>
            </a:r>
            <a:r>
              <a:rPr lang="en-US" altLang="zh-CN" sz="2400" b="1" kern="100" dirty="0">
                <a:solidFill>
                  <a:srgbClr val="014B88"/>
                </a:solidFill>
                <a:latin typeface="仿宋_GB2312"/>
                <a:cs typeface="Times New Roman" panose="02020603050405020304" pitchFamily="18" charset="0"/>
              </a:rPr>
              <a:t>DFS</a:t>
            </a:r>
            <a:r>
              <a:rPr lang="zh-CN" altLang="en-US" sz="2400" b="1" kern="100" dirty="0">
                <a:solidFill>
                  <a:srgbClr val="014B88"/>
                </a:solidFill>
                <a:latin typeface="仿宋_GB2312"/>
                <a:cs typeface="Times New Roman" panose="02020603050405020304" pitchFamily="18" charset="0"/>
              </a:rPr>
              <a:t>必然超时</a:t>
            </a:r>
            <a:endParaRPr lang="en-US" altLang="zh-CN" sz="2400" b="1" kern="100" dirty="0">
              <a:solidFill>
                <a:srgbClr val="014B88"/>
              </a:solidFill>
              <a:latin typeface="仿宋_GB2312"/>
              <a:cs typeface="Times New Roman" panose="02020603050405020304" pitchFamily="18" charset="0"/>
            </a:endParaRPr>
          </a:p>
          <a:p>
            <a:pPr eaLnBrk="1" hangingPunct="1"/>
            <a:endParaRPr lang="en-US" altLang="zh-CN" dirty="0"/>
          </a:p>
          <a:p>
            <a:pPr eaLnBrk="1" hangingPunct="1"/>
            <a:endParaRPr lang="en-US" altLang="zh-CN"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Sticks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88271" y="1109848"/>
            <a:ext cx="10515600" cy="4351337"/>
          </a:xfrm>
        </p:spPr>
        <p:txBody>
          <a:bodyPr>
            <a:normAutofit/>
          </a:bodyPr>
          <a:lstStyle/>
          <a:p>
            <a:pPr>
              <a:lnSpc>
                <a:spcPct val="15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不可行的情况：当前剩余小木棍不能凑出完整的一根长度为</a:t>
            </a:r>
            <a:r>
              <a:rPr lang="en-US" altLang="zh-CN" sz="2400" b="1" kern="100" dirty="0">
                <a:solidFill>
                  <a:srgbClr val="014B88"/>
                </a:solidFill>
                <a:latin typeface="仿宋_GB2312"/>
                <a:cs typeface="Times New Roman" panose="02020603050405020304" pitchFamily="18" charset="0"/>
              </a:rPr>
              <a:t>L</a:t>
            </a:r>
            <a:r>
              <a:rPr lang="zh-CN" altLang="en-US" sz="2400" b="1" kern="100" dirty="0">
                <a:solidFill>
                  <a:srgbClr val="014B88"/>
                </a:solidFill>
                <a:latin typeface="仿宋_GB2312"/>
                <a:cs typeface="Times New Roman" panose="02020603050405020304" pitchFamily="18" charset="0"/>
              </a:rPr>
              <a:t>的木棍</a:t>
            </a:r>
            <a:endParaRPr lang="en-US" altLang="zh-CN" sz="2400" b="1" kern="100" dirty="0">
              <a:solidFill>
                <a:srgbClr val="014B88"/>
              </a:solidFill>
              <a:latin typeface="仿宋_GB2312"/>
              <a:cs typeface="Times New Roman" panose="02020603050405020304" pitchFamily="18" charset="0"/>
            </a:endParaRPr>
          </a:p>
          <a:p>
            <a:pPr marL="0" indent="0">
              <a:lnSpc>
                <a:spcPct val="150000"/>
              </a:lnSpc>
              <a:buNone/>
              <a:defRPr/>
            </a:pPr>
            <a:r>
              <a:rPr lang="zh-CN" altLang="en-US" sz="2400" b="1" kern="100" dirty="0">
                <a:solidFill>
                  <a:srgbClr val="014B88"/>
                </a:solidFill>
                <a:latin typeface="仿宋_GB2312"/>
                <a:cs typeface="Times New Roman" panose="02020603050405020304" pitchFamily="18" charset="0"/>
              </a:rPr>
              <a:t>优化策略：</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defRPr/>
            </a:pPr>
            <a:r>
              <a:rPr lang="en-US" altLang="zh-CN" sz="2400" b="1" kern="100" dirty="0">
                <a:solidFill>
                  <a:srgbClr val="014B88"/>
                </a:solidFill>
                <a:latin typeface="仿宋_GB2312"/>
                <a:cs typeface="Times New Roman" panose="02020603050405020304" pitchFamily="18" charset="0"/>
              </a:rPr>
              <a:t>1</a:t>
            </a:r>
            <a:r>
              <a:rPr lang="zh-CN" altLang="en-US" sz="2400" b="1" kern="100" dirty="0">
                <a:solidFill>
                  <a:srgbClr val="014B88"/>
                </a:solidFill>
                <a:latin typeface="仿宋_GB2312"/>
                <a:cs typeface="Times New Roman" panose="02020603050405020304" pitchFamily="18" charset="0"/>
              </a:rPr>
              <a:t>、枚举原始木棍长度时从小木棍的最大长度开始，且枚举的长度</a:t>
            </a:r>
            <a:r>
              <a:rPr lang="en-US" altLang="zh-CN" sz="2400" b="1" kern="100" dirty="0">
                <a:solidFill>
                  <a:srgbClr val="014B88"/>
                </a:solidFill>
                <a:latin typeface="仿宋_GB2312"/>
                <a:cs typeface="Times New Roman" panose="02020603050405020304" pitchFamily="18" charset="0"/>
              </a:rPr>
              <a:t>L</a:t>
            </a:r>
            <a:r>
              <a:rPr lang="zh-CN" altLang="en-US" sz="2400" b="1" kern="100" dirty="0">
                <a:solidFill>
                  <a:srgbClr val="014B88"/>
                </a:solidFill>
                <a:latin typeface="仿宋_GB2312"/>
                <a:cs typeface="Times New Roman" panose="02020603050405020304" pitchFamily="18" charset="0"/>
              </a:rPr>
              <a:t>是所有小木棍总长度的约数，最后一根长木棍不用拼凑</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defRPr/>
            </a:pPr>
            <a:r>
              <a:rPr lang="en-US" altLang="zh-CN" sz="2400" b="1" kern="100" dirty="0">
                <a:solidFill>
                  <a:srgbClr val="014B88"/>
                </a:solidFill>
                <a:latin typeface="仿宋_GB2312"/>
                <a:cs typeface="Times New Roman" panose="02020603050405020304" pitchFamily="18" charset="0"/>
              </a:rPr>
              <a:t>2</a:t>
            </a:r>
            <a:r>
              <a:rPr lang="zh-CN" altLang="en-US" sz="2400" b="1" kern="100" dirty="0">
                <a:solidFill>
                  <a:srgbClr val="014B88"/>
                </a:solidFill>
                <a:latin typeface="仿宋_GB2312"/>
                <a:cs typeface="Times New Roman" panose="02020603050405020304" pitchFamily="18" charset="0"/>
              </a:rPr>
              <a:t>、将小木棍按照长度降序排列，先凑比较长的木棍，出现不可行的情况时更容易显现</a:t>
            </a:r>
            <a:endParaRPr lang="en-US" altLang="zh-CN" sz="2400" b="1" kern="100" dirty="0">
              <a:solidFill>
                <a:srgbClr val="014B88"/>
              </a:solidFill>
              <a:latin typeface="仿宋_GB2312"/>
              <a:cs typeface="Times New Roman" panose="02020603050405020304" pitchFamily="18" charset="0"/>
            </a:endParaRPr>
          </a:p>
          <a:p>
            <a:pPr marL="457200" indent="-457200">
              <a:buFont typeface="Wingdings" panose="05000000000000000000" pitchFamily="2" charset="2"/>
              <a:buAutoNum type="arabicPeriod"/>
              <a:defRPr/>
            </a:pPr>
            <a:endParaRPr lang="zh-CN" altLang="en-US"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Sticks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23783" y="1253331"/>
            <a:ext cx="10515600" cy="4351337"/>
          </a:xfrm>
        </p:spPr>
        <p:txBody>
          <a:bodyPr>
            <a:normAutofit fontScale="85000" lnSpcReduction="10000"/>
          </a:bodyPr>
          <a:lstStyle/>
          <a:p>
            <a:pPr>
              <a:lnSpc>
                <a:spcPct val="160000"/>
              </a:lnSpc>
              <a:buFont typeface="Wingdings" panose="05000000000000000000" pitchFamily="2" charset="2"/>
              <a:buChar char="l"/>
              <a:defRPr/>
            </a:pPr>
            <a:r>
              <a:rPr lang="en-US" altLang="zh-CN" sz="2400" b="1" kern="100" dirty="0">
                <a:solidFill>
                  <a:srgbClr val="014B88"/>
                </a:solidFill>
                <a:latin typeface="仿宋_GB2312"/>
                <a:cs typeface="Times New Roman" panose="02020603050405020304" pitchFamily="18" charset="0"/>
              </a:rPr>
              <a:t>3</a:t>
            </a:r>
            <a:r>
              <a:rPr lang="zh-CN" altLang="en-US" sz="2400" b="1" kern="100" dirty="0">
                <a:solidFill>
                  <a:srgbClr val="014B88"/>
                </a:solidFill>
                <a:latin typeface="仿宋_GB2312"/>
                <a:cs typeface="Times New Roman" panose="02020603050405020304" pitchFamily="18" charset="0"/>
              </a:rPr>
              <a:t>、如果当前要从头开始拼凑一根长为</a:t>
            </a:r>
            <a:r>
              <a:rPr lang="en-US" altLang="zh-CN" sz="2400" b="1" kern="100" dirty="0">
                <a:solidFill>
                  <a:srgbClr val="014B88"/>
                </a:solidFill>
                <a:latin typeface="仿宋_GB2312"/>
                <a:cs typeface="Times New Roman" panose="02020603050405020304" pitchFamily="18" charset="0"/>
              </a:rPr>
              <a:t>L</a:t>
            </a:r>
            <a:r>
              <a:rPr lang="zh-CN" altLang="en-US" sz="2400" b="1" kern="100" dirty="0">
                <a:solidFill>
                  <a:srgbClr val="014B88"/>
                </a:solidFill>
                <a:latin typeface="仿宋_GB2312"/>
                <a:cs typeface="Times New Roman" panose="02020603050405020304" pitchFamily="18" charset="0"/>
              </a:rPr>
              <a:t>的木棍，尝试一根小木棍，但不可行的话，剪枝（回溯到上一层），因为这根小木棍总要放到一根长木棍里</a:t>
            </a:r>
            <a:endParaRPr lang="en-US" altLang="zh-CN" sz="2400" b="1" kern="100" dirty="0">
              <a:solidFill>
                <a:srgbClr val="014B88"/>
              </a:solidFill>
              <a:latin typeface="仿宋_GB2312"/>
              <a:cs typeface="Times New Roman" panose="02020603050405020304" pitchFamily="18" charset="0"/>
            </a:endParaRPr>
          </a:p>
          <a:p>
            <a:pPr>
              <a:lnSpc>
                <a:spcPct val="160000"/>
              </a:lnSpc>
              <a:buFont typeface="Wingdings" panose="05000000000000000000" pitchFamily="2" charset="2"/>
              <a:buChar char="l"/>
              <a:defRPr/>
            </a:pPr>
            <a:r>
              <a:rPr lang="en-US" altLang="zh-CN" sz="2400" b="1" kern="100" dirty="0">
                <a:solidFill>
                  <a:srgbClr val="014B88"/>
                </a:solidFill>
                <a:latin typeface="仿宋_GB2312"/>
                <a:cs typeface="Times New Roman" panose="02020603050405020304" pitchFamily="18" charset="0"/>
              </a:rPr>
              <a:t>4</a:t>
            </a:r>
            <a:r>
              <a:rPr lang="zh-CN" altLang="en-US" sz="2400" b="1" kern="100" dirty="0">
                <a:solidFill>
                  <a:srgbClr val="014B88"/>
                </a:solidFill>
                <a:latin typeface="仿宋_GB2312"/>
                <a:cs typeface="Times New Roman" panose="02020603050405020304" pitchFamily="18" charset="0"/>
              </a:rPr>
              <a:t>、如果当前放上当前小木棍恰好可以凑出一根长木棍的时候，但后面提示失败，剪枝，因为如果当前小木棍不可行，就必须使用后面更短的木棍来代替该小木棍，使得后面更加不可能拼凑成功</a:t>
            </a:r>
            <a:endParaRPr lang="en-US" altLang="zh-CN" sz="2400" b="1" kern="100" dirty="0">
              <a:solidFill>
                <a:srgbClr val="014B88"/>
              </a:solidFill>
              <a:latin typeface="仿宋_GB2312"/>
              <a:cs typeface="Times New Roman" panose="02020603050405020304" pitchFamily="18" charset="0"/>
            </a:endParaRPr>
          </a:p>
          <a:p>
            <a:pPr>
              <a:lnSpc>
                <a:spcPct val="160000"/>
              </a:lnSpc>
              <a:buFont typeface="Wingdings" panose="05000000000000000000" pitchFamily="2" charset="2"/>
              <a:buChar char="l"/>
              <a:defRPr/>
            </a:pPr>
            <a:r>
              <a:rPr lang="en-US" altLang="zh-CN" sz="2400" b="1" kern="100" dirty="0">
                <a:solidFill>
                  <a:srgbClr val="014B88"/>
                </a:solidFill>
                <a:latin typeface="仿宋_GB2312"/>
                <a:cs typeface="Times New Roman" panose="02020603050405020304" pitchFamily="18" charset="0"/>
              </a:rPr>
              <a:t>5</a:t>
            </a:r>
            <a:r>
              <a:rPr lang="zh-CN" altLang="en-US" sz="2400" b="1" kern="100" dirty="0">
                <a:solidFill>
                  <a:srgbClr val="014B88"/>
                </a:solidFill>
                <a:latin typeface="仿宋_GB2312"/>
                <a:cs typeface="Times New Roman" panose="02020603050405020304" pitchFamily="18" charset="0"/>
              </a:rPr>
              <a:t>、凑满一根长木棍之前，只需从上一层递归过程试到的小木棍的下一根开始即可，因为前面的都不可行</a:t>
            </a:r>
            <a:endParaRPr lang="en-US" altLang="zh-CN" sz="2400" b="1" kern="100" dirty="0">
              <a:solidFill>
                <a:srgbClr val="014B88"/>
              </a:solidFill>
              <a:latin typeface="仿宋_GB2312"/>
              <a:cs typeface="Times New Roman" panose="02020603050405020304" pitchFamily="18" charset="0"/>
            </a:endParaRPr>
          </a:p>
          <a:p>
            <a:pPr>
              <a:lnSpc>
                <a:spcPct val="160000"/>
              </a:lnSpc>
              <a:buFont typeface="Wingdings" panose="05000000000000000000" pitchFamily="2" charset="2"/>
              <a:buChar char="l"/>
              <a:defRPr/>
            </a:pPr>
            <a:r>
              <a:rPr lang="en-US" altLang="zh-CN" sz="2400" b="1" kern="100" dirty="0">
                <a:solidFill>
                  <a:srgbClr val="014B88"/>
                </a:solidFill>
                <a:latin typeface="仿宋_GB2312"/>
                <a:cs typeface="Times New Roman" panose="02020603050405020304" pitchFamily="18" charset="0"/>
              </a:rPr>
              <a:t>6</a:t>
            </a:r>
            <a:r>
              <a:rPr lang="zh-CN" altLang="en-US" sz="2400" b="1" kern="100" dirty="0">
                <a:solidFill>
                  <a:srgbClr val="014B88"/>
                </a:solidFill>
                <a:latin typeface="仿宋_GB2312"/>
                <a:cs typeface="Times New Roman" panose="02020603050405020304" pitchFamily="18" charset="0"/>
              </a:rPr>
              <a:t>、跳过重复长度的木棍，如果当前木棍不可行，那么和其同样长度的木棍一样不可行</a:t>
            </a:r>
            <a:endParaRPr lang="en-US" altLang="zh-CN" sz="2400" b="1" kern="100" dirty="0">
              <a:solidFill>
                <a:srgbClr val="014B88"/>
              </a:solidFill>
              <a:latin typeface="仿宋_GB2312"/>
              <a:cs typeface="Times New Roman" panose="02020603050405020304" pitchFamily="18" charset="0"/>
            </a:endParaRPr>
          </a:p>
          <a:p>
            <a:pPr marL="457200" indent="-457200">
              <a:buFont typeface="Wingdings" panose="05000000000000000000" pitchFamily="2" charset="2"/>
              <a:buAutoNum type="arabicPeriod" startAt="5"/>
              <a:defRPr/>
            </a:pPr>
            <a:endParaRPr lang="en-US" altLang="zh-CN" dirty="0"/>
          </a:p>
          <a:p>
            <a:pPr eaLnBrk="1" hangingPunct="1">
              <a:defRPr/>
            </a:pPr>
            <a:endParaRPr lang="zh-CN" altLang="en-US" dirty="0"/>
          </a:p>
          <a:p>
            <a:pPr eaLnBrk="1" hangingPunct="1">
              <a:defRPr/>
            </a:pPr>
            <a:endParaRPr lang="zh-CN" altLang="en-US"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Sticks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6"/>
          <p:cNvSpPr txBox="1"/>
          <p:nvPr/>
        </p:nvSpPr>
        <p:spPr>
          <a:xfrm>
            <a:off x="166124" y="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Sticks | </a:t>
            </a:r>
            <a:r>
              <a:rPr lang="zh-CN" altLang="en-US" sz="3200" b="1" dirty="0">
                <a:solidFill>
                  <a:srgbClr val="C00000"/>
                </a:solidFill>
                <a:latin typeface="微软雅黑" panose="020B0503020204020204" pitchFamily="34" charset="-122"/>
                <a:ea typeface="微软雅黑" panose="020B0503020204020204" pitchFamily="34" charset="-122"/>
              </a:rPr>
              <a:t>代码分析</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4" name="矩形 3"/>
          <p:cNvSpPr/>
          <p:nvPr/>
        </p:nvSpPr>
        <p:spPr>
          <a:xfrm>
            <a:off x="41429" y="610136"/>
            <a:ext cx="12109141" cy="6247864"/>
          </a:xfrm>
          <a:prstGeom prst="rect">
            <a:avLst/>
          </a:prstGeom>
          <a:solidFill>
            <a:schemeClr val="tx1"/>
          </a:solidFill>
        </p:spPr>
        <p:txBody>
          <a:bodyPr wrap="square">
            <a:spAutoFit/>
          </a:bodyPr>
          <a:lstStyle/>
          <a:p>
            <a:r>
              <a:rPr lang="en-US" altLang="zh-CN" sz="1600" dirty="0">
                <a:solidFill>
                  <a:srgbClr val="C586C0"/>
                </a:solidFill>
                <a:latin typeface="Consolas" panose="020B0609020204030204" pitchFamily="49" charset="0"/>
              </a:rPr>
              <a:t>#include</a:t>
            </a:r>
            <a:r>
              <a:rPr lang="en-US" altLang="zh-CN" sz="1600" dirty="0">
                <a:solidFill>
                  <a:srgbClr val="569CD6"/>
                </a:solidFill>
                <a:latin typeface="Consolas" panose="020B0609020204030204" pitchFamily="49" charset="0"/>
              </a:rPr>
              <a:t> </a:t>
            </a:r>
            <a:r>
              <a:rPr lang="en-US" altLang="zh-CN" sz="1600" dirty="0">
                <a:solidFill>
                  <a:srgbClr val="CE9178"/>
                </a:solidFill>
                <a:latin typeface="Consolas" panose="020B0609020204030204" pitchFamily="49" charset="0"/>
              </a:rPr>
              <a:t>&lt;</a:t>
            </a:r>
            <a:r>
              <a:rPr lang="en-US" altLang="zh-CN" sz="1600" dirty="0" err="1">
                <a:solidFill>
                  <a:srgbClr val="CE9178"/>
                </a:solidFill>
                <a:latin typeface="Consolas" panose="020B0609020204030204" pitchFamily="49" charset="0"/>
              </a:rPr>
              <a:t>cstdio</a:t>
            </a:r>
            <a:r>
              <a:rPr lang="en-US" altLang="zh-CN" sz="1600" dirty="0">
                <a:solidFill>
                  <a:srgbClr val="CE9178"/>
                </a:solidFill>
                <a:latin typeface="Consolas" panose="020B0609020204030204" pitchFamily="49" charset="0"/>
              </a:rPr>
              <a:t>&gt;</a:t>
            </a:r>
            <a:endParaRPr lang="en-US" altLang="zh-CN" sz="1600" dirty="0">
              <a:solidFill>
                <a:srgbClr val="D4D4D4"/>
              </a:solidFill>
              <a:latin typeface="Consolas" panose="020B0609020204030204" pitchFamily="49" charset="0"/>
            </a:endParaRPr>
          </a:p>
          <a:p>
            <a:r>
              <a:rPr lang="en-US" altLang="zh-CN" sz="1600" dirty="0">
                <a:solidFill>
                  <a:srgbClr val="C586C0"/>
                </a:solidFill>
                <a:latin typeface="Consolas" panose="020B0609020204030204" pitchFamily="49" charset="0"/>
              </a:rPr>
              <a:t>#include</a:t>
            </a:r>
            <a:r>
              <a:rPr lang="en-US" altLang="zh-CN" sz="1600" dirty="0">
                <a:solidFill>
                  <a:srgbClr val="569CD6"/>
                </a:solidFill>
                <a:latin typeface="Consolas" panose="020B0609020204030204" pitchFamily="49" charset="0"/>
              </a:rPr>
              <a:t> </a:t>
            </a:r>
            <a:r>
              <a:rPr lang="en-US" altLang="zh-CN" sz="1600" dirty="0">
                <a:solidFill>
                  <a:srgbClr val="CE9178"/>
                </a:solidFill>
                <a:latin typeface="Consolas" panose="020B0609020204030204" pitchFamily="49" charset="0"/>
              </a:rPr>
              <a:t>&lt;</a:t>
            </a:r>
            <a:r>
              <a:rPr lang="en-US" altLang="zh-CN" sz="1600" dirty="0" err="1">
                <a:solidFill>
                  <a:srgbClr val="CE9178"/>
                </a:solidFill>
                <a:latin typeface="Consolas" panose="020B0609020204030204" pitchFamily="49" charset="0"/>
              </a:rPr>
              <a:t>cstring</a:t>
            </a:r>
            <a:r>
              <a:rPr lang="en-US" altLang="zh-CN" sz="1600" dirty="0">
                <a:solidFill>
                  <a:srgbClr val="CE9178"/>
                </a:solidFill>
                <a:latin typeface="Consolas" panose="020B0609020204030204" pitchFamily="49" charset="0"/>
              </a:rPr>
              <a:t>&gt;</a:t>
            </a:r>
            <a:endParaRPr lang="en-US" altLang="zh-CN" sz="1600" dirty="0">
              <a:solidFill>
                <a:srgbClr val="D4D4D4"/>
              </a:solidFill>
              <a:latin typeface="Consolas" panose="020B0609020204030204" pitchFamily="49" charset="0"/>
            </a:endParaRPr>
          </a:p>
          <a:p>
            <a:r>
              <a:rPr lang="en-US" altLang="zh-CN" sz="1600" dirty="0">
                <a:solidFill>
                  <a:srgbClr val="C586C0"/>
                </a:solidFill>
                <a:latin typeface="Consolas" panose="020B0609020204030204" pitchFamily="49" charset="0"/>
              </a:rPr>
              <a:t>#include</a:t>
            </a:r>
            <a:r>
              <a:rPr lang="en-US" altLang="zh-CN" sz="1600" dirty="0">
                <a:solidFill>
                  <a:srgbClr val="569CD6"/>
                </a:solidFill>
                <a:latin typeface="Consolas" panose="020B0609020204030204" pitchFamily="49" charset="0"/>
              </a:rPr>
              <a:t> </a:t>
            </a:r>
            <a:r>
              <a:rPr lang="en-US" altLang="zh-CN" sz="1600" dirty="0">
                <a:solidFill>
                  <a:srgbClr val="CE9178"/>
                </a:solidFill>
                <a:latin typeface="Consolas" panose="020B0609020204030204" pitchFamily="49" charset="0"/>
              </a:rPr>
              <a:t>&lt;algorithm&gt;</a:t>
            </a:r>
            <a:endParaRPr lang="en-US" altLang="zh-CN" sz="1600" dirty="0">
              <a:solidFill>
                <a:srgbClr val="D4D4D4"/>
              </a:solidFill>
              <a:latin typeface="Consolas" panose="020B0609020204030204" pitchFamily="49" charset="0"/>
            </a:endParaRPr>
          </a:p>
          <a:p>
            <a:r>
              <a:rPr lang="en-US" altLang="zh-CN" sz="1600" dirty="0">
                <a:solidFill>
                  <a:srgbClr val="C586C0"/>
                </a:solidFill>
                <a:latin typeface="Consolas" panose="020B0609020204030204" pitchFamily="49" charset="0"/>
              </a:rPr>
              <a:t>using</a:t>
            </a:r>
            <a:r>
              <a:rPr lang="en-US" altLang="zh-CN" sz="1600" dirty="0">
                <a:solidFill>
                  <a:srgbClr val="D4D4D4"/>
                </a:solidFill>
                <a:latin typeface="Consolas" panose="020B0609020204030204" pitchFamily="49" charset="0"/>
              </a:rPr>
              <a:t> </a:t>
            </a:r>
            <a:r>
              <a:rPr lang="en-US" altLang="zh-CN" sz="1600" dirty="0">
                <a:solidFill>
                  <a:srgbClr val="569CD6"/>
                </a:solidFill>
                <a:latin typeface="Consolas" panose="020B0609020204030204" pitchFamily="49" charset="0"/>
              </a:rPr>
              <a:t>namespace</a:t>
            </a:r>
            <a:r>
              <a:rPr lang="en-US" altLang="zh-CN" sz="1600" dirty="0">
                <a:solidFill>
                  <a:srgbClr val="D4D4D4"/>
                </a:solidFill>
                <a:latin typeface="Consolas" panose="020B0609020204030204" pitchFamily="49" charset="0"/>
              </a:rPr>
              <a:t> </a:t>
            </a:r>
            <a:r>
              <a:rPr lang="en-US" altLang="zh-CN" sz="1600" dirty="0">
                <a:solidFill>
                  <a:srgbClr val="4EC9B0"/>
                </a:solidFill>
                <a:latin typeface="Consolas" panose="020B0609020204030204" pitchFamily="49" charset="0"/>
              </a:rPr>
              <a:t>std</a:t>
            </a:r>
            <a:r>
              <a:rPr lang="en-US" altLang="zh-CN" sz="1600" dirty="0">
                <a:solidFill>
                  <a:srgbClr val="D4D4D4"/>
                </a:solidFill>
                <a:latin typeface="Consolas" panose="020B0609020204030204" pitchFamily="49" charset="0"/>
              </a:rPr>
              <a:t>;</a:t>
            </a:r>
          </a:p>
          <a:p>
            <a:r>
              <a:rPr lang="en-US" altLang="zh-CN" sz="1600" dirty="0">
                <a:solidFill>
                  <a:srgbClr val="569CD6"/>
                </a:solidFill>
                <a:latin typeface="Consolas" panose="020B0609020204030204" pitchFamily="49" charset="0"/>
              </a:rPr>
              <a:t>int</a:t>
            </a:r>
            <a:r>
              <a:rPr lang="en-US" altLang="zh-CN" sz="1600" dirty="0">
                <a:solidFill>
                  <a:srgbClr val="D4D4D4"/>
                </a:solidFill>
                <a:latin typeface="Consolas" panose="020B0609020204030204" pitchFamily="49" charset="0"/>
              </a:rPr>
              <a:t> </a:t>
            </a:r>
            <a:r>
              <a:rPr lang="en-US" altLang="zh-CN" sz="1600" dirty="0">
                <a:solidFill>
                  <a:srgbClr val="9CDCFE"/>
                </a:solidFill>
                <a:latin typeface="Consolas" panose="020B0609020204030204" pitchFamily="49" charset="0"/>
              </a:rPr>
              <a:t>used</a:t>
            </a:r>
            <a:r>
              <a:rPr lang="en-US" altLang="zh-CN" sz="1600" dirty="0">
                <a:solidFill>
                  <a:srgbClr val="D4D4D4"/>
                </a:solidFill>
                <a:latin typeface="Consolas" panose="020B0609020204030204" pitchFamily="49" charset="0"/>
              </a:rPr>
              <a:t>[</a:t>
            </a:r>
            <a:r>
              <a:rPr lang="en-US" altLang="zh-CN" sz="1600" dirty="0">
                <a:solidFill>
                  <a:srgbClr val="B5CEA8"/>
                </a:solidFill>
                <a:latin typeface="Consolas" panose="020B0609020204030204" pitchFamily="49" charset="0"/>
              </a:rPr>
              <a:t>100</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len</a:t>
            </a:r>
            <a:r>
              <a:rPr lang="en-US" altLang="zh-CN" sz="1600" dirty="0">
                <a:solidFill>
                  <a:srgbClr val="D4D4D4"/>
                </a:solidFill>
                <a:latin typeface="Consolas" panose="020B0609020204030204" pitchFamily="49" charset="0"/>
              </a:rPr>
              <a:t>[</a:t>
            </a:r>
            <a:r>
              <a:rPr lang="en-US" altLang="zh-CN" sz="1600" dirty="0">
                <a:solidFill>
                  <a:srgbClr val="B5CEA8"/>
                </a:solidFill>
                <a:latin typeface="Consolas" panose="020B0609020204030204" pitchFamily="49" charset="0"/>
              </a:rPr>
              <a:t>100</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sum</a:t>
            </a:r>
            <a:r>
              <a:rPr lang="en-US" altLang="zh-CN" sz="1600" dirty="0" err="1">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n</a:t>
            </a:r>
            <a:r>
              <a:rPr lang="en-US" altLang="zh-CN" sz="1600" dirty="0" err="1">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Min</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//used</a:t>
            </a:r>
            <a:r>
              <a:rPr lang="zh-CN" altLang="en-US" sz="1600" dirty="0">
                <a:solidFill>
                  <a:srgbClr val="6A9955"/>
                </a:solidFill>
                <a:latin typeface="Consolas" panose="020B0609020204030204" pitchFamily="49" charset="0"/>
              </a:rPr>
              <a:t>数组标记小木棍是否已经被使用，</a:t>
            </a:r>
            <a:r>
              <a:rPr lang="en-US" altLang="zh-CN" sz="1600" dirty="0" err="1">
                <a:solidFill>
                  <a:srgbClr val="6A9955"/>
                </a:solidFill>
                <a:latin typeface="Consolas" panose="020B0609020204030204" pitchFamily="49" charset="0"/>
              </a:rPr>
              <a:t>len</a:t>
            </a:r>
            <a:r>
              <a:rPr lang="zh-CN" altLang="en-US" sz="1600" dirty="0">
                <a:solidFill>
                  <a:srgbClr val="6A9955"/>
                </a:solidFill>
                <a:latin typeface="Consolas" panose="020B0609020204030204" pitchFamily="49" charset="0"/>
              </a:rPr>
              <a:t>存放小木棍的长度，</a:t>
            </a:r>
            <a:r>
              <a:rPr lang="en-US" altLang="zh-CN" sz="1600" dirty="0">
                <a:solidFill>
                  <a:srgbClr val="6A9955"/>
                </a:solidFill>
                <a:latin typeface="Consolas" panose="020B0609020204030204" pitchFamily="49" charset="0"/>
              </a:rPr>
              <a:t>n</a:t>
            </a:r>
            <a:r>
              <a:rPr lang="zh-CN" altLang="en-US" sz="1600" dirty="0">
                <a:solidFill>
                  <a:srgbClr val="6A9955"/>
                </a:solidFill>
                <a:latin typeface="Consolas" panose="020B0609020204030204" pitchFamily="49" charset="0"/>
              </a:rPr>
              <a:t>是小木棍个数，</a:t>
            </a:r>
            <a:r>
              <a:rPr lang="en-US" altLang="zh-CN" sz="1600" dirty="0">
                <a:solidFill>
                  <a:srgbClr val="6A9955"/>
                </a:solidFill>
                <a:latin typeface="Consolas" panose="020B0609020204030204" pitchFamily="49" charset="0"/>
              </a:rPr>
              <a:t>Min</a:t>
            </a:r>
            <a:r>
              <a:rPr lang="zh-CN" altLang="en-US" sz="1600" dirty="0">
                <a:solidFill>
                  <a:srgbClr val="6A9955"/>
                </a:solidFill>
                <a:latin typeface="Consolas" panose="020B0609020204030204" pitchFamily="49" charset="0"/>
              </a:rPr>
              <a:t>是枚举的长木棍的长度</a:t>
            </a:r>
            <a:endParaRPr lang="zh-CN" altLang="en-US" sz="1600" dirty="0">
              <a:solidFill>
                <a:srgbClr val="D4D4D4"/>
              </a:solidFill>
              <a:latin typeface="Consolas" panose="020B0609020204030204" pitchFamily="49" charset="0"/>
            </a:endParaRPr>
          </a:p>
          <a:p>
            <a:r>
              <a:rPr lang="en-US" altLang="zh-CN" sz="1600" dirty="0">
                <a:solidFill>
                  <a:srgbClr val="569CD6"/>
                </a:solidFill>
                <a:latin typeface="Consolas" panose="020B0609020204030204" pitchFamily="49" charset="0"/>
              </a:rPr>
              <a:t>inline</a:t>
            </a:r>
            <a:r>
              <a:rPr lang="en-US" altLang="zh-CN" sz="1600" dirty="0">
                <a:solidFill>
                  <a:srgbClr val="D4D4D4"/>
                </a:solidFill>
                <a:latin typeface="Consolas" panose="020B0609020204030204" pitchFamily="49" charset="0"/>
              </a:rPr>
              <a:t> </a:t>
            </a:r>
            <a:r>
              <a:rPr lang="en-US" altLang="zh-CN" sz="1600" dirty="0">
                <a:solidFill>
                  <a:srgbClr val="569CD6"/>
                </a:solidFill>
                <a:latin typeface="Consolas" panose="020B0609020204030204" pitchFamily="49" charset="0"/>
              </a:rPr>
              <a:t>int</a:t>
            </a:r>
            <a:r>
              <a:rPr lang="en-US" altLang="zh-CN" sz="1600" dirty="0">
                <a:solidFill>
                  <a:srgbClr val="D4D4D4"/>
                </a:solidFill>
                <a:latin typeface="Consolas" panose="020B0609020204030204" pitchFamily="49" charset="0"/>
              </a:rPr>
              <a:t> </a:t>
            </a:r>
            <a:r>
              <a:rPr lang="en-US" altLang="zh-CN" sz="1600" dirty="0">
                <a:solidFill>
                  <a:srgbClr val="DCDCAA"/>
                </a:solidFill>
                <a:latin typeface="Consolas" panose="020B0609020204030204" pitchFamily="49" charset="0"/>
              </a:rPr>
              <a:t>find</a:t>
            </a:r>
            <a:r>
              <a:rPr lang="en-US" altLang="zh-CN" sz="1600" dirty="0">
                <a:solidFill>
                  <a:srgbClr val="D4D4D4"/>
                </a:solidFill>
                <a:latin typeface="Consolas" panose="020B0609020204030204" pitchFamily="49" charset="0"/>
              </a:rPr>
              <a:t>(</a:t>
            </a:r>
            <a:r>
              <a:rPr lang="en-US" altLang="zh-CN" sz="1600" dirty="0">
                <a:solidFill>
                  <a:srgbClr val="569CD6"/>
                </a:solidFill>
                <a:latin typeface="Consolas" panose="020B0609020204030204" pitchFamily="49" charset="0"/>
              </a:rPr>
              <a:t>int</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p</a:t>
            </a:r>
            <a:r>
              <a:rPr lang="en-US" altLang="zh-CN" sz="1600" dirty="0" err="1">
                <a:solidFill>
                  <a:srgbClr val="D4D4D4"/>
                </a:solidFill>
                <a:latin typeface="Consolas" panose="020B0609020204030204" pitchFamily="49" charset="0"/>
              </a:rPr>
              <a:t>,</a:t>
            </a:r>
            <a:r>
              <a:rPr lang="en-US" altLang="zh-CN" sz="1600" dirty="0" err="1">
                <a:solidFill>
                  <a:srgbClr val="569CD6"/>
                </a:solidFill>
                <a:latin typeface="Consolas" panose="020B0609020204030204" pitchFamily="49" charset="0"/>
              </a:rPr>
              <a:t>int</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rest</a:t>
            </a:r>
            <a:r>
              <a:rPr lang="en-US" altLang="zh-CN" sz="1600" dirty="0" err="1">
                <a:solidFill>
                  <a:srgbClr val="D4D4D4"/>
                </a:solidFill>
                <a:latin typeface="Consolas" panose="020B0609020204030204" pitchFamily="49" charset="0"/>
              </a:rPr>
              <a:t>,</a:t>
            </a:r>
            <a:r>
              <a:rPr lang="en-US" altLang="zh-CN" sz="1600" dirty="0" err="1">
                <a:solidFill>
                  <a:srgbClr val="569CD6"/>
                </a:solidFill>
                <a:latin typeface="Consolas" panose="020B0609020204030204" pitchFamily="49" charset="0"/>
              </a:rPr>
              <a:t>int</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trest</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//p</a:t>
            </a:r>
            <a:r>
              <a:rPr lang="zh-CN" altLang="en-US" sz="1600" dirty="0">
                <a:solidFill>
                  <a:srgbClr val="6A9955"/>
                </a:solidFill>
                <a:latin typeface="Consolas" panose="020B0609020204030204" pitchFamily="49" charset="0"/>
              </a:rPr>
              <a:t>为当前搜索到的小木棍标号，</a:t>
            </a:r>
            <a:r>
              <a:rPr lang="en-US" altLang="zh-CN" sz="1600" dirty="0">
                <a:solidFill>
                  <a:srgbClr val="6A9955"/>
                </a:solidFill>
                <a:latin typeface="Consolas" panose="020B0609020204030204" pitchFamily="49" charset="0"/>
              </a:rPr>
              <a:t>rest</a:t>
            </a:r>
            <a:r>
              <a:rPr lang="zh-CN" altLang="en-US" sz="1600" dirty="0">
                <a:solidFill>
                  <a:srgbClr val="6A9955"/>
                </a:solidFill>
                <a:latin typeface="Consolas" panose="020B0609020204030204" pitchFamily="49" charset="0"/>
              </a:rPr>
              <a:t>为正在拼凑的长木棍剩余的长度，</a:t>
            </a:r>
            <a:r>
              <a:rPr lang="en-US" altLang="zh-CN" sz="1600" dirty="0" err="1">
                <a:solidFill>
                  <a:srgbClr val="6A9955"/>
                </a:solidFill>
                <a:latin typeface="Consolas" panose="020B0609020204030204" pitchFamily="49" charset="0"/>
              </a:rPr>
              <a:t>trest</a:t>
            </a:r>
            <a:r>
              <a:rPr lang="zh-CN" altLang="en-US" sz="1600" dirty="0">
                <a:solidFill>
                  <a:srgbClr val="6A9955"/>
                </a:solidFill>
                <a:latin typeface="Consolas" panose="020B0609020204030204" pitchFamily="49" charset="0"/>
              </a:rPr>
              <a:t>为当前剩余的小木棍的总长度</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r>
              <a:rPr lang="en-US" altLang="zh-CN" sz="1600" dirty="0">
                <a:solidFill>
                  <a:srgbClr val="569CD6"/>
                </a:solidFill>
                <a:latin typeface="Consolas" panose="020B0609020204030204" pitchFamily="49" charset="0"/>
              </a:rPr>
              <a:t>int</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a:t>
            </a:r>
          </a:p>
          <a:p>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if</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trest</a:t>
            </a:r>
            <a:r>
              <a:rPr lang="en-US" altLang="zh-CN" sz="1600" dirty="0">
                <a:solidFill>
                  <a:srgbClr val="D4D4D4"/>
                </a:solidFill>
                <a:latin typeface="Consolas" panose="020B0609020204030204" pitchFamily="49" charset="0"/>
              </a:rPr>
              <a:t> == </a:t>
            </a:r>
            <a:r>
              <a:rPr lang="en-US" altLang="zh-CN" sz="1600" dirty="0">
                <a:solidFill>
                  <a:srgbClr val="9CDCFE"/>
                </a:solidFill>
                <a:latin typeface="Consolas" panose="020B0609020204030204" pitchFamily="49" charset="0"/>
              </a:rPr>
              <a:t>Min</a:t>
            </a:r>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return</a:t>
            </a:r>
            <a:r>
              <a:rPr lang="en-US" altLang="zh-CN" sz="1600" dirty="0">
                <a:solidFill>
                  <a:srgbClr val="D4D4D4"/>
                </a:solidFill>
                <a:latin typeface="Consolas" panose="020B0609020204030204" pitchFamily="49" charset="0"/>
              </a:rPr>
              <a:t> </a:t>
            </a:r>
            <a:r>
              <a:rPr lang="en-US" altLang="zh-CN" sz="1600" dirty="0">
                <a:solidFill>
                  <a:srgbClr val="B5CEA8"/>
                </a:solidFill>
                <a:latin typeface="Consolas" panose="020B0609020204030204" pitchFamily="49" charset="0"/>
              </a:rPr>
              <a:t>1</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a:t>
            </a:r>
            <a:r>
              <a:rPr lang="zh-CN" altLang="en-US" sz="1600" dirty="0">
                <a:solidFill>
                  <a:srgbClr val="6A9955"/>
                </a:solidFill>
                <a:latin typeface="Consolas" panose="020B0609020204030204" pitchFamily="49" charset="0"/>
              </a:rPr>
              <a:t>如果剩余小木棍的总长度恰好等于要拼凑的长木棍的长度，直接返回（优化</a:t>
            </a:r>
            <a:r>
              <a:rPr lang="en-US" altLang="zh-CN" sz="1600" dirty="0">
                <a:solidFill>
                  <a:srgbClr val="6A9955"/>
                </a:solidFill>
                <a:latin typeface="Consolas" panose="020B0609020204030204" pitchFamily="49" charset="0"/>
              </a:rPr>
              <a:t>1</a:t>
            </a:r>
            <a:r>
              <a:rPr lang="zh-CN" altLang="en-US" sz="1600" dirty="0">
                <a:solidFill>
                  <a:srgbClr val="6A9955"/>
                </a:solidFill>
                <a:latin typeface="Consolas" panose="020B0609020204030204" pitchFamily="49" charset="0"/>
              </a:rPr>
              <a:t>）</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for</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 </a:t>
            </a:r>
            <a:r>
              <a:rPr lang="en-US" altLang="zh-CN" sz="1600" dirty="0" err="1">
                <a:solidFill>
                  <a:srgbClr val="9CDCFE"/>
                </a:solidFill>
                <a:latin typeface="Consolas" panose="020B0609020204030204" pitchFamily="49" charset="0"/>
              </a:rPr>
              <a:t>p</a:t>
            </a:r>
            <a:r>
              <a:rPr lang="en-US" altLang="zh-CN" sz="1600" dirty="0" err="1">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&lt;= </a:t>
            </a:r>
            <a:r>
              <a:rPr lang="en-US" altLang="zh-CN" sz="1600" dirty="0">
                <a:solidFill>
                  <a:srgbClr val="9CDCFE"/>
                </a:solidFill>
                <a:latin typeface="Consolas" panose="020B0609020204030204" pitchFamily="49" charset="0"/>
              </a:rPr>
              <a:t>n</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a:t>
            </a:r>
          </a:p>
          <a:p>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if</a:t>
            </a:r>
            <a:r>
              <a:rPr lang="en-US" altLang="zh-CN" sz="1600" dirty="0">
                <a:solidFill>
                  <a:srgbClr val="D4D4D4"/>
                </a:solidFill>
                <a:latin typeface="Consolas" panose="020B0609020204030204" pitchFamily="49" charset="0"/>
              </a:rPr>
              <a:t> (!</a:t>
            </a:r>
            <a:r>
              <a:rPr lang="en-US" altLang="zh-CN" sz="1600" dirty="0">
                <a:solidFill>
                  <a:srgbClr val="9CDCFE"/>
                </a:solidFill>
                <a:latin typeface="Consolas" panose="020B0609020204030204" pitchFamily="49" charset="0"/>
              </a:rPr>
              <a:t>used</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&amp;&amp; </a:t>
            </a:r>
            <a:r>
              <a:rPr lang="en-US" altLang="zh-CN" sz="1600" dirty="0" err="1">
                <a:solidFill>
                  <a:srgbClr val="9CDCFE"/>
                </a:solidFill>
                <a:latin typeface="Consolas" panose="020B0609020204030204" pitchFamily="49" charset="0"/>
              </a:rPr>
              <a:t>len</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&lt;= </a:t>
            </a:r>
            <a:r>
              <a:rPr lang="en-US" altLang="zh-CN" sz="1600" dirty="0">
                <a:solidFill>
                  <a:srgbClr val="9CDCFE"/>
                </a:solidFill>
                <a:latin typeface="Consolas" panose="020B0609020204030204" pitchFamily="49" charset="0"/>
              </a:rPr>
              <a:t>rest</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a:t>
            </a:r>
            <a:r>
              <a:rPr lang="zh-CN" altLang="en-US" sz="1600" dirty="0">
                <a:solidFill>
                  <a:srgbClr val="6A9955"/>
                </a:solidFill>
                <a:latin typeface="Consolas" panose="020B0609020204030204" pitchFamily="49" charset="0"/>
              </a:rPr>
              <a:t>如果当前小木棍未被使用并且长度小于正在拼凑的长木棍剩余的长度，将其拼凑进该长木棍</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r>
              <a:rPr lang="en-US" altLang="zh-CN" sz="1600" dirty="0">
                <a:solidFill>
                  <a:srgbClr val="9CDCFE"/>
                </a:solidFill>
                <a:latin typeface="Consolas" panose="020B0609020204030204" pitchFamily="49" charset="0"/>
              </a:rPr>
              <a:t>used</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a:t>
            </a:r>
            <a:r>
              <a:rPr lang="en-US" altLang="zh-CN" sz="1600" dirty="0">
                <a:solidFill>
                  <a:srgbClr val="B5CEA8"/>
                </a:solidFill>
                <a:latin typeface="Consolas" panose="020B0609020204030204" pitchFamily="49" charset="0"/>
              </a:rPr>
              <a:t>1</a:t>
            </a:r>
            <a:r>
              <a:rPr lang="en-US" altLang="zh-CN" sz="1600" dirty="0">
                <a:solidFill>
                  <a:srgbClr val="D4D4D4"/>
                </a:solidFill>
                <a:latin typeface="Consolas" panose="020B0609020204030204" pitchFamily="49" charset="0"/>
              </a:rPr>
              <a:t>;</a:t>
            </a:r>
          </a:p>
          <a:p>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if</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len</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 </a:t>
            </a:r>
            <a:r>
              <a:rPr lang="en-US" altLang="zh-CN" sz="1600" dirty="0">
                <a:solidFill>
                  <a:srgbClr val="9CDCFE"/>
                </a:solidFill>
                <a:latin typeface="Consolas" panose="020B0609020204030204" pitchFamily="49" charset="0"/>
              </a:rPr>
              <a:t>rest</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a:t>
            </a:r>
            <a:r>
              <a:rPr lang="zh-CN" altLang="en-US" sz="1600" dirty="0">
                <a:solidFill>
                  <a:srgbClr val="6A9955"/>
                </a:solidFill>
                <a:latin typeface="Consolas" panose="020B0609020204030204" pitchFamily="49" charset="0"/>
              </a:rPr>
              <a:t>如果当前小木棍长度恰好能够拼凑成当前长木棍</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if</a:t>
            </a:r>
            <a:r>
              <a:rPr lang="en-US" altLang="zh-CN" sz="1600" dirty="0">
                <a:solidFill>
                  <a:srgbClr val="D4D4D4"/>
                </a:solidFill>
                <a:latin typeface="Consolas" panose="020B0609020204030204" pitchFamily="49" charset="0"/>
              </a:rPr>
              <a:t> (</a:t>
            </a:r>
            <a:r>
              <a:rPr lang="en-US" altLang="zh-CN" sz="1600" dirty="0">
                <a:solidFill>
                  <a:srgbClr val="DCDCAA"/>
                </a:solidFill>
                <a:latin typeface="Consolas" panose="020B0609020204030204" pitchFamily="49" charset="0"/>
              </a:rPr>
              <a:t>find</a:t>
            </a:r>
            <a:r>
              <a:rPr lang="en-US" altLang="zh-CN" sz="1600" dirty="0">
                <a:solidFill>
                  <a:srgbClr val="D4D4D4"/>
                </a:solidFill>
                <a:latin typeface="Consolas" panose="020B0609020204030204" pitchFamily="49" charset="0"/>
              </a:rPr>
              <a:t>(</a:t>
            </a:r>
            <a:r>
              <a:rPr lang="en-US" altLang="zh-CN" sz="1600" dirty="0">
                <a:solidFill>
                  <a:srgbClr val="B5CEA8"/>
                </a:solidFill>
                <a:latin typeface="Consolas" panose="020B0609020204030204" pitchFamily="49" charset="0"/>
              </a:rPr>
              <a:t>1</a:t>
            </a:r>
            <a:r>
              <a:rPr lang="en-US" altLang="zh-CN" sz="1600" dirty="0">
                <a:solidFill>
                  <a:srgbClr val="D4D4D4"/>
                </a:solidFill>
                <a:latin typeface="Consolas" panose="020B0609020204030204" pitchFamily="49" charset="0"/>
              </a:rPr>
              <a:t>,</a:t>
            </a:r>
            <a:r>
              <a:rPr lang="en-US" altLang="zh-CN" sz="1600" dirty="0">
                <a:solidFill>
                  <a:srgbClr val="9CDCFE"/>
                </a:solidFill>
                <a:latin typeface="Consolas" panose="020B0609020204030204" pitchFamily="49" charset="0"/>
              </a:rPr>
              <a:t>Min</a:t>
            </a:r>
            <a:r>
              <a:rPr lang="en-US" altLang="zh-CN" sz="1600" dirty="0">
                <a:solidFill>
                  <a:srgbClr val="D4D4D4"/>
                </a:solidFill>
                <a:latin typeface="Consolas" panose="020B0609020204030204" pitchFamily="49" charset="0"/>
              </a:rPr>
              <a:t>,</a:t>
            </a:r>
            <a:r>
              <a:rPr lang="en-US" altLang="zh-CN" sz="1600" dirty="0">
                <a:solidFill>
                  <a:srgbClr val="9CDCFE"/>
                </a:solidFill>
                <a:latin typeface="Consolas" panose="020B0609020204030204" pitchFamily="49" charset="0"/>
              </a:rPr>
              <a:t>trest</a:t>
            </a:r>
            <a:r>
              <a:rPr lang="en-US" altLang="zh-CN" sz="1600" dirty="0">
                <a:solidFill>
                  <a:srgbClr val="D4D4D4"/>
                </a:solidFill>
                <a:latin typeface="Consolas" panose="020B0609020204030204" pitchFamily="49" charset="0"/>
              </a:rPr>
              <a:t>-</a:t>
            </a:r>
            <a:r>
              <a:rPr lang="en-US" altLang="zh-CN" sz="1600" dirty="0">
                <a:solidFill>
                  <a:srgbClr val="9CDCFE"/>
                </a:solidFill>
                <a:latin typeface="Consolas" panose="020B0609020204030204" pitchFamily="49" charset="0"/>
              </a:rPr>
              <a:t>len</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return</a:t>
            </a:r>
            <a:r>
              <a:rPr lang="en-US" altLang="zh-CN" sz="1600" dirty="0">
                <a:solidFill>
                  <a:srgbClr val="D4D4D4"/>
                </a:solidFill>
                <a:latin typeface="Consolas" panose="020B0609020204030204" pitchFamily="49" charset="0"/>
              </a:rPr>
              <a:t> </a:t>
            </a:r>
            <a:r>
              <a:rPr lang="en-US" altLang="zh-CN" sz="1600" dirty="0">
                <a:solidFill>
                  <a:srgbClr val="B5CEA8"/>
                </a:solidFill>
                <a:latin typeface="Consolas" panose="020B0609020204030204" pitchFamily="49" charset="0"/>
              </a:rPr>
              <a:t>1</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a:t>
            </a:r>
            <a:r>
              <a:rPr lang="zh-CN" altLang="en-US" sz="1600" dirty="0">
                <a:solidFill>
                  <a:srgbClr val="6A9955"/>
                </a:solidFill>
                <a:latin typeface="Consolas" panose="020B0609020204030204" pitchFamily="49" charset="0"/>
              </a:rPr>
              <a:t>继续拼凑其他长木棍，如果成功，即找到可行解</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else</a:t>
            </a:r>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if</a:t>
            </a:r>
            <a:r>
              <a:rPr lang="en-US" altLang="zh-CN" sz="1600" dirty="0">
                <a:solidFill>
                  <a:srgbClr val="D4D4D4"/>
                </a:solidFill>
                <a:latin typeface="Consolas" panose="020B0609020204030204" pitchFamily="49" charset="0"/>
              </a:rPr>
              <a:t> (</a:t>
            </a:r>
            <a:r>
              <a:rPr lang="en-US" altLang="zh-CN" sz="1600" dirty="0">
                <a:solidFill>
                  <a:srgbClr val="DCDCAA"/>
                </a:solidFill>
                <a:latin typeface="Consolas" panose="020B0609020204030204" pitchFamily="49" charset="0"/>
              </a:rPr>
              <a:t>find</a:t>
            </a:r>
            <a:r>
              <a:rPr lang="en-US" altLang="zh-CN" sz="1600" dirty="0">
                <a:solidFill>
                  <a:srgbClr val="D4D4D4"/>
                </a:solidFill>
                <a:latin typeface="Consolas" panose="020B0609020204030204" pitchFamily="49" charset="0"/>
              </a:rPr>
              <a:t>(</a:t>
            </a:r>
            <a:r>
              <a:rPr lang="en-US" altLang="zh-CN" sz="1600" dirty="0">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a:t>
            </a:r>
            <a:r>
              <a:rPr lang="en-US" altLang="zh-CN" sz="1600" dirty="0">
                <a:solidFill>
                  <a:srgbClr val="B5CEA8"/>
                </a:solidFill>
                <a:latin typeface="Consolas" panose="020B0609020204030204" pitchFamily="49" charset="0"/>
              </a:rPr>
              <a:t>1</a:t>
            </a:r>
            <a:r>
              <a:rPr lang="en-US" altLang="zh-CN" sz="1600" dirty="0">
                <a:solidFill>
                  <a:srgbClr val="D4D4D4"/>
                </a:solidFill>
                <a:latin typeface="Consolas" panose="020B0609020204030204" pitchFamily="49" charset="0"/>
              </a:rPr>
              <a:t>,</a:t>
            </a:r>
            <a:r>
              <a:rPr lang="en-US" altLang="zh-CN" sz="1600" dirty="0">
                <a:solidFill>
                  <a:srgbClr val="9CDCFE"/>
                </a:solidFill>
                <a:latin typeface="Consolas" panose="020B0609020204030204" pitchFamily="49" charset="0"/>
              </a:rPr>
              <a:t>rest</a:t>
            </a:r>
            <a:r>
              <a:rPr lang="en-US" altLang="zh-CN" sz="1600" dirty="0">
                <a:solidFill>
                  <a:srgbClr val="D4D4D4"/>
                </a:solidFill>
                <a:latin typeface="Consolas" panose="020B0609020204030204" pitchFamily="49" charset="0"/>
              </a:rPr>
              <a:t>-</a:t>
            </a:r>
            <a:r>
              <a:rPr lang="en-US" altLang="zh-CN" sz="1600" dirty="0">
                <a:solidFill>
                  <a:srgbClr val="9CDCFE"/>
                </a:solidFill>
                <a:latin typeface="Consolas" panose="020B0609020204030204" pitchFamily="49" charset="0"/>
              </a:rPr>
              <a:t>len</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trest</a:t>
            </a:r>
            <a:r>
              <a:rPr lang="en-US" altLang="zh-CN" sz="1600" dirty="0" err="1">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len</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return</a:t>
            </a:r>
            <a:r>
              <a:rPr lang="en-US" altLang="zh-CN" sz="1600" dirty="0">
                <a:solidFill>
                  <a:srgbClr val="D4D4D4"/>
                </a:solidFill>
                <a:latin typeface="Consolas" panose="020B0609020204030204" pitchFamily="49" charset="0"/>
              </a:rPr>
              <a:t> </a:t>
            </a:r>
            <a:r>
              <a:rPr lang="en-US" altLang="zh-CN" sz="1600" dirty="0">
                <a:solidFill>
                  <a:srgbClr val="B5CEA8"/>
                </a:solidFill>
                <a:latin typeface="Consolas" panose="020B0609020204030204" pitchFamily="49" charset="0"/>
              </a:rPr>
              <a:t>1</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a:t>
            </a:r>
            <a:r>
              <a:rPr lang="zh-CN" altLang="en-US" sz="1600" dirty="0">
                <a:solidFill>
                  <a:srgbClr val="6A9955"/>
                </a:solidFill>
                <a:latin typeface="Consolas" panose="020B0609020204030204" pitchFamily="49" charset="0"/>
              </a:rPr>
              <a:t>当前小木棍不能恰好拼凑完成当前长木棍，从下一根小木棍开始搜索，继续拼凑当前长木棍（优化</a:t>
            </a:r>
            <a:r>
              <a:rPr lang="en-US" altLang="zh-CN" sz="1600" dirty="0">
                <a:solidFill>
                  <a:srgbClr val="6A9955"/>
                </a:solidFill>
                <a:latin typeface="Consolas" panose="020B0609020204030204" pitchFamily="49" charset="0"/>
              </a:rPr>
              <a:t>5</a:t>
            </a:r>
            <a:r>
              <a:rPr lang="zh-CN" altLang="en-US" sz="1600" dirty="0">
                <a:solidFill>
                  <a:srgbClr val="6A9955"/>
                </a:solidFill>
                <a:latin typeface="Consolas" panose="020B0609020204030204" pitchFamily="49" charset="0"/>
              </a:rPr>
              <a:t>）</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r>
              <a:rPr lang="en-US" altLang="zh-CN" sz="1600" dirty="0">
                <a:solidFill>
                  <a:srgbClr val="9CDCFE"/>
                </a:solidFill>
                <a:latin typeface="Consolas" panose="020B0609020204030204" pitchFamily="49" charset="0"/>
              </a:rPr>
              <a:t>used</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 </a:t>
            </a:r>
            <a:r>
              <a:rPr lang="en-US" altLang="zh-CN" sz="1600" dirty="0">
                <a:solidFill>
                  <a:srgbClr val="B5CEA8"/>
                </a:solidFill>
                <a:latin typeface="Consolas" panose="020B0609020204030204" pitchFamily="49" charset="0"/>
              </a:rPr>
              <a:t>0</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a:t>
            </a:r>
            <a:r>
              <a:rPr lang="zh-CN" altLang="en-US" sz="1600" dirty="0">
                <a:solidFill>
                  <a:srgbClr val="6A9955"/>
                </a:solidFill>
                <a:latin typeface="Consolas" panose="020B0609020204030204" pitchFamily="49" charset="0"/>
              </a:rPr>
              <a:t>如果以上均找不到可行解，回溯，即不使用该小木棍</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p>
          <a:p>
            <a:r>
              <a:rPr lang="zh-CN" altLang="en-US"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if</a:t>
            </a:r>
            <a:r>
              <a:rPr lang="en-US" altLang="zh-CN" sz="1600" dirty="0">
                <a:solidFill>
                  <a:srgbClr val="D4D4D4"/>
                </a:solidFill>
                <a:latin typeface="Consolas" panose="020B0609020204030204" pitchFamily="49" charset="0"/>
              </a:rPr>
              <a:t> (</a:t>
            </a:r>
            <a:r>
              <a:rPr lang="en-US" altLang="zh-CN" sz="1600" dirty="0">
                <a:solidFill>
                  <a:srgbClr val="9CDCFE"/>
                </a:solidFill>
                <a:latin typeface="Consolas" panose="020B0609020204030204" pitchFamily="49" charset="0"/>
              </a:rPr>
              <a:t>rest</a:t>
            </a:r>
            <a:r>
              <a:rPr lang="en-US" altLang="zh-CN" sz="1600" dirty="0">
                <a:solidFill>
                  <a:srgbClr val="D4D4D4"/>
                </a:solidFill>
                <a:latin typeface="Consolas" panose="020B0609020204030204" pitchFamily="49" charset="0"/>
              </a:rPr>
              <a:t> == </a:t>
            </a:r>
            <a:r>
              <a:rPr lang="en-US" altLang="zh-CN" sz="1600" dirty="0">
                <a:solidFill>
                  <a:srgbClr val="9CDCFE"/>
                </a:solidFill>
                <a:latin typeface="Consolas" panose="020B0609020204030204" pitchFamily="49" charset="0"/>
              </a:rPr>
              <a:t>Min</a:t>
            </a:r>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return</a:t>
            </a:r>
            <a:r>
              <a:rPr lang="en-US" altLang="zh-CN" sz="1600" dirty="0">
                <a:solidFill>
                  <a:srgbClr val="D4D4D4"/>
                </a:solidFill>
                <a:latin typeface="Consolas" panose="020B0609020204030204" pitchFamily="49" charset="0"/>
              </a:rPr>
              <a:t> </a:t>
            </a:r>
            <a:r>
              <a:rPr lang="en-US" altLang="zh-CN" sz="1600" dirty="0">
                <a:solidFill>
                  <a:srgbClr val="B5CEA8"/>
                </a:solidFill>
                <a:latin typeface="Consolas" panose="020B0609020204030204" pitchFamily="49" charset="0"/>
              </a:rPr>
              <a:t>0</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a:t>
            </a:r>
            <a:r>
              <a:rPr lang="zh-CN" altLang="en-US" sz="1600" dirty="0">
                <a:solidFill>
                  <a:srgbClr val="6A9955"/>
                </a:solidFill>
                <a:latin typeface="Consolas" panose="020B0609020204030204" pitchFamily="49" charset="0"/>
              </a:rPr>
              <a:t>当前拼凑的长木棍为从头开始拼凑的，搜索该小木棍不能找到可行解，剪枝（优化</a:t>
            </a:r>
            <a:r>
              <a:rPr lang="en-US" altLang="zh-CN" sz="1600" dirty="0">
                <a:solidFill>
                  <a:srgbClr val="6A9955"/>
                </a:solidFill>
                <a:latin typeface="Consolas" panose="020B0609020204030204" pitchFamily="49" charset="0"/>
              </a:rPr>
              <a:t>3</a:t>
            </a:r>
            <a:r>
              <a:rPr lang="zh-CN" altLang="en-US" sz="1600" dirty="0">
                <a:solidFill>
                  <a:srgbClr val="6A9955"/>
                </a:solidFill>
                <a:latin typeface="Consolas" panose="020B0609020204030204" pitchFamily="49" charset="0"/>
              </a:rPr>
              <a:t>）</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while</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len</a:t>
            </a:r>
            <a:r>
              <a:rPr lang="en-US" altLang="zh-CN" sz="1600" dirty="0">
                <a:solidFill>
                  <a:srgbClr val="D4D4D4"/>
                </a:solidFill>
                <a:latin typeface="Consolas" panose="020B0609020204030204" pitchFamily="49" charset="0"/>
              </a:rPr>
              <a:t>[</a:t>
            </a:r>
            <a:r>
              <a:rPr lang="en-US" altLang="zh-CN" sz="1600" dirty="0">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a:t>
            </a:r>
            <a:r>
              <a:rPr lang="en-US" altLang="zh-CN" sz="1600" dirty="0">
                <a:solidFill>
                  <a:srgbClr val="B5CEA8"/>
                </a:solidFill>
                <a:latin typeface="Consolas" panose="020B0609020204030204" pitchFamily="49" charset="0"/>
              </a:rPr>
              <a:t>1</a:t>
            </a:r>
            <a:r>
              <a:rPr lang="en-US" altLang="zh-CN" sz="1600" dirty="0">
                <a:solidFill>
                  <a:srgbClr val="D4D4D4"/>
                </a:solidFill>
                <a:latin typeface="Consolas" panose="020B0609020204030204" pitchFamily="49" charset="0"/>
              </a:rPr>
              <a:t>] == </a:t>
            </a:r>
            <a:r>
              <a:rPr lang="en-US" altLang="zh-CN" sz="1600" dirty="0" err="1">
                <a:solidFill>
                  <a:srgbClr val="9CDCFE"/>
                </a:solidFill>
                <a:latin typeface="Consolas" panose="020B0609020204030204" pitchFamily="49" charset="0"/>
              </a:rPr>
              <a:t>len</a:t>
            </a:r>
            <a:r>
              <a:rPr lang="en-US" altLang="zh-CN" sz="1600" dirty="0">
                <a:solidFill>
                  <a:srgbClr val="D4D4D4"/>
                </a:solidFill>
                <a:latin typeface="Consolas" panose="020B0609020204030204" pitchFamily="49" charset="0"/>
              </a:rPr>
              <a:t>[</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 </a:t>
            </a:r>
            <a:r>
              <a:rPr lang="en-US" altLang="zh-CN" sz="1600" dirty="0" err="1">
                <a:solidFill>
                  <a:srgbClr val="9CDCFE"/>
                </a:solidFill>
                <a:latin typeface="Consolas" panose="020B0609020204030204" pitchFamily="49" charset="0"/>
              </a:rPr>
              <a:t>i</a:t>
            </a:r>
            <a:r>
              <a:rPr lang="en-US" altLang="zh-CN" sz="1600" dirty="0">
                <a:solidFill>
                  <a:srgbClr val="D4D4D4"/>
                </a:solidFill>
                <a:latin typeface="Consolas" panose="020B0609020204030204" pitchFamily="49" charset="0"/>
              </a:rPr>
              <a:t>++;</a:t>
            </a:r>
            <a:r>
              <a:rPr lang="en-US" altLang="zh-CN" sz="1600" dirty="0">
                <a:solidFill>
                  <a:srgbClr val="6A9955"/>
                </a:solidFill>
                <a:latin typeface="Consolas" panose="020B0609020204030204" pitchFamily="49" charset="0"/>
              </a:rPr>
              <a:t> //</a:t>
            </a:r>
            <a:r>
              <a:rPr lang="zh-CN" altLang="en-US" sz="1600" dirty="0">
                <a:solidFill>
                  <a:srgbClr val="6A9955"/>
                </a:solidFill>
                <a:latin typeface="Consolas" panose="020B0609020204030204" pitchFamily="49" charset="0"/>
              </a:rPr>
              <a:t>该长度的小木棍找不到可行解，跳过与其长度相同的小木棍（优化</a:t>
            </a:r>
            <a:r>
              <a:rPr lang="en-US" altLang="zh-CN" sz="1600" dirty="0">
                <a:solidFill>
                  <a:srgbClr val="6A9955"/>
                </a:solidFill>
                <a:latin typeface="Consolas" panose="020B0609020204030204" pitchFamily="49" charset="0"/>
              </a:rPr>
              <a:t>6</a:t>
            </a:r>
            <a:r>
              <a:rPr lang="zh-CN" altLang="en-US" sz="1600" dirty="0">
                <a:solidFill>
                  <a:srgbClr val="6A9955"/>
                </a:solidFill>
                <a:latin typeface="Consolas" panose="020B0609020204030204" pitchFamily="49" charset="0"/>
              </a:rPr>
              <a:t>）</a:t>
            </a:r>
            <a:endParaRPr lang="zh-CN" altLang="en-US" sz="1600" dirty="0">
              <a:solidFill>
                <a:srgbClr val="D4D4D4"/>
              </a:solidFill>
              <a:latin typeface="Consolas" panose="020B0609020204030204" pitchFamily="49" charset="0"/>
            </a:endParaRPr>
          </a:p>
          <a:p>
            <a:r>
              <a:rPr lang="zh-CN" altLang="en-US" sz="1600" dirty="0">
                <a:solidFill>
                  <a:srgbClr val="D4D4D4"/>
                </a:solidFill>
                <a:latin typeface="Consolas" panose="020B0609020204030204" pitchFamily="49" charset="0"/>
              </a:rPr>
              <a:t>       </a:t>
            </a:r>
            <a:r>
              <a:rPr lang="en-US" altLang="zh-CN" sz="1600" dirty="0">
                <a:solidFill>
                  <a:srgbClr val="D4D4D4"/>
                </a:solidFill>
                <a:latin typeface="Consolas" panose="020B0609020204030204" pitchFamily="49" charset="0"/>
              </a:rPr>
              <a:t>}</a:t>
            </a:r>
          </a:p>
          <a:p>
            <a:r>
              <a:rPr lang="en-US" altLang="zh-CN" sz="1600" dirty="0">
                <a:solidFill>
                  <a:srgbClr val="D4D4D4"/>
                </a:solidFill>
                <a:latin typeface="Consolas" panose="020B0609020204030204" pitchFamily="49" charset="0"/>
              </a:rPr>
              <a:t>    </a:t>
            </a:r>
            <a:r>
              <a:rPr lang="en-US" altLang="zh-CN" sz="1600" dirty="0">
                <a:solidFill>
                  <a:srgbClr val="C586C0"/>
                </a:solidFill>
                <a:latin typeface="Consolas" panose="020B0609020204030204" pitchFamily="49" charset="0"/>
              </a:rPr>
              <a:t>return</a:t>
            </a:r>
            <a:r>
              <a:rPr lang="en-US" altLang="zh-CN" sz="1600" dirty="0">
                <a:solidFill>
                  <a:srgbClr val="D4D4D4"/>
                </a:solidFill>
                <a:latin typeface="Consolas" panose="020B0609020204030204" pitchFamily="49" charset="0"/>
              </a:rPr>
              <a:t> </a:t>
            </a:r>
            <a:r>
              <a:rPr lang="en-US" altLang="zh-CN" sz="1600" dirty="0">
                <a:solidFill>
                  <a:srgbClr val="B5CEA8"/>
                </a:solidFill>
                <a:latin typeface="Consolas" panose="020B0609020204030204" pitchFamily="49" charset="0"/>
              </a:rPr>
              <a:t>0</a:t>
            </a:r>
            <a:r>
              <a:rPr lang="en-US" altLang="zh-CN" sz="1600" dirty="0">
                <a:solidFill>
                  <a:srgbClr val="D4D4D4"/>
                </a:solidFill>
                <a:latin typeface="Consolas" panose="020B0609020204030204" pitchFamily="49" charset="0"/>
              </a:rPr>
              <a:t>;</a:t>
            </a:r>
          </a:p>
          <a:p>
            <a:r>
              <a:rPr lang="en-US" altLang="zh-CN" sz="1600" dirty="0">
                <a:solidFill>
                  <a:srgbClr val="D4D4D4"/>
                </a:solidFill>
                <a:latin typeface="Consolas" panose="020B0609020204030204" pitchFamily="49"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003" y="788608"/>
            <a:ext cx="12154997" cy="5632311"/>
          </a:xfrm>
          <a:prstGeom prst="rect">
            <a:avLst/>
          </a:prstGeom>
          <a:solidFill>
            <a:schemeClr val="tx1"/>
          </a:solidFill>
        </p:spPr>
        <p:txBody>
          <a:bodyPr wrap="square">
            <a:spAutoFit/>
          </a:bodyPr>
          <a:lstStyle/>
          <a:p>
            <a:r>
              <a:rPr lang="en-US" altLang="zh-CN" dirty="0">
                <a:solidFill>
                  <a:srgbClr val="569CD6"/>
                </a:solidFill>
                <a:latin typeface="Consolas" panose="020B0609020204030204" pitchFamily="49" charset="0"/>
              </a:rPr>
              <a:t>bool</a:t>
            </a:r>
            <a:r>
              <a:rPr lang="en-US" altLang="zh-CN" dirty="0">
                <a:solidFill>
                  <a:srgbClr val="D4D4D4"/>
                </a:solidFill>
                <a:latin typeface="Consolas" panose="020B0609020204030204" pitchFamily="49" charset="0"/>
              </a:rPr>
              <a:t> </a:t>
            </a:r>
            <a:r>
              <a:rPr lang="en-US" altLang="zh-CN" dirty="0" err="1">
                <a:solidFill>
                  <a:srgbClr val="DCDCAA"/>
                </a:solidFill>
                <a:latin typeface="Consolas" panose="020B0609020204030204" pitchFamily="49" charset="0"/>
              </a:rPr>
              <a:t>cmp</a:t>
            </a:r>
            <a:r>
              <a:rPr lang="en-US" altLang="zh-CN" dirty="0">
                <a:solidFill>
                  <a:srgbClr val="D4D4D4"/>
                </a:solidFill>
                <a:latin typeface="Consolas" panose="020B0609020204030204" pitchFamily="49" charset="0"/>
              </a:rPr>
              <a:t>(</a:t>
            </a:r>
            <a:r>
              <a:rPr lang="en-US" altLang="zh-CN" dirty="0">
                <a:solidFill>
                  <a:srgbClr val="569CD6"/>
                </a:solidFill>
                <a:latin typeface="Consolas" panose="020B0609020204030204" pitchFamily="49" charset="0"/>
              </a:rPr>
              <a:t>int</a:t>
            </a:r>
            <a:r>
              <a:rPr lang="en-US" altLang="zh-CN" dirty="0">
                <a:solidFill>
                  <a:srgbClr val="D4D4D4"/>
                </a:solidFill>
                <a:latin typeface="Consolas" panose="020B0609020204030204" pitchFamily="49" charset="0"/>
              </a:rPr>
              <a:t> </a:t>
            </a:r>
            <a:r>
              <a:rPr lang="en-US" altLang="zh-CN" dirty="0" err="1">
                <a:solidFill>
                  <a:srgbClr val="9CDCFE"/>
                </a:solidFill>
                <a:latin typeface="Consolas" panose="020B0609020204030204" pitchFamily="49" charset="0"/>
              </a:rPr>
              <a:t>a</a:t>
            </a:r>
            <a:r>
              <a:rPr lang="en-US" altLang="zh-CN" dirty="0" err="1">
                <a:solidFill>
                  <a:srgbClr val="D4D4D4"/>
                </a:solidFill>
                <a:latin typeface="Consolas" panose="020B0609020204030204" pitchFamily="49" charset="0"/>
              </a:rPr>
              <a:t>,</a:t>
            </a:r>
            <a:r>
              <a:rPr lang="en-US" altLang="zh-CN" dirty="0" err="1">
                <a:solidFill>
                  <a:srgbClr val="569CD6"/>
                </a:solidFill>
                <a:latin typeface="Consolas" panose="020B0609020204030204" pitchFamily="49" charset="0"/>
              </a:rPr>
              <a:t>int</a:t>
            </a:r>
            <a:r>
              <a:rPr lang="en-US" altLang="zh-CN" dirty="0">
                <a:solidFill>
                  <a:srgbClr val="D4D4D4"/>
                </a:solidFill>
                <a:latin typeface="Consolas" panose="020B0609020204030204" pitchFamily="49" charset="0"/>
              </a:rPr>
              <a:t> </a:t>
            </a:r>
            <a:r>
              <a:rPr lang="en-US" altLang="zh-CN" dirty="0">
                <a:solidFill>
                  <a:srgbClr val="9CDCFE"/>
                </a:solidFill>
                <a:latin typeface="Consolas" panose="020B0609020204030204" pitchFamily="49" charset="0"/>
              </a:rPr>
              <a:t>b</a:t>
            </a:r>
            <a:r>
              <a:rPr lang="en-US" altLang="zh-CN" dirty="0">
                <a:solidFill>
                  <a:srgbClr val="D4D4D4"/>
                </a:solidFill>
                <a:latin typeface="Consolas" panose="020B0609020204030204" pitchFamily="49" charset="0"/>
              </a:rPr>
              <a:t>) {</a:t>
            </a:r>
            <a:r>
              <a:rPr lang="en-US" altLang="zh-CN" dirty="0">
                <a:solidFill>
                  <a:srgbClr val="C586C0"/>
                </a:solidFill>
                <a:latin typeface="Consolas" panose="020B0609020204030204" pitchFamily="49" charset="0"/>
              </a:rPr>
              <a:t>return</a:t>
            </a:r>
            <a:r>
              <a:rPr lang="en-US" altLang="zh-CN" dirty="0">
                <a:solidFill>
                  <a:srgbClr val="D4D4D4"/>
                </a:solidFill>
                <a:latin typeface="Consolas" panose="020B0609020204030204" pitchFamily="49" charset="0"/>
              </a:rPr>
              <a:t> </a:t>
            </a:r>
            <a:r>
              <a:rPr lang="en-US" altLang="zh-CN" dirty="0">
                <a:solidFill>
                  <a:srgbClr val="9CDCFE"/>
                </a:solidFill>
                <a:latin typeface="Consolas" panose="020B0609020204030204" pitchFamily="49" charset="0"/>
              </a:rPr>
              <a:t>a</a:t>
            </a:r>
            <a:r>
              <a:rPr lang="en-US" altLang="zh-CN" dirty="0">
                <a:solidFill>
                  <a:srgbClr val="D4D4D4"/>
                </a:solidFill>
                <a:latin typeface="Consolas" panose="020B0609020204030204" pitchFamily="49" charset="0"/>
              </a:rPr>
              <a:t>&gt;</a:t>
            </a:r>
            <a:r>
              <a:rPr lang="en-US" altLang="zh-CN" dirty="0">
                <a:solidFill>
                  <a:srgbClr val="9CDCFE"/>
                </a:solidFill>
                <a:latin typeface="Consolas" panose="020B0609020204030204" pitchFamily="49" charset="0"/>
              </a:rPr>
              <a:t>b</a:t>
            </a:r>
            <a:r>
              <a:rPr lang="en-US" altLang="zh-CN" dirty="0">
                <a:solidFill>
                  <a:srgbClr val="D4D4D4"/>
                </a:solidFill>
                <a:latin typeface="Consolas" panose="020B0609020204030204" pitchFamily="49" charset="0"/>
              </a:rPr>
              <a:t>;}</a:t>
            </a:r>
          </a:p>
          <a:p>
            <a:r>
              <a:rPr lang="en-US" altLang="zh-CN" dirty="0">
                <a:solidFill>
                  <a:srgbClr val="569CD6"/>
                </a:solidFill>
                <a:latin typeface="Consolas" panose="020B0609020204030204" pitchFamily="49" charset="0"/>
              </a:rPr>
              <a:t>int</a:t>
            </a:r>
            <a:r>
              <a:rPr lang="en-US" altLang="zh-CN" dirty="0">
                <a:solidFill>
                  <a:srgbClr val="D4D4D4"/>
                </a:solidFill>
                <a:latin typeface="Consolas" panose="020B0609020204030204" pitchFamily="49" charset="0"/>
              </a:rPr>
              <a:t> </a:t>
            </a:r>
            <a:r>
              <a:rPr lang="en-US" altLang="zh-CN" dirty="0">
                <a:solidFill>
                  <a:srgbClr val="DCDCAA"/>
                </a:solidFill>
                <a:latin typeface="Consolas" panose="020B0609020204030204" pitchFamily="49" charset="0"/>
              </a:rPr>
              <a:t>main</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569CD6"/>
                </a:solidFill>
                <a:latin typeface="Consolas" panose="020B0609020204030204" pitchFamily="49" charset="0"/>
              </a:rPr>
              <a:t>int</a:t>
            </a:r>
            <a:r>
              <a:rPr lang="en-US" altLang="zh-CN" dirty="0">
                <a:solidFill>
                  <a:srgbClr val="D4D4D4"/>
                </a:solidFill>
                <a:latin typeface="Consolas" panose="020B0609020204030204" pitchFamily="49" charset="0"/>
              </a:rPr>
              <a:t> </a:t>
            </a:r>
            <a:r>
              <a:rPr lang="en-US" altLang="zh-CN" dirty="0" err="1">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C586C0"/>
                </a:solidFill>
                <a:latin typeface="Consolas" panose="020B0609020204030204" pitchFamily="49" charset="0"/>
              </a:rPr>
              <a:t>while</a:t>
            </a:r>
            <a:r>
              <a:rPr lang="en-US" altLang="zh-CN" dirty="0">
                <a:solidFill>
                  <a:srgbClr val="D4D4D4"/>
                </a:solidFill>
                <a:latin typeface="Consolas" panose="020B0609020204030204" pitchFamily="49" charset="0"/>
              </a:rPr>
              <a:t> (</a:t>
            </a:r>
            <a:r>
              <a:rPr lang="en-US" altLang="zh-CN" dirty="0" err="1">
                <a:solidFill>
                  <a:srgbClr val="DCDCAA"/>
                </a:solidFill>
                <a:latin typeface="Consolas" panose="020B0609020204030204" pitchFamily="49" charset="0"/>
              </a:rPr>
              <a:t>scanf</a:t>
            </a:r>
            <a:r>
              <a:rPr lang="en-US" altLang="zh-CN" dirty="0">
                <a:solidFill>
                  <a:srgbClr val="D4D4D4"/>
                </a:solidFill>
                <a:latin typeface="Consolas" panose="020B0609020204030204" pitchFamily="49" charset="0"/>
              </a:rPr>
              <a:t>(</a:t>
            </a:r>
            <a:r>
              <a:rPr lang="en-US" altLang="zh-CN" dirty="0">
                <a:solidFill>
                  <a:srgbClr val="CE9178"/>
                </a:solidFill>
                <a:latin typeface="Consolas" panose="020B0609020204030204" pitchFamily="49" charset="0"/>
              </a:rPr>
              <a:t>"</a:t>
            </a:r>
            <a:r>
              <a:rPr lang="en-US" altLang="zh-CN" dirty="0">
                <a:solidFill>
                  <a:srgbClr val="9CDCFE"/>
                </a:solidFill>
                <a:latin typeface="Consolas" panose="020B0609020204030204" pitchFamily="49" charset="0"/>
              </a:rPr>
              <a:t>%</a:t>
            </a:r>
            <a:r>
              <a:rPr lang="en-US" altLang="zh-CN" dirty="0" err="1">
                <a:solidFill>
                  <a:srgbClr val="9CDCFE"/>
                </a:solidFill>
                <a:latin typeface="Consolas" panose="020B0609020204030204" pitchFamily="49" charset="0"/>
              </a:rPr>
              <a:t>d</a:t>
            </a:r>
            <a:r>
              <a:rPr lang="en-US" altLang="zh-CN" dirty="0" err="1">
                <a:solidFill>
                  <a:srgbClr val="CE9178"/>
                </a:solidFill>
                <a:latin typeface="Consolas" panose="020B0609020204030204" pitchFamily="49" charset="0"/>
              </a:rPr>
              <a:t>"</a:t>
            </a:r>
            <a:r>
              <a:rPr lang="en-US" altLang="zh-CN" dirty="0" err="1">
                <a:solidFill>
                  <a:srgbClr val="D4D4D4"/>
                </a:solidFill>
                <a:latin typeface="Consolas" panose="020B0609020204030204" pitchFamily="49" charset="0"/>
              </a:rPr>
              <a:t>,&amp;</a:t>
            </a:r>
            <a:r>
              <a:rPr lang="en-US" altLang="zh-CN" dirty="0" err="1">
                <a:solidFill>
                  <a:srgbClr val="9CDCFE"/>
                </a:solidFill>
                <a:latin typeface="Consolas" panose="020B0609020204030204" pitchFamily="49" charset="0"/>
              </a:rPr>
              <a:t>n</a:t>
            </a:r>
            <a:r>
              <a:rPr lang="en-US" altLang="zh-CN" dirty="0">
                <a:solidFill>
                  <a:srgbClr val="D4D4D4"/>
                </a:solidFill>
                <a:latin typeface="Consolas" panose="020B0609020204030204" pitchFamily="49" charset="0"/>
              </a:rPr>
              <a:t>)&amp;&amp;</a:t>
            </a:r>
            <a:r>
              <a:rPr lang="en-US" altLang="zh-CN" dirty="0">
                <a:solidFill>
                  <a:srgbClr val="9CDCFE"/>
                </a:solidFill>
                <a:latin typeface="Consolas" panose="020B0609020204030204" pitchFamily="49" charset="0"/>
              </a:rPr>
              <a:t>n</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C586C0"/>
                </a:solidFill>
                <a:latin typeface="Consolas" panose="020B0609020204030204" pitchFamily="49" charset="0"/>
              </a:rPr>
              <a:t>for</a:t>
            </a:r>
            <a:r>
              <a:rPr lang="en-US" altLang="zh-CN" dirty="0">
                <a:solidFill>
                  <a:srgbClr val="D4D4D4"/>
                </a:solidFill>
                <a:latin typeface="Consolas" panose="020B0609020204030204" pitchFamily="49" charset="0"/>
              </a:rPr>
              <a:t> (</a:t>
            </a:r>
            <a:r>
              <a:rPr lang="en-US" altLang="zh-CN" dirty="0" err="1">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a:t>
            </a:r>
            <a:r>
              <a:rPr lang="en-US" altLang="zh-CN" dirty="0">
                <a:solidFill>
                  <a:srgbClr val="B5CEA8"/>
                </a:solidFill>
                <a:latin typeface="Consolas" panose="020B0609020204030204" pitchFamily="49" charset="0"/>
              </a:rPr>
              <a:t>1</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&lt;=</a:t>
            </a:r>
            <a:r>
              <a:rPr lang="en-US" altLang="zh-CN" dirty="0" err="1">
                <a:solidFill>
                  <a:srgbClr val="9CDCFE"/>
                </a:solidFill>
                <a:latin typeface="Consolas" panose="020B0609020204030204" pitchFamily="49" charset="0"/>
              </a:rPr>
              <a:t>n</a:t>
            </a:r>
            <a:r>
              <a:rPr lang="en-US" altLang="zh-CN" dirty="0" err="1">
                <a:solidFill>
                  <a:srgbClr val="D4D4D4"/>
                </a:solidFill>
                <a:latin typeface="Consolas" panose="020B0609020204030204" pitchFamily="49" charset="0"/>
              </a:rPr>
              <a:t>;</a:t>
            </a:r>
            <a:r>
              <a:rPr lang="en-US" altLang="zh-CN" dirty="0" err="1">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err="1">
                <a:solidFill>
                  <a:srgbClr val="DCDCAA"/>
                </a:solidFill>
                <a:latin typeface="Consolas" panose="020B0609020204030204" pitchFamily="49" charset="0"/>
              </a:rPr>
              <a:t>scanf</a:t>
            </a:r>
            <a:r>
              <a:rPr lang="en-US" altLang="zh-CN" dirty="0">
                <a:solidFill>
                  <a:srgbClr val="D4D4D4"/>
                </a:solidFill>
                <a:latin typeface="Consolas" panose="020B0609020204030204" pitchFamily="49" charset="0"/>
              </a:rPr>
              <a:t>(</a:t>
            </a:r>
            <a:r>
              <a:rPr lang="en-US" altLang="zh-CN" dirty="0">
                <a:solidFill>
                  <a:srgbClr val="CE9178"/>
                </a:solidFill>
                <a:latin typeface="Consolas" panose="020B0609020204030204" pitchFamily="49" charset="0"/>
              </a:rPr>
              <a:t>"</a:t>
            </a:r>
            <a:r>
              <a:rPr lang="en-US" altLang="zh-CN" dirty="0">
                <a:solidFill>
                  <a:srgbClr val="9CDCFE"/>
                </a:solidFill>
                <a:latin typeface="Consolas" panose="020B0609020204030204" pitchFamily="49" charset="0"/>
              </a:rPr>
              <a:t>%d</a:t>
            </a:r>
            <a:r>
              <a:rPr lang="en-US" altLang="zh-CN" dirty="0">
                <a:solidFill>
                  <a:srgbClr val="CE9178"/>
                </a:solidFill>
                <a:latin typeface="Consolas" panose="020B0609020204030204" pitchFamily="49" charset="0"/>
              </a:rPr>
              <a:t>"</a:t>
            </a:r>
            <a:r>
              <a:rPr lang="en-US" altLang="zh-CN" dirty="0">
                <a:solidFill>
                  <a:srgbClr val="D4D4D4"/>
                </a:solidFill>
                <a:latin typeface="Consolas" panose="020B0609020204030204" pitchFamily="49" charset="0"/>
              </a:rPr>
              <a:t>,&amp;</a:t>
            </a:r>
            <a:r>
              <a:rPr lang="en-US" altLang="zh-CN" dirty="0" err="1">
                <a:solidFill>
                  <a:srgbClr val="9CDCFE"/>
                </a:solidFill>
                <a:latin typeface="Consolas" panose="020B0609020204030204" pitchFamily="49" charset="0"/>
              </a:rPr>
              <a:t>len</a:t>
            </a:r>
            <a:r>
              <a:rPr lang="en-US" altLang="zh-CN" dirty="0">
                <a:solidFill>
                  <a:srgbClr val="D4D4D4"/>
                </a:solidFill>
                <a:latin typeface="Consolas" panose="020B0609020204030204" pitchFamily="49" charset="0"/>
              </a:rPr>
              <a:t>[</a:t>
            </a:r>
            <a:r>
              <a:rPr lang="en-US" altLang="zh-CN" dirty="0" err="1">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err="1">
                <a:solidFill>
                  <a:srgbClr val="DCDCAA"/>
                </a:solidFill>
                <a:latin typeface="Consolas" panose="020B0609020204030204" pitchFamily="49" charset="0"/>
              </a:rPr>
              <a:t>memset</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used</a:t>
            </a:r>
            <a:r>
              <a:rPr lang="en-US" altLang="zh-CN" dirty="0">
                <a:solidFill>
                  <a:srgbClr val="D4D4D4"/>
                </a:solidFill>
                <a:latin typeface="Consolas" panose="020B0609020204030204" pitchFamily="49" charset="0"/>
              </a:rPr>
              <a:t>,</a:t>
            </a:r>
            <a:r>
              <a:rPr lang="en-US" altLang="zh-CN" dirty="0">
                <a:solidFill>
                  <a:srgbClr val="B5CEA8"/>
                </a:solidFill>
                <a:latin typeface="Consolas" panose="020B0609020204030204" pitchFamily="49" charset="0"/>
              </a:rPr>
              <a:t>0</a:t>
            </a:r>
            <a:r>
              <a:rPr lang="en-US" altLang="zh-CN" dirty="0">
                <a:solidFill>
                  <a:srgbClr val="D4D4D4"/>
                </a:solidFill>
                <a:latin typeface="Consolas" panose="020B0609020204030204" pitchFamily="49" charset="0"/>
              </a:rPr>
              <a:t>,</a:t>
            </a:r>
            <a:r>
              <a:rPr lang="en-US" altLang="zh-CN" dirty="0">
                <a:solidFill>
                  <a:srgbClr val="569CD6"/>
                </a:solidFill>
                <a:latin typeface="Consolas" panose="020B0609020204030204" pitchFamily="49" charset="0"/>
              </a:rPr>
              <a:t>sizeof</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used</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DCDCAA"/>
                </a:solidFill>
                <a:latin typeface="Consolas" panose="020B0609020204030204" pitchFamily="49" charset="0"/>
              </a:rPr>
              <a:t>sort</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len</a:t>
            </a:r>
            <a:r>
              <a:rPr lang="en-US" altLang="zh-CN" dirty="0">
                <a:solidFill>
                  <a:srgbClr val="D4D4D4"/>
                </a:solidFill>
                <a:latin typeface="Consolas" panose="020B0609020204030204" pitchFamily="49" charset="0"/>
              </a:rPr>
              <a:t>+</a:t>
            </a:r>
            <a:r>
              <a:rPr lang="en-US" altLang="zh-CN" dirty="0">
                <a:solidFill>
                  <a:srgbClr val="B5CEA8"/>
                </a:solidFill>
                <a:latin typeface="Consolas" panose="020B0609020204030204" pitchFamily="49" charset="0"/>
              </a:rPr>
              <a:t>1</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len</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n</a:t>
            </a:r>
            <a:r>
              <a:rPr lang="en-US" altLang="zh-CN" dirty="0">
                <a:solidFill>
                  <a:srgbClr val="D4D4D4"/>
                </a:solidFill>
                <a:latin typeface="Consolas" panose="020B0609020204030204" pitchFamily="49" charset="0"/>
              </a:rPr>
              <a:t>+</a:t>
            </a:r>
            <a:r>
              <a:rPr lang="en-US" altLang="zh-CN" dirty="0">
                <a:solidFill>
                  <a:srgbClr val="B5CEA8"/>
                </a:solidFill>
                <a:latin typeface="Consolas" panose="020B0609020204030204" pitchFamily="49" charset="0"/>
              </a:rPr>
              <a:t>1</a:t>
            </a:r>
            <a:r>
              <a:rPr lang="en-US" altLang="zh-CN" dirty="0">
                <a:solidFill>
                  <a:srgbClr val="D4D4D4"/>
                </a:solidFill>
                <a:latin typeface="Consolas" panose="020B0609020204030204" pitchFamily="49" charset="0"/>
              </a:rPr>
              <a:t>,</a:t>
            </a:r>
            <a:r>
              <a:rPr lang="en-US" altLang="zh-CN" dirty="0">
                <a:solidFill>
                  <a:srgbClr val="DCDCAA"/>
                </a:solidFill>
                <a:latin typeface="Consolas" panose="020B0609020204030204" pitchFamily="49" charset="0"/>
              </a:rPr>
              <a:t>cmp</a:t>
            </a:r>
            <a:r>
              <a:rPr lang="en-US" altLang="zh-CN" dirty="0">
                <a:solidFill>
                  <a:srgbClr val="D4D4D4"/>
                </a:solidFill>
                <a:latin typeface="Consolas" panose="020B0609020204030204" pitchFamily="49" charset="0"/>
              </a:rPr>
              <a:t>);</a:t>
            </a:r>
            <a:r>
              <a:rPr lang="en-US" altLang="zh-CN" dirty="0">
                <a:solidFill>
                  <a:srgbClr val="6A9955"/>
                </a:solidFill>
                <a:latin typeface="Consolas" panose="020B0609020204030204" pitchFamily="49" charset="0"/>
              </a:rPr>
              <a:t> //</a:t>
            </a:r>
            <a:r>
              <a:rPr lang="zh-CN" altLang="en-US" dirty="0">
                <a:solidFill>
                  <a:srgbClr val="6A9955"/>
                </a:solidFill>
                <a:latin typeface="Consolas" panose="020B0609020204030204" pitchFamily="49" charset="0"/>
              </a:rPr>
              <a:t>将小木棍按照长度降序排列（优化</a:t>
            </a:r>
            <a:r>
              <a:rPr lang="en-US" altLang="zh-CN" dirty="0">
                <a:solidFill>
                  <a:srgbClr val="6A9955"/>
                </a:solidFill>
                <a:latin typeface="Consolas" panose="020B0609020204030204" pitchFamily="49" charset="0"/>
              </a:rPr>
              <a:t>2</a:t>
            </a:r>
            <a:r>
              <a:rPr lang="zh-CN" altLang="en-US" dirty="0">
                <a:solidFill>
                  <a:srgbClr val="6A9955"/>
                </a:solidFill>
                <a:latin typeface="Consolas" panose="020B0609020204030204" pitchFamily="49" charset="0"/>
              </a:rPr>
              <a:t>）</a:t>
            </a:r>
            <a:endParaRPr lang="zh-CN" altLang="en-US" dirty="0">
              <a:solidFill>
                <a:srgbClr val="D4D4D4"/>
              </a:solidFill>
              <a:latin typeface="Consolas" panose="020B0609020204030204" pitchFamily="49" charset="0"/>
            </a:endParaRPr>
          </a:p>
          <a:p>
            <a:r>
              <a:rPr lang="zh-CN" altLang="en-US" dirty="0">
                <a:solidFill>
                  <a:srgbClr val="D4D4D4"/>
                </a:solidFill>
                <a:latin typeface="Consolas" panose="020B0609020204030204" pitchFamily="49" charset="0"/>
              </a:rPr>
              <a:t>       </a:t>
            </a:r>
            <a:r>
              <a:rPr lang="en-US" altLang="zh-CN" dirty="0">
                <a:solidFill>
                  <a:srgbClr val="9CDCFE"/>
                </a:solidFill>
                <a:latin typeface="Consolas" panose="020B0609020204030204" pitchFamily="49" charset="0"/>
              </a:rPr>
              <a:t>sum</a:t>
            </a:r>
            <a:r>
              <a:rPr lang="en-US" altLang="zh-CN" dirty="0">
                <a:solidFill>
                  <a:srgbClr val="D4D4D4"/>
                </a:solidFill>
                <a:latin typeface="Consolas" panose="020B0609020204030204" pitchFamily="49" charset="0"/>
              </a:rPr>
              <a:t> = </a:t>
            </a:r>
            <a:r>
              <a:rPr lang="en-US" altLang="zh-CN" dirty="0">
                <a:solidFill>
                  <a:srgbClr val="B5CEA8"/>
                </a:solidFill>
                <a:latin typeface="Consolas" panose="020B0609020204030204" pitchFamily="49" charset="0"/>
              </a:rPr>
              <a:t>0</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C586C0"/>
                </a:solidFill>
                <a:latin typeface="Consolas" panose="020B0609020204030204" pitchFamily="49" charset="0"/>
              </a:rPr>
              <a:t>for</a:t>
            </a:r>
            <a:r>
              <a:rPr lang="en-US" altLang="zh-CN" dirty="0">
                <a:solidFill>
                  <a:srgbClr val="D4D4D4"/>
                </a:solidFill>
                <a:latin typeface="Consolas" panose="020B0609020204030204" pitchFamily="49" charset="0"/>
              </a:rPr>
              <a:t> (</a:t>
            </a:r>
            <a:r>
              <a:rPr lang="en-US" altLang="zh-CN" dirty="0" err="1">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 = </a:t>
            </a:r>
            <a:r>
              <a:rPr lang="en-US" altLang="zh-CN" dirty="0">
                <a:solidFill>
                  <a:srgbClr val="B5CEA8"/>
                </a:solidFill>
                <a:latin typeface="Consolas" panose="020B0609020204030204" pitchFamily="49" charset="0"/>
              </a:rPr>
              <a:t>1</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 &lt;= </a:t>
            </a:r>
            <a:r>
              <a:rPr lang="en-US" altLang="zh-CN" dirty="0">
                <a:solidFill>
                  <a:srgbClr val="9CDCFE"/>
                </a:solidFill>
                <a:latin typeface="Consolas" panose="020B0609020204030204" pitchFamily="49" charset="0"/>
              </a:rPr>
              <a:t>n</a:t>
            </a:r>
            <a:r>
              <a:rPr lang="en-US" altLang="zh-CN" dirty="0">
                <a:solidFill>
                  <a:srgbClr val="D4D4D4"/>
                </a:solidFill>
                <a:latin typeface="Consolas" panose="020B0609020204030204" pitchFamily="49" charset="0"/>
              </a:rPr>
              <a:t>;++</a:t>
            </a:r>
            <a:r>
              <a:rPr lang="en-US" altLang="zh-CN" dirty="0" err="1">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 </a:t>
            </a:r>
            <a:r>
              <a:rPr lang="en-US" altLang="zh-CN" dirty="0">
                <a:solidFill>
                  <a:srgbClr val="9CDCFE"/>
                </a:solidFill>
                <a:latin typeface="Consolas" panose="020B0609020204030204" pitchFamily="49" charset="0"/>
              </a:rPr>
              <a:t>sum</a:t>
            </a:r>
            <a:r>
              <a:rPr lang="en-US" altLang="zh-CN" dirty="0">
                <a:solidFill>
                  <a:srgbClr val="D4D4D4"/>
                </a:solidFill>
                <a:latin typeface="Consolas" panose="020B0609020204030204" pitchFamily="49" charset="0"/>
              </a:rPr>
              <a:t>+=</a:t>
            </a:r>
            <a:r>
              <a:rPr lang="en-US" altLang="zh-CN" dirty="0" err="1">
                <a:solidFill>
                  <a:srgbClr val="9CDCFE"/>
                </a:solidFill>
                <a:latin typeface="Consolas" panose="020B0609020204030204" pitchFamily="49" charset="0"/>
              </a:rPr>
              <a:t>len</a:t>
            </a:r>
            <a:r>
              <a:rPr lang="en-US" altLang="zh-CN" dirty="0">
                <a:solidFill>
                  <a:srgbClr val="D4D4D4"/>
                </a:solidFill>
                <a:latin typeface="Consolas" panose="020B0609020204030204" pitchFamily="49" charset="0"/>
              </a:rPr>
              <a:t>[</a:t>
            </a:r>
            <a:r>
              <a:rPr lang="en-US" altLang="zh-CN" dirty="0" err="1">
                <a:solidFill>
                  <a:srgbClr val="9CDCFE"/>
                </a:solidFill>
                <a:latin typeface="Consolas" panose="020B0609020204030204" pitchFamily="49" charset="0"/>
              </a:rPr>
              <a:t>i</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9CDCFE"/>
                </a:solidFill>
                <a:latin typeface="Consolas" panose="020B0609020204030204" pitchFamily="49" charset="0"/>
              </a:rPr>
              <a:t>Min</a:t>
            </a:r>
            <a:r>
              <a:rPr lang="en-US" altLang="zh-CN" dirty="0">
                <a:solidFill>
                  <a:srgbClr val="D4D4D4"/>
                </a:solidFill>
                <a:latin typeface="Consolas" panose="020B0609020204030204" pitchFamily="49" charset="0"/>
              </a:rPr>
              <a:t> = </a:t>
            </a:r>
            <a:r>
              <a:rPr lang="en-US" altLang="zh-CN" dirty="0" err="1">
                <a:solidFill>
                  <a:srgbClr val="9CDCFE"/>
                </a:solidFill>
                <a:latin typeface="Consolas" panose="020B0609020204030204" pitchFamily="49" charset="0"/>
              </a:rPr>
              <a:t>len</a:t>
            </a:r>
            <a:r>
              <a:rPr lang="en-US" altLang="zh-CN" dirty="0">
                <a:solidFill>
                  <a:srgbClr val="D4D4D4"/>
                </a:solidFill>
                <a:latin typeface="Consolas" panose="020B0609020204030204" pitchFamily="49" charset="0"/>
              </a:rPr>
              <a:t>[</a:t>
            </a:r>
            <a:r>
              <a:rPr lang="en-US" altLang="zh-CN" dirty="0">
                <a:solidFill>
                  <a:srgbClr val="B5CEA8"/>
                </a:solidFill>
                <a:latin typeface="Consolas" panose="020B0609020204030204" pitchFamily="49" charset="0"/>
              </a:rPr>
              <a:t>1</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C586C0"/>
                </a:solidFill>
                <a:latin typeface="Consolas" panose="020B0609020204030204" pitchFamily="49" charset="0"/>
              </a:rPr>
              <a:t>while</a:t>
            </a:r>
            <a:r>
              <a:rPr lang="en-US" altLang="zh-CN" dirty="0">
                <a:solidFill>
                  <a:srgbClr val="D4D4D4"/>
                </a:solidFill>
                <a:latin typeface="Consolas" panose="020B0609020204030204" pitchFamily="49" charset="0"/>
              </a:rPr>
              <a:t> (</a:t>
            </a:r>
            <a:r>
              <a:rPr lang="en-US" altLang="zh-CN" dirty="0" err="1">
                <a:solidFill>
                  <a:srgbClr val="9CDCFE"/>
                </a:solidFill>
                <a:latin typeface="Consolas" panose="020B0609020204030204" pitchFamily="49" charset="0"/>
              </a:rPr>
              <a:t>sum</a:t>
            </a:r>
            <a:r>
              <a:rPr lang="en-US" altLang="zh-CN" dirty="0" err="1">
                <a:solidFill>
                  <a:srgbClr val="D4D4D4"/>
                </a:solidFill>
                <a:latin typeface="Consolas" panose="020B0609020204030204" pitchFamily="49" charset="0"/>
              </a:rPr>
              <a:t>%</a:t>
            </a:r>
            <a:r>
              <a:rPr lang="en-US" altLang="zh-CN" dirty="0" err="1">
                <a:solidFill>
                  <a:srgbClr val="9CDCFE"/>
                </a:solidFill>
                <a:latin typeface="Consolas" panose="020B0609020204030204" pitchFamily="49" charset="0"/>
              </a:rPr>
              <a:t>Min</a:t>
            </a:r>
            <a:r>
              <a:rPr lang="en-US" altLang="zh-CN" dirty="0">
                <a:solidFill>
                  <a:srgbClr val="D4D4D4"/>
                </a:solidFill>
                <a:latin typeface="Consolas" panose="020B0609020204030204" pitchFamily="49" charset="0"/>
              </a:rPr>
              <a:t> != </a:t>
            </a:r>
            <a:r>
              <a:rPr lang="en-US" altLang="zh-CN" dirty="0">
                <a:solidFill>
                  <a:srgbClr val="B5CEA8"/>
                </a:solidFill>
                <a:latin typeface="Consolas" panose="020B0609020204030204" pitchFamily="49" charset="0"/>
              </a:rPr>
              <a:t>0</a:t>
            </a:r>
            <a:r>
              <a:rPr lang="en-US" altLang="zh-CN" dirty="0">
                <a:solidFill>
                  <a:srgbClr val="D4D4D4"/>
                </a:solidFill>
                <a:latin typeface="Consolas" panose="020B0609020204030204" pitchFamily="49" charset="0"/>
              </a:rPr>
              <a:t>) </a:t>
            </a:r>
            <a:r>
              <a:rPr lang="en-US" altLang="zh-CN" dirty="0">
                <a:solidFill>
                  <a:srgbClr val="9CDCFE"/>
                </a:solidFill>
                <a:latin typeface="Consolas" panose="020B0609020204030204" pitchFamily="49" charset="0"/>
              </a:rPr>
              <a:t>Min</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C586C0"/>
                </a:solidFill>
                <a:latin typeface="Consolas" panose="020B0609020204030204" pitchFamily="49" charset="0"/>
              </a:rPr>
              <a:t>while</a:t>
            </a:r>
            <a:r>
              <a:rPr lang="en-US" altLang="zh-CN" dirty="0">
                <a:solidFill>
                  <a:srgbClr val="D4D4D4"/>
                </a:solidFill>
                <a:latin typeface="Consolas" panose="020B0609020204030204" pitchFamily="49" charset="0"/>
              </a:rPr>
              <a:t> (</a:t>
            </a:r>
            <a:r>
              <a:rPr lang="en-US" altLang="zh-CN" dirty="0">
                <a:solidFill>
                  <a:srgbClr val="DCDCAA"/>
                </a:solidFill>
                <a:latin typeface="Consolas" panose="020B0609020204030204" pitchFamily="49" charset="0"/>
              </a:rPr>
              <a:t>find</a:t>
            </a:r>
            <a:r>
              <a:rPr lang="en-US" altLang="zh-CN" dirty="0">
                <a:solidFill>
                  <a:srgbClr val="D4D4D4"/>
                </a:solidFill>
                <a:latin typeface="Consolas" panose="020B0609020204030204" pitchFamily="49" charset="0"/>
              </a:rPr>
              <a:t>(</a:t>
            </a:r>
            <a:r>
              <a:rPr lang="en-US" altLang="zh-CN" dirty="0">
                <a:solidFill>
                  <a:srgbClr val="B5CEA8"/>
                </a:solidFill>
                <a:latin typeface="Consolas" panose="020B0609020204030204" pitchFamily="49" charset="0"/>
              </a:rPr>
              <a:t>1</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Min</a:t>
            </a:r>
            <a:r>
              <a:rPr lang="en-US" altLang="zh-CN" dirty="0">
                <a:solidFill>
                  <a:srgbClr val="D4D4D4"/>
                </a:solidFill>
                <a:latin typeface="Consolas" panose="020B0609020204030204" pitchFamily="49" charset="0"/>
              </a:rPr>
              <a:t>,</a:t>
            </a:r>
            <a:r>
              <a:rPr lang="en-US" altLang="zh-CN" dirty="0">
                <a:solidFill>
                  <a:srgbClr val="9CDCFE"/>
                </a:solidFill>
                <a:latin typeface="Consolas" panose="020B0609020204030204" pitchFamily="49" charset="0"/>
              </a:rPr>
              <a:t>sum</a:t>
            </a:r>
            <a:r>
              <a:rPr lang="en-US" altLang="zh-CN" dirty="0">
                <a:solidFill>
                  <a:srgbClr val="D4D4D4"/>
                </a:solidFill>
                <a:latin typeface="Consolas" panose="020B0609020204030204" pitchFamily="49" charset="0"/>
              </a:rPr>
              <a:t>) == </a:t>
            </a:r>
            <a:r>
              <a:rPr lang="en-US" altLang="zh-CN" dirty="0">
                <a:solidFill>
                  <a:srgbClr val="B5CEA8"/>
                </a:solidFill>
                <a:latin typeface="Consolas" panose="020B0609020204030204" pitchFamily="49" charset="0"/>
              </a:rPr>
              <a:t>0</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9CDCFE"/>
                </a:solidFill>
                <a:latin typeface="Consolas" panose="020B0609020204030204" pitchFamily="49" charset="0"/>
              </a:rPr>
              <a:t>Min</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C586C0"/>
                </a:solidFill>
                <a:latin typeface="Consolas" panose="020B0609020204030204" pitchFamily="49" charset="0"/>
              </a:rPr>
              <a:t>while</a:t>
            </a:r>
            <a:r>
              <a:rPr lang="en-US" altLang="zh-CN" dirty="0">
                <a:solidFill>
                  <a:srgbClr val="D4D4D4"/>
                </a:solidFill>
                <a:latin typeface="Consolas" panose="020B0609020204030204" pitchFamily="49" charset="0"/>
              </a:rPr>
              <a:t> (</a:t>
            </a:r>
            <a:r>
              <a:rPr lang="en-US" altLang="zh-CN" dirty="0" err="1">
                <a:solidFill>
                  <a:srgbClr val="9CDCFE"/>
                </a:solidFill>
                <a:latin typeface="Consolas" panose="020B0609020204030204" pitchFamily="49" charset="0"/>
              </a:rPr>
              <a:t>sum</a:t>
            </a:r>
            <a:r>
              <a:rPr lang="en-US" altLang="zh-CN" dirty="0" err="1">
                <a:solidFill>
                  <a:srgbClr val="D4D4D4"/>
                </a:solidFill>
                <a:latin typeface="Consolas" panose="020B0609020204030204" pitchFamily="49" charset="0"/>
              </a:rPr>
              <a:t>%</a:t>
            </a:r>
            <a:r>
              <a:rPr lang="en-US" altLang="zh-CN" dirty="0" err="1">
                <a:solidFill>
                  <a:srgbClr val="9CDCFE"/>
                </a:solidFill>
                <a:latin typeface="Consolas" panose="020B0609020204030204" pitchFamily="49" charset="0"/>
              </a:rPr>
              <a:t>Min</a:t>
            </a:r>
            <a:r>
              <a:rPr lang="en-US" altLang="zh-CN" dirty="0">
                <a:solidFill>
                  <a:srgbClr val="D4D4D4"/>
                </a:solidFill>
                <a:latin typeface="Consolas" panose="020B0609020204030204" pitchFamily="49" charset="0"/>
              </a:rPr>
              <a:t> != </a:t>
            </a:r>
            <a:r>
              <a:rPr lang="en-US" altLang="zh-CN" dirty="0">
                <a:solidFill>
                  <a:srgbClr val="B5CEA8"/>
                </a:solidFill>
                <a:latin typeface="Consolas" panose="020B0609020204030204" pitchFamily="49" charset="0"/>
              </a:rPr>
              <a:t>0</a:t>
            </a:r>
            <a:r>
              <a:rPr lang="en-US" altLang="zh-CN" dirty="0">
                <a:solidFill>
                  <a:srgbClr val="D4D4D4"/>
                </a:solidFill>
                <a:latin typeface="Consolas" panose="020B0609020204030204" pitchFamily="49" charset="0"/>
              </a:rPr>
              <a:t>) </a:t>
            </a:r>
            <a:r>
              <a:rPr lang="en-US" altLang="zh-CN" dirty="0">
                <a:solidFill>
                  <a:srgbClr val="9CDCFE"/>
                </a:solidFill>
                <a:latin typeface="Consolas" panose="020B0609020204030204" pitchFamily="49" charset="0"/>
              </a:rPr>
              <a:t>Min</a:t>
            </a:r>
            <a:r>
              <a:rPr lang="en-US" altLang="zh-CN" dirty="0">
                <a:solidFill>
                  <a:srgbClr val="D4D4D4"/>
                </a:solidFill>
                <a:latin typeface="Consolas" panose="020B0609020204030204" pitchFamily="49" charset="0"/>
              </a:rPr>
              <a:t>++;</a:t>
            </a:r>
            <a:r>
              <a:rPr lang="en-US" altLang="zh-CN" dirty="0">
                <a:solidFill>
                  <a:srgbClr val="6A9955"/>
                </a:solidFill>
                <a:latin typeface="Consolas" panose="020B0609020204030204" pitchFamily="49" charset="0"/>
              </a:rPr>
              <a:t> //</a:t>
            </a:r>
            <a:r>
              <a:rPr lang="zh-CN" altLang="en-US" dirty="0">
                <a:solidFill>
                  <a:srgbClr val="6A9955"/>
                </a:solidFill>
                <a:latin typeface="Consolas" panose="020B0609020204030204" pitchFamily="49" charset="0"/>
              </a:rPr>
              <a:t>跳过不是小木棍总长度的约数的原木棍长度（优化</a:t>
            </a:r>
            <a:r>
              <a:rPr lang="en-US" altLang="zh-CN" dirty="0">
                <a:solidFill>
                  <a:srgbClr val="6A9955"/>
                </a:solidFill>
                <a:latin typeface="Consolas" panose="020B0609020204030204" pitchFamily="49" charset="0"/>
              </a:rPr>
              <a:t>1</a:t>
            </a:r>
            <a:r>
              <a:rPr lang="zh-CN" altLang="en-US" dirty="0">
                <a:solidFill>
                  <a:srgbClr val="6A9955"/>
                </a:solidFill>
                <a:latin typeface="Consolas" panose="020B0609020204030204" pitchFamily="49" charset="0"/>
              </a:rPr>
              <a:t>）</a:t>
            </a:r>
            <a:endParaRPr lang="zh-CN" altLang="en-US" dirty="0">
              <a:solidFill>
                <a:srgbClr val="D4D4D4"/>
              </a:solidFill>
              <a:latin typeface="Consolas" panose="020B0609020204030204" pitchFamily="49" charset="0"/>
            </a:endParaRPr>
          </a:p>
          <a:p>
            <a:r>
              <a:rPr lang="zh-CN" altLang="en-US" dirty="0">
                <a:solidFill>
                  <a:srgbClr val="D4D4D4"/>
                </a:solidFill>
                <a:latin typeface="Consolas" panose="020B0609020204030204" pitchFamily="49" charset="0"/>
              </a:rPr>
              <a:t>       </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err="1">
                <a:solidFill>
                  <a:srgbClr val="DCDCAA"/>
                </a:solidFill>
                <a:latin typeface="Consolas" panose="020B0609020204030204" pitchFamily="49" charset="0"/>
              </a:rPr>
              <a:t>printf</a:t>
            </a:r>
            <a:r>
              <a:rPr lang="en-US" altLang="zh-CN" dirty="0">
                <a:solidFill>
                  <a:srgbClr val="D4D4D4"/>
                </a:solidFill>
                <a:latin typeface="Consolas" panose="020B0609020204030204" pitchFamily="49" charset="0"/>
              </a:rPr>
              <a:t>(</a:t>
            </a:r>
            <a:r>
              <a:rPr lang="en-US" altLang="zh-CN" dirty="0">
                <a:solidFill>
                  <a:srgbClr val="CE9178"/>
                </a:solidFill>
                <a:latin typeface="Consolas" panose="020B0609020204030204" pitchFamily="49" charset="0"/>
              </a:rPr>
              <a:t>"</a:t>
            </a:r>
            <a:r>
              <a:rPr lang="en-US" altLang="zh-CN" dirty="0">
                <a:solidFill>
                  <a:srgbClr val="9CDCFE"/>
                </a:solidFill>
                <a:latin typeface="Consolas" panose="020B0609020204030204" pitchFamily="49" charset="0"/>
              </a:rPr>
              <a:t>%d</a:t>
            </a:r>
            <a:r>
              <a:rPr lang="en-US" altLang="zh-CN" dirty="0">
                <a:solidFill>
                  <a:srgbClr val="D7BA7D"/>
                </a:solidFill>
                <a:latin typeface="Consolas" panose="020B0609020204030204" pitchFamily="49" charset="0"/>
              </a:rPr>
              <a:t>\</a:t>
            </a:r>
            <a:r>
              <a:rPr lang="en-US" altLang="zh-CN" dirty="0" err="1">
                <a:solidFill>
                  <a:srgbClr val="D7BA7D"/>
                </a:solidFill>
                <a:latin typeface="Consolas" panose="020B0609020204030204" pitchFamily="49" charset="0"/>
              </a:rPr>
              <a:t>n</a:t>
            </a:r>
            <a:r>
              <a:rPr lang="en-US" altLang="zh-CN" dirty="0" err="1">
                <a:solidFill>
                  <a:srgbClr val="CE9178"/>
                </a:solidFill>
                <a:latin typeface="Consolas" panose="020B0609020204030204" pitchFamily="49" charset="0"/>
              </a:rPr>
              <a:t>"</a:t>
            </a:r>
            <a:r>
              <a:rPr lang="en-US" altLang="zh-CN" dirty="0" err="1">
                <a:solidFill>
                  <a:srgbClr val="D4D4D4"/>
                </a:solidFill>
                <a:latin typeface="Consolas" panose="020B0609020204030204" pitchFamily="49" charset="0"/>
              </a:rPr>
              <a:t>,</a:t>
            </a:r>
            <a:r>
              <a:rPr lang="en-US" altLang="zh-CN" dirty="0" err="1">
                <a:solidFill>
                  <a:srgbClr val="9CDCFE"/>
                </a:solidFill>
                <a:latin typeface="Consolas" panose="020B0609020204030204" pitchFamily="49" charset="0"/>
              </a:rPr>
              <a:t>Min</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    }</a:t>
            </a:r>
          </a:p>
          <a:p>
            <a:r>
              <a:rPr lang="en-US" altLang="zh-CN" dirty="0">
                <a:solidFill>
                  <a:srgbClr val="D4D4D4"/>
                </a:solidFill>
                <a:latin typeface="Consolas" panose="020B0609020204030204" pitchFamily="49" charset="0"/>
              </a:rPr>
              <a:t>    </a:t>
            </a:r>
            <a:r>
              <a:rPr lang="en-US" altLang="zh-CN" dirty="0">
                <a:solidFill>
                  <a:srgbClr val="C586C0"/>
                </a:solidFill>
                <a:latin typeface="Consolas" panose="020B0609020204030204" pitchFamily="49" charset="0"/>
              </a:rPr>
              <a:t>return</a:t>
            </a:r>
            <a:r>
              <a:rPr lang="en-US" altLang="zh-CN" dirty="0">
                <a:solidFill>
                  <a:srgbClr val="D4D4D4"/>
                </a:solidFill>
                <a:latin typeface="Consolas" panose="020B0609020204030204" pitchFamily="49" charset="0"/>
              </a:rPr>
              <a:t> </a:t>
            </a:r>
            <a:r>
              <a:rPr lang="en-US" altLang="zh-CN" dirty="0">
                <a:solidFill>
                  <a:srgbClr val="B5CEA8"/>
                </a:solidFill>
                <a:latin typeface="Consolas" panose="020B0609020204030204" pitchFamily="49" charset="0"/>
              </a:rPr>
              <a:t>0</a:t>
            </a:r>
            <a:r>
              <a:rPr lang="en-US" altLang="zh-CN" dirty="0">
                <a:solidFill>
                  <a:srgbClr val="D4D4D4"/>
                </a:solidFill>
                <a:latin typeface="Consolas" panose="020B0609020204030204" pitchFamily="49" charset="0"/>
              </a:rPr>
              <a:t>;</a:t>
            </a:r>
          </a:p>
          <a:p>
            <a:r>
              <a:rPr lang="en-US" altLang="zh-CN" dirty="0">
                <a:solidFill>
                  <a:srgbClr val="D4D4D4"/>
                </a:solidFill>
                <a:latin typeface="Consolas" panose="020B0609020204030204" pitchFamily="49" charset="0"/>
              </a:rPr>
              <a:t>}</a:t>
            </a:r>
          </a:p>
        </p:txBody>
      </p:sp>
      <p:sp>
        <p:nvSpPr>
          <p:cNvPr id="3" name="TextBox 36"/>
          <p:cNvSpPr txBox="1"/>
          <p:nvPr/>
        </p:nvSpPr>
        <p:spPr>
          <a:xfrm>
            <a:off x="253759" y="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Sticks | </a:t>
            </a:r>
            <a:r>
              <a:rPr lang="zh-CN" altLang="en-US" sz="3200" b="1" dirty="0">
                <a:solidFill>
                  <a:srgbClr val="C00000"/>
                </a:solidFill>
                <a:latin typeface="微软雅黑" panose="020B0503020204020204" pitchFamily="34" charset="-122"/>
                <a:ea typeface="微软雅黑" panose="020B0503020204020204" pitchFamily="34" charset="-122"/>
              </a:rPr>
              <a:t>代码分析</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内容占位符 2"/>
          <p:cNvSpPr>
            <a:spLocks noGrp="1"/>
          </p:cNvSpPr>
          <p:nvPr>
            <p:ph type="body" idx="4294967295"/>
          </p:nvPr>
        </p:nvSpPr>
        <p:spPr>
          <a:xfrm>
            <a:off x="96813" y="972053"/>
            <a:ext cx="11760387" cy="5020600"/>
          </a:xfrm>
        </p:spPr>
        <p:txBody>
          <a:bodyPr vert="horz" wrap="square" anchor="t">
            <a:noAutofit/>
          </a:bodyPr>
          <a:lstStyle/>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相同点： 都是对于</a:t>
            </a:r>
            <a:r>
              <a:rPr lang="zh-CN" altLang="en-US" b="1" kern="100" noProof="1">
                <a:solidFill>
                  <a:srgbClr val="FF0000"/>
                </a:solidFill>
                <a:latin typeface="仿宋_GB2312"/>
                <a:cs typeface="Times New Roman" panose="02020603050405020304" pitchFamily="18" charset="0"/>
              </a:rPr>
              <a:t>树状的搜索树</a:t>
            </a:r>
            <a:r>
              <a:rPr lang="zh-CN" altLang="en-US" b="1" kern="100" noProof="1">
                <a:solidFill>
                  <a:srgbClr val="014B88"/>
                </a:solidFill>
                <a:latin typeface="仿宋_GB2312"/>
                <a:cs typeface="Times New Roman" panose="02020603050405020304" pitchFamily="18" charset="0"/>
              </a:rPr>
              <a:t>进行，都可以判定解的存在性和总数。属于粗放型的搜索，接近于暴力解决。</a:t>
            </a:r>
            <a:endParaRPr lang="en-US" altLang="x-none" b="1" kern="100" noProof="1">
              <a:solidFill>
                <a:srgbClr val="014B88"/>
              </a:solidFill>
              <a:latin typeface="仿宋_GB2312"/>
              <a:cs typeface="Times New Roman" panose="02020603050405020304" pitchFamily="18" charset="0"/>
            </a:endParaRPr>
          </a:p>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不同点：</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深度优先搜索：利用</a:t>
            </a:r>
            <a:r>
              <a:rPr lang="zh-CN" altLang="en-US" b="1" kern="100" noProof="1">
                <a:solidFill>
                  <a:srgbClr val="FF0000"/>
                </a:solidFill>
                <a:latin typeface="仿宋_GB2312"/>
                <a:cs typeface="Times New Roman" panose="02020603050405020304" pitchFamily="18" charset="0"/>
              </a:rPr>
              <a:t>栈</a:t>
            </a:r>
            <a:r>
              <a:rPr lang="zh-CN" altLang="en-US" b="1" kern="100" noProof="1">
                <a:solidFill>
                  <a:srgbClr val="014B88"/>
                </a:solidFill>
                <a:latin typeface="仿宋_GB2312"/>
                <a:cs typeface="Times New Roman" panose="02020603050405020304" pitchFamily="18" charset="0"/>
              </a:rPr>
              <a:t>这种数据结构来实现（利用递归便于实现，但是效率较低），找到的解</a:t>
            </a:r>
            <a:r>
              <a:rPr lang="zh-CN" altLang="en-US" b="1" kern="100" noProof="1">
                <a:solidFill>
                  <a:srgbClr val="FF0000"/>
                </a:solidFill>
                <a:latin typeface="仿宋_GB2312"/>
                <a:cs typeface="Times New Roman" panose="02020603050405020304" pitchFamily="18" charset="0"/>
              </a:rPr>
              <a:t>不一定是最优解</a:t>
            </a:r>
            <a:r>
              <a:rPr lang="zh-CN" altLang="en-US" b="1" kern="100" noProof="1">
                <a:solidFill>
                  <a:srgbClr val="014B88"/>
                </a:solidFill>
                <a:latin typeface="仿宋_GB2312"/>
                <a:cs typeface="Times New Roman" panose="02020603050405020304" pitchFamily="18" charset="0"/>
              </a:rPr>
              <a:t>，找到的是</a:t>
            </a:r>
            <a:r>
              <a:rPr lang="zh-CN" altLang="en-US" b="1" kern="100" noProof="1">
                <a:solidFill>
                  <a:srgbClr val="FF0000"/>
                </a:solidFill>
                <a:latin typeface="仿宋_GB2312"/>
                <a:cs typeface="Times New Roman" panose="02020603050405020304" pitchFamily="18" charset="0"/>
              </a:rPr>
              <a:t>先序遍历最早的可行解</a:t>
            </a:r>
            <a:r>
              <a:rPr lang="zh-CN" altLang="en-US" b="1" kern="100" noProof="1">
                <a:solidFill>
                  <a:srgbClr val="014B88"/>
                </a:solidFill>
                <a:latin typeface="仿宋_GB2312"/>
                <a:cs typeface="Times New Roman" panose="02020603050405020304" pitchFamily="18" charset="0"/>
              </a:rPr>
              <a:t>。</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广度优先搜索：利用</a:t>
            </a:r>
            <a:r>
              <a:rPr lang="zh-CN" altLang="en-US" b="1" kern="100" noProof="1">
                <a:solidFill>
                  <a:srgbClr val="FF0000"/>
                </a:solidFill>
                <a:latin typeface="仿宋_GB2312"/>
                <a:cs typeface="Times New Roman" panose="02020603050405020304" pitchFamily="18" charset="0"/>
              </a:rPr>
              <a:t>队列</a:t>
            </a:r>
            <a:r>
              <a:rPr lang="zh-CN" altLang="en-US" b="1" kern="100" noProof="1">
                <a:solidFill>
                  <a:srgbClr val="014B88"/>
                </a:solidFill>
                <a:latin typeface="仿宋_GB2312"/>
                <a:cs typeface="Times New Roman" panose="02020603050405020304" pitchFamily="18" charset="0"/>
              </a:rPr>
              <a:t>这种数据结构来实现，找到的第一个解</a:t>
            </a:r>
            <a:r>
              <a:rPr lang="zh-CN" altLang="en-US" b="1" kern="100" noProof="1">
                <a:solidFill>
                  <a:srgbClr val="FF0000"/>
                </a:solidFill>
                <a:latin typeface="仿宋_GB2312"/>
                <a:cs typeface="Times New Roman" panose="02020603050405020304" pitchFamily="18" charset="0"/>
              </a:rPr>
              <a:t>经常都是最优解</a:t>
            </a:r>
            <a:r>
              <a:rPr lang="zh-CN" altLang="en-US" b="1" kern="100" noProof="1">
                <a:solidFill>
                  <a:srgbClr val="014B88"/>
                </a:solidFill>
                <a:latin typeface="仿宋_GB2312"/>
                <a:cs typeface="Times New Roman" panose="02020603050405020304" pitchFamily="18" charset="0"/>
              </a:rPr>
              <a:t>（如迷宫的最短路径），但是不常用来求所有解（重复的次优解常常都被</a:t>
            </a:r>
            <a:r>
              <a:rPr lang="zh-CN" altLang="en-US" b="1" kern="100" noProof="1">
                <a:solidFill>
                  <a:srgbClr val="FF0000"/>
                </a:solidFill>
                <a:latin typeface="仿宋_GB2312"/>
                <a:cs typeface="Times New Roman" panose="02020603050405020304" pitchFamily="18" charset="0"/>
              </a:rPr>
              <a:t>剪枝</a:t>
            </a:r>
            <a:r>
              <a:rPr lang="zh-CN" altLang="en-US" b="1" kern="100" noProof="1">
                <a:solidFill>
                  <a:srgbClr val="014B88"/>
                </a:solidFill>
                <a:latin typeface="仿宋_GB2312"/>
                <a:cs typeface="Times New Roman" panose="02020603050405020304" pitchFamily="18" charset="0"/>
              </a:rPr>
              <a:t>掉了）。</a:t>
            </a: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DFS</a:t>
            </a:r>
            <a:r>
              <a:rPr lang="zh-CN" altLang="en-US" sz="3200" b="1" dirty="0">
                <a:solidFill>
                  <a:srgbClr val="C00000"/>
                </a:solidFill>
                <a:latin typeface="微软雅黑" panose="020B0503020204020204" pitchFamily="34" charset="-122"/>
                <a:ea typeface="微软雅黑" panose="020B0503020204020204" pitchFamily="34" charset="-122"/>
              </a:rPr>
              <a:t>和</a:t>
            </a:r>
            <a:r>
              <a:rPr lang="en-US" altLang="zh-CN" sz="3200" b="1" dirty="0">
                <a:solidFill>
                  <a:srgbClr val="C00000"/>
                </a:solidFill>
                <a:latin typeface="微软雅黑" panose="020B0503020204020204" pitchFamily="34" charset="-122"/>
                <a:ea typeface="微软雅黑" panose="020B0503020204020204" pitchFamily="34" charset="-122"/>
              </a:rPr>
              <a:t>BFS</a:t>
            </a:r>
            <a:r>
              <a:rPr lang="zh-CN" altLang="en-US" sz="3200" b="1" dirty="0">
                <a:solidFill>
                  <a:srgbClr val="C00000"/>
                </a:solidFill>
                <a:latin typeface="微软雅黑" panose="020B0503020204020204" pitchFamily="34" charset="-122"/>
                <a:ea typeface="微软雅黑" panose="020B0503020204020204" pitchFamily="34" charset="-122"/>
              </a:rPr>
              <a:t>的比较</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wipe(down)">
                                      <p:cBhvr>
                                        <p:cTn id="7" dur="500"/>
                                        <p:tgtEl>
                                          <p:spTgt spid="6144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1443">
                                            <p:txEl>
                                              <p:pRg st="1" end="1"/>
                                            </p:txEl>
                                          </p:spTgt>
                                        </p:tgtEl>
                                        <p:attrNameLst>
                                          <p:attrName>style.visibility</p:attrName>
                                        </p:attrNameLst>
                                      </p:cBhvr>
                                      <p:to>
                                        <p:strVal val="visible"/>
                                      </p:to>
                                    </p:set>
                                    <p:animEffect transition="in" filter="wipe(down)">
                                      <p:cBhvr>
                                        <p:cTn id="10" dur="500"/>
                                        <p:tgtEl>
                                          <p:spTgt spid="6144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1443">
                                            <p:txEl>
                                              <p:pRg st="2" end="2"/>
                                            </p:txEl>
                                          </p:spTgt>
                                        </p:tgtEl>
                                        <p:attrNameLst>
                                          <p:attrName>style.visibility</p:attrName>
                                        </p:attrNameLst>
                                      </p:cBhvr>
                                      <p:to>
                                        <p:strVal val="visible"/>
                                      </p:to>
                                    </p:set>
                                    <p:animEffect transition="in" filter="wipe(down)">
                                      <p:cBhvr>
                                        <p:cTn id="13" dur="500"/>
                                        <p:tgtEl>
                                          <p:spTgt spid="6144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1443">
                                            <p:txEl>
                                              <p:pRg st="3" end="3"/>
                                            </p:txEl>
                                          </p:spTgt>
                                        </p:tgtEl>
                                        <p:attrNameLst>
                                          <p:attrName>style.visibility</p:attrName>
                                        </p:attrNameLst>
                                      </p:cBhvr>
                                      <p:to>
                                        <p:strVal val="visible"/>
                                      </p:to>
                                    </p:set>
                                    <p:animEffect transition="in" filter="wipe(down)">
                                      <p:cBhvr>
                                        <p:cTn id="16" dur="500"/>
                                        <p:tgtEl>
                                          <p:spTgt spid="614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图片 80"/>
          <p:cNvPicPr/>
          <p:nvPr/>
        </p:nvPicPr>
        <p:blipFill>
          <a:blip r:embed="rId2"/>
          <a:stretch>
            <a:fillRect/>
          </a:stretch>
        </p:blipFill>
        <p:spPr>
          <a:xfrm>
            <a:off x="8193251" y="3227586"/>
            <a:ext cx="2951640" cy="3219480"/>
          </a:xfrm>
          <a:prstGeom prst="rect">
            <a:avLst/>
          </a:prstGeom>
          <a:ln>
            <a:noFill/>
          </a:ln>
        </p:spPr>
      </p:pic>
      <p:sp>
        <p:nvSpPr>
          <p:cNvPr id="5"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启发式搜索</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7" name="内容占位符 2"/>
          <p:cNvSpPr txBox="1"/>
          <p:nvPr/>
        </p:nvSpPr>
        <p:spPr>
          <a:xfrm>
            <a:off x="659568" y="1204057"/>
            <a:ext cx="11034944" cy="52430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b="1" kern="100" noProof="1">
                <a:solidFill>
                  <a:srgbClr val="014B88"/>
                </a:solidFill>
                <a:latin typeface="仿宋_GB2312"/>
                <a:cs typeface="Times New Roman" panose="02020603050405020304" pitchFamily="18" charset="0"/>
              </a:rPr>
              <a:t> 一个简单的寻路问题：在一个方格迷宫中寻找一条从给定的起点到终点的最短路径</a:t>
            </a:r>
          </a:p>
          <a:p>
            <a:pPr>
              <a:lnSpc>
                <a:spcPct val="150000"/>
              </a:lnSpc>
              <a:buFont typeface="Wingdings" panose="05000000000000000000" pitchFamily="2" charset="2"/>
              <a:buChar char="l"/>
            </a:pPr>
            <a:r>
              <a:rPr lang="en-US" altLang="zh-CN" sz="2400" b="1" kern="100" noProof="1">
                <a:solidFill>
                  <a:srgbClr val="014B88"/>
                </a:solidFill>
                <a:latin typeface="仿宋_GB2312"/>
                <a:cs typeface="Times New Roman" panose="02020603050405020304" pitchFamily="18" charset="0"/>
              </a:rPr>
              <a:t> BFS: </a:t>
            </a:r>
            <a:r>
              <a:rPr lang="zh-CN" altLang="en-US" sz="2400" b="1" kern="100" noProof="1">
                <a:solidFill>
                  <a:srgbClr val="014B88"/>
                </a:solidFill>
                <a:latin typeface="仿宋_GB2312"/>
                <a:cs typeface="Times New Roman" panose="02020603050405020304" pitchFamily="18" charset="0"/>
              </a:rPr>
              <a:t>以从</a:t>
            </a:r>
            <a:r>
              <a:rPr lang="en-US" altLang="zh-CN" sz="2400" b="1" kern="100" noProof="1">
                <a:solidFill>
                  <a:srgbClr val="014B88"/>
                </a:solidFill>
                <a:latin typeface="仿宋_GB2312"/>
                <a:cs typeface="Times New Roman" panose="02020603050405020304" pitchFamily="18" charset="0"/>
              </a:rPr>
              <a:t>(10,10)</a:t>
            </a:r>
            <a:r>
              <a:rPr lang="zh-CN" altLang="en-US" sz="2400" b="1" kern="100" noProof="1">
                <a:solidFill>
                  <a:srgbClr val="014B88"/>
                </a:solidFill>
                <a:latin typeface="仿宋_GB2312"/>
                <a:cs typeface="Times New Roman" panose="02020603050405020304" pitchFamily="18" charset="0"/>
              </a:rPr>
              <a:t>走到</a:t>
            </a:r>
            <a:r>
              <a:rPr lang="en-US" altLang="zh-CN" sz="2400" b="1" kern="100" noProof="1">
                <a:solidFill>
                  <a:srgbClr val="014B88"/>
                </a:solidFill>
                <a:latin typeface="仿宋_GB2312"/>
                <a:cs typeface="Times New Roman" panose="02020603050405020304" pitchFamily="18" charset="0"/>
              </a:rPr>
              <a:t>(20,10)</a:t>
            </a:r>
            <a:r>
              <a:rPr lang="zh-CN" altLang="en-US" sz="2400" b="1" kern="100" noProof="1">
                <a:solidFill>
                  <a:srgbClr val="014B88"/>
                </a:solidFill>
                <a:latin typeface="仿宋_GB2312"/>
                <a:cs typeface="Times New Roman" panose="02020603050405020304" pitchFamily="18" charset="0"/>
              </a:rPr>
              <a:t>为例，图中</a:t>
            </a:r>
            <a:r>
              <a:rPr lang="en-US" altLang="zh-CN" sz="2400" b="1" kern="100" noProof="1">
                <a:solidFill>
                  <a:srgbClr val="014B88"/>
                </a:solidFill>
                <a:latin typeface="仿宋_GB2312"/>
                <a:cs typeface="Times New Roman" panose="02020603050405020304" pitchFamily="18" charset="0"/>
              </a:rPr>
              <a:t>' X '</a:t>
            </a:r>
            <a:r>
              <a:rPr lang="zh-CN" altLang="en-US" sz="2400" b="1" kern="100" noProof="1">
                <a:solidFill>
                  <a:srgbClr val="014B88"/>
                </a:solidFill>
                <a:latin typeface="仿宋_GB2312"/>
                <a:cs typeface="Times New Roman" panose="02020603050405020304" pitchFamily="18" charset="0"/>
              </a:rPr>
              <a:t>表示已访问的节点，</a:t>
            </a:r>
            <a:r>
              <a:rPr lang="en-US" altLang="zh-CN" sz="2400" b="1" kern="100" noProof="1">
                <a:solidFill>
                  <a:srgbClr val="014B88"/>
                </a:solidFill>
                <a:latin typeface="仿宋_GB2312"/>
                <a:cs typeface="Times New Roman" panose="02020603050405020304" pitchFamily="18" charset="0"/>
              </a:rPr>
              <a:t>' . '</a:t>
            </a:r>
            <a:r>
              <a:rPr lang="zh-CN" altLang="en-US" sz="2400" b="1" kern="100" noProof="1">
                <a:solidFill>
                  <a:srgbClr val="014B88"/>
                </a:solidFill>
                <a:latin typeface="仿宋_GB2312"/>
                <a:cs typeface="Times New Roman" panose="02020603050405020304" pitchFamily="18" charset="0"/>
              </a:rPr>
              <a:t>表示未访问的节点</a:t>
            </a:r>
          </a:p>
          <a:p>
            <a:pPr>
              <a:lnSpc>
                <a:spcPct val="150000"/>
              </a:lnSpc>
              <a:buFont typeface="Wingdings" panose="05000000000000000000" pitchFamily="2" charset="2"/>
              <a:buChar char="l"/>
            </a:pPr>
            <a:r>
              <a:rPr lang="zh-CN" altLang="en-US" sz="2400" b="1" kern="100" noProof="1">
                <a:solidFill>
                  <a:srgbClr val="014B88"/>
                </a:solidFill>
                <a:latin typeface="仿宋_GB2312"/>
                <a:cs typeface="Times New Roman" panose="02020603050405020304" pitchFamily="18" charset="0"/>
              </a:rPr>
              <a:t> 问题</a:t>
            </a:r>
            <a:r>
              <a:rPr lang="en-US" altLang="zh-CN" sz="2400" b="1" kern="100" noProof="1">
                <a:solidFill>
                  <a:srgbClr val="014B88"/>
                </a:solidFill>
                <a:latin typeface="仿宋_GB2312"/>
                <a:cs typeface="Times New Roman" panose="02020603050405020304" pitchFamily="18" charset="0"/>
              </a:rPr>
              <a:t>1</a:t>
            </a:r>
            <a:r>
              <a:rPr lang="zh-CN" altLang="en-US" sz="2400" b="1" kern="100" noProof="1">
                <a:solidFill>
                  <a:srgbClr val="014B88"/>
                </a:solidFill>
                <a:latin typeface="仿宋_GB2312"/>
                <a:cs typeface="Times New Roman" panose="02020603050405020304" pitchFamily="18" charset="0"/>
              </a:rPr>
              <a:t>：访问的节点数较多，时间、空间开销大</a:t>
            </a:r>
          </a:p>
          <a:p>
            <a:pPr>
              <a:lnSpc>
                <a:spcPct val="150000"/>
              </a:lnSpc>
              <a:buFont typeface="Wingdings" panose="05000000000000000000" pitchFamily="2" charset="2"/>
              <a:buChar char="l"/>
            </a:pPr>
            <a:r>
              <a:rPr lang="zh-CN" altLang="en-US" sz="2400" b="1" kern="100" noProof="1">
                <a:solidFill>
                  <a:srgbClr val="014B88"/>
                </a:solidFill>
                <a:latin typeface="仿宋_GB2312"/>
                <a:cs typeface="Times New Roman" panose="02020603050405020304" pitchFamily="18" charset="0"/>
              </a:rPr>
              <a:t> 问题</a:t>
            </a:r>
            <a:r>
              <a:rPr lang="en-US" altLang="zh-CN" sz="2400" b="1" kern="100" noProof="1">
                <a:solidFill>
                  <a:srgbClr val="014B88"/>
                </a:solidFill>
                <a:latin typeface="仿宋_GB2312"/>
                <a:cs typeface="Times New Roman" panose="02020603050405020304" pitchFamily="18" charset="0"/>
              </a:rPr>
              <a:t>2</a:t>
            </a:r>
            <a:r>
              <a:rPr lang="zh-CN" altLang="en-US" sz="2400" b="1" kern="100" noProof="1">
                <a:solidFill>
                  <a:srgbClr val="014B88"/>
                </a:solidFill>
                <a:latin typeface="仿宋_GB2312"/>
                <a:cs typeface="Times New Roman" panose="02020603050405020304" pitchFamily="18" charset="0"/>
              </a:rPr>
              <a:t>：有很多访问到的节点是背离终点方向的</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CustomShape 2"/>
          <p:cNvSpPr/>
          <p:nvPr/>
        </p:nvSpPr>
        <p:spPr>
          <a:xfrm>
            <a:off x="722670" y="1310040"/>
            <a:ext cx="97524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28600" indent="-227330">
              <a:lnSpc>
                <a:spcPct val="90000"/>
              </a:lnSpc>
              <a:buClr>
                <a:srgbClr val="000000"/>
              </a:buClr>
              <a:buFont typeface="Arial" panose="020B0604020202020204"/>
              <a:buChar char="•"/>
            </a:pPr>
            <a:endParaRPr lang="en-US" sz="1800" strike="noStrike" spc="-1" dirty="0">
              <a:solidFill>
                <a:srgbClr val="000000"/>
              </a:solidFill>
              <a:uFill>
                <a:solidFill>
                  <a:srgbClr val="FFFFFF"/>
                </a:solidFill>
              </a:uFill>
              <a:latin typeface="Arial" panose="020B0604020202020204"/>
            </a:endParaRPr>
          </a:p>
        </p:txBody>
      </p:sp>
      <p:grpSp>
        <p:nvGrpSpPr>
          <p:cNvPr id="3" name="组合 2"/>
          <p:cNvGrpSpPr/>
          <p:nvPr/>
        </p:nvGrpSpPr>
        <p:grpSpPr>
          <a:xfrm>
            <a:off x="3080987" y="3161819"/>
            <a:ext cx="4751640" cy="2262600"/>
            <a:chOff x="3528000" y="3397680"/>
            <a:chExt cx="4751640" cy="2262600"/>
          </a:xfrm>
        </p:grpSpPr>
        <p:pic>
          <p:nvPicPr>
            <p:cNvPr id="84" name="图片 83"/>
            <p:cNvPicPr/>
            <p:nvPr/>
          </p:nvPicPr>
          <p:blipFill>
            <a:blip r:embed="rId3"/>
            <a:stretch>
              <a:fillRect/>
            </a:stretch>
          </p:blipFill>
          <p:spPr>
            <a:xfrm>
              <a:off x="3816000" y="3397680"/>
              <a:ext cx="4254480" cy="777960"/>
            </a:xfrm>
            <a:prstGeom prst="rect">
              <a:avLst/>
            </a:prstGeom>
            <a:ln>
              <a:noFill/>
            </a:ln>
          </p:spPr>
        </p:pic>
        <p:pic>
          <p:nvPicPr>
            <p:cNvPr id="85" name="图片 84"/>
            <p:cNvPicPr/>
            <p:nvPr/>
          </p:nvPicPr>
          <p:blipFill>
            <a:blip r:embed="rId4"/>
            <a:stretch>
              <a:fillRect/>
            </a:stretch>
          </p:blipFill>
          <p:spPr>
            <a:xfrm>
              <a:off x="3528000" y="4209840"/>
              <a:ext cx="4751640" cy="712080"/>
            </a:xfrm>
            <a:prstGeom prst="rect">
              <a:avLst/>
            </a:prstGeom>
            <a:ln>
              <a:noFill/>
            </a:ln>
          </p:spPr>
        </p:pic>
        <p:pic>
          <p:nvPicPr>
            <p:cNvPr id="86" name="图片 85"/>
            <p:cNvPicPr/>
            <p:nvPr/>
          </p:nvPicPr>
          <p:blipFill>
            <a:blip r:embed="rId5"/>
            <a:stretch>
              <a:fillRect/>
            </a:stretch>
          </p:blipFill>
          <p:spPr>
            <a:xfrm>
              <a:off x="3667680" y="5003280"/>
              <a:ext cx="4463640" cy="657000"/>
            </a:xfrm>
            <a:prstGeom prst="rect">
              <a:avLst/>
            </a:prstGeom>
            <a:ln>
              <a:noFill/>
            </a:ln>
          </p:spPr>
        </p:pic>
      </p:grpSp>
      <p:sp>
        <p:nvSpPr>
          <p:cNvPr id="7"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启发式搜索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下界函数</a:t>
            </a:r>
            <a:r>
              <a:rPr lang="en-US" altLang="zh-CN" sz="3200" b="1" dirty="0">
                <a:solidFill>
                  <a:srgbClr val="C00000"/>
                </a:solidFill>
                <a:latin typeface="微软雅黑" panose="020B0503020204020204" pitchFamily="34" charset="-122"/>
                <a:ea typeface="微软雅黑" panose="020B0503020204020204" pitchFamily="34" charset="-122"/>
              </a:rPr>
              <a:t>h(x)</a:t>
            </a:r>
          </a:p>
        </p:txBody>
      </p:sp>
      <p:sp>
        <p:nvSpPr>
          <p:cNvPr id="2" name="文本框 1"/>
          <p:cNvSpPr txBox="1"/>
          <p:nvPr/>
        </p:nvSpPr>
        <p:spPr>
          <a:xfrm>
            <a:off x="722669" y="1197720"/>
            <a:ext cx="10445439" cy="4001032"/>
          </a:xfrm>
          <a:prstGeom prst="rect">
            <a:avLst/>
          </a:prstGeom>
          <a:noFill/>
        </p:spPr>
        <p:txBody>
          <a:bodyPr wrap="square" rtlCol="0">
            <a:spAutoFit/>
          </a:bodyPr>
          <a:lstStyle/>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h(x)</a:t>
            </a:r>
            <a:r>
              <a:rPr lang="zh-CN" altLang="en-US" sz="2400" b="1" kern="100" dirty="0">
                <a:solidFill>
                  <a:srgbClr val="014B88"/>
                </a:solidFill>
                <a:latin typeface="仿宋_GB2312"/>
                <a:cs typeface="Times New Roman" panose="02020603050405020304" pitchFamily="18" charset="0"/>
              </a:rPr>
              <a:t>为估计出的从当前状态</a:t>
            </a:r>
            <a:r>
              <a:rPr lang="en-US" altLang="zh-CN" sz="2400" b="1" kern="100" dirty="0">
                <a:solidFill>
                  <a:srgbClr val="014B88"/>
                </a:solidFill>
                <a:latin typeface="仿宋_GB2312"/>
                <a:cs typeface="Times New Roman" panose="02020603050405020304" pitchFamily="18" charset="0"/>
              </a:rPr>
              <a:t>x</a:t>
            </a:r>
            <a:r>
              <a:rPr lang="zh-CN" altLang="en-US" sz="2400" b="1" kern="100" dirty="0">
                <a:solidFill>
                  <a:srgbClr val="014B88"/>
                </a:solidFill>
                <a:latin typeface="仿宋_GB2312"/>
                <a:cs typeface="Times New Roman" panose="02020603050405020304" pitchFamily="18" charset="0"/>
              </a:rPr>
              <a:t>到目标状态</a:t>
            </a:r>
            <a:r>
              <a:rPr lang="en-US" altLang="zh-CN" sz="2400" b="1" kern="100" dirty="0">
                <a:solidFill>
                  <a:srgbClr val="014B88"/>
                </a:solidFill>
                <a:latin typeface="仿宋_GB2312"/>
                <a:cs typeface="Times New Roman" panose="02020603050405020304" pitchFamily="18" charset="0"/>
              </a:rPr>
              <a:t>t</a:t>
            </a:r>
            <a:r>
              <a:rPr lang="zh-CN" altLang="en-US" sz="2400" b="1" kern="100" dirty="0">
                <a:solidFill>
                  <a:srgbClr val="014B88"/>
                </a:solidFill>
                <a:latin typeface="仿宋_GB2312"/>
                <a:cs typeface="Times New Roman" panose="02020603050405020304" pitchFamily="18" charset="0"/>
              </a:rPr>
              <a:t>的距离的下界</a:t>
            </a:r>
          </a:p>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即实际距离应大于等于</a:t>
            </a:r>
            <a:r>
              <a:rPr lang="en-US" altLang="zh-CN" sz="2400" b="1" kern="100" dirty="0">
                <a:solidFill>
                  <a:srgbClr val="014B88"/>
                </a:solidFill>
                <a:latin typeface="仿宋_GB2312"/>
                <a:cs typeface="Times New Roman" panose="02020603050405020304" pitchFamily="18" charset="0"/>
              </a:rPr>
              <a:t>h(x)</a:t>
            </a:r>
          </a:p>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对于之前的迷宫问题可以使用的下界函数：</a:t>
            </a:r>
          </a:p>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曼哈顿距离  ：</a:t>
            </a:r>
          </a:p>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欧氏距离    ：</a:t>
            </a:r>
          </a:p>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切比雪夫距离：</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 name="图片 88"/>
          <p:cNvPicPr/>
          <p:nvPr/>
        </p:nvPicPr>
        <p:blipFill>
          <a:blip r:embed="rId2"/>
          <a:stretch>
            <a:fillRect/>
          </a:stretch>
        </p:blipFill>
        <p:spPr>
          <a:xfrm>
            <a:off x="8723093" y="473662"/>
            <a:ext cx="2304360" cy="2094840"/>
          </a:xfrm>
          <a:prstGeom prst="rect">
            <a:avLst/>
          </a:prstGeom>
          <a:ln>
            <a:noFill/>
          </a:ln>
        </p:spPr>
      </p:pic>
      <p:sp>
        <p:nvSpPr>
          <p:cNvPr id="5"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启发式搜索 </a:t>
            </a:r>
            <a:r>
              <a:rPr lang="en-US" altLang="zh-CN" sz="3200" b="1" dirty="0">
                <a:solidFill>
                  <a:srgbClr val="C00000"/>
                </a:solidFill>
                <a:latin typeface="微软雅黑" panose="020B0503020204020204" pitchFamily="34" charset="-122"/>
                <a:ea typeface="微软雅黑" panose="020B0503020204020204" pitchFamily="34" charset="-122"/>
              </a:rPr>
              <a:t>| A*</a:t>
            </a:r>
            <a:r>
              <a:rPr lang="zh-CN" altLang="en-US" sz="3200" b="1" dirty="0">
                <a:solidFill>
                  <a:srgbClr val="C00000"/>
                </a:solidFill>
                <a:latin typeface="微软雅黑" panose="020B0503020204020204" pitchFamily="34" charset="-122"/>
                <a:ea typeface="微软雅黑" panose="020B0503020204020204" pitchFamily="34" charset="-122"/>
              </a:rPr>
              <a:t>算法</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00587" y="1048861"/>
            <a:ext cx="11152905" cy="4760278"/>
          </a:xfrm>
          <a:prstGeom prst="rect">
            <a:avLst/>
          </a:prstGeom>
          <a:noFill/>
        </p:spPr>
        <p:txBody>
          <a:bodyPr wrap="square" rtlCol="0">
            <a:spAutoFit/>
          </a:bodyPr>
          <a:lstStyle/>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估价函数</a:t>
            </a:r>
            <a:r>
              <a:rPr lang="en-US" altLang="zh-CN" sz="2400" b="1" kern="100" dirty="0">
                <a:solidFill>
                  <a:srgbClr val="014B88"/>
                </a:solidFill>
                <a:latin typeface="仿宋_GB2312"/>
                <a:cs typeface="Times New Roman" panose="02020603050405020304" pitchFamily="18" charset="0"/>
              </a:rPr>
              <a:t>f(x) = g(x) + h(x)</a:t>
            </a:r>
          </a:p>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g(x)</a:t>
            </a:r>
            <a:r>
              <a:rPr lang="zh-CN" altLang="en-US" sz="2400" b="1" kern="100" dirty="0">
                <a:solidFill>
                  <a:srgbClr val="014B88"/>
                </a:solidFill>
                <a:latin typeface="仿宋_GB2312"/>
                <a:cs typeface="Times New Roman" panose="02020603050405020304" pitchFamily="18" charset="0"/>
              </a:rPr>
              <a:t>为从初始状态转移到</a:t>
            </a:r>
            <a:r>
              <a:rPr lang="en-US" altLang="zh-CN" sz="2400" b="1" kern="100" dirty="0">
                <a:solidFill>
                  <a:srgbClr val="014B88"/>
                </a:solidFill>
                <a:latin typeface="仿宋_GB2312"/>
                <a:cs typeface="Times New Roman" panose="02020603050405020304" pitchFamily="18" charset="0"/>
              </a:rPr>
              <a:t>x</a:t>
            </a:r>
            <a:r>
              <a:rPr lang="zh-CN" altLang="en-US" sz="2400" b="1" kern="100" dirty="0">
                <a:solidFill>
                  <a:srgbClr val="014B88"/>
                </a:solidFill>
                <a:latin typeface="仿宋_GB2312"/>
                <a:cs typeface="Times New Roman" panose="02020603050405020304" pitchFamily="18" charset="0"/>
              </a:rPr>
              <a:t>的代价</a:t>
            </a:r>
          </a:p>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h(x)</a:t>
            </a:r>
            <a:r>
              <a:rPr lang="zh-CN" altLang="en-US" sz="2400" b="1" kern="100" dirty="0">
                <a:solidFill>
                  <a:srgbClr val="014B88"/>
                </a:solidFill>
                <a:latin typeface="仿宋_GB2312"/>
                <a:cs typeface="Times New Roman" panose="02020603050405020304" pitchFamily="18" charset="0"/>
              </a:rPr>
              <a:t>为下界函数</a:t>
            </a:r>
          </a:p>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A*</a:t>
            </a:r>
            <a:r>
              <a:rPr lang="zh-CN" altLang="en-US" sz="2400" b="1" kern="100" dirty="0">
                <a:solidFill>
                  <a:srgbClr val="014B88"/>
                </a:solidFill>
                <a:latin typeface="仿宋_GB2312"/>
                <a:cs typeface="Times New Roman" panose="02020603050405020304" pitchFamily="18" charset="0"/>
              </a:rPr>
              <a:t>算法可看作是对</a:t>
            </a:r>
            <a:r>
              <a:rPr lang="en-US" altLang="zh-CN" sz="2400" b="1" kern="100" dirty="0">
                <a:solidFill>
                  <a:srgbClr val="014B88"/>
                </a:solidFill>
                <a:latin typeface="仿宋_GB2312"/>
                <a:cs typeface="Times New Roman" panose="02020603050405020304" pitchFamily="18" charset="0"/>
              </a:rPr>
              <a:t>BFS</a:t>
            </a:r>
            <a:r>
              <a:rPr lang="zh-CN" altLang="en-US" sz="2400" b="1" kern="100" dirty="0">
                <a:solidFill>
                  <a:srgbClr val="014B88"/>
                </a:solidFill>
                <a:latin typeface="仿宋_GB2312"/>
                <a:cs typeface="Times New Roman" panose="02020603050405020304" pitchFamily="18" charset="0"/>
              </a:rPr>
              <a:t>的优化，使用</a:t>
            </a:r>
            <a:r>
              <a:rPr lang="zh-CN" altLang="en-US" sz="2400" b="1" kern="100" dirty="0">
                <a:solidFill>
                  <a:srgbClr val="FF0000"/>
                </a:solidFill>
                <a:latin typeface="仿宋_GB2312"/>
                <a:cs typeface="Times New Roman" panose="02020603050405020304" pitchFamily="18" charset="0"/>
              </a:rPr>
              <a:t>优先队列</a:t>
            </a:r>
            <a:r>
              <a:rPr lang="zh-CN" altLang="en-US" sz="2400" b="1" kern="100" dirty="0">
                <a:solidFill>
                  <a:srgbClr val="014B88"/>
                </a:solidFill>
                <a:latin typeface="仿宋_GB2312"/>
                <a:cs typeface="Times New Roman" panose="02020603050405020304" pitchFamily="18" charset="0"/>
              </a:rPr>
              <a:t>保存节点，估价函数值</a:t>
            </a:r>
            <a:r>
              <a:rPr lang="zh-CN" altLang="en-US" sz="2400" b="1" kern="100" dirty="0">
                <a:solidFill>
                  <a:srgbClr val="FF0000"/>
                </a:solidFill>
                <a:latin typeface="仿宋_GB2312"/>
                <a:cs typeface="Times New Roman" panose="02020603050405020304" pitchFamily="18" charset="0"/>
              </a:rPr>
              <a:t>最小的</a:t>
            </a:r>
            <a:r>
              <a:rPr lang="zh-CN" altLang="en-US" sz="2400" b="1" kern="100" dirty="0">
                <a:solidFill>
                  <a:srgbClr val="014B88"/>
                </a:solidFill>
                <a:latin typeface="仿宋_GB2312"/>
                <a:cs typeface="Times New Roman" panose="02020603050405020304" pitchFamily="18" charset="0"/>
              </a:rPr>
              <a:t>先出队，其他过程与</a:t>
            </a:r>
            <a:r>
              <a:rPr lang="en-US" altLang="zh-CN" sz="2400" b="1" kern="100" dirty="0">
                <a:solidFill>
                  <a:srgbClr val="014B88"/>
                </a:solidFill>
                <a:latin typeface="仿宋_GB2312"/>
                <a:cs typeface="Times New Roman" panose="02020603050405020304" pitchFamily="18" charset="0"/>
              </a:rPr>
              <a:t>BFS</a:t>
            </a:r>
            <a:r>
              <a:rPr lang="zh-CN" altLang="en-US" sz="2400" b="1" kern="100" dirty="0">
                <a:solidFill>
                  <a:srgbClr val="014B88"/>
                </a:solidFill>
                <a:latin typeface="仿宋_GB2312"/>
                <a:cs typeface="Times New Roman" panose="02020603050405020304" pitchFamily="18" charset="0"/>
              </a:rPr>
              <a:t>一样</a:t>
            </a:r>
          </a:p>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对于刚刚的寻路问题，可使用以当前状态到终点的曼哈顿距离作为下界函数的</a:t>
            </a:r>
            <a:r>
              <a:rPr lang="en-US" altLang="zh-CN" sz="2400" b="1" kern="100" dirty="0">
                <a:solidFill>
                  <a:srgbClr val="014B88"/>
                </a:solidFill>
                <a:latin typeface="仿宋_GB2312"/>
                <a:cs typeface="Times New Roman" panose="02020603050405020304" pitchFamily="18" charset="0"/>
              </a:rPr>
              <a:t>A*</a:t>
            </a:r>
            <a:r>
              <a:rPr lang="zh-CN" altLang="en-US" sz="2400" b="1" kern="100" dirty="0">
                <a:solidFill>
                  <a:srgbClr val="014B88"/>
                </a:solidFill>
                <a:latin typeface="仿宋_GB2312"/>
                <a:cs typeface="Times New Roman" panose="02020603050405020304" pitchFamily="18" charset="0"/>
              </a:rPr>
              <a:t>算法</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CustomShape 2"/>
          <p:cNvSpPr/>
          <p:nvPr/>
        </p:nvSpPr>
        <p:spPr>
          <a:xfrm>
            <a:off x="838080" y="3025888"/>
            <a:ext cx="10514520" cy="31499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270">
              <a:lnSpc>
                <a:spcPct val="90000"/>
              </a:lnSpc>
              <a:buClr>
                <a:srgbClr val="000000"/>
              </a:buClr>
            </a:pPr>
            <a:endParaRPr lang="en-US" sz="1800" strike="noStrike" spc="-1" dirty="0">
              <a:uFill>
                <a:solidFill>
                  <a:srgbClr val="FFFFFF"/>
                </a:solidFill>
              </a:uFill>
              <a:latin typeface="Arial" panose="020B0604020202020204"/>
            </a:endParaRPr>
          </a:p>
        </p:txBody>
      </p:sp>
      <p:pic>
        <p:nvPicPr>
          <p:cNvPr id="92" name="图片 3"/>
          <p:cNvPicPr/>
          <p:nvPr/>
        </p:nvPicPr>
        <p:blipFill>
          <a:blip r:embed="rId2"/>
          <a:stretch>
            <a:fillRect/>
          </a:stretch>
        </p:blipFill>
        <p:spPr>
          <a:xfrm>
            <a:off x="6770520" y="3600000"/>
            <a:ext cx="1077120" cy="1295640"/>
          </a:xfrm>
          <a:prstGeom prst="rect">
            <a:avLst/>
          </a:prstGeom>
          <a:ln>
            <a:noFill/>
          </a:ln>
        </p:spPr>
      </p:pic>
      <p:pic>
        <p:nvPicPr>
          <p:cNvPr id="93" name="图片 6"/>
          <p:cNvPicPr/>
          <p:nvPr/>
        </p:nvPicPr>
        <p:blipFill>
          <a:blip r:embed="rId3"/>
          <a:stretch>
            <a:fillRect/>
          </a:stretch>
        </p:blipFill>
        <p:spPr>
          <a:xfrm>
            <a:off x="3528000" y="3596760"/>
            <a:ext cx="1079640" cy="1298880"/>
          </a:xfrm>
          <a:prstGeom prst="rect">
            <a:avLst/>
          </a:prstGeom>
          <a:ln>
            <a:noFill/>
          </a:ln>
        </p:spPr>
      </p:pic>
      <p:pic>
        <p:nvPicPr>
          <p:cNvPr id="94" name="图片 8"/>
          <p:cNvPicPr/>
          <p:nvPr/>
        </p:nvPicPr>
        <p:blipFill>
          <a:blip r:embed="rId4"/>
          <a:stretch>
            <a:fillRect/>
          </a:stretch>
        </p:blipFill>
        <p:spPr>
          <a:xfrm>
            <a:off x="5040000" y="3985560"/>
            <a:ext cx="1295640" cy="478080"/>
          </a:xfrm>
          <a:prstGeom prst="rect">
            <a:avLst/>
          </a:prstGeom>
          <a:ln>
            <a:noFill/>
          </a:ln>
        </p:spPr>
      </p:pic>
      <p:sp>
        <p:nvSpPr>
          <p:cNvPr id="7"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启发式搜索 </a:t>
            </a:r>
            <a:r>
              <a:rPr lang="en-US" altLang="zh-CN" sz="3200" b="1" dirty="0">
                <a:solidFill>
                  <a:srgbClr val="C00000"/>
                </a:solidFill>
                <a:latin typeface="微软雅黑" panose="020B0503020204020204" pitchFamily="34" charset="-122"/>
                <a:ea typeface="微软雅黑" panose="020B0503020204020204" pitchFamily="34" charset="-122"/>
              </a:rPr>
              <a:t>| A*</a:t>
            </a:r>
            <a:r>
              <a:rPr lang="zh-CN" altLang="en-US" sz="3200" b="1" dirty="0">
                <a:solidFill>
                  <a:srgbClr val="C00000"/>
                </a:solidFill>
                <a:latin typeface="微软雅黑" panose="020B0503020204020204" pitchFamily="34" charset="-122"/>
                <a:ea typeface="微软雅黑" panose="020B0503020204020204" pitchFamily="34" charset="-122"/>
              </a:rPr>
              <a:t>算法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八数码问题</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72356" y="1138486"/>
            <a:ext cx="10795248" cy="5719514"/>
          </a:xfrm>
          <a:prstGeom prst="rect">
            <a:avLst/>
          </a:prstGeom>
          <a:noFill/>
        </p:spPr>
        <p:txBody>
          <a:bodyPr wrap="square" rtlCol="0">
            <a:spAutoFit/>
          </a:bodyPr>
          <a:lstStyle/>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3*3</a:t>
            </a:r>
            <a:r>
              <a:rPr lang="zh-CN" altLang="en-US" sz="2400" b="1" kern="100" dirty="0">
                <a:solidFill>
                  <a:srgbClr val="014B88"/>
                </a:solidFill>
                <a:latin typeface="仿宋_GB2312"/>
                <a:cs typeface="Times New Roman" panose="02020603050405020304" pitchFamily="18" charset="0"/>
              </a:rPr>
              <a:t>方格，其中</a:t>
            </a:r>
            <a:r>
              <a:rPr lang="en-US" altLang="zh-CN" sz="2400" b="1" kern="100" dirty="0">
                <a:solidFill>
                  <a:srgbClr val="014B88"/>
                </a:solidFill>
                <a:latin typeface="仿宋_GB2312"/>
                <a:cs typeface="Times New Roman" panose="02020603050405020304" pitchFamily="18" charset="0"/>
              </a:rPr>
              <a:t>1</a:t>
            </a:r>
            <a:r>
              <a:rPr lang="zh-CN" altLang="en-US" sz="2400" b="1" kern="100" dirty="0">
                <a:solidFill>
                  <a:srgbClr val="014B88"/>
                </a:solidFill>
                <a:latin typeface="仿宋_GB2312"/>
                <a:cs typeface="Times New Roman" panose="02020603050405020304" pitchFamily="18" charset="0"/>
              </a:rPr>
              <a:t>个为空，其它</a:t>
            </a:r>
            <a:r>
              <a:rPr lang="en-US" altLang="zh-CN" sz="2400" b="1" kern="100" dirty="0">
                <a:solidFill>
                  <a:srgbClr val="014B88"/>
                </a:solidFill>
                <a:latin typeface="仿宋_GB2312"/>
                <a:cs typeface="Times New Roman" panose="02020603050405020304" pitchFamily="18" charset="0"/>
              </a:rPr>
              <a:t>8</a:t>
            </a:r>
            <a:r>
              <a:rPr lang="zh-CN" altLang="en-US" sz="2400" b="1" kern="100" dirty="0">
                <a:solidFill>
                  <a:srgbClr val="014B88"/>
                </a:solidFill>
                <a:latin typeface="仿宋_GB2312"/>
                <a:cs typeface="Times New Roman" panose="02020603050405020304" pitchFamily="18" charset="0"/>
              </a:rPr>
              <a:t>个为</a:t>
            </a:r>
            <a:r>
              <a:rPr lang="en-US" altLang="zh-CN" sz="2400" b="1" kern="100" dirty="0">
                <a:solidFill>
                  <a:srgbClr val="014B88"/>
                </a:solidFill>
                <a:latin typeface="仿宋_GB2312"/>
                <a:cs typeface="Times New Roman" panose="02020603050405020304" pitchFamily="18" charset="0"/>
              </a:rPr>
              <a:t>1-8</a:t>
            </a:r>
            <a:r>
              <a:rPr lang="zh-CN" altLang="en-US" sz="2400" b="1" kern="100" dirty="0">
                <a:solidFill>
                  <a:srgbClr val="014B88"/>
                </a:solidFill>
                <a:latin typeface="仿宋_GB2312"/>
                <a:cs typeface="Times New Roman" panose="02020603050405020304" pitchFamily="18" charset="0"/>
              </a:rPr>
              <a:t>数字。每次可将空白方块与相邻的一个交换</a:t>
            </a:r>
          </a:p>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在最少的步数下还原到终态</a:t>
            </a:r>
            <a:endParaRPr lang="en-US" altLang="zh-CN" sz="2400" b="1" kern="100" dirty="0">
              <a:solidFill>
                <a:srgbClr val="014B88"/>
              </a:solidFill>
              <a:latin typeface="仿宋_GB2312"/>
              <a:cs typeface="Times New Roman" panose="02020603050405020304" pitchFamily="18" charset="0"/>
            </a:endParaRPr>
          </a:p>
          <a:p>
            <a:pPr>
              <a:lnSpc>
                <a:spcPct val="150000"/>
              </a:lnSpc>
              <a:spcBef>
                <a:spcPts val="1000"/>
              </a:spcBef>
            </a:pPr>
            <a:endParaRPr lang="en-US" altLang="zh-CN" sz="2400" b="1" kern="100" dirty="0">
              <a:solidFill>
                <a:srgbClr val="014B88"/>
              </a:solidFill>
              <a:latin typeface="仿宋_GB2312"/>
              <a:cs typeface="Times New Roman" panose="02020603050405020304" pitchFamily="18" charset="0"/>
            </a:endParaRPr>
          </a:p>
          <a:p>
            <a:pPr>
              <a:lnSpc>
                <a:spcPct val="150000"/>
              </a:lnSpc>
              <a:spcBef>
                <a:spcPts val="1000"/>
              </a:spcBef>
            </a:pPr>
            <a:endParaRPr lang="en-US" altLang="zh-CN" sz="2400" b="1" kern="100" dirty="0">
              <a:solidFill>
                <a:srgbClr val="014B88"/>
              </a:solidFill>
              <a:latin typeface="仿宋_GB2312"/>
              <a:cs typeface="Times New Roman" panose="02020603050405020304" pitchFamily="18" charset="0"/>
            </a:endParaRPr>
          </a:p>
          <a:p>
            <a:pPr>
              <a:lnSpc>
                <a:spcPct val="150000"/>
              </a:lnSpc>
              <a:spcBef>
                <a:spcPts val="1000"/>
              </a:spcBef>
            </a:pPr>
            <a:endParaRPr lang="en-US" altLang="zh-CN" sz="2400" b="1" kern="100" dirty="0">
              <a:solidFill>
                <a:srgbClr val="014B88"/>
              </a:solidFill>
              <a:latin typeface="仿宋_GB2312"/>
              <a:cs typeface="Times New Roman" panose="02020603050405020304" pitchFamily="18" charset="0"/>
            </a:endParaRPr>
          </a:p>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a:t>
            </a:r>
            <a:r>
              <a:rPr lang="en-US" altLang="zh-CN" sz="2400" b="1" kern="100" dirty="0" err="1">
                <a:solidFill>
                  <a:srgbClr val="014B88"/>
                </a:solidFill>
                <a:latin typeface="仿宋_GB2312"/>
                <a:cs typeface="Times New Roman" panose="02020603050405020304" pitchFamily="18" charset="0"/>
              </a:rPr>
              <a:t>估价函数：从起始状态到当前状态的步数+各个数字当前位置与还原后位置的曼哈顿距离之和</a:t>
            </a:r>
            <a:r>
              <a:rPr lang="zh-CN" altLang="en-US" sz="2400" b="1" kern="100" dirty="0">
                <a:solidFill>
                  <a:srgbClr val="014B88"/>
                </a:solidFill>
                <a:latin typeface="仿宋_GB2312"/>
                <a:cs typeface="Times New Roman" panose="02020603050405020304" pitchFamily="18" charset="0"/>
              </a:rPr>
              <a:t>（下界）</a:t>
            </a:r>
            <a:endParaRPr lang="en-US" altLang="zh-CN" sz="2400" b="1" kern="100" dirty="0">
              <a:solidFill>
                <a:srgbClr val="014B88"/>
              </a:solidFill>
              <a:latin typeface="仿宋_GB2312"/>
              <a:cs typeface="Times New Roman" panose="02020603050405020304" pitchFamily="18" charset="0"/>
            </a:endParaRPr>
          </a:p>
          <a:p>
            <a:endParaRPr lang="zh-CN" altLang="en-US"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CustomShape 2"/>
          <p:cNvSpPr/>
          <p:nvPr/>
        </p:nvSpPr>
        <p:spPr>
          <a:xfrm>
            <a:off x="838080" y="1825560"/>
            <a:ext cx="1051452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90000"/>
              </a:lnSpc>
            </a:pPr>
            <a:endParaRPr lang="en-US" sz="1800" strike="noStrike" spc="-1" dirty="0">
              <a:uFill>
                <a:solidFill>
                  <a:srgbClr val="FFFFFF"/>
                </a:solidFill>
              </a:uFill>
              <a:latin typeface="Arial" panose="020B0604020202020204"/>
            </a:endParaRPr>
          </a:p>
          <a:p>
            <a:pPr>
              <a:lnSpc>
                <a:spcPct val="90000"/>
              </a:lnSpc>
            </a:pPr>
            <a:endParaRPr lang="en-US" sz="1800" strike="noStrike" spc="-1" dirty="0">
              <a:uFill>
                <a:solidFill>
                  <a:srgbClr val="FFFFFF"/>
                </a:solidFill>
              </a:uFill>
              <a:latin typeface="Arial" panose="020B0604020202020204"/>
            </a:endParaRP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迭代加深搜索 </a:t>
            </a:r>
            <a:r>
              <a:rPr lang="en-US" altLang="zh-CN" sz="3200" b="1" dirty="0">
                <a:solidFill>
                  <a:srgbClr val="C00000"/>
                </a:solidFill>
                <a:latin typeface="微软雅黑" panose="020B0503020204020204" pitchFamily="34" charset="-122"/>
                <a:ea typeface="微软雅黑" panose="020B0503020204020204" pitchFamily="34" charset="-122"/>
              </a:rPr>
              <a:t>IDDFS</a:t>
            </a:r>
          </a:p>
        </p:txBody>
      </p:sp>
      <p:sp>
        <p:nvSpPr>
          <p:cNvPr id="2" name="文本框 1"/>
          <p:cNvSpPr txBox="1"/>
          <p:nvPr/>
        </p:nvSpPr>
        <p:spPr>
          <a:xfrm>
            <a:off x="838080" y="1384917"/>
            <a:ext cx="10818301" cy="3267561"/>
          </a:xfrm>
          <a:prstGeom prst="rect">
            <a:avLst/>
          </a:prstGeom>
          <a:noFill/>
        </p:spPr>
        <p:txBody>
          <a:bodyPr wrap="square" rtlCol="0">
            <a:spAutoFit/>
          </a:bodyPr>
          <a:lstStyle/>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每次</a:t>
            </a:r>
            <a:r>
              <a:rPr lang="en-US" altLang="zh-CN" sz="2400" b="1" kern="100" dirty="0">
                <a:solidFill>
                  <a:srgbClr val="014B88"/>
                </a:solidFill>
                <a:latin typeface="仿宋_GB2312"/>
                <a:cs typeface="Times New Roman" panose="02020603050405020304" pitchFamily="18" charset="0"/>
              </a:rPr>
              <a:t>DFS</a:t>
            </a:r>
            <a:r>
              <a:rPr lang="zh-CN" altLang="en-US" sz="2400" b="1" kern="100" dirty="0">
                <a:solidFill>
                  <a:srgbClr val="014B88"/>
                </a:solidFill>
                <a:latin typeface="仿宋_GB2312"/>
                <a:cs typeface="Times New Roman" panose="02020603050405020304" pitchFamily="18" charset="0"/>
              </a:rPr>
              <a:t>前，限定一个搜索深度，一旦搜索深度超过该深度就停止，当没搜到解时加深深度限制</a:t>
            </a:r>
          </a:p>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优点：空间开销小；便于通过剪枝优化；时间消耗并不会增加太多，最后一次</a:t>
            </a:r>
            <a:r>
              <a:rPr lang="en-US" altLang="zh-CN" sz="2400" b="1" kern="100" dirty="0">
                <a:solidFill>
                  <a:srgbClr val="014B88"/>
                </a:solidFill>
                <a:latin typeface="仿宋_GB2312"/>
                <a:cs typeface="Times New Roman" panose="02020603050405020304" pitchFamily="18" charset="0"/>
              </a:rPr>
              <a:t>DFS</a:t>
            </a:r>
            <a:r>
              <a:rPr lang="zh-CN" altLang="en-US" sz="2400" b="1" kern="100" dirty="0">
                <a:solidFill>
                  <a:srgbClr val="014B88"/>
                </a:solidFill>
                <a:latin typeface="仿宋_GB2312"/>
                <a:cs typeface="Times New Roman" panose="02020603050405020304" pitchFamily="18" charset="0"/>
              </a:rPr>
              <a:t>的时间开销与之前所有</a:t>
            </a:r>
            <a:r>
              <a:rPr lang="en-US" altLang="zh-CN" sz="2400" b="1" kern="100" dirty="0">
                <a:solidFill>
                  <a:srgbClr val="014B88"/>
                </a:solidFill>
                <a:latin typeface="仿宋_GB2312"/>
                <a:cs typeface="Times New Roman" panose="02020603050405020304" pitchFamily="18" charset="0"/>
              </a:rPr>
              <a:t>DFS</a:t>
            </a:r>
            <a:r>
              <a:rPr lang="zh-CN" altLang="en-US" sz="2400" b="1" kern="100" dirty="0">
                <a:solidFill>
                  <a:srgbClr val="014B88"/>
                </a:solidFill>
                <a:latin typeface="仿宋_GB2312"/>
                <a:cs typeface="Times New Roman" panose="02020603050405020304" pitchFamily="18" charset="0"/>
              </a:rPr>
              <a:t>的开销总和同阶</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可以在搜索树没有深度上限，而解有深度上限时搜索解。</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迭代加深搜索 </a:t>
            </a:r>
            <a:r>
              <a:rPr lang="en-US" altLang="zh-CN" sz="3200" b="1" dirty="0">
                <a:solidFill>
                  <a:srgbClr val="C00000"/>
                </a:solidFill>
                <a:latin typeface="微软雅黑" panose="020B0503020204020204" pitchFamily="34" charset="-122"/>
                <a:ea typeface="微软雅黑" panose="020B0503020204020204" pitchFamily="34" charset="-122"/>
              </a:rPr>
              <a:t>IDDFS | </a:t>
            </a:r>
            <a:r>
              <a:rPr lang="zh-CN" altLang="en-US" sz="3200" b="1" dirty="0">
                <a:solidFill>
                  <a:srgbClr val="C00000"/>
                </a:solidFill>
                <a:latin typeface="微软雅黑" panose="020B0503020204020204" pitchFamily="34" charset="-122"/>
                <a:ea typeface="微软雅黑" panose="020B0503020204020204" pitchFamily="34" charset="-122"/>
              </a:rPr>
              <a:t>埃及分数问题</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1437" y="1233996"/>
            <a:ext cx="10679837" cy="3744551"/>
          </a:xfrm>
          <a:prstGeom prst="rect">
            <a:avLst/>
          </a:prstGeom>
          <a:noFill/>
        </p:spPr>
        <p:txBody>
          <a:bodyPr wrap="square" rtlCol="0">
            <a:spAutoFit/>
          </a:bodyPr>
          <a:lstStyle/>
          <a:p>
            <a:pPr marL="228600" indent="-228600">
              <a:lnSpc>
                <a:spcPct val="150000"/>
              </a:lnSpc>
              <a:spcBef>
                <a:spcPts val="1000"/>
              </a:spcBef>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埃及分数问题：将一个给定的真分数</a:t>
            </a:r>
            <a:r>
              <a:rPr lang="en-US" altLang="zh-CN" sz="2400" b="1" kern="100" dirty="0">
                <a:solidFill>
                  <a:srgbClr val="014B88"/>
                </a:solidFill>
                <a:latin typeface="仿宋_GB2312"/>
                <a:cs typeface="Times New Roman" panose="02020603050405020304" pitchFamily="18" charset="0"/>
              </a:rPr>
              <a:t>a/b</a:t>
            </a:r>
            <a:r>
              <a:rPr lang="zh-CN" altLang="en-US" sz="2400" b="1" kern="100" dirty="0">
                <a:solidFill>
                  <a:srgbClr val="014B88"/>
                </a:solidFill>
                <a:latin typeface="仿宋_GB2312"/>
                <a:cs typeface="Times New Roman" panose="02020603050405020304" pitchFamily="18" charset="0"/>
              </a:rPr>
              <a:t>拆成单位分数</a:t>
            </a:r>
            <a:r>
              <a:rPr lang="en-US" altLang="zh-CN" sz="2400" b="1" kern="100" dirty="0">
                <a:solidFill>
                  <a:srgbClr val="014B88"/>
                </a:solidFill>
                <a:latin typeface="仿宋_GB2312"/>
                <a:cs typeface="Times New Roman" panose="02020603050405020304" pitchFamily="18" charset="0"/>
              </a:rPr>
              <a:t>(1/</a:t>
            </a:r>
            <a:r>
              <a:rPr lang="en-US" altLang="zh-CN" sz="2400" b="1" kern="100" dirty="0" err="1">
                <a:solidFill>
                  <a:srgbClr val="014B88"/>
                </a:solidFill>
                <a:latin typeface="仿宋_GB2312"/>
                <a:cs typeface="Times New Roman" panose="02020603050405020304" pitchFamily="18" charset="0"/>
              </a:rPr>
              <a:t>k,k</a:t>
            </a:r>
            <a:r>
              <a:rPr lang="en-US" altLang="zh-CN" sz="2400" b="1" kern="100" dirty="0">
                <a:solidFill>
                  <a:srgbClr val="014B88"/>
                </a:solidFill>
                <a:latin typeface="仿宋_GB2312"/>
                <a:cs typeface="Times New Roman" panose="02020603050405020304" pitchFamily="18" charset="0"/>
              </a:rPr>
              <a:t>&gt;=2)</a:t>
            </a:r>
            <a:r>
              <a:rPr lang="zh-CN" altLang="en-US" sz="2400" b="1" kern="100" dirty="0">
                <a:solidFill>
                  <a:srgbClr val="014B88"/>
                </a:solidFill>
                <a:latin typeface="仿宋_GB2312"/>
                <a:cs typeface="Times New Roman" panose="02020603050405020304" pitchFamily="18" charset="0"/>
              </a:rPr>
              <a:t>之和形式，要求拆出的分数数量越少越好，数量相同时分母最大的越小越好</a:t>
            </a:r>
          </a:p>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DFS</a:t>
            </a:r>
            <a:r>
              <a:rPr lang="zh-CN" altLang="en-US" sz="2400" b="1" kern="100" dirty="0">
                <a:solidFill>
                  <a:srgbClr val="014B88"/>
                </a:solidFill>
                <a:latin typeface="仿宋_GB2312"/>
                <a:cs typeface="Times New Roman" panose="02020603050405020304" pitchFamily="18" charset="0"/>
              </a:rPr>
              <a:t>：深度无限深</a:t>
            </a:r>
          </a:p>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BFS</a:t>
            </a:r>
            <a:r>
              <a:rPr lang="zh-CN" altLang="en-US" sz="2400" b="1" kern="100" dirty="0">
                <a:solidFill>
                  <a:srgbClr val="014B88"/>
                </a:solidFill>
                <a:latin typeface="仿宋_GB2312"/>
                <a:cs typeface="Times New Roman" panose="02020603050405020304" pitchFamily="18" charset="0"/>
              </a:rPr>
              <a:t>：第一层有无限个节点</a:t>
            </a:r>
            <a:r>
              <a:rPr lang="en-US" altLang="zh-CN" sz="2400" b="1" kern="100" dirty="0">
                <a:solidFill>
                  <a:srgbClr val="014B88"/>
                </a:solidFill>
                <a:latin typeface="仿宋_GB2312"/>
                <a:cs typeface="Times New Roman" panose="02020603050405020304" pitchFamily="18" charset="0"/>
              </a:rPr>
              <a:t>(1/1,1/2,….,1/n,….);</a:t>
            </a:r>
          </a:p>
          <a:p>
            <a:pPr marL="228600" indent="-228600">
              <a:lnSpc>
                <a:spcPct val="150000"/>
              </a:lnSpc>
              <a:spcBef>
                <a:spcPts val="1000"/>
              </a:spcBef>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 IDDFS</a:t>
            </a:r>
            <a:r>
              <a:rPr lang="zh-CN" altLang="en-US" sz="2400" b="1" kern="100" dirty="0">
                <a:solidFill>
                  <a:srgbClr val="014B88"/>
                </a:solidFill>
                <a:latin typeface="仿宋_GB2312"/>
                <a:cs typeface="Times New Roman" panose="02020603050405020304" pitchFamily="18" charset="0"/>
              </a:rPr>
              <a:t>：通过限制深度，避免了陷入过深的搜索树，通过最大深度和当前深度的差值还可以确定分母的范围</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CustomShape 3"/>
          <p:cNvSpPr/>
          <p:nvPr/>
        </p:nvSpPr>
        <p:spPr>
          <a:xfrm>
            <a:off x="682560" y="2993400"/>
            <a:ext cx="10514520" cy="4350240"/>
          </a:xfrm>
          <a:prstGeom prst="rect">
            <a:avLst/>
          </a:prstGeom>
          <a:noFill/>
          <a:ln>
            <a:noFill/>
          </a:ln>
        </p:spPr>
        <p:style>
          <a:lnRef idx="0">
            <a:scrgbClr r="0" g="0" b="0"/>
          </a:lnRef>
          <a:fillRef idx="0">
            <a:scrgbClr r="0" g="0" b="0"/>
          </a:fillRef>
          <a:effectRef idx="0">
            <a:scrgbClr r="0" g="0" b="0"/>
          </a:effectRef>
          <a:fontRef idx="minor"/>
        </p:style>
      </p:sp>
      <p:sp>
        <p:nvSpPr>
          <p:cNvPr id="106" name="CustomShape 4"/>
          <p:cNvSpPr/>
          <p:nvPr/>
        </p:nvSpPr>
        <p:spPr>
          <a:xfrm>
            <a:off x="936000" y="1584000"/>
            <a:ext cx="10439640" cy="90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US" sz="1800" strike="noStrike" spc="-1" dirty="0">
              <a:uFill>
                <a:solidFill>
                  <a:srgbClr val="FFFFFF"/>
                </a:solidFill>
              </a:uFill>
              <a:latin typeface="Arial" panose="020B0604020202020204"/>
            </a:endParaRPr>
          </a:p>
        </p:txBody>
      </p:sp>
      <p:sp>
        <p:nvSpPr>
          <p:cNvPr id="6"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迭代加深启发式搜索 </a:t>
            </a:r>
            <a:r>
              <a:rPr lang="en-US" altLang="zh-CN" sz="3200" b="1" dirty="0">
                <a:solidFill>
                  <a:srgbClr val="C00000"/>
                </a:solidFill>
                <a:latin typeface="微软雅黑" panose="020B0503020204020204" pitchFamily="34" charset="-122"/>
                <a:ea typeface="微软雅黑" panose="020B0503020204020204" pitchFamily="34" charset="-122"/>
              </a:rPr>
              <a:t>| IDA*</a:t>
            </a:r>
          </a:p>
        </p:txBody>
      </p:sp>
      <p:sp>
        <p:nvSpPr>
          <p:cNvPr id="2" name="文本框 1"/>
          <p:cNvSpPr txBox="1"/>
          <p:nvPr/>
        </p:nvSpPr>
        <p:spPr>
          <a:xfrm>
            <a:off x="816360" y="1189607"/>
            <a:ext cx="10813002" cy="2492990"/>
          </a:xfrm>
          <a:prstGeom prst="rect">
            <a:avLst/>
          </a:prstGeom>
          <a:noFill/>
        </p:spPr>
        <p:txBody>
          <a:bodyPr wrap="square" rtlCol="0">
            <a:spAutoFit/>
          </a:bodyPr>
          <a:lstStyle/>
          <a:p>
            <a:endParaRPr lang="zh-CN" altLang="en-US" dirty="0"/>
          </a:p>
          <a:p>
            <a:pPr marL="342900" indent="-342900">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利用</a:t>
            </a:r>
            <a:r>
              <a:rPr lang="en-US" altLang="zh-CN" sz="2400" b="1" kern="100" dirty="0">
                <a:solidFill>
                  <a:srgbClr val="014B88"/>
                </a:solidFill>
                <a:latin typeface="仿宋_GB2312"/>
                <a:cs typeface="Times New Roman" panose="02020603050405020304" pitchFamily="18" charset="0"/>
              </a:rPr>
              <a:t>IDDFS</a:t>
            </a:r>
            <a:r>
              <a:rPr lang="zh-CN" altLang="en-US" sz="2400" b="1" kern="100" dirty="0">
                <a:solidFill>
                  <a:srgbClr val="014B88"/>
                </a:solidFill>
                <a:latin typeface="仿宋_GB2312"/>
                <a:cs typeface="Times New Roman" panose="02020603050405020304" pitchFamily="18" charset="0"/>
              </a:rPr>
              <a:t>时有深度上限的特点，评估在</a:t>
            </a:r>
            <a:r>
              <a:rPr lang="en-US" altLang="zh-CN" sz="2400" b="1" kern="100" dirty="0">
                <a:solidFill>
                  <a:srgbClr val="014B88"/>
                </a:solidFill>
                <a:latin typeface="仿宋_GB2312"/>
                <a:cs typeface="Times New Roman" panose="02020603050405020304" pitchFamily="18" charset="0"/>
              </a:rPr>
              <a:t>DFS</a:t>
            </a:r>
            <a:r>
              <a:rPr lang="zh-CN" altLang="en-US" sz="2400" b="1" kern="100" dirty="0">
                <a:solidFill>
                  <a:srgbClr val="014B88"/>
                </a:solidFill>
                <a:latin typeface="仿宋_GB2312"/>
                <a:cs typeface="Times New Roman" panose="02020603050405020304" pitchFamily="18" charset="0"/>
              </a:rPr>
              <a:t>树中一个节点在向下走一定的深度能不能到达解节点，并通过它剪枝</a:t>
            </a:r>
          </a:p>
          <a:p>
            <a:endParaRPr lang="zh-CN" altLang="en-US" sz="2400" b="1" kern="100" dirty="0">
              <a:solidFill>
                <a:srgbClr val="014B88"/>
              </a:solidFill>
              <a:latin typeface="仿宋_GB2312"/>
              <a:cs typeface="Times New Roman" panose="02020603050405020304" pitchFamily="18" charset="0"/>
            </a:endParaRPr>
          </a:p>
          <a:p>
            <a:endParaRPr lang="zh-CN" altLang="en-US" sz="2400" b="1" kern="100" dirty="0">
              <a:solidFill>
                <a:srgbClr val="014B88"/>
              </a:solidFill>
              <a:latin typeface="仿宋_GB2312"/>
              <a:cs typeface="Times New Roman" panose="02020603050405020304" pitchFamily="18" charset="0"/>
            </a:endParaRPr>
          </a:p>
          <a:p>
            <a:pPr marL="342900" indent="-342900">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利用启发函数剪枝：对于  </a:t>
            </a:r>
            <a:r>
              <a:rPr lang="en-US" altLang="zh-CN" sz="2400" b="1" kern="100" dirty="0">
                <a:solidFill>
                  <a:srgbClr val="014B88"/>
                </a:solidFill>
                <a:latin typeface="仿宋_GB2312"/>
                <a:cs typeface="Times New Roman" panose="02020603050405020304" pitchFamily="18" charset="0"/>
              </a:rPr>
              <a:t>f(x) &gt; MAXDEEP </a:t>
            </a:r>
            <a:r>
              <a:rPr lang="zh-CN" altLang="en-US" sz="2400" b="1" kern="100" dirty="0">
                <a:solidFill>
                  <a:srgbClr val="014B88"/>
                </a:solidFill>
                <a:latin typeface="仿宋_GB2312"/>
                <a:cs typeface="Times New Roman" panose="02020603050405020304" pitchFamily="18" charset="0"/>
              </a:rPr>
              <a:t>的节点不再扩展</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085992" y="1161408"/>
            <a:ext cx="438080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高级数据结构选讲</a:t>
            </a:r>
          </a:p>
        </p:txBody>
      </p:sp>
      <p:sp>
        <p:nvSpPr>
          <p:cNvPr id="15" name="内容占位符 2"/>
          <p:cNvSpPr txBox="1"/>
          <p:nvPr/>
        </p:nvSpPr>
        <p:spPr>
          <a:xfrm>
            <a:off x="3346129" y="1343908"/>
            <a:ext cx="739863" cy="1023029"/>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en-US" altLang="zh-CN"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4169119" y="2308056"/>
            <a:ext cx="2630661" cy="2547685"/>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并查集</a:t>
            </a:r>
            <a:endParaRPr kumimoji="0" lang="en-US" altLang="zh-CN"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lang="zh-CN" altLang="en-US" sz="2800" b="1" dirty="0">
                <a:solidFill>
                  <a:schemeClr val="bg2">
                    <a:lumMod val="75000"/>
                  </a:schemeClr>
                </a:solidFill>
                <a:latin typeface="微软雅黑" panose="020B0503020204020204" pitchFamily="34" charset="-122"/>
                <a:ea typeface="微软雅黑" panose="020B0503020204020204" pitchFamily="34" charset="-122"/>
              </a:rPr>
              <a:t>树状数组</a:t>
            </a:r>
            <a:endParaRPr lang="en-US" altLang="zh-CN" sz="2800" b="1" dirty="0">
              <a:solidFill>
                <a:schemeClr val="bg2">
                  <a:lumMod val="75000"/>
                </a:schemeClr>
              </a:solidFill>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线段树</a:t>
            </a:r>
            <a:endParaRPr kumimoji="0" lang="en-US" altLang="zh-CN" sz="28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40326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并查集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04001" y="927889"/>
            <a:ext cx="10558347" cy="5160323"/>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在有的问题中，需要对不相交的集合</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(disjoint set)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进行这样两种操作</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检索某元素属于哪个集合</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合并两个集合</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能够维护这两个操作的数据结构，称之为并查集。</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问题示例：</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个人，编号为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1~N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，已知</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个人之间有</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W</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组朋友关系，依据朋友的朋友也是朋友的假设，给</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次查询，问两个人是否是朋友。</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07717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43F15820-83AA-47E4-A718-865BD0523C98}"/>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并查集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B15085A4-85A4-4905-840B-589E780F4604}"/>
              </a:ext>
            </a:extLst>
          </p:cNvPr>
          <p:cNvSpPr/>
          <p:nvPr/>
        </p:nvSpPr>
        <p:spPr>
          <a:xfrm>
            <a:off x="504001" y="927889"/>
            <a:ext cx="10558347" cy="2943563"/>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输入人数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，朋友关系数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W</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和询问数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W</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行每行两个编号</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，说明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有朋友关系；接着</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行询问，每行询问包括两个数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，问</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是否是朋友。</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A3144656-A779-4E97-AD63-45C9AC49E3C0}"/>
              </a:ext>
            </a:extLst>
          </p:cNvPr>
          <p:cNvSpPr txBox="1"/>
          <p:nvPr/>
        </p:nvSpPr>
        <p:spPr>
          <a:xfrm>
            <a:off x="1439049" y="3834506"/>
            <a:ext cx="999352"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5 3 1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1 2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2 3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2 4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1 4</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 name="文本框 4">
            <a:extLst>
              <a:ext uri="{FF2B5EF4-FFF2-40B4-BE49-F238E27FC236}">
                <a16:creationId xmlns:a16="http://schemas.microsoft.com/office/drawing/2014/main" id="{43BF79DC-650A-4F09-93E8-F8A890E4D3D9}"/>
              </a:ext>
            </a:extLst>
          </p:cNvPr>
          <p:cNvSpPr txBox="1"/>
          <p:nvPr/>
        </p:nvSpPr>
        <p:spPr>
          <a:xfrm>
            <a:off x="3170868" y="3852979"/>
            <a:ext cx="146019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OUTPUT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Yes</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 name="文本框 5">
            <a:extLst>
              <a:ext uri="{FF2B5EF4-FFF2-40B4-BE49-F238E27FC236}">
                <a16:creationId xmlns:a16="http://schemas.microsoft.com/office/drawing/2014/main" id="{466EA70B-C57E-4ACF-907A-35635128B68B}"/>
              </a:ext>
            </a:extLst>
          </p:cNvPr>
          <p:cNvSpPr txBox="1"/>
          <p:nvPr/>
        </p:nvSpPr>
        <p:spPr>
          <a:xfrm>
            <a:off x="5588000" y="2946400"/>
            <a:ext cx="15609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S[</a:t>
            </a:r>
            <a:r>
              <a:rPr kumimoji="0" lang="en-US" altLang="zh-CN" sz="1800" b="0" i="0" u="none" strike="noStrike" kern="1200" cap="none" spc="0" normalizeH="0" baseline="0" noProof="0" dirty="0" err="1">
                <a:ln>
                  <a:noFill/>
                </a:ln>
                <a:solidFill>
                  <a:prstClr val="black"/>
                </a:solidFill>
                <a:effectLst/>
                <a:uLnTx/>
                <a:uFillTx/>
                <a:latin typeface="等线"/>
                <a:ea typeface="等线" panose="02010600030101010101" pitchFamily="2" charset="-122"/>
                <a:cs typeface="+mn-cs"/>
              </a:rPr>
              <a:t>i</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1 2 3 4 5</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 name="文本框 6">
            <a:extLst>
              <a:ext uri="{FF2B5EF4-FFF2-40B4-BE49-F238E27FC236}">
                <a16:creationId xmlns:a16="http://schemas.microsoft.com/office/drawing/2014/main" id="{2B50436A-B6CA-4F9F-801C-289EC74A7C21}"/>
              </a:ext>
            </a:extLst>
          </p:cNvPr>
          <p:cNvSpPr txBox="1"/>
          <p:nvPr/>
        </p:nvSpPr>
        <p:spPr>
          <a:xfrm>
            <a:off x="5587999" y="3684521"/>
            <a:ext cx="15609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S[</a:t>
            </a:r>
            <a:r>
              <a:rPr kumimoji="0" lang="en-US" altLang="zh-CN" sz="1800" b="0" i="0" u="none" strike="noStrike" kern="1200" cap="none" spc="0" normalizeH="0" baseline="0" noProof="0" dirty="0" err="1">
                <a:ln>
                  <a:noFill/>
                </a:ln>
                <a:solidFill>
                  <a:prstClr val="black"/>
                </a:solidFill>
                <a:effectLst/>
                <a:uLnTx/>
                <a:uFillTx/>
                <a:latin typeface="等线"/>
                <a:ea typeface="等线" panose="02010600030101010101" pitchFamily="2" charset="-122"/>
                <a:cs typeface="+mn-cs"/>
              </a:rPr>
              <a:t>i</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2 2 3 4 5</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8" name="文本框 7">
            <a:extLst>
              <a:ext uri="{FF2B5EF4-FFF2-40B4-BE49-F238E27FC236}">
                <a16:creationId xmlns:a16="http://schemas.microsoft.com/office/drawing/2014/main" id="{AA4CBED1-8CE5-4DDF-A146-336185B29984}"/>
              </a:ext>
            </a:extLst>
          </p:cNvPr>
          <p:cNvSpPr txBox="1"/>
          <p:nvPr/>
        </p:nvSpPr>
        <p:spPr>
          <a:xfrm>
            <a:off x="5587998" y="4424057"/>
            <a:ext cx="15609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S[</a:t>
            </a:r>
            <a:r>
              <a:rPr kumimoji="0" lang="en-US" altLang="zh-CN" sz="1800" b="0" i="0" u="none" strike="noStrike" kern="1200" cap="none" spc="0" normalizeH="0" baseline="0" noProof="0" dirty="0" err="1">
                <a:ln>
                  <a:noFill/>
                </a:ln>
                <a:solidFill>
                  <a:prstClr val="black"/>
                </a:solidFill>
                <a:effectLst/>
                <a:uLnTx/>
                <a:uFillTx/>
                <a:latin typeface="等线"/>
                <a:ea typeface="等线" panose="02010600030101010101" pitchFamily="2" charset="-122"/>
                <a:cs typeface="+mn-cs"/>
              </a:rPr>
              <a:t>i</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2 3 3 4 5</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9" name="文本框 8">
            <a:extLst>
              <a:ext uri="{FF2B5EF4-FFF2-40B4-BE49-F238E27FC236}">
                <a16:creationId xmlns:a16="http://schemas.microsoft.com/office/drawing/2014/main" id="{4BAE8FCA-03C0-4D38-BBD8-323656E363BC}"/>
              </a:ext>
            </a:extLst>
          </p:cNvPr>
          <p:cNvSpPr txBox="1"/>
          <p:nvPr/>
        </p:nvSpPr>
        <p:spPr>
          <a:xfrm>
            <a:off x="5587998" y="5162988"/>
            <a:ext cx="15609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S[</a:t>
            </a:r>
            <a:r>
              <a:rPr kumimoji="0" lang="en-US" altLang="zh-CN" sz="1800" b="0" i="0" u="none" strike="noStrike" kern="1200" cap="none" spc="0" normalizeH="0" baseline="0" noProof="0" dirty="0" err="1">
                <a:ln>
                  <a:noFill/>
                </a:ln>
                <a:solidFill>
                  <a:prstClr val="black"/>
                </a:solidFill>
                <a:effectLst/>
                <a:uLnTx/>
                <a:uFillTx/>
                <a:latin typeface="等线"/>
                <a:ea typeface="等线" panose="02010600030101010101" pitchFamily="2" charset="-122"/>
                <a:cs typeface="+mn-cs"/>
              </a:rPr>
              <a:t>i</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2 3 4 4 5</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3130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并查集的实现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04001" y="927889"/>
            <a:ext cx="10558347" cy="6636881"/>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每棵树代表一个集合，用树根来表示这个集合。</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合并操作：两个集合</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S1</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S2</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合并，将其中的一个树根作为另一个树根的子树即可。</a:t>
            </a:r>
          </a:p>
          <a:p>
            <a:pPr marL="1257300" marR="0" lvl="2"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查询操作：对于一个元素</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u</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的查找，顺着</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u</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往上找，直到线索到根节点，也就确定了</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u</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所在的集合。</a:t>
            </a:r>
            <a:b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b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15727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并查集实现的优化</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77111" y="1061050"/>
            <a:ext cx="11254671" cy="8114209"/>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启发式合并（合并优化）：</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在合并集合</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S1</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S2</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的时候，让较小的树成为较大的树的子树。这里可以是深度、节点个数等启发函数来比较树的大小。</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路径压缩：</a:t>
            </a:r>
          </a:p>
          <a:p>
            <a:pPr marL="1257300" marR="0" lvl="2"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在查找完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u</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至根节点的路径之后，一般将这条路径上的所有节点的父节点都设为根节点，这样可以大大减少之后的查找次数。</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次查询，复杂度为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O(MC)</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C</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为一个常数</a:t>
            </a:r>
            <a:b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b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13054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树状数组和线段树</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04792" y="823946"/>
            <a:ext cx="11234625" cy="589821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区间查询问题：一个数组，有一些操作和查询，操作包括改变某个元素的值，改变某个区间的值；查询包括查询元素的值，查询区间的和，查询区间最值。</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区间操作维护以及区间查询消耗较大，如何更加高效？</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回顾：前缀和、差分（区间修改</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单点查询）、</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算法（区间最值）</a:t>
            </a:r>
            <a:b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b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13950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树状数组</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309BEDA0-5D33-4D37-9807-A7ADE8CFB2F2}"/>
              </a:ext>
            </a:extLst>
          </p:cNvPr>
          <p:cNvPicPr>
            <a:picLocks noChangeAspect="1"/>
          </p:cNvPicPr>
          <p:nvPr/>
        </p:nvPicPr>
        <p:blipFill>
          <a:blip r:embed="rId3"/>
          <a:stretch>
            <a:fillRect/>
          </a:stretch>
        </p:blipFill>
        <p:spPr>
          <a:xfrm>
            <a:off x="6096000" y="2106511"/>
            <a:ext cx="6257925" cy="3514725"/>
          </a:xfrm>
          <a:prstGeom prst="rect">
            <a:avLst/>
          </a:prstGeom>
        </p:spPr>
      </p:pic>
      <p:sp>
        <p:nvSpPr>
          <p:cNvPr id="4" name="矩形 3">
            <a:extLst>
              <a:ext uri="{FF2B5EF4-FFF2-40B4-BE49-F238E27FC236}">
                <a16:creationId xmlns:a16="http://schemas.microsoft.com/office/drawing/2014/main" id="{D951A6E1-AA9F-4AEE-86A3-510A79EC0E8C}"/>
              </a:ext>
            </a:extLst>
          </p:cNvPr>
          <p:cNvSpPr/>
          <p:nvPr/>
        </p:nvSpPr>
        <p:spPr>
          <a:xfrm>
            <a:off x="572655" y="812655"/>
            <a:ext cx="7102764" cy="6268511"/>
          </a:xfrm>
          <a:prstGeom prst="rect">
            <a:avLst/>
          </a:prstGeom>
        </p:spPr>
        <p:txBody>
          <a:bodyPr wrap="square">
            <a:spAutoFit/>
          </a:bodyPr>
          <a:lstStyle/>
          <a:p>
            <a:pPr marL="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解决问题：单点修改</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区间查询</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a:p>
            <a:pPr marL="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建立</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c[]</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，其中</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C[</a:t>
            </a:r>
            <a:r>
              <a:rPr kumimoji="0" lang="en-US" altLang="zh-CN" sz="2400" b="1" i="0" u="none" strike="noStrike" kern="100" cap="none" spc="0" normalizeH="0" baseline="0" noProof="0" dirty="0" err="1">
                <a:ln>
                  <a:noFill/>
                </a:ln>
                <a:solidFill>
                  <a:srgbClr val="014B88"/>
                </a:solidFill>
                <a:effectLst/>
                <a:uLnTx/>
                <a:uFillTx/>
                <a:latin typeface="等线"/>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]=a[i-2</a:t>
            </a:r>
            <a:r>
              <a:rPr kumimoji="0" lang="en-US" altLang="zh-CN" sz="2400" b="1" i="0" u="none" strike="noStrike" kern="100" cap="none" spc="0" normalizeH="0" baseline="30000" noProof="0" dirty="0">
                <a:ln>
                  <a:noFill/>
                </a:ln>
                <a:solidFill>
                  <a:srgbClr val="014B88"/>
                </a:solidFill>
                <a:effectLst/>
                <a:uLnTx/>
                <a:uFillTx/>
                <a:latin typeface="等线"/>
                <a:ea typeface="等线" panose="02010600030101010101" pitchFamily="2" charset="-122"/>
                <a:cs typeface="Times New Roman" panose="02020603050405020304" pitchFamily="18" charset="0"/>
              </a:rPr>
              <a:t>k</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+1]+……+a[</a:t>
            </a:r>
            <a:r>
              <a:rPr kumimoji="0" lang="en-US" altLang="zh-CN" sz="2400" b="1" i="0" u="none" strike="noStrike" kern="100" cap="none" spc="0" normalizeH="0" baseline="0" noProof="0" dirty="0" err="1">
                <a:ln>
                  <a:noFill/>
                </a:ln>
                <a:solidFill>
                  <a:srgbClr val="014B88"/>
                </a:solidFill>
                <a:effectLst/>
                <a:uLnTx/>
                <a:uFillTx/>
                <a:latin typeface="等线"/>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](k</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为</a:t>
            </a:r>
            <a:r>
              <a:rPr kumimoji="0" lang="en-US" altLang="zh-CN" sz="2400" b="1" i="0" u="none" strike="noStrike" kern="100" cap="none" spc="0" normalizeH="0" baseline="0" noProof="0" dirty="0" err="1">
                <a:ln>
                  <a:noFill/>
                </a:ln>
                <a:solidFill>
                  <a:srgbClr val="014B88"/>
                </a:solidFill>
                <a:effectLst/>
                <a:uLnTx/>
                <a:uFillTx/>
                <a:latin typeface="等线"/>
                <a:ea typeface="等线" panose="02010600030101010101" pitchFamily="2" charset="-122"/>
                <a:cs typeface="Times New Roman" panose="02020603050405020304" pitchFamily="18" charset="0"/>
              </a:rPr>
              <a:t>i</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在二进制形式下末尾</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0</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的个数</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a:t>
            </a:r>
          </a:p>
          <a:p>
            <a:pPr marL="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例如：</a:t>
            </a:r>
          </a:p>
          <a:p>
            <a:pPr marL="914400" marR="0" lvl="2"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c[1]=a[1]</a:t>
            </a:r>
          </a:p>
          <a:p>
            <a:pPr marL="914400" marR="0" lvl="2"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c[2]=a[1]+a[2]=c[1]+a[2]</a:t>
            </a:r>
          </a:p>
          <a:p>
            <a:pPr marL="914400" marR="0" lvl="2"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c[3]=a[3]</a:t>
            </a:r>
          </a:p>
          <a:p>
            <a:pPr marL="914400" marR="0" lvl="2"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c[4]=a[1]+a[2]+a[3]+a[4]=c[2]+c[3]+a[4]</a:t>
            </a:r>
          </a:p>
          <a:p>
            <a:pPr marL="914400" marR="0" lvl="2"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c[5]=a[5]</a:t>
            </a:r>
          </a:p>
          <a:p>
            <a:pPr marL="914400" marR="0" lvl="2"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c[6]=a[5]+a[6]=c[5]+a[6]</a:t>
            </a:r>
          </a:p>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638977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5D1560-F990-4D94-AB41-8E0F374D0743}"/>
              </a:ext>
            </a:extLst>
          </p:cNvPr>
          <p:cNvSpPr/>
          <p:nvPr/>
        </p:nvSpPr>
        <p:spPr>
          <a:xfrm>
            <a:off x="452581" y="4549615"/>
            <a:ext cx="3509818" cy="2031325"/>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void</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DCDCAA"/>
                </a:solidFill>
                <a:effectLst/>
                <a:uLnTx/>
                <a:uFillTx/>
                <a:latin typeface="Consolas" panose="020B0609020204030204" pitchFamily="49" charset="0"/>
                <a:ea typeface="等线" panose="02010600030101010101" pitchFamily="2" charset="-122"/>
                <a:cs typeface="+mn-cs"/>
              </a:rPr>
              <a:t>update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int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err="1">
                <a:ln>
                  <a:noFill/>
                </a:ln>
                <a:solidFill>
                  <a:srgbClr val="569CD6"/>
                </a:solidFill>
                <a:effectLst/>
                <a:uLnTx/>
                <a:uFillTx/>
                <a:latin typeface="Consolas" panose="020B0609020204030204" pitchFamily="49" charset="0"/>
                <a:ea typeface="等线" panose="02010600030101010101" pitchFamily="2" charset="-122"/>
                <a:cs typeface="+mn-cs"/>
              </a:rPr>
              <a:t>int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d</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rPr>
              <a:t>    //x</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rPr>
              <a:t>位置增加</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rPr>
              <a:t>d</a:t>
            </a:r>
            <a:endPar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等线" panose="02010600030101010101" pitchFamily="2" charset="-122"/>
                <a:cs typeface="+mn-cs"/>
              </a:rPr>
              <a:t>while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&lt;=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MAXN</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c</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d</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 </a:t>
            </a:r>
            <a:r>
              <a:rPr kumimoji="0" lang="en-US" altLang="zh-CN" sz="1800" b="0" i="0" u="none" strike="noStrike" kern="1200" cap="none" spc="0" normalizeH="0" baseline="0" noProof="0" dirty="0" err="1">
                <a:ln>
                  <a:noFill/>
                </a:ln>
                <a:solidFill>
                  <a:srgbClr val="569CD6"/>
                </a:solidFill>
                <a:effectLst/>
                <a:uLnTx/>
                <a:uFillTx/>
                <a:latin typeface="Consolas" panose="020B0609020204030204" pitchFamily="49" charset="0"/>
                <a:ea typeface="等线" panose="02010600030101010101" pitchFamily="2" charset="-122"/>
                <a:cs typeface="+mn-cs"/>
              </a:rPr>
              <a:t>lowbit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p:txBody>
      </p:sp>
      <p:sp>
        <p:nvSpPr>
          <p:cNvPr id="3" name="矩形 2">
            <a:extLst>
              <a:ext uri="{FF2B5EF4-FFF2-40B4-BE49-F238E27FC236}">
                <a16:creationId xmlns:a16="http://schemas.microsoft.com/office/drawing/2014/main" id="{6D1B12BD-2094-400D-B784-5C6A8EE84814}"/>
              </a:ext>
            </a:extLst>
          </p:cNvPr>
          <p:cNvSpPr/>
          <p:nvPr/>
        </p:nvSpPr>
        <p:spPr>
          <a:xfrm>
            <a:off x="8026400" y="5380611"/>
            <a:ext cx="3934691" cy="1200329"/>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altLang="zh-CN"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rPr>
              <a:t>c</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rPr>
              <a:t>数组初始化</a:t>
            </a:r>
            <a:endParaRPr kumimoji="0" lang="nn-NO" altLang="zh-CN"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altLang="zh-CN" sz="1800" b="0" i="0" u="none" strike="noStrike" kern="1200" cap="none" spc="0" normalizeH="0" baseline="0" noProof="0" dirty="0">
                <a:ln>
                  <a:noFill/>
                </a:ln>
                <a:solidFill>
                  <a:srgbClr val="C586C0"/>
                </a:solidFill>
                <a:effectLst/>
                <a:uLnTx/>
                <a:uFillTx/>
                <a:latin typeface="Consolas" panose="020B0609020204030204" pitchFamily="49" charset="0"/>
                <a:ea typeface="等线" panose="02010600030101010101" pitchFamily="2" charset="-122"/>
                <a:cs typeface="+mn-cs"/>
              </a:rPr>
              <a:t>for</a:t>
            </a:r>
            <a:r>
              <a:rPr kumimoji="0" lang="nn-NO"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nn-NO"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int</a:t>
            </a:r>
            <a:r>
              <a:rPr kumimoji="0" lang="nn-NO"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i = </a:t>
            </a:r>
            <a:r>
              <a:rPr kumimoji="0" lang="nn-NO" altLang="zh-CN" sz="1800" b="0" i="0" u="none" strike="noStrike" kern="1200" cap="none" spc="0" normalizeH="0" baseline="0" noProof="0" dirty="0">
                <a:ln>
                  <a:noFill/>
                </a:ln>
                <a:solidFill>
                  <a:srgbClr val="B5CEA8"/>
                </a:solidFill>
                <a:effectLst/>
                <a:uLnTx/>
                <a:uFillTx/>
                <a:latin typeface="Consolas" panose="020B0609020204030204" pitchFamily="49" charset="0"/>
                <a:ea typeface="等线" panose="02010600030101010101" pitchFamily="2" charset="-122"/>
                <a:cs typeface="+mn-cs"/>
              </a:rPr>
              <a:t>1</a:t>
            </a:r>
            <a:r>
              <a:rPr kumimoji="0" lang="nn-NO"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i &lt;= N; ++i)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nn-NO" altLang="zh-CN" sz="1800" b="0" i="0" u="none" strike="noStrike" kern="1200" cap="none" spc="0" normalizeH="0" baseline="0" noProof="0" dirty="0">
                <a:ln>
                  <a:noFill/>
                </a:ln>
                <a:solidFill>
                  <a:srgbClr val="DCDCAA"/>
                </a:solidFill>
                <a:effectLst/>
                <a:uLnTx/>
                <a:uFillTx/>
                <a:latin typeface="Consolas" panose="020B0609020204030204" pitchFamily="49" charset="0"/>
                <a:ea typeface="等线" panose="02010600030101010101" pitchFamily="2" charset="-122"/>
                <a:cs typeface="+mn-cs"/>
              </a:rPr>
              <a:t>update</a:t>
            </a:r>
            <a:r>
              <a:rPr kumimoji="0" lang="nn-NO"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(i,</a:t>
            </a:r>
            <a:r>
              <a:rPr kumimoji="0" lang="nn-NO"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a</a:t>
            </a:r>
            <a:r>
              <a:rPr kumimoji="0" lang="nn-NO"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p:txBody>
      </p:sp>
      <p:sp>
        <p:nvSpPr>
          <p:cNvPr id="4" name="矩形 3">
            <a:extLst>
              <a:ext uri="{FF2B5EF4-FFF2-40B4-BE49-F238E27FC236}">
                <a16:creationId xmlns:a16="http://schemas.microsoft.com/office/drawing/2014/main" id="{31B4F15A-0B45-4DDB-A082-7470905D2FAC}"/>
              </a:ext>
            </a:extLst>
          </p:cNvPr>
          <p:cNvSpPr/>
          <p:nvPr/>
        </p:nvSpPr>
        <p:spPr>
          <a:xfrm>
            <a:off x="4239490" y="3995617"/>
            <a:ext cx="3509818" cy="2585323"/>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int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DCDCAA"/>
                </a:solidFill>
                <a:effectLst/>
                <a:uLnTx/>
                <a:uFillTx/>
                <a:latin typeface="Consolas" panose="020B0609020204030204" pitchFamily="49" charset="0"/>
                <a:ea typeface="等线" panose="02010600030101010101" pitchFamily="2" charset="-122"/>
                <a:cs typeface="+mn-cs"/>
              </a:rPr>
              <a:t>sum</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int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rPr>
              <a:t>    //</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等线" panose="02010600030101010101" pitchFamily="2" charset="-122"/>
                <a:cs typeface="+mn-cs"/>
              </a:rPr>
              <a:t>求前缀和</a:t>
            </a:r>
            <a:endPar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int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等线" panose="02010600030101010101" pitchFamily="2" charset="-122"/>
                <a:cs typeface="+mn-cs"/>
              </a:rPr>
              <a:t>ans</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 </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等线" panose="02010600030101010101" pitchFamily="2" charset="-122"/>
                <a:cs typeface="+mn-cs"/>
              </a:rPr>
              <a:t>0</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等线" panose="02010600030101010101" pitchFamily="2" charset="-122"/>
                <a:cs typeface="+mn-cs"/>
              </a:rPr>
              <a:t>while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&gt; </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等线" panose="02010600030101010101" pitchFamily="2" charset="-122"/>
                <a:cs typeface="+mn-cs"/>
              </a:rPr>
              <a:t>0</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等线" panose="02010600030101010101" pitchFamily="2" charset="-122"/>
                <a:cs typeface="+mn-cs"/>
              </a:rPr>
              <a:t>ans</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c</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 </a:t>
            </a:r>
            <a:r>
              <a:rPr kumimoji="0" lang="en-US" altLang="zh-CN" sz="1800" b="0" i="0" u="none" strike="noStrike" kern="1200" cap="none" spc="0" normalizeH="0" baseline="0" noProof="0" dirty="0" err="1">
                <a:ln>
                  <a:noFill/>
                </a:ln>
                <a:solidFill>
                  <a:srgbClr val="569CD6"/>
                </a:solidFill>
                <a:effectLst/>
                <a:uLnTx/>
                <a:uFillTx/>
                <a:latin typeface="Consolas" panose="020B0609020204030204" pitchFamily="49" charset="0"/>
                <a:ea typeface="等线" panose="02010600030101010101" pitchFamily="2" charset="-122"/>
                <a:cs typeface="+mn-cs"/>
              </a:rPr>
              <a:t>lowbit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等线" panose="02010600030101010101" pitchFamily="2" charset="-122"/>
                <a:cs typeface="+mn-cs"/>
              </a:rPr>
              <a:t>return</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等线" panose="02010600030101010101" pitchFamily="2" charset="-122"/>
                <a:cs typeface="+mn-cs"/>
              </a:rPr>
              <a:t>ans</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t>
            </a:r>
          </a:p>
        </p:txBody>
      </p:sp>
      <p:sp>
        <p:nvSpPr>
          <p:cNvPr id="5" name="TextBox 36">
            <a:extLst>
              <a:ext uri="{FF2B5EF4-FFF2-40B4-BE49-F238E27FC236}">
                <a16:creationId xmlns:a16="http://schemas.microsoft.com/office/drawing/2014/main" id="{9FCC7C31-E779-4249-8D4D-1517A73F83F7}"/>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树状数组</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FFA9A4DC-AF39-48CD-AEDD-FA0EAB032D4C}"/>
              </a:ext>
            </a:extLst>
          </p:cNvPr>
          <p:cNvSpPr/>
          <p:nvPr/>
        </p:nvSpPr>
        <p:spPr>
          <a:xfrm>
            <a:off x="572655" y="812655"/>
            <a:ext cx="11166764" cy="2944524"/>
          </a:xfrm>
          <a:prstGeom prst="rect">
            <a:avLst/>
          </a:prstGeom>
        </p:spPr>
        <p:txBody>
          <a:bodyPr wrap="square">
            <a:spAutoFit/>
          </a:bodyPr>
          <a:lstStyle/>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等线"/>
                <a:ea typeface="等线" panose="02010600030101010101" pitchFamily="2" charset="-122"/>
                <a:cs typeface="Times New Roman" panose="02020603050405020304" pitchFamily="18" charset="0"/>
              </a:rPr>
              <a:t>lowbit</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(x)</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操作：计算</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x</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的二进制表示最后一个</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所表示的数。</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a:p>
            <a:pPr marL="1371600" marR="0" lvl="3"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如</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的二进制为</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100</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，最后一个</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表示的是</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100</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等线"/>
                <a:ea typeface="等线" panose="02010600030101010101" pitchFamily="2" charset="-122"/>
                <a:cs typeface="Times New Roman" panose="02020603050405020304" pitchFamily="18" charset="0"/>
              </a:rPr>
              <a:t>lowbit</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(4) = 4</a:t>
            </a:r>
          </a:p>
          <a:p>
            <a:pPr marL="1371600" marR="0" lvl="3"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5</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的二进制为</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101</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，最后一个</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表示的是</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等线"/>
                <a:ea typeface="等线" panose="02010600030101010101" pitchFamily="2" charset="-122"/>
                <a:cs typeface="Times New Roman" panose="02020603050405020304" pitchFamily="18" charset="0"/>
              </a:rPr>
              <a:t>lowbit</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(5) = 1</a:t>
            </a:r>
          </a:p>
          <a:p>
            <a:pPr marL="1371600" marR="0" lvl="3"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6</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的二进制为</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110</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，最后一个</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表示的是</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10</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等线"/>
                <a:ea typeface="等线" panose="02010600030101010101" pitchFamily="2" charset="-122"/>
                <a:cs typeface="Times New Roman" panose="02020603050405020304" pitchFamily="18" charset="0"/>
              </a:rPr>
              <a:t>lowbit</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(6) = 2</a:t>
            </a:r>
          </a:p>
        </p:txBody>
      </p:sp>
      <p:sp>
        <p:nvSpPr>
          <p:cNvPr id="7" name="矩形 6">
            <a:extLst>
              <a:ext uri="{FF2B5EF4-FFF2-40B4-BE49-F238E27FC236}">
                <a16:creationId xmlns:a16="http://schemas.microsoft.com/office/drawing/2014/main" id="{C9B66A9A-1823-4345-92E1-80D0F48854E1}"/>
              </a:ext>
            </a:extLst>
          </p:cNvPr>
          <p:cNvSpPr/>
          <p:nvPr/>
        </p:nvSpPr>
        <p:spPr>
          <a:xfrm>
            <a:off x="334800" y="4064768"/>
            <a:ext cx="3730508" cy="369332"/>
          </a:xfrm>
          <a:prstGeom prst="rect">
            <a:avLst/>
          </a:prstGeom>
          <a:solidFill>
            <a:schemeClr val="tx1"/>
          </a:solid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等线" panose="02010600030101010101" pitchFamily="2" charset="-122"/>
                <a:cs typeface="+mn-cs"/>
              </a:rPr>
              <a:t>#define</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 </a:t>
            </a:r>
            <a:r>
              <a:rPr kumimoji="0" lang="en-US" altLang="zh-CN" sz="1800" b="0" i="0" u="none" strike="noStrike" kern="1200" cap="none" spc="0" normalizeH="0" baseline="0" noProof="0" dirty="0" err="1">
                <a:ln>
                  <a:noFill/>
                </a:ln>
                <a:solidFill>
                  <a:srgbClr val="569CD6"/>
                </a:solidFill>
                <a:effectLst/>
                <a:uLnTx/>
                <a:uFillTx/>
                <a:latin typeface="Consolas" panose="020B0609020204030204" pitchFamily="49" charset="0"/>
                <a:ea typeface="等线" panose="02010600030101010101" pitchFamily="2" charset="-122"/>
                <a:cs typeface="+mn-cs"/>
              </a:rPr>
              <a:t>lowbit</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等线" panose="02010600030101010101" pitchFamily="2" charset="-122"/>
                <a:cs typeface="+mn-cs"/>
              </a:rPr>
              <a:t>x</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 ((x)</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rPr>
              <a:t>&amp;-</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等线" panose="02010600030101010101" pitchFamily="2" charset="-122"/>
                <a:cs typeface="+mn-cs"/>
              </a:rPr>
              <a:t>(x))</a:t>
            </a:r>
            <a:endPar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等线" panose="02010600030101010101" pitchFamily="2" charset="-122"/>
              <a:cs typeface="+mn-cs"/>
            </a:endParaRPr>
          </a:p>
        </p:txBody>
      </p:sp>
    </p:spTree>
    <p:extLst>
      <p:ext uri="{BB962C8B-B14F-4D97-AF65-F5344CB8AC3E}">
        <p14:creationId xmlns:p14="http://schemas.microsoft.com/office/powerpoint/2010/main" val="197958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A9EED11E-8A7F-4FB5-B462-046B1D7151C4}"/>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线段树</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A0D708C1-ECA2-4957-A61E-2A370C31EABB}"/>
              </a:ext>
            </a:extLst>
          </p:cNvPr>
          <p:cNvSpPr/>
          <p:nvPr/>
        </p:nvSpPr>
        <p:spPr>
          <a:xfrm>
            <a:off x="572655" y="812655"/>
            <a:ext cx="9171709" cy="2944524"/>
          </a:xfrm>
          <a:prstGeom prst="rect">
            <a:avLst/>
          </a:prstGeom>
        </p:spPr>
        <p:txBody>
          <a:bodyPr wrap="square">
            <a:spAutoFit/>
          </a:bodyPr>
          <a:lstStyle/>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分治思想的应用：大区间的解可由小区间合并而来</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基于二叉树结构</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使用</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Lazy-Tag</a:t>
            </a: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技术进行懒操作</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E338988F-222D-4199-B256-9FDE00B8D012}"/>
              </a:ext>
            </a:extLst>
          </p:cNvPr>
          <p:cNvSpPr txBox="1"/>
          <p:nvPr/>
        </p:nvSpPr>
        <p:spPr>
          <a:xfrm>
            <a:off x="594360" y="4073236"/>
            <a:ext cx="11003280" cy="2205860"/>
          </a:xfrm>
          <a:prstGeom prst="rect">
            <a:avLst/>
          </a:prstGeom>
          <a:noFill/>
        </p:spPr>
        <p:txBody>
          <a:bodyPr wrap="square" rtlCol="0">
            <a:spAutoFit/>
          </a:bodyPr>
          <a:lstStyle/>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自顶向下建立，每次分治，左右子树各一半</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每个节点表示一个线段区间，叶子节点只包含一个元素</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除了最后一层，其他层都是满的。</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28440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A9EED11E-8A7F-4FB5-B462-046B1D7151C4}"/>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线段树</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7" name="矩形 6">
            <a:extLst>
              <a:ext uri="{FF2B5EF4-FFF2-40B4-BE49-F238E27FC236}">
                <a16:creationId xmlns:a16="http://schemas.microsoft.com/office/drawing/2014/main" id="{18866CB5-9CF0-4FCC-8FE5-03C620EA3843}"/>
              </a:ext>
            </a:extLst>
          </p:cNvPr>
          <p:cNvSpPr/>
          <p:nvPr/>
        </p:nvSpPr>
        <p:spPr>
          <a:xfrm>
            <a:off x="572655" y="812655"/>
            <a:ext cx="3670871" cy="1467197"/>
          </a:xfrm>
          <a:prstGeom prst="rect">
            <a:avLst/>
          </a:prstGeom>
        </p:spPr>
        <p:txBody>
          <a:bodyPr wrap="square">
            <a:spAutoFit/>
          </a:bodyPr>
          <a:lstStyle/>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查询区间最值</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查询区间和</a:t>
            </a:r>
            <a:endPar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endParaRPr>
          </a:p>
        </p:txBody>
      </p:sp>
      <p:sp>
        <p:nvSpPr>
          <p:cNvPr id="3" name="矩形 2">
            <a:extLst>
              <a:ext uri="{FF2B5EF4-FFF2-40B4-BE49-F238E27FC236}">
                <a16:creationId xmlns:a16="http://schemas.microsoft.com/office/drawing/2014/main" id="{F58F23D5-B94A-493A-937E-C65EABE4F88C}"/>
              </a:ext>
            </a:extLst>
          </p:cNvPr>
          <p:cNvSpPr/>
          <p:nvPr/>
        </p:nvSpPr>
        <p:spPr>
          <a:xfrm>
            <a:off x="4397364" y="1466754"/>
            <a:ext cx="4533613" cy="728533"/>
          </a:xfrm>
          <a:prstGeom prst="rect">
            <a:avLst/>
          </a:prstGeom>
        </p:spPr>
        <p:txBody>
          <a:bodyPr wrap="none">
            <a:spAutoFit/>
          </a:bodyPr>
          <a:lstStyle/>
          <a:p>
            <a:pPr marL="9144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例子</a:t>
            </a:r>
            <a:r>
              <a:rPr kumimoji="0" lang="en-US" altLang="zh-CN" sz="2400" b="1" i="0" u="none" strike="noStrike" kern="100" cap="none" spc="0" normalizeH="0" baseline="0" noProof="0" dirty="0">
                <a:ln>
                  <a:noFill/>
                </a:ln>
                <a:solidFill>
                  <a:srgbClr val="014B88"/>
                </a:solidFill>
                <a:effectLst/>
                <a:uLnTx/>
                <a:uFillTx/>
                <a:latin typeface="等线"/>
                <a:ea typeface="等线" panose="02010600030101010101" pitchFamily="2" charset="-122"/>
                <a:cs typeface="Times New Roman" panose="02020603050405020304" pitchFamily="18" charset="0"/>
              </a:rPr>
              <a:t>: 1 7 6 8 3 10 8 6 5 9</a:t>
            </a:r>
          </a:p>
        </p:txBody>
      </p:sp>
    </p:spTree>
    <p:extLst>
      <p:ext uri="{BB962C8B-B14F-4D97-AF65-F5344CB8AC3E}">
        <p14:creationId xmlns:p14="http://schemas.microsoft.com/office/powerpoint/2010/main" val="997158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46567" y="636022"/>
            <a:ext cx="236853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基础数学</a:t>
            </a:r>
          </a:p>
        </p:txBody>
      </p:sp>
      <p:sp>
        <p:nvSpPr>
          <p:cNvPr id="15" name="内容占位符 2"/>
          <p:cNvSpPr txBox="1"/>
          <p:nvPr/>
        </p:nvSpPr>
        <p:spPr>
          <a:xfrm>
            <a:off x="3346129" y="1343908"/>
            <a:ext cx="739863" cy="1023029"/>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en-US" altLang="zh-CN"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905491" y="1343908"/>
            <a:ext cx="6084916" cy="5151538"/>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质数和约数</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筛质数（朴素筛、埃氏筛、线性筛）</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约数个数及约数和</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欧几里得定理（辗转相除）</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扩展欧几里得</a:t>
            </a:r>
            <a:endParaRPr kumimoji="0" lang="en-US" altLang="zh-CN"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欧拉函数</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容斥原理</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a:xfrm>
            <a:off x="7484728" y="1343908"/>
            <a:ext cx="3546262" cy="5151538"/>
          </a:xfrm>
          <a:prstGeom prst="rect">
            <a:avLst/>
          </a:prstGeom>
        </p:spPr>
        <p:txBody>
          <a:bodyPr wrap="square">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欧拉定理</a:t>
            </a:r>
            <a:endParaRPr kumimoji="0" lang="en-US" altLang="zh-CN"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费马小定理</a:t>
            </a:r>
            <a:endParaRPr kumimoji="0" lang="en-US" altLang="zh-CN"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快速幂</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中国剩余定理</a:t>
            </a:r>
            <a:endParaRPr kumimoji="0" lang="en-US" altLang="zh-CN"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鸽巢原理</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简单博弈论</a:t>
            </a:r>
            <a:endParaRPr kumimoji="0" lang="en-US" altLang="zh-CN"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母函数</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4294967295"/>
          </p:nvPr>
        </p:nvSpPr>
        <p:spPr>
          <a:xfrm>
            <a:off x="159798" y="1177555"/>
            <a:ext cx="11684480" cy="5597318"/>
          </a:xfrm>
        </p:spPr>
        <p:txBody>
          <a:bodyPr vert="horz" wrap="square" anchor="t">
            <a:normAutofit fontScale="92500"/>
          </a:bodyPr>
          <a:lstStyle/>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定义：在大于</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的整数中，如果只包含</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和它本身两个约数，那么该整数可以被称为质数（素数）。</a:t>
            </a:r>
            <a:endParaRPr lang="en-US" altLang="zh-CN" b="1" kern="100" noProof="1">
              <a:solidFill>
                <a:srgbClr val="014B88"/>
              </a:solidFill>
              <a:latin typeface="仿宋_GB2312"/>
              <a:cs typeface="Times New Roman" panose="02020603050405020304" pitchFamily="18" charset="0"/>
            </a:endParaRPr>
          </a:p>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质数的判定：</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试除法</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暴力枚举：从</a:t>
            </a:r>
            <a:r>
              <a:rPr lang="en-US" altLang="zh-CN" b="1" kern="100" noProof="1">
                <a:solidFill>
                  <a:srgbClr val="014B88"/>
                </a:solidFill>
                <a:latin typeface="仿宋_GB2312"/>
                <a:cs typeface="Times New Roman" panose="02020603050405020304" pitchFamily="18" charset="0"/>
              </a:rPr>
              <a:t>2</a:t>
            </a:r>
            <a:r>
              <a:rPr lang="zh-CN" altLang="en-US" b="1" kern="100" noProof="1">
                <a:solidFill>
                  <a:srgbClr val="014B88"/>
                </a:solidFill>
                <a:latin typeface="仿宋_GB2312"/>
                <a:cs typeface="Times New Roman" panose="02020603050405020304" pitchFamily="18" charset="0"/>
              </a:rPr>
              <a:t>枚举到</a:t>
            </a:r>
            <a:r>
              <a:rPr lang="en-US" altLang="zh-CN" b="1" kern="100" noProof="1">
                <a:solidFill>
                  <a:srgbClr val="014B88"/>
                </a:solidFill>
                <a:latin typeface="仿宋_GB2312"/>
                <a:cs typeface="Times New Roman" panose="02020603050405020304" pitchFamily="18" charset="0"/>
              </a:rPr>
              <a:t>n-1</a:t>
            </a:r>
            <a:r>
              <a:rPr lang="zh-CN" altLang="en-US" b="1" kern="100" noProof="1">
                <a:solidFill>
                  <a:srgbClr val="014B88"/>
                </a:solidFill>
                <a:latin typeface="仿宋_GB2312"/>
                <a:cs typeface="Times New Roman" panose="02020603050405020304" pitchFamily="18" charset="0"/>
              </a:rPr>
              <a:t>，判断是否可整除</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优化：如果</a:t>
            </a:r>
            <a:r>
              <a:rPr lang="en-US" altLang="zh-CN" b="1" kern="100" noProof="1">
                <a:solidFill>
                  <a:srgbClr val="014B88"/>
                </a:solidFill>
                <a:latin typeface="仿宋_GB2312"/>
                <a:cs typeface="Times New Roman" panose="02020603050405020304" pitchFamily="18" charset="0"/>
              </a:rPr>
              <a:t>d</a:t>
            </a:r>
            <a:r>
              <a:rPr lang="zh-CN" altLang="en-US" b="1" kern="100" noProof="1">
                <a:solidFill>
                  <a:srgbClr val="014B88"/>
                </a:solidFill>
                <a:latin typeface="仿宋_GB2312"/>
                <a:cs typeface="Times New Roman" panose="02020603050405020304" pitchFamily="18" charset="0"/>
              </a:rPr>
              <a:t>是</a:t>
            </a:r>
            <a:r>
              <a:rPr lang="en-US" altLang="zh-CN" b="1" kern="100" noProof="1">
                <a:solidFill>
                  <a:srgbClr val="014B88"/>
                </a:solidFill>
                <a:latin typeface="仿宋_GB2312"/>
                <a:cs typeface="Times New Roman" panose="02020603050405020304" pitchFamily="18" charset="0"/>
              </a:rPr>
              <a:t>n</a:t>
            </a:r>
            <a:r>
              <a:rPr lang="zh-CN" altLang="en-US" b="1" kern="100" noProof="1">
                <a:solidFill>
                  <a:srgbClr val="014B88"/>
                </a:solidFill>
                <a:latin typeface="仿宋_GB2312"/>
                <a:cs typeface="Times New Roman" panose="02020603050405020304" pitchFamily="18" charset="0"/>
              </a:rPr>
              <a:t>的约数，那么</a:t>
            </a:r>
            <a:r>
              <a:rPr lang="en-US" altLang="zh-CN" b="1" kern="100" noProof="1">
                <a:solidFill>
                  <a:srgbClr val="014B88"/>
                </a:solidFill>
                <a:latin typeface="仿宋_GB2312"/>
                <a:cs typeface="Times New Roman" panose="02020603050405020304" pitchFamily="18" charset="0"/>
              </a:rPr>
              <a:t>n/d</a:t>
            </a:r>
            <a:r>
              <a:rPr lang="zh-CN" altLang="en-US" b="1" kern="100" noProof="1">
                <a:solidFill>
                  <a:srgbClr val="014B88"/>
                </a:solidFill>
                <a:latin typeface="仿宋_GB2312"/>
                <a:cs typeface="Times New Roman" panose="02020603050405020304" pitchFamily="18" charset="0"/>
              </a:rPr>
              <a:t>也是</a:t>
            </a:r>
            <a:r>
              <a:rPr lang="en-US" altLang="zh-CN" b="1" kern="100" noProof="1">
                <a:solidFill>
                  <a:srgbClr val="014B88"/>
                </a:solidFill>
                <a:latin typeface="仿宋_GB2312"/>
                <a:cs typeface="Times New Roman" panose="02020603050405020304" pitchFamily="18" charset="0"/>
              </a:rPr>
              <a:t>n</a:t>
            </a:r>
            <a:r>
              <a:rPr lang="zh-CN" altLang="en-US" b="1" kern="100" noProof="1">
                <a:solidFill>
                  <a:srgbClr val="014B88"/>
                </a:solidFill>
                <a:latin typeface="仿宋_GB2312"/>
                <a:cs typeface="Times New Roman" panose="02020603050405020304" pitchFamily="18" charset="0"/>
              </a:rPr>
              <a:t>的约数，都是成对出现的，每一对找到一个就行，只需找到满足</a:t>
            </a:r>
            <a:r>
              <a:rPr lang="en-US" altLang="zh-CN" b="1" kern="100" noProof="1">
                <a:solidFill>
                  <a:srgbClr val="014B88"/>
                </a:solidFill>
                <a:latin typeface="仿宋_GB2312"/>
                <a:cs typeface="Times New Roman" panose="02020603050405020304" pitchFamily="18" charset="0"/>
              </a:rPr>
              <a:t>d&lt;=n/d</a:t>
            </a:r>
            <a:r>
              <a:rPr lang="zh-CN" altLang="en-US" b="1" kern="100" noProof="1">
                <a:solidFill>
                  <a:srgbClr val="014B88"/>
                </a:solidFill>
                <a:latin typeface="仿宋_GB2312"/>
                <a:cs typeface="Times New Roman" panose="02020603050405020304" pitchFamily="18" charset="0"/>
              </a:rPr>
              <a:t>的数即可，所以只需要枚举到</a:t>
            </a:r>
            <a:r>
              <a:rPr lang="en-US" altLang="zh-CN" b="1" kern="100" noProof="1">
                <a:solidFill>
                  <a:srgbClr val="014B88"/>
                </a:solidFill>
                <a:latin typeface="仿宋_GB2312"/>
                <a:cs typeface="Times New Roman" panose="02020603050405020304" pitchFamily="18" charset="0"/>
              </a:rPr>
              <a:t>sqrt(n)</a:t>
            </a:r>
            <a:r>
              <a:rPr lang="zh-CN" altLang="en-US" b="1" kern="100" noProof="1">
                <a:solidFill>
                  <a:srgbClr val="014B88"/>
                </a:solidFill>
                <a:latin typeface="仿宋_GB2312"/>
                <a:cs typeface="Times New Roman" panose="02020603050405020304" pitchFamily="18" charset="0"/>
              </a:rPr>
              <a:t>即可判定，具体实现的时候可以写</a:t>
            </a:r>
            <a:r>
              <a:rPr lang="en-US" altLang="zh-CN" b="1" kern="100" noProof="1">
                <a:solidFill>
                  <a:srgbClr val="014B88"/>
                </a:solidFill>
                <a:latin typeface="仿宋_GB2312"/>
                <a:cs typeface="Times New Roman" panose="02020603050405020304" pitchFamily="18" charset="0"/>
              </a:rPr>
              <a:t>i*i&lt;=n</a:t>
            </a:r>
            <a:r>
              <a:rPr lang="zh-CN" altLang="en-US" b="1" kern="100" noProof="1">
                <a:solidFill>
                  <a:srgbClr val="014B88"/>
                </a:solidFill>
                <a:latin typeface="仿宋_GB2312"/>
                <a:cs typeface="Times New Roman" panose="02020603050405020304" pitchFamily="18" charset="0"/>
              </a:rPr>
              <a:t>（写</a:t>
            </a:r>
            <a:r>
              <a:rPr lang="en-US" altLang="zh-CN" b="1" kern="100" noProof="1">
                <a:solidFill>
                  <a:srgbClr val="014B88"/>
                </a:solidFill>
                <a:latin typeface="仿宋_GB2312"/>
                <a:cs typeface="Times New Roman" panose="02020603050405020304" pitchFamily="18" charset="0"/>
              </a:rPr>
              <a:t>i&lt;=sqrt(n)</a:t>
            </a:r>
            <a:r>
              <a:rPr lang="zh-CN" altLang="en-US" b="1" kern="100" noProof="1">
                <a:solidFill>
                  <a:srgbClr val="014B88"/>
                </a:solidFill>
                <a:latin typeface="仿宋_GB2312"/>
                <a:cs typeface="Times New Roman" panose="02020603050405020304" pitchFamily="18" charset="0"/>
              </a:rPr>
              <a:t>的话每次都计算开方，比较慢），另外如果为了防止超出数的表示范围，可以写</a:t>
            </a:r>
            <a:r>
              <a:rPr lang="en-US" altLang="zh-CN" b="1" kern="100" noProof="1">
                <a:solidFill>
                  <a:srgbClr val="014B88"/>
                </a:solidFill>
                <a:latin typeface="仿宋_GB2312"/>
                <a:cs typeface="Times New Roman" panose="02020603050405020304" pitchFamily="18" charset="0"/>
              </a:rPr>
              <a:t>i&lt;=n/i</a:t>
            </a:r>
            <a:r>
              <a:rPr lang="zh-CN" altLang="en-US" b="1" kern="100" noProof="1">
                <a:solidFill>
                  <a:srgbClr val="014B88"/>
                </a:solidFill>
                <a:latin typeface="仿宋_GB2312"/>
                <a:cs typeface="Times New Roman" panose="02020603050405020304" pitchFamily="18" charset="0"/>
              </a:rPr>
              <a:t>即可（</a:t>
            </a:r>
            <a:r>
              <a:rPr lang="en-US" altLang="zh-CN" b="1" kern="100" noProof="1">
                <a:solidFill>
                  <a:srgbClr val="014B88"/>
                </a:solidFill>
                <a:latin typeface="仿宋_GB2312"/>
                <a:cs typeface="Times New Roman" panose="02020603050405020304" pitchFamily="18" charset="0"/>
              </a:rPr>
              <a:t>i</a:t>
            </a:r>
            <a:r>
              <a:rPr lang="zh-CN" altLang="en-US" b="1" kern="100" noProof="1">
                <a:solidFill>
                  <a:srgbClr val="014B88"/>
                </a:solidFill>
                <a:latin typeface="仿宋_GB2312"/>
                <a:cs typeface="Times New Roman" panose="02020603050405020304" pitchFamily="18" charset="0"/>
              </a:rPr>
              <a:t>为循环变量）。</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zh-CN" altLang="en-US" b="1" kern="100" noProof="1">
              <a:solidFill>
                <a:srgbClr val="014B88"/>
              </a:solidFill>
              <a:latin typeface="仿宋_GB2312"/>
              <a:cs typeface="Times New Roman" panose="02020603050405020304" pitchFamily="18" charset="0"/>
            </a:endParaRPr>
          </a:p>
        </p:txBody>
      </p:sp>
      <p:sp>
        <p:nvSpPr>
          <p:cNvPr id="3"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质数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5495" y="2845166"/>
            <a:ext cx="3695890" cy="1466925"/>
          </a:xfrm>
          <a:prstGeom prst="rect">
            <a:avLst/>
          </a:prstGeom>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animEffect transition="in" filter="fade">
                                      <p:cBhvr>
                                        <p:cTn id="7" dur="500"/>
                                        <p:tgtEl>
                                          <p:spTgt spid="6041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0419">
                                            <p:txEl>
                                              <p:pRg st="2" end="2"/>
                                            </p:txEl>
                                          </p:spTgt>
                                        </p:tgtEl>
                                        <p:attrNameLst>
                                          <p:attrName>style.visibility</p:attrName>
                                        </p:attrNameLst>
                                      </p:cBhvr>
                                      <p:to>
                                        <p:strVal val="visible"/>
                                      </p:to>
                                    </p:set>
                                    <p:animEffect transition="in" filter="fade">
                                      <p:cBhvr>
                                        <p:cTn id="10" dur="500"/>
                                        <p:tgtEl>
                                          <p:spTgt spid="6041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0419">
                                            <p:txEl>
                                              <p:pRg st="3" end="3"/>
                                            </p:txEl>
                                          </p:spTgt>
                                        </p:tgtEl>
                                        <p:attrNameLst>
                                          <p:attrName>style.visibility</p:attrName>
                                        </p:attrNameLst>
                                      </p:cBhvr>
                                      <p:to>
                                        <p:strVal val="visible"/>
                                      </p:to>
                                    </p:set>
                                    <p:animEffect transition="in" filter="fade">
                                      <p:cBhvr>
                                        <p:cTn id="13" dur="500"/>
                                        <p:tgtEl>
                                          <p:spTgt spid="6041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0419">
                                            <p:txEl>
                                              <p:pRg st="4" end="4"/>
                                            </p:txEl>
                                          </p:spTgt>
                                        </p:tgtEl>
                                        <p:attrNameLst>
                                          <p:attrName>style.visibility</p:attrName>
                                        </p:attrNameLst>
                                      </p:cBhvr>
                                      <p:to>
                                        <p:strVal val="visible"/>
                                      </p:to>
                                    </p:set>
                                    <p:animEffect transition="in" filter="fade">
                                      <p:cBhvr>
                                        <p:cTn id="16" dur="500"/>
                                        <p:tgtEl>
                                          <p:spTgt spid="60419">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4294967295"/>
          </p:nvPr>
        </p:nvSpPr>
        <p:spPr>
          <a:xfrm>
            <a:off x="159798" y="1177555"/>
            <a:ext cx="11684480" cy="5597318"/>
          </a:xfrm>
        </p:spPr>
        <p:txBody>
          <a:bodyPr vert="horz" wrap="square" anchor="t">
            <a:normAutofit/>
          </a:bodyPr>
          <a:lstStyle/>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所有大于</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的自然数都可以被完全分解成质数的乘积的形式。如上面的例子，</a:t>
            </a:r>
            <a:r>
              <a:rPr lang="en-US" altLang="zh-CN" b="1" kern="100" noProof="1">
                <a:solidFill>
                  <a:srgbClr val="014B88"/>
                </a:solidFill>
                <a:latin typeface="仿宋_GB2312"/>
                <a:cs typeface="Times New Roman" panose="02020603050405020304" pitchFamily="18" charset="0"/>
              </a:rPr>
              <a:t>12=2×6=2×2×3</a:t>
            </a:r>
            <a:r>
              <a:rPr lang="zh-CN" altLang="en-US" b="1" kern="100" noProof="1">
                <a:solidFill>
                  <a:srgbClr val="014B88"/>
                </a:solidFill>
                <a:latin typeface="仿宋_GB2312"/>
                <a:cs typeface="Times New Roman" panose="02020603050405020304" pitchFamily="18" charset="0"/>
              </a:rPr>
              <a:t>；或写成</a:t>
            </a:r>
            <a:r>
              <a:rPr lang="en-US" altLang="zh-CN" b="1" kern="100" noProof="1">
                <a:solidFill>
                  <a:srgbClr val="014B88"/>
                </a:solidFill>
                <a:latin typeface="仿宋_GB2312"/>
                <a:cs typeface="Times New Roman" panose="02020603050405020304" pitchFamily="18" charset="0"/>
              </a:rPr>
              <a:t>12=3×4=3×2×2</a:t>
            </a:r>
            <a:r>
              <a:rPr lang="zh-CN" altLang="en-US" b="1" kern="100" noProof="1">
                <a:solidFill>
                  <a:srgbClr val="014B88"/>
                </a:solidFill>
                <a:latin typeface="仿宋_GB2312"/>
                <a:cs typeface="Times New Roman" panose="02020603050405020304" pitchFamily="18" charset="0"/>
              </a:rPr>
              <a:t>；我们发现这两种分解方法都得到了同样的结果。这样无法再分解的数就是质数，或称素数。而那种可以继续分解的数就是合数。这是一个比较直观的定义。准确地说，质数是除去</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和它自身之外，再没有其他因数的正整数。因为</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的存在，任何正整数都可以写成</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乘以其自身。</a:t>
            </a:r>
            <a:endParaRPr lang="en-US" altLang="zh-CN" b="1" kern="100" noProof="1">
              <a:solidFill>
                <a:srgbClr val="014B88"/>
              </a:solidFill>
              <a:latin typeface="仿宋_GB2312"/>
              <a:cs typeface="Times New Roman" panose="02020603050405020304" pitchFamily="18" charset="0"/>
            </a:endParaRPr>
          </a:p>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每个大于</a:t>
            </a:r>
            <a:r>
              <a:rPr lang="en-US" altLang="zh-CN" b="1" kern="100" noProof="1">
                <a:solidFill>
                  <a:srgbClr val="014B88"/>
                </a:solidFill>
                <a:latin typeface="仿宋_GB2312"/>
                <a:cs typeface="Times New Roman" panose="02020603050405020304" pitchFamily="18" charset="0"/>
              </a:rPr>
              <a:t>1</a:t>
            </a:r>
            <a:r>
              <a:rPr lang="zh-CN" altLang="en-US" b="1" kern="100" noProof="1">
                <a:solidFill>
                  <a:srgbClr val="014B88"/>
                </a:solidFill>
                <a:latin typeface="仿宋_GB2312"/>
                <a:cs typeface="Times New Roman" panose="02020603050405020304" pitchFamily="18" charset="0"/>
              </a:rPr>
              <a:t>的自然数都可以唯一地表示为素数的乘积，且这种表示方式是唯一的，不考虑素因数的排列顺序。</a:t>
            </a:r>
          </a:p>
          <a:p>
            <a:pPr lvl="1" algn="just">
              <a:lnSpc>
                <a:spcPct val="200000"/>
              </a:lnSpc>
              <a:buFont typeface="Wingdings" panose="05000000000000000000" pitchFamily="2" charset="2"/>
              <a:buChar char="l"/>
            </a:pPr>
            <a:endParaRPr lang="zh-CN" altLang="en-US" b="1" kern="100" noProof="1">
              <a:solidFill>
                <a:srgbClr val="014B88"/>
              </a:solidFill>
              <a:latin typeface="仿宋_GB2312"/>
              <a:cs typeface="Times New Roman" panose="02020603050405020304" pitchFamily="18" charset="0"/>
            </a:endParaRPr>
          </a:p>
        </p:txBody>
      </p:sp>
      <p:sp>
        <p:nvSpPr>
          <p:cNvPr id="3"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算数基本定理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4294967295"/>
          </p:nvPr>
        </p:nvSpPr>
        <p:spPr>
          <a:xfrm>
            <a:off x="159798" y="1177555"/>
            <a:ext cx="11684480" cy="5597318"/>
          </a:xfrm>
        </p:spPr>
        <p:txBody>
          <a:bodyPr vert="horz" wrap="square" anchor="t">
            <a:normAutofit/>
          </a:bodyPr>
          <a:lstStyle/>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分解质因数：</a:t>
            </a:r>
            <a:r>
              <a:rPr lang="en-US" altLang="zh-CN" b="1" kern="100" noProof="1">
                <a:solidFill>
                  <a:srgbClr val="014B88"/>
                </a:solidFill>
                <a:latin typeface="仿宋_GB2312"/>
                <a:cs typeface="Times New Roman" panose="02020603050405020304" pitchFamily="18" charset="0"/>
              </a:rPr>
              <a:t>24 = 2*2*2*3, </a:t>
            </a:r>
            <a:r>
              <a:rPr lang="zh-CN" altLang="en-US" b="1" kern="100" noProof="1">
                <a:solidFill>
                  <a:srgbClr val="014B88"/>
                </a:solidFill>
                <a:latin typeface="仿宋_GB2312"/>
                <a:cs typeface="Times New Roman" panose="02020603050405020304" pitchFamily="18" charset="0"/>
              </a:rPr>
              <a:t>输出</a:t>
            </a:r>
            <a:r>
              <a:rPr lang="en-US" altLang="zh-CN" b="1" kern="100" noProof="1">
                <a:solidFill>
                  <a:srgbClr val="014B88"/>
                </a:solidFill>
                <a:latin typeface="仿宋_GB2312"/>
                <a:cs typeface="Times New Roman" panose="02020603050405020304" pitchFamily="18" charset="0"/>
              </a:rPr>
              <a:t>2 3,3 1</a:t>
            </a:r>
          </a:p>
          <a:p>
            <a:pPr lvl="2"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朴素方法：从小到大枚举数进行试除，写一个</a:t>
            </a:r>
            <a:r>
              <a:rPr lang="en-US" altLang="zh-CN" b="1" kern="100" noProof="1">
                <a:solidFill>
                  <a:srgbClr val="014B88"/>
                </a:solidFill>
                <a:latin typeface="仿宋_GB2312"/>
                <a:cs typeface="Times New Roman" panose="02020603050405020304" pitchFamily="18" charset="0"/>
              </a:rPr>
              <a:t>while</a:t>
            </a:r>
            <a:r>
              <a:rPr lang="zh-CN" altLang="en-US" b="1" kern="100" noProof="1">
                <a:solidFill>
                  <a:srgbClr val="014B88"/>
                </a:solidFill>
                <a:latin typeface="仿宋_GB2312"/>
                <a:cs typeface="Times New Roman" panose="02020603050405020304" pitchFamily="18" charset="0"/>
              </a:rPr>
              <a:t>不停除以</a:t>
            </a:r>
            <a:r>
              <a:rPr lang="en-US" altLang="zh-CN" b="1" kern="100" noProof="1">
                <a:solidFill>
                  <a:srgbClr val="014B88"/>
                </a:solidFill>
                <a:latin typeface="仿宋_GB2312"/>
                <a:cs typeface="Times New Roman" panose="02020603050405020304" pitchFamily="18" charset="0"/>
              </a:rPr>
              <a:t>i</a:t>
            </a:r>
            <a:r>
              <a:rPr lang="zh-CN" altLang="en-US" b="1" kern="100" noProof="1">
                <a:solidFill>
                  <a:srgbClr val="014B88"/>
                </a:solidFill>
                <a:latin typeface="仿宋_GB2312"/>
                <a:cs typeface="Times New Roman" panose="02020603050405020304" pitchFamily="18" charset="0"/>
              </a:rPr>
              <a:t>，把</a:t>
            </a:r>
            <a:r>
              <a:rPr lang="en-US" altLang="zh-CN" b="1" kern="100" noProof="1">
                <a:solidFill>
                  <a:srgbClr val="014B88"/>
                </a:solidFill>
                <a:latin typeface="仿宋_GB2312"/>
                <a:cs typeface="Times New Roman" panose="02020603050405020304" pitchFamily="18" charset="0"/>
              </a:rPr>
              <a:t>i</a:t>
            </a:r>
            <a:r>
              <a:rPr lang="zh-CN" altLang="en-US" b="1" kern="100" noProof="1">
                <a:solidFill>
                  <a:srgbClr val="014B88"/>
                </a:solidFill>
                <a:latin typeface="仿宋_GB2312"/>
                <a:cs typeface="Times New Roman" panose="02020603050405020304" pitchFamily="18" charset="0"/>
              </a:rPr>
              <a:t>的次数求出来</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枚举到</a:t>
            </a:r>
            <a:r>
              <a:rPr lang="en-US" altLang="zh-CN" b="1" kern="100" noProof="1">
                <a:solidFill>
                  <a:srgbClr val="014B88"/>
                </a:solidFill>
                <a:latin typeface="仿宋_GB2312"/>
                <a:cs typeface="Times New Roman" panose="02020603050405020304" pitchFamily="18" charset="0"/>
              </a:rPr>
              <a:t>i</a:t>
            </a:r>
            <a:r>
              <a:rPr lang="zh-CN" altLang="en-US" b="1" kern="100" noProof="1">
                <a:solidFill>
                  <a:srgbClr val="014B88"/>
                </a:solidFill>
                <a:latin typeface="仿宋_GB2312"/>
                <a:cs typeface="Times New Roman" panose="02020603050405020304" pitchFamily="18" charset="0"/>
              </a:rPr>
              <a:t>时，</a:t>
            </a:r>
            <a:r>
              <a:rPr lang="en-US" altLang="zh-CN" b="1" kern="100" noProof="1">
                <a:solidFill>
                  <a:srgbClr val="014B88"/>
                </a:solidFill>
                <a:latin typeface="仿宋_GB2312"/>
                <a:cs typeface="Times New Roman" panose="02020603050405020304" pitchFamily="18" charset="0"/>
              </a:rPr>
              <a:t>n</a:t>
            </a:r>
            <a:r>
              <a:rPr lang="zh-CN" altLang="en-US" b="1" kern="100" noProof="1">
                <a:solidFill>
                  <a:srgbClr val="014B88"/>
                </a:solidFill>
                <a:latin typeface="仿宋_GB2312"/>
                <a:cs typeface="Times New Roman" panose="02020603050405020304" pitchFamily="18" charset="0"/>
              </a:rPr>
              <a:t>中已经不包含</a:t>
            </a:r>
            <a:r>
              <a:rPr lang="en-US" altLang="zh-CN" b="1" kern="100" noProof="1">
                <a:solidFill>
                  <a:srgbClr val="014B88"/>
                </a:solidFill>
                <a:latin typeface="仿宋_GB2312"/>
                <a:cs typeface="Times New Roman" panose="02020603050405020304" pitchFamily="18" charset="0"/>
              </a:rPr>
              <a:t>2</a:t>
            </a:r>
            <a:r>
              <a:rPr lang="zh-CN" altLang="en-US" b="1" kern="100" noProof="1">
                <a:solidFill>
                  <a:srgbClr val="014B88"/>
                </a:solidFill>
                <a:latin typeface="仿宋_GB2312"/>
                <a:cs typeface="Times New Roman" panose="02020603050405020304" pitchFamily="18" charset="0"/>
              </a:rPr>
              <a:t>到</a:t>
            </a:r>
            <a:r>
              <a:rPr lang="en-US" altLang="zh-CN" b="1" kern="100" noProof="1">
                <a:solidFill>
                  <a:srgbClr val="014B88"/>
                </a:solidFill>
                <a:latin typeface="仿宋_GB2312"/>
                <a:cs typeface="Times New Roman" panose="02020603050405020304" pitchFamily="18" charset="0"/>
              </a:rPr>
              <a:t>i-1</a:t>
            </a:r>
            <a:r>
              <a:rPr lang="zh-CN" altLang="en-US" b="1" kern="100" noProof="1">
                <a:solidFill>
                  <a:srgbClr val="014B88"/>
                </a:solidFill>
                <a:latin typeface="仿宋_GB2312"/>
                <a:cs typeface="Times New Roman" panose="02020603050405020304" pitchFamily="18" charset="0"/>
              </a:rPr>
              <a:t>中所有的质因子了，如果</a:t>
            </a:r>
            <a:r>
              <a:rPr lang="en-US" altLang="zh-CN" b="1" kern="100" noProof="1">
                <a:solidFill>
                  <a:srgbClr val="014B88"/>
                </a:solidFill>
                <a:latin typeface="仿宋_GB2312"/>
                <a:cs typeface="Times New Roman" panose="02020603050405020304" pitchFamily="18" charset="0"/>
              </a:rPr>
              <a:t>i</a:t>
            </a:r>
            <a:r>
              <a:rPr lang="zh-CN" altLang="en-US" b="1" kern="100" noProof="1">
                <a:solidFill>
                  <a:srgbClr val="014B88"/>
                </a:solidFill>
                <a:latin typeface="仿宋_GB2312"/>
                <a:cs typeface="Times New Roman" panose="02020603050405020304" pitchFamily="18" charset="0"/>
              </a:rPr>
              <a:t>是合数，一定有</a:t>
            </a:r>
            <a:r>
              <a:rPr lang="en-US" altLang="zh-CN" b="1" kern="100" noProof="1">
                <a:solidFill>
                  <a:srgbClr val="014B88"/>
                </a:solidFill>
                <a:latin typeface="仿宋_GB2312"/>
                <a:cs typeface="Times New Roman" panose="02020603050405020304" pitchFamily="18" charset="0"/>
              </a:rPr>
              <a:t>2~i-1</a:t>
            </a:r>
            <a:r>
              <a:rPr lang="zh-CN" altLang="en-US" b="1" kern="100" noProof="1">
                <a:solidFill>
                  <a:srgbClr val="014B88"/>
                </a:solidFill>
                <a:latin typeface="仿宋_GB2312"/>
                <a:cs typeface="Times New Roman" panose="02020603050405020304" pitchFamily="18" charset="0"/>
              </a:rPr>
              <a:t>的质因子，矛盾，所以</a:t>
            </a:r>
            <a:r>
              <a:rPr lang="en-US" altLang="zh-CN" b="1" kern="100" noProof="1">
                <a:solidFill>
                  <a:srgbClr val="014B88"/>
                </a:solidFill>
                <a:latin typeface="仿宋_GB2312"/>
                <a:cs typeface="Times New Roman" panose="02020603050405020304" pitchFamily="18" charset="0"/>
              </a:rPr>
              <a:t>i</a:t>
            </a:r>
            <a:r>
              <a:rPr lang="zh-CN" altLang="en-US" b="1" kern="100" noProof="1">
                <a:solidFill>
                  <a:srgbClr val="014B88"/>
                </a:solidFill>
                <a:latin typeface="仿宋_GB2312"/>
                <a:cs typeface="Times New Roman" panose="02020603050405020304" pitchFamily="18" charset="0"/>
              </a:rPr>
              <a:t>一定是质因子。</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优化：</a:t>
            </a:r>
            <a:r>
              <a:rPr lang="en-US" altLang="zh-CN" b="1" kern="100" noProof="1">
                <a:solidFill>
                  <a:srgbClr val="014B88"/>
                </a:solidFill>
                <a:latin typeface="仿宋_GB2312"/>
                <a:cs typeface="Times New Roman" panose="02020603050405020304" pitchFamily="18" charset="0"/>
              </a:rPr>
              <a:t>n</a:t>
            </a:r>
            <a:r>
              <a:rPr lang="zh-CN" altLang="en-US" b="1" kern="100" noProof="1">
                <a:solidFill>
                  <a:srgbClr val="014B88"/>
                </a:solidFill>
                <a:latin typeface="仿宋_GB2312"/>
                <a:cs typeface="Times New Roman" panose="02020603050405020304" pitchFamily="18" charset="0"/>
              </a:rPr>
              <a:t>当中最多只包含一个大于</a:t>
            </a:r>
            <a:r>
              <a:rPr lang="en-US" altLang="zh-CN" b="1" kern="100" noProof="1">
                <a:solidFill>
                  <a:srgbClr val="014B88"/>
                </a:solidFill>
                <a:latin typeface="仿宋_GB2312"/>
                <a:cs typeface="Times New Roman" panose="02020603050405020304" pitchFamily="18" charset="0"/>
              </a:rPr>
              <a:t>sqrt(n)</a:t>
            </a:r>
            <a:r>
              <a:rPr lang="zh-CN" altLang="en-US" b="1" kern="100" noProof="1">
                <a:solidFill>
                  <a:srgbClr val="014B88"/>
                </a:solidFill>
                <a:latin typeface="仿宋_GB2312"/>
                <a:cs typeface="Times New Roman" panose="02020603050405020304" pitchFamily="18" charset="0"/>
              </a:rPr>
              <a:t>的质数</a:t>
            </a:r>
            <a:endParaRPr lang="en-US" altLang="zh-CN" b="1" kern="100" noProof="1">
              <a:solidFill>
                <a:srgbClr val="014B88"/>
              </a:solidFill>
              <a:latin typeface="仿宋_GB2312"/>
              <a:cs typeface="Times New Roman" panose="02020603050405020304" pitchFamily="18" charset="0"/>
            </a:endParaRPr>
          </a:p>
          <a:p>
            <a:pPr lvl="1" algn="just">
              <a:lnSpc>
                <a:spcPct val="200000"/>
              </a:lnSpc>
              <a:buFont typeface="Wingdings" panose="05000000000000000000" pitchFamily="2" charset="2"/>
              <a:buChar char="l"/>
            </a:pPr>
            <a:r>
              <a:rPr lang="en-US" altLang="zh-CN" b="1" kern="100" noProof="1">
                <a:solidFill>
                  <a:srgbClr val="014B88"/>
                </a:solidFill>
                <a:latin typeface="仿宋_GB2312"/>
                <a:cs typeface="Times New Roman" panose="02020603050405020304" pitchFamily="18" charset="0"/>
              </a:rPr>
              <a:t> </a:t>
            </a:r>
            <a:r>
              <a:rPr lang="zh-CN" altLang="en-US" b="1" kern="100" noProof="1">
                <a:solidFill>
                  <a:srgbClr val="014B88"/>
                </a:solidFill>
                <a:latin typeface="仿宋_GB2312"/>
                <a:cs typeface="Times New Roman" panose="02020603050405020304" pitchFamily="18" charset="0"/>
              </a:rPr>
              <a:t>质数判定：判断一个数</a:t>
            </a:r>
            <a:r>
              <a:rPr lang="en-US" altLang="zh-CN" b="1" kern="100" noProof="1">
                <a:solidFill>
                  <a:srgbClr val="014B88"/>
                </a:solidFill>
                <a:latin typeface="仿宋_GB2312"/>
                <a:cs typeface="Times New Roman" panose="02020603050405020304" pitchFamily="18" charset="0"/>
              </a:rPr>
              <a:t>P</a:t>
            </a:r>
            <a:r>
              <a:rPr lang="zh-CN" altLang="en-US" b="1" kern="100" noProof="1">
                <a:solidFill>
                  <a:srgbClr val="014B88"/>
                </a:solidFill>
                <a:latin typeface="仿宋_GB2312"/>
                <a:cs typeface="Times New Roman" panose="02020603050405020304" pitchFamily="18" charset="0"/>
              </a:rPr>
              <a:t>是不是质数，</a:t>
            </a:r>
            <a:endParaRPr lang="en-US" altLang="zh-CN" b="1" kern="100" noProof="1">
              <a:solidFill>
                <a:srgbClr val="014B88"/>
              </a:solidFill>
              <a:latin typeface="仿宋_GB2312"/>
              <a:cs typeface="Times New Roman" panose="02020603050405020304" pitchFamily="18" charset="0"/>
            </a:endParaRPr>
          </a:p>
          <a:p>
            <a:pPr marL="457200" lvl="1" indent="0" algn="just">
              <a:lnSpc>
                <a:spcPct val="200000"/>
              </a:lnSpc>
              <a:buNone/>
            </a:pPr>
            <a:r>
              <a:rPr lang="en-US" altLang="zh-CN" b="1" kern="100" noProof="1">
                <a:solidFill>
                  <a:srgbClr val="014B88"/>
                </a:solidFill>
                <a:latin typeface="仿宋_GB2312"/>
                <a:cs typeface="Times New Roman" panose="02020603050405020304" pitchFamily="18" charset="0"/>
              </a:rPr>
              <a:t>    </a:t>
            </a:r>
            <a:r>
              <a:rPr lang="zh-CN" altLang="en-US" b="1" kern="100" noProof="1">
                <a:solidFill>
                  <a:srgbClr val="014B88"/>
                </a:solidFill>
                <a:latin typeface="仿宋_GB2312"/>
                <a:cs typeface="Times New Roman" panose="02020603050405020304" pitchFamily="18" charset="0"/>
              </a:rPr>
              <a:t>只需要判定</a:t>
            </a:r>
            <a:r>
              <a:rPr lang="en-US" altLang="zh-CN" b="1" kern="100" noProof="1">
                <a:solidFill>
                  <a:srgbClr val="014B88"/>
                </a:solidFill>
                <a:latin typeface="仿宋_GB2312"/>
                <a:cs typeface="Times New Roman" panose="02020603050405020304" pitchFamily="18" charset="0"/>
              </a:rPr>
              <a:t>2~P-1</a:t>
            </a:r>
            <a:r>
              <a:rPr lang="zh-CN" altLang="en-US" b="1" kern="100" noProof="1">
                <a:solidFill>
                  <a:srgbClr val="014B88"/>
                </a:solidFill>
                <a:latin typeface="仿宋_GB2312"/>
                <a:cs typeface="Times New Roman" panose="02020603050405020304" pitchFamily="18" charset="0"/>
              </a:rPr>
              <a:t>中所有的质数是不是</a:t>
            </a:r>
            <a:r>
              <a:rPr lang="en-US" altLang="zh-CN" b="1" kern="100" noProof="1">
                <a:solidFill>
                  <a:srgbClr val="014B88"/>
                </a:solidFill>
                <a:latin typeface="仿宋_GB2312"/>
                <a:cs typeface="Times New Roman" panose="02020603050405020304" pitchFamily="18" charset="0"/>
              </a:rPr>
              <a:t>P</a:t>
            </a:r>
            <a:r>
              <a:rPr lang="zh-CN" altLang="en-US" b="1" kern="100" noProof="1">
                <a:solidFill>
                  <a:srgbClr val="014B88"/>
                </a:solidFill>
                <a:latin typeface="仿宋_GB2312"/>
                <a:cs typeface="Times New Roman" panose="02020603050405020304" pitchFamily="18" charset="0"/>
              </a:rPr>
              <a:t>的约数即可</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1"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zh-CN" altLang="en-US" b="1" kern="100" noProof="1">
              <a:solidFill>
                <a:srgbClr val="014B88"/>
              </a:solidFill>
              <a:latin typeface="仿宋_GB2312"/>
              <a:cs typeface="Times New Roman" panose="02020603050405020304" pitchFamily="18" charset="0"/>
            </a:endParaRPr>
          </a:p>
        </p:txBody>
      </p:sp>
      <p:sp>
        <p:nvSpPr>
          <p:cNvPr id="3"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质数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6817120" y="216132"/>
            <a:ext cx="4896196"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for(int i = 2; i &lt;= n; </a:t>
            </a:r>
            <a:r>
              <a:rPr kumimoji="0" lang="en-US" altLang="zh-CN" sz="1800" b="0" i="0" u="none" strike="noStrike" kern="1200" cap="none" spc="0" normalizeH="0" baseline="0" noProof="0" dirty="0" err="1">
                <a:ln>
                  <a:noFill/>
                </a:ln>
                <a:solidFill>
                  <a:prstClr val="black"/>
                </a:solidFill>
                <a:effectLst/>
                <a:uLnTx/>
                <a:uFillTx/>
                <a:latin typeface="Calibri"/>
                <a:ea typeface="微软雅黑" panose="020B0503020204020204" pitchFamily="34" charset="-122"/>
                <a:cs typeface="+mn-cs"/>
              </a:rPr>
              <a:t>i</a:t>
            </a: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while(</a:t>
            </a:r>
            <a:r>
              <a:rPr kumimoji="0" lang="en-US" altLang="zh-CN" sz="1800" b="0" i="0" u="none" strike="noStrike" kern="1200" cap="none" spc="0" normalizeH="0" baseline="0" noProof="0" dirty="0" err="1">
                <a:ln>
                  <a:noFill/>
                </a:ln>
                <a:solidFill>
                  <a:prstClr val="black"/>
                </a:solidFill>
                <a:effectLst/>
                <a:uLnTx/>
                <a:uFillTx/>
                <a:latin typeface="Calibri"/>
                <a:ea typeface="微软雅黑" panose="020B0503020204020204" pitchFamily="34" charset="-122"/>
                <a:cs typeface="+mn-cs"/>
              </a:rPr>
              <a:t>n%i</a:t>
            </a: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 0) { //</a:t>
            </a:r>
            <a:r>
              <a:rPr kumimoji="0" lang="en-US" altLang="zh-CN" sz="1800" b="0" i="0" u="none" strike="noStrike" kern="1200" cap="none" spc="0" normalizeH="0" baseline="0" noProof="0" dirty="0" err="1">
                <a:ln>
                  <a:noFill/>
                </a:ln>
                <a:solidFill>
                  <a:prstClr val="black"/>
                </a:solidFill>
                <a:effectLst/>
                <a:uLnTx/>
                <a:uFillTx/>
                <a:latin typeface="Calibri"/>
                <a:ea typeface="微软雅黑" panose="020B0503020204020204" pitchFamily="34" charset="-122"/>
                <a:cs typeface="+mn-cs"/>
              </a:rPr>
              <a:t>i</a:t>
            </a:r>
            <a:r>
              <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一定是质数</a:t>
            </a:r>
            <a:endPar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n /= 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a:t>
            </a:r>
            <a:b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b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5247" y="3707278"/>
            <a:ext cx="3029106" cy="2457576"/>
          </a:xfrm>
          <a:prstGeom prst="rect">
            <a:avLst/>
          </a:prstGeom>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fade">
                                      <p:cBhvr>
                                        <p:cTn id="7" dur="500"/>
                                        <p:tgtEl>
                                          <p:spTgt spid="6041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0419">
                                            <p:txEl>
                                              <p:pRg st="1" end="1"/>
                                            </p:txEl>
                                          </p:spTgt>
                                        </p:tgtEl>
                                        <p:attrNameLst>
                                          <p:attrName>style.visibility</p:attrName>
                                        </p:attrNameLst>
                                      </p:cBhvr>
                                      <p:to>
                                        <p:strVal val="visible"/>
                                      </p:to>
                                    </p:set>
                                    <p:animEffect transition="in" filter="fade">
                                      <p:cBhvr>
                                        <p:cTn id="10" dur="500"/>
                                        <p:tgtEl>
                                          <p:spTgt spid="6041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0419">
                                            <p:txEl>
                                              <p:pRg st="2" end="2"/>
                                            </p:txEl>
                                          </p:spTgt>
                                        </p:tgtEl>
                                        <p:attrNameLst>
                                          <p:attrName>style.visibility</p:attrName>
                                        </p:attrNameLst>
                                      </p:cBhvr>
                                      <p:to>
                                        <p:strVal val="visible"/>
                                      </p:to>
                                    </p:set>
                                    <p:animEffect transition="in" filter="fade">
                                      <p:cBhvr>
                                        <p:cTn id="13" dur="500"/>
                                        <p:tgtEl>
                                          <p:spTgt spid="6041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0419">
                                            <p:txEl>
                                              <p:pRg st="3" end="3"/>
                                            </p:txEl>
                                          </p:spTgt>
                                        </p:tgtEl>
                                        <p:attrNameLst>
                                          <p:attrName>style.visibility</p:attrName>
                                        </p:attrNameLst>
                                      </p:cBhvr>
                                      <p:to>
                                        <p:strVal val="visible"/>
                                      </p:to>
                                    </p:set>
                                    <p:animEffect transition="in" filter="fade">
                                      <p:cBhvr>
                                        <p:cTn id="23" dur="500"/>
                                        <p:tgtEl>
                                          <p:spTgt spid="6041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0419">
                                            <p:txEl>
                                              <p:pRg st="4" end="4"/>
                                            </p:txEl>
                                          </p:spTgt>
                                        </p:tgtEl>
                                        <p:attrNameLst>
                                          <p:attrName>style.visibility</p:attrName>
                                        </p:attrNameLst>
                                      </p:cBhvr>
                                      <p:to>
                                        <p:strVal val="visible"/>
                                      </p:to>
                                    </p:set>
                                    <p:animEffect transition="in" filter="fade">
                                      <p:cBhvr>
                                        <p:cTn id="33" dur="500"/>
                                        <p:tgtEl>
                                          <p:spTgt spid="60419">
                                            <p:txEl>
                                              <p:pRg st="4" end="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60419">
                                            <p:txEl>
                                              <p:pRg st="5" end="5"/>
                                            </p:txEl>
                                          </p:spTgt>
                                        </p:tgtEl>
                                        <p:attrNameLst>
                                          <p:attrName>style.visibility</p:attrName>
                                        </p:attrNameLst>
                                      </p:cBhvr>
                                      <p:to>
                                        <p:strVal val="visible"/>
                                      </p:to>
                                    </p:set>
                                    <p:animEffect transition="in" filter="fade">
                                      <p:cBhvr>
                                        <p:cTn id="36" dur="500"/>
                                        <p:tgtEl>
                                          <p:spTgt spid="60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4294967295"/>
          </p:nvPr>
        </p:nvSpPr>
        <p:spPr>
          <a:xfrm>
            <a:off x="172720" y="972053"/>
            <a:ext cx="11684480" cy="5597318"/>
          </a:xfrm>
        </p:spPr>
        <p:txBody>
          <a:bodyPr vert="horz" wrap="square" anchor="t">
            <a:normAutofit fontScale="92500" lnSpcReduction="20000"/>
          </a:bodyPr>
          <a:lstStyle/>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筛质数：将</a:t>
            </a:r>
            <a:r>
              <a:rPr lang="en-US" altLang="zh-CN" b="1" kern="100" noProof="1">
                <a:solidFill>
                  <a:srgbClr val="014B88"/>
                </a:solidFill>
                <a:latin typeface="仿宋_GB2312"/>
                <a:cs typeface="Times New Roman" panose="02020603050405020304" pitchFamily="18" charset="0"/>
              </a:rPr>
              <a:t>1000000</a:t>
            </a:r>
            <a:r>
              <a:rPr lang="zh-CN" altLang="en-US" b="1" kern="100" noProof="1">
                <a:solidFill>
                  <a:srgbClr val="014B88"/>
                </a:solidFill>
                <a:latin typeface="仿宋_GB2312"/>
                <a:cs typeface="Times New Roman" panose="02020603050405020304" pitchFamily="18" charset="0"/>
              </a:rPr>
              <a:t>以下的所有合数筛掉</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朴素筛法</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en-US" altLang="zh-CN" b="1" kern="100" noProof="1">
                <a:solidFill>
                  <a:srgbClr val="014B88"/>
                </a:solidFill>
                <a:latin typeface="仿宋_GB2312"/>
                <a:cs typeface="Times New Roman" panose="02020603050405020304" pitchFamily="18" charset="0"/>
              </a:rPr>
              <a:t>2,4,6,8……</a:t>
            </a:r>
            <a:r>
              <a:rPr lang="zh-CN" altLang="en-US" b="1" kern="100" noProof="1">
                <a:solidFill>
                  <a:srgbClr val="014B88"/>
                </a:solidFill>
                <a:latin typeface="仿宋_GB2312"/>
                <a:cs typeface="Times New Roman" panose="02020603050405020304" pitchFamily="18" charset="0"/>
              </a:rPr>
              <a:t>筛掉</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en-US" altLang="zh-CN" b="1" kern="100" noProof="1">
                <a:solidFill>
                  <a:srgbClr val="014B88"/>
                </a:solidFill>
                <a:latin typeface="仿宋_GB2312"/>
                <a:cs typeface="Times New Roman" panose="02020603050405020304" pitchFamily="18" charset="0"/>
              </a:rPr>
              <a:t>3,9,15,……</a:t>
            </a:r>
            <a:r>
              <a:rPr lang="zh-CN" altLang="en-US" b="1" kern="100" noProof="1">
                <a:solidFill>
                  <a:srgbClr val="014B88"/>
                </a:solidFill>
                <a:latin typeface="仿宋_GB2312"/>
                <a:cs typeface="Times New Roman" panose="02020603050405020304" pitchFamily="18" charset="0"/>
              </a:rPr>
              <a:t>筛掉 </a:t>
            </a:r>
            <a:r>
              <a:rPr lang="en-US" altLang="zh-CN" b="1" kern="100" noProof="1">
                <a:solidFill>
                  <a:srgbClr val="014B88"/>
                </a:solidFill>
                <a:latin typeface="仿宋_GB2312"/>
                <a:cs typeface="Times New Roman" panose="02020603050405020304" pitchFamily="18" charset="0"/>
              </a:rPr>
              <a:t>4,8,12,16……</a:t>
            </a:r>
            <a:r>
              <a:rPr lang="zh-CN" altLang="en-US" b="1" kern="100" noProof="1">
                <a:solidFill>
                  <a:srgbClr val="014B88"/>
                </a:solidFill>
                <a:latin typeface="仿宋_GB2312"/>
                <a:cs typeface="Times New Roman" panose="02020603050405020304" pitchFamily="18" charset="0"/>
              </a:rPr>
              <a:t>筛掉</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en-US" altLang="zh-CN" b="1" kern="100" noProof="1">
                <a:solidFill>
                  <a:srgbClr val="014B88"/>
                </a:solidFill>
                <a:latin typeface="仿宋_GB2312"/>
                <a:cs typeface="Times New Roman" panose="02020603050405020304" pitchFamily="18" charset="0"/>
              </a:rPr>
              <a:t>……</a:t>
            </a:r>
          </a:p>
          <a:p>
            <a:pPr lvl="3"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时间复杂度：调和级数 </a:t>
            </a:r>
            <a:r>
              <a:rPr lang="en-US" altLang="zh-CN" b="1" kern="100" noProof="1">
                <a:solidFill>
                  <a:srgbClr val="014B88"/>
                </a:solidFill>
                <a:latin typeface="仿宋_GB2312"/>
                <a:cs typeface="Times New Roman" panose="02020603050405020304" pitchFamily="18" charset="0"/>
              </a:rPr>
              <a:t>lnN+c</a:t>
            </a:r>
            <a:r>
              <a:rPr lang="zh-CN" altLang="en-US" b="1" kern="100" noProof="1">
                <a:solidFill>
                  <a:srgbClr val="014B88"/>
                </a:solidFill>
                <a:latin typeface="仿宋_GB2312"/>
                <a:cs typeface="Times New Roman" panose="02020603050405020304" pitchFamily="18" charset="0"/>
              </a:rPr>
              <a:t>（</a:t>
            </a:r>
            <a:r>
              <a:rPr lang="en-US" altLang="zh-CN" b="1" kern="100" noProof="1">
                <a:solidFill>
                  <a:srgbClr val="014B88"/>
                </a:solidFill>
                <a:latin typeface="仿宋_GB2312"/>
                <a:cs typeface="Times New Roman" panose="02020603050405020304" pitchFamily="18" charset="0"/>
              </a:rPr>
              <a:t>c</a:t>
            </a:r>
            <a:r>
              <a:rPr lang="zh-CN" altLang="en-US" b="1" kern="100" noProof="1">
                <a:solidFill>
                  <a:srgbClr val="014B88"/>
                </a:solidFill>
                <a:latin typeface="仿宋_GB2312"/>
                <a:cs typeface="Times New Roman" panose="02020603050405020304" pitchFamily="18" charset="0"/>
              </a:rPr>
              <a:t>大概为</a:t>
            </a:r>
            <a:r>
              <a:rPr lang="en-US" altLang="zh-CN" b="1" kern="100" noProof="1">
                <a:solidFill>
                  <a:srgbClr val="014B88"/>
                </a:solidFill>
                <a:latin typeface="仿宋_GB2312"/>
                <a:cs typeface="Times New Roman" panose="02020603050405020304" pitchFamily="18" charset="0"/>
              </a:rPr>
              <a:t>0.57</a:t>
            </a:r>
            <a:r>
              <a:rPr lang="zh-CN" altLang="en-US" b="1" kern="100" noProof="1">
                <a:solidFill>
                  <a:srgbClr val="014B88"/>
                </a:solidFill>
                <a:latin typeface="仿宋_GB2312"/>
                <a:cs typeface="Times New Roman" panose="02020603050405020304" pitchFamily="18" charset="0"/>
              </a:rPr>
              <a:t>）</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优化（埃氏筛法）</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只有质数的倍数才需要被筛掉（所有的数都可以分解为小于等于它本身的质数的乘积、且最多只包含一个大于</a:t>
            </a:r>
            <a:r>
              <a:rPr lang="en-US" altLang="zh-CN" b="1" kern="100" noProof="1">
                <a:solidFill>
                  <a:srgbClr val="014B88"/>
                </a:solidFill>
                <a:latin typeface="仿宋_GB2312"/>
                <a:cs typeface="Times New Roman" panose="02020603050405020304" pitchFamily="18" charset="0"/>
              </a:rPr>
              <a:t>sqrt(n)</a:t>
            </a:r>
            <a:r>
              <a:rPr lang="zh-CN" altLang="en-US" b="1" kern="100" noProof="1">
                <a:solidFill>
                  <a:srgbClr val="014B88"/>
                </a:solidFill>
                <a:latin typeface="仿宋_GB2312"/>
                <a:cs typeface="Times New Roman" panose="02020603050405020304" pitchFamily="18" charset="0"/>
              </a:rPr>
              <a:t>的质因子）</a:t>
            </a: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质数定理：</a:t>
            </a:r>
            <a:r>
              <a:rPr lang="en-US" altLang="zh-CN" b="1" kern="100" noProof="1">
                <a:solidFill>
                  <a:srgbClr val="014B88"/>
                </a:solidFill>
                <a:latin typeface="仿宋_GB2312"/>
                <a:cs typeface="Times New Roman" panose="02020603050405020304" pitchFamily="18" charset="0"/>
              </a:rPr>
              <a:t>1~N</a:t>
            </a:r>
            <a:r>
              <a:rPr lang="zh-CN" altLang="en-US" b="1" kern="100" noProof="1">
                <a:solidFill>
                  <a:srgbClr val="014B88"/>
                </a:solidFill>
                <a:latin typeface="仿宋_GB2312"/>
                <a:cs typeface="Times New Roman" panose="02020603050405020304" pitchFamily="18" charset="0"/>
              </a:rPr>
              <a:t>之中有</a:t>
            </a:r>
            <a:r>
              <a:rPr lang="en-US" altLang="zh-CN" b="1" kern="100" noProof="1">
                <a:solidFill>
                  <a:srgbClr val="014B88"/>
                </a:solidFill>
                <a:latin typeface="仿宋_GB2312"/>
                <a:cs typeface="Times New Roman" panose="02020603050405020304" pitchFamily="18" charset="0"/>
              </a:rPr>
              <a:t>N/lnN</a:t>
            </a:r>
            <a:r>
              <a:rPr lang="zh-CN" altLang="en-US" b="1" kern="100" noProof="1">
                <a:solidFill>
                  <a:srgbClr val="014B88"/>
                </a:solidFill>
                <a:latin typeface="仿宋_GB2312"/>
                <a:cs typeface="Times New Roman" panose="02020603050405020304" pitchFamily="18" charset="0"/>
              </a:rPr>
              <a:t>个质数</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1"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zh-CN" altLang="en-US" b="1" kern="100" noProof="1">
              <a:solidFill>
                <a:srgbClr val="014B88"/>
              </a:solidFill>
              <a:latin typeface="仿宋_GB2312"/>
              <a:cs typeface="Times New Roman" panose="02020603050405020304" pitchFamily="18" charset="0"/>
            </a:endParaRPr>
          </a:p>
        </p:txBody>
      </p:sp>
      <p:sp>
        <p:nvSpPr>
          <p:cNvPr id="3"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质数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7040" y="201661"/>
            <a:ext cx="4388076" cy="414174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4467" y="5427133"/>
            <a:ext cx="4388076" cy="1415473"/>
          </a:xfrm>
          <a:prstGeom prst="rect">
            <a:avLst/>
          </a:prstGeom>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419">
                                            <p:txEl>
                                              <p:pRg st="6" end="6"/>
                                            </p:txEl>
                                          </p:spTgt>
                                        </p:tgtEl>
                                        <p:attrNameLst>
                                          <p:attrName>style.visibility</p:attrName>
                                        </p:attrNameLst>
                                      </p:cBhvr>
                                      <p:to>
                                        <p:strVal val="visible"/>
                                      </p:to>
                                    </p:set>
                                    <p:animEffect transition="in" filter="fade">
                                      <p:cBhvr>
                                        <p:cTn id="12" dur="500"/>
                                        <p:tgtEl>
                                          <p:spTgt spid="60419">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0419">
                                            <p:txEl>
                                              <p:pRg st="7" end="7"/>
                                            </p:txEl>
                                          </p:spTgt>
                                        </p:tgtEl>
                                        <p:attrNameLst>
                                          <p:attrName>style.visibility</p:attrName>
                                        </p:attrNameLst>
                                      </p:cBhvr>
                                      <p:to>
                                        <p:strVal val="visible"/>
                                      </p:to>
                                    </p:set>
                                    <p:animEffect transition="in" filter="fade">
                                      <p:cBhvr>
                                        <p:cTn id="15" dur="500"/>
                                        <p:tgtEl>
                                          <p:spTgt spid="60419">
                                            <p:txEl>
                                              <p:pRg st="7" end="7"/>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0419">
                                            <p:txEl>
                                              <p:pRg st="8" end="8"/>
                                            </p:txEl>
                                          </p:spTgt>
                                        </p:tgtEl>
                                        <p:attrNameLst>
                                          <p:attrName>style.visibility</p:attrName>
                                        </p:attrNameLst>
                                      </p:cBhvr>
                                      <p:to>
                                        <p:strVal val="visible"/>
                                      </p:to>
                                    </p:set>
                                    <p:animEffect transition="in" filter="fade">
                                      <p:cBhvr>
                                        <p:cTn id="18" dur="500"/>
                                        <p:tgtEl>
                                          <p:spTgt spid="60419">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4294967295"/>
          </p:nvPr>
        </p:nvSpPr>
        <p:spPr>
          <a:xfrm>
            <a:off x="172719" y="972053"/>
            <a:ext cx="11846561" cy="6334834"/>
          </a:xfrm>
        </p:spPr>
        <p:txBody>
          <a:bodyPr vert="horz" wrap="square" anchor="t">
            <a:normAutofit fontScale="62500" lnSpcReduction="20000"/>
          </a:bodyPr>
          <a:lstStyle/>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 筛质数：线性筛（欧拉筛）</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保证每个数都是被其最小质因子筛掉</a:t>
            </a:r>
            <a:endParaRPr lang="en-US" altLang="zh-CN" b="1" kern="100" noProof="1">
              <a:solidFill>
                <a:srgbClr val="014B88"/>
              </a:solidFill>
              <a:latin typeface="仿宋_GB2312"/>
              <a:cs typeface="Times New Roman" panose="02020603050405020304" pitchFamily="18" charset="0"/>
            </a:endParaRPr>
          </a:p>
          <a:p>
            <a:pPr lvl="1" algn="just">
              <a:lnSpc>
                <a:spcPct val="200000"/>
              </a:lnSpc>
              <a:buFont typeface="Wingdings" panose="05000000000000000000" pitchFamily="2" charset="2"/>
              <a:buChar char="l"/>
            </a:pPr>
            <a:r>
              <a:rPr lang="zh-CN" altLang="en-US" b="1" kern="100" noProof="1">
                <a:solidFill>
                  <a:srgbClr val="014B88"/>
                </a:solidFill>
                <a:latin typeface="仿宋_GB2312"/>
                <a:cs typeface="Times New Roman" panose="02020603050405020304" pitchFamily="18" charset="0"/>
              </a:rPr>
              <a:t>证明：</a:t>
            </a: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sz="2300" b="1" kern="100" noProof="1">
                <a:solidFill>
                  <a:srgbClr val="014B88"/>
                </a:solidFill>
                <a:latin typeface="仿宋_GB2312"/>
                <a:cs typeface="Times New Roman" panose="02020603050405020304" pitchFamily="18" charset="0"/>
              </a:rPr>
              <a:t>只有在</a:t>
            </a:r>
            <a:r>
              <a:rPr lang="en-US" altLang="zh-CN" sz="2300" b="1" kern="100" noProof="1">
                <a:solidFill>
                  <a:srgbClr val="014B88"/>
                </a:solidFill>
                <a:latin typeface="仿宋_GB2312"/>
                <a:cs typeface="Times New Roman" panose="02020603050405020304" pitchFamily="18" charset="0"/>
              </a:rPr>
              <a:t>isprime[i*prime[j]]</a:t>
            </a:r>
            <a:r>
              <a:rPr lang="zh-CN" altLang="en-US" sz="2300" b="1" kern="100" noProof="1">
                <a:solidFill>
                  <a:srgbClr val="014B88"/>
                </a:solidFill>
                <a:latin typeface="仿宋_GB2312"/>
                <a:cs typeface="Times New Roman" panose="02020603050405020304" pitchFamily="18" charset="0"/>
              </a:rPr>
              <a:t>处筛掉合数</a:t>
            </a:r>
            <a:endParaRPr lang="en-US" altLang="zh-CN" sz="2300"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en-US" altLang="zh-CN" sz="2300"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sz="2300" b="1" kern="100" noProof="1">
                <a:solidFill>
                  <a:srgbClr val="014B88"/>
                </a:solidFill>
                <a:latin typeface="仿宋_GB2312"/>
                <a:cs typeface="Times New Roman" panose="02020603050405020304" pitchFamily="18" charset="0"/>
              </a:rPr>
              <a:t>对</a:t>
            </a:r>
            <a:r>
              <a:rPr lang="en-US" altLang="zh-CN" sz="2300" b="1" kern="100" noProof="1">
                <a:solidFill>
                  <a:srgbClr val="014B88"/>
                </a:solidFill>
                <a:latin typeface="仿宋_GB2312"/>
                <a:cs typeface="Times New Roman" panose="02020603050405020304" pitchFamily="18" charset="0"/>
              </a:rPr>
              <a:t>i*prime[j]</a:t>
            </a:r>
            <a:r>
              <a:rPr lang="zh-CN" altLang="en-US" sz="2300" b="1" kern="100" noProof="1">
                <a:solidFill>
                  <a:srgbClr val="014B88"/>
                </a:solidFill>
                <a:latin typeface="仿宋_GB2312"/>
                <a:cs typeface="Times New Roman" panose="02020603050405020304" pitchFamily="18" charset="0"/>
              </a:rPr>
              <a:t>这个合数来说，</a:t>
            </a:r>
            <a:r>
              <a:rPr lang="en-US" altLang="zh-CN" sz="2300" b="1" kern="100" noProof="1">
                <a:solidFill>
                  <a:srgbClr val="014B88"/>
                </a:solidFill>
                <a:latin typeface="仿宋_GB2312"/>
                <a:cs typeface="Times New Roman" panose="02020603050405020304" pitchFamily="18" charset="0"/>
              </a:rPr>
              <a:t>prime[j]</a:t>
            </a:r>
            <a:r>
              <a:rPr lang="zh-CN" altLang="en-US" sz="2300" b="1" kern="100" noProof="1">
                <a:solidFill>
                  <a:srgbClr val="014B88"/>
                </a:solidFill>
                <a:latin typeface="仿宋_GB2312"/>
                <a:cs typeface="Times New Roman" panose="02020603050405020304" pitchFamily="18" charset="0"/>
              </a:rPr>
              <a:t>一定是其最小质因子（分析如下）</a:t>
            </a:r>
            <a:endParaRPr lang="en-US" altLang="zh-CN" sz="2300"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r>
              <a:rPr lang="zh-CN" altLang="en-US" sz="2300" b="1" kern="100" noProof="1">
                <a:solidFill>
                  <a:srgbClr val="014B88"/>
                </a:solidFill>
                <a:latin typeface="仿宋_GB2312"/>
                <a:cs typeface="Times New Roman" panose="02020603050405020304" pitchFamily="18" charset="0"/>
              </a:rPr>
              <a:t>当</a:t>
            </a:r>
            <a:r>
              <a:rPr lang="en-US" altLang="zh-CN" sz="2300" b="1" kern="100" noProof="1">
                <a:solidFill>
                  <a:srgbClr val="014B88"/>
                </a:solidFill>
                <a:latin typeface="仿宋_GB2312"/>
                <a:cs typeface="Times New Roman" panose="02020603050405020304" pitchFamily="18" charset="0"/>
              </a:rPr>
              <a:t>i%prime[j] == 0</a:t>
            </a:r>
            <a:r>
              <a:rPr lang="zh-CN" altLang="en-US" sz="2300" b="1" kern="100" noProof="1">
                <a:solidFill>
                  <a:srgbClr val="014B88"/>
                </a:solidFill>
                <a:latin typeface="仿宋_GB2312"/>
                <a:cs typeface="Times New Roman" panose="02020603050405020304" pitchFamily="18" charset="0"/>
              </a:rPr>
              <a:t>时，</a:t>
            </a:r>
            <a:r>
              <a:rPr lang="en-US" altLang="zh-CN" sz="2300" b="1" kern="100" noProof="1">
                <a:solidFill>
                  <a:srgbClr val="014B88"/>
                </a:solidFill>
                <a:latin typeface="仿宋_GB2312"/>
                <a:cs typeface="Times New Roman" panose="02020603050405020304" pitchFamily="18" charset="0"/>
              </a:rPr>
              <a:t>i</a:t>
            </a:r>
            <a:r>
              <a:rPr lang="zh-CN" altLang="en-US" sz="2300" b="1" kern="100" noProof="1">
                <a:solidFill>
                  <a:srgbClr val="014B88"/>
                </a:solidFill>
                <a:latin typeface="仿宋_GB2312"/>
                <a:cs typeface="Times New Roman" panose="02020603050405020304" pitchFamily="18" charset="0"/>
              </a:rPr>
              <a:t>无法被任意比</a:t>
            </a:r>
            <a:r>
              <a:rPr lang="en-US" altLang="zh-CN" sz="2300" b="1" kern="100" noProof="1">
                <a:solidFill>
                  <a:srgbClr val="014B88"/>
                </a:solidFill>
                <a:latin typeface="仿宋_GB2312"/>
                <a:cs typeface="Times New Roman" panose="02020603050405020304" pitchFamily="18" charset="0"/>
              </a:rPr>
              <a:t>prime[j]</a:t>
            </a:r>
            <a:r>
              <a:rPr lang="zh-CN" altLang="en-US" sz="2300" b="1" kern="100" noProof="1">
                <a:solidFill>
                  <a:srgbClr val="014B88"/>
                </a:solidFill>
                <a:latin typeface="仿宋_GB2312"/>
                <a:cs typeface="Times New Roman" panose="02020603050405020304" pitchFamily="18" charset="0"/>
              </a:rPr>
              <a:t>小的素数整除，即</a:t>
            </a:r>
            <a:r>
              <a:rPr lang="en-US" altLang="zh-CN" sz="2300" b="1" kern="100" noProof="1">
                <a:solidFill>
                  <a:srgbClr val="014B88"/>
                </a:solidFill>
                <a:latin typeface="仿宋_GB2312"/>
                <a:cs typeface="Times New Roman" panose="02020603050405020304" pitchFamily="18" charset="0"/>
              </a:rPr>
              <a:t>i</a:t>
            </a:r>
            <a:r>
              <a:rPr lang="zh-CN" altLang="en-US" sz="2300" b="1" kern="100" noProof="1">
                <a:solidFill>
                  <a:srgbClr val="014B88"/>
                </a:solidFill>
                <a:latin typeface="仿宋_GB2312"/>
                <a:cs typeface="Times New Roman" panose="02020603050405020304" pitchFamily="18" charset="0"/>
              </a:rPr>
              <a:t>的最小质因子为</a:t>
            </a:r>
            <a:r>
              <a:rPr lang="en-US" altLang="zh-CN" sz="2300" b="1" kern="100" noProof="1">
                <a:solidFill>
                  <a:srgbClr val="014B88"/>
                </a:solidFill>
                <a:latin typeface="仿宋_GB2312"/>
                <a:cs typeface="Times New Roman" panose="02020603050405020304" pitchFamily="18" charset="0"/>
              </a:rPr>
              <a:t>prime[j]</a:t>
            </a:r>
            <a:r>
              <a:rPr lang="zh-CN" altLang="en-US" sz="2300" b="1" kern="100" noProof="1">
                <a:solidFill>
                  <a:srgbClr val="014B88"/>
                </a:solidFill>
                <a:latin typeface="仿宋_GB2312"/>
                <a:cs typeface="Times New Roman" panose="02020603050405020304" pitchFamily="18" charset="0"/>
              </a:rPr>
              <a:t>，故</a:t>
            </a:r>
            <a:r>
              <a:rPr lang="en-US" altLang="zh-CN" sz="2300" b="1" kern="100" noProof="1">
                <a:solidFill>
                  <a:srgbClr val="014B88"/>
                </a:solidFill>
                <a:latin typeface="仿宋_GB2312"/>
                <a:cs typeface="Times New Roman" panose="02020603050405020304" pitchFamily="18" charset="0"/>
              </a:rPr>
              <a:t>i*prime[j]</a:t>
            </a:r>
            <a:r>
              <a:rPr lang="zh-CN" altLang="en-US" sz="2300" b="1" kern="100" noProof="1">
                <a:solidFill>
                  <a:srgbClr val="014B88"/>
                </a:solidFill>
                <a:latin typeface="仿宋_GB2312"/>
                <a:cs typeface="Times New Roman" panose="02020603050405020304" pitchFamily="18" charset="0"/>
              </a:rPr>
              <a:t>的最小质因子也为</a:t>
            </a:r>
            <a:r>
              <a:rPr lang="en-US" altLang="zh-CN" sz="2300" b="1" kern="100" noProof="1">
                <a:solidFill>
                  <a:srgbClr val="014B88"/>
                </a:solidFill>
                <a:latin typeface="仿宋_GB2312"/>
                <a:cs typeface="Times New Roman" panose="02020603050405020304" pitchFamily="18" charset="0"/>
              </a:rPr>
              <a:t>prime[j]</a:t>
            </a:r>
          </a:p>
          <a:p>
            <a:pPr lvl="3" algn="just">
              <a:lnSpc>
                <a:spcPct val="200000"/>
              </a:lnSpc>
              <a:buFont typeface="Wingdings" panose="05000000000000000000" pitchFamily="2" charset="2"/>
              <a:buChar char="l"/>
            </a:pPr>
            <a:r>
              <a:rPr lang="zh-CN" altLang="en-US" sz="2300" b="1" kern="100" noProof="1">
                <a:solidFill>
                  <a:srgbClr val="014B88"/>
                </a:solidFill>
                <a:latin typeface="仿宋_GB2312"/>
                <a:cs typeface="Times New Roman" panose="02020603050405020304" pitchFamily="18" charset="0"/>
              </a:rPr>
              <a:t>当</a:t>
            </a:r>
            <a:r>
              <a:rPr lang="en-US" altLang="zh-CN" sz="2300" b="1" kern="100" noProof="1">
                <a:solidFill>
                  <a:srgbClr val="014B88"/>
                </a:solidFill>
                <a:latin typeface="仿宋_GB2312"/>
                <a:cs typeface="Times New Roman" panose="02020603050405020304" pitchFamily="18" charset="0"/>
              </a:rPr>
              <a:t>i%prime[j] != 0</a:t>
            </a:r>
            <a:r>
              <a:rPr lang="zh-CN" altLang="en-US" sz="2300" b="1" kern="100" noProof="1">
                <a:solidFill>
                  <a:srgbClr val="014B88"/>
                </a:solidFill>
                <a:latin typeface="仿宋_GB2312"/>
                <a:cs typeface="Times New Roman" panose="02020603050405020304" pitchFamily="18" charset="0"/>
              </a:rPr>
              <a:t>时，</a:t>
            </a:r>
            <a:r>
              <a:rPr lang="en-US" altLang="zh-CN" sz="2300" b="1" kern="100" noProof="1">
                <a:solidFill>
                  <a:srgbClr val="014B88"/>
                </a:solidFill>
                <a:latin typeface="仿宋_GB2312"/>
                <a:cs typeface="Times New Roman" panose="02020603050405020304" pitchFamily="18" charset="0"/>
              </a:rPr>
              <a:t>i</a:t>
            </a:r>
            <a:r>
              <a:rPr lang="zh-CN" altLang="en-US" sz="2300" b="1" kern="100" noProof="1">
                <a:solidFill>
                  <a:srgbClr val="014B88"/>
                </a:solidFill>
                <a:latin typeface="仿宋_GB2312"/>
                <a:cs typeface="Times New Roman" panose="02020603050405020304" pitchFamily="18" charset="0"/>
              </a:rPr>
              <a:t>不能被比</a:t>
            </a:r>
            <a:r>
              <a:rPr lang="en-US" altLang="zh-CN" sz="2300" b="1" kern="100" noProof="1">
                <a:solidFill>
                  <a:srgbClr val="014B88"/>
                </a:solidFill>
                <a:latin typeface="仿宋_GB2312"/>
                <a:cs typeface="Times New Roman" panose="02020603050405020304" pitchFamily="18" charset="0"/>
              </a:rPr>
              <a:t>prime[j]</a:t>
            </a:r>
            <a:r>
              <a:rPr lang="zh-CN" altLang="en-US" sz="2300" b="1" kern="100" noProof="1">
                <a:solidFill>
                  <a:srgbClr val="014B88"/>
                </a:solidFill>
                <a:latin typeface="仿宋_GB2312"/>
                <a:cs typeface="Times New Roman" panose="02020603050405020304" pitchFamily="18" charset="0"/>
              </a:rPr>
              <a:t>小的任何质数整除，其最小质因子一定大于</a:t>
            </a:r>
            <a:r>
              <a:rPr lang="en-US" altLang="zh-CN" sz="2300" b="1" kern="100" noProof="1">
                <a:solidFill>
                  <a:srgbClr val="014B88"/>
                </a:solidFill>
                <a:latin typeface="仿宋_GB2312"/>
                <a:cs typeface="Times New Roman" panose="02020603050405020304" pitchFamily="18" charset="0"/>
              </a:rPr>
              <a:t>prime[j]</a:t>
            </a:r>
            <a:r>
              <a:rPr lang="zh-CN" altLang="en-US" sz="2300" b="1" kern="100" noProof="1">
                <a:solidFill>
                  <a:srgbClr val="014B88"/>
                </a:solidFill>
                <a:latin typeface="仿宋_GB2312"/>
                <a:cs typeface="Times New Roman" panose="02020603050405020304" pitchFamily="18" charset="0"/>
              </a:rPr>
              <a:t>，故</a:t>
            </a:r>
            <a:r>
              <a:rPr lang="en-US" altLang="zh-CN" sz="2300" b="1" kern="100" noProof="1">
                <a:solidFill>
                  <a:srgbClr val="014B88"/>
                </a:solidFill>
                <a:latin typeface="仿宋_GB2312"/>
                <a:cs typeface="Times New Roman" panose="02020603050405020304" pitchFamily="18" charset="0"/>
              </a:rPr>
              <a:t>prime[j]</a:t>
            </a:r>
            <a:r>
              <a:rPr lang="zh-CN" altLang="en-US" sz="2300" b="1" kern="100" noProof="1">
                <a:solidFill>
                  <a:srgbClr val="014B88"/>
                </a:solidFill>
                <a:latin typeface="仿宋_GB2312"/>
                <a:cs typeface="Times New Roman" panose="02020603050405020304" pitchFamily="18" charset="0"/>
              </a:rPr>
              <a:t>为</a:t>
            </a:r>
            <a:r>
              <a:rPr lang="en-US" altLang="zh-CN" sz="2300" b="1" kern="100" noProof="1">
                <a:solidFill>
                  <a:srgbClr val="014B88"/>
                </a:solidFill>
                <a:latin typeface="仿宋_GB2312"/>
                <a:cs typeface="Times New Roman" panose="02020603050405020304" pitchFamily="18" charset="0"/>
              </a:rPr>
              <a:t>i*prime[j]</a:t>
            </a:r>
            <a:r>
              <a:rPr lang="zh-CN" altLang="en-US" sz="2300" b="1" kern="100" noProof="1">
                <a:solidFill>
                  <a:srgbClr val="014B88"/>
                </a:solidFill>
                <a:latin typeface="仿宋_GB2312"/>
                <a:cs typeface="Times New Roman" panose="02020603050405020304" pitchFamily="18" charset="0"/>
              </a:rPr>
              <a:t>的最小质因子</a:t>
            </a:r>
            <a:endParaRPr lang="en-US" altLang="zh-CN" sz="2300"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sz="2300" b="1" kern="100" noProof="1">
                <a:solidFill>
                  <a:srgbClr val="014B88"/>
                </a:solidFill>
                <a:latin typeface="仿宋_GB2312"/>
                <a:cs typeface="Times New Roman" panose="02020603050405020304" pitchFamily="18" charset="0"/>
              </a:rPr>
              <a:t>对于任意的合数</a:t>
            </a:r>
            <a:r>
              <a:rPr lang="en-US" altLang="zh-CN" sz="2300" b="1" kern="100" noProof="1">
                <a:solidFill>
                  <a:srgbClr val="014B88"/>
                </a:solidFill>
                <a:latin typeface="仿宋_GB2312"/>
                <a:cs typeface="Times New Roman" panose="02020603050405020304" pitchFamily="18" charset="0"/>
              </a:rPr>
              <a:t>x</a:t>
            </a:r>
            <a:r>
              <a:rPr lang="zh-CN" altLang="en-US" sz="2300" b="1" kern="100" noProof="1">
                <a:solidFill>
                  <a:srgbClr val="014B88"/>
                </a:solidFill>
                <a:latin typeface="仿宋_GB2312"/>
                <a:cs typeface="Times New Roman" panose="02020603050405020304" pitchFamily="18" charset="0"/>
              </a:rPr>
              <a:t>，假设其最小质因子是</a:t>
            </a:r>
            <a:r>
              <a:rPr lang="en-US" altLang="zh-CN" sz="2300" b="1" kern="100" noProof="1">
                <a:solidFill>
                  <a:srgbClr val="014B88"/>
                </a:solidFill>
                <a:latin typeface="仿宋_GB2312"/>
                <a:cs typeface="Times New Roman" panose="02020603050405020304" pitchFamily="18" charset="0"/>
              </a:rPr>
              <a:t>pj</a:t>
            </a:r>
            <a:r>
              <a:rPr lang="zh-CN" altLang="en-US" sz="2300" b="1" kern="100" noProof="1">
                <a:solidFill>
                  <a:srgbClr val="014B88"/>
                </a:solidFill>
                <a:latin typeface="仿宋_GB2312"/>
                <a:cs typeface="Times New Roman" panose="02020603050405020304" pitchFamily="18" charset="0"/>
              </a:rPr>
              <a:t>，当</a:t>
            </a:r>
            <a:r>
              <a:rPr lang="en-US" altLang="zh-CN" sz="2300" b="1" kern="100" noProof="1">
                <a:solidFill>
                  <a:srgbClr val="014B88"/>
                </a:solidFill>
                <a:latin typeface="仿宋_GB2312"/>
                <a:cs typeface="Times New Roman" panose="02020603050405020304" pitchFamily="18" charset="0"/>
              </a:rPr>
              <a:t>i</a:t>
            </a:r>
            <a:r>
              <a:rPr lang="zh-CN" altLang="en-US" sz="2300" b="1" kern="100" noProof="1">
                <a:solidFill>
                  <a:srgbClr val="014B88"/>
                </a:solidFill>
                <a:latin typeface="仿宋_GB2312"/>
                <a:cs typeface="Times New Roman" panose="02020603050405020304" pitchFamily="18" charset="0"/>
              </a:rPr>
              <a:t>枚举到</a:t>
            </a:r>
            <a:r>
              <a:rPr lang="en-US" altLang="zh-CN" sz="2300" b="1" kern="100" noProof="1">
                <a:solidFill>
                  <a:srgbClr val="014B88"/>
                </a:solidFill>
                <a:latin typeface="仿宋_GB2312"/>
                <a:cs typeface="Times New Roman" panose="02020603050405020304" pitchFamily="18" charset="0"/>
              </a:rPr>
              <a:t>x/pj</a:t>
            </a:r>
            <a:r>
              <a:rPr lang="zh-CN" altLang="en-US" sz="2300" b="1" kern="100" noProof="1">
                <a:solidFill>
                  <a:srgbClr val="014B88"/>
                </a:solidFill>
                <a:latin typeface="仿宋_GB2312"/>
                <a:cs typeface="Times New Roman" panose="02020603050405020304" pitchFamily="18" charset="0"/>
              </a:rPr>
              <a:t>时即可将其筛掉</a:t>
            </a:r>
            <a:endParaRPr lang="en-US" altLang="zh-CN" sz="2300" b="1" kern="100" noProof="1">
              <a:solidFill>
                <a:srgbClr val="014B88"/>
              </a:solidFill>
              <a:latin typeface="仿宋_GB2312"/>
              <a:cs typeface="Times New Roman" panose="02020603050405020304" pitchFamily="18" charset="0"/>
            </a:endParaRPr>
          </a:p>
          <a:p>
            <a:pPr marL="914400" lvl="2" indent="0" algn="just">
              <a:lnSpc>
                <a:spcPct val="200000"/>
              </a:lnSpc>
              <a:buNone/>
            </a:pPr>
            <a:endParaRPr lang="en-US" altLang="zh-CN" sz="2300"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sz="2300" b="1" kern="100" noProof="1">
                <a:solidFill>
                  <a:srgbClr val="C00000"/>
                </a:solidFill>
                <a:latin typeface="仿宋_GB2312"/>
                <a:cs typeface="Times New Roman" panose="02020603050405020304" pitchFamily="18" charset="0"/>
              </a:rPr>
              <a:t>结论：所有合数都被筛掉，且都被其最小质因子筛掉（所以每个合数都只筛了一次，该筛法为线性复杂度）</a:t>
            </a:r>
            <a:endParaRPr lang="en-US" altLang="zh-CN" sz="2300" b="1" kern="100" noProof="1">
              <a:solidFill>
                <a:srgbClr val="C00000"/>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r>
              <a:rPr lang="zh-CN" altLang="en-US" sz="2300" b="1" kern="100" noProof="1">
                <a:solidFill>
                  <a:srgbClr val="014B88"/>
                </a:solidFill>
                <a:latin typeface="仿宋_GB2312"/>
                <a:cs typeface="Times New Roman" panose="02020603050405020304" pitchFamily="18" charset="0"/>
              </a:rPr>
              <a:t>内层循环不需要写</a:t>
            </a:r>
            <a:r>
              <a:rPr lang="en-US" altLang="zh-CN" sz="2300" b="1" kern="100" noProof="1">
                <a:solidFill>
                  <a:srgbClr val="014B88"/>
                </a:solidFill>
                <a:latin typeface="仿宋_GB2312"/>
                <a:cs typeface="Times New Roman" panose="02020603050405020304" pitchFamily="18" charset="0"/>
              </a:rPr>
              <a:t>j&lt;cnt</a:t>
            </a:r>
            <a:r>
              <a:rPr lang="zh-CN" altLang="en-US" sz="2300" b="1" kern="100" noProof="1">
                <a:solidFill>
                  <a:srgbClr val="014B88"/>
                </a:solidFill>
                <a:latin typeface="仿宋_GB2312"/>
                <a:cs typeface="Times New Roman" panose="02020603050405020304" pitchFamily="18" charset="0"/>
              </a:rPr>
              <a:t>：因为</a:t>
            </a:r>
            <a:r>
              <a:rPr lang="en-US" altLang="zh-CN" sz="2300" b="1" kern="100" noProof="1">
                <a:solidFill>
                  <a:srgbClr val="014B88"/>
                </a:solidFill>
                <a:latin typeface="仿宋_GB2312"/>
                <a:cs typeface="Times New Roman" panose="02020603050405020304" pitchFamily="18" charset="0"/>
              </a:rPr>
              <a:t>i</a:t>
            </a:r>
            <a:r>
              <a:rPr lang="zh-CN" altLang="en-US" sz="2300" b="1" kern="100" noProof="1">
                <a:solidFill>
                  <a:srgbClr val="014B88"/>
                </a:solidFill>
                <a:latin typeface="仿宋_GB2312"/>
                <a:cs typeface="Times New Roman" panose="02020603050405020304" pitchFamily="18" charset="0"/>
              </a:rPr>
              <a:t>之前的所有质数都已在</a:t>
            </a:r>
            <a:r>
              <a:rPr lang="en-US" altLang="zh-CN" sz="2300" b="1" kern="100" noProof="1">
                <a:solidFill>
                  <a:srgbClr val="014B88"/>
                </a:solidFill>
                <a:latin typeface="仿宋_GB2312"/>
                <a:cs typeface="Times New Roman" panose="02020603050405020304" pitchFamily="18" charset="0"/>
              </a:rPr>
              <a:t>prime</a:t>
            </a:r>
            <a:r>
              <a:rPr lang="zh-CN" altLang="en-US" sz="2300" b="1" kern="100" noProof="1">
                <a:solidFill>
                  <a:srgbClr val="014B88"/>
                </a:solidFill>
                <a:latin typeface="仿宋_GB2312"/>
                <a:cs typeface="Times New Roman" panose="02020603050405020304" pitchFamily="18" charset="0"/>
              </a:rPr>
              <a:t>数组里</a:t>
            </a:r>
            <a:r>
              <a:rPr lang="en-US" altLang="zh-CN" sz="2300" b="1" kern="100" noProof="1">
                <a:solidFill>
                  <a:srgbClr val="014B88"/>
                </a:solidFill>
                <a:latin typeface="仿宋_GB2312"/>
                <a:cs typeface="Times New Roman" panose="02020603050405020304" pitchFamily="18" charset="0"/>
              </a:rPr>
              <a:t>(prime[cnt-1]</a:t>
            </a:r>
            <a:r>
              <a:rPr lang="zh-CN" altLang="en-US" sz="2300" b="1" kern="100" noProof="1">
                <a:solidFill>
                  <a:srgbClr val="014B88"/>
                </a:solidFill>
                <a:latin typeface="仿宋_GB2312"/>
                <a:cs typeface="Times New Roman" panose="02020603050405020304" pitchFamily="18" charset="0"/>
              </a:rPr>
              <a:t>之前的数</a:t>
            </a:r>
            <a:r>
              <a:rPr lang="en-US" altLang="zh-CN" sz="2300" b="1" kern="100" noProof="1">
                <a:solidFill>
                  <a:srgbClr val="014B88"/>
                </a:solidFill>
                <a:latin typeface="仿宋_GB2312"/>
                <a:cs typeface="Times New Roman" panose="02020603050405020304" pitchFamily="18" charset="0"/>
              </a:rPr>
              <a:t>)</a:t>
            </a:r>
            <a:r>
              <a:rPr lang="zh-CN" altLang="en-US" sz="2300" b="1" kern="100" noProof="1">
                <a:solidFill>
                  <a:srgbClr val="014B88"/>
                </a:solidFill>
                <a:latin typeface="仿宋_GB2312"/>
                <a:cs typeface="Times New Roman" panose="02020603050405020304" pitchFamily="18" charset="0"/>
              </a:rPr>
              <a:t>，一定会在到达某个质数的时候触发</a:t>
            </a:r>
            <a:r>
              <a:rPr lang="en-US" altLang="zh-CN" sz="2300" b="1" kern="100" noProof="1">
                <a:solidFill>
                  <a:srgbClr val="014B88"/>
                </a:solidFill>
                <a:latin typeface="仿宋_GB2312"/>
                <a:cs typeface="Times New Roman" panose="02020603050405020304" pitchFamily="18" charset="0"/>
              </a:rPr>
              <a:t>break</a:t>
            </a:r>
            <a:r>
              <a:rPr lang="zh-CN" altLang="en-US" sz="2300" b="1" kern="100" noProof="1">
                <a:solidFill>
                  <a:srgbClr val="014B88"/>
                </a:solidFill>
                <a:latin typeface="仿宋_GB2312"/>
                <a:cs typeface="Times New Roman" panose="02020603050405020304" pitchFamily="18" charset="0"/>
              </a:rPr>
              <a:t>条件</a:t>
            </a:r>
            <a:endParaRPr lang="en-US" altLang="zh-CN" sz="2300"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1"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3" algn="just">
              <a:lnSpc>
                <a:spcPct val="200000"/>
              </a:lnSpc>
              <a:buFont typeface="Wingdings" panose="05000000000000000000" pitchFamily="2" charset="2"/>
              <a:buChar char="l"/>
            </a:pPr>
            <a:endParaRPr lang="en-US" altLang="zh-CN" b="1" kern="100" noProof="1">
              <a:solidFill>
                <a:srgbClr val="014B88"/>
              </a:solidFill>
              <a:latin typeface="仿宋_GB2312"/>
              <a:cs typeface="Times New Roman" panose="02020603050405020304" pitchFamily="18" charset="0"/>
            </a:endParaRPr>
          </a:p>
          <a:p>
            <a:pPr lvl="2" algn="just">
              <a:lnSpc>
                <a:spcPct val="200000"/>
              </a:lnSpc>
              <a:buFont typeface="Wingdings" panose="05000000000000000000" pitchFamily="2" charset="2"/>
              <a:buChar char="l"/>
            </a:pPr>
            <a:endParaRPr lang="zh-CN" altLang="en-US" b="1" kern="100" noProof="1">
              <a:solidFill>
                <a:srgbClr val="014B88"/>
              </a:solidFill>
              <a:latin typeface="仿宋_GB2312"/>
              <a:cs typeface="Times New Roman" panose="02020603050405020304" pitchFamily="18" charset="0"/>
            </a:endParaRPr>
          </a:p>
        </p:txBody>
      </p:sp>
      <p:sp>
        <p:nvSpPr>
          <p:cNvPr id="3"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质数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6789" y="0"/>
            <a:ext cx="4324572" cy="3740727"/>
          </a:xfrm>
          <a:prstGeom prst="rect">
            <a:avLst/>
          </a:prstGeom>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419">
                                            <p:txEl>
                                              <p:pRg st="2" end="2"/>
                                            </p:txEl>
                                          </p:spTgt>
                                        </p:tgtEl>
                                        <p:attrNameLst>
                                          <p:attrName>style.visibility</p:attrName>
                                        </p:attrNameLst>
                                      </p:cBhvr>
                                      <p:to>
                                        <p:strVal val="visible"/>
                                      </p:to>
                                    </p:set>
                                    <p:animEffect transition="in" filter="fade">
                                      <p:cBhvr>
                                        <p:cTn id="12" dur="500"/>
                                        <p:tgtEl>
                                          <p:spTgt spid="60419">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0419">
                                            <p:txEl>
                                              <p:pRg st="3" end="3"/>
                                            </p:txEl>
                                          </p:spTgt>
                                        </p:tgtEl>
                                        <p:attrNameLst>
                                          <p:attrName>style.visibility</p:attrName>
                                        </p:attrNameLst>
                                      </p:cBhvr>
                                      <p:to>
                                        <p:strVal val="visible"/>
                                      </p:to>
                                    </p:set>
                                    <p:animEffect transition="in" filter="fade">
                                      <p:cBhvr>
                                        <p:cTn id="15" dur="500"/>
                                        <p:tgtEl>
                                          <p:spTgt spid="6041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0419">
                                            <p:txEl>
                                              <p:pRg st="5" end="5"/>
                                            </p:txEl>
                                          </p:spTgt>
                                        </p:tgtEl>
                                        <p:attrNameLst>
                                          <p:attrName>style.visibility</p:attrName>
                                        </p:attrNameLst>
                                      </p:cBhvr>
                                      <p:to>
                                        <p:strVal val="visible"/>
                                      </p:to>
                                    </p:set>
                                    <p:animEffect transition="in" filter="fade">
                                      <p:cBhvr>
                                        <p:cTn id="20" dur="500"/>
                                        <p:tgtEl>
                                          <p:spTgt spid="60419">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0419">
                                            <p:txEl>
                                              <p:pRg st="6" end="6"/>
                                            </p:txEl>
                                          </p:spTgt>
                                        </p:tgtEl>
                                        <p:attrNameLst>
                                          <p:attrName>style.visibility</p:attrName>
                                        </p:attrNameLst>
                                      </p:cBhvr>
                                      <p:to>
                                        <p:strVal val="visible"/>
                                      </p:to>
                                    </p:set>
                                    <p:animEffect transition="in" filter="fade">
                                      <p:cBhvr>
                                        <p:cTn id="23" dur="500"/>
                                        <p:tgtEl>
                                          <p:spTgt spid="60419">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0419">
                                            <p:txEl>
                                              <p:pRg st="7" end="7"/>
                                            </p:txEl>
                                          </p:spTgt>
                                        </p:tgtEl>
                                        <p:attrNameLst>
                                          <p:attrName>style.visibility</p:attrName>
                                        </p:attrNameLst>
                                      </p:cBhvr>
                                      <p:to>
                                        <p:strVal val="visible"/>
                                      </p:to>
                                    </p:set>
                                    <p:animEffect transition="in" filter="fade">
                                      <p:cBhvr>
                                        <p:cTn id="26" dur="500"/>
                                        <p:tgtEl>
                                          <p:spTgt spid="60419">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0419">
                                            <p:txEl>
                                              <p:pRg st="8" end="8"/>
                                            </p:txEl>
                                          </p:spTgt>
                                        </p:tgtEl>
                                        <p:attrNameLst>
                                          <p:attrName>style.visibility</p:attrName>
                                        </p:attrNameLst>
                                      </p:cBhvr>
                                      <p:to>
                                        <p:strVal val="visible"/>
                                      </p:to>
                                    </p:set>
                                    <p:animEffect transition="in" filter="fade">
                                      <p:cBhvr>
                                        <p:cTn id="31" dur="500"/>
                                        <p:tgtEl>
                                          <p:spTgt spid="60419">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0419">
                                            <p:txEl>
                                              <p:pRg st="10" end="10"/>
                                            </p:txEl>
                                          </p:spTgt>
                                        </p:tgtEl>
                                        <p:attrNameLst>
                                          <p:attrName>style.visibility</p:attrName>
                                        </p:attrNameLst>
                                      </p:cBhvr>
                                      <p:to>
                                        <p:strVal val="visible"/>
                                      </p:to>
                                    </p:set>
                                    <p:animEffect transition="in" filter="fade">
                                      <p:cBhvr>
                                        <p:cTn id="36" dur="500"/>
                                        <p:tgtEl>
                                          <p:spTgt spid="60419">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0419">
                                            <p:txEl>
                                              <p:pRg st="11" end="11"/>
                                            </p:txEl>
                                          </p:spTgt>
                                        </p:tgtEl>
                                        <p:attrNameLst>
                                          <p:attrName>style.visibility</p:attrName>
                                        </p:attrNameLst>
                                      </p:cBhvr>
                                      <p:to>
                                        <p:strVal val="visible"/>
                                      </p:to>
                                    </p:set>
                                    <p:animEffect transition="in" filter="fade">
                                      <p:cBhvr>
                                        <p:cTn id="41" dur="500"/>
                                        <p:tgtEl>
                                          <p:spTgt spid="6041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约数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 试除法求一个数的所有约数，时间复杂度为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sqrt(n)</a:t>
            </a: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求一个数的所有约数的个数以及所有约数的和</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由算数基本定理：</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N=p1^α1*p2^α2……pk^αk</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914400" marR="0" lvl="2" indent="0" algn="just" defTabSz="914400" rtl="0" eaLnBrk="1" fontAlgn="auto" latinLnBrk="0" hangingPunct="1">
              <a:lnSpc>
                <a:spcPct val="200000"/>
              </a:lnSpc>
              <a:spcBef>
                <a:spcPts val="500"/>
              </a:spcBef>
              <a:spcAft>
                <a:spcPts val="0"/>
              </a:spcAft>
              <a:buClrTx/>
              <a:buSzTx/>
              <a:buFont typeface="Arial" panose="020B0604020202020204" pitchFamily="34" charset="0"/>
              <a:buNone/>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   </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约数的个数</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α1+1</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α2+1</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αk+1</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所有约数的和</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(p1^0+p1^1+……+p1^</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 α1</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)……(pk^0+pk^1+……+pk^</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 α1</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7" name="矩形 6"/>
          <p:cNvSpPr/>
          <p:nvPr/>
        </p:nvSpPr>
        <p:spPr>
          <a:xfrm>
            <a:off x="1145811" y="5243215"/>
            <a:ext cx="4765402"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3C51B4"/>
                </a:solidFill>
                <a:effectLst/>
                <a:uLnTx/>
                <a:uFillTx/>
                <a:latin typeface="Arial" panose="020B0604020202020204" pitchFamily="34" charset="0"/>
                <a:ea typeface="微软雅黑" panose="020B0503020204020204" pitchFamily="34" charset="-122"/>
                <a:cs typeface="+mn-cs"/>
              </a:rPr>
              <a:t>求约数之和实现：</a:t>
            </a:r>
            <a:r>
              <a:rPr kumimoji="0" lang="en-US" altLang="zh-CN" sz="1800" b="1" i="0" u="none" strike="noStrike" kern="1200" cap="none" spc="0" normalizeH="0" baseline="0" noProof="0" dirty="0">
                <a:ln>
                  <a:noFill/>
                </a:ln>
                <a:solidFill>
                  <a:srgbClr val="3C51B4"/>
                </a:solidFill>
                <a:effectLst/>
                <a:uLnTx/>
                <a:uFillTx/>
                <a:latin typeface="Arial" panose="020B0604020202020204" pitchFamily="34" charset="0"/>
                <a:ea typeface="微软雅黑" panose="020B0503020204020204" pitchFamily="34" charset="-122"/>
                <a:cs typeface="+mn-cs"/>
              </a:rPr>
              <a:t>t = 1; t = p*t + 1</a:t>
            </a:r>
            <a:r>
              <a:rPr kumimoji="0" lang="zh-CN" altLang="en-US" sz="1800" b="1" i="0" u="none" strike="noStrike" kern="1200" cap="none" spc="0" normalizeH="0" baseline="0" noProof="0" dirty="0">
                <a:ln>
                  <a:noFill/>
                </a:ln>
                <a:solidFill>
                  <a:srgbClr val="3C51B4"/>
                </a:solidFill>
                <a:effectLst/>
                <a:uLnTx/>
                <a:uFillTx/>
                <a:latin typeface="Arial" panose="020B0604020202020204" pitchFamily="34" charset="0"/>
                <a:ea typeface="微软雅黑" panose="020B0503020204020204" pitchFamily="34" charset="-122"/>
                <a:cs typeface="+mn-cs"/>
              </a:rPr>
              <a:t>执行</a:t>
            </a:r>
            <a:r>
              <a:rPr kumimoji="0" lang="en-US" altLang="zh-CN" sz="1800" b="1" i="0" u="none" strike="noStrike" kern="1200" cap="none" spc="0" normalizeH="0" baseline="0" noProof="0" dirty="0">
                <a:ln>
                  <a:noFill/>
                </a:ln>
                <a:solidFill>
                  <a:srgbClr val="3C51B4"/>
                </a:solidFill>
                <a:effectLst/>
                <a:uLnTx/>
                <a:uFillTx/>
                <a:latin typeface="Arial" panose="020B0604020202020204" pitchFamily="34" charset="0"/>
                <a:ea typeface="微软雅黑" panose="020B0503020204020204" pitchFamily="34" charset="-122"/>
                <a:cs typeface="+mn-cs"/>
              </a:rPr>
              <a:t>α1</a:t>
            </a:r>
            <a:r>
              <a:rPr kumimoji="0" lang="zh-CN" altLang="en-US" sz="1800" b="1" i="0" u="none" strike="noStrike" kern="1200" cap="none" spc="0" normalizeH="0" baseline="0" noProof="0" dirty="0">
                <a:ln>
                  <a:noFill/>
                </a:ln>
                <a:solidFill>
                  <a:srgbClr val="3C51B4"/>
                </a:solidFill>
                <a:effectLst/>
                <a:uLnTx/>
                <a:uFillTx/>
                <a:latin typeface="Arial" panose="020B0604020202020204" pitchFamily="34" charset="0"/>
                <a:ea typeface="微软雅黑" panose="020B0503020204020204" pitchFamily="34" charset="-122"/>
                <a:cs typeface="+mn-cs"/>
              </a:rPr>
              <a:t>次</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pic>
        <p:nvPicPr>
          <p:cNvPr id="9" name="图片 8"/>
          <p:cNvPicPr>
            <a:picLocks noChangeAspect="1"/>
          </p:cNvPicPr>
          <p:nvPr/>
        </p:nvPicPr>
        <p:blipFill>
          <a:blip r:embed="rId2"/>
          <a:stretch>
            <a:fillRect/>
          </a:stretch>
        </p:blipFill>
        <p:spPr>
          <a:xfrm>
            <a:off x="7730067" y="0"/>
            <a:ext cx="4461933" cy="4375153"/>
          </a:xfrm>
          <a:prstGeom prst="rect">
            <a:avLst/>
          </a:prstGeom>
        </p:spPr>
      </p:pic>
      <p:pic>
        <p:nvPicPr>
          <p:cNvPr id="12" name="图片 11"/>
          <p:cNvPicPr>
            <a:picLocks noChangeAspect="1"/>
          </p:cNvPicPr>
          <p:nvPr/>
        </p:nvPicPr>
        <p:blipFill>
          <a:blip r:embed="rId3"/>
          <a:stretch>
            <a:fillRect/>
          </a:stretch>
        </p:blipFill>
        <p:spPr>
          <a:xfrm>
            <a:off x="6897226" y="4815838"/>
            <a:ext cx="4861832" cy="20090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500"/>
                                        <p:tgtEl>
                                          <p:spTgt spid="7">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最大公约数（欧几里得算法）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欧几里得算法（辗转相除法）</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的最大公约数与</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 mod 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的最大公约数相同，因为左边的任何公约数都是右边的公约数，右边的任何公约数都是左边的公约数，二者的公约数的集合相同，两边的最大公约数也是相同的，所以可以辗转相除到</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为</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0</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(a,0)</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的最大公约数一定是</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假设左边的公约数为</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，则</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 = x*d, b = y*d(x,y</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为整数</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，由于</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 mod b = a – (a/b)*b</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（这里</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a/b</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值为下取整结果，是一个整数，用</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q</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代替），即 </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 mod b = a – q*b = x*d – q*y*d = (x-q*y)*d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，因为</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x-q*y</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是整数，所以</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也是</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 mod b</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的约数，又由于</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是</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的约数，所以</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是</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 mod b)</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的公约数</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假设右边的公约数为</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，则</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b = x*d, a mod b = y*d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，即</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 – q*b = y*d, </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代入</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得</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 – q*x*d = y*d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，即</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 =(y+q*x)*d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，即</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是</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 </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的约数，即</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是</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(a,b)</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的公约数</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7128933" y="646226"/>
            <a:ext cx="4407443" cy="9822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扩展欧几里得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问题：假设你有一个</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5</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升的容器（容器</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）和一个</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3</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升的容器（容器</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）（以及充足的水源），如何精确地取出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4</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升水来？</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装满水，倒入</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将</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装满，再将</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的水全部倒出，继续将</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的水倒入</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空以后再将</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接满，继续倒入</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不断将</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接满水倒入</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满了就将</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的水倒出，直至</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中剩的水等于要求的水量</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接满</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次水，</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倒出</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次水，最后</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中剩的水为</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5*2-3*2=4</a:t>
            </a: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容器</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容量为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，容器</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容量为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，需要取出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c</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升水</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求</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ax+by=c</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的整数解</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扩展欧几里得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扩展欧几里得算法：求方程</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ax+by=c</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的整数解</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裴蜀定理：对任何整数</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和它们的最大公约数</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，关于未知数</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和</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y</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的线性不定方程（称为裴蜀等式）：若</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a,b</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是整数</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且</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gcd(a,b)=d</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，那么对于任意的整数</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x,y,ax+by</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都一定是</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的倍数，特别地，</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一定存在整数</a:t>
            </a:r>
            <a:r>
              <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x,y</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，使</a:t>
            </a:r>
            <a:r>
              <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ax+by=d</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成立。</a:t>
            </a:r>
            <a:endPar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457200" marR="0" lvl="1" indent="0" algn="just" defTabSz="914400" rtl="0" eaLnBrk="1" fontAlgn="auto" latinLnBrk="0" hangingPunct="1">
              <a:lnSpc>
                <a:spcPct val="200000"/>
              </a:lnSpc>
              <a:spcBef>
                <a:spcPts val="500"/>
              </a:spcBef>
              <a:spcAft>
                <a:spcPts val="0"/>
              </a:spcAft>
              <a:buClrTx/>
              <a:buSzTx/>
              <a:buNone/>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扩展欧几里得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证明：</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一定存在整数</a:t>
            </a:r>
            <a:r>
              <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x,y</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，使</a:t>
            </a:r>
            <a:r>
              <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ax+by=d</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成立（</a:t>
            </a:r>
            <a:r>
              <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d=gcd(a,b)</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endPar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欧几里得求最大公约数的过程为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(a,b)(b,a%b)……(d,0)</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的过程</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当</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a=d,b=0</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时，即对于</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(d,0)</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这组数，</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d*x+0*y=d</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存在整数解</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x=1,y=</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任意整数，使得</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ax+by=d</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成立。</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如果能证明下面这个命题成立，那么就可以推导出</a:t>
            </a:r>
            <a:r>
              <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ax+by=d</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有整数解</a:t>
            </a:r>
            <a:endPar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证明：</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如果</a:t>
            </a:r>
            <a:r>
              <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bx+(a%b)y=d</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有整数解，那么</a:t>
            </a:r>
            <a:r>
              <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ax+by=d</a:t>
            </a:r>
            <a:r>
              <a:rPr kumimoji="0" lang="zh-CN" altLang="en-US"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有整数解</a:t>
            </a:r>
            <a:endParaRPr kumimoji="0" lang="en-US" altLang="zh-CN" sz="24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设</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(x1,y1)</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为</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bx+(a%b)y=d</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的整数解，</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可表示为</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a-q*b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，其中</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q</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为</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的下取整值，代入得</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bx1+(a-qb)y1=d</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，转换得</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ay1+b(x1-qy1)=d</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，由于</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y1</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(x1-qy1)</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都是整数，所以</a:t>
            </a: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(y1,x1-qy1)</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是</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ax+by=d</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的一组整数解，即</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ax+by=d</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有整数解</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457200" marR="0" lvl="1" indent="0" algn="just" defTabSz="914400" rtl="0" eaLnBrk="1" fontAlgn="auto" latinLnBrk="0" hangingPunct="1">
              <a:lnSpc>
                <a:spcPct val="200000"/>
              </a:lnSpc>
              <a:spcBef>
                <a:spcPts val="500"/>
              </a:spcBef>
              <a:spcAft>
                <a:spcPts val="0"/>
              </a:spcAft>
              <a:buClrTx/>
              <a:buSzTx/>
              <a:buFont typeface="Arial" panose="020B0604020202020204" pitchFamily="34" charset="0"/>
              <a:buNone/>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C91A9B1-6D65-4E50-8A17-731F0A751691}"/>
              </a:ext>
            </a:extLst>
          </p:cNvPr>
          <p:cNvSpPr/>
          <p:nvPr/>
        </p:nvSpPr>
        <p:spPr>
          <a:xfrm>
            <a:off x="0" y="1192615"/>
            <a:ext cx="11654443" cy="2718308"/>
          </a:xfrm>
          <a:prstGeom prst="rect">
            <a:avLst/>
          </a:prstGeom>
        </p:spPr>
        <p:txBody>
          <a:bodyPr wrap="square">
            <a:spAutoFit/>
          </a:bodyPr>
          <a:lstStyle/>
          <a:p>
            <a:pPr marL="685800" lvl="1" indent="-228600" algn="just">
              <a:lnSpc>
                <a:spcPct val="200000"/>
              </a:lnSpc>
              <a:spcBef>
                <a:spcPts val="500"/>
              </a:spcBef>
              <a:buFont typeface="Wingdings" panose="05000000000000000000" pitchFamily="2" charset="2"/>
              <a:buChar char="l"/>
              <a:defRPr/>
            </a:pPr>
            <a:r>
              <a:rPr lang="en-US" altLang="zh-CN" sz="2400" b="1" kern="100" noProof="1">
                <a:solidFill>
                  <a:srgbClr val="014B88"/>
                </a:solidFill>
                <a:latin typeface="仿宋_GB2312"/>
                <a:cs typeface="Times New Roman" panose="02020603050405020304" pitchFamily="18" charset="0"/>
                <a:sym typeface="Wingdings" panose="05000000000000000000" pitchFamily="2" charset="2"/>
              </a:rPr>
              <a:t>ax+by=c</a:t>
            </a:r>
            <a:r>
              <a:rPr lang="zh-CN" altLang="en-US" sz="2400" b="1" kern="100" noProof="1">
                <a:solidFill>
                  <a:srgbClr val="014B88"/>
                </a:solidFill>
                <a:latin typeface="仿宋_GB2312"/>
                <a:cs typeface="Times New Roman" panose="02020603050405020304" pitchFamily="18" charset="0"/>
                <a:sym typeface="Wingdings" panose="05000000000000000000" pitchFamily="2" charset="2"/>
              </a:rPr>
              <a:t>有整数解的充分必要条件是</a:t>
            </a:r>
            <a:r>
              <a:rPr lang="en-US" altLang="zh-CN" sz="2400" b="1" kern="100" noProof="1">
                <a:solidFill>
                  <a:srgbClr val="014B88"/>
                </a:solidFill>
                <a:latin typeface="仿宋_GB2312"/>
                <a:cs typeface="Times New Roman" panose="02020603050405020304" pitchFamily="18" charset="0"/>
                <a:sym typeface="Wingdings" panose="05000000000000000000" pitchFamily="2" charset="2"/>
              </a:rPr>
              <a:t>d=gcd(a,b)</a:t>
            </a:r>
            <a:r>
              <a:rPr lang="zh-CN" altLang="en-US" sz="2400" b="1" kern="100" noProof="1">
                <a:solidFill>
                  <a:srgbClr val="014B88"/>
                </a:solidFill>
                <a:latin typeface="仿宋_GB2312"/>
                <a:cs typeface="Times New Roman" panose="02020603050405020304" pitchFamily="18" charset="0"/>
                <a:sym typeface="Wingdings" panose="05000000000000000000" pitchFamily="2" charset="2"/>
              </a:rPr>
              <a:t>能整除</a:t>
            </a:r>
            <a:r>
              <a:rPr lang="en-US" altLang="zh-CN" sz="2400" b="1" kern="100" noProof="1">
                <a:solidFill>
                  <a:srgbClr val="014B88"/>
                </a:solidFill>
                <a:latin typeface="仿宋_GB2312"/>
                <a:cs typeface="Times New Roman" panose="02020603050405020304" pitchFamily="18" charset="0"/>
                <a:sym typeface="Wingdings" panose="05000000000000000000" pitchFamily="2" charset="2"/>
              </a:rPr>
              <a:t>c</a:t>
            </a:r>
          </a:p>
          <a:p>
            <a:pPr marL="1143000" lvl="2" indent="-228600" algn="just">
              <a:lnSpc>
                <a:spcPct val="200000"/>
              </a:lnSpc>
              <a:spcBef>
                <a:spcPts val="500"/>
              </a:spcBef>
              <a:buFont typeface="Wingdings" panose="05000000000000000000" pitchFamily="2" charset="2"/>
              <a:buChar char="l"/>
              <a:defRPr/>
            </a:pP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ax+by=c</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有整数解，设为（</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x1,y1</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则</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ax1+by1=c</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，由于</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d</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为</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a</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和</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b</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的公约数，所以</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d</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也能整除</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c</a:t>
            </a:r>
          </a:p>
          <a:p>
            <a:pPr marL="1143000" lvl="2" indent="-228600" algn="just">
              <a:lnSpc>
                <a:spcPct val="200000"/>
              </a:lnSpc>
              <a:spcBef>
                <a:spcPts val="500"/>
              </a:spcBef>
              <a:buFont typeface="Wingdings" panose="05000000000000000000" pitchFamily="2" charset="2"/>
              <a:buChar char="l"/>
              <a:defRPr/>
            </a:pP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d</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能整除</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c</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，设</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k=c/d</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a:t>
            </a:r>
            <a:r>
              <a:rPr lang="zh-CN" altLang="en-US" sz="2000" b="1" kern="100" noProof="1">
                <a:solidFill>
                  <a:srgbClr val="FF0000"/>
                </a:solidFill>
                <a:latin typeface="仿宋_GB2312"/>
                <a:cs typeface="Times New Roman" panose="02020603050405020304" pitchFamily="18" charset="0"/>
                <a:sym typeface="Wingdings" panose="05000000000000000000" pitchFamily="2" charset="2"/>
              </a:rPr>
              <a:t>由于</a:t>
            </a:r>
            <a:r>
              <a:rPr lang="en-US" altLang="zh-CN" sz="2000" b="1" kern="100" noProof="1">
                <a:solidFill>
                  <a:srgbClr val="FF0000"/>
                </a:solidFill>
                <a:latin typeface="仿宋_GB2312"/>
                <a:cs typeface="Times New Roman" panose="02020603050405020304" pitchFamily="18" charset="0"/>
                <a:sym typeface="Wingdings" panose="05000000000000000000" pitchFamily="2" charset="2"/>
              </a:rPr>
              <a:t>ax+by=d</a:t>
            </a:r>
            <a:r>
              <a:rPr lang="zh-CN" altLang="en-US" sz="2000" b="1" kern="100" noProof="1">
                <a:solidFill>
                  <a:srgbClr val="FF0000"/>
                </a:solidFill>
                <a:latin typeface="仿宋_GB2312"/>
                <a:cs typeface="Times New Roman" panose="02020603050405020304" pitchFamily="18" charset="0"/>
                <a:sym typeface="Wingdings" panose="05000000000000000000" pitchFamily="2" charset="2"/>
              </a:rPr>
              <a:t>有解</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，设解为</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(x1,y1)</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，则</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ax1+by1=d,</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两边同时乘以</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k,</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则</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akx1+bky1=c,</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由于</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kx1</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和</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ky1</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都是整数，即</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ax+by=c</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存在一组整数解</a:t>
            </a:r>
            <a:r>
              <a:rPr lang="en-US" altLang="zh-CN" sz="2000" b="1" kern="100" noProof="1">
                <a:solidFill>
                  <a:srgbClr val="014B88"/>
                </a:solidFill>
                <a:latin typeface="仿宋_GB2312"/>
                <a:cs typeface="Times New Roman" panose="02020603050405020304" pitchFamily="18" charset="0"/>
                <a:sym typeface="Wingdings" panose="05000000000000000000" pitchFamily="2" charset="2"/>
              </a:rPr>
              <a:t>(kx1,ky1)</a:t>
            </a:r>
            <a:r>
              <a:rPr lang="zh-CN" altLang="en-US" sz="2000" b="1" kern="100" noProof="1">
                <a:solidFill>
                  <a:srgbClr val="014B88"/>
                </a:solidFill>
                <a:latin typeface="仿宋_GB2312"/>
                <a:cs typeface="Times New Roman" panose="02020603050405020304" pitchFamily="18" charset="0"/>
                <a:sym typeface="Wingdings" panose="05000000000000000000" pitchFamily="2" charset="2"/>
              </a:rPr>
              <a:t>。</a:t>
            </a:r>
            <a:endParaRPr lang="en-US" altLang="zh-CN" sz="2000" b="1" kern="100" noProof="1">
              <a:solidFill>
                <a:srgbClr val="014B88"/>
              </a:solidFill>
              <a:latin typeface="仿宋_GB2312"/>
              <a:cs typeface="Times New Roman" panose="02020603050405020304" pitchFamily="18" charset="0"/>
              <a:sym typeface="Wingdings" panose="05000000000000000000" pitchFamily="2" charset="2"/>
            </a:endParaRPr>
          </a:p>
        </p:txBody>
      </p:sp>
      <p:sp>
        <p:nvSpPr>
          <p:cNvPr id="3" name="TextBox 36">
            <a:extLst>
              <a:ext uri="{FF2B5EF4-FFF2-40B4-BE49-F238E27FC236}">
                <a16:creationId xmlns:a16="http://schemas.microsoft.com/office/drawing/2014/main" id="{FA2595D4-1C1B-4093-A256-3A80F2F1E935}"/>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扩展欧几里得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881540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扩展欧几里得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代码实现</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(y1,x1-qy1)</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是</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ax+by=d</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的一组整数解</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递归过程中令</a:t>
            </a: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x=y1,y=x1-qy1</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其中</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q=a/b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的下取整值</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5664200" y="1623938"/>
            <a:ext cx="4407443" cy="98223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067" y="3689442"/>
            <a:ext cx="3924848" cy="1991003"/>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0295" y="3678951"/>
            <a:ext cx="3829584" cy="24196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扩展欧几里得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7273935"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容器</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容量为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，容器</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容量为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，需要取出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c</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升水</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求</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ax+by=c</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的整数解</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c</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需要是</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和</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最大公约数的倍数且</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c&lt;=max(a,b)</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最少接水倒水次数？</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|x|+|y|</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最小</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接水次数最小</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若</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a&gt;b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，求</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x&gt;0</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的最小的解；否则，求</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y&gt;0</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的最小的解</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ax+by=c</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的通解？</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若</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x0</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y0</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为其一组特解</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则其通解为</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 = x0-(b/d)t,y = y0+(a/d)t</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t</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为任意整数</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3024" y="1924445"/>
            <a:ext cx="4816256" cy="41035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欧拉函数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l-GR"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Φ</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 </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表示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1~n</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中与</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互质的数的个数（两个数的公约数只有</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，则这两个数互质）</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欧拉函数求法：容斥原理的应用</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容斥原理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6" name="内容占位符 2"/>
          <p:cNvSpPr txBox="1"/>
          <p:nvPr/>
        </p:nvSpPr>
        <p:spPr>
          <a:xfrm>
            <a:off x="312198" y="13299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有限集合交或并计数</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例：求</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20]</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中</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或</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3</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倍数个数</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解</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2</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倍数是：</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4</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6</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8</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10</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12</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14</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16</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18</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20</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10</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个</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3</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倍数是：</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3</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6</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9</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12</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15</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FF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18</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6</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个</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但答案不是</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10+6=16 </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个，因为</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6</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12</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18</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在两类中重复计数应减去。故答案是：</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10+6-3=13</a:t>
            </a: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容斥原理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6" name="内容占位符 2"/>
          <p:cNvSpPr txBox="1"/>
          <p:nvPr/>
        </p:nvSpPr>
        <p:spPr>
          <a:xfrm>
            <a:off x="312198" y="13299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最简单计数问题是求有限集合</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和</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B</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并元素数目。显然有</a:t>
            </a:r>
          </a:p>
          <a:p>
            <a:pPr marL="914400" marR="0" lvl="2" indent="0" algn="just" defTabSz="914400" rtl="0" eaLnBrk="1" fontAlgn="auto" latinLnBrk="0" hangingPunct="1">
              <a:lnSpc>
                <a:spcPct val="200000"/>
              </a:lnSpc>
              <a:spcBef>
                <a:spcPts val="500"/>
              </a:spcBef>
              <a:spcAft>
                <a:spcPts val="0"/>
              </a:spcAft>
              <a:buClrTx/>
              <a:buSzTx/>
              <a:buFont typeface="Arial" panose="020B0604020202020204" pitchFamily="34" charset="0"/>
              <a:buNone/>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914400" marR="0" lvl="2" indent="0" algn="just" defTabSz="914400" rtl="0" eaLnBrk="1" fontAlgn="auto" latinLnBrk="0" hangingPunct="1">
              <a:lnSpc>
                <a:spcPct val="200000"/>
              </a:lnSpc>
              <a:spcBef>
                <a:spcPts val="500"/>
              </a:spcBef>
              <a:spcAft>
                <a:spcPts val="0"/>
              </a:spcAft>
              <a:buClrTx/>
              <a:buSzTx/>
              <a:buFont typeface="Arial" panose="020B0604020202020204" pitchFamily="34" charset="0"/>
              <a:buNone/>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914400" marR="0" lvl="2" indent="0" algn="just" defTabSz="914400" rtl="0" eaLnBrk="1" fontAlgn="auto" latinLnBrk="0" hangingPunct="1">
              <a:lnSpc>
                <a:spcPct val="200000"/>
              </a:lnSpc>
              <a:spcBef>
                <a:spcPts val="500"/>
              </a:spcBef>
              <a:spcAft>
                <a:spcPts val="0"/>
              </a:spcAft>
              <a:buClrTx/>
              <a:buSzTx/>
              <a:buFont typeface="Arial" panose="020B0604020202020204" pitchFamily="34" charset="0"/>
              <a:buNone/>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即含有性质</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或</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元素个数等于具有性质</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的元素个数加</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914400" marR="0" lvl="2" indent="0" algn="just" defTabSz="914400" rtl="0" eaLnBrk="1" fontAlgn="auto" latinLnBrk="0" hangingPunct="1">
              <a:lnSpc>
                <a:spcPct val="200000"/>
              </a:lnSpc>
              <a:spcBef>
                <a:spcPts val="500"/>
              </a:spcBef>
              <a:spcAft>
                <a:spcPts val="0"/>
              </a:spcAft>
              <a:buClrTx/>
              <a:buSzTx/>
              <a:buFont typeface="Arial" panose="020B0604020202020204" pitchFamily="34" charset="0"/>
              <a:buNone/>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上具有性质</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的元素个数减去具有性质</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A</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和</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B</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元素个数</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graphicFrame>
        <p:nvGraphicFramePr>
          <p:cNvPr id="7" name="对象 6"/>
          <p:cNvGraphicFramePr>
            <a:graphicFrameLocks noChangeAspect="1"/>
          </p:cNvGraphicFramePr>
          <p:nvPr/>
        </p:nvGraphicFramePr>
        <p:xfrm>
          <a:off x="1338204" y="2292927"/>
          <a:ext cx="6172200" cy="990600"/>
        </p:xfrm>
        <a:graphic>
          <a:graphicData uri="http://schemas.openxmlformats.org/presentationml/2006/ole">
            <mc:AlternateContent xmlns:mc="http://schemas.openxmlformats.org/markup-compatibility/2006">
              <mc:Choice xmlns:v="urn:schemas-microsoft-com:vml" Requires="v">
                <p:oleObj spid="_x0000_s20494" name="Equation" r:id="rId3" imgW="37795200" imgH="6096000" progId="Equation.DSMT4">
                  <p:embed/>
                </p:oleObj>
              </mc:Choice>
              <mc:Fallback>
                <p:oleObj name="Equation" r:id="rId3" imgW="37795200" imgH="6096000" progId="Equation.DSMT4">
                  <p:embed/>
                  <p:pic>
                    <p:nvPicPr>
                      <p:cNvPr id="7" name="对象 6"/>
                      <p:cNvPicPr/>
                      <p:nvPr/>
                    </p:nvPicPr>
                    <p:blipFill>
                      <a:blip r:embed="rId4"/>
                      <a:stretch>
                        <a:fillRect/>
                      </a:stretch>
                    </p:blipFill>
                    <p:spPr>
                      <a:xfrm>
                        <a:off x="1338204" y="2292927"/>
                        <a:ext cx="6172200" cy="990600"/>
                      </a:xfrm>
                      <a:prstGeom prst="rect">
                        <a:avLst/>
                      </a:prstGeom>
                      <a:noFill/>
                    </p:spPr>
                  </p:pic>
                </p:oleObj>
              </mc:Fallback>
            </mc:AlternateContent>
          </a:graphicData>
        </a:graphic>
      </p:graphicFrame>
      <p:sp>
        <p:nvSpPr>
          <p:cNvPr id="12" name="椭圆 11"/>
          <p:cNvSpPr/>
          <p:nvPr/>
        </p:nvSpPr>
        <p:spPr>
          <a:xfrm>
            <a:off x="8021579" y="4254500"/>
            <a:ext cx="1600200" cy="1676400"/>
          </a:xfrm>
          <a:prstGeom prst="ellipse">
            <a:avLst/>
          </a:prstGeom>
          <a:noFill/>
          <a:ln>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椭圆 12"/>
          <p:cNvSpPr/>
          <p:nvPr/>
        </p:nvSpPr>
        <p:spPr>
          <a:xfrm>
            <a:off x="8828029" y="3873500"/>
            <a:ext cx="2286000" cy="2438400"/>
          </a:xfrm>
          <a:prstGeom prst="ellipse">
            <a:avLst/>
          </a:prstGeom>
          <a:noFill/>
          <a:ln>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矩形 13"/>
          <p:cNvSpPr/>
          <p:nvPr/>
        </p:nvSpPr>
        <p:spPr>
          <a:xfrm>
            <a:off x="7405629" y="3429000"/>
            <a:ext cx="4659312" cy="3352800"/>
          </a:xfrm>
          <a:prstGeom prst="rect">
            <a:avLst/>
          </a:prstGeom>
          <a:noFill/>
          <a:ln>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矩形 14"/>
          <p:cNvSpPr/>
          <p:nvPr/>
        </p:nvSpPr>
        <p:spPr>
          <a:xfrm>
            <a:off x="7634229" y="3552826"/>
            <a:ext cx="550862" cy="701675"/>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U</a:t>
            </a:r>
          </a:p>
        </p:txBody>
      </p:sp>
      <p:sp>
        <p:nvSpPr>
          <p:cNvPr id="16" name="矩形 15"/>
          <p:cNvSpPr/>
          <p:nvPr/>
        </p:nvSpPr>
        <p:spPr>
          <a:xfrm>
            <a:off x="10250429" y="4556126"/>
            <a:ext cx="522288" cy="701675"/>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0" i="0" u="none" strike="noStrike" kern="1200" cap="none" spc="0" normalizeH="0" baseline="0" noProof="0">
                <a:ln>
                  <a:noFill/>
                </a:ln>
                <a:solidFill>
                  <a:srgbClr val="4874CB"/>
                </a:solidFill>
                <a:effectLst/>
                <a:uLnTx/>
                <a:uFillTx/>
                <a:latin typeface="Times New Roman" panose="02020603050405020304" pitchFamily="18" charset="0"/>
                <a:ea typeface="宋体" panose="02010600030101010101" pitchFamily="2" charset="-122"/>
                <a:cs typeface="+mn-cs"/>
              </a:rPr>
              <a:t>B</a:t>
            </a:r>
            <a:endParaRPr kumimoji="1" lang="en-US" altLang="zh-CN"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7" name="矩形 16"/>
          <p:cNvSpPr/>
          <p:nvPr/>
        </p:nvSpPr>
        <p:spPr>
          <a:xfrm>
            <a:off x="8093017" y="4721226"/>
            <a:ext cx="550862" cy="701675"/>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0" i="0" u="none" strike="noStrike" kern="1200" cap="none" spc="0" normalizeH="0" baseline="0" noProof="0">
                <a:ln>
                  <a:noFill/>
                </a:ln>
                <a:solidFill>
                  <a:srgbClr val="7E1FAD"/>
                </a:solidFill>
                <a:effectLst/>
                <a:uLnTx/>
                <a:uFillTx/>
                <a:latin typeface="Times New Roman" panose="02020603050405020304" pitchFamily="18" charset="0"/>
                <a:ea typeface="宋体" panose="02010600030101010101" pitchFamily="2" charset="-122"/>
                <a:cs typeface="+mn-cs"/>
              </a:rPr>
              <a:t>A</a:t>
            </a:r>
            <a:endParaRPr kumimoji="1" lang="en-US" altLang="zh-CN"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8" name="矩形 17"/>
          <p:cNvSpPr/>
          <p:nvPr/>
        </p:nvSpPr>
        <p:spPr>
          <a:xfrm>
            <a:off x="8821561" y="5376862"/>
            <a:ext cx="800219" cy="92398"/>
          </a:xfrm>
          <a:prstGeom prst="rect">
            <a:avLst/>
          </a:prstGeom>
          <a:noFill/>
          <a:ln>
            <a:noFill/>
            <a:miter lim="800000"/>
          </a:ln>
        </p:spPr>
        <p:txBody>
          <a:bodyPr vert="vert"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19" name="对象 18"/>
          <p:cNvGraphicFramePr>
            <a:graphicFrameLocks noChangeAspect="1"/>
          </p:cNvGraphicFramePr>
          <p:nvPr/>
        </p:nvGraphicFramePr>
        <p:xfrm>
          <a:off x="8828029" y="4759326"/>
          <a:ext cx="793750" cy="498475"/>
        </p:xfrm>
        <a:graphic>
          <a:graphicData uri="http://schemas.openxmlformats.org/presentationml/2006/ole">
            <mc:AlternateContent xmlns:mc="http://schemas.openxmlformats.org/markup-compatibility/2006">
              <mc:Choice xmlns:v="urn:schemas-microsoft-com:vml" Requires="v">
                <p:oleObj spid="_x0000_s20495" name="Equation" r:id="rId5" imgW="9448800" imgH="4572000" progId="Equation.DSMT4">
                  <p:embed/>
                </p:oleObj>
              </mc:Choice>
              <mc:Fallback>
                <p:oleObj name="Equation" r:id="rId5" imgW="9448800" imgH="4572000" progId="Equation.DSMT4">
                  <p:embed/>
                  <p:pic>
                    <p:nvPicPr>
                      <p:cNvPr id="19" name="对象 18"/>
                      <p:cNvPicPr/>
                      <p:nvPr/>
                    </p:nvPicPr>
                    <p:blipFill>
                      <a:blip r:embed="rId6"/>
                      <a:stretch>
                        <a:fillRect/>
                      </a:stretch>
                    </p:blipFill>
                    <p:spPr>
                      <a:xfrm>
                        <a:off x="8828029" y="4759326"/>
                        <a:ext cx="793750" cy="498475"/>
                      </a:xfrm>
                      <a:prstGeom prst="rect">
                        <a:avLst/>
                      </a:prstGeom>
                      <a:noFill/>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容斥原理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0" name="椭圆 19"/>
          <p:cNvSpPr/>
          <p:nvPr/>
        </p:nvSpPr>
        <p:spPr>
          <a:xfrm>
            <a:off x="786942" y="1965600"/>
            <a:ext cx="3048000" cy="2971800"/>
          </a:xfrm>
          <a:prstGeom prst="ellipse">
            <a:avLst/>
          </a:prstGeom>
          <a:noFill/>
          <a:ln>
            <a:solidFill>
              <a:srgbClr val="FF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椭圆 20"/>
          <p:cNvSpPr/>
          <p:nvPr/>
        </p:nvSpPr>
        <p:spPr>
          <a:xfrm>
            <a:off x="2920542" y="2194200"/>
            <a:ext cx="2514600" cy="2743200"/>
          </a:xfrm>
          <a:prstGeom prst="ellipse">
            <a:avLst/>
          </a:prstGeom>
          <a:noFill/>
          <a:ln>
            <a:solidFill>
              <a:schemeClr val="hlink"/>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椭圆 21"/>
          <p:cNvSpPr/>
          <p:nvPr/>
        </p:nvSpPr>
        <p:spPr>
          <a:xfrm>
            <a:off x="1625142" y="3337200"/>
            <a:ext cx="3124200" cy="3200400"/>
          </a:xfrm>
          <a:prstGeom prst="ellipse">
            <a:avLst/>
          </a:prstGeom>
          <a:noFill/>
          <a:ln>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矩形 22"/>
          <p:cNvSpPr/>
          <p:nvPr/>
        </p:nvSpPr>
        <p:spPr>
          <a:xfrm>
            <a:off x="86854" y="1660800"/>
            <a:ext cx="6034088" cy="4876800"/>
          </a:xfrm>
          <a:prstGeom prst="rect">
            <a:avLst/>
          </a:prstGeom>
          <a:noFill/>
          <a:ln>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矩形 23"/>
          <p:cNvSpPr/>
          <p:nvPr/>
        </p:nvSpPr>
        <p:spPr>
          <a:xfrm>
            <a:off x="1655304" y="2194200"/>
            <a:ext cx="554960" cy="707886"/>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a:t>
            </a:r>
          </a:p>
        </p:txBody>
      </p:sp>
      <p:sp>
        <p:nvSpPr>
          <p:cNvPr id="25" name="矩形 24"/>
          <p:cNvSpPr/>
          <p:nvPr/>
        </p:nvSpPr>
        <p:spPr>
          <a:xfrm>
            <a:off x="4354054" y="2572025"/>
            <a:ext cx="526106" cy="707886"/>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a:t>
            </a:r>
          </a:p>
        </p:txBody>
      </p:sp>
      <p:sp>
        <p:nvSpPr>
          <p:cNvPr id="26" name="矩形 25"/>
          <p:cNvSpPr/>
          <p:nvPr/>
        </p:nvSpPr>
        <p:spPr>
          <a:xfrm>
            <a:off x="2830054" y="5543825"/>
            <a:ext cx="526106" cy="707886"/>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C</a:t>
            </a:r>
          </a:p>
        </p:txBody>
      </p:sp>
      <p:sp>
        <p:nvSpPr>
          <p:cNvPr id="27" name="矩形 26"/>
          <p:cNvSpPr/>
          <p:nvPr/>
        </p:nvSpPr>
        <p:spPr>
          <a:xfrm>
            <a:off x="1991854" y="4091262"/>
            <a:ext cx="184150" cy="579438"/>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zh-CN" sz="3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8" name="对象 33802"/>
              <p:cNvSpPr txBox="1"/>
              <p:nvPr/>
            </p:nvSpPr>
            <p:spPr>
              <a:xfrm>
                <a:off x="1991855" y="4091263"/>
                <a:ext cx="928687" cy="579437"/>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m:rPr>
                              <m:sty m:val="p"/>
                            </m:r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A</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m:rPr>
                              <m:sty m:val="p"/>
                            </m:r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C</m:t>
                          </m:r>
                        </m:e>
                      </m:d>
                    </m:oMath>
                  </m:oMathPara>
                </a14:m>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mc:Choice>
        <mc:Fallback xmlns="">
          <p:sp>
            <p:nvSpPr>
              <p:cNvPr id="28" name="对象 33802"/>
              <p:cNvSpPr txBox="1">
                <a:spLocks noRot="1" noChangeAspect="1" noMove="1" noResize="1" noEditPoints="1" noAdjustHandles="1" noChangeArrowheads="1" noChangeShapeType="1" noTextEdit="1"/>
              </p:cNvSpPr>
              <p:nvPr/>
            </p:nvSpPr>
            <p:spPr>
              <a:xfrm>
                <a:off x="1991855" y="4091263"/>
                <a:ext cx="928687" cy="579437"/>
              </a:xfrm>
              <a:prstGeom prst="rect">
                <a:avLst/>
              </a:prstGeom>
              <a:blipFill rotWithShape="1">
                <a:blip r:embed="rId2"/>
                <a:stretch>
                  <a:fillRect l="-53" t="-102" r="19" b="47"/>
                </a:stretch>
              </a:blipFill>
            </p:spPr>
            <p:txBody>
              <a:bodyPr/>
              <a:lstStyle/>
              <a:p>
                <a:r>
                  <a:rPr lang="zh-CN" altLang="en-US">
                    <a:noFill/>
                  </a:rPr>
                  <a:t> </a:t>
                </a:r>
              </a:p>
            </p:txBody>
          </p:sp>
        </mc:Fallback>
      </mc:AlternateContent>
      <p:sp>
        <p:nvSpPr>
          <p:cNvPr id="29" name="矩形 28"/>
          <p:cNvSpPr/>
          <p:nvPr/>
        </p:nvSpPr>
        <p:spPr>
          <a:xfrm>
            <a:off x="3744454" y="4100789"/>
            <a:ext cx="184150" cy="701675"/>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0" name="对象 33804"/>
              <p:cNvSpPr txBox="1"/>
              <p:nvPr/>
            </p:nvSpPr>
            <p:spPr>
              <a:xfrm>
                <a:off x="3746042" y="4250013"/>
                <a:ext cx="1000125" cy="552450"/>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e>
                      </m:d>
                    </m:oMath>
                  </m:oMathPara>
                </a14:m>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mc:Choice>
        <mc:Fallback xmlns="">
          <p:sp>
            <p:nvSpPr>
              <p:cNvPr id="30" name="对象 33804"/>
              <p:cNvSpPr txBox="1">
                <a:spLocks noRot="1" noChangeAspect="1" noMove="1" noResize="1" noEditPoints="1" noAdjustHandles="1" noChangeArrowheads="1" noChangeShapeType="1" noTextEdit="1"/>
              </p:cNvSpPr>
              <p:nvPr/>
            </p:nvSpPr>
            <p:spPr>
              <a:xfrm>
                <a:off x="3746042" y="4250013"/>
                <a:ext cx="1000125" cy="552450"/>
              </a:xfrm>
              <a:prstGeom prst="rect">
                <a:avLst/>
              </a:prstGeom>
              <a:blipFill rotWithShape="1">
                <a:blip r:embed="rId3"/>
                <a:stretch>
                  <a:fillRect l="-18" t="-107" r="18" b="107"/>
                </a:stretch>
              </a:blipFill>
            </p:spPr>
            <p:txBody>
              <a:bodyPr/>
              <a:lstStyle/>
              <a:p>
                <a:r>
                  <a:rPr lang="zh-CN" altLang="en-US">
                    <a:noFill/>
                  </a:rPr>
                  <a:t> </a:t>
                </a:r>
              </a:p>
            </p:txBody>
          </p:sp>
        </mc:Fallback>
      </mc:AlternateContent>
      <p:sp>
        <p:nvSpPr>
          <p:cNvPr id="31" name="矩形 30"/>
          <p:cNvSpPr/>
          <p:nvPr/>
        </p:nvSpPr>
        <p:spPr>
          <a:xfrm>
            <a:off x="2830054" y="2703789"/>
            <a:ext cx="184150" cy="701675"/>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40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2" name="对象 33806"/>
              <p:cNvSpPr txBox="1"/>
              <p:nvPr/>
            </p:nvSpPr>
            <p:spPr>
              <a:xfrm>
                <a:off x="2920542" y="2816500"/>
                <a:ext cx="1074738" cy="588963"/>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e>
                      </m:d>
                    </m:oMath>
                  </m:oMathPara>
                </a14:m>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mc:Choice>
        <mc:Fallback xmlns="">
          <p:sp>
            <p:nvSpPr>
              <p:cNvPr id="32" name="对象 33806"/>
              <p:cNvSpPr txBox="1">
                <a:spLocks noRot="1" noChangeAspect="1" noMove="1" noResize="1" noEditPoints="1" noAdjustHandles="1" noChangeArrowheads="1" noChangeShapeType="1" noTextEdit="1"/>
              </p:cNvSpPr>
              <p:nvPr/>
            </p:nvSpPr>
            <p:spPr>
              <a:xfrm>
                <a:off x="2920542" y="2816500"/>
                <a:ext cx="1074738" cy="588963"/>
              </a:xfrm>
              <a:prstGeom prst="rect">
                <a:avLst/>
              </a:prstGeom>
              <a:blipFill rotWithShape="1">
                <a:blip r:embed="rId4"/>
                <a:stretch>
                  <a:fillRect l="-16" t="-47" r="46" b="101"/>
                </a:stretch>
              </a:blipFill>
            </p:spPr>
            <p:txBody>
              <a:bodyPr/>
              <a:lstStyle/>
              <a:p>
                <a:r>
                  <a:rPr lang="zh-CN" altLang="en-US">
                    <a:noFill/>
                  </a:rPr>
                  <a:t> </a:t>
                </a:r>
              </a:p>
            </p:txBody>
          </p:sp>
        </mc:Fallback>
      </mc:AlternateContent>
      <p:cxnSp>
        <p:nvCxnSpPr>
          <p:cNvPr id="33" name="直接连接符 32"/>
          <p:cNvCxnSpPr/>
          <p:nvPr/>
        </p:nvCxnSpPr>
        <p:spPr>
          <a:xfrm flipV="1">
            <a:off x="1320342" y="4334151"/>
            <a:ext cx="2030412" cy="1209675"/>
          </a:xfrm>
          <a:prstGeom prst="line">
            <a:avLst/>
          </a:prstGeom>
          <a:noFill/>
          <a:ln>
            <a:solidFill>
              <a:schemeClr val="tx1"/>
            </a:solidFill>
            <a:miter lim="800000"/>
            <a:tailEnd type="triangle"/>
          </a:ln>
        </p:spPr>
      </p:cxnSp>
      <mc:AlternateContent xmlns:mc="http://schemas.openxmlformats.org/markup-compatibility/2006" xmlns:a14="http://schemas.microsoft.com/office/drawing/2010/main">
        <mc:Choice Requires="a14">
          <p:sp>
            <p:nvSpPr>
              <p:cNvPr id="34" name="对象 33809"/>
              <p:cNvSpPr txBox="1"/>
              <p:nvPr/>
            </p:nvSpPr>
            <p:spPr>
              <a:xfrm rot="10800000" flipV="1">
                <a:off x="86855" y="5693050"/>
                <a:ext cx="1568450" cy="552450"/>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e>
                      </m:d>
                    </m:oMath>
                  </m:oMathPara>
                </a14:m>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mc:Choice>
        <mc:Fallback xmlns="">
          <p:sp>
            <p:nvSpPr>
              <p:cNvPr id="34" name="对象 33809"/>
              <p:cNvSpPr txBox="1">
                <a:spLocks noRot="1" noChangeAspect="1" noMove="1" noResize="1" noEditPoints="1" noAdjustHandles="1" noChangeArrowheads="1" noChangeShapeType="1" noTextEdit="1"/>
              </p:cNvSpPr>
              <p:nvPr/>
            </p:nvSpPr>
            <p:spPr>
              <a:xfrm rot="10800000" flipV="1">
                <a:off x="86855" y="5693050"/>
                <a:ext cx="1568450" cy="552450"/>
              </a:xfrm>
              <a:prstGeom prst="rect">
                <a:avLst/>
              </a:prstGeom>
              <a:blipFill rotWithShape="1">
                <a:blip r:embed="rId5"/>
                <a:stretch>
                  <a:fillRect l="-32" t="-50" r="32" b="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对象 32770"/>
              <p:cNvSpPr txBox="1"/>
              <p:nvPr/>
            </p:nvSpPr>
            <p:spPr>
              <a:xfrm>
                <a:off x="6044742" y="1612189"/>
                <a:ext cx="5042045" cy="1609237"/>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zh-CN" altLang="en-US" sz="29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A</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B</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𝐶</m:t>
                          </m:r>
                        </m:e>
                      </m:d>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A</m:t>
                          </m:r>
                        </m:e>
                      </m:d>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B</m:t>
                          </m:r>
                        </m:e>
                      </m:d>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𝐶</m:t>
                          </m:r>
                        </m:e>
                      </m:d>
                    </m:oMath>
                  </m:oMathPara>
                </a14:m>
                <a:endParaRPr kumimoji="0" lang="en-US" altLang="zh-CN" sz="2900" b="0" i="1" u="none" strike="noStrike" kern="1200" cap="none" spc="0" normalizeH="0" baseline="0" noProof="0" dirty="0">
                  <a:ln>
                    <a:noFill/>
                  </a:ln>
                  <a:solidFill>
                    <a:prstClr val="black"/>
                  </a:solidFill>
                  <a:effectLst/>
                  <a:uLnTx/>
                  <a:uFillTx/>
                  <a:latin typeface="Cambria Math" panose="02040503050406030204" pitchFamily="18"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A</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B</m:t>
                          </m:r>
                        </m:e>
                      </m:d>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B</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𝐶</m:t>
                          </m:r>
                        </m:e>
                      </m:d>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A</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𝐶</m:t>
                          </m:r>
                        </m:e>
                      </m:d>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A</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altLang="zh-CN" sz="2900" b="0" i="1" u="none" strike="noStrike" kern="1200" cap="none" spc="0" normalizeH="0" baseline="0" noProof="0">
                              <a:ln>
                                <a:noFill/>
                              </a:ln>
                              <a:solidFill>
                                <a:prstClr val="black"/>
                              </a:solidFill>
                              <a:effectLst/>
                              <a:uLnTx/>
                              <a:uFillTx/>
                              <a:latin typeface="Cambria Math" panose="02040503050406030204" pitchFamily="18" charset="0"/>
                              <a:cs typeface="+mn-cs"/>
                            </a:rPr>
                            <m:t>B</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900" b="0" i="1" u="none" strike="noStrike" kern="1200" cap="none" spc="0" normalizeH="0" baseline="0" noProof="0">
                              <a:ln>
                                <a:noFill/>
                              </a:ln>
                              <a:solidFill>
                                <a:prstClr val="black"/>
                              </a:solidFill>
                              <a:effectLst/>
                              <a:uLnTx/>
                              <a:uFillTx/>
                              <a:latin typeface="Cambria Math" panose="02040503050406030204" pitchFamily="18" charset="0"/>
                              <a:cs typeface="+mn-cs"/>
                            </a:rPr>
                            <m:t>𝐶</m:t>
                          </m:r>
                        </m:e>
                      </m:d>
                    </m:oMath>
                  </m:oMathPara>
                </a14:m>
                <a:br>
                  <a:rPr kumimoji="0" lang="zh-CN" altLang="en-US" sz="1800" b="0" i="1" u="none" strike="noStrike" kern="1200" cap="none" spc="0" normalizeH="0" baseline="0" noProof="0" dirty="0">
                    <a:ln>
                      <a:noFill/>
                    </a:ln>
                    <a:solidFill>
                      <a:srgbClr val="00FFFF"/>
                    </a:solidFill>
                    <a:effectLst/>
                    <a:uLnTx/>
                    <a:uFillTx/>
                    <a:latin typeface="Cambria Math" panose="02040503050406030204" pitchFamily="18" charset="0"/>
                    <a:ea typeface="微软雅黑" panose="020B0503020204020204" pitchFamily="34" charset="-122"/>
                    <a:cs typeface="+mn-cs"/>
                  </a:rPr>
                </a:b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mc:Choice>
        <mc:Fallback xmlns="">
          <p:sp>
            <p:nvSpPr>
              <p:cNvPr id="35" name="对象 32770"/>
              <p:cNvSpPr txBox="1">
                <a:spLocks noRot="1" noChangeAspect="1" noMove="1" noResize="1" noEditPoints="1" noAdjustHandles="1" noChangeArrowheads="1" noChangeShapeType="1" noTextEdit="1"/>
              </p:cNvSpPr>
              <p:nvPr/>
            </p:nvSpPr>
            <p:spPr>
              <a:xfrm>
                <a:off x="6044742" y="1612189"/>
                <a:ext cx="5042045" cy="1609237"/>
              </a:xfrm>
              <a:prstGeom prst="rect">
                <a:avLst/>
              </a:prstGeom>
              <a:blipFill rotWithShape="1">
                <a:blip r:embed="rId6"/>
                <a:stretch>
                  <a:fillRect l="-4" t="-35" r="6" b="-22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对象 34819"/>
              <p:cNvSpPr txBox="1"/>
              <p:nvPr/>
            </p:nvSpPr>
            <p:spPr>
              <a:xfrm>
                <a:off x="6044742" y="3565800"/>
                <a:ext cx="6218382" cy="1235364"/>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d>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e>
                      </m:d>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e>
                      </m:d>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oMath>
                    <m:oMath xmlns:m="http://schemas.openxmlformats.org/officeDocument/2006/math">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e>
                      </m:d>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m:rPr>
                              <m:sty m:val="p"/>
                            </m:r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A</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m:rPr>
                              <m:sty m:val="p"/>
                            </m:r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C</m:t>
                          </m:r>
                        </m:e>
                      </m:d>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e>
                      </m:d>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oMath>
                    <m:oMath xmlns:m="http://schemas.openxmlformats.org/officeDocument/2006/math">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e>
                      </m:d>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r>
                        <a:rPr kumimoji="0" lang="zh-CN" altLang="en-US" sz="1800" b="0" i="1" u="none" strike="noStrike" kern="1200" cap="none" spc="0" normalizeH="0" baseline="0" noProof="0">
                          <a:ln>
                            <a:noFill/>
                          </a:ln>
                          <a:solidFill>
                            <a:srgbClr val="0000FF"/>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oMath>
                    <m:oMath xmlns:m="http://schemas.openxmlformats.org/officeDocument/2006/math">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𝐷</m:t>
                          </m:r>
                        </m:e>
                      </m:d>
                    </m:oMath>
                  </m:oMathPara>
                </a14:m>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mc:Choice>
        <mc:Fallback xmlns="">
          <p:sp>
            <p:nvSpPr>
              <p:cNvPr id="36" name="对象 34819"/>
              <p:cNvSpPr txBox="1">
                <a:spLocks noRot="1" noChangeAspect="1" noMove="1" noResize="1" noEditPoints="1" noAdjustHandles="1" noChangeArrowheads="1" noChangeShapeType="1" noTextEdit="1"/>
              </p:cNvSpPr>
              <p:nvPr/>
            </p:nvSpPr>
            <p:spPr>
              <a:xfrm>
                <a:off x="6044742" y="3565800"/>
                <a:ext cx="6218382" cy="1235364"/>
              </a:xfrm>
              <a:prstGeom prst="rect">
                <a:avLst/>
              </a:prstGeom>
              <a:blipFill rotWithShape="1">
                <a:blip r:embed="rId7"/>
                <a:stretch>
                  <a:fillRect l="-3" t="-22" b="46"/>
                </a:stretch>
              </a:blipFill>
            </p:spPr>
            <p:txBody>
              <a:bodyPr/>
              <a:lstStyle/>
              <a:p>
                <a:r>
                  <a:rPr lang="zh-CN" altLang="en-US">
                    <a:noFill/>
                  </a:rPr>
                  <a:t> </a:t>
                </a:r>
              </a:p>
            </p:txBody>
          </p:sp>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容斥原理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37" name="组合 36"/>
          <p:cNvGrpSpPr/>
          <p:nvPr/>
        </p:nvGrpSpPr>
        <p:grpSpPr>
          <a:xfrm>
            <a:off x="1524001" y="1128714"/>
            <a:ext cx="5033290" cy="476250"/>
            <a:chOff x="0" y="724"/>
            <a:chExt cx="3170" cy="300"/>
          </a:xfrm>
        </p:grpSpPr>
        <p:sp>
          <p:nvSpPr>
            <p:cNvPr id="38" name="矩形 37"/>
            <p:cNvSpPr/>
            <p:nvPr/>
          </p:nvSpPr>
          <p:spPr>
            <a:xfrm>
              <a:off x="0" y="733"/>
              <a:ext cx="892" cy="291"/>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定理：设</a:t>
              </a:r>
            </a:p>
          </p:txBody>
        </p:sp>
        <p:grpSp>
          <p:nvGrpSpPr>
            <p:cNvPr id="39" name="组合 38"/>
            <p:cNvGrpSpPr/>
            <p:nvPr/>
          </p:nvGrpSpPr>
          <p:grpSpPr>
            <a:xfrm>
              <a:off x="805" y="724"/>
              <a:ext cx="2365" cy="299"/>
              <a:chOff x="805" y="724"/>
              <a:chExt cx="2365" cy="299"/>
            </a:xfrm>
          </p:grpSpPr>
          <mc:AlternateContent xmlns:mc="http://schemas.openxmlformats.org/markup-compatibility/2006" xmlns:a14="http://schemas.microsoft.com/office/drawing/2010/main">
            <mc:Choice Requires="a14">
              <p:sp>
                <p:nvSpPr>
                  <p:cNvPr id="40" name="对象 39"/>
                  <p:cNvSpPr txBox="1"/>
                  <p:nvPr/>
                </p:nvSpPr>
                <p:spPr>
                  <a:xfrm>
                    <a:off x="805" y="743"/>
                    <a:ext cx="1022" cy="280"/>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sSub>
                            <m:sSub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oMath>
                      </m:oMathPara>
                    </a14:m>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mc:Choice>
            <mc:Fallback xmlns="">
              <p:sp>
                <p:nvSpPr>
                  <p:cNvPr id="40" name="对象 39"/>
                  <p:cNvSpPr txBox="1">
                    <a:spLocks noRot="1" noChangeAspect="1" noMove="1" noResize="1" noEditPoints="1" noAdjustHandles="1" noChangeArrowheads="1" noChangeShapeType="1" noTextEdit="1"/>
                  </p:cNvSpPr>
                  <p:nvPr/>
                </p:nvSpPr>
                <p:spPr>
                  <a:xfrm>
                    <a:off x="805" y="743"/>
                    <a:ext cx="1022" cy="280"/>
                  </a:xfrm>
                  <a:prstGeom prst="rect">
                    <a:avLst/>
                  </a:prstGeom>
                  <a:blipFill rotWithShape="1">
                    <a:blip r:embed="rId2"/>
                  </a:blipFill>
                </p:spPr>
                <p:txBody>
                  <a:bodyPr/>
                  <a:lstStyle/>
                  <a:p>
                    <a:r>
                      <a:rPr lang="zh-CN" altLang="en-US">
                        <a:noFill/>
                      </a:rPr>
                      <a:t> </a:t>
                    </a:r>
                  </a:p>
                </p:txBody>
              </p:sp>
            </mc:Fallback>
          </mc:AlternateContent>
          <p:sp>
            <p:nvSpPr>
              <p:cNvPr id="41" name="矩形 40"/>
              <p:cNvSpPr/>
              <p:nvPr/>
            </p:nvSpPr>
            <p:spPr>
              <a:xfrm>
                <a:off x="1697" y="724"/>
                <a:ext cx="1473" cy="291"/>
              </a:xfrm>
              <a:prstGeom prst="rect">
                <a:avLst/>
              </a:prstGeom>
              <a:noFill/>
              <a:ln>
                <a:noFill/>
                <a:miter lim="800000"/>
              </a:ln>
            </p:spPr>
            <p:txBody>
              <a:bodyPr wrap="non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是有限集合，则</a:t>
                </a:r>
                <a:endPar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43" name="对象 42"/>
              <p:cNvSpPr txBox="1"/>
              <p:nvPr/>
            </p:nvSpPr>
            <p:spPr>
              <a:xfrm>
                <a:off x="1498509" y="1974561"/>
                <a:ext cx="9474291" cy="2311111"/>
              </a:xfrm>
              <a:prstGeom prst="rect">
                <a:avLst/>
              </a:prstGeom>
              <a:noFill/>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zh-CN" altLang="en-US" sz="3200" b="0" i="1" u="none" strike="noStrike" kern="1200" cap="none" spc="0" normalizeH="0" baseline="0" noProof="0">
                              <a:ln>
                                <a:noFill/>
                              </a:ln>
                              <a:solidFill>
                                <a:srgbClr val="0000FF"/>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r>
                            <a:rPr kumimoji="0" lang="zh-CN" altLang="en-US" sz="3200" b="0" i="1" u="none" strike="noStrike" kern="1200" cap="none" spc="0" normalizeH="0" baseline="0" noProof="0">
                              <a:ln>
                                <a:noFill/>
                              </a:ln>
                              <a:solidFill>
                                <a:srgbClr val="0000FF"/>
                              </a:solidFill>
                              <a:effectLst/>
                              <a:uLnTx/>
                              <a:uFillTx/>
                              <a:latin typeface="Cambria Math" panose="02040503050406030204" pitchFamily="18" charset="0"/>
                              <a:cs typeface="+mn-cs"/>
                            </a:rPr>
                            <m:t>∪</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3200" b="0" i="1" u="none" strike="noStrike" kern="1200" cap="none" spc="0" normalizeH="0" baseline="0" noProof="0">
                              <a:ln>
                                <a:noFill/>
                              </a:ln>
                              <a:solidFill>
                                <a:srgbClr val="0000FF"/>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e>
                      </m:d>
                    </m:oMath>
                    <m:oMath xmlns:m="http://schemas.openxmlformats.org/officeDocument/2006/math">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m:t>
                      </m:r>
                      <m:nary>
                        <m:naryPr>
                          <m:chr m:val="∑"/>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𝑖</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up>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p>
                        <m:e>
                          <m:d>
                            <m:dPr>
                              <m:begChr m:val="|"/>
                              <m:endChr m:val="|"/>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𝑖</m:t>
                                  </m:r>
                                </m:sub>
                              </m:sSub>
                            </m:e>
                          </m:d>
                          <m:r>
                            <a:rPr kumimoji="0" lang="zh-CN" altLang="en-US" sz="3200" b="0" i="1"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𝑖</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up>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p>
                            <m:e>
                              <m:nary>
                                <m:naryPr>
                                  <m:chr m:val="∑"/>
                                  <m:supHide m:val="on"/>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𝑗</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&gt;</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𝑖</m:t>
                                  </m:r>
                                </m:sub>
                                <m:sup/>
                                <m:e>
                                  <m:d>
                                    <m:dPr>
                                      <m:begChr m:val="|"/>
                                      <m:endChr m:val="|"/>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𝑖</m:t>
                                          </m:r>
                                        </m:sub>
                                      </m:sSub>
                                      <m:r>
                                        <a:rPr kumimoji="0" lang="zh-CN" altLang="en-US" sz="3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𝑗</m:t>
                                          </m:r>
                                        </m:sub>
                                      </m:sSub>
                                    </m:e>
                                  </m:d>
                                </m:e>
                              </m:nary>
                            </m:e>
                          </m:nary>
                        </m:e>
                      </m:nary>
                    </m:oMath>
                    <m:oMath xmlns:m="http://schemas.openxmlformats.org/officeDocument/2006/math">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  </m:t>
                      </m:r>
                      <m:r>
                        <a:rPr kumimoji="0" lang="zh-CN" altLang="en-US" sz="3200" b="0" i="1" u="none" strike="noStrike" kern="1200" cap="none" spc="0" normalizeH="0" baseline="0" noProof="0">
                          <a:ln>
                            <a:noFill/>
                          </a:ln>
                          <a:solidFill>
                            <a:srgbClr val="0000FF"/>
                          </a:solidFill>
                          <a:effectLst/>
                          <a:uLnTx/>
                          <a:uFillTx/>
                          <a:latin typeface="Cambria Math" panose="02040503050406030204" pitchFamily="18" charset="0"/>
                          <a:cs typeface="+mn-cs"/>
                        </a:rPr>
                        <m:t>+</m:t>
                      </m:r>
                      <m:nary>
                        <m:naryPr>
                          <m:chr m:val="∑"/>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m:rPr>
                              <m:sty m:val="p"/>
                            </m:r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i</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up>
                          <m:r>
                            <m:rPr>
                              <m:sty m:val="p"/>
                            </m:r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n</m:t>
                          </m:r>
                        </m:sup>
                        <m:e>
                          <m:nary>
                            <m:naryPr>
                              <m:chr m:val="∑"/>
                              <m:supHide m:val="on"/>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m:rPr>
                                  <m:sty m:val="p"/>
                                </m:r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&gt;</m:t>
                              </m:r>
                              <m:r>
                                <m:rPr>
                                  <m:sty m:val="p"/>
                                </m:r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i</m:t>
                              </m:r>
                            </m:sub>
                            <m:sup/>
                            <m:e>
                              <m:nary>
                                <m:naryPr>
                                  <m:chr m:val="∑"/>
                                  <m:supHide m:val="on"/>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m:rPr>
                                      <m:sty m:val="p"/>
                                    </m:r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k</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&gt;</m:t>
                                  </m:r>
                                  <m:r>
                                    <m:rPr>
                                      <m:sty m:val="p"/>
                                    </m:r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j</m:t>
                                  </m:r>
                                </m:sub>
                                <m:sup/>
                                <m:e>
                                  <m:d>
                                    <m:dPr>
                                      <m:begChr m:val="|"/>
                                      <m:endChr m:val="|"/>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m:rPr>
                                              <m:sty m:val="p"/>
                                            </m:r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A</m:t>
                                          </m:r>
                                        </m:e>
                                        <m:sub>
                                          <m:r>
                                            <m:rPr>
                                              <m:sty m:val="p"/>
                                            </m:r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i</m:t>
                                          </m:r>
                                        </m:sub>
                                      </m:sSub>
                                      <m:r>
                                        <a:rPr kumimoji="0" lang="zh-CN" altLang="en-US" sz="3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𝑗</m:t>
                                          </m:r>
                                        </m:sub>
                                      </m:sSub>
                                      <m:r>
                                        <a:rPr kumimoji="0" lang="zh-CN" altLang="en-US" sz="3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sub>
                                      </m:sSub>
                                    </m:e>
                                  </m:d>
                                  <m:r>
                                    <a:rPr kumimoji="0" lang="zh-CN" altLang="en-US" sz="32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m:t>
                                  </m:r>
                                </m:e>
                              </m:nary>
                            </m:e>
                          </m:nary>
                        </m:e>
                      </m:nary>
                    </m:oMath>
                    <m:oMath xmlns:m="http://schemas.openxmlformats.org/officeDocument/2006/math">
                      <m:r>
                        <a:rPr kumimoji="0" lang="zh-CN" altLang="en-US" sz="3200" b="0" i="1" u="none" strike="noStrike" kern="1200" cap="none" spc="0" normalizeH="0" baseline="0" noProof="0">
                          <a:ln>
                            <a:noFill/>
                          </a:ln>
                          <a:solidFill>
                            <a:srgbClr val="0000FF"/>
                          </a:solidFill>
                          <a:effectLst/>
                          <a:uLnTx/>
                          <a:uFillTx/>
                          <a:latin typeface="Cambria Math" panose="02040503050406030204" pitchFamily="18" charset="0"/>
                          <a:cs typeface="+mn-cs"/>
                        </a:rPr>
                        <m:t>+</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(−1</m:t>
                      </m:r>
                      <m:sSup>
                        <m:sSupPr>
                          <m:ctrlPr>
                            <a:rPr kumimoji="0" lang="zh-CN" altLang="en-US" sz="3200" b="0" i="1" u="none" strike="noStrike" kern="1200" cap="none" spc="0" normalizeH="0" baseline="0" noProof="0">
                              <a:ln>
                                <a:noFill/>
                              </a:ln>
                              <a:solidFill>
                                <a:srgbClr val="FF00FF"/>
                              </a:solidFill>
                              <a:effectLst/>
                              <a:uLnTx/>
                              <a:uFillTx/>
                              <a:latin typeface="Cambria Math" panose="02040503050406030204" pitchFamily="18" charset="0"/>
                              <a:cs typeface="+mn-cs"/>
                            </a:rPr>
                          </m:ctrlPr>
                        </m:sSup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m:t>
                          </m:r>
                        </m:e>
                        <m:sup>
                          <m:r>
                            <a:rPr kumimoji="0" lang="zh-CN" altLang="en-US" sz="3200" b="0" i="1" u="none" strike="noStrike" kern="1200" cap="none" spc="0" normalizeH="0" baseline="0" noProof="0">
                              <a:ln>
                                <a:noFill/>
                              </a:ln>
                              <a:solidFill>
                                <a:srgbClr val="FF00FF"/>
                              </a:solidFill>
                              <a:effectLst/>
                              <a:uLnTx/>
                              <a:uFillTx/>
                              <a:latin typeface="Cambria Math" panose="02040503050406030204" pitchFamily="18" charset="0"/>
                              <a:cs typeface="+mn-cs"/>
                            </a:rPr>
                            <m:t>𝑛</m:t>
                          </m:r>
                          <m:r>
                            <a:rPr kumimoji="0" lang="zh-CN" altLang="en-US" sz="3200" b="0" i="1" u="none" strike="noStrike" kern="1200" cap="none" spc="0" normalizeH="0" baseline="0" noProof="0">
                              <a:ln>
                                <a:noFill/>
                              </a:ln>
                              <a:solidFill>
                                <a:srgbClr val="FF00FF"/>
                              </a:solidFill>
                              <a:effectLst/>
                              <a:uLnTx/>
                              <a:uFillTx/>
                              <a:latin typeface="Cambria Math" panose="02040503050406030204" pitchFamily="18" charset="0"/>
                              <a:cs typeface="+mn-cs"/>
                            </a:rPr>
                            <m:t>−1</m:t>
                          </m:r>
                        </m:sup>
                      </m:sSup>
                      <m:d>
                        <m:dPr>
                          <m:begChr m:val="|"/>
                          <m:endChr m:val="|"/>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zh-CN" altLang="en-US" sz="3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r>
                            <a:rPr kumimoji="0" lang="zh-CN" altLang="en-US" sz="32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3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𝐴</m:t>
                              </m:r>
                            </m:e>
                            <m:sub>
                              <m:r>
                                <a:rPr kumimoji="0" lang="zh-CN" altLang="en-US" sz="32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e>
                      </m:d>
                    </m:oMath>
                  </m:oMathPara>
                </a14:m>
                <a:endParaRPr kumimoji="0" lang="zh-CN" altLang="en-US" sz="3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mc:Choice>
        <mc:Fallback xmlns="">
          <p:sp>
            <p:nvSpPr>
              <p:cNvPr id="43" name="对象 42"/>
              <p:cNvSpPr txBox="1">
                <a:spLocks noRot="1" noChangeAspect="1" noMove="1" noResize="1" noEditPoints="1" noAdjustHandles="1" noChangeArrowheads="1" noChangeShapeType="1" noTextEdit="1"/>
              </p:cNvSpPr>
              <p:nvPr/>
            </p:nvSpPr>
            <p:spPr>
              <a:xfrm>
                <a:off x="1498509" y="1974561"/>
                <a:ext cx="9474291" cy="2311111"/>
              </a:xfrm>
              <a:prstGeom prst="rect">
                <a:avLst/>
              </a:prstGeom>
              <a:blipFill rotWithShape="1">
                <a:blip r:embed="rId3"/>
                <a:stretch>
                  <a:fillRect l="-6" t="-15" b="-63687"/>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欧拉函数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5" name="矩形 4"/>
          <p:cNvSpPr/>
          <p:nvPr/>
        </p:nvSpPr>
        <p:spPr>
          <a:xfrm>
            <a:off x="507999" y="1177555"/>
            <a:ext cx="10196945" cy="555472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marR="0" lvl="1" indent="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N=p1^α1*p2^α2……pk^αk</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用</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S(x)</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表示</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[1,n]</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中</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x</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的倍数的数的集合</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则为了求</a:t>
            </a:r>
            <a:r>
              <a:rPr kumimoji="0" lang="el-GR"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Φ</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，需要从</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[1,n]</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中筛掉的元素个数为：</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S  =  |S(p1)| + |S(p2)| + |S(p3)| + …… + |S(pk)|</a:t>
            </a:r>
          </a:p>
          <a:p>
            <a:pPr marL="914400" marR="0" lvl="2" indent="0" algn="just" defTabSz="914400" rtl="0" eaLnBrk="1" fontAlgn="auto" latinLnBrk="0" hangingPunct="1">
              <a:lnSpc>
                <a:spcPct val="200000"/>
              </a:lnSpc>
              <a:spcBef>
                <a:spcPts val="0"/>
              </a:spcBef>
              <a:spcAft>
                <a:spcPts val="0"/>
              </a:spcAft>
              <a:buClrTx/>
              <a:buSzTx/>
              <a:buFontTx/>
              <a:buNone/>
              <a:tabLst/>
              <a:defRPr/>
            </a:pP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 |S(p1*p2)| - |S(p1*p3)| -  …… -  |S(p</a:t>
            </a:r>
            <a:r>
              <a:rPr kumimoji="0" lang="en-US" altLang="zh-CN" sz="12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k-1</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a:t>
            </a:r>
            <a:r>
              <a:rPr kumimoji="0" lang="en-US" altLang="zh-CN" sz="12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k</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p>
          <a:p>
            <a:pPr marL="914400" marR="0" lvl="2" indent="0" algn="just" defTabSz="914400" rtl="0" eaLnBrk="1" fontAlgn="auto" latinLnBrk="0" hangingPunct="1">
              <a:lnSpc>
                <a:spcPct val="200000"/>
              </a:lnSpc>
              <a:spcBef>
                <a:spcPts val="0"/>
              </a:spcBef>
              <a:spcAft>
                <a:spcPts val="0"/>
              </a:spcAft>
              <a:buClrTx/>
              <a:buSzTx/>
              <a:buFontTx/>
              <a:buNone/>
              <a:tabLst/>
              <a:defRPr/>
            </a:pP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+|S(p1*p2*p3)| +|S(p1*p2*p4)| + …… + |S(p</a:t>
            </a:r>
            <a:r>
              <a:rPr kumimoji="0" lang="en-US" altLang="zh-CN" sz="1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k-2</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p</a:t>
            </a:r>
            <a:r>
              <a:rPr kumimoji="0" lang="en-US" altLang="zh-CN" sz="12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k-1</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a:t>
            </a:r>
            <a:r>
              <a:rPr kumimoji="0" lang="en-US" altLang="zh-CN" sz="12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k</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p>
          <a:p>
            <a:pPr marL="914400" marR="0" lvl="2" indent="0" algn="just" defTabSz="914400" rtl="0" eaLnBrk="1" fontAlgn="auto" latinLnBrk="0" hangingPunct="1">
              <a:lnSpc>
                <a:spcPct val="200000"/>
              </a:lnSpc>
              <a:spcBef>
                <a:spcPts val="0"/>
              </a:spcBef>
              <a:spcAft>
                <a:spcPts val="0"/>
              </a:spcAft>
              <a:buClrTx/>
              <a:buSzTx/>
              <a:buFontTx/>
              <a:buNone/>
              <a:tabLst/>
              <a:defRPr/>
            </a:pP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则</a:t>
            </a:r>
            <a:r>
              <a:rPr kumimoji="0" lang="el-GR" altLang="zh-CN" sz="1800" b="1" i="0" u="none" strike="noStrike" kern="100" cap="none" spc="0" normalizeH="0" baseline="0" noProof="1">
                <a:ln>
                  <a:noFill/>
                </a:ln>
                <a:solidFill>
                  <a:srgbClr val="C0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Φ</a:t>
            </a:r>
            <a:r>
              <a:rPr kumimoji="0" lang="en-US" altLang="zh-CN" sz="1800" b="1" i="0" u="none" strike="noStrike" kern="100" cap="none" spc="0" normalizeH="0" baseline="0" noProof="1">
                <a:ln>
                  <a:noFill/>
                </a:ln>
                <a:solidFill>
                  <a:srgbClr val="C0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  = N -  S</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将上式合并，得：</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457200" marR="0" lvl="1" indent="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l-GR" altLang="zh-CN" sz="1800" b="1" i="0" u="none" strike="noStrike" kern="100" cap="none" spc="0" normalizeH="0" baseline="0" noProof="1">
                <a:ln>
                  <a:noFill/>
                </a:ln>
                <a:solidFill>
                  <a:srgbClr val="C0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Φ</a:t>
            </a:r>
            <a:r>
              <a:rPr kumimoji="0" lang="en-US" altLang="zh-CN" sz="1800" b="1" i="0" u="none" strike="noStrike" kern="100" cap="none" spc="0" normalizeH="0" baseline="0" noProof="1">
                <a:ln>
                  <a:noFill/>
                </a:ln>
                <a:solidFill>
                  <a:srgbClr val="C00000"/>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 </a:t>
            </a:r>
            <a:r>
              <a:rPr kumimoji="0" lang="en-US" altLang="zh-CN" sz="1800" b="1" i="0" u="none" strike="noStrike" kern="100" cap="none" spc="0" normalizeH="0" baseline="0" noProof="1">
                <a:ln>
                  <a:noFill/>
                </a:ln>
                <a:solidFill>
                  <a:srgbClr val="C00000"/>
                </a:solidFill>
                <a:effectLst/>
                <a:uLnTx/>
                <a:uFillTx/>
                <a:latin typeface="仿宋_GB2312"/>
                <a:ea typeface="微软雅黑" panose="020B0503020204020204" pitchFamily="34" charset="-122"/>
                <a:cs typeface="Times New Roman" panose="02020603050405020304" pitchFamily="18" charset="0"/>
              </a:rPr>
              <a:t>=N(1-1/p1)(1-1/p2)……(1-1/pk)</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6692" y="3867179"/>
            <a:ext cx="3667919" cy="25540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欧拉函数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线性筛法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462152" y="972053"/>
            <a:ext cx="4453977" cy="4420890"/>
          </a:xfrm>
          <a:prstGeom prst="rect">
            <a:avLst/>
          </a:prstGeom>
        </p:spPr>
        <p:txBody>
          <a:bodyPr wrap="square">
            <a:spAutoFit/>
          </a:bodyPr>
          <a:lstStyle/>
          <a:p>
            <a:pPr marL="742950" marR="0" lvl="1"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性质</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、当</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p</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为质数的时候：</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phi(p)=p-1</a:t>
            </a:r>
          </a:p>
          <a:p>
            <a:pPr marL="742950" marR="0" lvl="1"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性质</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2</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、当</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p</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与</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i</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互质时有</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phi(p*</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)=phi(p)*phi(</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p>
          <a:p>
            <a:pPr marL="742950" marR="0" lvl="1"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性质</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3</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、当</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i%p</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==0</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时有：</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phi(p*</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)=p*phi(</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p>
        </p:txBody>
      </p:sp>
      <p:sp>
        <p:nvSpPr>
          <p:cNvPr id="5" name="矩形 4"/>
          <p:cNvSpPr/>
          <p:nvPr/>
        </p:nvSpPr>
        <p:spPr>
          <a:xfrm>
            <a:off x="4961498" y="751344"/>
            <a:ext cx="7230502" cy="5355312"/>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微软雅黑" panose="020B0503020204020204" pitchFamily="34" charset="-122"/>
                <a:cs typeface="+mn-cs"/>
              </a:rPr>
              <a:t>bool</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微软雅黑" panose="020B0503020204020204" pitchFamily="34" charset="-122"/>
                <a:cs typeface="+mn-cs"/>
              </a:rPr>
              <a:t>notprime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N</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微软雅黑" panose="020B0503020204020204" pitchFamily="34" charset="-122"/>
                <a:cs typeface="+mn-cs"/>
              </a:rPr>
              <a:t>int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N</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微软雅黑" panose="020B0503020204020204" pitchFamily="34" charset="-122"/>
                <a:cs typeface="+mn-cs"/>
              </a:rPr>
              <a:t>cnt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 </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微软雅黑" panose="020B0503020204020204" pitchFamily="34" charset="-122"/>
                <a:cs typeface="+mn-cs"/>
              </a:rPr>
              <a:t>0</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phi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N</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phi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微软雅黑" panose="020B0503020204020204" pitchFamily="34" charset="-122"/>
                <a:cs typeface="+mn-cs"/>
              </a:rPr>
              <a:t>1</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 </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微软雅黑" panose="020B0503020204020204" pitchFamily="34" charset="-122"/>
                <a:cs typeface="+mn-cs"/>
              </a:rPr>
              <a:t>1</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微软雅黑" panose="020B0503020204020204" pitchFamily="34" charset="-122"/>
                <a:cs typeface="+mn-cs"/>
              </a:rPr>
              <a:t>for</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微软雅黑" panose="020B0503020204020204" pitchFamily="34" charset="-122"/>
                <a:cs typeface="+mn-cs"/>
              </a:rPr>
              <a:t>int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 </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微软雅黑" panose="020B0503020204020204" pitchFamily="34" charset="-122"/>
                <a:cs typeface="+mn-cs"/>
              </a:rPr>
              <a:t>2</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&lt;= n; </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微软雅黑" panose="020B0503020204020204" pitchFamily="34" charset="-122"/>
                <a:cs typeface="+mn-cs"/>
              </a:rPr>
              <a:t>if</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微软雅黑" panose="020B0503020204020204" pitchFamily="34" charset="-122"/>
                <a:cs typeface="+mn-cs"/>
              </a:rPr>
              <a:t>notprime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cnt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 </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phi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 </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 </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微软雅黑" panose="020B0503020204020204" pitchFamily="34" charset="-122"/>
                <a:cs typeface="+mn-cs"/>
              </a:rPr>
              <a:t>1</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性质</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1</a:t>
            </a:r>
            <a:endPar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微软雅黑" panose="020B0503020204020204" pitchFamily="34" charset="-122"/>
                <a:cs typeface="+mn-cs"/>
              </a:rPr>
              <a:t>for</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微软雅黑" panose="020B0503020204020204" pitchFamily="34" charset="-122"/>
                <a:cs typeface="+mn-cs"/>
              </a:rPr>
              <a:t>int</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j = </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微软雅黑" panose="020B0503020204020204" pitchFamily="34" charset="-122"/>
                <a:cs typeface="+mn-cs"/>
              </a:rPr>
              <a:t>0</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[j] &lt;= n; ++j)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微软雅黑" panose="020B0503020204020204" pitchFamily="34" charset="-122"/>
                <a:cs typeface="+mn-cs"/>
              </a:rPr>
              <a:t>notprime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[j]] = </a:t>
            </a:r>
            <a:r>
              <a:rPr kumimoji="0" lang="en-US" altLang="zh-CN" sz="1800" b="0" i="0" u="none" strike="noStrike" kern="1200" cap="none" spc="0" normalizeH="0" baseline="0" noProof="0" dirty="0">
                <a:ln>
                  <a:noFill/>
                </a:ln>
                <a:solidFill>
                  <a:srgbClr val="569CD6"/>
                </a:solidFill>
                <a:effectLst/>
                <a:uLnTx/>
                <a:uFillTx/>
                <a:latin typeface="Consolas" panose="020B0609020204030204" pitchFamily="49" charset="0"/>
                <a:ea typeface="微软雅黑" panose="020B0503020204020204" pitchFamily="34" charset="-122"/>
                <a:cs typeface="+mn-cs"/>
              </a:rPr>
              <a:t>true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微软雅黑" panose="020B0503020204020204" pitchFamily="34" charset="-122"/>
                <a:cs typeface="+mn-cs"/>
              </a:rPr>
              <a:t>if</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err="1">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[j] == </a:t>
            </a:r>
            <a:r>
              <a:rPr kumimoji="0" lang="en-US" altLang="zh-CN" sz="1800" b="0" i="0" u="none" strike="noStrike" kern="1200" cap="none" spc="0" normalizeH="0" baseline="0" noProof="0" dirty="0">
                <a:ln>
                  <a:noFill/>
                </a:ln>
                <a:solidFill>
                  <a:srgbClr val="B5CEA8"/>
                </a:solidFill>
                <a:effectLst/>
                <a:uLnTx/>
                <a:uFillTx/>
                <a:latin typeface="Consolas" panose="020B0609020204030204" pitchFamily="49" charset="0"/>
                <a:ea typeface="微软雅黑" panose="020B0503020204020204" pitchFamily="34" charset="-122"/>
                <a:cs typeface="+mn-cs"/>
              </a:rPr>
              <a:t>0</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phi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[j]] =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phi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[j];</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 //</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性质</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3</a:t>
            </a:r>
            <a:endPar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微软雅黑" panose="020B0503020204020204" pitchFamily="34" charset="-122"/>
                <a:cs typeface="+mn-cs"/>
              </a:rPr>
              <a:t>break</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 //</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如果</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prime[j]</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是</a:t>
            </a:r>
            <a:r>
              <a:rPr kumimoji="0" lang="en-US" altLang="zh-CN" sz="1800" b="0" i="0" u="none" strike="noStrike" kern="1200" cap="none" spc="0" normalizeH="0" baseline="0" noProof="0" dirty="0" err="1">
                <a:ln>
                  <a:noFill/>
                </a:ln>
                <a:solidFill>
                  <a:srgbClr val="6A9955"/>
                </a:solidFill>
                <a:effectLst/>
                <a:uLnTx/>
                <a:uFillTx/>
                <a:latin typeface="Consolas" panose="020B0609020204030204" pitchFamily="49" charset="0"/>
                <a:ea typeface="微软雅黑" panose="020B0503020204020204" pitchFamily="34" charset="-122"/>
                <a:cs typeface="+mn-cs"/>
              </a:rPr>
              <a:t>i</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的最小质因子，跳出循环</a:t>
            </a:r>
            <a:endPar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C586C0"/>
                </a:solidFill>
                <a:effectLst/>
                <a:uLnTx/>
                <a:uFillTx/>
                <a:latin typeface="Consolas" panose="020B0609020204030204" pitchFamily="49" charset="0"/>
                <a:ea typeface="微软雅黑" panose="020B0503020204020204" pitchFamily="34" charset="-122"/>
                <a:cs typeface="+mn-cs"/>
              </a:rPr>
              <a:t>else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phi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[j]] =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phi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err="1">
                <a:ln>
                  <a:noFill/>
                </a:ln>
                <a:solidFill>
                  <a:srgbClr val="D4D4D4"/>
                </a:solidFill>
                <a:effectLst/>
                <a:uLnTx/>
                <a:uFillTx/>
                <a:latin typeface="Consolas" panose="020B0609020204030204" pitchFamily="49" charset="0"/>
                <a:ea typeface="微软雅黑" panose="020B0503020204020204" pitchFamily="34" charset="-122"/>
                <a:cs typeface="+mn-cs"/>
              </a:rPr>
              <a:t>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 </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phi</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9CDCFE"/>
                </a:solidFill>
                <a:effectLst/>
                <a:uLnTx/>
                <a:uFillTx/>
                <a:latin typeface="Consolas" panose="020B0609020204030204" pitchFamily="49" charset="0"/>
                <a:ea typeface="微软雅黑" panose="020B0503020204020204" pitchFamily="34" charset="-122"/>
                <a:cs typeface="+mn-cs"/>
              </a:rPr>
              <a:t>prime</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[j]];</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 //</a:t>
            </a:r>
            <a:r>
              <a:rPr kumimoji="0" lang="zh-CN" altLang="en-US"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性质</a:t>
            </a:r>
            <a:r>
              <a:rPr kumimoji="0" lang="en-US" altLang="zh-CN" sz="1800" b="0" i="0" u="none" strike="noStrike" kern="1200" cap="none" spc="0" normalizeH="0" baseline="0" noProof="0" dirty="0">
                <a:ln>
                  <a:noFill/>
                </a:ln>
                <a:solidFill>
                  <a:srgbClr val="6A9955"/>
                </a:solidFill>
                <a:effectLst/>
                <a:uLnTx/>
                <a:uFillTx/>
                <a:latin typeface="Consolas" panose="020B0609020204030204" pitchFamily="49" charset="0"/>
                <a:ea typeface="微软雅黑" panose="020B0503020204020204" pitchFamily="34" charset="-122"/>
                <a:cs typeface="+mn-cs"/>
              </a:rPr>
              <a:t>2</a:t>
            </a:r>
            <a:endPar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D4D4D4"/>
                </a:solidFill>
                <a:effectLst/>
                <a:uLnTx/>
                <a:uFillTx/>
                <a:latin typeface="Consolas" panose="020B0609020204030204" pitchFamily="49" charset="0"/>
                <a:ea typeface="微软雅黑" panose="020B0503020204020204" pitchFamily="34" charset="-122"/>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nodePh="1">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nodePh="1">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nodePh="1">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欧拉函数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线性筛法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462152" y="972053"/>
            <a:ext cx="10372996" cy="1467005"/>
          </a:xfrm>
          <a:prstGeom prst="rect">
            <a:avLst/>
          </a:prstGeom>
        </p:spPr>
        <p:txBody>
          <a:bodyPr wrap="square">
            <a:spAutoFit/>
          </a:bodyPr>
          <a:lstStyle/>
          <a:p>
            <a:pPr marL="742950" marR="0" lvl="1"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例：两个数</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b</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在</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[1,n]</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范围内，求满足</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gcd</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a,b</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 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的</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a,b</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的对数</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742950" marR="0" lvl="1"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即</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1~n</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的欧拉函数的和</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nodePh="1">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nodePh="1">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欧拉定理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21" name="图片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364" y="1103125"/>
            <a:ext cx="5011359" cy="948412"/>
          </a:xfrm>
          <a:prstGeom prst="rect">
            <a:avLst/>
          </a:prstGeom>
        </p:spPr>
      </p:pic>
      <p:pic>
        <p:nvPicPr>
          <p:cNvPr id="23" name="图片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2364" y="1935523"/>
            <a:ext cx="4611591" cy="4725107"/>
          </a:xfrm>
          <a:prstGeom prst="rect">
            <a:avLst/>
          </a:prstGeom>
        </p:spPr>
      </p:pic>
      <p:pic>
        <p:nvPicPr>
          <p:cNvPr id="25" name="图片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0803" y="1192259"/>
            <a:ext cx="4579326" cy="389505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2"/>
          <a:stretch>
            <a:fillRect/>
          </a:stretch>
        </p:blipFill>
        <p:spPr>
          <a:xfrm>
            <a:off x="5162550" y="1296987"/>
            <a:ext cx="2400300" cy="444500"/>
          </a:xfrm>
          <a:prstGeom prst="rect">
            <a:avLst/>
          </a:prstGeom>
          <a:noFill/>
          <a:ln>
            <a:noFill/>
            <a:miter lim="800000"/>
            <a:headEnd/>
            <a:tailEnd/>
          </a:ln>
          <a:effectLst/>
        </p:spPr>
      </p:pic>
      <p:sp>
        <p:nvSpPr>
          <p:cNvPr id="4" name="Rectangle 8"/>
          <p:cNvSpPr/>
          <p:nvPr/>
        </p:nvSpPr>
        <p:spPr>
          <a:xfrm>
            <a:off x="7681913" y="1196975"/>
            <a:ext cx="2854325" cy="519112"/>
          </a:xfrm>
          <a:prstGeom prst="rect">
            <a:avLst/>
          </a:prstGeom>
          <a:noFill/>
          <a:ln>
            <a:noFill/>
            <a:miter lim="800000"/>
          </a:ln>
          <a:effectLst/>
        </p:spPr>
        <p:txBody>
          <a:bodyPr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a</a:t>
            </a:r>
            <a:r>
              <a:rPr kumimoji="0" lang="en-US" altLang="zh-CN" sz="2800" b="1" i="0" u="none" strike="noStrike" kern="1200" cap="none" spc="0" normalizeH="0" baseline="3000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30000" noProof="0">
                <a:ln>
                  <a:noFill/>
                </a:ln>
                <a:solidFill>
                  <a:prstClr val="black"/>
                </a:solidFill>
                <a:effectLst/>
                <a:uLnTx/>
                <a:uFillTx/>
                <a:latin typeface="Times New Roman" panose="02020603050405020304" pitchFamily="18" charset="0"/>
                <a:ea typeface="Times New Roman" panose="02020603050405020304" pitchFamily="18" charset="0"/>
                <a:cs typeface="+mn-cs"/>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 (mod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zh-CN" altLang="en-US" sz="2800" b="1" i="0" u="none" strike="noStrike" kern="1200" cap="none" spc="0" normalizeH="0" baseline="0" noProof="0">
                <a:ln>
                  <a:noFill/>
                </a:ln>
                <a:solidFill>
                  <a:prstClr val="black"/>
                </a:solidFill>
                <a:effectLst/>
                <a:uLnTx/>
                <a:uFillTx/>
                <a:latin typeface="宋体" panose="02010600030101010101" pitchFamily="2" charset="-122"/>
                <a:ea typeface="Times New Roman" panose="02020603050405020304" pitchFamily="18" charset="0"/>
                <a:cs typeface="+mn-cs"/>
                <a:sym typeface="Symbol" panose="05050102010706020507" pitchFamily="18" charset="2"/>
              </a:rPr>
              <a:t> </a:t>
            </a:r>
          </a:p>
        </p:txBody>
      </p:sp>
      <p:sp>
        <p:nvSpPr>
          <p:cNvPr id="5" name="Rectangle 9"/>
          <p:cNvSpPr/>
          <p:nvPr/>
        </p:nvSpPr>
        <p:spPr>
          <a:xfrm>
            <a:off x="2209800" y="5734050"/>
            <a:ext cx="6530975" cy="519112"/>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FF3300"/>
                </a:solidFill>
                <a:effectLst/>
                <a:uLnTx/>
                <a:uFillTx/>
                <a:latin typeface="宋体" panose="02010600030101010101" pitchFamily="2" charset="-122"/>
                <a:ea typeface="宋体" panose="02010600030101010101" pitchFamily="2" charset="-122"/>
                <a:cs typeface="+mn-cs"/>
              </a:rPr>
              <a:t>注：</a:t>
            </a:r>
            <a:r>
              <a:rPr kumimoji="0"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Fermat</a:t>
            </a:r>
            <a:r>
              <a:rPr kumimoji="0"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定理即是欧拉定理的推论。</a:t>
            </a:r>
          </a:p>
        </p:txBody>
      </p:sp>
      <p:sp>
        <p:nvSpPr>
          <p:cNvPr id="6" name="Rectangle 11"/>
          <p:cNvSpPr/>
          <p:nvPr/>
        </p:nvSpPr>
        <p:spPr>
          <a:xfrm>
            <a:off x="2497138" y="2060575"/>
            <a:ext cx="3573462" cy="519112"/>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证：  由于</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p</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是素数，</a:t>
            </a:r>
            <a:r>
              <a:rPr kumimoji="0" lang="zh-CN" altLang="en-US" sz="2800" b="1" i="0" u="none" strike="noStrike" kern="1200" cap="none" spc="0" normalizeH="0" baseline="0" noProof="0">
                <a:ln>
                  <a:noFill/>
                </a:ln>
                <a:solidFill>
                  <a:prstClr val="black"/>
                </a:solidFill>
                <a:effectLst/>
                <a:uLnTx/>
                <a:uFillTx/>
                <a:latin typeface="宋体" panose="02010600030101010101" pitchFamily="2" charset="-122"/>
                <a:ea typeface="Times New Roman" panose="02020603050405020304" pitchFamily="18" charset="0"/>
                <a:cs typeface="+mn-cs"/>
              </a:rPr>
              <a:t> </a:t>
            </a:r>
          </a:p>
        </p:txBody>
      </p:sp>
      <p:pic>
        <p:nvPicPr>
          <p:cNvPr id="7" name="图片 6"/>
          <p:cNvPicPr/>
          <p:nvPr/>
        </p:nvPicPr>
        <p:blipFill>
          <a:blip r:embed="rId3"/>
          <a:stretch>
            <a:fillRect/>
          </a:stretch>
        </p:blipFill>
        <p:spPr>
          <a:xfrm>
            <a:off x="5810250" y="2117725"/>
            <a:ext cx="2717800" cy="431800"/>
          </a:xfrm>
          <a:prstGeom prst="rect">
            <a:avLst/>
          </a:prstGeom>
          <a:noFill/>
          <a:ln>
            <a:noFill/>
            <a:miter lim="800000"/>
            <a:headEnd/>
            <a:tailEnd/>
          </a:ln>
          <a:effectLst/>
        </p:spPr>
      </p:pic>
      <p:sp>
        <p:nvSpPr>
          <p:cNvPr id="8" name="Rectangle 16"/>
          <p:cNvSpPr/>
          <p:nvPr/>
        </p:nvSpPr>
        <p:spPr>
          <a:xfrm>
            <a:off x="2497138" y="2709862"/>
            <a:ext cx="2486025" cy="519113"/>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若 </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a</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1</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zh-CN" altLang="en-US" sz="2800" b="1" i="0" u="none" strike="noStrike" kern="1200" cap="none" spc="0" normalizeH="0" baseline="0" noProof="0">
                <a:ln>
                  <a:noFill/>
                </a:ln>
                <a:solidFill>
                  <a:prstClr val="black"/>
                </a:solidFill>
                <a:effectLst/>
                <a:uLnTx/>
                <a:uFillTx/>
                <a:latin typeface="宋体" panose="02010600030101010101" pitchFamily="2" charset="-122"/>
                <a:ea typeface="Times New Roman" panose="02020603050405020304" pitchFamily="18" charset="0"/>
                <a:cs typeface="+mn-cs"/>
                <a:sym typeface="Symbol" panose="05050102010706020507" pitchFamily="18" charset="2"/>
              </a:rPr>
              <a:t> </a:t>
            </a:r>
          </a:p>
        </p:txBody>
      </p:sp>
      <p:sp>
        <p:nvSpPr>
          <p:cNvPr id="9" name="Rectangle 17"/>
          <p:cNvSpPr/>
          <p:nvPr/>
        </p:nvSpPr>
        <p:spPr>
          <a:xfrm>
            <a:off x="4586288" y="2709862"/>
            <a:ext cx="2686050" cy="519113"/>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则由定理</a:t>
            </a:r>
            <a:r>
              <a:rPr kumimoji="0" lang="en-US" altLang="zh-CN"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得到 </a:t>
            </a:r>
          </a:p>
        </p:txBody>
      </p:sp>
      <p:sp>
        <p:nvSpPr>
          <p:cNvPr id="10" name="Rectangle 19"/>
          <p:cNvSpPr/>
          <p:nvPr/>
        </p:nvSpPr>
        <p:spPr>
          <a:xfrm>
            <a:off x="2570163" y="3429000"/>
            <a:ext cx="2884487" cy="519112"/>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a</a:t>
            </a:r>
            <a:r>
              <a:rPr kumimoji="0" lang="en-US" altLang="zh-CN" sz="2800" b="1" i="0" u="none" strike="noStrike" kern="1200" cap="none" spc="0" normalizeH="0" baseline="30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30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p</a:t>
            </a:r>
            <a:r>
              <a:rPr kumimoji="0" lang="en-US" altLang="zh-CN" sz="2800" b="1" i="0" u="none" strike="noStrike" kern="1200" cap="none" spc="0" normalizeH="0" baseline="30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0" u="none" strike="noStrike" kern="1200" cap="none" spc="0" normalizeH="0" baseline="30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30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1</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 </a:t>
            </a:r>
            <a:r>
              <a:rPr kumimoji="0" lang="en-US" altLang="zh-CN" sz="2800" b="1" i="0" u="none" strike="noStrike" kern="1200" cap="none" spc="0" normalizeH="0" baseline="30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 (mod </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p</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0" noProof="0" dirty="0">
                <a:ln>
                  <a:noFill/>
                </a:ln>
                <a:solidFill>
                  <a:prstClr val="black"/>
                </a:solidFill>
                <a:effectLst/>
                <a:uLnTx/>
                <a:uFillTx/>
                <a:latin typeface="宋体" panose="02010600030101010101" pitchFamily="2" charset="-122"/>
                <a:ea typeface="Times New Roman" panose="02020603050405020304" pitchFamily="18" charset="0"/>
                <a:cs typeface="+mn-cs"/>
                <a:sym typeface="Symbol" panose="05050102010706020507" pitchFamily="18" charset="2"/>
              </a:rPr>
              <a:t> </a:t>
            </a:r>
          </a:p>
        </p:txBody>
      </p:sp>
      <p:sp>
        <p:nvSpPr>
          <p:cNvPr id="11" name="Rectangle 21"/>
          <p:cNvSpPr/>
          <p:nvPr/>
        </p:nvSpPr>
        <p:spPr>
          <a:xfrm>
            <a:off x="5162550" y="3429000"/>
            <a:ext cx="2979738" cy="519112"/>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a:t>
            </a:r>
            <a:r>
              <a:rPr kumimoji="0" lang="en-US" altLang="zh-CN" sz="2800" b="1" i="0" u="none" strike="noStrike" kern="1200" cap="none" spc="0" normalizeH="0" baseline="3000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 </a:t>
            </a:r>
            <a:r>
              <a:rPr kumimoji="0" lang="en-US" altLang="zh-CN" sz="2800" b="1" i="1" u="none" strike="noStrike" kern="1200" cap="none" spc="0" normalizeH="0" baseline="3000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 </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 (mod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0" noProof="0">
                <a:ln>
                  <a:noFill/>
                </a:ln>
                <a:solidFill>
                  <a:prstClr val="black"/>
                </a:solidFill>
                <a:effectLst/>
                <a:uLnTx/>
                <a:uFillTx/>
                <a:latin typeface="宋体" panose="02010600030101010101" pitchFamily="2" charset="-122"/>
                <a:ea typeface="Times New Roman" panose="02020603050405020304" pitchFamily="18" charset="0"/>
                <a:cs typeface="+mn-cs"/>
                <a:sym typeface="Symbol" panose="05050102010706020507" pitchFamily="18" charset="2"/>
              </a:rPr>
              <a:t> </a:t>
            </a:r>
          </a:p>
        </p:txBody>
      </p:sp>
      <p:sp>
        <p:nvSpPr>
          <p:cNvPr id="12" name="Rectangle 23"/>
          <p:cNvSpPr/>
          <p:nvPr/>
        </p:nvSpPr>
        <p:spPr>
          <a:xfrm>
            <a:off x="2570163" y="4221162"/>
            <a:ext cx="3690937" cy="519113"/>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若</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a</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&gt; 1</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，则</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a</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zh-CN" altLang="en-US" sz="2800" b="1" i="0" u="none" strike="noStrike" kern="1200" cap="none" spc="0" normalizeH="0" baseline="0" noProof="0">
                <a:ln>
                  <a:noFill/>
                </a:ln>
                <a:solidFill>
                  <a:prstClr val="black"/>
                </a:solidFill>
                <a:effectLst/>
                <a:uLnTx/>
                <a:uFillTx/>
                <a:latin typeface="宋体" panose="02010600030101010101" pitchFamily="2" charset="-122"/>
                <a:ea typeface="Times New Roman" panose="02020603050405020304" pitchFamily="18" charset="0"/>
                <a:cs typeface="+mn-cs"/>
                <a:sym typeface="Symbol" panose="05050102010706020507" pitchFamily="18" charset="2"/>
              </a:rPr>
              <a:t> </a:t>
            </a:r>
          </a:p>
        </p:txBody>
      </p:sp>
      <p:sp>
        <p:nvSpPr>
          <p:cNvPr id="13" name="Rectangle 25"/>
          <p:cNvSpPr/>
          <p:nvPr/>
        </p:nvSpPr>
        <p:spPr>
          <a:xfrm>
            <a:off x="2497138" y="5013325"/>
            <a:ext cx="4157662" cy="519112"/>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所以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a</a:t>
            </a:r>
            <a:r>
              <a:rPr kumimoji="0" lang="en-US" altLang="zh-CN" sz="2800" b="1" i="0" u="none" strike="noStrike" kern="1200" cap="none" spc="0" normalizeH="0" baseline="3000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30000" noProof="0">
                <a:ln>
                  <a:noFill/>
                </a:ln>
                <a:solidFill>
                  <a:prstClr val="black"/>
                </a:solidFill>
                <a:effectLst/>
                <a:uLnTx/>
                <a:uFillTx/>
                <a:latin typeface="Times New Roman" panose="02020603050405020304" pitchFamily="18" charset="0"/>
                <a:ea typeface="Times New Roman" panose="02020603050405020304" pitchFamily="18" charset="0"/>
                <a:cs typeface="+mn-cs"/>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0 </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 (mod </a:t>
            </a:r>
            <a:r>
              <a:rPr kumimoji="0"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p</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0" noProof="0">
                <a:ln>
                  <a:noFill/>
                </a:ln>
                <a:solidFill>
                  <a:prstClr val="black"/>
                </a:solidFill>
                <a:effectLst/>
                <a:uLnTx/>
                <a:uFillTx/>
                <a:latin typeface="宋体" panose="02010600030101010101" pitchFamily="2" charset="-122"/>
                <a:ea typeface="Times New Roman" panose="02020603050405020304" pitchFamily="18" charset="0"/>
                <a:cs typeface="+mn-cs"/>
                <a:sym typeface="Symbol" panose="05050102010706020507" pitchFamily="18" charset="2"/>
              </a:rPr>
              <a:t> </a:t>
            </a:r>
          </a:p>
        </p:txBody>
      </p:sp>
      <p:sp>
        <p:nvSpPr>
          <p:cNvPr id="14" name="Rectangle 27"/>
          <p:cNvSpPr/>
          <p:nvPr/>
        </p:nvSpPr>
        <p:spPr>
          <a:xfrm>
            <a:off x="7897813" y="2709862"/>
            <a:ext cx="2744787" cy="519113"/>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rPr>
              <a:t>a</a:t>
            </a:r>
            <a:r>
              <a:rPr kumimoji="0" lang="en-US" altLang="zh-CN" sz="2800" b="1" i="1"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1"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rPr>
              <a:t>m</a:t>
            </a:r>
            <a:r>
              <a:rPr kumimoji="0" lang="en-US" altLang="zh-CN" sz="2800" b="1" i="0"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 </a:t>
            </a:r>
            <a:r>
              <a:rPr kumimoji="0" lang="en-US" altLang="zh-CN" sz="2800" b="1" i="0"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rPr>
              <a:t> </a:t>
            </a:r>
            <a:r>
              <a:rPr kumimoji="0" lang="en-US" altLang="zh-CN" sz="2800" b="1" i="0"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rPr>
              <a:t>1 (mod </a:t>
            </a:r>
            <a:r>
              <a:rPr kumimoji="0" lang="en-US" altLang="zh-CN" sz="2800" b="1" i="1"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m</a:t>
            </a:r>
            <a:r>
              <a:rPr kumimoji="0" lang="en-US" altLang="zh-CN" sz="2800" b="1" i="0"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endParaRPr kumimoji="0" lang="zh-CN" altLang="en-US" sz="2800" b="1" i="0"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endParaRPr>
          </a:p>
        </p:txBody>
      </p:sp>
      <p:sp>
        <p:nvSpPr>
          <p:cNvPr id="1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费马小定理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6" name="Rectangle 5"/>
          <p:cNvSpPr/>
          <p:nvPr/>
        </p:nvSpPr>
        <p:spPr>
          <a:xfrm>
            <a:off x="613406" y="1234254"/>
            <a:ext cx="4935538" cy="519113"/>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3300"/>
                </a:solidFill>
                <a:effectLst/>
                <a:uLnTx/>
                <a:uFillTx/>
                <a:latin typeface="Times New Roman" panose="02020603050405020304" pitchFamily="18" charset="0"/>
                <a:ea typeface="Times New Roman" panose="02020603050405020304" pitchFamily="18" charset="0"/>
                <a:cs typeface="+mn-cs"/>
              </a:rPr>
              <a:t>定理</a:t>
            </a:r>
            <a:r>
              <a:rPr kumimoji="0" lang="en-US" altLang="zh-CN" sz="2800" b="1" i="0" u="none" strike="noStrike" kern="1200" cap="none" spc="0" normalizeH="0" baseline="0" noProof="0" dirty="0">
                <a:ln>
                  <a:noFill/>
                </a:ln>
                <a:solidFill>
                  <a:srgbClr val="FF3300"/>
                </a:solidFill>
                <a:effectLst/>
                <a:uLnTx/>
                <a:uFillTx/>
                <a:latin typeface="Times New Roman" panose="02020603050405020304" pitchFamily="18" charset="0"/>
                <a:ea typeface="Times New Roman" panose="02020603050405020304" pitchFamily="18" charset="0"/>
                <a:cs typeface="+mn-cs"/>
              </a:rPr>
              <a:t>2(Fermat)</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设</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p</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是素数，</a:t>
            </a:r>
            <a:r>
              <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Times New Roman" panose="02020603050405020304" pitchFamily="18" charset="0"/>
                <a:cs typeface="+mn-cs"/>
              </a:rPr>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p:nvPr/>
        </p:nvSpPr>
        <p:spPr>
          <a:xfrm>
            <a:off x="1843881" y="1397793"/>
            <a:ext cx="4740275" cy="519113"/>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例</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   </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求</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13</a:t>
            </a:r>
            <a:r>
              <a:rPr kumimoji="0" lang="en-US" altLang="zh-CN" sz="2800" b="1" i="0" u="none" strike="noStrike" kern="1200" cap="none" spc="0" normalizeH="0" baseline="30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1956 </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被</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60</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除的余数。</a:t>
            </a:r>
          </a:p>
        </p:txBody>
      </p:sp>
      <p:sp>
        <p:nvSpPr>
          <p:cNvPr id="3" name="Rectangle 16"/>
          <p:cNvSpPr/>
          <p:nvPr/>
        </p:nvSpPr>
        <p:spPr>
          <a:xfrm>
            <a:off x="7603331" y="2924968"/>
            <a:ext cx="2744787" cy="519113"/>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rPr>
              <a:t>a</a:t>
            </a:r>
            <a:r>
              <a:rPr kumimoji="0" lang="en-US" altLang="zh-CN" sz="2800" b="1" i="1"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1"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rPr>
              <a:t>m</a:t>
            </a:r>
            <a:r>
              <a:rPr kumimoji="0" lang="en-US" altLang="zh-CN" sz="2800" b="1" i="0"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r>
              <a:rPr kumimoji="0" lang="en-US" altLang="zh-CN" sz="2800" b="1" i="0"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 </a:t>
            </a:r>
            <a:r>
              <a:rPr kumimoji="0" lang="en-US" altLang="zh-CN" sz="2800" b="1" i="0" u="none" strike="noStrike" kern="1200" cap="none" spc="0" normalizeH="0" baseline="30000" noProof="0">
                <a:ln>
                  <a:noFill/>
                </a:ln>
                <a:solidFill>
                  <a:srgbClr val="FF3300"/>
                </a:solidFill>
                <a:effectLst/>
                <a:uLnTx/>
                <a:uFillTx/>
                <a:latin typeface="Times New Roman" panose="02020603050405020304" pitchFamily="18" charset="0"/>
                <a:ea typeface="Times New Roman" panose="02020603050405020304" pitchFamily="18" charset="0"/>
                <a:cs typeface="+mn-cs"/>
              </a:rPr>
              <a:t> </a:t>
            </a:r>
            <a:r>
              <a:rPr kumimoji="0" lang="en-US" altLang="zh-CN" sz="2800" b="1" i="0"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rPr>
              <a:t>1 (mod </a:t>
            </a:r>
            <a:r>
              <a:rPr kumimoji="0" lang="en-US" altLang="zh-CN" sz="2800" b="1" i="1"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m</a:t>
            </a:r>
            <a:r>
              <a:rPr kumimoji="0" lang="en-US" altLang="zh-CN" sz="2800" b="1" i="0"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rPr>
              <a:t>)</a:t>
            </a:r>
            <a:endParaRPr kumimoji="0" lang="zh-CN" altLang="en-US" sz="2800" b="1" i="0" u="none" strike="noStrike" kern="1200" cap="none" spc="0" normalizeH="0" baseline="0" noProof="0">
              <a:ln>
                <a:noFill/>
              </a:ln>
              <a:solidFill>
                <a:srgbClr val="FF3300"/>
              </a:solidFill>
              <a:effectLst/>
              <a:uLnTx/>
              <a:uFillTx/>
              <a:latin typeface="Times New Roman" panose="02020603050405020304" pitchFamily="18" charset="0"/>
              <a:ea typeface="Times New Roman" panose="02020603050405020304" pitchFamily="18" charset="0"/>
              <a:cs typeface="+mn-cs"/>
              <a:sym typeface="Symbol" panose="05050102010706020507" pitchFamily="18" charset="2"/>
            </a:endParaRPr>
          </a:p>
        </p:txBody>
      </p:sp>
      <p:sp>
        <p:nvSpPr>
          <p:cNvPr id="4" name="Rectangle 24"/>
          <p:cNvSpPr/>
          <p:nvPr/>
        </p:nvSpPr>
        <p:spPr>
          <a:xfrm>
            <a:off x="2275681" y="4941093"/>
            <a:ext cx="4502150" cy="519113"/>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即 </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13</a:t>
            </a:r>
            <a:r>
              <a:rPr kumimoji="0" lang="en-US" altLang="zh-CN" sz="2800" b="1" i="0" u="none" strike="noStrike" kern="1200" cap="none" spc="0" normalizeH="0" baseline="30000" noProof="0">
                <a:ln>
                  <a:noFill/>
                </a:ln>
                <a:solidFill>
                  <a:prstClr val="black"/>
                </a:solidFill>
                <a:effectLst/>
                <a:uLnTx/>
                <a:uFillTx/>
                <a:latin typeface="Times New Roman" panose="02020603050405020304" pitchFamily="18" charset="0"/>
                <a:ea typeface="Times New Roman" panose="02020603050405020304" pitchFamily="18" charset="0"/>
                <a:cs typeface="+mn-cs"/>
              </a:rPr>
              <a:t>1956</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被</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60</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除的余数为</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1</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a:t>
            </a:r>
          </a:p>
        </p:txBody>
      </p:sp>
      <p:sp>
        <p:nvSpPr>
          <p:cNvPr id="5" name="Rectangle 25"/>
          <p:cNvSpPr/>
          <p:nvPr/>
        </p:nvSpPr>
        <p:spPr>
          <a:xfrm>
            <a:off x="2275681" y="2059781"/>
            <a:ext cx="898525" cy="519112"/>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解：</a:t>
            </a:r>
            <a:endParaRPr kumimoji="0" lang="en-US" altLang="zh-CN" sz="2800" b="1" i="0" u="none" strike="noStrike" kern="1200" cap="none" spc="0" normalizeH="0" baseline="0" noProof="0">
              <a:ln>
                <a:noFill/>
              </a:ln>
              <a:solidFill>
                <a:prstClr val="black"/>
              </a:solidFill>
              <a:effectLst/>
              <a:uLnTx/>
              <a:uFillTx/>
              <a:latin typeface="宋体" panose="02010600030101010101" pitchFamily="2" charset="-122"/>
              <a:ea typeface="Times New Roman" panose="02020603050405020304" pitchFamily="18" charset="0"/>
              <a:cs typeface="+mn-cs"/>
            </a:endParaRPr>
          </a:p>
        </p:txBody>
      </p:sp>
      <p:pic>
        <p:nvPicPr>
          <p:cNvPr id="6" name="图片 5"/>
          <p:cNvPicPr/>
          <p:nvPr/>
        </p:nvPicPr>
        <p:blipFill>
          <a:blip r:embed="rId2"/>
          <a:stretch>
            <a:fillRect/>
          </a:stretch>
        </p:blipFill>
        <p:spPr>
          <a:xfrm>
            <a:off x="3196431" y="1988343"/>
            <a:ext cx="6508750" cy="869950"/>
          </a:xfrm>
          <a:prstGeom prst="rect">
            <a:avLst/>
          </a:prstGeom>
          <a:noFill/>
          <a:ln>
            <a:noFill/>
            <a:miter lim="800000"/>
            <a:headEnd/>
            <a:tailEnd/>
          </a:ln>
          <a:effectLst/>
        </p:spPr>
      </p:pic>
      <p:pic>
        <p:nvPicPr>
          <p:cNvPr id="7" name="图片 6"/>
          <p:cNvPicPr/>
          <p:nvPr/>
        </p:nvPicPr>
        <p:blipFill>
          <a:blip r:embed="rId3"/>
          <a:stretch>
            <a:fillRect/>
          </a:stretch>
        </p:blipFill>
        <p:spPr>
          <a:xfrm>
            <a:off x="1986756" y="2851943"/>
            <a:ext cx="5113337" cy="539750"/>
          </a:xfrm>
          <a:prstGeom prst="rect">
            <a:avLst/>
          </a:prstGeom>
          <a:noFill/>
          <a:ln>
            <a:noFill/>
            <a:miter lim="800000"/>
            <a:headEnd/>
            <a:tailEnd/>
          </a:ln>
          <a:effectLst/>
        </p:spPr>
      </p:pic>
      <p:pic>
        <p:nvPicPr>
          <p:cNvPr id="8" name="图片 7"/>
          <p:cNvPicPr/>
          <p:nvPr/>
        </p:nvPicPr>
        <p:blipFill>
          <a:blip r:embed="rId4"/>
          <a:stretch>
            <a:fillRect/>
          </a:stretch>
        </p:blipFill>
        <p:spPr>
          <a:xfrm>
            <a:off x="2202656" y="3572668"/>
            <a:ext cx="7920037" cy="985838"/>
          </a:xfrm>
          <a:prstGeom prst="rect">
            <a:avLst/>
          </a:prstGeom>
          <a:noFill/>
          <a:ln>
            <a:noFill/>
            <a:miter lim="800000"/>
            <a:headEnd/>
            <a:tailEnd/>
          </a:ln>
          <a:effec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欧拉定理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应用举例</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1829594" y="1042193"/>
            <a:ext cx="8532812" cy="519113"/>
          </a:xfrm>
          <a:prstGeom prst="rect">
            <a:avLst/>
          </a:prstGeom>
          <a:noFill/>
          <a:ln>
            <a:noFill/>
            <a:miter lim="800000"/>
          </a:ln>
          <a:effectLst/>
        </p:spPr>
        <p:txBody>
          <a:bodyPr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例</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2  </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如果今天是星期一，再过</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10</a:t>
            </a:r>
            <a:r>
              <a:rPr kumimoji="0" lang="en-US" altLang="zh-CN" sz="2800" b="1" i="0" u="none" strike="noStrike" kern="1200" cap="none" spc="0" normalizeH="0" baseline="46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10</a:t>
            </a:r>
            <a:r>
              <a:rPr kumimoji="0" lang="en-US" altLang="zh-CN" sz="2400" b="1" i="0" u="none" strike="noStrike" kern="1200" cap="none" spc="0" normalizeH="0" baseline="96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10</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天是星期几？</a:t>
            </a:r>
          </a:p>
        </p:txBody>
      </p:sp>
      <p:pic>
        <p:nvPicPr>
          <p:cNvPr id="3" name="图片 2"/>
          <p:cNvPicPr/>
          <p:nvPr/>
        </p:nvPicPr>
        <p:blipFill>
          <a:blip r:embed="rId2"/>
          <a:stretch>
            <a:fillRect/>
          </a:stretch>
        </p:blipFill>
        <p:spPr>
          <a:xfrm>
            <a:off x="4566444" y="2773363"/>
            <a:ext cx="1016000" cy="317500"/>
          </a:xfrm>
          <a:prstGeom prst="rect">
            <a:avLst/>
          </a:prstGeom>
          <a:noFill/>
          <a:ln>
            <a:noFill/>
            <a:miter lim="800000"/>
            <a:headEnd/>
            <a:tailEnd/>
          </a:ln>
          <a:effectLst/>
        </p:spPr>
      </p:pic>
      <p:pic>
        <p:nvPicPr>
          <p:cNvPr id="4" name="图片 3"/>
          <p:cNvPicPr/>
          <p:nvPr/>
        </p:nvPicPr>
        <p:blipFill>
          <a:blip r:embed="rId3"/>
          <a:stretch>
            <a:fillRect/>
          </a:stretch>
        </p:blipFill>
        <p:spPr>
          <a:xfrm>
            <a:off x="5790406" y="2773363"/>
            <a:ext cx="1625600" cy="393700"/>
          </a:xfrm>
          <a:prstGeom prst="rect">
            <a:avLst/>
          </a:prstGeom>
          <a:noFill/>
          <a:ln>
            <a:noFill/>
            <a:miter lim="800000"/>
            <a:headEnd/>
            <a:tailEnd/>
          </a:ln>
          <a:effectLst/>
        </p:spPr>
      </p:pic>
      <p:pic>
        <p:nvPicPr>
          <p:cNvPr id="5" name="图片 4"/>
          <p:cNvPicPr/>
          <p:nvPr/>
        </p:nvPicPr>
        <p:blipFill>
          <a:blip r:embed="rId4"/>
          <a:stretch>
            <a:fillRect/>
          </a:stretch>
        </p:blipFill>
        <p:spPr>
          <a:xfrm>
            <a:off x="2189956" y="3421063"/>
            <a:ext cx="3594100" cy="469900"/>
          </a:xfrm>
          <a:prstGeom prst="rect">
            <a:avLst/>
          </a:prstGeom>
          <a:noFill/>
          <a:ln>
            <a:noFill/>
            <a:miter lim="800000"/>
            <a:headEnd/>
            <a:tailEnd/>
          </a:ln>
          <a:effectLst/>
        </p:spPr>
      </p:pic>
      <p:pic>
        <p:nvPicPr>
          <p:cNvPr id="6" name="图片 5"/>
          <p:cNvPicPr/>
          <p:nvPr/>
        </p:nvPicPr>
        <p:blipFill>
          <a:blip r:embed="rId5"/>
          <a:stretch>
            <a:fillRect/>
          </a:stretch>
        </p:blipFill>
        <p:spPr>
          <a:xfrm>
            <a:off x="2766219" y="1765300"/>
            <a:ext cx="2222500" cy="431800"/>
          </a:xfrm>
          <a:prstGeom prst="rect">
            <a:avLst/>
          </a:prstGeom>
          <a:noFill/>
          <a:ln>
            <a:noFill/>
            <a:miter lim="800000"/>
            <a:headEnd/>
            <a:tailEnd/>
          </a:ln>
          <a:effectLst/>
        </p:spPr>
      </p:pic>
      <p:pic>
        <p:nvPicPr>
          <p:cNvPr id="7" name="图片 6"/>
          <p:cNvPicPr/>
          <p:nvPr/>
        </p:nvPicPr>
        <p:blipFill>
          <a:blip r:embed="rId6"/>
          <a:stretch>
            <a:fillRect/>
          </a:stretch>
        </p:blipFill>
        <p:spPr>
          <a:xfrm>
            <a:off x="5358606" y="1765300"/>
            <a:ext cx="3035300" cy="469900"/>
          </a:xfrm>
          <a:prstGeom prst="rect">
            <a:avLst/>
          </a:prstGeom>
          <a:noFill/>
          <a:ln>
            <a:noFill/>
            <a:miter lim="800000"/>
            <a:headEnd/>
            <a:tailEnd/>
          </a:ln>
          <a:effectLst/>
        </p:spPr>
      </p:pic>
      <p:pic>
        <p:nvPicPr>
          <p:cNvPr id="8" name="图片 7"/>
          <p:cNvPicPr/>
          <p:nvPr/>
        </p:nvPicPr>
        <p:blipFill>
          <a:blip r:embed="rId7"/>
          <a:stretch>
            <a:fillRect/>
          </a:stretch>
        </p:blipFill>
        <p:spPr>
          <a:xfrm>
            <a:off x="2189956" y="3981450"/>
            <a:ext cx="2755900" cy="520700"/>
          </a:xfrm>
          <a:prstGeom prst="rect">
            <a:avLst/>
          </a:prstGeom>
          <a:noFill/>
          <a:ln>
            <a:noFill/>
            <a:miter lim="800000"/>
            <a:headEnd/>
            <a:tailEnd/>
          </a:ln>
          <a:effectLst/>
        </p:spPr>
      </p:pic>
      <p:pic>
        <p:nvPicPr>
          <p:cNvPr id="9" name="图片 8"/>
          <p:cNvPicPr/>
          <p:nvPr/>
        </p:nvPicPr>
        <p:blipFill>
          <a:blip r:embed="rId8"/>
          <a:stretch>
            <a:fillRect/>
          </a:stretch>
        </p:blipFill>
        <p:spPr>
          <a:xfrm>
            <a:off x="5069681" y="3981450"/>
            <a:ext cx="1651000" cy="469900"/>
          </a:xfrm>
          <a:prstGeom prst="rect">
            <a:avLst/>
          </a:prstGeom>
          <a:noFill/>
          <a:ln>
            <a:noFill/>
            <a:miter lim="800000"/>
            <a:headEnd/>
            <a:tailEnd/>
          </a:ln>
          <a:effectLst/>
        </p:spPr>
      </p:pic>
      <p:pic>
        <p:nvPicPr>
          <p:cNvPr id="10" name="图片 9"/>
          <p:cNvPicPr/>
          <p:nvPr/>
        </p:nvPicPr>
        <p:blipFill>
          <a:blip r:embed="rId9"/>
          <a:stretch>
            <a:fillRect/>
          </a:stretch>
        </p:blipFill>
        <p:spPr>
          <a:xfrm>
            <a:off x="6942931" y="4052888"/>
            <a:ext cx="1054100" cy="393700"/>
          </a:xfrm>
          <a:prstGeom prst="rect">
            <a:avLst/>
          </a:prstGeom>
          <a:noFill/>
          <a:ln>
            <a:noFill/>
            <a:miter lim="800000"/>
            <a:headEnd/>
            <a:tailEnd/>
          </a:ln>
          <a:effectLst/>
        </p:spPr>
      </p:pic>
      <p:pic>
        <p:nvPicPr>
          <p:cNvPr id="11" name="图片 10"/>
          <p:cNvPicPr/>
          <p:nvPr/>
        </p:nvPicPr>
        <p:blipFill>
          <a:blip r:embed="rId10"/>
          <a:stretch>
            <a:fillRect/>
          </a:stretch>
        </p:blipFill>
        <p:spPr>
          <a:xfrm>
            <a:off x="4996656" y="4895850"/>
            <a:ext cx="1714500" cy="393700"/>
          </a:xfrm>
          <a:prstGeom prst="rect">
            <a:avLst/>
          </a:prstGeom>
          <a:noFill/>
          <a:ln>
            <a:noFill/>
            <a:miter lim="800000"/>
            <a:headEnd/>
            <a:tailEnd/>
          </a:ln>
          <a:effectLst/>
        </p:spPr>
      </p:pic>
      <p:sp>
        <p:nvSpPr>
          <p:cNvPr id="12" name="Rectangle 14"/>
          <p:cNvSpPr/>
          <p:nvPr/>
        </p:nvSpPr>
        <p:spPr>
          <a:xfrm>
            <a:off x="2189956" y="5653088"/>
            <a:ext cx="4913313" cy="519112"/>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即得：再过</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10</a:t>
            </a:r>
            <a:r>
              <a:rPr kumimoji="0" lang="en-US" altLang="zh-CN" sz="2800" b="1" i="0" u="none" strike="noStrike" kern="1200" cap="none" spc="0" normalizeH="0" baseline="46000" noProof="0">
                <a:ln>
                  <a:noFill/>
                </a:ln>
                <a:solidFill>
                  <a:prstClr val="black"/>
                </a:solidFill>
                <a:effectLst/>
                <a:uLnTx/>
                <a:uFillTx/>
                <a:latin typeface="Times New Roman" panose="02020603050405020304" pitchFamily="18" charset="0"/>
                <a:ea typeface="Times New Roman" panose="02020603050405020304" pitchFamily="18" charset="0"/>
                <a:cs typeface="+mn-cs"/>
              </a:rPr>
              <a:t>10</a:t>
            </a:r>
            <a:r>
              <a:rPr kumimoji="0" lang="en-US" altLang="zh-CN" sz="2400" b="1" i="0" u="none" strike="noStrike" kern="1200" cap="none" spc="0" normalizeH="0" baseline="96000" noProof="0">
                <a:ln>
                  <a:noFill/>
                </a:ln>
                <a:solidFill>
                  <a:prstClr val="black"/>
                </a:solidFill>
                <a:effectLst/>
                <a:uLnTx/>
                <a:uFillTx/>
                <a:latin typeface="Times New Roman" panose="02020603050405020304" pitchFamily="18" charset="0"/>
                <a:ea typeface="Times New Roman" panose="02020603050405020304" pitchFamily="18" charset="0"/>
                <a:cs typeface="+mn-cs"/>
              </a:rPr>
              <a:t>10</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天是星期五。</a:t>
            </a:r>
          </a:p>
        </p:txBody>
      </p:sp>
      <p:pic>
        <p:nvPicPr>
          <p:cNvPr id="13" name="图片 12"/>
          <p:cNvPicPr/>
          <p:nvPr/>
        </p:nvPicPr>
        <p:blipFill>
          <a:blip r:embed="rId11"/>
          <a:stretch>
            <a:fillRect/>
          </a:stretch>
        </p:blipFill>
        <p:spPr>
          <a:xfrm>
            <a:off x="3918744" y="4860925"/>
            <a:ext cx="863600" cy="469900"/>
          </a:xfrm>
          <a:prstGeom prst="rect">
            <a:avLst/>
          </a:prstGeom>
          <a:noFill/>
          <a:ln>
            <a:noFill/>
            <a:miter lim="800000"/>
            <a:headEnd/>
            <a:tailEnd/>
          </a:ln>
          <a:effectLst/>
        </p:spPr>
      </p:pic>
      <p:pic>
        <p:nvPicPr>
          <p:cNvPr id="14" name="图片 13"/>
          <p:cNvPicPr/>
          <p:nvPr/>
        </p:nvPicPr>
        <p:blipFill>
          <a:blip r:embed="rId12"/>
          <a:stretch>
            <a:fillRect/>
          </a:stretch>
        </p:blipFill>
        <p:spPr>
          <a:xfrm>
            <a:off x="2334419" y="2701925"/>
            <a:ext cx="1803400" cy="469900"/>
          </a:xfrm>
          <a:prstGeom prst="rect">
            <a:avLst/>
          </a:prstGeom>
          <a:noFill/>
          <a:ln>
            <a:noFill/>
            <a:miter lim="800000"/>
            <a:headEnd/>
            <a:tailEnd/>
          </a:ln>
          <a:effectLst/>
        </p:spPr>
      </p:pic>
      <p:sp>
        <p:nvSpPr>
          <p:cNvPr id="15" name="Rectangle 17"/>
          <p:cNvSpPr/>
          <p:nvPr/>
        </p:nvSpPr>
        <p:spPr>
          <a:xfrm>
            <a:off x="1902619" y="1620838"/>
            <a:ext cx="895350" cy="519112"/>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解：</a:t>
            </a:r>
          </a:p>
        </p:txBody>
      </p:sp>
      <p:sp>
        <p:nvSpPr>
          <p:cNvPr id="16"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欧拉定理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应用举例</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快速幂</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nvSpPr>
        <p:spPr>
          <a:xfrm>
            <a:off x="491065" y="1575488"/>
            <a:ext cx="10196945" cy="167674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00150" marR="0" lvl="2"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递归</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57350" marR="0" lvl="3"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57350" marR="0" lvl="3"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18" name="Rectangle 6"/>
          <p:cNvSpPr/>
          <p:nvPr/>
        </p:nvSpPr>
        <p:spPr>
          <a:xfrm>
            <a:off x="849780" y="1118388"/>
            <a:ext cx="3967753" cy="523220"/>
          </a:xfrm>
          <a:prstGeom prst="rect">
            <a:avLst/>
          </a:prstGeom>
          <a:noFill/>
          <a:ln>
            <a:noFill/>
            <a:miter lim="800000"/>
          </a:ln>
          <a:effectLst/>
        </p:spPr>
        <p:txBody>
          <a:bodyPr wrap="none" anchor="ctr" anchorCtr="0">
            <a:spAutoFit/>
          </a:bodyPr>
          <a:lstStyle>
            <a:defPPr>
              <a:defRPr lang="en-US"/>
            </a:defPPr>
            <a:lvl1pPr marL="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1pPr>
            <a:lvl2pPr marL="4572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2pPr>
            <a:lvl3pPr marL="9144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3pPr>
            <a:lvl4pPr marL="13716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4pPr>
            <a:lvl5pPr marL="1828800" indent="0" algn="l" defTabSz="914400" rtl="0" eaLnBrk="0" fontAlgn="base" hangingPunct="0">
              <a:lnSpc>
                <a:spcPct val="100000"/>
              </a:lnSpc>
              <a:spcBef>
                <a:spcPct val="50000"/>
              </a:spcBef>
              <a:spcAft>
                <a:spcPct val="0"/>
              </a:spcAft>
              <a:buClrTx/>
              <a:buSzTx/>
              <a:buFontTx/>
              <a:buNone/>
              <a:defRPr kumimoji="0" sz="2800" b="1" i="0" u="none" baseline="0">
                <a:solidFill>
                  <a:schemeClr val="tx1"/>
                </a:solidFill>
                <a:effectLst/>
                <a:latin typeface="宋体" panose="02010600030101010101" pitchFamily="2" charset="-122"/>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求</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13</a:t>
            </a:r>
            <a:r>
              <a:rPr kumimoji="0" lang="en-US" altLang="zh-CN" sz="2800" b="1" i="0" u="none" strike="noStrike" kern="1200" cap="none" spc="0" normalizeH="0" baseline="3000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1956 </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被</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60</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除的余数。</a:t>
            </a:r>
          </a:p>
        </p:txBody>
      </p:sp>
      <p:pic>
        <p:nvPicPr>
          <p:cNvPr id="22" name="图片 2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3990" y="2160492"/>
            <a:ext cx="2781688" cy="4477375"/>
          </a:xfrm>
          <a:prstGeom prst="rect">
            <a:avLst/>
          </a:prstGeom>
        </p:spPr>
      </p:pic>
      <p:pic>
        <p:nvPicPr>
          <p:cNvPr id="24" name="图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1379" y="2840114"/>
            <a:ext cx="3077004" cy="3915321"/>
          </a:xfrm>
          <a:prstGeom prst="rect">
            <a:avLst/>
          </a:prstGeom>
        </p:spPr>
      </p:pic>
      <p:sp>
        <p:nvSpPr>
          <p:cNvPr id="25" name="矩形 24"/>
          <p:cNvSpPr/>
          <p:nvPr/>
        </p:nvSpPr>
        <p:spPr>
          <a:xfrm>
            <a:off x="4896267" y="494200"/>
            <a:ext cx="7487228" cy="2229456"/>
          </a:xfrm>
          <a:prstGeom prst="rect">
            <a:avLst/>
          </a:prstGeom>
        </p:spPr>
        <p:txBody>
          <a:bodyPr wrap="square">
            <a:spAutoFit/>
          </a:bodyPr>
          <a:lstStyle/>
          <a:p>
            <a:pPr marL="1200150" marR="0" lvl="2"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循环</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57350" marR="0" lvl="3"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每个数都可以拆成二进制的形式</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57350" marR="0" lvl="3"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10 = (1010)</a:t>
            </a:r>
            <a:r>
              <a:rPr kumimoji="0" lang="en-US" altLang="zh-CN" sz="12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2</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 =2^1 + 2^3</a:t>
            </a:r>
          </a:p>
          <a:p>
            <a:pPr marL="1657350" marR="0" lvl="3"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故任意数均可拆分为</a:t>
            </a:r>
            <a:r>
              <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2^k1 + 2^k2 +……+2^kn</a:t>
            </a:r>
            <a:r>
              <a:rPr kumimoji="0" lang="zh-CN" altLang="en-US"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形式</a:t>
            </a: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乘法逆元</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11684480" cy="5597318"/>
          </a:xfrm>
          <a:prstGeom prst="rect">
            <a:avLst/>
          </a:prstGeom>
        </p:spPr>
        <p:txBody>
          <a:bodyPr vert="horz" wrap="square"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若</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ax ≡ 1(mod p)</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，则称</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在模</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意义下的乘法逆元，记为</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en-US" altLang="zh-CN" sz="2400" b="1" i="0" u="none" strike="noStrike" kern="100" cap="none" spc="0" normalizeH="0" baseline="3000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(mod p)</a:t>
            </a: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求逆元</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即存在整数</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y’</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，使得</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 = py’ + 1</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，令</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y=y’</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p>
          <a:p>
            <a:pPr marL="914400" marR="0" lvl="2"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即求</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ax + py = 1</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的解，求出的</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x</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即为逆元。可通过扩展</a:t>
            </a:r>
          </a:p>
          <a:p>
            <a:pPr marL="914400" marR="0" lvl="2"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欧几里得求解</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由费马小定理：当</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为质数时，</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en-US" altLang="zh-CN" sz="2000" b="1" i="0" u="none" strike="noStrike" kern="100" cap="none" spc="0" normalizeH="0" baseline="3000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p-1</a:t>
            </a:r>
            <a:r>
              <a:rPr kumimoji="0" lang="en-US" altLang="zh-CN"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1(mod p)</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即</a:t>
            </a:r>
          </a:p>
          <a:p>
            <a:pPr marL="914400" marR="0" lvl="2"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a*a</a:t>
            </a:r>
            <a:r>
              <a:rPr kumimoji="0" lang="en-US" altLang="zh-CN" sz="2000" b="1" i="0" u="none" strike="noStrike" kern="100" cap="none" spc="0" normalizeH="0" baseline="3000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p-2</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r>
              <a:rPr kumimoji="0" lang="en-US" altLang="zh-CN"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1(mod p)</a:t>
            </a:r>
            <a:r>
              <a:rPr kumimoji="0" lang="zh-CN" altLang="en-US"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en-US" altLang="zh-CN" sz="2000" b="1" i="0" u="none" strike="noStrike" kern="100" cap="none" spc="0" normalizeH="0" baseline="30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p-2</a:t>
            </a:r>
            <a:r>
              <a:rPr kumimoji="0" lang="zh-CN" altLang="en-US"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即为</a:t>
            </a:r>
            <a:r>
              <a:rPr kumimoji="0" lang="en-US" altLang="zh-CN"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zh-CN" altLang="en-US"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在模</a:t>
            </a:r>
            <a:r>
              <a:rPr kumimoji="0" lang="en-US" altLang="zh-CN"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p</a:t>
            </a:r>
            <a:r>
              <a:rPr kumimoji="0" lang="zh-CN" altLang="en-US"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意义下的乘法逆元。</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914400" marR="0" lvl="2"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  </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故可通过快速幂求解逆元，求</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a</a:t>
            </a:r>
            <a:r>
              <a:rPr kumimoji="0" lang="en-US" altLang="zh-CN" sz="2000" b="1" i="0" u="none" strike="noStrike" kern="100" cap="none" spc="0" normalizeH="0" baseline="3000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p-2</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%p</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rPr>
              <a:t>即可。</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8068310" y="2179320"/>
            <a:ext cx="3314700" cy="42595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乘法逆元</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5A079F94-FF7D-43A4-8680-518AF38E0E15}"/>
              </a:ext>
            </a:extLst>
          </p:cNvPr>
          <p:cNvSpPr/>
          <p:nvPr/>
        </p:nvSpPr>
        <p:spPr>
          <a:xfrm>
            <a:off x="928254" y="1188550"/>
            <a:ext cx="10934007" cy="391132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小凯有一天突发奇想，写下了一串数字：</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l(l+1)(l+2)...(r</a:t>
            </a: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1)r</a:t>
            </a: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例如：</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l=2,r=5</a:t>
            </a: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时，数字为：</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2345</a:t>
            </a:r>
            <a:endPar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l=8,r=12</a:t>
            </a: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时数字为：</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89101112</a:t>
            </a:r>
            <a:endPar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小凯很喜欢数字 </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9</a:t>
            </a: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，所以他想问你他写下的数字除以 </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9</a:t>
            </a: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 的余数是多少</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例如：</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l=2,r=5</a:t>
            </a: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时，</a:t>
            </a: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2345 mod 9=5</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Q≤10000; 0&lt;l,r≤10^12, </a:t>
            </a:r>
            <a:r>
              <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rPr>
              <a:t>且 </a:t>
            </a:r>
            <a:r>
              <a:rPr kumimoji="0" lang="en-US" altLang="zh-CN" sz="2400" b="1" i="0" u="none" strike="noStrike" kern="100" cap="none" spc="0" normalizeH="0" baseline="0" noProof="0" dirty="0" err="1">
                <a:ln>
                  <a:noFill/>
                </a:ln>
                <a:solidFill>
                  <a:srgbClr val="014B88"/>
                </a:solidFill>
                <a:effectLst/>
                <a:uLnTx/>
                <a:uFillTx/>
                <a:latin typeface="Calibri"/>
                <a:ea typeface="微软雅黑" panose="020B0503020204020204" pitchFamily="34" charset="-122"/>
                <a:cs typeface="Times New Roman" panose="02020603050405020304" pitchFamily="18" charset="0"/>
              </a:rPr>
              <a:t>l≤r</a:t>
            </a:r>
            <a:endParaRPr kumimoji="0" lang="zh-CN" altLang="en-US" sz="2400" b="1" i="0" u="none" strike="noStrike" kern="100" cap="none" spc="0" normalizeH="0" baseline="0" noProof="0" dirty="0">
              <a:ln>
                <a:noFill/>
              </a:ln>
              <a:solidFill>
                <a:srgbClr val="014B88"/>
              </a:solidFill>
              <a:effectLst/>
              <a:uLnTx/>
              <a:uFillTx/>
              <a:latin typeface="Calibri"/>
              <a:ea typeface="微软雅黑" panose="020B0503020204020204" pitchFamily="34" charset="-122"/>
              <a:cs typeface="Times New Roman" panose="02020603050405020304" pitchFamily="18" charset="0"/>
            </a:endParaRPr>
          </a:p>
        </p:txBody>
      </p:sp>
      <p:pic>
        <p:nvPicPr>
          <p:cNvPr id="8" name="图片 7">
            <a:extLst>
              <a:ext uri="{FF2B5EF4-FFF2-40B4-BE49-F238E27FC236}">
                <a16:creationId xmlns:a16="http://schemas.microsoft.com/office/drawing/2014/main" id="{E2AF370E-C312-449C-A76D-69B1767DEC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152" y="5261272"/>
            <a:ext cx="6001588" cy="1086002"/>
          </a:xfrm>
          <a:prstGeom prst="rect">
            <a:avLst/>
          </a:prstGeom>
        </p:spPr>
      </p:pic>
    </p:spTree>
    <p:extLst>
      <p:ext uri="{BB962C8B-B14F-4D97-AF65-F5344CB8AC3E}">
        <p14:creationId xmlns:p14="http://schemas.microsoft.com/office/powerpoint/2010/main" val="31649997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中国剩余定理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59798" y="1177555"/>
            <a:ext cx="7138469" cy="5597318"/>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有物不知其数，三三数之剩二，五五数之剩三，七七数之剩二。问物几何？</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孙子算经（公元</a:t>
            </a: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5</a:t>
            </a: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世纪）</a:t>
            </a: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列出同余方程组：</a:t>
            </a:r>
          </a:p>
          <a:p>
            <a:pPr marL="457200" marR="0" lvl="1"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x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2(mod 3)</a:t>
            </a:r>
          </a:p>
          <a:p>
            <a:pPr marL="457200" marR="0" lvl="1"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x ≡ 3(mod 5)</a:t>
            </a:r>
          </a:p>
          <a:p>
            <a:pPr marL="457200" marR="0" lvl="1"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x ≡ 2(mod 7)</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7D5CDB89-1AE2-4DAB-80ED-DE57D554B0F8}"/>
              </a:ext>
            </a:extLst>
          </p:cNvPr>
          <p:cNvSpPr/>
          <p:nvPr/>
        </p:nvSpPr>
        <p:spPr>
          <a:xfrm>
            <a:off x="7518401" y="1405467"/>
            <a:ext cx="3962399" cy="497488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hlinkClick r:id="rId2">
                  <a:extLst>
                    <a:ext uri="{A12FA001-AC4F-418D-AE19-62706E023703}">
                      <ahyp:hlinkClr xmlns:ahyp="http://schemas.microsoft.com/office/drawing/2018/hyperlinkcolor" val="tx"/>
                    </a:ext>
                  </a:extLst>
                </a:hlinkClick>
              </a:rPr>
              <a:t>宋朝</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数学家</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hlinkClick r:id="rId3">
                  <a:extLst>
                    <a:ext uri="{A12FA001-AC4F-418D-AE19-62706E023703}">
                      <ahyp:hlinkClr xmlns:ahyp="http://schemas.microsoft.com/office/drawing/2018/hyperlinkcolor" val="tx"/>
                    </a:ext>
                  </a:extLst>
                </a:hlinkClick>
              </a:rPr>
              <a:t>秦九韶</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于</a:t>
            </a:r>
            <a:r>
              <a:rPr kumimoji="0" lang="en-US" altLang="zh-CN"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1247</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年</a:t>
            </a:r>
            <a:r>
              <a:rPr kumimoji="0" lang="en-US" altLang="zh-CN"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hlinkClick r:id="rId4">
                  <a:extLst>
                    <a:ext uri="{A12FA001-AC4F-418D-AE19-62706E023703}">
                      <ahyp:hlinkClr xmlns:ahyp="http://schemas.microsoft.com/office/drawing/2018/hyperlinkcolor" val="tx"/>
                    </a:ext>
                  </a:extLst>
                </a:hlinkClick>
              </a:rPr>
              <a:t>数书九章</a:t>
            </a:r>
            <a:r>
              <a:rPr kumimoji="0" lang="en-US" altLang="zh-CN"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卷一、二</a:t>
            </a:r>
            <a:r>
              <a:rPr kumimoji="0" lang="en-US" altLang="zh-CN"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大衍类</a:t>
            </a:r>
            <a:r>
              <a:rPr kumimoji="0" lang="en-US" altLang="zh-CN"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对“物不知数”问题做出了完整系统的解答。明朝数学家</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hlinkClick r:id="rId5">
                  <a:extLst>
                    <a:ext uri="{A12FA001-AC4F-418D-AE19-62706E023703}">
                      <ahyp:hlinkClr xmlns:ahyp="http://schemas.microsoft.com/office/drawing/2018/hyperlinkcolor" val="tx"/>
                    </a:ext>
                  </a:extLst>
                </a:hlinkClick>
              </a:rPr>
              <a:t>程大位</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将解法编成易于上口的</a:t>
            </a:r>
            <a:r>
              <a:rPr kumimoji="0" lang="en-US" altLang="zh-CN"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孙子歌诀</a:t>
            </a:r>
            <a:r>
              <a:rPr kumimoji="0" lang="en-US" altLang="zh-CN"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endParaRPr kumimoji="0" lang="en-US" altLang="zh-CN"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三人同行七十稀，</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70*2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五树梅花廿一支，</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21*3</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七子团圆正半月，</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15*2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除百零五使得知，</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233%105 = </a:t>
            </a:r>
            <a:r>
              <a:rPr kumimoji="0" lang="en-US" altLang="zh-CN" sz="2400" b="1" i="0" u="none" strike="noStrike" kern="100" cap="none" spc="0" normalizeH="0" baseline="0" noProof="0" dirty="0">
                <a:ln>
                  <a:noFill/>
                </a:ln>
                <a:solidFill>
                  <a:srgbClr val="C00000"/>
                </a:solidFill>
                <a:effectLst/>
                <a:uLnTx/>
                <a:uFillTx/>
                <a:latin typeface="仿宋_GB2312"/>
                <a:ea typeface="微软雅黑" panose="020B0503020204020204" pitchFamily="34" charset="-122"/>
                <a:cs typeface="Times New Roman" panose="02020603050405020304" pitchFamily="18" charset="0"/>
              </a:rPr>
              <a:t>23</a:t>
            </a:r>
            <a:endParaRPr kumimoji="0" lang="zh-CN" altLang="en-US" sz="2400" b="1" i="0" u="none" strike="noStrike" kern="100" cap="none" spc="0" normalizeH="0" baseline="0" noProof="0" dirty="0">
              <a:ln>
                <a:noFill/>
              </a:ln>
              <a:solidFill>
                <a:srgbClr val="C00000"/>
              </a:solidFill>
              <a:effectLst/>
              <a:uLnTx/>
              <a:uFillTx/>
              <a:latin typeface="仿宋_GB231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500"/>
                                        <p:tgtEl>
                                          <p:spTgt spid="4">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500"/>
                                        <p:tgtEl>
                                          <p:spTgt spid="4">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500"/>
                                        <p:tgtEl>
                                          <p:spTgt spid="4">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fade">
                                      <p:cBhvr>
                                        <p:cTn id="33" dur="500"/>
                                        <p:tgtEl>
                                          <p:spTgt spid="4">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Effect transition="in" filter="fade">
                                      <p:cBhvr>
                                        <p:cTn id="36"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中国剩余定理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160020" y="1177291"/>
            <a:ext cx="3785870" cy="3102612"/>
          </a:xfrm>
          <a:prstGeom prst="rect">
            <a:avLst/>
          </a:prstGeom>
        </p:spPr>
        <p:txBody>
          <a:bodyPr vert="horz" wrap="square"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x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a:t>
            </a:r>
            <a:r>
              <a:rPr kumimoji="0" lang="en-US" altLang="zh-CN" sz="24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(mod b</a:t>
            </a:r>
            <a:r>
              <a:rPr kumimoji="0" lang="en-US" altLang="zh-CN" sz="24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p>
          <a:p>
            <a:pPr marL="457200" marR="0" lvl="1"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x ≡ a</a:t>
            </a:r>
            <a:r>
              <a:rPr kumimoji="0" lang="en-US" altLang="zh-CN" sz="24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(mod b</a:t>
            </a:r>
            <a:r>
              <a:rPr kumimoji="0" lang="en-US" altLang="zh-CN" sz="24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p>
          <a:p>
            <a:pPr marL="457200" marR="0" lvl="1"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p>
          <a:p>
            <a:pPr marL="457200" marR="0" lvl="1" indent="0" algn="just" defTabSz="914400" rtl="0" eaLnBrk="1" fontAlgn="auto" latinLnBrk="0" hangingPunct="1">
              <a:lnSpc>
                <a:spcPct val="200000"/>
              </a:lnSpc>
              <a:spcBef>
                <a:spcPts val="500"/>
              </a:spcBef>
              <a:spcAft>
                <a:spcPts val="0"/>
              </a:spcAft>
              <a:buClrTx/>
              <a:buSzTx/>
              <a:buFont typeface="Wingdings" panose="05000000000000000000" pitchFamily="2" charset="2"/>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x ≡ a</a:t>
            </a:r>
            <a:r>
              <a:rPr kumimoji="0" lang="en-US" altLang="zh-CN" sz="24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(mod b</a:t>
            </a:r>
            <a:r>
              <a:rPr kumimoji="0" lang="en-US" altLang="zh-CN" sz="24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4" name="内容占位符 2"/>
          <p:cNvSpPr txBox="1"/>
          <p:nvPr/>
        </p:nvSpPr>
        <p:spPr>
          <a:xfrm>
            <a:off x="3625850" y="1177290"/>
            <a:ext cx="7642860" cy="1430443"/>
          </a:xfrm>
          <a:prstGeom prst="rect">
            <a:avLst/>
          </a:prstGeom>
        </p:spPr>
        <p:txBody>
          <a:bodyPr vert="horz" wrap="square"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其中，，则对任意整数</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en-US" altLang="zh-CN" sz="2400" b="1" i="0" u="none" strike="noStrike" kern="100" cap="none" spc="0" normalizeH="0" baseline="-2500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en-US" altLang="zh-CN" sz="2400" b="1" i="0" u="none" strike="noStrike" kern="100" cap="none" spc="0" normalizeH="0" baseline="-2500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a:t>
            </a:r>
            <a:r>
              <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en-US" altLang="zh-CN" sz="2400" b="1" i="0" u="none" strike="noStrike" kern="100" cap="none" spc="0" normalizeH="0" baseline="-2500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a:t>
            </a:r>
            <a:r>
              <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，方程组有解。</a:t>
            </a:r>
            <a:endParaRPr kumimoji="0" lang="en-US" altLang="zh-CN"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600200" marR="0" lvl="3"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en-US" altLang="zh-CN" sz="18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endParaRPr kumimoji="0" lang="zh-CN" altLang="en-US" sz="2000" b="1" i="0" u="none" strike="noStrike" kern="100" cap="none" spc="0" normalizeH="0" baseline="0" noProof="1">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51DB8A28-312B-4265-83F0-41EAABFBA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6565" y="2607733"/>
            <a:ext cx="5401429" cy="1505160"/>
          </a:xfrm>
          <a:prstGeom prst="rect">
            <a:avLst/>
          </a:prstGeom>
        </p:spPr>
      </p:pic>
      <p:sp>
        <p:nvSpPr>
          <p:cNvPr id="8" name="箭头: 下 7">
            <a:extLst>
              <a:ext uri="{FF2B5EF4-FFF2-40B4-BE49-F238E27FC236}">
                <a16:creationId xmlns:a16="http://schemas.microsoft.com/office/drawing/2014/main" id="{6A2D8AD0-514B-45AD-A933-406C8109FBAA}"/>
              </a:ext>
            </a:extLst>
          </p:cNvPr>
          <p:cNvSpPr/>
          <p:nvPr/>
        </p:nvSpPr>
        <p:spPr>
          <a:xfrm>
            <a:off x="5393267" y="4207933"/>
            <a:ext cx="245533" cy="1947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9" name="矩形 8">
            <a:extLst>
              <a:ext uri="{FF2B5EF4-FFF2-40B4-BE49-F238E27FC236}">
                <a16:creationId xmlns:a16="http://schemas.microsoft.com/office/drawing/2014/main" id="{88B7247F-2378-484C-9932-5FB0BB121A2F}"/>
              </a:ext>
            </a:extLst>
          </p:cNvPr>
          <p:cNvSpPr/>
          <p:nvPr/>
        </p:nvSpPr>
        <p:spPr>
          <a:xfrm>
            <a:off x="5280378" y="4419601"/>
            <a:ext cx="59182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ans</a:t>
            </a:r>
            <a:r>
              <a:rPr kumimoji="0" lang="en-US" altLang="zh-CN" sz="18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1</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10" name="矩形 9">
            <a:extLst>
              <a:ext uri="{FF2B5EF4-FFF2-40B4-BE49-F238E27FC236}">
                <a16:creationId xmlns:a16="http://schemas.microsoft.com/office/drawing/2014/main" id="{7A7FBD9E-F3DD-4019-A389-CB3C8A797AB5}"/>
              </a:ext>
            </a:extLst>
          </p:cNvPr>
          <p:cNvSpPr/>
          <p:nvPr/>
        </p:nvSpPr>
        <p:spPr>
          <a:xfrm>
            <a:off x="6910780" y="4419601"/>
            <a:ext cx="59182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ans</a:t>
            </a:r>
            <a:r>
              <a:rPr kumimoji="0" lang="en-US" altLang="zh-CN" sz="18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2</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11" name="矩形 10">
            <a:extLst>
              <a:ext uri="{FF2B5EF4-FFF2-40B4-BE49-F238E27FC236}">
                <a16:creationId xmlns:a16="http://schemas.microsoft.com/office/drawing/2014/main" id="{C134B849-E277-4FC4-AD6F-64AC0D4A8156}"/>
              </a:ext>
            </a:extLst>
          </p:cNvPr>
          <p:cNvSpPr/>
          <p:nvPr/>
        </p:nvSpPr>
        <p:spPr>
          <a:xfrm>
            <a:off x="9162913" y="4419601"/>
            <a:ext cx="59663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ans</a:t>
            </a:r>
            <a:r>
              <a:rPr kumimoji="0" lang="en-US" altLang="zh-CN" sz="1800" b="1" i="0" u="none" strike="noStrike" kern="100" cap="none" spc="0" normalizeH="0" baseline="-2500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n</a:t>
            </a:r>
            <a:endParaRPr kumimoji="0" lang="en-US" altLang="zh-CN" sz="18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endParaRPr>
          </a:p>
        </p:txBody>
      </p:sp>
      <p:sp>
        <p:nvSpPr>
          <p:cNvPr id="12" name="箭头: 下 11">
            <a:extLst>
              <a:ext uri="{FF2B5EF4-FFF2-40B4-BE49-F238E27FC236}">
                <a16:creationId xmlns:a16="http://schemas.microsoft.com/office/drawing/2014/main" id="{AB1E7469-796A-43AA-9203-DB99C252E2E2}"/>
              </a:ext>
            </a:extLst>
          </p:cNvPr>
          <p:cNvSpPr/>
          <p:nvPr/>
        </p:nvSpPr>
        <p:spPr>
          <a:xfrm>
            <a:off x="7035377" y="4207934"/>
            <a:ext cx="245533" cy="1947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3" name="箭头: 下 12">
            <a:extLst>
              <a:ext uri="{FF2B5EF4-FFF2-40B4-BE49-F238E27FC236}">
                <a16:creationId xmlns:a16="http://schemas.microsoft.com/office/drawing/2014/main" id="{BF2131B1-6022-4A44-BB27-9F26AF5F4B75}"/>
              </a:ext>
            </a:extLst>
          </p:cNvPr>
          <p:cNvSpPr/>
          <p:nvPr/>
        </p:nvSpPr>
        <p:spPr>
          <a:xfrm>
            <a:off x="9338465" y="4207933"/>
            <a:ext cx="245533" cy="1947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4" name="矩形 13">
            <a:extLst>
              <a:ext uri="{FF2B5EF4-FFF2-40B4-BE49-F238E27FC236}">
                <a16:creationId xmlns:a16="http://schemas.microsoft.com/office/drawing/2014/main" id="{6E186AED-0F72-4252-A40C-3F8F74FA3A6F}"/>
              </a:ext>
            </a:extLst>
          </p:cNvPr>
          <p:cNvSpPr/>
          <p:nvPr/>
        </p:nvSpPr>
        <p:spPr>
          <a:xfrm>
            <a:off x="8036846" y="4402667"/>
            <a:ext cx="51167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15" name="箭头: 下 14">
            <a:extLst>
              <a:ext uri="{FF2B5EF4-FFF2-40B4-BE49-F238E27FC236}">
                <a16:creationId xmlns:a16="http://schemas.microsoft.com/office/drawing/2014/main" id="{FEB5F9A8-6378-4C05-B686-1C15D1B8DD88}"/>
              </a:ext>
            </a:extLst>
          </p:cNvPr>
          <p:cNvSpPr/>
          <p:nvPr/>
        </p:nvSpPr>
        <p:spPr>
          <a:xfrm>
            <a:off x="8169782" y="4224867"/>
            <a:ext cx="245533" cy="1947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6" name="矩形 15">
            <a:extLst>
              <a:ext uri="{FF2B5EF4-FFF2-40B4-BE49-F238E27FC236}">
                <a16:creationId xmlns:a16="http://schemas.microsoft.com/office/drawing/2014/main" id="{6A240E1B-72D2-433F-B3E3-16FE6FD7AD4B}"/>
              </a:ext>
            </a:extLst>
          </p:cNvPr>
          <p:cNvSpPr/>
          <p:nvPr/>
        </p:nvSpPr>
        <p:spPr>
          <a:xfrm>
            <a:off x="6114340" y="4281101"/>
            <a:ext cx="413895" cy="646331"/>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a:t>
            </a:r>
            <a:endParaRPr kumimoji="0" lang="zh-CN" altLang="en-US" sz="36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endParaRPr>
          </a:p>
        </p:txBody>
      </p:sp>
      <p:sp>
        <p:nvSpPr>
          <p:cNvPr id="17" name="矩形 16">
            <a:extLst>
              <a:ext uri="{FF2B5EF4-FFF2-40B4-BE49-F238E27FC236}">
                <a16:creationId xmlns:a16="http://schemas.microsoft.com/office/drawing/2014/main" id="{C7CCC353-C974-4A66-BED2-C4F663623C7F}"/>
              </a:ext>
            </a:extLst>
          </p:cNvPr>
          <p:cNvSpPr/>
          <p:nvPr/>
        </p:nvSpPr>
        <p:spPr>
          <a:xfrm>
            <a:off x="7532511" y="4261135"/>
            <a:ext cx="413895" cy="646331"/>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a:t>
            </a:r>
            <a:endParaRPr kumimoji="0" lang="zh-CN" altLang="en-US" sz="36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endParaRPr>
          </a:p>
        </p:txBody>
      </p:sp>
      <p:sp>
        <p:nvSpPr>
          <p:cNvPr id="18" name="矩形 17">
            <a:extLst>
              <a:ext uri="{FF2B5EF4-FFF2-40B4-BE49-F238E27FC236}">
                <a16:creationId xmlns:a16="http://schemas.microsoft.com/office/drawing/2014/main" id="{F2450AB7-D756-40B4-B67C-A743FCC787E8}"/>
              </a:ext>
            </a:extLst>
          </p:cNvPr>
          <p:cNvSpPr/>
          <p:nvPr/>
        </p:nvSpPr>
        <p:spPr>
          <a:xfrm>
            <a:off x="8771901" y="4279902"/>
            <a:ext cx="413895" cy="646331"/>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a:t>
            </a:r>
            <a:endParaRPr kumimoji="0" lang="zh-CN" altLang="en-US" sz="36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endParaRPr>
          </a:p>
        </p:txBody>
      </p:sp>
      <p:sp>
        <p:nvSpPr>
          <p:cNvPr id="19" name="矩形 18">
            <a:extLst>
              <a:ext uri="{FF2B5EF4-FFF2-40B4-BE49-F238E27FC236}">
                <a16:creationId xmlns:a16="http://schemas.microsoft.com/office/drawing/2014/main" id="{4973C600-6CA4-4348-98DD-9ECC78EDC94E}"/>
              </a:ext>
            </a:extLst>
          </p:cNvPr>
          <p:cNvSpPr/>
          <p:nvPr/>
        </p:nvSpPr>
        <p:spPr>
          <a:xfrm>
            <a:off x="362571" y="4528226"/>
            <a:ext cx="4007565" cy="203132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rPr>
              <a:t>可以有无穷多个解：</a:t>
            </a:r>
            <a:endParaRPr kumimoji="0" lang="en-US" altLang="zh-CN"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rPr>
              <a:t>如果</a:t>
            </a:r>
            <a:r>
              <a:rPr kumimoji="0" lang="en-US" altLang="zh-CN" sz="1800" b="0" i="0" u="none" strike="noStrike" kern="1200" cap="none" spc="0" normalizeH="0" baseline="0" noProof="0" dirty="0" err="1">
                <a:ln>
                  <a:noFill/>
                </a:ln>
                <a:solidFill>
                  <a:srgbClr val="1D2129"/>
                </a:solidFill>
                <a:effectLst/>
                <a:uLnTx/>
                <a:uFillTx/>
                <a:latin typeface="UbuntuMono"/>
                <a:ea typeface="微软雅黑" panose="020B0503020204020204" pitchFamily="34" charset="-122"/>
                <a:cs typeface="+mn-cs"/>
              </a:rPr>
              <a:t>ans</a:t>
            </a:r>
            <a:r>
              <a:rPr kumimoji="0" lang="zh-CN" altLang="en-US"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rPr>
              <a:t>为最小的</a:t>
            </a:r>
            <a:r>
              <a:rPr kumimoji="0" lang="zh-CN" altLang="en-US" sz="1800" b="1"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rPr>
              <a:t>同时</a:t>
            </a:r>
            <a:r>
              <a:rPr kumimoji="0" lang="zh-CN" altLang="en-US"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rPr>
              <a:t>满足所有同余方程的解，则  </a:t>
            </a:r>
            <a:endParaRPr kumimoji="0" lang="en-US" altLang="zh-CN"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rPr>
              <a:t>也是一个满足要求的答案， </a:t>
            </a:r>
            <a:r>
              <a:rPr kumimoji="0" lang="en-US" altLang="zh-CN"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rPr>
              <a:t>k</a:t>
            </a:r>
            <a:r>
              <a:rPr kumimoji="0" lang="zh-CN" altLang="en-US" sz="1800" b="0" i="0" u="none" strike="noStrike" kern="1200" cap="none" spc="0" normalizeH="0" baseline="0" noProof="0" dirty="0">
                <a:ln>
                  <a:noFill/>
                </a:ln>
                <a:solidFill>
                  <a:srgbClr val="1D2129"/>
                </a:solidFill>
                <a:effectLst/>
                <a:uLnTx/>
                <a:uFillTx/>
                <a:latin typeface="UbuntuMono"/>
                <a:ea typeface="微软雅黑" panose="020B0503020204020204" pitchFamily="34" charset="-122"/>
                <a:cs typeface="+mn-cs"/>
              </a:rPr>
              <a:t>为任意整数。</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pic>
        <p:nvPicPr>
          <p:cNvPr id="20" name="图片 19">
            <a:extLst>
              <a:ext uri="{FF2B5EF4-FFF2-40B4-BE49-F238E27FC236}">
                <a16:creationId xmlns:a16="http://schemas.microsoft.com/office/drawing/2014/main" id="{52C1976A-AA40-4E65-B29C-0AE78AC197C7}"/>
              </a:ext>
            </a:extLst>
          </p:cNvPr>
          <p:cNvPicPr>
            <a:picLocks noChangeAspect="1"/>
          </p:cNvPicPr>
          <p:nvPr/>
        </p:nvPicPr>
        <p:blipFill>
          <a:blip r:embed="rId3"/>
          <a:stretch>
            <a:fillRect/>
          </a:stretch>
        </p:blipFill>
        <p:spPr>
          <a:xfrm>
            <a:off x="509905" y="5556390"/>
            <a:ext cx="1543050" cy="295275"/>
          </a:xfrm>
          <a:prstGeom prst="rect">
            <a:avLst/>
          </a:prstGeom>
        </p:spPr>
      </p:pic>
      <p:pic>
        <p:nvPicPr>
          <p:cNvPr id="21" name="图片 20">
            <a:extLst>
              <a:ext uri="{FF2B5EF4-FFF2-40B4-BE49-F238E27FC236}">
                <a16:creationId xmlns:a16="http://schemas.microsoft.com/office/drawing/2014/main" id="{8306F216-F352-4B67-A9F6-98CCDC977240}"/>
              </a:ext>
            </a:extLst>
          </p:cNvPr>
          <p:cNvPicPr>
            <a:picLocks noChangeAspect="1"/>
          </p:cNvPicPr>
          <p:nvPr/>
        </p:nvPicPr>
        <p:blipFill>
          <a:blip r:embed="rId4"/>
          <a:stretch>
            <a:fillRect/>
          </a:stretch>
        </p:blipFill>
        <p:spPr>
          <a:xfrm>
            <a:off x="10472870" y="4402667"/>
            <a:ext cx="628650" cy="361950"/>
          </a:xfrm>
          <a:prstGeom prst="rect">
            <a:avLst/>
          </a:prstGeom>
        </p:spPr>
      </p:pic>
      <p:sp>
        <p:nvSpPr>
          <p:cNvPr id="22" name="矩形 21">
            <a:extLst>
              <a:ext uri="{FF2B5EF4-FFF2-40B4-BE49-F238E27FC236}">
                <a16:creationId xmlns:a16="http://schemas.microsoft.com/office/drawing/2014/main" id="{2645D02E-0418-4D6B-9A4D-24564D14DE2B}"/>
              </a:ext>
            </a:extLst>
          </p:cNvPr>
          <p:cNvSpPr/>
          <p:nvPr/>
        </p:nvSpPr>
        <p:spPr>
          <a:xfrm>
            <a:off x="9759551" y="4418401"/>
            <a:ext cx="61908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mod</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23" name="矩形 22">
            <a:extLst>
              <a:ext uri="{FF2B5EF4-FFF2-40B4-BE49-F238E27FC236}">
                <a16:creationId xmlns:a16="http://schemas.microsoft.com/office/drawing/2014/main" id="{5D580320-3CE5-4E7E-941C-095DB7CDAF1F}"/>
              </a:ext>
            </a:extLst>
          </p:cNvPr>
          <p:cNvSpPr/>
          <p:nvPr/>
        </p:nvSpPr>
        <p:spPr>
          <a:xfrm>
            <a:off x="11227123" y="4402667"/>
            <a:ext cx="877163" cy="369332"/>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最小解</a:t>
            </a:r>
          </a:p>
        </p:txBody>
      </p:sp>
      <p:sp>
        <p:nvSpPr>
          <p:cNvPr id="24" name="矩形 23">
            <a:extLst>
              <a:ext uri="{FF2B5EF4-FFF2-40B4-BE49-F238E27FC236}">
                <a16:creationId xmlns:a16="http://schemas.microsoft.com/office/drawing/2014/main" id="{EB2ED8FD-AAA9-4353-BA75-F431BB815503}"/>
              </a:ext>
            </a:extLst>
          </p:cNvPr>
          <p:cNvSpPr/>
          <p:nvPr/>
        </p:nvSpPr>
        <p:spPr>
          <a:xfrm>
            <a:off x="8771901" y="4841108"/>
            <a:ext cx="3267241" cy="369332"/>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模                   意义下具有唯一性</a:t>
            </a:r>
          </a:p>
        </p:txBody>
      </p:sp>
      <p:pic>
        <p:nvPicPr>
          <p:cNvPr id="25" name="图片 24">
            <a:extLst>
              <a:ext uri="{FF2B5EF4-FFF2-40B4-BE49-F238E27FC236}">
                <a16:creationId xmlns:a16="http://schemas.microsoft.com/office/drawing/2014/main" id="{54B32B9C-6BFA-4462-83D9-3275707B28F6}"/>
              </a:ext>
            </a:extLst>
          </p:cNvPr>
          <p:cNvPicPr>
            <a:picLocks noChangeAspect="1"/>
          </p:cNvPicPr>
          <p:nvPr/>
        </p:nvPicPr>
        <p:blipFill>
          <a:blip r:embed="rId4"/>
          <a:stretch>
            <a:fillRect/>
          </a:stretch>
        </p:blipFill>
        <p:spPr>
          <a:xfrm>
            <a:off x="9365347" y="4856842"/>
            <a:ext cx="628650" cy="361950"/>
          </a:xfrm>
          <a:prstGeom prst="rect">
            <a:avLst/>
          </a:prstGeom>
        </p:spPr>
      </p:pic>
      <p:pic>
        <p:nvPicPr>
          <p:cNvPr id="26" name="图片 25">
            <a:extLst>
              <a:ext uri="{FF2B5EF4-FFF2-40B4-BE49-F238E27FC236}">
                <a16:creationId xmlns:a16="http://schemas.microsoft.com/office/drawing/2014/main" id="{82DB0228-42A6-4746-958C-714B95FA850B}"/>
              </a:ext>
            </a:extLst>
          </p:cNvPr>
          <p:cNvPicPr>
            <a:picLocks noChangeAspect="1"/>
          </p:cNvPicPr>
          <p:nvPr/>
        </p:nvPicPr>
        <p:blipFill>
          <a:blip r:embed="rId5"/>
          <a:stretch>
            <a:fillRect/>
          </a:stretch>
        </p:blipFill>
        <p:spPr>
          <a:xfrm>
            <a:off x="4862002" y="5286931"/>
            <a:ext cx="5133975" cy="1438275"/>
          </a:xfrm>
          <a:prstGeom prst="rect">
            <a:avLst/>
          </a:prstGeom>
        </p:spPr>
      </p:pic>
      <p:sp>
        <p:nvSpPr>
          <p:cNvPr id="27" name="矩形 26">
            <a:extLst>
              <a:ext uri="{FF2B5EF4-FFF2-40B4-BE49-F238E27FC236}">
                <a16:creationId xmlns:a16="http://schemas.microsoft.com/office/drawing/2014/main" id="{831A3ABF-F0F7-4F5D-A22D-D2D0AC3CD12C}"/>
              </a:ext>
            </a:extLst>
          </p:cNvPr>
          <p:cNvSpPr/>
          <p:nvPr/>
        </p:nvSpPr>
        <p:spPr>
          <a:xfrm>
            <a:off x="10487125" y="6190219"/>
            <a:ext cx="7729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ans</a:t>
            </a:r>
            <a:r>
              <a:rPr kumimoji="0" lang="en-US" altLang="zh-CN" sz="18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r>
              <a:rPr kumimoji="0" lang="en-US" altLang="zh-CN" sz="1800" b="1" i="0" u="none" strike="noStrike" kern="100" cap="none" spc="0" normalizeH="0" baseline="-2500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i</a:t>
            </a:r>
            <a:r>
              <a:rPr kumimoji="0" lang="en-US" altLang="zh-CN" sz="18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  </a:t>
            </a:r>
            <a:r>
              <a:rPr kumimoji="0" lang="en-US" altLang="zh-CN" sz="1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28" name="矩形 27">
            <a:extLst>
              <a:ext uri="{FF2B5EF4-FFF2-40B4-BE49-F238E27FC236}">
                <a16:creationId xmlns:a16="http://schemas.microsoft.com/office/drawing/2014/main" id="{76498722-77AB-45E7-A4B6-425D1713B7F9}"/>
              </a:ext>
            </a:extLst>
          </p:cNvPr>
          <p:cNvSpPr/>
          <p:nvPr/>
        </p:nvSpPr>
        <p:spPr>
          <a:xfrm>
            <a:off x="11260094" y="6190219"/>
            <a:ext cx="877162"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as</a:t>
            </a:r>
            <a:r>
              <a:rPr kumimoji="0" lang="en-US" altLang="zh-CN" sz="1800" b="1" i="0" u="none" strike="noStrike" kern="100" cap="none" spc="0" normalizeH="0" baseline="-2500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i</a:t>
            </a:r>
            <a:r>
              <a:rPr kumimoji="0" lang="en-US" altLang="zh-CN" sz="1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a:t>
            </a:r>
            <a:r>
              <a:rPr kumimoji="0" lang="en-US" altLang="zh-CN" sz="1800" b="1" i="0" u="none" strike="noStrike" kern="100" cap="none" spc="0" normalizeH="0" baseline="-2500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i</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29" name="矩形 28">
            <a:extLst>
              <a:ext uri="{FF2B5EF4-FFF2-40B4-BE49-F238E27FC236}">
                <a16:creationId xmlns:a16="http://schemas.microsoft.com/office/drawing/2014/main" id="{40466CFC-3ED6-4682-92ED-916394C344BD}"/>
              </a:ext>
            </a:extLst>
          </p:cNvPr>
          <p:cNvSpPr/>
          <p:nvPr/>
        </p:nvSpPr>
        <p:spPr>
          <a:xfrm>
            <a:off x="9993997" y="5851665"/>
            <a:ext cx="2247730" cy="338554"/>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每一个方程组的解为</a:t>
            </a:r>
            <a:r>
              <a:rPr kumimoji="0" lang="en-US" altLang="zh-CN" sz="16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as</a:t>
            </a:r>
            <a:r>
              <a:rPr kumimoji="0" lang="en-US" altLang="zh-CN" sz="1600" b="1" i="0" u="none" strike="noStrike" kern="100" cap="none" spc="0" normalizeH="0" baseline="-2500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sym typeface="Wingdings" panose="05000000000000000000" pitchFamily="2" charset="2"/>
              </a:rPr>
              <a:t>i</a:t>
            </a:r>
            <a:endParaRPr kumimoji="0" lang="zh-CN" altLang="en-US" sz="16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endParaRPr>
          </a:p>
        </p:txBody>
      </p:sp>
      <p:sp>
        <p:nvSpPr>
          <p:cNvPr id="31" name="箭头: 右 30">
            <a:extLst>
              <a:ext uri="{FF2B5EF4-FFF2-40B4-BE49-F238E27FC236}">
                <a16:creationId xmlns:a16="http://schemas.microsoft.com/office/drawing/2014/main" id="{BF8DA2B3-8800-4980-BA48-71F7530994A7}"/>
              </a:ext>
            </a:extLst>
          </p:cNvPr>
          <p:cNvSpPr/>
          <p:nvPr/>
        </p:nvSpPr>
        <p:spPr>
          <a:xfrm>
            <a:off x="9900107" y="6137997"/>
            <a:ext cx="225270" cy="3270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animBg="1"/>
      <p:bldP spid="9" grpId="0"/>
      <p:bldP spid="10" grpId="0"/>
      <p:bldP spid="11" grpId="0"/>
      <p:bldP spid="12" grpId="0" animBg="1"/>
      <p:bldP spid="13" grpId="0" animBg="1"/>
      <p:bldP spid="14" grpId="0"/>
      <p:bldP spid="15" grpId="0" animBg="1"/>
      <p:bldP spid="19" grpId="0"/>
      <p:bldP spid="22" grpId="0"/>
      <p:bldP spid="23" grpId="0"/>
      <p:bldP spid="24" grpId="0"/>
      <p:bldP spid="27" grpId="0"/>
      <p:bldP spid="28" grpId="0"/>
      <p:bldP spid="29" grpId="0"/>
      <p:bldP spid="3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中国剩余定理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F2BA0D30-9653-4BD8-97A3-01B9316D5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299" y="1367791"/>
            <a:ext cx="1629002" cy="1514686"/>
          </a:xfrm>
          <a:prstGeom prst="rect">
            <a:avLst/>
          </a:prstGeom>
        </p:spPr>
      </p:pic>
      <p:pic>
        <p:nvPicPr>
          <p:cNvPr id="30" name="图片 29">
            <a:extLst>
              <a:ext uri="{FF2B5EF4-FFF2-40B4-BE49-F238E27FC236}">
                <a16:creationId xmlns:a16="http://schemas.microsoft.com/office/drawing/2014/main" id="{9D6D9C89-C9B3-4B03-A5B1-4452B8DF395F}"/>
              </a:ext>
            </a:extLst>
          </p:cNvPr>
          <p:cNvPicPr>
            <a:picLocks noChangeAspect="1"/>
          </p:cNvPicPr>
          <p:nvPr/>
        </p:nvPicPr>
        <p:blipFill>
          <a:blip r:embed="rId3"/>
          <a:stretch>
            <a:fillRect/>
          </a:stretch>
        </p:blipFill>
        <p:spPr>
          <a:xfrm>
            <a:off x="3069695" y="1903412"/>
            <a:ext cx="1819275" cy="561975"/>
          </a:xfrm>
          <a:prstGeom prst="rect">
            <a:avLst/>
          </a:prstGeom>
        </p:spPr>
      </p:pic>
      <p:sp>
        <p:nvSpPr>
          <p:cNvPr id="32" name="箭头: 右 31">
            <a:extLst>
              <a:ext uri="{FF2B5EF4-FFF2-40B4-BE49-F238E27FC236}">
                <a16:creationId xmlns:a16="http://schemas.microsoft.com/office/drawing/2014/main" id="{C3F94E92-8C45-4357-857C-10EB2A1360B2}"/>
              </a:ext>
            </a:extLst>
          </p:cNvPr>
          <p:cNvSpPr/>
          <p:nvPr/>
        </p:nvSpPr>
        <p:spPr>
          <a:xfrm>
            <a:off x="2573867" y="2023533"/>
            <a:ext cx="389466" cy="321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pic>
        <p:nvPicPr>
          <p:cNvPr id="33" name="图片 32">
            <a:extLst>
              <a:ext uri="{FF2B5EF4-FFF2-40B4-BE49-F238E27FC236}">
                <a16:creationId xmlns:a16="http://schemas.microsoft.com/office/drawing/2014/main" id="{01C74FD5-2744-4D64-B983-3F3991BF305D}"/>
              </a:ext>
            </a:extLst>
          </p:cNvPr>
          <p:cNvPicPr>
            <a:picLocks noChangeAspect="1"/>
          </p:cNvPicPr>
          <p:nvPr/>
        </p:nvPicPr>
        <p:blipFill>
          <a:blip r:embed="rId4"/>
          <a:stretch>
            <a:fillRect/>
          </a:stretch>
        </p:blipFill>
        <p:spPr>
          <a:xfrm>
            <a:off x="5588840" y="1841888"/>
            <a:ext cx="628650" cy="362620"/>
          </a:xfrm>
          <a:prstGeom prst="rect">
            <a:avLst/>
          </a:prstGeom>
        </p:spPr>
      </p:pic>
      <p:sp>
        <p:nvSpPr>
          <p:cNvPr id="34" name="矩形 33">
            <a:extLst>
              <a:ext uri="{FF2B5EF4-FFF2-40B4-BE49-F238E27FC236}">
                <a16:creationId xmlns:a16="http://schemas.microsoft.com/office/drawing/2014/main" id="{A01E1C6D-D195-48E0-9B2A-8BD3BB5D67AB}"/>
              </a:ext>
            </a:extLst>
          </p:cNvPr>
          <p:cNvSpPr/>
          <p:nvPr/>
        </p:nvSpPr>
        <p:spPr>
          <a:xfrm>
            <a:off x="4829703" y="1761923"/>
            <a:ext cx="835485" cy="52322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M = </a:t>
            </a:r>
            <a:endParaRPr kumimoji="0" lang="zh-CN" altLang="en-US" sz="2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7B73239-CB8B-4F18-8786-D931A21F3845}"/>
                  </a:ext>
                </a:extLst>
              </p:cNvPr>
              <p:cNvSpPr txBox="1"/>
              <p:nvPr/>
            </p:nvSpPr>
            <p:spPr>
              <a:xfrm>
                <a:off x="4936065" y="2343008"/>
                <a:ext cx="1154611"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𝑚</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f>
                        <m:fPr>
                          <m:type m:val="lin"/>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m:rPr>
                              <m:sty m:val="p"/>
                            </m:r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m:t>
                          </m:r>
                        </m:num>
                        <m:den>
                          <m:sSub>
                            <m:sSub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den>
                      </m:f>
                    </m:oMath>
                  </m:oMathPara>
                </a14:m>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mc:Choice>
        <mc:Fallback xmlns="">
          <p:sp>
            <p:nvSpPr>
              <p:cNvPr id="37" name="文本框 36">
                <a:extLst>
                  <a:ext uri="{FF2B5EF4-FFF2-40B4-BE49-F238E27FC236}">
                    <a16:creationId xmlns:a16="http://schemas.microsoft.com/office/drawing/2014/main" id="{07B73239-CB8B-4F18-8786-D931A21F3845}"/>
                  </a:ext>
                </a:extLst>
              </p:cNvPr>
              <p:cNvSpPr txBox="1">
                <a:spLocks noRot="1" noChangeAspect="1" noMove="1" noResize="1" noEditPoints="1" noAdjustHandles="1" noChangeArrowheads="1" noChangeShapeType="1" noTextEdit="1"/>
              </p:cNvSpPr>
              <p:nvPr/>
            </p:nvSpPr>
            <p:spPr>
              <a:xfrm>
                <a:off x="4936065" y="2343008"/>
                <a:ext cx="1154611" cy="276999"/>
              </a:xfrm>
              <a:prstGeom prst="rect">
                <a:avLst/>
              </a:prstGeom>
              <a:blipFill>
                <a:blip r:embed="rId5"/>
                <a:stretch>
                  <a:fillRect l="-1587" t="-169565" r="-42857" b="-250000"/>
                </a:stretch>
              </a:blipFill>
            </p:spPr>
            <p:txBody>
              <a:bodyPr/>
              <a:lstStyle/>
              <a:p>
                <a:r>
                  <a:rPr lang="zh-CN" altLang="en-US">
                    <a:noFill/>
                  </a:rPr>
                  <a:t> </a:t>
                </a:r>
              </a:p>
            </p:txBody>
          </p:sp>
        </mc:Fallback>
      </mc:AlternateContent>
      <p:sp>
        <p:nvSpPr>
          <p:cNvPr id="39" name="箭头: 右 38">
            <a:extLst>
              <a:ext uri="{FF2B5EF4-FFF2-40B4-BE49-F238E27FC236}">
                <a16:creationId xmlns:a16="http://schemas.microsoft.com/office/drawing/2014/main" id="{7244A133-1045-4290-A8C5-0EA9B1F70069}"/>
              </a:ext>
            </a:extLst>
          </p:cNvPr>
          <p:cNvSpPr/>
          <p:nvPr/>
        </p:nvSpPr>
        <p:spPr>
          <a:xfrm>
            <a:off x="6586080" y="2015066"/>
            <a:ext cx="389466" cy="321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pic>
        <p:nvPicPr>
          <p:cNvPr id="40" name="图片 39">
            <a:extLst>
              <a:ext uri="{FF2B5EF4-FFF2-40B4-BE49-F238E27FC236}">
                <a16:creationId xmlns:a16="http://schemas.microsoft.com/office/drawing/2014/main" id="{AA9BFC69-3605-4A53-B177-E9FB85EA3E0E}"/>
              </a:ext>
            </a:extLst>
          </p:cNvPr>
          <p:cNvPicPr>
            <a:picLocks noChangeAspect="1"/>
          </p:cNvPicPr>
          <p:nvPr/>
        </p:nvPicPr>
        <p:blipFill>
          <a:blip r:embed="rId6"/>
          <a:stretch>
            <a:fillRect/>
          </a:stretch>
        </p:blipFill>
        <p:spPr>
          <a:xfrm>
            <a:off x="7138382" y="2037493"/>
            <a:ext cx="2162175" cy="247650"/>
          </a:xfrm>
          <a:prstGeom prst="rect">
            <a:avLst/>
          </a:prstGeom>
        </p:spPr>
      </p:pic>
      <p:pic>
        <p:nvPicPr>
          <p:cNvPr id="41" name="图片 40">
            <a:extLst>
              <a:ext uri="{FF2B5EF4-FFF2-40B4-BE49-F238E27FC236}">
                <a16:creationId xmlns:a16="http://schemas.microsoft.com/office/drawing/2014/main" id="{0BA8ABE7-9DDA-4ED5-AB45-D02693102E52}"/>
              </a:ext>
            </a:extLst>
          </p:cNvPr>
          <p:cNvPicPr>
            <a:picLocks noChangeAspect="1"/>
          </p:cNvPicPr>
          <p:nvPr/>
        </p:nvPicPr>
        <p:blipFill>
          <a:blip r:embed="rId7"/>
          <a:stretch>
            <a:fillRect/>
          </a:stretch>
        </p:blipFill>
        <p:spPr>
          <a:xfrm>
            <a:off x="10054695" y="2018443"/>
            <a:ext cx="1819275" cy="266700"/>
          </a:xfrm>
          <a:prstGeom prst="rect">
            <a:avLst/>
          </a:prstGeom>
        </p:spPr>
      </p:pic>
      <p:sp>
        <p:nvSpPr>
          <p:cNvPr id="42" name="箭头: 右 41">
            <a:extLst>
              <a:ext uri="{FF2B5EF4-FFF2-40B4-BE49-F238E27FC236}">
                <a16:creationId xmlns:a16="http://schemas.microsoft.com/office/drawing/2014/main" id="{02DA8D17-2FB3-4FEA-8858-9CE7ADA296D2}"/>
              </a:ext>
            </a:extLst>
          </p:cNvPr>
          <p:cNvSpPr/>
          <p:nvPr/>
        </p:nvSpPr>
        <p:spPr>
          <a:xfrm>
            <a:off x="9482893" y="2000451"/>
            <a:ext cx="389466" cy="321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3" name="箭头: 右 42">
            <a:extLst>
              <a:ext uri="{FF2B5EF4-FFF2-40B4-BE49-F238E27FC236}">
                <a16:creationId xmlns:a16="http://schemas.microsoft.com/office/drawing/2014/main" id="{3EE0049B-2D4F-4484-B8A0-5EA42A9F6B3F}"/>
              </a:ext>
            </a:extLst>
          </p:cNvPr>
          <p:cNvSpPr/>
          <p:nvPr/>
        </p:nvSpPr>
        <p:spPr>
          <a:xfrm rot="5400000">
            <a:off x="10608732" y="2459140"/>
            <a:ext cx="389466" cy="321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4" name="矩形 43">
            <a:extLst>
              <a:ext uri="{FF2B5EF4-FFF2-40B4-BE49-F238E27FC236}">
                <a16:creationId xmlns:a16="http://schemas.microsoft.com/office/drawing/2014/main" id="{2B6D1F04-2A2E-4BF1-880D-08D8D1CF68D5}"/>
              </a:ext>
            </a:extLst>
          </p:cNvPr>
          <p:cNvSpPr/>
          <p:nvPr/>
        </p:nvSpPr>
        <p:spPr>
          <a:xfrm>
            <a:off x="8316023" y="2827363"/>
            <a:ext cx="3703257" cy="52322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求</a:t>
            </a:r>
            <a:r>
              <a:rPr kumimoji="0" lang="en-US" altLang="zh-CN" sz="2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k</a:t>
            </a:r>
            <a:r>
              <a:rPr kumimoji="0" lang="zh-CN" altLang="en-US" sz="2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，即</a:t>
            </a:r>
            <a:r>
              <a:rPr kumimoji="0" lang="en-US" altLang="zh-CN" sz="2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m1</a:t>
            </a:r>
            <a:r>
              <a:rPr kumimoji="0" lang="zh-CN" altLang="en-US" sz="2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模</a:t>
            </a:r>
            <a:r>
              <a:rPr kumimoji="0" lang="en-US" altLang="zh-CN" sz="2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b1</a:t>
            </a:r>
            <a:r>
              <a:rPr kumimoji="0" lang="zh-CN" altLang="en-US" sz="2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的逆元</a:t>
            </a:r>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3519517F-8E8A-4494-B5F5-E5707390256B}"/>
                  </a:ext>
                </a:extLst>
              </p:cNvPr>
              <p:cNvSpPr txBox="1"/>
              <p:nvPr/>
            </p:nvSpPr>
            <p:spPr>
              <a:xfrm>
                <a:off x="2478223" y="4335430"/>
                <a:ext cx="5837800" cy="151227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3600" b="0" i="1" u="none" strike="noStrike" kern="1200" cap="none" spc="0" normalizeH="0" baseline="0" noProof="0" dirty="0">
                          <a:ln>
                            <a:noFill/>
                          </a:ln>
                          <a:solidFill>
                            <a:prstClr val="black"/>
                          </a:solidFill>
                          <a:effectLst/>
                          <a:uLnTx/>
                          <a:uFillTx/>
                          <a:latin typeface="Cambria Math" panose="02040503050406030204" pitchFamily="18" charset="0"/>
                          <a:cs typeface="+mn-cs"/>
                        </a:rPr>
                        <m:t>x</m:t>
                      </m:r>
                      <m:r>
                        <a:rPr kumimoji="0" lang="en-US" altLang="zh-CN" sz="36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 </m:t>
                      </m:r>
                      <m:r>
                        <a:rPr kumimoji="0" lang="en-US" altLang="zh-CN" sz="3600" b="0" i="0" u="none" strike="noStrike" kern="1200" cap="none" spc="0" normalizeH="0" baseline="0" noProof="0" smtClean="0">
                          <a:ln>
                            <a:noFill/>
                          </a:ln>
                          <a:solidFill>
                            <a:prstClr val="black"/>
                          </a:solidFill>
                          <a:effectLst/>
                          <a:uLnTx/>
                          <a:uFillTx/>
                          <a:latin typeface="Cambria Math" panose="02040503050406030204" pitchFamily="18" charset="0"/>
                          <a:cs typeface="+mn-cs"/>
                        </a:rPr>
                        <m:t>= </m:t>
                      </m:r>
                      <m:nary>
                        <m:naryPr>
                          <m:chr m:val="∑"/>
                          <m:limLoc m:val="undOvr"/>
                          <m:grow m:val="on"/>
                          <m:ctrlPr>
                            <a:rPr kumimoji="0" lang="zh-CN" altLang="en-US" sz="3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zh-CN" altLang="en-US" sz="3600" b="0" i="0"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p>
                        <m:e>
                          <m:sSub>
                            <m:sSubPr>
                              <m:ctrlP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t>𝑚</m:t>
                              </m:r>
                            </m:e>
                            <m:sub>
                              <m: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sSub>
                            <m:sSubPr>
                              <m:ctrlP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e>
                            <m:sub>
                              <m: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sSub>
                            <m:sSubPr>
                              <m:ctrlP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t>𝑎</m:t>
                              </m:r>
                            </m:e>
                            <m:sub>
                              <m: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func>
                            <m:funcPr>
                              <m:ctrlPr>
                                <a:rPr kumimoji="0" lang="zh-CN" altLang="en-US" sz="3600" b="0" i="1" u="none" strike="noStrike" kern="1200" cap="none" spc="0" normalizeH="0" baseline="0" noProof="0">
                                  <a:ln>
                                    <a:noFill/>
                                  </a:ln>
                                  <a:solidFill>
                                    <a:prstClr val="black"/>
                                  </a:solidFill>
                                  <a:effectLst/>
                                  <a:uLnTx/>
                                  <a:uFillTx/>
                                  <a:latin typeface="Cambria Math" panose="02040503050406030204" pitchFamily="18" charset="0"/>
                                  <a:cs typeface="+mn-cs"/>
                                </a:rPr>
                              </m:ctrlPr>
                            </m:funcPr>
                            <m:fName>
                              <m:r>
                                <m:rPr>
                                  <m:sty m:val="p"/>
                                </m:rPr>
                                <a:rPr kumimoji="0" lang="zh-CN" altLang="en-US" sz="3600" b="0" i="0" u="none" strike="noStrike" kern="1200" cap="none" spc="0" normalizeH="0" baseline="0" noProof="0">
                                  <a:ln>
                                    <a:noFill/>
                                  </a:ln>
                                  <a:solidFill>
                                    <a:prstClr val="black"/>
                                  </a:solidFill>
                                  <a:effectLst/>
                                  <a:uLnTx/>
                                  <a:uFillTx/>
                                  <a:latin typeface="Cambria Math" panose="02040503050406030204" pitchFamily="18" charset="0"/>
                                  <a:cs typeface="+mn-cs"/>
                                </a:rPr>
                                <m:t>mod</m:t>
                              </m:r>
                            </m:fName>
                            <m:e>
                              <m:r>
                                <m:rPr>
                                  <m:sty m:val="p"/>
                                </m:rPr>
                                <a:rPr kumimoji="0" lang="en-US" altLang="zh-CN" sz="3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m:t>
                              </m:r>
                            </m:e>
                          </m:func>
                        </m:e>
                      </m:nary>
                    </m:oMath>
                  </m:oMathPara>
                </a14:m>
                <a:endParaRPr kumimoji="0" lang="zh-CN" altLang="en-US" sz="36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mc:Choice>
        <mc:Fallback xmlns="">
          <p:sp>
            <p:nvSpPr>
              <p:cNvPr id="45" name="文本框 44">
                <a:extLst>
                  <a:ext uri="{FF2B5EF4-FFF2-40B4-BE49-F238E27FC236}">
                    <a16:creationId xmlns:a16="http://schemas.microsoft.com/office/drawing/2014/main" id="{3519517F-8E8A-4494-B5F5-E5707390256B}"/>
                  </a:ext>
                </a:extLst>
              </p:cNvPr>
              <p:cNvSpPr txBox="1">
                <a:spLocks noRot="1" noChangeAspect="1" noMove="1" noResize="1" noEditPoints="1" noAdjustHandles="1" noChangeArrowheads="1" noChangeShapeType="1" noTextEdit="1"/>
              </p:cNvSpPr>
              <p:nvPr/>
            </p:nvSpPr>
            <p:spPr>
              <a:xfrm>
                <a:off x="2478223" y="4335430"/>
                <a:ext cx="5837800" cy="1512273"/>
              </a:xfrm>
              <a:prstGeom prst="rect">
                <a:avLst/>
              </a:prstGeom>
              <a:blipFill>
                <a:blip r:embed="rId8"/>
                <a:stretch>
                  <a:fillRect/>
                </a:stretch>
              </a:blipFill>
            </p:spPr>
            <p:txBody>
              <a:bodyPr/>
              <a:lstStyle/>
              <a:p>
                <a:r>
                  <a:rPr lang="zh-CN" altLang="en-US">
                    <a:noFill/>
                  </a:rPr>
                  <a:t> </a:t>
                </a:r>
              </a:p>
            </p:txBody>
          </p:sp>
        </mc:Fallback>
      </mc:AlternateContent>
      <p:sp>
        <p:nvSpPr>
          <p:cNvPr id="46" name="矩形 45">
            <a:extLst>
              <a:ext uri="{FF2B5EF4-FFF2-40B4-BE49-F238E27FC236}">
                <a16:creationId xmlns:a16="http://schemas.microsoft.com/office/drawing/2014/main" id="{B3D5E6BF-9604-4E05-AA81-0A1B9883DE67}"/>
              </a:ext>
            </a:extLst>
          </p:cNvPr>
          <p:cNvSpPr/>
          <p:nvPr/>
        </p:nvSpPr>
        <p:spPr>
          <a:xfrm>
            <a:off x="544513" y="3516867"/>
            <a:ext cx="4852610" cy="52322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w="0"/>
                <a:solidFill>
                  <a:srgbClr val="C00000"/>
                </a:solidFill>
                <a:effectLst>
                  <a:outerShdw blurRad="38100" dist="19050" dir="2700000" algn="tl" rotWithShape="0">
                    <a:prstClr val="black">
                      <a:alpha val="40000"/>
                    </a:prstClr>
                  </a:outerShdw>
                </a:effectLst>
                <a:uLnTx/>
                <a:uFillTx/>
                <a:latin typeface="Calibri"/>
                <a:ea typeface="微软雅黑" panose="020B0503020204020204" pitchFamily="34" charset="-122"/>
                <a:cs typeface="+mn-cs"/>
              </a:rPr>
              <a:t>同余方程组的解（最小解）：</a:t>
            </a:r>
          </a:p>
        </p:txBody>
      </p:sp>
    </p:spTree>
    <p:extLst>
      <p:ext uri="{BB962C8B-B14F-4D97-AF65-F5344CB8AC3E}">
        <p14:creationId xmlns:p14="http://schemas.microsoft.com/office/powerpoint/2010/main" val="18347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par>
                                <p:cTn id="27" presetID="10"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500"/>
                                        <p:tgtEl>
                                          <p:spTgt spid="40"/>
                                        </p:tgtEl>
                                      </p:cBhvr>
                                    </p:animEffect>
                                  </p:childTnLst>
                                </p:cTn>
                              </p:par>
                              <p:par>
                                <p:cTn id="30" presetID="10" presetClass="entr" presetSubtype="0" fill="hold"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00"/>
                                        <p:tgtEl>
                                          <p:spTgt spid="4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500"/>
                                        <p:tgtEl>
                                          <p:spTgt spid="4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p:bldP spid="37" grpId="0"/>
      <p:bldP spid="39" grpId="0" animBg="1"/>
      <p:bldP spid="42" grpId="0" animBg="1"/>
      <p:bldP spid="43" grpId="0" animBg="1"/>
      <p:bldP spid="44" grpId="0"/>
      <p:bldP spid="45" grpId="0"/>
      <p:bldP spid="4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中国剩余定理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7" name="矩形 16">
            <a:extLst>
              <a:ext uri="{FF2B5EF4-FFF2-40B4-BE49-F238E27FC236}">
                <a16:creationId xmlns:a16="http://schemas.microsoft.com/office/drawing/2014/main" id="{26DF1922-B25A-44E1-AB80-BF4B139EE29C}"/>
              </a:ext>
            </a:extLst>
          </p:cNvPr>
          <p:cNvSpPr/>
          <p:nvPr/>
        </p:nvSpPr>
        <p:spPr>
          <a:xfrm>
            <a:off x="838202" y="1303867"/>
            <a:ext cx="10828866" cy="3911327"/>
          </a:xfrm>
          <a:prstGeom prst="rect">
            <a:avLst/>
          </a:prstGeom>
          <a:noFill/>
          <a:ln>
            <a:noFill/>
            <a:miter lim="800000"/>
          </a:ln>
          <a:effectLst/>
        </p:spPr>
        <p:txBody>
          <a:bodyPr wrap="squar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自从曹冲搞定了大象以后，曹操就开始捉摸让儿子干些事业，于是派他到中原养猪场养猪，可是曹冲满不高兴，于是在工作中马马虎虎，有一次曹操想知道母猪的数量，于是曹冲想狠狠耍曹操一把。举个例子，假如有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16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头母猪，如果建了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3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个猪圈，剩下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头猪就没有地方安家了。如果建造了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5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个猪圈，但是仍然有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头猪没有地方去，然后如果建造了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7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个猪圈，还有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2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头没有地方去。你作为曹总的私人秘书理所当然要将准确的猪数报给曹总，你该怎么办？</a:t>
            </a:r>
          </a:p>
        </p:txBody>
      </p:sp>
    </p:spTree>
    <p:extLst>
      <p:ext uri="{BB962C8B-B14F-4D97-AF65-F5344CB8AC3E}">
        <p14:creationId xmlns:p14="http://schemas.microsoft.com/office/powerpoint/2010/main" val="71576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additive="base">
                                        <p:cTn id="6" dur="1" fill="hold">
                                          <p:stCondLst>
                                            <p:cond delay="0"/>
                                          </p:stCondLst>
                                        </p:cTn>
                                        <p:tgtEl>
                                          <p:spTgt spid="17"/>
                                        </p:tgtEl>
                                        <p:attrNameLst>
                                          <p:attrName>style.visibility</p:attrName>
                                        </p:attrNameLst>
                                      </p:cBhvr>
                                      <p:to>
                                        <p:strVal val="visible"/>
                                      </p:to>
                                    </p:set>
                                    <p:animEffect transition="in" filter="strips(downRight)">
                                      <p:cBhvr additive="base">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中国剩余定理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7DAD639E-A568-4EEC-998C-7439A5F7F8FF}"/>
              </a:ext>
            </a:extLst>
          </p:cNvPr>
          <p:cNvPicPr>
            <a:picLocks noChangeAspect="1"/>
          </p:cNvPicPr>
          <p:nvPr/>
        </p:nvPicPr>
        <p:blipFill>
          <a:blip r:embed="rId2"/>
          <a:stretch>
            <a:fillRect/>
          </a:stretch>
        </p:blipFill>
        <p:spPr>
          <a:xfrm>
            <a:off x="1025746" y="1485575"/>
            <a:ext cx="8826133" cy="1420795"/>
          </a:xfrm>
          <a:prstGeom prst="rect">
            <a:avLst/>
          </a:prstGeom>
        </p:spPr>
      </p:pic>
      <p:pic>
        <p:nvPicPr>
          <p:cNvPr id="5" name="图片 4">
            <a:extLst>
              <a:ext uri="{FF2B5EF4-FFF2-40B4-BE49-F238E27FC236}">
                <a16:creationId xmlns:a16="http://schemas.microsoft.com/office/drawing/2014/main" id="{BB5019B7-F021-4F64-8719-C57BAB6F55A7}"/>
              </a:ext>
            </a:extLst>
          </p:cNvPr>
          <p:cNvPicPr>
            <a:picLocks noChangeAspect="1"/>
          </p:cNvPicPr>
          <p:nvPr/>
        </p:nvPicPr>
        <p:blipFill rotWithShape="1">
          <a:blip r:embed="rId3">
            <a:extLst>
              <a:ext uri="{28A0092B-C50C-407E-A947-70E740481C1C}">
                <a14:useLocalDpi xmlns:a14="http://schemas.microsoft.com/office/drawing/2010/main" val="0"/>
              </a:ext>
            </a:extLst>
          </a:blip>
          <a:srcRect t="61626"/>
          <a:stretch/>
        </p:blipFill>
        <p:spPr>
          <a:xfrm>
            <a:off x="1025746" y="3505410"/>
            <a:ext cx="7380720" cy="2452398"/>
          </a:xfrm>
          <a:prstGeom prst="rect">
            <a:avLst/>
          </a:prstGeom>
        </p:spPr>
      </p:pic>
    </p:spTree>
    <p:extLst>
      <p:ext uri="{BB962C8B-B14F-4D97-AF65-F5344CB8AC3E}">
        <p14:creationId xmlns:p14="http://schemas.microsoft.com/office/powerpoint/2010/main" val="29006594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扩展中国剩余定理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7" name="矩形 16">
            <a:extLst>
              <a:ext uri="{FF2B5EF4-FFF2-40B4-BE49-F238E27FC236}">
                <a16:creationId xmlns:a16="http://schemas.microsoft.com/office/drawing/2014/main" id="{26DF1922-B25A-44E1-AB80-BF4B139EE29C}"/>
              </a:ext>
            </a:extLst>
          </p:cNvPr>
          <p:cNvSpPr/>
          <p:nvPr/>
        </p:nvSpPr>
        <p:spPr>
          <a:xfrm>
            <a:off x="838202" y="1303867"/>
            <a:ext cx="4440380" cy="3351046"/>
          </a:xfrm>
          <a:prstGeom prst="rect">
            <a:avLst/>
          </a:prstGeom>
          <a:noFill/>
          <a:ln>
            <a:noFill/>
            <a:miter lim="800000"/>
          </a:ln>
          <a:effectLst/>
        </p:spPr>
        <p:txBody>
          <a:bodyPr wrap="squar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tabLst/>
              <a:defRPr/>
            </a:pPr>
            <a:r>
              <a:rPr kumimoji="0" lang="en-US" altLang="zh-CN" sz="2400" b="1" i="0" u="none" strike="noStrike" kern="100" cap="none" spc="0" normalizeH="0" baseline="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rPr>
              <a:t>b</a:t>
            </a:r>
            <a:r>
              <a:rPr kumimoji="0" lang="en-US" altLang="zh-CN" sz="3200" b="1" i="0" u="none" strike="noStrike" kern="100" cap="none" spc="0" normalizeH="0" baseline="-2500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rPr>
              <a:t>1</a:t>
            </a:r>
            <a:r>
              <a:rPr kumimoji="0" lang="zh-CN" altLang="en-US" sz="2400" b="1" i="0" u="none" strike="noStrike" kern="100" cap="none" spc="0" normalizeH="0" baseline="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rPr>
              <a:t>，</a:t>
            </a:r>
            <a:r>
              <a:rPr kumimoji="0" lang="en-US" altLang="zh-CN" sz="2400" b="1" i="0" u="none" strike="noStrike" kern="100" cap="none" spc="0" normalizeH="0" baseline="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rPr>
              <a:t>b</a:t>
            </a:r>
            <a:r>
              <a:rPr kumimoji="0" lang="en-US" altLang="zh-CN" sz="3200" b="1" i="0" u="none" strike="noStrike" kern="100" cap="none" spc="0" normalizeH="0" baseline="-2500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rPr>
              <a:t>2</a:t>
            </a:r>
            <a:r>
              <a:rPr kumimoji="0" lang="en-US" altLang="zh-CN" sz="2400" b="1" i="0" u="none" strike="noStrike" kern="100" cap="none" spc="0" normalizeH="0" baseline="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rPr>
              <a:t>……b</a:t>
            </a:r>
            <a:r>
              <a:rPr kumimoji="0" lang="en-US" altLang="zh-CN" sz="3200" b="1" i="0" u="none" strike="noStrike" kern="100" cap="none" spc="0" normalizeH="0" baseline="-2500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rPr>
              <a:t>n</a:t>
            </a:r>
            <a:r>
              <a:rPr kumimoji="0" lang="zh-CN" altLang="en-US" sz="2400" b="1" i="0" u="none" strike="noStrike" kern="100" cap="none" spc="0" normalizeH="0" baseline="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rPr>
              <a:t>两两互质不成立，如何解同余方程组</a:t>
            </a:r>
            <a:endParaRPr kumimoji="0" lang="en-US" altLang="zh-CN" sz="2400" b="1" i="0" u="none" strike="noStrike" kern="100" cap="none" spc="0" normalizeH="0" baseline="0" noProof="1">
              <a:ln>
                <a:noFill/>
              </a:ln>
              <a:solidFill>
                <a:srgbClr val="014B88"/>
              </a:solidFill>
              <a:effectLst/>
              <a:uLnTx/>
              <a:uFillTx/>
              <a:latin typeface="仿宋_GB2312"/>
              <a:ea typeface="宋体" panose="02010600030101010101" pitchFamily="2" charset="-122"/>
              <a:cs typeface="Times New Roman" panose="02020603050405020304" pitchFamily="18" charset="0"/>
              <a:sym typeface="Wingdings" panose="05000000000000000000" pitchFamily="2" charset="2"/>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扩展中国剩余定理推导过程：</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参考：</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https://www.luogu.com.cn/article/lr8vtpzl</a:t>
            </a:r>
          </a:p>
        </p:txBody>
      </p:sp>
      <p:pic>
        <p:nvPicPr>
          <p:cNvPr id="8" name="图片 7">
            <a:extLst>
              <a:ext uri="{FF2B5EF4-FFF2-40B4-BE49-F238E27FC236}">
                <a16:creationId xmlns:a16="http://schemas.microsoft.com/office/drawing/2014/main" id="{66F79A93-05E0-49CD-86DA-F19676D809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5488" y="936118"/>
            <a:ext cx="5668166" cy="5601482"/>
          </a:xfrm>
          <a:prstGeom prst="rect">
            <a:avLst/>
          </a:prstGeom>
        </p:spPr>
      </p:pic>
    </p:spTree>
    <p:extLst>
      <p:ext uri="{BB962C8B-B14F-4D97-AF65-F5344CB8AC3E}">
        <p14:creationId xmlns:p14="http://schemas.microsoft.com/office/powerpoint/2010/main" val="4194864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additive="base">
                                        <p:cTn id="6" dur="1" fill="hold">
                                          <p:stCondLst>
                                            <p:cond delay="0"/>
                                          </p:stCondLst>
                                        </p:cTn>
                                        <p:tgtEl>
                                          <p:spTgt spid="17"/>
                                        </p:tgtEl>
                                        <p:attrNameLst>
                                          <p:attrName>style.visibility</p:attrName>
                                        </p:attrNameLst>
                                      </p:cBhvr>
                                      <p:to>
                                        <p:strVal val="visible"/>
                                      </p:to>
                                    </p:set>
                                    <p:animEffect transition="in" filter="strips(downRight)">
                                      <p:cBhvr additive="base">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animEffect transition="in" filter="fade">
                                      <p:cBhvr>
                                        <p:cTn id="15" dur="500"/>
                                        <p:tgtEl>
                                          <p:spTgt spid="1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鸽巢原理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7" name="矩形 16">
            <a:extLst>
              <a:ext uri="{FF2B5EF4-FFF2-40B4-BE49-F238E27FC236}">
                <a16:creationId xmlns:a16="http://schemas.microsoft.com/office/drawing/2014/main" id="{EE97F653-4C15-4C41-80F9-EFB3BE8322F5}"/>
              </a:ext>
            </a:extLst>
          </p:cNvPr>
          <p:cNvSpPr/>
          <p:nvPr/>
        </p:nvSpPr>
        <p:spPr>
          <a:xfrm>
            <a:off x="838201" y="1303867"/>
            <a:ext cx="10972799" cy="461665"/>
          </a:xfrm>
          <a:prstGeom prst="rect">
            <a:avLst/>
          </a:prstGeom>
          <a:noFill/>
          <a:ln>
            <a:noFill/>
            <a:miter lim="800000"/>
          </a:ln>
          <a:effectLst/>
        </p:spPr>
        <p:txBody>
          <a:bodyPr wrap="squar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若有</a:t>
            </a:r>
            <a:r>
              <a:rPr kumimoji="0" lang="en-US" altLang="en-US" sz="2400" b="1" i="0" u="none" strike="noStrike" kern="100" cap="none" spc="0" normalizeH="0" baseline="0" noProof="0" dirty="0">
                <a:ln>
                  <a:noFill/>
                </a:ln>
                <a:solidFill>
                  <a:srgbClr val="014B88"/>
                </a:solidFill>
                <a:effectLst/>
                <a:uLnTx/>
                <a:uFillTx/>
                <a:latin typeface="仿宋_GB2312"/>
                <a:ea typeface="宋体" panose="02010600030101010101" pitchFamily="2" charset="-122"/>
                <a:cs typeface="Times New Roman" panose="02020603050405020304" pitchFamily="18" charset="0"/>
              </a:rPr>
              <a:t>n</a:t>
            </a:r>
            <a:r>
              <a:rPr kumimoji="0" lang="zh-CN"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鸽子巢，</a:t>
            </a:r>
            <a:r>
              <a:rPr kumimoji="0" lang="en-US" altLang="en-US" sz="2400" b="1" i="0" u="none" strike="noStrike" kern="100" cap="none" spc="0" normalizeH="0" baseline="0" noProof="0" dirty="0">
                <a:ln>
                  <a:noFill/>
                </a:ln>
                <a:solidFill>
                  <a:srgbClr val="014B88"/>
                </a:solidFill>
                <a:effectLst/>
                <a:uLnTx/>
                <a:uFillTx/>
                <a:latin typeface="仿宋_GB2312"/>
                <a:ea typeface="宋体" panose="02010600030101010101" pitchFamily="2" charset="-122"/>
                <a:cs typeface="Times New Roman" panose="02020603050405020304" pitchFamily="18" charset="0"/>
              </a:rPr>
              <a:t>n+1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个鸽子，则最少有一个巢内有最少有两个鸽子。</a:t>
            </a:r>
          </a:p>
        </p:txBody>
      </p:sp>
      <p:sp>
        <p:nvSpPr>
          <p:cNvPr id="18" name="矩形 17">
            <a:extLst>
              <a:ext uri="{FF2B5EF4-FFF2-40B4-BE49-F238E27FC236}">
                <a16:creationId xmlns:a16="http://schemas.microsoft.com/office/drawing/2014/main" id="{7DB9717C-C309-41F3-8C3A-06B8F36FE293}"/>
              </a:ext>
            </a:extLst>
          </p:cNvPr>
          <p:cNvSpPr/>
          <p:nvPr/>
        </p:nvSpPr>
        <p:spPr>
          <a:xfrm>
            <a:off x="768428" y="2182282"/>
            <a:ext cx="10817223" cy="1754326"/>
          </a:xfrm>
          <a:prstGeom prst="rect">
            <a:avLst/>
          </a:prstGeom>
          <a:noFill/>
          <a:ln>
            <a:noFill/>
            <a:miter lim="800000"/>
          </a:ln>
          <a:effectLst/>
        </p:spPr>
        <p:txBody>
          <a:bodyPr wrap="squar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2" charset="-122"/>
                <a:cs typeface="+mn-cs"/>
              </a:rPr>
              <a:t>例１</a:t>
            </a:r>
            <a:r>
              <a:rPr kumimoji="1" lang="zh-CN" altLang="en-US" sz="3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367人中最少有２人生日相同。</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2" charset="-122"/>
                <a:cs typeface="+mn-cs"/>
              </a:rPr>
              <a:t>例２</a:t>
            </a:r>
            <a:r>
              <a:rPr kumimoji="1" lang="zh-CN" altLang="en-US" sz="3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10双手套中任取11只，其中最少有两只是完整配正</a:t>
            </a:r>
          </a:p>
        </p:txBody>
      </p:sp>
    </p:spTree>
    <p:extLst>
      <p:ext uri="{BB962C8B-B14F-4D97-AF65-F5344CB8AC3E}">
        <p14:creationId xmlns:p14="http://schemas.microsoft.com/office/powerpoint/2010/main" val="3346893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additive="base">
                                        <p:cTn id="6" dur="1" fill="hold">
                                          <p:stCondLst>
                                            <p:cond delay="0"/>
                                          </p:stCondLst>
                                        </p:cTn>
                                        <p:tgtEl>
                                          <p:spTgt spid="17"/>
                                        </p:tgtEl>
                                        <p:attrNameLst>
                                          <p:attrName>style.visibility</p:attrName>
                                        </p:attrNameLst>
                                      </p:cBhvr>
                                      <p:to>
                                        <p:strVal val="visible"/>
                                      </p:to>
                                    </p:set>
                                    <p:animEffect transition="in" filter="strips(downRight)">
                                      <p:cBhvr additive="base">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additive="base">
                                        <p:cTn id="11" dur="1" fill="hold">
                                          <p:stCondLst>
                                            <p:cond delay="0"/>
                                          </p:stCondLst>
                                        </p:cTn>
                                        <p:tgtEl>
                                          <p:spTgt spid="18"/>
                                        </p:tgtEl>
                                        <p:attrNameLst>
                                          <p:attrName>style.visibility</p:attrName>
                                        </p:attrNameLst>
                                      </p:cBhvr>
                                      <p:to>
                                        <p:strVal val="visible"/>
                                      </p:to>
                                    </p:set>
                                    <p:animEffect transition="in" filter="wipe(up)">
                                      <p:cBhvr additive="base">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简单博弈论</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7" name="矩形 16">
            <a:extLst>
              <a:ext uri="{FF2B5EF4-FFF2-40B4-BE49-F238E27FC236}">
                <a16:creationId xmlns:a16="http://schemas.microsoft.com/office/drawing/2014/main" id="{EE97F653-4C15-4C41-80F9-EFB3BE8322F5}"/>
              </a:ext>
            </a:extLst>
          </p:cNvPr>
          <p:cNvSpPr/>
          <p:nvPr/>
        </p:nvSpPr>
        <p:spPr>
          <a:xfrm>
            <a:off x="838202" y="1303867"/>
            <a:ext cx="10828866" cy="5019323"/>
          </a:xfrm>
          <a:prstGeom prst="rect">
            <a:avLst/>
          </a:prstGeom>
          <a:noFill/>
          <a:ln>
            <a:noFill/>
            <a:miter lim="800000"/>
          </a:ln>
          <a:effectLst/>
        </p:spPr>
        <p:txBody>
          <a:bodyPr wrap="squar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博弈论：博弈论（</a:t>
            </a:r>
            <a:r>
              <a:rPr kumimoji="0" lang="en-US" altLang="zh-CN" sz="2400" b="1" i="0" u="none" strike="noStrike" kern="100" cap="none" spc="30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game theory</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经济学的一个分支，主要研究具有竞争或对抗性质的个体，在特定规则下所产生的各种行为。博弈论关注博弈中个体的预期行为与实际行为，并研究其最优策略。通俗地讲，博弈论主要研究的是：在一个游戏中，进行游戏的多位玩家如何选择策略。</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Nim</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游戏：给定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堆石子，两位玩家轮流操作，每次操作可以从任意一堆石子中拿走任意数量的石子（可以拿完，但不能不拿），最后无法进行操作的人视为失败。问如果两人都采用最优策略（两个人都足够聪明），先手是否必胜。</a:t>
            </a:r>
          </a:p>
        </p:txBody>
      </p:sp>
    </p:spTree>
    <p:extLst>
      <p:ext uri="{BB962C8B-B14F-4D97-AF65-F5344CB8AC3E}">
        <p14:creationId xmlns:p14="http://schemas.microsoft.com/office/powerpoint/2010/main" val="5345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98E0C03-DF1C-4846-BA44-A4B8A5E11606}"/>
              </a:ext>
            </a:extLst>
          </p:cNvPr>
          <p:cNvSpPr/>
          <p:nvPr/>
        </p:nvSpPr>
        <p:spPr>
          <a:xfrm>
            <a:off x="737207" y="1068905"/>
            <a:ext cx="10879666" cy="390504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例：当前，有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3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堆石子，石子的数量分别为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2,5,4</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。那么，可以取走第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堆中的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2</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个物品，局面就变成了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0,5,4</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；也可以取走第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2</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堆的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4</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个物品，局面就变成了</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2, 1, 4</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。如果某一时刻的局面变为了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0,0,5</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，甲取走了第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3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堆的</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5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个物品，也就是取走了最后一个物品，此时甲获胜。</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结论：</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a1⊕a2⊕a3...⊕an !=0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是一个先手必胜局，否则为先手必输局。</a:t>
            </a:r>
          </a:p>
        </p:txBody>
      </p:sp>
      <p:sp>
        <p:nvSpPr>
          <p:cNvPr id="3" name="TextBox 36">
            <a:extLst>
              <a:ext uri="{FF2B5EF4-FFF2-40B4-BE49-F238E27FC236}">
                <a16:creationId xmlns:a16="http://schemas.microsoft.com/office/drawing/2014/main" id="{187F26D7-C075-4C77-A12C-8A8B5F60031C}"/>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简单博弈论</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FE281503-0447-422B-A78C-168A582ED433}"/>
              </a:ext>
            </a:extLst>
          </p:cNvPr>
          <p:cNvSpPr/>
          <p:nvPr/>
        </p:nvSpPr>
        <p:spPr>
          <a:xfrm>
            <a:off x="804940" y="5589601"/>
            <a:ext cx="4143185"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https://zhuanlan.zhihu.com/p/358979118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https://zhuanlan.zhihu.com/p/561499958</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Tree>
    <p:extLst>
      <p:ext uri="{BB962C8B-B14F-4D97-AF65-F5344CB8AC3E}">
        <p14:creationId xmlns:p14="http://schemas.microsoft.com/office/powerpoint/2010/main" val="35734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fade">
                                      <p:cBhvr>
                                        <p:cTn id="10" dur="500"/>
                                        <p:tgtEl>
                                          <p:spTgt spid="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6">
            <a:extLst>
              <a:ext uri="{FF2B5EF4-FFF2-40B4-BE49-F238E27FC236}">
                <a16:creationId xmlns:a16="http://schemas.microsoft.com/office/drawing/2014/main" id="{187F26D7-C075-4C77-A12C-8A8B5F60031C}"/>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母函数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标题 197633">
            <a:extLst>
              <a:ext uri="{FF2B5EF4-FFF2-40B4-BE49-F238E27FC236}">
                <a16:creationId xmlns:a16="http://schemas.microsoft.com/office/drawing/2014/main" id="{4D484B8B-A6AD-4498-AF57-91733D9F34EF}"/>
              </a:ext>
            </a:extLst>
          </p:cNvPr>
          <p:cNvSpPr txBox="1">
            <a:spLocks/>
          </p:cNvSpPr>
          <p:nvPr/>
        </p:nvSpPr>
        <p:spPr>
          <a:xfrm>
            <a:off x="765176" y="921796"/>
            <a:ext cx="6497637" cy="936625"/>
          </a:xfrm>
          <a:prstGeom prst="rect">
            <a:avLst/>
          </a:prstGeom>
          <a:ln/>
        </p:spPr>
        <p:txBody>
          <a:bodyPr anchor="b"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prstClr val="black"/>
                </a:solidFill>
                <a:effectLst/>
                <a:uLnTx/>
                <a:uFillTx/>
                <a:latin typeface="Calibri"/>
                <a:ea typeface="黑体" panose="02010609060101010101" pitchFamily="2" charset="-122"/>
                <a:cs typeface="+mj-cs"/>
              </a:rPr>
              <a:t>研究以下</a:t>
            </a:r>
            <a:r>
              <a:rPr kumimoji="0" lang="zh-CN" altLang="en-US" sz="4000" b="1" i="0" u="none" strike="noStrike" kern="1200" cap="none" spc="0" normalizeH="0" baseline="0" noProof="0" dirty="0">
                <a:ln>
                  <a:noFill/>
                </a:ln>
                <a:solidFill>
                  <a:srgbClr val="0026E5"/>
                </a:solidFill>
                <a:effectLst/>
                <a:uLnTx/>
                <a:uFillTx/>
                <a:latin typeface="Calibri"/>
                <a:ea typeface="黑体" panose="02010609060101010101" pitchFamily="2" charset="-122"/>
                <a:cs typeface="+mj-cs"/>
              </a:rPr>
              <a:t>多项式乘法</a:t>
            </a:r>
            <a:r>
              <a:rPr kumimoji="0" lang="zh-CN" altLang="en-US" sz="4000" b="1" i="0" u="none" strike="noStrike" kern="1200" cap="none" spc="0" normalizeH="0" baseline="0" noProof="0" dirty="0">
                <a:ln>
                  <a:noFill/>
                </a:ln>
                <a:solidFill>
                  <a:prstClr val="black"/>
                </a:solidFill>
                <a:effectLst/>
                <a:uLnTx/>
                <a:uFillTx/>
                <a:latin typeface="Calibri"/>
                <a:ea typeface="黑体" panose="02010609060101010101" pitchFamily="2" charset="-122"/>
                <a:cs typeface="+mj-cs"/>
              </a:rPr>
              <a:t>：</a:t>
            </a:r>
          </a:p>
        </p:txBody>
      </p:sp>
      <p:sp>
        <p:nvSpPr>
          <p:cNvPr id="5" name="文本占位符 197634">
            <a:extLst>
              <a:ext uri="{FF2B5EF4-FFF2-40B4-BE49-F238E27FC236}">
                <a16:creationId xmlns:a16="http://schemas.microsoft.com/office/drawing/2014/main" id="{7F711F30-8E81-4602-9823-81C9C0E7B7A8}"/>
              </a:ext>
            </a:extLst>
          </p:cNvPr>
          <p:cNvSpPr txBox="1">
            <a:spLocks/>
          </p:cNvSpPr>
          <p:nvPr/>
        </p:nvSpPr>
        <p:spPr>
          <a:xfrm>
            <a:off x="2206625" y="1808163"/>
            <a:ext cx="8102600" cy="4176712"/>
          </a:xfrm>
          <a:prstGeom prst="rect">
            <a:avLst/>
          </a:prstGeo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US" altLang="zh-CN" sz="2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rPr>
              <a:t>	</a:t>
            </a:r>
          </a:p>
        </p:txBody>
      </p:sp>
      <p:sp>
        <p:nvSpPr>
          <p:cNvPr id="6" name="文本框 5">
            <a:extLst>
              <a:ext uri="{FF2B5EF4-FFF2-40B4-BE49-F238E27FC236}">
                <a16:creationId xmlns:a16="http://schemas.microsoft.com/office/drawing/2014/main" id="{109637AC-59A3-45D1-9B68-5DB4F966C8DF}"/>
              </a:ext>
            </a:extLst>
          </p:cNvPr>
          <p:cNvSpPr txBox="1"/>
          <p:nvPr/>
        </p:nvSpPr>
        <p:spPr>
          <a:xfrm>
            <a:off x="639840" y="3547469"/>
            <a:ext cx="11379440" cy="3147913"/>
          </a:xfrm>
          <a:prstGeom prst="rect">
            <a:avLst/>
          </a:prstGeom>
          <a:noFill/>
          <a:ln w="9525">
            <a:noFill/>
          </a:ln>
        </p:spPr>
        <p:txBody>
          <a:bodyPr wrap="square">
            <a:spAutoFit/>
          </a:bodyPr>
          <a:lstStyle/>
          <a:p>
            <a:pPr marL="0" marR="0" lvl="0" indent="0" algn="l" defTabSz="914400" rtl="0" eaLnBrk="0" fontAlgn="auto" latinLnBrk="0" hangingPunct="0">
              <a:lnSpc>
                <a:spcPct val="95000"/>
              </a:lnSpc>
              <a:spcBef>
                <a:spcPct val="50000"/>
              </a:spcBef>
              <a:spcAft>
                <a:spcPts val="0"/>
              </a:spcAft>
              <a:buClrTx/>
              <a:buSzTx/>
              <a:buFontTx/>
              <a:buNone/>
              <a:tabLst/>
              <a:defRPr/>
            </a:pPr>
            <a:r>
              <a:rPr kumimoji="0" lang="zh-CN" altLang="en-US" sz="2400" b="1" i="0" u="none" strike="noStrike" kern="1200" cap="none" spc="0" normalizeH="0" baseline="0" noProof="0" dirty="0">
                <a:ln>
                  <a:noFill/>
                </a:ln>
                <a:solidFill>
                  <a:srgbClr val="0026E5"/>
                </a:solidFill>
                <a:effectLst/>
                <a:uLnTx/>
                <a:uFillTx/>
                <a:latin typeface="黑体" panose="02010609060101010101" pitchFamily="2" charset="-122"/>
                <a:ea typeface="黑体" panose="02010609060101010101" pitchFamily="2" charset="-122"/>
                <a:cs typeface="+mn-cs"/>
              </a:rPr>
              <a:t>可以看出：</a:t>
            </a:r>
          </a:p>
          <a:p>
            <a:pPr marL="0" marR="0" lvl="0" indent="0" algn="l" defTabSz="914400" rtl="0" eaLnBrk="0" fontAlgn="auto" latinLnBrk="0" hangingPunct="0">
              <a:lnSpc>
                <a:spcPct val="150000"/>
              </a:lnSpc>
              <a:spcBef>
                <a:spcPct val="5000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x</a:t>
            </a:r>
            <a:r>
              <a:rPr kumimoji="0" lang="en-US" altLang="zh-CN" sz="2400" b="1" i="0" u="none" strike="noStrike" kern="1200" cap="none" spc="0" normalizeH="0" baseline="30000" noProof="0" dirty="0">
                <a:ln>
                  <a:noFill/>
                </a:ln>
                <a:solidFill>
                  <a:prstClr val="black"/>
                </a:solidFill>
                <a:effectLst/>
                <a:uLnTx/>
                <a:uFillTx/>
                <a:latin typeface="仿宋_GB2312" pitchFamily="49" charset="-122"/>
                <a:ea typeface="仿宋_GB2312" pitchFamily="49" charset="-122"/>
                <a:cs typeface="+mn-cs"/>
              </a:rPr>
              <a:t>2</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项的系数</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1</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2</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1</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3</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n-1</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n</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中所有的项包括</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n</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个元素</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1</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2</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 </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仿宋_GB2312" pitchFamily="49" charset="-122"/>
                <a:cs typeface="+mn-cs"/>
              </a:rPr>
              <a:t>…</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n</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中取两个组合的全体；</a:t>
            </a:r>
          </a:p>
          <a:p>
            <a:pPr marL="0" marR="0" lvl="0" indent="0" algn="l" defTabSz="914400" rtl="0" eaLnBrk="0" fontAlgn="auto" latinLnBrk="0" hangingPunct="0">
              <a:lnSpc>
                <a:spcPct val="150000"/>
              </a:lnSpc>
              <a:spcBef>
                <a:spcPct val="5000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同理：</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x</a:t>
            </a:r>
            <a:r>
              <a:rPr kumimoji="0" lang="en-US" altLang="zh-CN" sz="2400" b="1" i="0" u="none" strike="noStrike" kern="1200" cap="none" spc="0" normalizeH="0" baseline="30000" noProof="0" dirty="0">
                <a:ln>
                  <a:noFill/>
                </a:ln>
                <a:solidFill>
                  <a:prstClr val="black"/>
                </a:solidFill>
                <a:effectLst/>
                <a:uLnTx/>
                <a:uFillTx/>
                <a:latin typeface="仿宋_GB2312" pitchFamily="49" charset="-122"/>
                <a:ea typeface="仿宋_GB2312" pitchFamily="49" charset="-122"/>
                <a:cs typeface="+mn-cs"/>
              </a:rPr>
              <a:t>3</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项系数包含了从</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n</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个元素</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1</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2</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 </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仿宋_GB2312" pitchFamily="49" charset="-122"/>
                <a:cs typeface="+mn-cs"/>
              </a:rPr>
              <a:t>…</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a:t>
            </a:r>
            <a:r>
              <a:rPr kumimoji="0" lang="en-US" altLang="zh-CN" sz="2400" b="1" i="0" u="none" strike="noStrike" kern="1200" cap="none" spc="0" normalizeH="0" baseline="-25000" noProof="0" dirty="0">
                <a:ln>
                  <a:noFill/>
                </a:ln>
                <a:solidFill>
                  <a:prstClr val="black"/>
                </a:solidFill>
                <a:effectLst/>
                <a:uLnTx/>
                <a:uFillTx/>
                <a:latin typeface="仿宋_GB2312" pitchFamily="49" charset="-122"/>
                <a:ea typeface="仿宋_GB2312" pitchFamily="49" charset="-122"/>
                <a:cs typeface="+mn-cs"/>
              </a:rPr>
              <a:t>n</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中取</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3</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个元素组合的全体；</a:t>
            </a:r>
          </a:p>
          <a:p>
            <a:pPr marL="0" marR="0" lvl="0" indent="0" algn="l" defTabSz="914400" rtl="0" eaLnBrk="0" fontAlgn="auto" latinLnBrk="0" hangingPunct="0">
              <a:lnSpc>
                <a:spcPct val="150000"/>
              </a:lnSpc>
              <a:spcBef>
                <a:spcPct val="5000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以此类推。</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 </a:t>
            </a:r>
          </a:p>
        </p:txBody>
      </p:sp>
      <p:sp>
        <p:nvSpPr>
          <p:cNvPr id="7" name="矩形 6">
            <a:extLst>
              <a:ext uri="{FF2B5EF4-FFF2-40B4-BE49-F238E27FC236}">
                <a16:creationId xmlns:a16="http://schemas.microsoft.com/office/drawing/2014/main" id="{D1E3C2DB-1759-4994-913E-F26F75A1FA80}"/>
              </a:ext>
            </a:extLst>
          </p:cNvPr>
          <p:cNvSpPr/>
          <p:nvPr/>
        </p:nvSpPr>
        <p:spPr>
          <a:xfrm>
            <a:off x="8112126" y="3033714"/>
            <a:ext cx="1763713" cy="682625"/>
          </a:xfrm>
          <a:prstGeom prst="rect">
            <a:avLst/>
          </a:prstGeom>
          <a:no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E3D6FF99-B063-40AB-9B4A-54190BD0E540}"/>
              </a:ext>
            </a:extLst>
          </p:cNvPr>
          <p:cNvGrpSpPr/>
          <p:nvPr/>
        </p:nvGrpSpPr>
        <p:grpSpPr>
          <a:xfrm>
            <a:off x="765176" y="2034091"/>
            <a:ext cx="7129463" cy="1476375"/>
            <a:chOff x="748" y="1275"/>
            <a:chExt cx="4491" cy="930"/>
          </a:xfrm>
        </p:grpSpPr>
        <p:pic>
          <p:nvPicPr>
            <p:cNvPr id="9" name="图片 8" descr="image002">
              <a:extLst>
                <a:ext uri="{FF2B5EF4-FFF2-40B4-BE49-F238E27FC236}">
                  <a16:creationId xmlns:a16="http://schemas.microsoft.com/office/drawing/2014/main" id="{855BB07A-D093-4D35-9A75-FCB36BE7B2A4}"/>
                </a:ext>
              </a:extLst>
            </p:cNvPr>
            <p:cNvPicPr>
              <a:picLocks noChangeAspect="1"/>
            </p:cNvPicPr>
            <p:nvPr/>
          </p:nvPicPr>
          <p:blipFill>
            <a:blip r:embed="rId2">
              <a:biLevel thresh="50000"/>
              <a:grayscl/>
            </a:blip>
            <a:stretch>
              <a:fillRect/>
            </a:stretch>
          </p:blipFill>
          <p:spPr>
            <a:xfrm>
              <a:off x="748" y="1275"/>
              <a:ext cx="4491" cy="930"/>
            </a:xfrm>
            <a:prstGeom prst="rect">
              <a:avLst/>
            </a:prstGeom>
            <a:noFill/>
            <a:ln w="9525">
              <a:noFill/>
            </a:ln>
          </p:spPr>
        </p:pic>
        <p:sp>
          <p:nvSpPr>
            <p:cNvPr id="10" name="矩形 9">
              <a:extLst>
                <a:ext uri="{FF2B5EF4-FFF2-40B4-BE49-F238E27FC236}">
                  <a16:creationId xmlns:a16="http://schemas.microsoft.com/office/drawing/2014/main" id="{700EDCD8-1114-4167-A551-BC1212F45B6E}"/>
                </a:ext>
              </a:extLst>
            </p:cNvPr>
            <p:cNvSpPr/>
            <p:nvPr/>
          </p:nvSpPr>
          <p:spPr>
            <a:xfrm>
              <a:off x="4332" y="1911"/>
              <a:ext cx="861" cy="272"/>
            </a:xfrm>
            <a:prstGeom prst="rect">
              <a:avLst/>
            </a:prstGeom>
            <a:solidFill>
              <a:schemeClr val="bg1"/>
            </a:solidFill>
            <a:ln w="9525">
              <a:noFill/>
            </a:ln>
          </p:spPr>
          <p:txBody>
            <a:bodyPr wrap="non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srgbClr val="0026E5"/>
                </a:solidFill>
                <a:effectLst/>
                <a:uLnTx/>
                <a:uFillTx/>
                <a:latin typeface="Gungsuh" pitchFamily="18" charset="-127"/>
                <a:ea typeface="Gungsuh" pitchFamily="18" charset="-127"/>
                <a:cs typeface="+mn-cs"/>
              </a:endParaRPr>
            </a:p>
          </p:txBody>
        </p:sp>
      </p:grpSp>
    </p:spTree>
    <p:extLst>
      <p:ext uri="{BB962C8B-B14F-4D97-AF65-F5344CB8AC3E}">
        <p14:creationId xmlns:p14="http://schemas.microsoft.com/office/powerpoint/2010/main" val="84011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1" name="文本占位符 237570"/>
          <p:cNvSpPr>
            <a:spLocks noGrp="1"/>
          </p:cNvSpPr>
          <p:nvPr>
            <p:ph type="body" idx="1"/>
          </p:nvPr>
        </p:nvSpPr>
        <p:spPr>
          <a:xfrm>
            <a:off x="702733" y="2097088"/>
            <a:ext cx="10557934" cy="1655762"/>
          </a:xfrm>
          <a:ln/>
        </p:spPr>
        <p:txBody>
          <a:bodyPr/>
          <a:lstStyle/>
          <a:p>
            <a:pPr>
              <a:buNone/>
            </a:pP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若令</a:t>
            </a:r>
            <a:r>
              <a:rPr lang="en-US" altLang="zh-CN" dirty="0">
                <a:latin typeface="楷体_GB2312" pitchFamily="49" charset="-122"/>
                <a:ea typeface="楷体_GB2312" pitchFamily="49" charset="-122"/>
              </a:rPr>
              <a:t>a</a:t>
            </a:r>
            <a:r>
              <a:rPr lang="en-US" altLang="zh-CN" baseline="-25000" dirty="0">
                <a:latin typeface="楷体_GB2312" pitchFamily="49" charset="-122"/>
                <a:ea typeface="楷体_GB2312" pitchFamily="49" charset="-122"/>
              </a:rPr>
              <a:t>1</a:t>
            </a:r>
            <a:r>
              <a:rPr lang="en-US" altLang="zh-CN" dirty="0">
                <a:latin typeface="楷体_GB2312" pitchFamily="49" charset="-122"/>
                <a:ea typeface="楷体_GB2312" pitchFamily="49" charset="-122"/>
              </a:rPr>
              <a:t>=a</a:t>
            </a:r>
            <a:r>
              <a:rPr lang="en-US" altLang="zh-CN" baseline="-25000" dirty="0">
                <a:latin typeface="楷体_GB2312" pitchFamily="49" charset="-122"/>
                <a:ea typeface="楷体_GB2312" pitchFamily="49" charset="-122"/>
              </a:rPr>
              <a:t>2</a:t>
            </a:r>
            <a:r>
              <a:rPr lang="en-US" altLang="zh-CN" dirty="0">
                <a:latin typeface="楷体_GB2312" pitchFamily="49" charset="-122"/>
                <a:ea typeface="楷体_GB2312" pitchFamily="49" charset="-122"/>
              </a:rPr>
              <a:t>= </a:t>
            </a:r>
            <a:r>
              <a:rPr lang="en-US" altLang="zh-CN" dirty="0">
                <a:latin typeface="Arial" panose="020B0604020202020204" pitchFamily="34" charset="0"/>
                <a:ea typeface="楷体_GB2312" pitchFamily="49" charset="-122"/>
              </a:rPr>
              <a:t>…</a:t>
            </a:r>
            <a:r>
              <a:rPr lang="en-US" altLang="zh-CN" dirty="0">
                <a:latin typeface="楷体_GB2312" pitchFamily="49" charset="-122"/>
                <a:ea typeface="楷体_GB2312" pitchFamily="49" charset="-122"/>
              </a:rPr>
              <a:t>=a</a:t>
            </a:r>
            <a:r>
              <a:rPr lang="en-US" altLang="zh-CN" baseline="-25000" dirty="0">
                <a:latin typeface="楷体_GB2312" pitchFamily="49" charset="-122"/>
                <a:ea typeface="楷体_GB2312" pitchFamily="49" charset="-122"/>
              </a:rPr>
              <a:t>n</a:t>
            </a:r>
            <a:r>
              <a:rPr lang="en-US" altLang="zh-CN" dirty="0">
                <a:latin typeface="楷体_GB2312" pitchFamily="49" charset="-122"/>
                <a:ea typeface="楷体_GB2312" pitchFamily="49" charset="-122"/>
              </a:rPr>
              <a:t>=1</a:t>
            </a:r>
            <a:r>
              <a:rPr lang="zh-CN" altLang="en-US" dirty="0">
                <a:latin typeface="楷体_GB2312" pitchFamily="49" charset="-122"/>
                <a:ea typeface="楷体_GB2312" pitchFamily="49" charset="-122"/>
              </a:rPr>
              <a:t>，则：</a:t>
            </a:r>
          </a:p>
        </p:txBody>
      </p:sp>
      <p:pic>
        <p:nvPicPr>
          <p:cNvPr id="237572" name="图片 237571" descr="image011"/>
          <p:cNvPicPr>
            <a:picLocks noChangeAspect="1"/>
          </p:cNvPicPr>
          <p:nvPr/>
        </p:nvPicPr>
        <p:blipFill rotWithShape="1">
          <a:blip r:embed="rId2"/>
          <a:srcRect b="49933"/>
          <a:stretch/>
        </p:blipFill>
        <p:spPr>
          <a:xfrm>
            <a:off x="1026054" y="2835275"/>
            <a:ext cx="7200900" cy="593725"/>
          </a:xfrm>
          <a:prstGeom prst="rect">
            <a:avLst/>
          </a:prstGeom>
          <a:noFill/>
          <a:ln w="9525">
            <a:noFill/>
          </a:ln>
        </p:spPr>
      </p:pic>
      <p:sp>
        <p:nvSpPr>
          <p:cNvPr id="237575" name="标题 237574"/>
          <p:cNvSpPr>
            <a:spLocks noGrp="1"/>
          </p:cNvSpPr>
          <p:nvPr>
            <p:ph type="title"/>
          </p:nvPr>
        </p:nvSpPr>
        <p:spPr>
          <a:xfrm>
            <a:off x="866775" y="1096420"/>
            <a:ext cx="6553200" cy="876300"/>
          </a:xfrm>
          <a:ln/>
        </p:spPr>
        <p:txBody>
          <a:bodyPr anchor="b" anchorCtr="0"/>
          <a:lstStyle/>
          <a:p>
            <a:r>
              <a:rPr lang="zh-CN" altLang="en-US" sz="4000" dirty="0">
                <a:solidFill>
                  <a:schemeClr val="hlink"/>
                </a:solidFill>
                <a:ea typeface="黑体" panose="02010609060101010101" pitchFamily="2" charset="-122"/>
              </a:rPr>
              <a:t>特例：</a:t>
            </a:r>
          </a:p>
        </p:txBody>
      </p:sp>
      <p:sp>
        <p:nvSpPr>
          <p:cNvPr id="9" name="TextBox 36">
            <a:extLst>
              <a:ext uri="{FF2B5EF4-FFF2-40B4-BE49-F238E27FC236}">
                <a16:creationId xmlns:a16="http://schemas.microsoft.com/office/drawing/2014/main" id="{B049F8E4-DFD6-4865-B6EA-D3DD9612A739}"/>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母函数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标题 238593"/>
          <p:cNvSpPr>
            <a:spLocks noGrp="1"/>
          </p:cNvSpPr>
          <p:nvPr>
            <p:ph type="title"/>
          </p:nvPr>
        </p:nvSpPr>
        <p:spPr>
          <a:xfrm>
            <a:off x="651405" y="993776"/>
            <a:ext cx="6553200" cy="876300"/>
          </a:xfrm>
          <a:ln/>
        </p:spPr>
        <p:txBody>
          <a:bodyPr anchor="b" anchorCtr="0"/>
          <a:lstStyle/>
          <a:p>
            <a:r>
              <a:rPr lang="zh-CN" altLang="en-US" sz="4000" b="1" dirty="0">
                <a:ea typeface="黑体" panose="02010609060101010101" pitchFamily="2" charset="-122"/>
              </a:rPr>
              <a:t>母函数定义：</a:t>
            </a:r>
          </a:p>
        </p:txBody>
      </p:sp>
      <p:sp>
        <p:nvSpPr>
          <p:cNvPr id="238595" name="文本占位符 238594"/>
          <p:cNvSpPr>
            <a:spLocks noGrp="1"/>
          </p:cNvSpPr>
          <p:nvPr>
            <p:ph type="body" idx="1"/>
          </p:nvPr>
        </p:nvSpPr>
        <p:spPr>
          <a:xfrm>
            <a:off x="838200" y="1989138"/>
            <a:ext cx="9609138" cy="684212"/>
          </a:xfrm>
          <a:ln/>
        </p:spPr>
        <p:txBody>
          <a:bodyPr/>
          <a:lstStyle/>
          <a:p>
            <a:r>
              <a:rPr lang="zh-CN" altLang="en-US" sz="2400" b="1" kern="100" dirty="0">
                <a:solidFill>
                  <a:srgbClr val="014B88"/>
                </a:solidFill>
                <a:latin typeface="仿宋_GB2312"/>
                <a:cs typeface="Times New Roman" panose="02020603050405020304" pitchFamily="18" charset="0"/>
              </a:rPr>
              <a:t>对于序列</a:t>
            </a:r>
            <a:r>
              <a:rPr lang="en-US" altLang="zh-CN" sz="2400" b="1" kern="100" dirty="0">
                <a:solidFill>
                  <a:srgbClr val="014B88"/>
                </a:solidFill>
                <a:latin typeface="仿宋_GB2312"/>
                <a:cs typeface="Times New Roman" panose="02020603050405020304" pitchFamily="18" charset="0"/>
              </a:rPr>
              <a:t>a0</a:t>
            </a:r>
            <a:r>
              <a:rPr lang="zh-CN" altLang="en-US" sz="2400" b="1" kern="100" dirty="0">
                <a:solidFill>
                  <a:srgbClr val="014B88"/>
                </a:solidFill>
                <a:latin typeface="仿宋_GB2312"/>
                <a:cs typeface="Times New Roman" panose="02020603050405020304" pitchFamily="18" charset="0"/>
              </a:rPr>
              <a:t>，</a:t>
            </a:r>
            <a:r>
              <a:rPr lang="en-US" altLang="zh-CN" sz="2400" b="1" kern="100" dirty="0">
                <a:solidFill>
                  <a:srgbClr val="014B88"/>
                </a:solidFill>
                <a:latin typeface="仿宋_GB2312"/>
                <a:cs typeface="Times New Roman" panose="02020603050405020304" pitchFamily="18" charset="0"/>
              </a:rPr>
              <a:t>a1</a:t>
            </a:r>
            <a:r>
              <a:rPr lang="zh-CN" altLang="en-US" sz="2400" b="1" kern="100" dirty="0">
                <a:solidFill>
                  <a:srgbClr val="014B88"/>
                </a:solidFill>
                <a:latin typeface="仿宋_GB2312"/>
                <a:cs typeface="Times New Roman" panose="02020603050405020304" pitchFamily="18" charset="0"/>
              </a:rPr>
              <a:t>，</a:t>
            </a:r>
            <a:r>
              <a:rPr lang="en-US" altLang="zh-CN" sz="2400" b="1" kern="100" dirty="0">
                <a:solidFill>
                  <a:srgbClr val="014B88"/>
                </a:solidFill>
                <a:latin typeface="仿宋_GB2312"/>
                <a:cs typeface="Times New Roman" panose="02020603050405020304" pitchFamily="18" charset="0"/>
              </a:rPr>
              <a:t>a2</a:t>
            </a:r>
            <a:r>
              <a:rPr lang="zh-CN" altLang="en-US" sz="2400" b="1" kern="100" dirty="0">
                <a:solidFill>
                  <a:srgbClr val="014B88"/>
                </a:solidFill>
                <a:latin typeface="仿宋_GB2312"/>
                <a:cs typeface="Times New Roman" panose="02020603050405020304" pitchFamily="18" charset="0"/>
              </a:rPr>
              <a:t>，</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构造一函数：</a:t>
            </a:r>
            <a:r>
              <a:rPr lang="en-US" altLang="zh-CN" dirty="0"/>
              <a:t> </a:t>
            </a:r>
          </a:p>
        </p:txBody>
      </p:sp>
      <p:pic>
        <p:nvPicPr>
          <p:cNvPr id="238597" name="图片 238596" descr="image047"/>
          <p:cNvPicPr>
            <a:picLocks noChangeAspect="1"/>
          </p:cNvPicPr>
          <p:nvPr/>
        </p:nvPicPr>
        <p:blipFill>
          <a:blip r:embed="rId2"/>
          <a:stretch>
            <a:fillRect/>
          </a:stretch>
        </p:blipFill>
        <p:spPr>
          <a:xfrm>
            <a:off x="3179763" y="2924175"/>
            <a:ext cx="5111750" cy="692150"/>
          </a:xfrm>
          <a:prstGeom prst="rect">
            <a:avLst/>
          </a:prstGeom>
          <a:noFill/>
          <a:ln w="9525">
            <a:noFill/>
          </a:ln>
        </p:spPr>
      </p:pic>
      <p:sp>
        <p:nvSpPr>
          <p:cNvPr id="238598" name="矩形 238597"/>
          <p:cNvSpPr/>
          <p:nvPr/>
        </p:nvSpPr>
        <p:spPr>
          <a:xfrm>
            <a:off x="838200" y="4113214"/>
            <a:ext cx="8966200" cy="1189037"/>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marL="0" marR="0" lvl="0" indent="0" algn="l" defTabSz="914400" rtl="0" eaLnBrk="1" fontAlgn="base" latinLnBrk="0" hangingPunct="1">
              <a:lnSpc>
                <a:spcPct val="100000"/>
              </a:lnSpc>
              <a:spcBef>
                <a:spcPct val="20000"/>
              </a:spcBef>
              <a:spcAft>
                <a:spcPct val="0"/>
              </a:spcAft>
              <a:buClr>
                <a:srgbClr val="7E1FAD"/>
              </a:buClr>
              <a:buSzPct val="60000"/>
              <a:buFont typeface="Wingdings" panose="05000000000000000000" pitchFamily="2" charset="2"/>
              <a:buNone/>
              <a:tabLst/>
              <a:defRPr/>
            </a:pPr>
            <a:r>
              <a:rPr kumimoji="0" lang="zh-CN" altLang="en-US"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称函数</a:t>
            </a:r>
            <a:r>
              <a:rPr kumimoji="0" lang="en-US" altLang="zh-CN"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G(x)</a:t>
            </a:r>
            <a:r>
              <a:rPr kumimoji="0" lang="zh-CN" altLang="en-US"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是序列</a:t>
            </a:r>
            <a:r>
              <a:rPr kumimoji="0" lang="en-US" altLang="zh-CN"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a0</a:t>
            </a:r>
            <a:r>
              <a:rPr kumimoji="0" lang="zh-CN" altLang="en-US"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a1</a:t>
            </a:r>
            <a:r>
              <a:rPr kumimoji="0" lang="zh-CN" altLang="en-US"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a2</a:t>
            </a:r>
            <a:r>
              <a:rPr kumimoji="0" lang="zh-CN" altLang="en-US"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3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的母函数</a:t>
            </a:r>
          </a:p>
        </p:txBody>
      </p:sp>
      <p:sp>
        <p:nvSpPr>
          <p:cNvPr id="8" name="TextBox 36">
            <a:extLst>
              <a:ext uri="{FF2B5EF4-FFF2-40B4-BE49-F238E27FC236}">
                <a16:creationId xmlns:a16="http://schemas.microsoft.com/office/drawing/2014/main" id="{68A772A1-D018-46AE-A6F8-393CABFAED72}"/>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母函数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animEffect transition="in" filter="blinds(horizontal)">
                                      <p:cBhvr>
                                        <p:cTn id="7" dur="500"/>
                                        <p:tgtEl>
                                          <p:spTgt spid="238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8597"/>
                                        </p:tgtEl>
                                        <p:attrNameLst>
                                          <p:attrName>style.visibility</p:attrName>
                                        </p:attrNameLst>
                                      </p:cBhvr>
                                      <p:to>
                                        <p:strVal val="visible"/>
                                      </p:to>
                                    </p:set>
                                    <p:animEffect transition="in" filter="blinds(horizontal)">
                                      <p:cBhvr>
                                        <p:cTn id="12" dur="500"/>
                                        <p:tgtEl>
                                          <p:spTgt spid="23859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8598">
                                            <p:txEl>
                                              <p:pRg st="0" end="0"/>
                                            </p:txEl>
                                          </p:spTgt>
                                        </p:tgtEl>
                                        <p:attrNameLst>
                                          <p:attrName>style.visibility</p:attrName>
                                        </p:attrNameLst>
                                      </p:cBhvr>
                                      <p:to>
                                        <p:strVal val="visible"/>
                                      </p:to>
                                    </p:set>
                                    <p:animEffect transition="in" filter="blinds(horizontal)">
                                      <p:cBhvr>
                                        <p:cTn id="17" dur="500"/>
                                        <p:tgtEl>
                                          <p:spTgt spid="23859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标题 241665"/>
          <p:cNvSpPr>
            <a:spLocks noGrp="1"/>
          </p:cNvSpPr>
          <p:nvPr>
            <p:ph type="title"/>
          </p:nvPr>
        </p:nvSpPr>
        <p:spPr>
          <a:xfrm>
            <a:off x="745067" y="1376892"/>
            <a:ext cx="11023600" cy="1116013"/>
          </a:xfrm>
          <a:ln/>
        </p:spPr>
        <p:txBody>
          <a:bodyPr anchor="b" anchorCtr="0"/>
          <a:lstStyle/>
          <a:p>
            <a:r>
              <a:rPr lang="zh-CN" altLang="en-US" sz="2800" b="1" dirty="0">
                <a:latin typeface="仿宋_GB2312" pitchFamily="49" charset="-122"/>
                <a:ea typeface="仿宋_GB2312" pitchFamily="49" charset="-122"/>
              </a:rPr>
              <a:t>例</a:t>
            </a:r>
            <a:r>
              <a:rPr lang="en-US" altLang="zh-CN" sz="2800" b="1" dirty="0">
                <a:latin typeface="仿宋_GB2312" pitchFamily="49" charset="-122"/>
                <a:ea typeface="仿宋_GB2312" pitchFamily="49" charset="-122"/>
              </a:rPr>
              <a:t>1</a:t>
            </a:r>
            <a:r>
              <a:rPr lang="zh-CN" altLang="en-US" sz="2800" b="1" dirty="0">
                <a:latin typeface="仿宋_GB2312" pitchFamily="49" charset="-122"/>
                <a:ea typeface="仿宋_GB2312" pitchFamily="49" charset="-122"/>
              </a:rPr>
              <a:t>：若有</a:t>
            </a:r>
            <a:r>
              <a:rPr lang="en-US" altLang="zh-CN" sz="2800" b="1" dirty="0">
                <a:latin typeface="仿宋_GB2312" pitchFamily="49" charset="-122"/>
                <a:ea typeface="仿宋_GB2312" pitchFamily="49" charset="-122"/>
              </a:rPr>
              <a:t>1</a:t>
            </a:r>
            <a:r>
              <a:rPr lang="zh-CN" altLang="en-US" sz="2800" b="1" dirty="0">
                <a:latin typeface="仿宋_GB2312" pitchFamily="49" charset="-122"/>
                <a:ea typeface="仿宋_GB2312" pitchFamily="49" charset="-122"/>
              </a:rPr>
              <a:t>克、</a:t>
            </a:r>
            <a:r>
              <a:rPr lang="en-US" altLang="zh-CN" sz="2800" b="1" dirty="0">
                <a:latin typeface="仿宋_GB2312" pitchFamily="49" charset="-122"/>
                <a:ea typeface="仿宋_GB2312" pitchFamily="49" charset="-122"/>
              </a:rPr>
              <a:t>2</a:t>
            </a:r>
            <a:r>
              <a:rPr lang="zh-CN" altLang="en-US" sz="2800" b="1" dirty="0">
                <a:latin typeface="仿宋_GB2312" pitchFamily="49" charset="-122"/>
                <a:ea typeface="仿宋_GB2312" pitchFamily="49" charset="-122"/>
              </a:rPr>
              <a:t>克、</a:t>
            </a:r>
            <a:r>
              <a:rPr lang="en-US" altLang="zh-CN" sz="2800" b="1" dirty="0">
                <a:latin typeface="仿宋_GB2312" pitchFamily="49" charset="-122"/>
                <a:ea typeface="仿宋_GB2312" pitchFamily="49" charset="-122"/>
              </a:rPr>
              <a:t>3</a:t>
            </a:r>
            <a:r>
              <a:rPr lang="zh-CN" altLang="en-US" sz="2800" b="1" dirty="0">
                <a:latin typeface="仿宋_GB2312" pitchFamily="49" charset="-122"/>
                <a:ea typeface="仿宋_GB2312" pitchFamily="49" charset="-122"/>
              </a:rPr>
              <a:t>克、</a:t>
            </a:r>
            <a:r>
              <a:rPr lang="en-US" altLang="zh-CN" sz="2800" b="1" dirty="0">
                <a:latin typeface="仿宋_GB2312" pitchFamily="49" charset="-122"/>
                <a:ea typeface="仿宋_GB2312" pitchFamily="49" charset="-122"/>
              </a:rPr>
              <a:t>4</a:t>
            </a:r>
            <a:r>
              <a:rPr lang="zh-CN" altLang="en-US" sz="2800" b="1" dirty="0">
                <a:latin typeface="仿宋_GB2312" pitchFamily="49" charset="-122"/>
                <a:ea typeface="仿宋_GB2312" pitchFamily="49" charset="-122"/>
              </a:rPr>
              <a:t>克的砝码各一 枚，能称出哪几种重量？各有几种可能方案？</a:t>
            </a:r>
            <a:r>
              <a:rPr lang="en-US" altLang="zh-CN" b="1" dirty="0"/>
              <a:t> </a:t>
            </a:r>
          </a:p>
        </p:txBody>
      </p:sp>
      <p:sp>
        <p:nvSpPr>
          <p:cNvPr id="241667" name="文本占位符 241666"/>
          <p:cNvSpPr>
            <a:spLocks noGrp="1"/>
          </p:cNvSpPr>
          <p:nvPr>
            <p:ph type="body" idx="1"/>
          </p:nvPr>
        </p:nvSpPr>
        <p:spPr>
          <a:xfrm>
            <a:off x="2478087" y="2816755"/>
            <a:ext cx="7235825" cy="3132137"/>
          </a:xfrm>
          <a:ln/>
        </p:spPr>
        <p:txBody>
          <a:bodyPr/>
          <a:lstStyle/>
          <a:p>
            <a:pPr>
              <a:lnSpc>
                <a:spcPct val="80000"/>
              </a:lnSpc>
              <a:buNone/>
            </a:pPr>
            <a:r>
              <a:rPr lang="zh-CN" altLang="en-US" dirty="0">
                <a:latin typeface="仿宋_GB2312" pitchFamily="49" charset="-122"/>
                <a:ea typeface="仿宋_GB2312" pitchFamily="49" charset="-122"/>
              </a:rPr>
              <a:t>如何解决这个问题呢？考虑构造母函数。</a:t>
            </a:r>
          </a:p>
          <a:p>
            <a:pPr>
              <a:lnSpc>
                <a:spcPct val="80000"/>
              </a:lnSpc>
              <a:buNone/>
            </a:pPr>
            <a:r>
              <a:rPr lang="zh-CN" altLang="en-US" dirty="0">
                <a:latin typeface="仿宋_GB2312" pitchFamily="49" charset="-122"/>
                <a:ea typeface="仿宋_GB2312" pitchFamily="49" charset="-122"/>
              </a:rPr>
              <a:t>如果用</a:t>
            </a:r>
            <a:r>
              <a:rPr lang="en-US" altLang="zh-CN" dirty="0">
                <a:latin typeface="仿宋_GB2312" pitchFamily="49" charset="-122"/>
                <a:ea typeface="仿宋_GB2312" pitchFamily="49" charset="-122"/>
              </a:rPr>
              <a:t>x</a:t>
            </a:r>
            <a:r>
              <a:rPr lang="zh-CN" altLang="en-US" dirty="0">
                <a:latin typeface="仿宋_GB2312" pitchFamily="49" charset="-122"/>
                <a:ea typeface="仿宋_GB2312" pitchFamily="49" charset="-122"/>
              </a:rPr>
              <a:t>的指数表示称出的重量，则：</a:t>
            </a:r>
          </a:p>
          <a:p>
            <a:pPr>
              <a:lnSpc>
                <a:spcPct val="80000"/>
              </a:lnSpc>
              <a:buNone/>
            </a:pPr>
            <a:r>
              <a:rPr lang="zh-CN" altLang="en-US" dirty="0">
                <a:latin typeface="仿宋_GB2312" pitchFamily="49" charset="-122"/>
                <a:ea typeface="仿宋_GB2312" pitchFamily="49" charset="-122"/>
              </a:rPr>
              <a:t>	</a:t>
            </a:r>
            <a:r>
              <a:rPr lang="en-US" altLang="zh-CN" dirty="0">
                <a:latin typeface="仿宋_GB2312" pitchFamily="49" charset="-122"/>
                <a:ea typeface="仿宋_GB2312" pitchFamily="49" charset="-122"/>
              </a:rPr>
              <a:t>1</a:t>
            </a:r>
            <a:r>
              <a:rPr lang="zh-CN" altLang="en-US" dirty="0">
                <a:latin typeface="仿宋_GB2312" pitchFamily="49" charset="-122"/>
                <a:ea typeface="仿宋_GB2312" pitchFamily="49" charset="-122"/>
              </a:rPr>
              <a:t>个</a:t>
            </a:r>
            <a:r>
              <a:rPr lang="en-US" altLang="zh-CN" dirty="0">
                <a:latin typeface="仿宋_GB2312" pitchFamily="49" charset="-122"/>
                <a:ea typeface="仿宋_GB2312" pitchFamily="49" charset="-122"/>
              </a:rPr>
              <a:t>1</a:t>
            </a:r>
            <a:r>
              <a:rPr lang="zh-CN" altLang="en-US" dirty="0">
                <a:latin typeface="仿宋_GB2312" pitchFamily="49" charset="-122"/>
                <a:ea typeface="仿宋_GB2312" pitchFamily="49" charset="-122"/>
              </a:rPr>
              <a:t>克的砝码可以用函数</a:t>
            </a:r>
            <a:r>
              <a:rPr lang="en-US" altLang="zh-CN" dirty="0">
                <a:latin typeface="仿宋_GB2312" pitchFamily="49" charset="-122"/>
                <a:ea typeface="仿宋_GB2312" pitchFamily="49" charset="-122"/>
              </a:rPr>
              <a:t>1+x</a:t>
            </a:r>
            <a:r>
              <a:rPr lang="zh-CN" altLang="en-US" dirty="0">
                <a:latin typeface="仿宋_GB2312" pitchFamily="49" charset="-122"/>
                <a:ea typeface="仿宋_GB2312" pitchFamily="49" charset="-122"/>
              </a:rPr>
              <a:t>表示，</a:t>
            </a:r>
          </a:p>
          <a:p>
            <a:pPr>
              <a:lnSpc>
                <a:spcPct val="80000"/>
              </a:lnSpc>
              <a:buNone/>
            </a:pPr>
            <a:r>
              <a:rPr lang="zh-CN" altLang="en-US" dirty="0">
                <a:latin typeface="仿宋_GB2312" pitchFamily="49" charset="-122"/>
                <a:ea typeface="仿宋_GB2312" pitchFamily="49" charset="-122"/>
              </a:rPr>
              <a:t>	</a:t>
            </a:r>
            <a:r>
              <a:rPr lang="en-US" altLang="zh-CN" dirty="0">
                <a:latin typeface="仿宋_GB2312" pitchFamily="49" charset="-122"/>
                <a:ea typeface="仿宋_GB2312" pitchFamily="49" charset="-122"/>
              </a:rPr>
              <a:t>1</a:t>
            </a:r>
            <a:r>
              <a:rPr lang="zh-CN" altLang="en-US" dirty="0">
                <a:latin typeface="仿宋_GB2312" pitchFamily="49" charset="-122"/>
                <a:ea typeface="仿宋_GB2312" pitchFamily="49" charset="-122"/>
              </a:rPr>
              <a:t>个</a:t>
            </a:r>
            <a:r>
              <a:rPr lang="en-US" altLang="zh-CN" dirty="0">
                <a:latin typeface="仿宋_GB2312" pitchFamily="49" charset="-122"/>
                <a:ea typeface="仿宋_GB2312" pitchFamily="49" charset="-122"/>
              </a:rPr>
              <a:t>2</a:t>
            </a:r>
            <a:r>
              <a:rPr lang="zh-CN" altLang="en-US" dirty="0">
                <a:latin typeface="仿宋_GB2312" pitchFamily="49" charset="-122"/>
                <a:ea typeface="仿宋_GB2312" pitchFamily="49" charset="-122"/>
              </a:rPr>
              <a:t>克的砝码可以用函数</a:t>
            </a:r>
            <a:r>
              <a:rPr lang="en-US" altLang="zh-CN" dirty="0">
                <a:latin typeface="仿宋_GB2312" pitchFamily="49" charset="-122"/>
                <a:ea typeface="仿宋_GB2312" pitchFamily="49" charset="-122"/>
              </a:rPr>
              <a:t>1+x</a:t>
            </a:r>
            <a:r>
              <a:rPr lang="en-US" altLang="zh-CN" baseline="30000" dirty="0">
                <a:latin typeface="仿宋_GB2312" pitchFamily="49" charset="-122"/>
                <a:ea typeface="仿宋_GB2312" pitchFamily="49" charset="-122"/>
              </a:rPr>
              <a:t>2</a:t>
            </a:r>
            <a:r>
              <a:rPr lang="zh-CN" altLang="en-US" dirty="0">
                <a:latin typeface="仿宋_GB2312" pitchFamily="49" charset="-122"/>
                <a:ea typeface="仿宋_GB2312" pitchFamily="49" charset="-122"/>
              </a:rPr>
              <a:t>表示，</a:t>
            </a:r>
          </a:p>
          <a:p>
            <a:pPr>
              <a:lnSpc>
                <a:spcPct val="80000"/>
              </a:lnSpc>
              <a:buNone/>
            </a:pPr>
            <a:r>
              <a:rPr lang="zh-CN" altLang="en-US" dirty="0">
                <a:latin typeface="仿宋_GB2312" pitchFamily="49" charset="-122"/>
                <a:ea typeface="仿宋_GB2312" pitchFamily="49" charset="-122"/>
              </a:rPr>
              <a:t>	</a:t>
            </a:r>
            <a:r>
              <a:rPr lang="en-US" altLang="zh-CN" dirty="0">
                <a:latin typeface="仿宋_GB2312" pitchFamily="49" charset="-122"/>
                <a:ea typeface="仿宋_GB2312" pitchFamily="49" charset="-122"/>
              </a:rPr>
              <a:t>1</a:t>
            </a:r>
            <a:r>
              <a:rPr lang="zh-CN" altLang="en-US" dirty="0">
                <a:latin typeface="仿宋_GB2312" pitchFamily="49" charset="-122"/>
                <a:ea typeface="仿宋_GB2312" pitchFamily="49" charset="-122"/>
              </a:rPr>
              <a:t>个</a:t>
            </a:r>
            <a:r>
              <a:rPr lang="en-US" altLang="zh-CN" dirty="0">
                <a:latin typeface="仿宋_GB2312" pitchFamily="49" charset="-122"/>
                <a:ea typeface="仿宋_GB2312" pitchFamily="49" charset="-122"/>
              </a:rPr>
              <a:t>3</a:t>
            </a:r>
            <a:r>
              <a:rPr lang="zh-CN" altLang="en-US" dirty="0">
                <a:latin typeface="仿宋_GB2312" pitchFamily="49" charset="-122"/>
                <a:ea typeface="仿宋_GB2312" pitchFamily="49" charset="-122"/>
              </a:rPr>
              <a:t>克的砝码可以用函数</a:t>
            </a:r>
            <a:r>
              <a:rPr lang="en-US" altLang="zh-CN" dirty="0">
                <a:latin typeface="仿宋_GB2312" pitchFamily="49" charset="-122"/>
                <a:ea typeface="仿宋_GB2312" pitchFamily="49" charset="-122"/>
              </a:rPr>
              <a:t>1+x</a:t>
            </a:r>
            <a:r>
              <a:rPr lang="en-US" altLang="zh-CN" baseline="30000" dirty="0">
                <a:latin typeface="仿宋_GB2312" pitchFamily="49" charset="-122"/>
                <a:ea typeface="仿宋_GB2312" pitchFamily="49" charset="-122"/>
              </a:rPr>
              <a:t>3</a:t>
            </a:r>
            <a:r>
              <a:rPr lang="zh-CN" altLang="en-US" dirty="0">
                <a:latin typeface="仿宋_GB2312" pitchFamily="49" charset="-122"/>
                <a:ea typeface="仿宋_GB2312" pitchFamily="49" charset="-122"/>
              </a:rPr>
              <a:t>表示，</a:t>
            </a:r>
          </a:p>
          <a:p>
            <a:pPr>
              <a:lnSpc>
                <a:spcPct val="80000"/>
              </a:lnSpc>
              <a:buNone/>
            </a:pPr>
            <a:r>
              <a:rPr lang="zh-CN" altLang="en-US" dirty="0">
                <a:latin typeface="仿宋_GB2312" pitchFamily="49" charset="-122"/>
                <a:ea typeface="仿宋_GB2312" pitchFamily="49" charset="-122"/>
              </a:rPr>
              <a:t>	</a:t>
            </a:r>
            <a:r>
              <a:rPr lang="en-US" altLang="zh-CN" dirty="0">
                <a:latin typeface="仿宋_GB2312" pitchFamily="49" charset="-122"/>
                <a:ea typeface="仿宋_GB2312" pitchFamily="49" charset="-122"/>
              </a:rPr>
              <a:t>1</a:t>
            </a:r>
            <a:r>
              <a:rPr lang="zh-CN" altLang="en-US" dirty="0">
                <a:latin typeface="仿宋_GB2312" pitchFamily="49" charset="-122"/>
                <a:ea typeface="仿宋_GB2312" pitchFamily="49" charset="-122"/>
              </a:rPr>
              <a:t>个</a:t>
            </a:r>
            <a:r>
              <a:rPr lang="en-US" altLang="zh-CN" dirty="0">
                <a:latin typeface="仿宋_GB2312" pitchFamily="49" charset="-122"/>
                <a:ea typeface="仿宋_GB2312" pitchFamily="49" charset="-122"/>
              </a:rPr>
              <a:t>4</a:t>
            </a:r>
            <a:r>
              <a:rPr lang="zh-CN" altLang="en-US" dirty="0">
                <a:latin typeface="仿宋_GB2312" pitchFamily="49" charset="-122"/>
                <a:ea typeface="仿宋_GB2312" pitchFamily="49" charset="-122"/>
              </a:rPr>
              <a:t>克的砝码可以用函数</a:t>
            </a:r>
            <a:r>
              <a:rPr lang="en-US" altLang="zh-CN" dirty="0">
                <a:latin typeface="仿宋_GB2312" pitchFamily="49" charset="-122"/>
                <a:ea typeface="仿宋_GB2312" pitchFamily="49" charset="-122"/>
              </a:rPr>
              <a:t>1+x</a:t>
            </a:r>
            <a:r>
              <a:rPr lang="en-US" altLang="zh-CN" baseline="30000" dirty="0">
                <a:latin typeface="仿宋_GB2312" pitchFamily="49" charset="-122"/>
                <a:ea typeface="仿宋_GB2312" pitchFamily="49" charset="-122"/>
              </a:rPr>
              <a:t>4</a:t>
            </a:r>
            <a:r>
              <a:rPr lang="zh-CN" altLang="en-US" dirty="0">
                <a:latin typeface="仿宋_GB2312" pitchFamily="49" charset="-122"/>
                <a:ea typeface="仿宋_GB2312" pitchFamily="49" charset="-122"/>
              </a:rPr>
              <a:t>表示，</a:t>
            </a:r>
          </a:p>
        </p:txBody>
      </p:sp>
      <p:sp>
        <p:nvSpPr>
          <p:cNvPr id="6" name="TextBox 36">
            <a:extLst>
              <a:ext uri="{FF2B5EF4-FFF2-40B4-BE49-F238E27FC236}">
                <a16:creationId xmlns:a16="http://schemas.microsoft.com/office/drawing/2014/main" id="{521D5963-DC79-40DA-BCE4-4BED7B7D048B}"/>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母函数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标题 242689"/>
          <p:cNvSpPr>
            <a:spLocks noGrp="1"/>
          </p:cNvSpPr>
          <p:nvPr>
            <p:ph type="title"/>
          </p:nvPr>
        </p:nvSpPr>
        <p:spPr>
          <a:xfrm>
            <a:off x="93134" y="1182955"/>
            <a:ext cx="12005732" cy="651653"/>
          </a:xfrm>
          <a:ln/>
        </p:spPr>
        <p:txBody>
          <a:bodyPr anchor="b" anchorCtr="0">
            <a:normAutofit/>
          </a:bodyPr>
          <a:lstStyle/>
          <a:p>
            <a:r>
              <a:rPr lang="zh-CN" altLang="en-US" sz="3200" b="1" dirty="0">
                <a:ea typeface="仿宋_GB2312" pitchFamily="49" charset="-122"/>
              </a:rPr>
              <a:t>几种砝码的组合可以称重的情况，可以用以上几个函数的乘积表示：</a:t>
            </a:r>
          </a:p>
        </p:txBody>
      </p:sp>
      <p:sp>
        <p:nvSpPr>
          <p:cNvPr id="242692" name="文本占位符 242691"/>
          <p:cNvSpPr>
            <a:spLocks noGrp="1"/>
          </p:cNvSpPr>
          <p:nvPr>
            <p:ph type="body" idx="1"/>
          </p:nvPr>
        </p:nvSpPr>
        <p:spPr>
          <a:xfrm>
            <a:off x="2152121" y="2045510"/>
            <a:ext cx="8232245" cy="1663700"/>
          </a:xfrm>
          <a:ln/>
        </p:spPr>
        <p:txBody>
          <a:bodyPr vert="horz" wrap="square" lIns="182562" tIns="46038" rIns="182562" bIns="46038" rtlCol="0" anchor="t" anchorCtr="0">
            <a:normAutofit/>
          </a:bodyPr>
          <a:lstStyle/>
          <a:p>
            <a:pPr>
              <a:buNone/>
            </a:pPr>
            <a:r>
              <a:rPr lang="en-US" altLang="zh-CN" b="1" dirty="0">
                <a:latin typeface="仿宋_GB2312" pitchFamily="49" charset="-122"/>
                <a:ea typeface="仿宋_GB2312" pitchFamily="49" charset="-122"/>
              </a:rPr>
              <a:t>(1+x)(1+x</a:t>
            </a:r>
            <a:r>
              <a:rPr lang="en-US" altLang="zh-CN" b="1" baseline="30000" dirty="0">
                <a:latin typeface="仿宋_GB2312" pitchFamily="49" charset="-122"/>
                <a:ea typeface="仿宋_GB2312" pitchFamily="49" charset="-122"/>
              </a:rPr>
              <a:t>2</a:t>
            </a:r>
            <a:r>
              <a:rPr lang="en-US" altLang="zh-CN" b="1" dirty="0">
                <a:latin typeface="仿宋_GB2312" pitchFamily="49" charset="-122"/>
                <a:ea typeface="仿宋_GB2312" pitchFamily="49" charset="-122"/>
              </a:rPr>
              <a:t>)(1+x</a:t>
            </a:r>
            <a:r>
              <a:rPr lang="en-US" altLang="zh-CN" b="1" baseline="30000" dirty="0">
                <a:latin typeface="仿宋_GB2312" pitchFamily="49" charset="-122"/>
                <a:ea typeface="仿宋_GB2312" pitchFamily="49" charset="-122"/>
              </a:rPr>
              <a:t>3</a:t>
            </a:r>
            <a:r>
              <a:rPr lang="en-US" altLang="zh-CN" b="1" dirty="0">
                <a:latin typeface="仿宋_GB2312" pitchFamily="49" charset="-122"/>
                <a:ea typeface="仿宋_GB2312" pitchFamily="49" charset="-122"/>
              </a:rPr>
              <a:t>)(1+x</a:t>
            </a:r>
            <a:r>
              <a:rPr lang="en-US" altLang="zh-CN" b="1" baseline="30000" dirty="0">
                <a:latin typeface="仿宋_GB2312" pitchFamily="49" charset="-122"/>
                <a:ea typeface="仿宋_GB2312" pitchFamily="49" charset="-122"/>
              </a:rPr>
              <a:t>4</a:t>
            </a:r>
            <a:r>
              <a:rPr lang="en-US" altLang="zh-CN" b="1" dirty="0">
                <a:latin typeface="仿宋_GB2312" pitchFamily="49" charset="-122"/>
                <a:ea typeface="仿宋_GB2312" pitchFamily="49" charset="-122"/>
              </a:rPr>
              <a:t>)</a:t>
            </a:r>
          </a:p>
          <a:p>
            <a:pPr>
              <a:buNone/>
            </a:pPr>
            <a:r>
              <a:rPr lang="en-US" altLang="zh-CN" b="1" dirty="0">
                <a:latin typeface="仿宋_GB2312" pitchFamily="49" charset="-122"/>
                <a:ea typeface="仿宋_GB2312" pitchFamily="49" charset="-122"/>
              </a:rPr>
              <a:t>=(1+x+x</a:t>
            </a:r>
            <a:r>
              <a:rPr lang="en-US" altLang="zh-CN" b="1" baseline="30000" dirty="0">
                <a:latin typeface="仿宋_GB2312" pitchFamily="49" charset="-122"/>
                <a:ea typeface="仿宋_GB2312" pitchFamily="49" charset="-122"/>
              </a:rPr>
              <a:t>2</a:t>
            </a:r>
            <a:r>
              <a:rPr lang="en-US" altLang="zh-CN" b="1" dirty="0">
                <a:latin typeface="仿宋_GB2312" pitchFamily="49" charset="-122"/>
                <a:ea typeface="仿宋_GB2312" pitchFamily="49" charset="-122"/>
              </a:rPr>
              <a:t>+x</a:t>
            </a:r>
            <a:r>
              <a:rPr lang="en-US" altLang="zh-CN" b="1" baseline="30000" dirty="0">
                <a:latin typeface="仿宋_GB2312" pitchFamily="49" charset="-122"/>
                <a:ea typeface="仿宋_GB2312" pitchFamily="49" charset="-122"/>
              </a:rPr>
              <a:t>3</a:t>
            </a:r>
            <a:r>
              <a:rPr lang="en-US" altLang="zh-CN" b="1" dirty="0">
                <a:latin typeface="仿宋_GB2312" pitchFamily="49" charset="-122"/>
                <a:ea typeface="仿宋_GB2312" pitchFamily="49" charset="-122"/>
              </a:rPr>
              <a:t>)(1+x</a:t>
            </a:r>
            <a:r>
              <a:rPr lang="en-US" altLang="zh-CN" b="1" baseline="30000" dirty="0">
                <a:latin typeface="仿宋_GB2312" pitchFamily="49" charset="-122"/>
                <a:ea typeface="仿宋_GB2312" pitchFamily="49" charset="-122"/>
              </a:rPr>
              <a:t>3</a:t>
            </a:r>
            <a:r>
              <a:rPr lang="en-US" altLang="zh-CN" b="1" dirty="0">
                <a:latin typeface="仿宋_GB2312" pitchFamily="49" charset="-122"/>
                <a:ea typeface="仿宋_GB2312" pitchFamily="49" charset="-122"/>
              </a:rPr>
              <a:t>+x</a:t>
            </a:r>
            <a:r>
              <a:rPr lang="en-US" altLang="zh-CN" b="1" baseline="30000" dirty="0">
                <a:latin typeface="仿宋_GB2312" pitchFamily="49" charset="-122"/>
                <a:ea typeface="仿宋_GB2312" pitchFamily="49" charset="-122"/>
              </a:rPr>
              <a:t>4</a:t>
            </a:r>
            <a:r>
              <a:rPr lang="en-US" altLang="zh-CN" b="1" dirty="0">
                <a:latin typeface="仿宋_GB2312" pitchFamily="49" charset="-122"/>
                <a:ea typeface="仿宋_GB2312" pitchFamily="49" charset="-122"/>
              </a:rPr>
              <a:t>+x</a:t>
            </a:r>
            <a:r>
              <a:rPr lang="en-US" altLang="zh-CN" b="1" baseline="30000" dirty="0">
                <a:latin typeface="仿宋_GB2312" pitchFamily="49" charset="-122"/>
                <a:ea typeface="仿宋_GB2312" pitchFamily="49" charset="-122"/>
              </a:rPr>
              <a:t>7</a:t>
            </a:r>
            <a:r>
              <a:rPr lang="en-US" altLang="zh-CN" b="1" dirty="0">
                <a:latin typeface="仿宋_GB2312" pitchFamily="49" charset="-122"/>
                <a:ea typeface="仿宋_GB2312" pitchFamily="49" charset="-122"/>
              </a:rPr>
              <a:t>)</a:t>
            </a:r>
          </a:p>
          <a:p>
            <a:pPr>
              <a:buNone/>
            </a:pPr>
            <a:r>
              <a:rPr lang="en-US" altLang="zh-CN" b="1" dirty="0">
                <a:latin typeface="仿宋_GB2312" pitchFamily="49" charset="-122"/>
                <a:ea typeface="仿宋_GB2312" pitchFamily="49" charset="-122"/>
              </a:rPr>
              <a:t>=1+x+x</a:t>
            </a:r>
            <a:r>
              <a:rPr lang="en-US" altLang="zh-CN" b="1" baseline="30000" dirty="0">
                <a:latin typeface="仿宋_GB2312" pitchFamily="49" charset="-122"/>
                <a:ea typeface="仿宋_GB2312" pitchFamily="49" charset="-122"/>
              </a:rPr>
              <a:t>2</a:t>
            </a:r>
            <a:r>
              <a:rPr lang="en-US" altLang="zh-CN" b="1" dirty="0">
                <a:latin typeface="仿宋_GB2312" pitchFamily="49" charset="-122"/>
                <a:ea typeface="仿宋_GB2312" pitchFamily="49" charset="-122"/>
              </a:rPr>
              <a:t>+2x</a:t>
            </a:r>
            <a:r>
              <a:rPr lang="en-US" altLang="zh-CN" b="1" baseline="30000" dirty="0">
                <a:latin typeface="仿宋_GB2312" pitchFamily="49" charset="-122"/>
                <a:ea typeface="仿宋_GB2312" pitchFamily="49" charset="-122"/>
              </a:rPr>
              <a:t>3</a:t>
            </a:r>
            <a:r>
              <a:rPr lang="en-US" altLang="zh-CN" b="1" dirty="0">
                <a:latin typeface="仿宋_GB2312" pitchFamily="49" charset="-122"/>
                <a:ea typeface="仿宋_GB2312" pitchFamily="49" charset="-122"/>
              </a:rPr>
              <a:t>+2x</a:t>
            </a:r>
            <a:r>
              <a:rPr lang="en-US" altLang="zh-CN" b="1" baseline="30000" dirty="0">
                <a:latin typeface="仿宋_GB2312" pitchFamily="49" charset="-122"/>
                <a:ea typeface="仿宋_GB2312" pitchFamily="49" charset="-122"/>
              </a:rPr>
              <a:t>4</a:t>
            </a:r>
            <a:r>
              <a:rPr lang="en-US" altLang="zh-CN" b="1" dirty="0">
                <a:latin typeface="仿宋_GB2312" pitchFamily="49" charset="-122"/>
                <a:ea typeface="仿宋_GB2312" pitchFamily="49" charset="-122"/>
              </a:rPr>
              <a:t>+2x</a:t>
            </a:r>
            <a:r>
              <a:rPr lang="en-US" altLang="zh-CN" b="1" baseline="30000" dirty="0">
                <a:latin typeface="仿宋_GB2312" pitchFamily="49" charset="-122"/>
                <a:ea typeface="仿宋_GB2312" pitchFamily="49" charset="-122"/>
              </a:rPr>
              <a:t>5</a:t>
            </a:r>
            <a:r>
              <a:rPr lang="en-US" altLang="zh-CN" b="1" dirty="0">
                <a:latin typeface="仿宋_GB2312" pitchFamily="49" charset="-122"/>
                <a:ea typeface="仿宋_GB2312" pitchFamily="49" charset="-122"/>
              </a:rPr>
              <a:t>+2x</a:t>
            </a:r>
            <a:r>
              <a:rPr lang="en-US" altLang="zh-CN" b="1" baseline="30000" dirty="0">
                <a:latin typeface="仿宋_GB2312" pitchFamily="49" charset="-122"/>
                <a:ea typeface="仿宋_GB2312" pitchFamily="49" charset="-122"/>
              </a:rPr>
              <a:t>6</a:t>
            </a:r>
            <a:r>
              <a:rPr lang="en-US" altLang="zh-CN" b="1" dirty="0">
                <a:latin typeface="仿宋_GB2312" pitchFamily="49" charset="-122"/>
                <a:ea typeface="仿宋_GB2312" pitchFamily="49" charset="-122"/>
              </a:rPr>
              <a:t>+2x</a:t>
            </a:r>
            <a:r>
              <a:rPr lang="en-US" altLang="zh-CN" b="1" baseline="30000" dirty="0">
                <a:latin typeface="仿宋_GB2312" pitchFamily="49" charset="-122"/>
                <a:ea typeface="仿宋_GB2312" pitchFamily="49" charset="-122"/>
              </a:rPr>
              <a:t>7</a:t>
            </a:r>
            <a:r>
              <a:rPr lang="en-US" altLang="zh-CN" b="1" dirty="0">
                <a:latin typeface="仿宋_GB2312" pitchFamily="49" charset="-122"/>
                <a:ea typeface="仿宋_GB2312" pitchFamily="49" charset="-122"/>
              </a:rPr>
              <a:t>+x</a:t>
            </a:r>
            <a:r>
              <a:rPr lang="en-US" altLang="zh-CN" b="1" baseline="30000" dirty="0">
                <a:latin typeface="仿宋_GB2312" pitchFamily="49" charset="-122"/>
                <a:ea typeface="仿宋_GB2312" pitchFamily="49" charset="-122"/>
              </a:rPr>
              <a:t>8</a:t>
            </a:r>
            <a:r>
              <a:rPr lang="en-US" altLang="zh-CN" b="1" dirty="0">
                <a:latin typeface="仿宋_GB2312" pitchFamily="49" charset="-122"/>
                <a:ea typeface="仿宋_GB2312" pitchFamily="49" charset="-122"/>
              </a:rPr>
              <a:t>+x</a:t>
            </a:r>
            <a:r>
              <a:rPr lang="en-US" altLang="zh-CN" b="1" baseline="30000" dirty="0">
                <a:latin typeface="仿宋_GB2312" pitchFamily="49" charset="-122"/>
                <a:ea typeface="仿宋_GB2312" pitchFamily="49" charset="-122"/>
              </a:rPr>
              <a:t>9</a:t>
            </a:r>
            <a:r>
              <a:rPr lang="en-US" altLang="zh-CN" b="1" dirty="0">
                <a:latin typeface="仿宋_GB2312" pitchFamily="49" charset="-122"/>
                <a:ea typeface="仿宋_GB2312" pitchFamily="49" charset="-122"/>
              </a:rPr>
              <a:t>+x</a:t>
            </a:r>
            <a:r>
              <a:rPr lang="en-US" altLang="zh-CN" b="1" baseline="30000" dirty="0">
                <a:latin typeface="仿宋_GB2312" pitchFamily="49" charset="-122"/>
                <a:ea typeface="仿宋_GB2312" pitchFamily="49" charset="-122"/>
              </a:rPr>
              <a:t>10</a:t>
            </a:r>
            <a:r>
              <a:rPr lang="en-US" altLang="zh-CN" sz="2400" b="1" dirty="0">
                <a:latin typeface="仿宋_GB2312" pitchFamily="49" charset="-122"/>
                <a:ea typeface="仿宋_GB2312" pitchFamily="49" charset="-122"/>
              </a:rPr>
              <a:t>  </a:t>
            </a:r>
          </a:p>
        </p:txBody>
      </p:sp>
      <p:sp>
        <p:nvSpPr>
          <p:cNvPr id="242693" name="矩形 242692"/>
          <p:cNvSpPr/>
          <p:nvPr/>
        </p:nvSpPr>
        <p:spPr>
          <a:xfrm>
            <a:off x="1346200" y="3864518"/>
            <a:ext cx="9844088" cy="2087563"/>
          </a:xfrm>
          <a:prstGeom prst="rect">
            <a:avLst/>
          </a:prstGeom>
          <a:noFill/>
          <a:ln w="9525">
            <a:noFill/>
          </a:ln>
        </p:spPr>
        <p:txBody>
          <a:bodyPr lIns="182562" tIns="46038" rIns="182562"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marL="342900" marR="0" lvl="0" indent="-342900" algn="l" defTabSz="914400" rtl="0" eaLnBrk="1" fontAlgn="base" latinLnBrk="0" hangingPunct="1">
              <a:lnSpc>
                <a:spcPct val="100000"/>
              </a:lnSpc>
              <a:spcBef>
                <a:spcPct val="20000"/>
              </a:spcBef>
              <a:spcAft>
                <a:spcPct val="0"/>
              </a:spcAft>
              <a:buClr>
                <a:srgbClr val="7E1FAD"/>
              </a:buClr>
              <a:buSzPct val="6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	</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从上面的函数知道：</a:t>
            </a:r>
            <a:r>
              <a:rPr kumimoji="0" lang="zh-CN" altLang="en-US" sz="2400" b="1" i="0" u="none" strike="noStrike" kern="1200" cap="none" spc="0" normalizeH="0" baseline="0" noProof="0" dirty="0">
                <a:ln>
                  <a:noFill/>
                </a:ln>
                <a:solidFill>
                  <a:srgbClr val="0026E5"/>
                </a:solidFill>
                <a:effectLst/>
                <a:uLnTx/>
                <a:uFillTx/>
                <a:latin typeface="仿宋_GB2312" pitchFamily="49" charset="-122"/>
                <a:ea typeface="仿宋_GB2312" pitchFamily="49" charset="-122"/>
                <a:cs typeface="+mn-cs"/>
              </a:rPr>
              <a:t>可称出从</a:t>
            </a:r>
            <a:r>
              <a:rPr kumimoji="0" lang="en-US" altLang="zh-CN" sz="2400" b="1" i="0" u="none" strike="noStrike" kern="1200" cap="none" spc="0" normalizeH="0" baseline="0" noProof="0" dirty="0">
                <a:ln>
                  <a:noFill/>
                </a:ln>
                <a:solidFill>
                  <a:srgbClr val="0026E5"/>
                </a:solidFill>
                <a:effectLst/>
                <a:uLnTx/>
                <a:uFillTx/>
                <a:latin typeface="仿宋_GB2312" pitchFamily="49" charset="-122"/>
                <a:ea typeface="仿宋_GB2312" pitchFamily="49" charset="-122"/>
                <a:cs typeface="+mn-cs"/>
              </a:rPr>
              <a:t>1</a:t>
            </a:r>
            <a:r>
              <a:rPr kumimoji="0" lang="zh-CN" altLang="en-US" sz="2400" b="1" i="0" u="none" strike="noStrike" kern="1200" cap="none" spc="0" normalizeH="0" baseline="0" noProof="0" dirty="0">
                <a:ln>
                  <a:noFill/>
                </a:ln>
                <a:solidFill>
                  <a:srgbClr val="0026E5"/>
                </a:solidFill>
                <a:effectLst/>
                <a:uLnTx/>
                <a:uFillTx/>
                <a:latin typeface="仿宋_GB2312" pitchFamily="49" charset="-122"/>
                <a:ea typeface="仿宋_GB2312" pitchFamily="49" charset="-122"/>
                <a:cs typeface="+mn-cs"/>
              </a:rPr>
              <a:t>克到</a:t>
            </a:r>
            <a:r>
              <a:rPr kumimoji="0" lang="en-US" altLang="zh-CN" sz="2400" b="1" i="0" u="none" strike="noStrike" kern="1200" cap="none" spc="0" normalizeH="0" baseline="0" noProof="0" dirty="0">
                <a:ln>
                  <a:noFill/>
                </a:ln>
                <a:solidFill>
                  <a:srgbClr val="0026E5"/>
                </a:solidFill>
                <a:effectLst/>
                <a:uLnTx/>
                <a:uFillTx/>
                <a:latin typeface="仿宋_GB2312" pitchFamily="49" charset="-122"/>
                <a:ea typeface="仿宋_GB2312" pitchFamily="49" charset="-122"/>
                <a:cs typeface="+mn-cs"/>
              </a:rPr>
              <a:t>10</a:t>
            </a:r>
            <a:r>
              <a:rPr kumimoji="0" lang="zh-CN" altLang="en-US" sz="2400" b="1" i="0" u="none" strike="noStrike" kern="1200" cap="none" spc="0" normalizeH="0" baseline="0" noProof="0" dirty="0">
                <a:ln>
                  <a:noFill/>
                </a:ln>
                <a:solidFill>
                  <a:srgbClr val="0026E5"/>
                </a:solidFill>
                <a:effectLst/>
                <a:uLnTx/>
                <a:uFillTx/>
                <a:latin typeface="仿宋_GB2312" pitchFamily="49" charset="-122"/>
                <a:ea typeface="仿宋_GB2312" pitchFamily="49" charset="-122"/>
                <a:cs typeface="+mn-cs"/>
              </a:rPr>
              <a:t>克，系数便是方案数。</a:t>
            </a:r>
          </a:p>
          <a:p>
            <a:pPr marL="342900" marR="0" lvl="0" indent="-342900" algn="l" defTabSz="914400" rtl="0" eaLnBrk="1" fontAlgn="base" latinLnBrk="0" hangingPunct="1">
              <a:lnSpc>
                <a:spcPct val="100000"/>
              </a:lnSpc>
              <a:spcBef>
                <a:spcPct val="20000"/>
              </a:spcBef>
              <a:spcAft>
                <a:spcPct val="0"/>
              </a:spcAft>
              <a:buClr>
                <a:srgbClr val="7E1FAD"/>
              </a:buClr>
              <a:buSzPct val="60000"/>
              <a:buFont typeface="Wingdings" panose="05000000000000000000"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	例如右端有</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2x</a:t>
            </a:r>
            <a:r>
              <a:rPr kumimoji="0" lang="en-US" altLang="zh-CN" sz="2800" b="1" i="0" u="none" strike="noStrike" kern="1200" cap="none" spc="0" normalizeH="0" baseline="30000" noProof="0" dirty="0">
                <a:ln>
                  <a:noFill/>
                </a:ln>
                <a:solidFill>
                  <a:prstClr val="black"/>
                </a:solidFill>
                <a:effectLst/>
                <a:uLnTx/>
                <a:uFillTx/>
                <a:latin typeface="仿宋_GB2312" pitchFamily="49" charset="-122"/>
                <a:ea typeface="仿宋_GB2312" pitchFamily="49" charset="-122"/>
                <a:cs typeface="+mn-cs"/>
              </a:rPr>
              <a:t>5</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 </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项，即称出</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5</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克的方案有</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2</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5=3+2=4+1</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；同样，</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6=1+2+3=4+2</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10=1+2+3+4</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p>
          <a:p>
            <a:pPr marL="342900" marR="0" lvl="0" indent="-342900" algn="l" defTabSz="914400" rtl="0" eaLnBrk="1" fontAlgn="base" latinLnBrk="0" hangingPunct="1">
              <a:lnSpc>
                <a:spcPct val="100000"/>
              </a:lnSpc>
              <a:spcBef>
                <a:spcPct val="20000"/>
              </a:spcBef>
              <a:spcAft>
                <a:spcPct val="0"/>
              </a:spcAft>
              <a:buClr>
                <a:srgbClr val="7E1FAD"/>
              </a:buClr>
              <a:buSzPct val="60000"/>
              <a:buFont typeface="Wingdings" panose="05000000000000000000"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	故称出</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6</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克的方案有</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2</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，称出</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10</a:t>
            </a:r>
            <a:r>
              <a:rPr kumimoji="0" lang="zh-CN" altLang="en-US"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克的方案有</a:t>
            </a:r>
            <a:r>
              <a:rPr kumimoji="0" lang="en-US" altLang="zh-CN" sz="24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1  </a:t>
            </a:r>
          </a:p>
        </p:txBody>
      </p:sp>
      <p:sp>
        <p:nvSpPr>
          <p:cNvPr id="7" name="TextBox 36">
            <a:extLst>
              <a:ext uri="{FF2B5EF4-FFF2-40B4-BE49-F238E27FC236}">
                <a16:creationId xmlns:a16="http://schemas.microsoft.com/office/drawing/2014/main" id="{B5186E08-75BC-4CF3-A552-C85FB4EDF306}"/>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母函数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2693"/>
                                        </p:tgtEl>
                                        <p:attrNameLst>
                                          <p:attrName>style.visibility</p:attrName>
                                        </p:attrNameLst>
                                      </p:cBhvr>
                                      <p:to>
                                        <p:strVal val="visible"/>
                                      </p:to>
                                    </p:set>
                                    <p:animEffect transition="in" filter="blinds(horizontal)">
                                      <p:cBhvr>
                                        <p:cTn id="7" dur="500"/>
                                        <p:tgtEl>
                                          <p:spTgt spid="242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标题 243713"/>
          <p:cNvSpPr>
            <a:spLocks noGrp="1"/>
          </p:cNvSpPr>
          <p:nvPr>
            <p:ph type="title"/>
          </p:nvPr>
        </p:nvSpPr>
        <p:spPr>
          <a:xfrm>
            <a:off x="838200" y="1043490"/>
            <a:ext cx="10515600" cy="624684"/>
          </a:xfrm>
          <a:ln/>
        </p:spPr>
        <p:txBody>
          <a:bodyPr anchor="b" anchorCtr="0"/>
          <a:lstStyle/>
          <a:p>
            <a:r>
              <a:rPr lang="zh-CN" altLang="en-US" sz="3200" b="1" dirty="0">
                <a:ea typeface="仿宋_GB2312" pitchFamily="49" charset="-122"/>
              </a:rPr>
              <a:t>例</a:t>
            </a:r>
            <a:r>
              <a:rPr lang="en-US" altLang="zh-CN" sz="3200" b="1" dirty="0">
                <a:latin typeface="Gungsuh" pitchFamily="18" charset="-127"/>
                <a:ea typeface="Gungsuh" pitchFamily="18" charset="-127"/>
              </a:rPr>
              <a:t>2</a:t>
            </a:r>
            <a:r>
              <a:rPr lang="zh-CN" altLang="en-US" sz="3200" b="1" dirty="0">
                <a:latin typeface="Gungsuh" pitchFamily="18" charset="-127"/>
                <a:ea typeface="Gungsuh" pitchFamily="18" charset="-127"/>
              </a:rPr>
              <a:t>：</a:t>
            </a:r>
            <a:r>
              <a:rPr lang="zh-CN" altLang="en-US" sz="3200" b="1" dirty="0">
                <a:ea typeface="仿宋_GB2312" pitchFamily="49" charset="-122"/>
              </a:rPr>
              <a:t>求用</a:t>
            </a:r>
            <a:r>
              <a:rPr lang="en-US" altLang="zh-CN" sz="3200" b="1" dirty="0">
                <a:latin typeface="Gungsuh" pitchFamily="18" charset="-127"/>
                <a:ea typeface="Gungsuh" pitchFamily="18" charset="-127"/>
              </a:rPr>
              <a:t>1</a:t>
            </a:r>
            <a:r>
              <a:rPr lang="zh-CN" altLang="en-US" sz="3200" b="1" dirty="0">
                <a:ea typeface="仿宋_GB2312" pitchFamily="49" charset="-122"/>
              </a:rPr>
              <a:t>分、</a:t>
            </a:r>
            <a:r>
              <a:rPr lang="en-US" altLang="zh-CN" sz="3200" b="1" dirty="0">
                <a:latin typeface="Gungsuh" pitchFamily="18" charset="-127"/>
                <a:ea typeface="Gungsuh" pitchFamily="18" charset="-127"/>
              </a:rPr>
              <a:t>2</a:t>
            </a:r>
            <a:r>
              <a:rPr lang="zh-CN" altLang="en-US" sz="3200" b="1" dirty="0">
                <a:ea typeface="仿宋_GB2312" pitchFamily="49" charset="-122"/>
              </a:rPr>
              <a:t>分、</a:t>
            </a:r>
            <a:r>
              <a:rPr lang="en-US" altLang="zh-CN" sz="3200" b="1" dirty="0">
                <a:latin typeface="Gungsuh" pitchFamily="18" charset="-127"/>
                <a:ea typeface="Gungsuh" pitchFamily="18" charset="-127"/>
              </a:rPr>
              <a:t>3</a:t>
            </a:r>
            <a:r>
              <a:rPr lang="zh-CN" altLang="en-US" sz="3200" b="1" dirty="0">
                <a:ea typeface="仿宋_GB2312" pitchFamily="49" charset="-122"/>
              </a:rPr>
              <a:t>分的邮票贴出不同数值的方案数</a:t>
            </a:r>
            <a:endParaRPr lang="en-US" altLang="zh-CN" sz="4000" dirty="0"/>
          </a:p>
        </p:txBody>
      </p:sp>
      <p:sp>
        <p:nvSpPr>
          <p:cNvPr id="243715" name="文本占位符 243714"/>
          <p:cNvSpPr>
            <a:spLocks noGrp="1"/>
          </p:cNvSpPr>
          <p:nvPr>
            <p:ph type="body" idx="1"/>
          </p:nvPr>
        </p:nvSpPr>
        <p:spPr>
          <a:xfrm>
            <a:off x="2706688" y="2017714"/>
            <a:ext cx="7772400" cy="511175"/>
          </a:xfrm>
          <a:ln/>
        </p:spPr>
        <p:txBody>
          <a:bodyPr/>
          <a:lstStyle/>
          <a:p>
            <a:pPr>
              <a:lnSpc>
                <a:spcPct val="80000"/>
              </a:lnSpc>
            </a:pPr>
            <a:r>
              <a:rPr lang="zh-CN" altLang="en-US" b="1" dirty="0">
                <a:latin typeface="仿宋_GB2312" pitchFamily="49" charset="-122"/>
                <a:ea typeface="仿宋_GB2312" pitchFamily="49" charset="-122"/>
              </a:rPr>
              <a:t>因邮票允许重复，故母函数为：</a:t>
            </a:r>
          </a:p>
        </p:txBody>
      </p:sp>
      <p:pic>
        <p:nvPicPr>
          <p:cNvPr id="243719" name="图片 243718" descr="image006"/>
          <p:cNvPicPr>
            <a:picLocks noChangeAspect="1"/>
          </p:cNvPicPr>
          <p:nvPr/>
        </p:nvPicPr>
        <p:blipFill>
          <a:blip r:embed="rId2"/>
          <a:stretch>
            <a:fillRect/>
          </a:stretch>
        </p:blipFill>
        <p:spPr>
          <a:xfrm>
            <a:off x="3287713" y="2600326"/>
            <a:ext cx="6335712" cy="1241425"/>
          </a:xfrm>
          <a:prstGeom prst="rect">
            <a:avLst/>
          </a:prstGeom>
          <a:noFill/>
          <a:ln w="9525">
            <a:noFill/>
          </a:ln>
        </p:spPr>
      </p:pic>
      <p:sp>
        <p:nvSpPr>
          <p:cNvPr id="243720" name="矩形 243719"/>
          <p:cNvSpPr/>
          <p:nvPr/>
        </p:nvSpPr>
        <p:spPr>
          <a:xfrm>
            <a:off x="1066800" y="4005264"/>
            <a:ext cx="9956800" cy="136842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marL="342900" marR="0" lvl="0" indent="-342900" algn="l" defTabSz="914400" rtl="0" eaLnBrk="1" fontAlgn="base" latinLnBrk="0" hangingPunct="1">
              <a:lnSpc>
                <a:spcPct val="150000"/>
              </a:lnSpc>
              <a:spcBef>
                <a:spcPct val="20000"/>
              </a:spcBef>
              <a:spcAft>
                <a:spcPct val="0"/>
              </a:spcAft>
              <a:buClr>
                <a:srgbClr val="7E1FAD"/>
              </a:buClr>
              <a:buSzPct val="60000"/>
              <a:buFont typeface="Wingdings" panose="05000000000000000000" pitchFamily="2" charset="2"/>
              <a:buChar char="n"/>
              <a:tabLst/>
              <a:defRPr/>
            </a:pP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以展开后的</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x</a:t>
            </a:r>
            <a:r>
              <a:rPr kumimoji="0" lang="en-US" altLang="zh-CN" sz="3200" b="1" i="0" u="none" strike="noStrike" kern="1200" cap="none" spc="0" normalizeH="0" baseline="30000" noProof="0" dirty="0">
                <a:ln>
                  <a:noFill/>
                </a:ln>
                <a:solidFill>
                  <a:prstClr val="black"/>
                </a:solidFill>
                <a:effectLst/>
                <a:uLnTx/>
                <a:uFillTx/>
                <a:latin typeface="仿宋_GB2312" pitchFamily="49" charset="-122"/>
                <a:ea typeface="仿宋_GB2312" pitchFamily="49" charset="-122"/>
                <a:cs typeface="+mn-cs"/>
              </a:rPr>
              <a:t>4</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为例，其系数为</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4</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，即</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4</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拆分成</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1</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2</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3</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之和的拆分数为</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4</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p>
          <a:p>
            <a:pPr marL="342900" marR="0" lvl="0" indent="-342900" algn="l" defTabSz="914400" rtl="0" eaLnBrk="1" fontAlgn="base" latinLnBrk="0" hangingPunct="1">
              <a:lnSpc>
                <a:spcPct val="150000"/>
              </a:lnSpc>
              <a:spcBef>
                <a:spcPct val="20000"/>
              </a:spcBef>
              <a:spcAft>
                <a:spcPct val="0"/>
              </a:spcAft>
              <a:buClr>
                <a:srgbClr val="7E1FAD"/>
              </a:buClr>
              <a:buSzPct val="60000"/>
              <a:buFont typeface="Wingdings" panose="05000000000000000000" pitchFamily="2" charset="2"/>
              <a:buChar char="n"/>
              <a:tabLst/>
              <a:defRPr/>
            </a:pP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即</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 </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4=1+1+1+1=1+1+2=1+3=2+2</a:t>
            </a:r>
          </a:p>
        </p:txBody>
      </p:sp>
      <p:sp>
        <p:nvSpPr>
          <p:cNvPr id="8" name="TextBox 36">
            <a:extLst>
              <a:ext uri="{FF2B5EF4-FFF2-40B4-BE49-F238E27FC236}">
                <a16:creationId xmlns:a16="http://schemas.microsoft.com/office/drawing/2014/main" id="{ED5A1DFA-7742-4728-8A3D-DC8914B51328}"/>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母函数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Effect transition="in" filter="blinds(horizontal)">
                                      <p:cBhvr>
                                        <p:cTn id="7" dur="500"/>
                                        <p:tgtEl>
                                          <p:spTgt spid="243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3719"/>
                                        </p:tgtEl>
                                        <p:attrNameLst>
                                          <p:attrName>style.visibility</p:attrName>
                                        </p:attrNameLst>
                                      </p:cBhvr>
                                      <p:to>
                                        <p:strVal val="visible"/>
                                      </p:to>
                                    </p:set>
                                    <p:animEffect transition="in" filter="blinds(horizontal)">
                                      <p:cBhvr>
                                        <p:cTn id="12" dur="500"/>
                                        <p:tgtEl>
                                          <p:spTgt spid="2437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3720"/>
                                        </p:tgtEl>
                                        <p:attrNameLst>
                                          <p:attrName>style.visibility</p:attrName>
                                        </p:attrNameLst>
                                      </p:cBhvr>
                                      <p:to>
                                        <p:strVal val="visible"/>
                                      </p:to>
                                    </p:set>
                                    <p:animEffect transition="in" filter="blinds(horizontal)">
                                      <p:cBhvr>
                                        <p:cTn id="17" dur="500"/>
                                        <p:tgtEl>
                                          <p:spTgt spid="243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p:bldP spid="24372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6">
            <a:extLst>
              <a:ext uri="{FF2B5EF4-FFF2-40B4-BE49-F238E27FC236}">
                <a16:creationId xmlns:a16="http://schemas.microsoft.com/office/drawing/2014/main" id="{A7C35BF9-C9AB-4304-8C62-BD74B613A589}"/>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母函数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7" name="文本占位符 244738">
            <a:extLst>
              <a:ext uri="{FF2B5EF4-FFF2-40B4-BE49-F238E27FC236}">
                <a16:creationId xmlns:a16="http://schemas.microsoft.com/office/drawing/2014/main" id="{1307842D-AF03-4CF4-916C-7DC4A16A8C0D}"/>
              </a:ext>
            </a:extLst>
          </p:cNvPr>
          <p:cNvSpPr txBox="1">
            <a:spLocks/>
          </p:cNvSpPr>
          <p:nvPr/>
        </p:nvSpPr>
        <p:spPr>
          <a:xfrm>
            <a:off x="601739" y="1348595"/>
            <a:ext cx="11150600" cy="852486"/>
          </a:xfrm>
          <a:prstGeom prst="rect">
            <a:avLst/>
          </a:prstGeom>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 例</a:t>
            </a:r>
            <a:r>
              <a:rPr kumimoji="0" lang="en-US" altLang="zh-CN"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3</a:t>
            </a:r>
            <a:r>
              <a:rPr kumimoji="0" lang="zh-CN" altLang="en-US"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：若有</a:t>
            </a:r>
            <a:r>
              <a:rPr kumimoji="0" lang="en-US" altLang="zh-CN"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1</a:t>
            </a:r>
            <a:r>
              <a:rPr kumimoji="0" lang="zh-CN" altLang="en-US"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克砝码</a:t>
            </a:r>
            <a:r>
              <a:rPr kumimoji="0" lang="en-US" altLang="zh-CN"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3</a:t>
            </a:r>
            <a:r>
              <a:rPr kumimoji="0" lang="zh-CN" altLang="en-US"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枚、</a:t>
            </a:r>
            <a:r>
              <a:rPr kumimoji="0" lang="en-US" altLang="zh-CN"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2</a:t>
            </a:r>
            <a:r>
              <a:rPr kumimoji="0" lang="zh-CN" altLang="en-US"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克砝码</a:t>
            </a:r>
            <a:r>
              <a:rPr kumimoji="0" lang="en-US" altLang="zh-CN"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4</a:t>
            </a:r>
            <a:r>
              <a:rPr kumimoji="0" lang="zh-CN" altLang="en-US"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枚、</a:t>
            </a:r>
            <a:r>
              <a:rPr kumimoji="0" lang="en-US" altLang="zh-CN"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4</a:t>
            </a:r>
            <a:r>
              <a:rPr kumimoji="0" lang="zh-CN" altLang="en-US"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克砝码</a:t>
            </a:r>
            <a:r>
              <a:rPr kumimoji="0" lang="en-US" altLang="zh-CN"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2</a:t>
            </a:r>
            <a:r>
              <a:rPr kumimoji="0" lang="zh-CN" altLang="en-US" sz="28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枚，问能称出哪几种重量？各有几种方案？</a:t>
            </a:r>
            <a:r>
              <a:rPr kumimoji="0" lang="zh-CN" altLang="en-US" sz="2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a:t>
            </a:r>
          </a:p>
        </p:txBody>
      </p:sp>
      <p:sp>
        <p:nvSpPr>
          <p:cNvPr id="8" name="矩形 7">
            <a:extLst>
              <a:ext uri="{FF2B5EF4-FFF2-40B4-BE49-F238E27FC236}">
                <a16:creationId xmlns:a16="http://schemas.microsoft.com/office/drawing/2014/main" id="{4D17EE84-71A3-471A-A299-8330B2B103C5}"/>
              </a:ext>
            </a:extLst>
          </p:cNvPr>
          <p:cNvSpPr/>
          <p:nvPr/>
        </p:nvSpPr>
        <p:spPr>
          <a:xfrm>
            <a:off x="707572" y="3242385"/>
            <a:ext cx="10938933" cy="651654"/>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marL="342900" marR="0" lvl="0" indent="-342900" algn="l" defTabSz="914400" rtl="0" eaLnBrk="1" fontAlgn="base" latinLnBrk="0" hangingPunct="1">
              <a:lnSpc>
                <a:spcPct val="100000"/>
              </a:lnSpc>
              <a:spcBef>
                <a:spcPct val="20000"/>
              </a:spcBef>
              <a:spcAft>
                <a:spcPct val="0"/>
              </a:spcAft>
              <a:buClr>
                <a:srgbClr val="7E1FAD"/>
              </a:buClr>
              <a:buSzPct val="60000"/>
              <a:buFont typeface="Wingdings" panose="05000000000000000000" pitchFamily="2" charset="2"/>
              <a:buChar char="n"/>
              <a:tabLst/>
              <a:defRPr/>
            </a:pP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例</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4: </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整数</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N</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拆分成</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1</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2</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3</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仿宋_GB2312" pitchFamily="49" charset="-122"/>
                <a:cs typeface="+mn-cs"/>
              </a:rPr>
              <a:t>…</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N</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的和，有多少种拆法。</a:t>
            </a:r>
          </a:p>
        </p:txBody>
      </p:sp>
      <p:sp>
        <p:nvSpPr>
          <p:cNvPr id="9" name="矩形 8">
            <a:extLst>
              <a:ext uri="{FF2B5EF4-FFF2-40B4-BE49-F238E27FC236}">
                <a16:creationId xmlns:a16="http://schemas.microsoft.com/office/drawing/2014/main" id="{498C9271-B4A0-459C-8E47-AE854052F5A7}"/>
              </a:ext>
            </a:extLst>
          </p:cNvPr>
          <p:cNvSpPr/>
          <p:nvPr/>
        </p:nvSpPr>
        <p:spPr>
          <a:xfrm>
            <a:off x="707571" y="5265265"/>
            <a:ext cx="10938933" cy="760941"/>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marL="342900" marR="0" lvl="0" indent="-342900" algn="l" defTabSz="914400" rtl="0" eaLnBrk="1" fontAlgn="base" latinLnBrk="0" hangingPunct="1">
              <a:lnSpc>
                <a:spcPct val="100000"/>
              </a:lnSpc>
              <a:spcBef>
                <a:spcPct val="20000"/>
              </a:spcBef>
              <a:spcAft>
                <a:spcPct val="0"/>
              </a:spcAft>
              <a:buClr>
                <a:srgbClr val="7E1FAD"/>
              </a:buClr>
              <a:buSzPct val="60000"/>
              <a:buFont typeface="Wingdings" panose="05000000000000000000" pitchFamily="2" charset="2"/>
              <a:buChar char="n"/>
              <a:tabLst/>
              <a:defRPr/>
            </a:pP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例</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5</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：如若上例中</a:t>
            </a:r>
            <a:r>
              <a:rPr kumimoji="0" lang="en-US" altLang="zh-CN"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m</a:t>
            </a:r>
            <a:r>
              <a:rPr kumimoji="0" lang="zh-CN" altLang="en-US" sz="3200" b="1" i="0" u="none" strike="noStrike" kern="1200" cap="none" spc="0" normalizeH="0" baseline="0" noProof="0" dirty="0">
                <a:ln>
                  <a:noFill/>
                </a:ln>
                <a:solidFill>
                  <a:prstClr val="black"/>
                </a:solidFill>
                <a:effectLst/>
                <a:uLnTx/>
                <a:uFillTx/>
                <a:latin typeface="仿宋_GB2312" pitchFamily="49" charset="-122"/>
                <a:ea typeface="仿宋_GB2312" pitchFamily="49" charset="-122"/>
                <a:cs typeface="+mn-cs"/>
              </a:rPr>
              <a:t>至少出现一次，其母函数又如何？ </a:t>
            </a:r>
          </a:p>
        </p:txBody>
      </p:sp>
      <p:pic>
        <p:nvPicPr>
          <p:cNvPr id="10" name="图片 9">
            <a:extLst>
              <a:ext uri="{FF2B5EF4-FFF2-40B4-BE49-F238E27FC236}">
                <a16:creationId xmlns:a16="http://schemas.microsoft.com/office/drawing/2014/main" id="{04828712-3A14-4AAB-B3F6-0485398A3CAB}"/>
              </a:ext>
            </a:extLst>
          </p:cNvPr>
          <p:cNvPicPr>
            <a:picLocks noChangeAspect="1"/>
          </p:cNvPicPr>
          <p:nvPr/>
        </p:nvPicPr>
        <p:blipFill>
          <a:blip r:embed="rId3"/>
          <a:stretch>
            <a:fillRect/>
          </a:stretch>
        </p:blipFill>
        <p:spPr>
          <a:xfrm>
            <a:off x="334800" y="4215667"/>
            <a:ext cx="11523740" cy="5595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36">
            <a:extLst>
              <a:ext uri="{FF2B5EF4-FFF2-40B4-BE49-F238E27FC236}">
                <a16:creationId xmlns:a16="http://schemas.microsoft.com/office/drawing/2014/main" id="{7820846A-C2E1-4521-A746-3AC40A5F82CA}"/>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母函数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2" name="矩形 11">
            <a:extLst>
              <a:ext uri="{FF2B5EF4-FFF2-40B4-BE49-F238E27FC236}">
                <a16:creationId xmlns:a16="http://schemas.microsoft.com/office/drawing/2014/main" id="{8291522D-01A8-41F9-8429-D69621D6D1CA}"/>
              </a:ext>
            </a:extLst>
          </p:cNvPr>
          <p:cNvSpPr/>
          <p:nvPr/>
        </p:nvSpPr>
        <p:spPr>
          <a:xfrm>
            <a:off x="334800" y="1660281"/>
            <a:ext cx="2683932" cy="461665"/>
          </a:xfrm>
          <a:prstGeom prst="rect">
            <a:avLst/>
          </a:prstGeom>
          <a:noFill/>
          <a:ln>
            <a:noFill/>
            <a:miter lim="800000"/>
          </a:ln>
          <a:effectLst/>
        </p:spPr>
        <p:txBody>
          <a:bodyPr wrap="square" anchor="t" anchorCtr="0">
            <a:spAutoFit/>
          </a:bodyPr>
          <a:lstStyle>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latin typeface="Times New Roman" panose="02020603050405020304" pitchFamily="18"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多项式相乘实现：</a:t>
            </a:r>
          </a:p>
        </p:txBody>
      </p:sp>
      <p:pic>
        <p:nvPicPr>
          <p:cNvPr id="13" name="图片 12">
            <a:extLst>
              <a:ext uri="{FF2B5EF4-FFF2-40B4-BE49-F238E27FC236}">
                <a16:creationId xmlns:a16="http://schemas.microsoft.com/office/drawing/2014/main" id="{588460A5-3E54-406B-91F8-A95131C73C14}"/>
              </a:ext>
            </a:extLst>
          </p:cNvPr>
          <p:cNvPicPr>
            <a:picLocks noChangeAspect="1"/>
          </p:cNvPicPr>
          <p:nvPr/>
        </p:nvPicPr>
        <p:blipFill>
          <a:blip r:embed="rId2"/>
          <a:stretch>
            <a:fillRect/>
          </a:stretch>
        </p:blipFill>
        <p:spPr>
          <a:xfrm>
            <a:off x="2532592" y="2121946"/>
            <a:ext cx="7753350" cy="4619625"/>
          </a:xfrm>
          <a:prstGeom prst="rect">
            <a:avLst/>
          </a:prstGeom>
        </p:spPr>
      </p:pic>
      <p:pic>
        <p:nvPicPr>
          <p:cNvPr id="7" name="图片 6">
            <a:extLst>
              <a:ext uri="{FF2B5EF4-FFF2-40B4-BE49-F238E27FC236}">
                <a16:creationId xmlns:a16="http://schemas.microsoft.com/office/drawing/2014/main" id="{4D945146-67CD-4081-9612-0B78082AC231}"/>
              </a:ext>
            </a:extLst>
          </p:cNvPr>
          <p:cNvPicPr>
            <a:picLocks noChangeAspect="1"/>
          </p:cNvPicPr>
          <p:nvPr/>
        </p:nvPicPr>
        <p:blipFill>
          <a:blip r:embed="rId3"/>
          <a:stretch>
            <a:fillRect/>
          </a:stretch>
        </p:blipFill>
        <p:spPr>
          <a:xfrm>
            <a:off x="415820" y="1105497"/>
            <a:ext cx="11522439" cy="5547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additive="base">
                                        <p:cTn id="6" dur="1" fill="hold">
                                          <p:stCondLst>
                                            <p:cond delay="0"/>
                                          </p:stCondLst>
                                        </p:cTn>
                                        <p:tgtEl>
                                          <p:spTgt spid="12"/>
                                        </p:tgtEl>
                                        <p:attrNameLst>
                                          <p:attrName>style.visibility</p:attrName>
                                        </p:attrNameLst>
                                      </p:cBhvr>
                                      <p:to>
                                        <p:strVal val="visible"/>
                                      </p:to>
                                    </p:set>
                                    <p:animEffect transition="in" filter="strips(downRight)">
                                      <p:cBhvr additive="base">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46567" y="636022"/>
            <a:ext cx="236853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计算几何</a:t>
            </a:r>
          </a:p>
        </p:txBody>
      </p:sp>
      <p:sp>
        <p:nvSpPr>
          <p:cNvPr id="15" name="内容占位符 2"/>
          <p:cNvSpPr txBox="1"/>
          <p:nvPr/>
        </p:nvSpPr>
        <p:spPr>
          <a:xfrm>
            <a:off x="3346129" y="1343908"/>
            <a:ext cx="739863" cy="1023029"/>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en-US" altLang="zh-CN"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1895302" y="1855422"/>
            <a:ext cx="3807229" cy="2196883"/>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计算几何概述</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点、线表示及位置关系</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多边形、凸包</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a:xfrm>
            <a:off x="7153358" y="1771225"/>
            <a:ext cx="3546262" cy="2196883"/>
          </a:xfrm>
          <a:prstGeom prst="rect">
            <a:avLst/>
          </a:prstGeom>
        </p:spPr>
        <p:txBody>
          <a:bodyPr wrap="square">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圆</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半平面交</a:t>
            </a:r>
            <a:endPar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旋转卡壳</a:t>
            </a:r>
          </a:p>
        </p:txBody>
      </p:sp>
    </p:spTree>
    <p:extLst>
      <p:ext uri="{BB962C8B-B14F-4D97-AF65-F5344CB8AC3E}">
        <p14:creationId xmlns:p14="http://schemas.microsoft.com/office/powerpoint/2010/main" val="8816101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334800" y="972053"/>
            <a:ext cx="10515600" cy="4351337"/>
          </a:xfrm>
        </p:spPr>
        <p:txBody>
          <a:bodyPr>
            <a:noAutofit/>
          </a:bodyPr>
          <a:lstStyle/>
          <a:p>
            <a:pPr marL="800100" lvl="1" indent="-342900" algn="just">
              <a:lnSpc>
                <a:spcPct val="20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对几何外形信息的计算机表示、分析和综合</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计算机科学的一个分支</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研究几何问题解法</a:t>
            </a:r>
            <a:endParaRPr lang="en-US" altLang="zh-CN" b="1" kern="100" dirty="0">
              <a:solidFill>
                <a:srgbClr val="014B88"/>
              </a:solidFill>
              <a:latin typeface="仿宋_GB2312"/>
              <a:cs typeface="Times New Roman" panose="02020603050405020304" pitchFamily="18" charset="0"/>
            </a:endParaRP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计算几何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计算几何的应用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1"/>
          <p:cNvSpPr txBox="1"/>
          <p:nvPr/>
        </p:nvSpPr>
        <p:spPr>
          <a:xfrm>
            <a:off x="334800" y="972053"/>
            <a:ext cx="4255673" cy="43513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CAD</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等计算机辅助设计</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地理信息系统</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人脸识别</a:t>
            </a: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医学图像学</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传统图像处理</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endPar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4" name="内容占位符 1"/>
          <p:cNvSpPr txBox="1"/>
          <p:nvPr/>
        </p:nvSpPr>
        <p:spPr>
          <a:xfrm>
            <a:off x="5548727" y="972052"/>
            <a:ext cx="4255673" cy="43513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城市规划</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卫星遥感</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地图测绘</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地图定位导航</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just" defTabSz="914400" rtl="0" eaLnBrk="1" fontAlgn="auto" latinLnBrk="0" hangingPunct="1">
              <a:lnSpc>
                <a:spcPct val="20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测地线</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568171" y="1154237"/>
            <a:ext cx="10515600" cy="4351337"/>
          </a:xfrm>
        </p:spPr>
        <p:txBody>
          <a:bodyPr>
            <a:noAutofit/>
          </a:bodyPr>
          <a:lstStyle/>
          <a:p>
            <a:pPr marL="342900"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点： </a:t>
            </a:r>
            <a:r>
              <a:rPr lang="en-US" altLang="zh-CN" b="1" kern="100" dirty="0">
                <a:solidFill>
                  <a:srgbClr val="014B88"/>
                </a:solidFill>
                <a:latin typeface="仿宋_GB2312"/>
                <a:cs typeface="Times New Roman" panose="02020603050405020304" pitchFamily="18" charset="0"/>
              </a:rPr>
              <a:t>   Point { double  x , y; }</a:t>
            </a:r>
          </a:p>
          <a:p>
            <a:pPr marL="342900"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线段：</a:t>
            </a:r>
            <a:r>
              <a:rPr lang="en-US" altLang="zh-CN" b="1" kern="100" dirty="0">
                <a:solidFill>
                  <a:srgbClr val="014B88"/>
                </a:solidFill>
                <a:latin typeface="仿宋_GB2312"/>
                <a:cs typeface="Times New Roman" panose="02020603050405020304" pitchFamily="18" charset="0"/>
              </a:rPr>
              <a:t>Seg  { Point a , b; }</a:t>
            </a:r>
          </a:p>
          <a:p>
            <a:pPr marL="342900"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直线：</a:t>
            </a:r>
            <a:r>
              <a:rPr lang="en-US" altLang="zh-CN" b="1" kern="100" dirty="0">
                <a:solidFill>
                  <a:srgbClr val="014B88"/>
                </a:solidFill>
                <a:latin typeface="仿宋_GB2312"/>
                <a:cs typeface="Times New Roman" panose="02020603050405020304" pitchFamily="18" charset="0"/>
              </a:rPr>
              <a:t>Line { double a , b , c; }</a:t>
            </a:r>
          </a:p>
          <a:p>
            <a:pPr marL="342900"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圆 </a:t>
            </a:r>
            <a:r>
              <a:rPr lang="en-US" altLang="zh-CN" b="1" kern="100" dirty="0">
                <a:solidFill>
                  <a:srgbClr val="014B88"/>
                </a:solidFill>
                <a:latin typeface="仿宋_GB2312"/>
                <a:cs typeface="Times New Roman" panose="02020603050405020304" pitchFamily="18" charset="0"/>
              </a:rPr>
              <a:t>:      Circle { Point o; double r; }</a:t>
            </a:r>
          </a:p>
          <a:p>
            <a:pPr marL="342900"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多边形：</a:t>
            </a:r>
            <a:r>
              <a:rPr lang="en-US" altLang="zh-CN" b="1" kern="100" dirty="0">
                <a:solidFill>
                  <a:srgbClr val="014B88"/>
                </a:solidFill>
                <a:latin typeface="仿宋_GB2312"/>
                <a:cs typeface="Times New Roman" panose="02020603050405020304" pitchFamily="18" charset="0"/>
              </a:rPr>
              <a:t>Poly { Point </a:t>
            </a:r>
            <a:r>
              <a:rPr lang="en-US" altLang="zh-CN" b="1" kern="100" dirty="0" err="1">
                <a:solidFill>
                  <a:srgbClr val="014B88"/>
                </a:solidFill>
                <a:latin typeface="仿宋_GB2312"/>
                <a:cs typeface="Times New Roman" panose="02020603050405020304" pitchFamily="18" charset="0"/>
              </a:rPr>
              <a:t>ps</a:t>
            </a:r>
            <a:r>
              <a:rPr lang="en-US" altLang="zh-CN" b="1" kern="100" dirty="0">
                <a:solidFill>
                  <a:srgbClr val="014B88"/>
                </a:solidFill>
                <a:latin typeface="仿宋_GB2312"/>
                <a:cs typeface="Times New Roman" panose="02020603050405020304" pitchFamily="18" charset="0"/>
              </a:rPr>
              <a:t>[];int num ;}</a:t>
            </a:r>
          </a:p>
          <a:p>
            <a:pPr marL="342900"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向量：同 </a:t>
            </a:r>
            <a:r>
              <a:rPr lang="en-US" altLang="zh-CN" b="1" kern="100" dirty="0">
                <a:solidFill>
                  <a:srgbClr val="014B88"/>
                </a:solidFill>
                <a:latin typeface="仿宋_GB2312"/>
                <a:cs typeface="Times New Roman" panose="02020603050405020304" pitchFamily="18" charset="0"/>
              </a:rPr>
              <a:t>Point</a:t>
            </a: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变量的表示</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additive="base">
                                        <p:cTn id="12"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dissolve">
                                      <p:cBhvr>
                                        <p:cTn id="18" dur="500"/>
                                        <p:tgtEl>
                                          <p:spTgt spid="2">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checkerboard(across)">
                                      <p:cBhvr>
                                        <p:cTn id="23" dur="500"/>
                                        <p:tgtEl>
                                          <p:spTgt spid="2">
                                            <p:txEl>
                                              <p:pRg st="3" end="3"/>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checkerboard(across)">
                                      <p:cBhvr>
                                        <p:cTn id="26" dur="500"/>
                                        <p:tgtEl>
                                          <p:spTgt spid="2">
                                            <p:txEl>
                                              <p:pRg st="4" end="4"/>
                                            </p:txEl>
                                          </p:spTgt>
                                        </p:tgtEl>
                                      </p:cBhvr>
                                    </p:animEffect>
                                  </p:childTnLst>
                                </p:cTn>
                              </p:par>
                              <p:par>
                                <p:cTn id="27" presetID="5" presetClass="entr" presetSubtype="10"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Effect transition="in" filter="checkerboard(across)">
                                      <p:cBhvr>
                                        <p:cTn id="29"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604895" y="1978127"/>
            <a:ext cx="10515600" cy="4351337"/>
          </a:xfrm>
        </p:spPr>
        <p:txBody>
          <a:bodyPr>
            <a:normAutofit lnSpcReduction="10000"/>
          </a:bodyPr>
          <a:lstStyle/>
          <a:p>
            <a:pPr marL="342900" indent="-342900" algn="just">
              <a:lnSpc>
                <a:spcPct val="150000"/>
              </a:lnSpc>
              <a:buFont typeface="Wingdings" panose="05000000000000000000" pitchFamily="2" charset="2"/>
              <a:buChar char="l"/>
            </a:pPr>
            <a:endParaRPr lang="en-US" altLang="zh-CN"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pPr>
            <a:endParaRPr lang="en-US" altLang="zh-CN"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pPr>
            <a:endParaRPr lang="en-US" altLang="zh-CN"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pPr>
            <a:endParaRPr lang="en-US" altLang="zh-CN"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pPr>
            <a:endParaRPr lang="en-US" altLang="zh-CN"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向量乘积的应用：求夹角，求面积，判断位置关系</a:t>
            </a:r>
            <a:r>
              <a:rPr lang="en-US" altLang="zh-CN" b="1" kern="100" dirty="0">
                <a:solidFill>
                  <a:srgbClr val="014B88"/>
                </a:solidFill>
                <a:latin typeface="仿宋_GB2312"/>
                <a:cs typeface="Times New Roman" panose="02020603050405020304" pitchFamily="18" charset="0"/>
              </a:rPr>
              <a:t>……</a:t>
            </a:r>
          </a:p>
          <a:p>
            <a:pPr>
              <a:buFont typeface="Wingdings" panose="05000000000000000000" pitchFamily="2" charset="2"/>
              <a:buNone/>
            </a:pPr>
            <a:endParaRPr lang="en-US" altLang="zh-CN" dirty="0"/>
          </a:p>
          <a:p>
            <a:pPr>
              <a:buFont typeface="Wingdings" panose="05000000000000000000" pitchFamily="2" charset="2"/>
              <a:buNone/>
            </a:pPr>
            <a:endParaRPr lang="en-US" altLang="zh-CN"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向量及其运算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5" name="矩形 4"/>
          <p:cNvSpPr/>
          <p:nvPr/>
        </p:nvSpPr>
        <p:spPr>
          <a:xfrm>
            <a:off x="604895" y="1175253"/>
            <a:ext cx="10781414" cy="4284921"/>
          </a:xfrm>
          <a:prstGeom prst="rect">
            <a:avLst/>
          </a:prstGeom>
          <a:solidFill>
            <a:schemeClr val="tx2">
              <a:lumMod val="40000"/>
              <a:lumOff val="6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6" name="内容占位符 9"/>
          <p:cNvSpPr txBox="1"/>
          <p:nvPr/>
        </p:nvSpPr>
        <p:spPr>
          <a:xfrm>
            <a:off x="1205368" y="1852215"/>
            <a:ext cx="1215115" cy="26915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rPr>
              <a:t>向量：</a:t>
            </a:r>
            <a:endParaRPr kumimoji="0" lang="en-US" altLang="zh-CN" sz="2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altLang="zh-CN" sz="2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rPr>
              <a:t>点积：</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altLang="zh-CN" sz="2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rPr>
              <a:t>叉积：</a:t>
            </a:r>
            <a:endParaRPr kumimoji="0" lang="zh-CN" altLang="en-US" sz="2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aphicFrame>
        <p:nvGraphicFramePr>
          <p:cNvPr id="7" name="对象 6"/>
          <p:cNvGraphicFramePr>
            <a:graphicFrameLocks noChangeAspect="1"/>
          </p:cNvGraphicFramePr>
          <p:nvPr/>
        </p:nvGraphicFramePr>
        <p:xfrm>
          <a:off x="2420483" y="1504996"/>
          <a:ext cx="2271713" cy="893762"/>
        </p:xfrm>
        <a:graphic>
          <a:graphicData uri="http://schemas.openxmlformats.org/presentationml/2006/ole">
            <mc:AlternateContent xmlns:mc="http://schemas.openxmlformats.org/markup-compatibility/2006">
              <mc:Choice xmlns:v="urn:schemas-microsoft-com:vml" Requires="v">
                <p:oleObj spid="_x0000_s21548" name="公式" r:id="rId4" imgW="20116800" imgH="7924800" progId="Equation.3">
                  <p:embed/>
                </p:oleObj>
              </mc:Choice>
              <mc:Fallback>
                <p:oleObj name="公式" r:id="rId4" imgW="20116800" imgH="7924800" progId="Equation.3">
                  <p:embed/>
                  <p:pic>
                    <p:nvPicPr>
                      <p:cNvPr id="7" name="对象 6"/>
                      <p:cNvPicPr>
                        <a:picLocks noChangeAspect="1" noChangeArrowheads="1"/>
                      </p:cNvPicPr>
                      <p:nvPr/>
                    </p:nvPicPr>
                    <p:blipFill>
                      <a:blip r:embed="rId5"/>
                      <a:srcRect/>
                      <a:stretch>
                        <a:fillRect/>
                      </a:stretch>
                    </p:blipFill>
                    <p:spPr bwMode="auto">
                      <a:xfrm>
                        <a:off x="2420483" y="1504996"/>
                        <a:ext cx="2271713" cy="893762"/>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5508384" y="1573258"/>
          <a:ext cx="1997075" cy="825500"/>
        </p:xfrm>
        <a:graphic>
          <a:graphicData uri="http://schemas.openxmlformats.org/presentationml/2006/ole">
            <mc:AlternateContent xmlns:mc="http://schemas.openxmlformats.org/markup-compatibility/2006">
              <mc:Choice xmlns:v="urn:schemas-microsoft-com:vml" Requires="v">
                <p:oleObj spid="_x0000_s21549" name="公式" r:id="rId6" imgW="17678400" imgH="7315200" progId="Equation.3">
                  <p:embed/>
                </p:oleObj>
              </mc:Choice>
              <mc:Fallback>
                <p:oleObj name="公式" r:id="rId6" imgW="17678400" imgH="7315200" progId="Equation.3">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08384" y="1573258"/>
                        <a:ext cx="1997075" cy="825500"/>
                      </a:xfrm>
                      <a:prstGeom prst="rect">
                        <a:avLst/>
                      </a:prstGeom>
                      <a:noFill/>
                    </p:spPr>
                  </p:pic>
                </p:oleObj>
              </mc:Fallback>
            </mc:AlternateContent>
          </a:graphicData>
        </a:graphic>
      </p:graphicFrame>
      <p:graphicFrame>
        <p:nvGraphicFramePr>
          <p:cNvPr id="9" name="对象 8"/>
          <p:cNvGraphicFramePr>
            <a:graphicFrameLocks noChangeAspect="1"/>
          </p:cNvGraphicFramePr>
          <p:nvPr/>
        </p:nvGraphicFramePr>
        <p:xfrm>
          <a:off x="8321647" y="1827254"/>
          <a:ext cx="1381135" cy="571504"/>
        </p:xfrm>
        <a:graphic>
          <a:graphicData uri="http://schemas.openxmlformats.org/presentationml/2006/ole">
            <mc:AlternateContent xmlns:mc="http://schemas.openxmlformats.org/markup-compatibility/2006">
              <mc:Choice xmlns:v="urn:schemas-microsoft-com:vml" Requires="v">
                <p:oleObj spid="_x0000_s21550" name="公式" r:id="rId8" imgW="17678400" imgH="7315200" progId="Equation.3">
                  <p:embed/>
                </p:oleObj>
              </mc:Choice>
              <mc:Fallback>
                <p:oleObj name="公式" r:id="rId8" imgW="17678400" imgH="7315200" progId="Equation.3">
                  <p:embed/>
                  <p:pic>
                    <p:nvPicPr>
                      <p:cNvPr id="9" name="对象 8"/>
                      <p:cNvPicPr>
                        <a:picLocks noChangeAspect="1" noChangeArrowheads="1"/>
                      </p:cNvPicPr>
                      <p:nvPr/>
                    </p:nvPicPr>
                    <p:blipFill>
                      <a:blip r:embed="rId9">
                        <a:lum bright="-40000"/>
                        <a:extLst>
                          <a:ext uri="{28A0092B-C50C-407E-A947-70E740481C1C}">
                            <a14:useLocalDpi xmlns:a14="http://schemas.microsoft.com/office/drawing/2010/main" val="0"/>
                          </a:ext>
                        </a:extLst>
                      </a:blip>
                      <a:srcRect/>
                      <a:stretch>
                        <a:fillRect/>
                      </a:stretch>
                    </p:blipFill>
                    <p:spPr bwMode="auto">
                      <a:xfrm>
                        <a:off x="8321647" y="1827254"/>
                        <a:ext cx="1381135" cy="571504"/>
                      </a:xfrm>
                      <a:prstGeom prst="rect">
                        <a:avLst/>
                      </a:prstGeom>
                      <a:noFill/>
                    </p:spPr>
                  </p:pic>
                </p:oleObj>
              </mc:Fallback>
            </mc:AlternateContent>
          </a:graphicData>
        </a:graphic>
      </p:graphicFrame>
      <p:grpSp>
        <p:nvGrpSpPr>
          <p:cNvPr id="10" name="组合 9"/>
          <p:cNvGrpSpPr/>
          <p:nvPr/>
        </p:nvGrpSpPr>
        <p:grpSpPr>
          <a:xfrm>
            <a:off x="2439059" y="2700630"/>
            <a:ext cx="7263723" cy="1843108"/>
            <a:chOff x="2780646" y="2870725"/>
            <a:chExt cx="7263723" cy="1843108"/>
          </a:xfrm>
        </p:grpSpPr>
        <p:graphicFrame>
          <p:nvGraphicFramePr>
            <p:cNvPr id="11" name="对象 10"/>
            <p:cNvGraphicFramePr>
              <a:graphicFrameLocks noChangeAspect="1"/>
            </p:cNvGraphicFramePr>
            <p:nvPr/>
          </p:nvGraphicFramePr>
          <p:xfrm>
            <a:off x="2780646" y="2926288"/>
            <a:ext cx="4524375" cy="673100"/>
          </p:xfrm>
          <a:graphic>
            <a:graphicData uri="http://schemas.openxmlformats.org/presentationml/2006/ole">
              <mc:AlternateContent xmlns:mc="http://schemas.openxmlformats.org/markup-compatibility/2006">
                <mc:Choice xmlns:v="urn:schemas-microsoft-com:vml" Requires="v">
                  <p:oleObj spid="_x0000_s21551" name="公式" r:id="rId10" imgW="28956000" imgH="7315200" progId="Equation.3">
                    <p:embed/>
                  </p:oleObj>
                </mc:Choice>
                <mc:Fallback>
                  <p:oleObj name="公式" r:id="rId10" imgW="28956000" imgH="7315200" progId="Equation.3">
                    <p:embed/>
                    <p:pic>
                      <p:nvPicPr>
                        <p:cNvPr id="11" name="对象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80646" y="2926288"/>
                          <a:ext cx="4524375"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7261481" y="2870725"/>
            <a:ext cx="2782888" cy="728663"/>
          </p:xfrm>
          <a:graphic>
            <a:graphicData uri="http://schemas.openxmlformats.org/presentationml/2006/ole">
              <mc:AlternateContent xmlns:mc="http://schemas.openxmlformats.org/markup-compatibility/2006">
                <mc:Choice xmlns:v="urn:schemas-microsoft-com:vml" Requires="v">
                  <p:oleObj spid="_x0000_s21552" name="公式" r:id="rId12" imgW="24993600" imgH="7315200" progId="Equation.3">
                    <p:embed/>
                  </p:oleObj>
                </mc:Choice>
                <mc:Fallback>
                  <p:oleObj name="公式" r:id="rId12" imgW="24993600" imgH="7315200" progId="Equation.3">
                    <p:embed/>
                    <p:pic>
                      <p:nvPicPr>
                        <p:cNvPr id="12" name="对象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61481" y="2870725"/>
                          <a:ext cx="2782888"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2780646" y="4042320"/>
            <a:ext cx="4667250" cy="671513"/>
          </p:xfrm>
          <a:graphic>
            <a:graphicData uri="http://schemas.openxmlformats.org/presentationml/2006/ole">
              <mc:AlternateContent xmlns:mc="http://schemas.openxmlformats.org/markup-compatibility/2006">
                <mc:Choice xmlns:v="urn:schemas-microsoft-com:vml" Requires="v">
                  <p:oleObj spid="_x0000_s21553" name="公式" r:id="rId14" imgW="29870400" imgH="7315200" progId="Equation.3">
                    <p:embed/>
                  </p:oleObj>
                </mc:Choice>
                <mc:Fallback>
                  <p:oleObj name="公式" r:id="rId14" imgW="29870400" imgH="7315200" progId="Equation.3">
                    <p:embed/>
                    <p:pic>
                      <p:nvPicPr>
                        <p:cNvPr id="13" name="对象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80646" y="4042320"/>
                          <a:ext cx="4667250" cy="67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7261481" y="3985171"/>
            <a:ext cx="2713037" cy="728662"/>
          </p:xfrm>
          <a:graphic>
            <a:graphicData uri="http://schemas.openxmlformats.org/presentationml/2006/ole">
              <mc:AlternateContent xmlns:mc="http://schemas.openxmlformats.org/markup-compatibility/2006">
                <mc:Choice xmlns:v="urn:schemas-microsoft-com:vml" Requires="v">
                  <p:oleObj spid="_x0000_s21554" name="公式" r:id="rId16" imgW="24384000" imgH="7315200" progId="Equation.3">
                    <p:embed/>
                  </p:oleObj>
                </mc:Choice>
                <mc:Fallback>
                  <p:oleObj name="公式" r:id="rId16" imgW="24384000" imgH="7315200" progId="Equation.3">
                    <p:embed/>
                    <p:pic>
                      <p:nvPicPr>
                        <p:cNvPr id="14" name="对象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61481" y="3985171"/>
                          <a:ext cx="2713037" cy="728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box(in)">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tretch>
            <a:fillRect/>
          </a:stretch>
        </p:blipFill>
        <p:spPr bwMode="auto">
          <a:xfrm>
            <a:off x="1444607" y="2168752"/>
            <a:ext cx="3796811" cy="3037449"/>
          </a:xfrm>
          <a:prstGeom prst="rect">
            <a:avLst/>
          </a:prstGeom>
          <a:noFill/>
          <a:ln w="9525">
            <a:noFill/>
            <a:miter lim="800000"/>
            <a:headEnd/>
            <a:tailEnd/>
          </a:ln>
          <a:effectLst/>
        </p:spPr>
      </p:pic>
      <p:sp>
        <p:nvSpPr>
          <p:cNvPr id="4" name="内容占位符 3"/>
          <p:cNvSpPr txBox="1"/>
          <p:nvPr/>
        </p:nvSpPr>
        <p:spPr>
          <a:xfrm>
            <a:off x="5710323" y="1785220"/>
            <a:ext cx="4420749" cy="3804511"/>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3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直观的理解：</a:t>
            </a:r>
            <a:endParaRPr kumimoji="0" lang="en-US" altLang="zh-CN" sz="3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3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点积是一个向量在另一个向量方向上的投影</a:t>
            </a:r>
            <a:endParaRPr kumimoji="0" lang="en-US" altLang="zh-CN" sz="3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3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叉积是以两向量为邻边所构成平行四边形的面积</a:t>
            </a:r>
            <a:endParaRPr kumimoji="0" lang="en-US" altLang="zh-CN" sz="3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3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叉积结果的符号可用于判断点、线关系</a:t>
            </a:r>
            <a:endParaRPr kumimoji="0" lang="en-US" altLang="zh-CN" sz="3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向量点积叉积的性质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向量点积叉积的性质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2"/>
          <p:cNvSpPr txBox="1"/>
          <p:nvPr/>
        </p:nvSpPr>
        <p:spPr>
          <a:xfrm>
            <a:off x="858982" y="1905000"/>
            <a:ext cx="5244106" cy="3613298"/>
          </a:xfrm>
          <a:prstGeom prst="rect">
            <a:avLst/>
          </a:prstGeom>
          <a:ln>
            <a:solidFill>
              <a:schemeClr val="tx2">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130000"/>
              </a:lnSpc>
              <a:spcBef>
                <a:spcPts val="500"/>
              </a:spcBef>
              <a:spcAft>
                <a:spcPts val="0"/>
              </a:spcAft>
              <a:buClrTx/>
              <a:buSzTx/>
              <a:buFont typeface="Arial" panose="020B0604020202020204" pitchFamily="34" charset="0"/>
              <a:buChar char="•"/>
              <a:tabLst/>
              <a:defRPr/>
            </a:pPr>
            <a:r>
              <a:rPr kumimoji="0" lang="zh-CN" altLang="en-US"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交换律：</a:t>
            </a:r>
            <a:endParaRPr kumimoji="0" lang="en-US" altLang="zh-CN"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a·b</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b·a</a:t>
            </a:r>
            <a:endPar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endParaRPr>
          </a:p>
          <a:p>
            <a:pPr marL="685800" marR="0" lvl="1" indent="-228600" algn="l" defTabSz="914400" rtl="0" eaLnBrk="1" fontAlgn="auto" latinLnBrk="0" hangingPunct="1">
              <a:lnSpc>
                <a:spcPct val="130000"/>
              </a:lnSpc>
              <a:spcBef>
                <a:spcPts val="500"/>
              </a:spcBef>
              <a:spcAft>
                <a:spcPts val="0"/>
              </a:spcAft>
              <a:buClrTx/>
              <a:buSzTx/>
              <a:buFont typeface="Arial" panose="020B0604020202020204" pitchFamily="34" charset="0"/>
              <a:buChar char="•"/>
              <a:tabLst/>
              <a:defRPr/>
            </a:pPr>
            <a:r>
              <a:rPr kumimoji="0" lang="zh-CN" altLang="en-US"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与标量乘法兼容（</a:t>
            </a:r>
            <a:r>
              <a:rPr kumimoji="0" lang="en-US" altLang="zh-CN"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r </a:t>
            </a:r>
            <a:r>
              <a:rPr kumimoji="0" lang="zh-CN" altLang="en-US"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为常数）：</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ra·b</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=r(</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a·b</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a:t>
            </a:r>
          </a:p>
          <a:p>
            <a:pPr marL="685800" marR="0" lvl="1" indent="-228600" algn="l" defTabSz="914400" rtl="0" eaLnBrk="1" fontAlgn="auto" latinLnBrk="0" hangingPunct="1">
              <a:lnSpc>
                <a:spcPct val="130000"/>
              </a:lnSpc>
              <a:spcBef>
                <a:spcPts val="500"/>
              </a:spcBef>
              <a:spcAft>
                <a:spcPts val="0"/>
              </a:spcAft>
              <a:buClrTx/>
              <a:buSzTx/>
              <a:buFont typeface="Arial" panose="020B0604020202020204" pitchFamily="34" charset="0"/>
              <a:buChar char="•"/>
              <a:tabLst/>
              <a:defRPr/>
            </a:pPr>
            <a:r>
              <a:rPr kumimoji="0" lang="zh-CN" altLang="en-US"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结合律：</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a+b</a:t>
            </a:r>
            <a:r>
              <a:rPr kumimoji="0" lang="zh-CN" altLang="en-US"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·c=</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a·c+b·c</a:t>
            </a:r>
            <a:endParaRPr kumimoji="0" lang="zh-CN" altLang="en-US"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endParaRPr>
          </a:p>
        </p:txBody>
      </p:sp>
      <p:sp>
        <p:nvSpPr>
          <p:cNvPr id="4" name="内容占位符 3"/>
          <p:cNvSpPr txBox="1"/>
          <p:nvPr/>
        </p:nvSpPr>
        <p:spPr>
          <a:xfrm>
            <a:off x="6248442" y="1905000"/>
            <a:ext cx="5244107" cy="3613298"/>
          </a:xfrm>
          <a:prstGeom prst="rect">
            <a:avLst/>
          </a:prstGeom>
          <a:ln>
            <a:solidFill>
              <a:schemeClr val="tx2">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130000"/>
              </a:lnSpc>
              <a:spcBef>
                <a:spcPts val="500"/>
              </a:spcBef>
              <a:spcAft>
                <a:spcPts val="0"/>
              </a:spcAft>
              <a:buClrTx/>
              <a:buSzTx/>
              <a:buFont typeface="Arial" panose="020B0604020202020204" pitchFamily="34" charset="0"/>
              <a:buChar char="•"/>
              <a:tabLst/>
              <a:defRPr/>
            </a:pPr>
            <a:r>
              <a:rPr kumimoji="0" lang="zh-CN" altLang="en-US"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反交换律：</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a×b</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b×a</a:t>
            </a:r>
            <a:endPar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endParaRPr>
          </a:p>
          <a:p>
            <a:pPr marL="685800" marR="0" lvl="1" indent="-228600" algn="l" defTabSz="914400" rtl="0" eaLnBrk="1" fontAlgn="auto" latinLnBrk="0" hangingPunct="1">
              <a:lnSpc>
                <a:spcPct val="130000"/>
              </a:lnSpc>
              <a:spcBef>
                <a:spcPts val="500"/>
              </a:spcBef>
              <a:spcAft>
                <a:spcPts val="0"/>
              </a:spcAft>
              <a:buClrTx/>
              <a:buSzTx/>
              <a:buFont typeface="Arial" panose="020B0604020202020204" pitchFamily="34" charset="0"/>
              <a:buChar char="•"/>
              <a:tabLst/>
              <a:defRPr/>
            </a:pPr>
            <a:r>
              <a:rPr kumimoji="0" lang="zh-CN" altLang="en-US"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加法的分配律：</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a×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b+c</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a×b+a×c</a:t>
            </a:r>
            <a:endPar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endParaRPr>
          </a:p>
          <a:p>
            <a:pPr marL="685800" marR="0" lvl="1" indent="-228600" algn="l" defTabSz="914400" rtl="0" eaLnBrk="1" fontAlgn="auto" latinLnBrk="0" hangingPunct="1">
              <a:lnSpc>
                <a:spcPct val="130000"/>
              </a:lnSpc>
              <a:spcBef>
                <a:spcPts val="500"/>
              </a:spcBef>
              <a:spcAft>
                <a:spcPts val="0"/>
              </a:spcAft>
              <a:buClrTx/>
              <a:buSzTx/>
              <a:buFont typeface="Arial" panose="020B0604020202020204" pitchFamily="34" charset="0"/>
              <a:buChar char="•"/>
              <a:tabLst/>
              <a:defRPr/>
            </a:pPr>
            <a:r>
              <a:rPr kumimoji="0" lang="zh-CN" altLang="en-US" sz="23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与标量乘法兼容：</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        </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(ra) ×b=a× (</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rb</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 = r(</a:t>
            </a:r>
            <a:r>
              <a:rPr kumimoji="0" lang="en-US" altLang="zh-CN" sz="2800" b="0" i="0" u="none" strike="noStrike" kern="1200" cap="none" spc="0" normalizeH="0" baseline="0" noProof="0" dirty="0" err="1">
                <a:ln>
                  <a:noFill/>
                </a:ln>
                <a:solidFill>
                  <a:srgbClr val="EE822F"/>
                </a:solidFill>
                <a:effectLst/>
                <a:uLnTx/>
                <a:uFillTx/>
                <a:latin typeface="Calibri"/>
                <a:ea typeface="微软雅黑" panose="020B0503020204020204" pitchFamily="34" charset="-122"/>
                <a:cs typeface="+mn-cs"/>
              </a:rPr>
              <a:t>a×b</a:t>
            </a:r>
            <a:r>
              <a:rPr kumimoji="0" lang="en-US" altLang="zh-CN" sz="2800" b="0" i="0" u="none" strike="noStrike" kern="1200" cap="none" spc="0" normalizeH="0" baseline="0" noProof="0" dirty="0">
                <a:ln>
                  <a:noFill/>
                </a:ln>
                <a:solidFill>
                  <a:srgbClr val="EE822F"/>
                </a:solidFill>
                <a:effectLst/>
                <a:uLnTx/>
                <a:uFillTx/>
                <a:latin typeface="Calibri"/>
                <a:ea typeface="微软雅黑" panose="020B0503020204020204" pitchFamily="34" charset="-122"/>
                <a:cs typeface="+mn-cs"/>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13064" y="1226698"/>
            <a:ext cx="11123719" cy="5138591"/>
          </a:xfrm>
        </p:spPr>
        <p:txBody>
          <a:bodyPr>
            <a:normAutofit fontScale="25000" lnSpcReduction="20000"/>
          </a:bodyPr>
          <a:lstStyle/>
          <a:p>
            <a:pPr marL="800100" lvl="1" indent="-342900" algn="just">
              <a:lnSpc>
                <a:spcPct val="220000"/>
              </a:lnSpc>
              <a:buFont typeface="Wingdings" panose="05000000000000000000" pitchFamily="2" charset="2"/>
              <a:buChar char="l"/>
            </a:pPr>
            <a:r>
              <a:rPr lang="zh-CN" altLang="en-US" sz="9600" b="1" kern="100" dirty="0">
                <a:solidFill>
                  <a:srgbClr val="014B88"/>
                </a:solidFill>
                <a:latin typeface="仿宋_GB2312"/>
                <a:cs typeface="Times New Roman" panose="02020603050405020304" pitchFamily="18" charset="0"/>
              </a:rPr>
              <a:t>计算几何中一般使用</a:t>
            </a:r>
            <a:r>
              <a:rPr lang="en-US" altLang="zh-CN" sz="9600" b="1" kern="100" dirty="0">
                <a:solidFill>
                  <a:srgbClr val="014B88"/>
                </a:solidFill>
                <a:latin typeface="仿宋_GB2312"/>
                <a:cs typeface="Times New Roman" panose="02020603050405020304" pitchFamily="18" charset="0"/>
              </a:rPr>
              <a:t>double</a:t>
            </a:r>
            <a:r>
              <a:rPr lang="zh-CN" altLang="en-US" sz="9600" b="1" kern="100" dirty="0">
                <a:solidFill>
                  <a:srgbClr val="014B88"/>
                </a:solidFill>
                <a:latin typeface="仿宋_GB2312"/>
                <a:cs typeface="Times New Roman" panose="02020603050405020304" pitchFamily="18" charset="0"/>
              </a:rPr>
              <a:t>类型，</a:t>
            </a:r>
            <a:r>
              <a:rPr lang="en-US" altLang="zh-CN" sz="9600" b="1" kern="100" dirty="0">
                <a:solidFill>
                  <a:srgbClr val="014B88"/>
                </a:solidFill>
                <a:latin typeface="仿宋_GB2312"/>
                <a:cs typeface="Times New Roman" panose="02020603050405020304" pitchFamily="18" charset="0"/>
              </a:rPr>
              <a:t>float</a:t>
            </a:r>
            <a:r>
              <a:rPr lang="zh-CN" altLang="en-US" sz="9600" b="1" kern="100" dirty="0">
                <a:solidFill>
                  <a:srgbClr val="014B88"/>
                </a:solidFill>
                <a:latin typeface="仿宋_GB2312"/>
                <a:cs typeface="Times New Roman" panose="02020603050405020304" pitchFamily="18" charset="0"/>
              </a:rPr>
              <a:t>容易失去精度</a:t>
            </a:r>
            <a:endParaRPr lang="en-US" altLang="zh-CN" sz="9600" b="1" kern="100" dirty="0">
              <a:solidFill>
                <a:srgbClr val="014B88"/>
              </a:solidFill>
              <a:latin typeface="仿宋_GB2312"/>
              <a:cs typeface="Times New Roman" panose="02020603050405020304" pitchFamily="18" charset="0"/>
            </a:endParaRPr>
          </a:p>
          <a:p>
            <a:pPr marL="800100" lvl="1" indent="-342900" algn="just">
              <a:lnSpc>
                <a:spcPct val="220000"/>
              </a:lnSpc>
              <a:buFont typeface="Wingdings" panose="05000000000000000000" pitchFamily="2" charset="2"/>
              <a:buChar char="l"/>
            </a:pPr>
            <a:r>
              <a:rPr lang="zh-CN" altLang="en-US" sz="9600" b="1" kern="100" dirty="0">
                <a:solidFill>
                  <a:srgbClr val="014B88"/>
                </a:solidFill>
                <a:latin typeface="仿宋_GB2312"/>
                <a:cs typeface="Times New Roman" panose="02020603050405020304" pitchFamily="18" charset="0"/>
              </a:rPr>
              <a:t>判断两个数的大小关系需要使用精度控制</a:t>
            </a:r>
            <a:endParaRPr lang="en-US" altLang="zh-CN" sz="9600" b="1" kern="100" dirty="0">
              <a:solidFill>
                <a:srgbClr val="014B88"/>
              </a:solidFill>
              <a:latin typeface="仿宋_GB2312"/>
              <a:cs typeface="Times New Roman" panose="02020603050405020304" pitchFamily="18" charset="0"/>
            </a:endParaRPr>
          </a:p>
          <a:p>
            <a:pPr>
              <a:buFont typeface="Wingdings" panose="05000000000000000000" pitchFamily="2" charset="2"/>
              <a:buNone/>
            </a:pPr>
            <a:endParaRPr lang="en-US" altLang="zh-CN" sz="9600" dirty="0"/>
          </a:p>
          <a:p>
            <a:pPr lvl="1">
              <a:buFont typeface="Wingdings" panose="05000000000000000000" pitchFamily="2" charset="2"/>
              <a:buNone/>
            </a:pPr>
            <a:r>
              <a:rPr lang="zh-CN" altLang="en-US" sz="9200" dirty="0"/>
              <a:t>例如，</a:t>
            </a:r>
            <a:endParaRPr lang="en-US" altLang="zh-CN" sz="9200" dirty="0"/>
          </a:p>
          <a:p>
            <a:pPr lvl="1">
              <a:buFont typeface="Wingdings" panose="05000000000000000000" pitchFamily="2" charset="2"/>
              <a:buNone/>
            </a:pPr>
            <a:r>
              <a:rPr lang="fr-FR" altLang="zh-CN" sz="9200" dirty="0">
                <a:latin typeface="Lucida Fax" panose="02060602050505020204" pitchFamily="18" charset="0"/>
              </a:rPr>
              <a:t>double a = 3.03*(1.0/3.03);</a:t>
            </a:r>
          </a:p>
          <a:p>
            <a:pPr lvl="1">
              <a:buFont typeface="Wingdings" panose="05000000000000000000" pitchFamily="2" charset="2"/>
              <a:buNone/>
            </a:pPr>
            <a:r>
              <a:rPr lang="fr-FR" altLang="zh-CN" sz="9200" dirty="0">
                <a:latin typeface="Lucida Fax" panose="02060602050505020204" pitchFamily="18" charset="0"/>
              </a:rPr>
              <a:t>double b = 2.01*(1.0/2.01);</a:t>
            </a:r>
            <a:endParaRPr lang="en-US" altLang="zh-CN" sz="9200" dirty="0">
              <a:latin typeface="Lucida Fax" panose="02060602050505020204" pitchFamily="18" charset="0"/>
            </a:endParaRPr>
          </a:p>
          <a:p>
            <a:pPr lvl="1">
              <a:buFont typeface="Wingdings" panose="05000000000000000000" pitchFamily="2" charset="2"/>
              <a:buNone/>
            </a:pPr>
            <a:endParaRPr lang="en-US" altLang="zh-CN" sz="9200" dirty="0">
              <a:latin typeface="Lucida Fax" panose="02060602050505020204" pitchFamily="18" charset="0"/>
            </a:endParaRPr>
          </a:p>
          <a:p>
            <a:pPr lvl="1">
              <a:buFont typeface="Wingdings" panose="05000000000000000000" pitchFamily="2" charset="2"/>
              <a:buNone/>
            </a:pPr>
            <a:r>
              <a:rPr lang="pt-BR" altLang="zh-CN" sz="9200" dirty="0">
                <a:latin typeface="Lucida Fax" panose="02060602050505020204" pitchFamily="18" charset="0"/>
              </a:rPr>
              <a:t>a = 0.99999999999999989000</a:t>
            </a:r>
          </a:p>
          <a:p>
            <a:pPr lvl="1">
              <a:buFont typeface="Wingdings" panose="05000000000000000000" pitchFamily="2" charset="2"/>
              <a:buNone/>
            </a:pPr>
            <a:r>
              <a:rPr lang="pt-BR" altLang="zh-CN" sz="9200" dirty="0">
                <a:latin typeface="Lucida Fax" panose="02060602050505020204" pitchFamily="18" charset="0"/>
              </a:rPr>
              <a:t>b = 1.00000000000000000000</a:t>
            </a:r>
          </a:p>
          <a:p>
            <a:pPr lvl="1">
              <a:buFont typeface="Wingdings" panose="05000000000000000000" pitchFamily="2" charset="2"/>
              <a:buNone/>
            </a:pPr>
            <a:r>
              <a:rPr lang="pt-BR" altLang="zh-CN" sz="9200" dirty="0">
                <a:latin typeface="Lucida Fax" panose="02060602050505020204" pitchFamily="18" charset="0"/>
              </a:rPr>
              <a:t>a - b = -0.00000000000000</a:t>
            </a:r>
            <a:r>
              <a:rPr lang="pt-BR" altLang="zh-CN" sz="9200" dirty="0">
                <a:solidFill>
                  <a:srgbClr val="00B050"/>
                </a:solidFill>
                <a:latin typeface="Lucida Fax" panose="02060602050505020204" pitchFamily="18" charset="0"/>
              </a:rPr>
              <a:t>0</a:t>
            </a:r>
            <a:r>
              <a:rPr lang="pt-BR" altLang="zh-CN" sz="9200" dirty="0">
                <a:latin typeface="Lucida Fax" panose="02060602050505020204" pitchFamily="18" charset="0"/>
              </a:rPr>
              <a:t>11102</a:t>
            </a:r>
            <a:endParaRPr lang="en-US" altLang="zh-CN" sz="9200" dirty="0">
              <a:latin typeface="Lucida Fax" panose="02060602050505020204" pitchFamily="18" charset="0"/>
            </a:endParaRPr>
          </a:p>
          <a:p>
            <a:pPr lvl="1">
              <a:buFont typeface="Wingdings" panose="05000000000000000000" pitchFamily="2" charset="2"/>
              <a:buNone/>
            </a:pPr>
            <a:r>
              <a:rPr lang="zh-CN" altLang="en-US" sz="9200" dirty="0">
                <a:latin typeface="Lucida Fax" panose="02060602050505020204" pitchFamily="18" charset="0"/>
              </a:rPr>
              <a:t>当</a:t>
            </a:r>
            <a:r>
              <a:rPr lang="en-US" altLang="zh-CN" sz="9200" dirty="0">
                <a:latin typeface="Lucida Fax" panose="02060602050505020204" pitchFamily="18" charset="0"/>
              </a:rPr>
              <a:t>a-b</a:t>
            </a:r>
            <a:r>
              <a:rPr lang="zh-CN" altLang="en-US" sz="9200" dirty="0">
                <a:latin typeface="Lucida Fax" panose="02060602050505020204" pitchFamily="18" charset="0"/>
              </a:rPr>
              <a:t>的绝对值小于某一个数时，即可认为</a:t>
            </a:r>
            <a:r>
              <a:rPr lang="en-US" altLang="zh-CN" sz="9200" dirty="0">
                <a:latin typeface="Lucida Fax" panose="02060602050505020204" pitchFamily="18" charset="0"/>
              </a:rPr>
              <a:t>a=b</a:t>
            </a:r>
            <a:endParaRPr lang="pt-BR" altLang="zh-CN" sz="9200" dirty="0">
              <a:latin typeface="Lucida Fax" panose="02060602050505020204" pitchFamily="18" charset="0"/>
            </a:endParaRPr>
          </a:p>
          <a:p>
            <a:endParaRPr lang="en-US" altLang="zh-CN" dirty="0"/>
          </a:p>
          <a:p>
            <a:pPr>
              <a:buFont typeface="Wingdings" panose="05000000000000000000" pitchFamily="2" charset="2"/>
              <a:buNone/>
            </a:pPr>
            <a:r>
              <a:rPr lang="en-US" altLang="zh-CN" dirty="0"/>
              <a:t> </a:t>
            </a:r>
            <a:endParaRPr lang="zh-CN" altLang="en-US"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几何中的精度问题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 calcmode="lin" valueType="num">
                                      <p:cBhvr additive="base">
                                        <p:cTn id="1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 calcmode="lin" valueType="num">
                                      <p:cBhvr additive="base">
                                        <p:cTn id="2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dissolve">
                                      <p:cBhvr>
                                        <p:cTn id="31" dur="500"/>
                                        <p:tgtEl>
                                          <p:spTgt spid="2">
                                            <p:txEl>
                                              <p:pRg st="7" end="7"/>
                                            </p:txEl>
                                          </p:spTgt>
                                        </p:tgtEl>
                                      </p:cBhvr>
                                    </p:animEffect>
                                  </p:childTnLst>
                                </p:cTn>
                              </p:par>
                              <p:par>
                                <p:cTn id="32" presetID="9" presetClass="entr" presetSubtype="0" fill="hold" nodeType="withEffect">
                                  <p:stCondLst>
                                    <p:cond delay="0"/>
                                  </p:stCondLst>
                                  <p:childTnLst>
                                    <p:set>
                                      <p:cBhvr>
                                        <p:cTn id="33" dur="1" fill="hold">
                                          <p:stCondLst>
                                            <p:cond delay="0"/>
                                          </p:stCondLst>
                                        </p:cTn>
                                        <p:tgtEl>
                                          <p:spTgt spid="2">
                                            <p:txEl>
                                              <p:pRg st="8" end="8"/>
                                            </p:txEl>
                                          </p:spTgt>
                                        </p:tgtEl>
                                        <p:attrNameLst>
                                          <p:attrName>style.visibility</p:attrName>
                                        </p:attrNameLst>
                                      </p:cBhvr>
                                      <p:to>
                                        <p:strVal val="visible"/>
                                      </p:to>
                                    </p:set>
                                    <p:animEffect transition="in" filter="dissolve">
                                      <p:cBhvr>
                                        <p:cTn id="34" dur="500"/>
                                        <p:tgtEl>
                                          <p:spTgt spid="2">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Effect transition="in" filter="checkerboard(across)">
                                      <p:cBhvr>
                                        <p:cTn id="39" dur="500"/>
                                        <p:tgtEl>
                                          <p:spTgt spid="2">
                                            <p:txEl>
                                              <p:pRg st="9" end="9"/>
                                            </p:txEl>
                                          </p:spTgt>
                                        </p:tgtEl>
                                      </p:cBhvr>
                                    </p:animEffect>
                                  </p:childTnLst>
                                </p:cTn>
                              </p:par>
                              <p:par>
                                <p:cTn id="40" presetID="5" presetClass="entr" presetSubtype="10" fill="hold" nodeType="with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checkerboard(across)">
                                      <p:cBhvr>
                                        <p:cTn id="4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48575" y="1084655"/>
            <a:ext cx="10515600" cy="4351337"/>
          </a:xfrm>
        </p:spPr>
        <p:txBody>
          <a:bodyPr>
            <a:normAutofit/>
          </a:bodyPr>
          <a:lstStyle/>
          <a:p>
            <a:pPr marL="800100" lvl="1" indent="-342900" algn="just">
              <a:lnSpc>
                <a:spcPct val="200000"/>
              </a:lnSpc>
              <a:buFont typeface="Wingdings" panose="05000000000000000000" pitchFamily="2" charset="2"/>
              <a:buChar char="l"/>
              <a:defRPr/>
            </a:pPr>
            <a:r>
              <a:rPr lang="zh-CN" altLang="en-US" sz="2800" b="1" kern="100" dirty="0">
                <a:solidFill>
                  <a:srgbClr val="014B88"/>
                </a:solidFill>
                <a:latin typeface="仿宋_GB2312"/>
                <a:cs typeface="Times New Roman" panose="02020603050405020304" pitchFamily="18" charset="0"/>
              </a:rPr>
              <a:t>常用代码格式</a:t>
            </a:r>
            <a:endParaRPr lang="en-US" altLang="zh-CN" sz="2800" b="1" kern="100" dirty="0">
              <a:solidFill>
                <a:srgbClr val="014B88"/>
              </a:solidFill>
              <a:latin typeface="仿宋_GB2312"/>
              <a:cs typeface="Times New Roman" panose="02020603050405020304" pitchFamily="18" charset="0"/>
            </a:endParaRPr>
          </a:p>
          <a:p>
            <a:pPr lvl="1">
              <a:buFont typeface="Wingdings" panose="05000000000000000000" pitchFamily="2" charset="2"/>
              <a:buNone/>
              <a:defRPr/>
            </a:pPr>
            <a:r>
              <a:rPr lang="en-US" altLang="zh-CN" dirty="0">
                <a:latin typeface="Consolas" panose="020B0609020204030204" pitchFamily="49" charset="0"/>
              </a:rPr>
              <a:t>	</a:t>
            </a:r>
            <a:r>
              <a:rPr lang="it-IT" altLang="zh-CN" sz="2800" dirty="0">
                <a:latin typeface="Consolas" panose="020B0609020204030204" pitchFamily="49" charset="0"/>
                <a:ea typeface="宋体" panose="02010600030101010101" pitchFamily="2" charset="-122"/>
              </a:rPr>
              <a:t>#include &lt;cmath&gt;</a:t>
            </a:r>
          </a:p>
          <a:p>
            <a:pPr lvl="1">
              <a:buFont typeface="Wingdings" panose="05000000000000000000" pitchFamily="2" charset="2"/>
              <a:buNone/>
              <a:defRPr/>
            </a:pPr>
            <a:r>
              <a:rPr lang="it-IT" altLang="zh-CN" sz="2800" dirty="0">
                <a:latin typeface="Consolas" panose="020B0609020204030204" pitchFamily="49" charset="0"/>
                <a:ea typeface="宋体" panose="02010600030101010101" pitchFamily="2" charset="-122"/>
              </a:rPr>
              <a:t>	#define EPS 1e-8</a:t>
            </a:r>
          </a:p>
          <a:p>
            <a:pPr lvl="1">
              <a:buFont typeface="Wingdings" panose="05000000000000000000" pitchFamily="2" charset="2"/>
              <a:buNone/>
              <a:defRPr/>
            </a:pPr>
            <a:r>
              <a:rPr lang="it-IT" altLang="zh-CN" sz="2800" dirty="0">
                <a:latin typeface="Consolas" panose="020B0609020204030204" pitchFamily="49" charset="0"/>
                <a:ea typeface="宋体" panose="02010600030101010101" pitchFamily="2" charset="-122"/>
              </a:rPr>
              <a:t>	#define PI acos(-1.0)</a:t>
            </a:r>
          </a:p>
          <a:p>
            <a:pPr lvl="1">
              <a:buFont typeface="Wingdings" panose="05000000000000000000" pitchFamily="2" charset="2"/>
              <a:buNone/>
              <a:defRPr/>
            </a:pPr>
            <a:r>
              <a:rPr lang="en-US" altLang="zh-CN" sz="2800" dirty="0">
                <a:latin typeface="Consolas" panose="020B0609020204030204" pitchFamily="49" charset="0"/>
                <a:ea typeface="+mj-ea"/>
              </a:rPr>
              <a:t>	</a:t>
            </a:r>
            <a:r>
              <a:rPr lang="zh-CN" altLang="en-US" sz="2800" dirty="0">
                <a:latin typeface="Consolas" panose="020B0609020204030204" pitchFamily="49" charset="0"/>
                <a:ea typeface="+mj-ea"/>
              </a:rPr>
              <a:t>判断两数大小关系：</a:t>
            </a:r>
          </a:p>
          <a:p>
            <a:pPr lvl="1">
              <a:buFont typeface="Wingdings" panose="05000000000000000000" pitchFamily="2" charset="2"/>
              <a:buNone/>
              <a:defRPr/>
            </a:pPr>
            <a:r>
              <a:rPr lang="it-IT" altLang="zh-CN" sz="2800" dirty="0">
                <a:latin typeface="Consolas" panose="020B0609020204030204" pitchFamily="49" charset="0"/>
              </a:rPr>
              <a:t>	</a:t>
            </a:r>
            <a:r>
              <a:rPr lang="it-IT" altLang="zh-CN" sz="2800" dirty="0">
                <a:latin typeface="Consolas" panose="020B0609020204030204" pitchFamily="49" charset="0"/>
                <a:ea typeface="宋体" panose="02010600030101010101" pitchFamily="2" charset="-122"/>
              </a:rPr>
              <a:t>a = b: fabs(a-b) &lt; EPS</a:t>
            </a:r>
          </a:p>
          <a:p>
            <a:pPr lvl="1">
              <a:buFont typeface="Wingdings" panose="05000000000000000000" pitchFamily="2" charset="2"/>
              <a:buNone/>
              <a:defRPr/>
            </a:pPr>
            <a:r>
              <a:rPr lang="it-IT" altLang="zh-CN" sz="2800" dirty="0">
                <a:latin typeface="Consolas" panose="020B0609020204030204" pitchFamily="49" charset="0"/>
                <a:ea typeface="宋体" panose="02010600030101010101" pitchFamily="2" charset="-122"/>
              </a:rPr>
              <a:t>	a &gt; b: a &gt; b + EPS</a:t>
            </a:r>
          </a:p>
          <a:p>
            <a:pPr lvl="1">
              <a:buFont typeface="Wingdings" panose="05000000000000000000" pitchFamily="2" charset="2"/>
              <a:buNone/>
              <a:defRPr/>
            </a:pPr>
            <a:r>
              <a:rPr lang="it-IT" altLang="zh-CN" sz="2800" dirty="0">
                <a:latin typeface="Consolas" panose="020B0609020204030204" pitchFamily="49" charset="0"/>
                <a:ea typeface="宋体" panose="02010600030101010101" pitchFamily="2" charset="-122"/>
              </a:rPr>
              <a:t>	a &lt; b: a + EPS &lt; b</a:t>
            </a:r>
          </a:p>
          <a:p>
            <a:pPr>
              <a:buFont typeface="Wingdings" panose="05000000000000000000" pitchFamily="2" charset="2"/>
              <a:buNone/>
              <a:defRPr/>
            </a:pPr>
            <a:endParaRPr lang="en-US" altLang="zh-CN" dirty="0"/>
          </a:p>
        </p:txBody>
      </p:sp>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几何中的精度问题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blinds(horizontal)">
                                      <p:cBhvr>
                                        <p:cTn id="10" dur="500"/>
                                        <p:tgtEl>
                                          <p:spTgt spid="2">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blinds(horizontal)">
                                      <p:cBhvr>
                                        <p:cTn id="13" dur="500"/>
                                        <p:tgtEl>
                                          <p:spTgt spid="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dissolve">
                                      <p:cBhvr>
                                        <p:cTn id="18" dur="500"/>
                                        <p:tgtEl>
                                          <p:spTgt spid="2">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dissolve">
                                      <p:cBhvr>
                                        <p:cTn id="21" dur="500"/>
                                        <p:tgtEl>
                                          <p:spTgt spid="2">
                                            <p:txEl>
                                              <p:pRg st="5" end="5"/>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dissolve">
                                      <p:cBhvr>
                                        <p:cTn id="24" dur="500"/>
                                        <p:tgtEl>
                                          <p:spTgt spid="2">
                                            <p:txEl>
                                              <p:pRg st="6" end="6"/>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dissolve">
                                      <p:cBhvr>
                                        <p:cTn id="2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97148" y="1331790"/>
            <a:ext cx="11327907" cy="4351337"/>
          </a:xfrm>
        </p:spPr>
        <p:txBody>
          <a:bodyPr>
            <a:normAutofit fontScale="85000" lnSpcReduction="20000"/>
          </a:bodyPr>
          <a:lstStyle/>
          <a:p>
            <a:pPr>
              <a:buFont typeface="Wingdings" panose="05000000000000000000" pitchFamily="2" charset="2"/>
              <a:buNone/>
            </a:pPr>
            <a:r>
              <a:rPr lang="en-US" altLang="zh-CN" dirty="0">
                <a:latin typeface="Consolas" panose="020B0609020204030204" pitchFamily="49" charset="0"/>
              </a:rPr>
              <a:t>	</a:t>
            </a:r>
            <a:r>
              <a:rPr lang="zh-CN" altLang="en-US" dirty="0">
                <a:latin typeface="Consolas" panose="020B0609020204030204" pitchFamily="49" charset="0"/>
              </a:rPr>
              <a:t>判断与</a:t>
            </a:r>
            <a:r>
              <a:rPr lang="en-US" altLang="zh-CN" dirty="0">
                <a:latin typeface="Consolas" panose="020B0609020204030204" pitchFamily="49" charset="0"/>
                <a:ea typeface="宋体" panose="02010600030101010101" pitchFamily="2" charset="-122"/>
              </a:rPr>
              <a:t>0</a:t>
            </a:r>
            <a:r>
              <a:rPr lang="zh-CN" altLang="en-US" dirty="0">
                <a:latin typeface="Consolas" panose="020B0609020204030204" pitchFamily="49" charset="0"/>
              </a:rPr>
              <a:t>的关系：</a:t>
            </a:r>
            <a:endParaRPr lang="en-US" altLang="zh-CN" dirty="0">
              <a:latin typeface="Consolas" panose="020B0609020204030204" pitchFamily="49" charset="0"/>
            </a:endParaRPr>
          </a:p>
          <a:p>
            <a:pPr>
              <a:buFont typeface="Wingdings" panose="05000000000000000000" pitchFamily="2" charset="2"/>
              <a:buNone/>
            </a:pPr>
            <a:r>
              <a:rPr lang="en-US" altLang="zh-CN" dirty="0">
                <a:latin typeface="Consolas" panose="020B0609020204030204" pitchFamily="49" charset="0"/>
                <a:ea typeface="宋体" panose="02010600030101010101" pitchFamily="2" charset="-122"/>
              </a:rPr>
              <a:t>	a = 0: fabs(a) &lt; EPS</a:t>
            </a:r>
          </a:p>
          <a:p>
            <a:pPr>
              <a:buFont typeface="Wingdings" panose="05000000000000000000" pitchFamily="2" charset="2"/>
              <a:buNone/>
            </a:pPr>
            <a:r>
              <a:rPr lang="en-US" altLang="zh-CN" dirty="0">
                <a:latin typeface="Consolas" panose="020B0609020204030204" pitchFamily="49" charset="0"/>
                <a:ea typeface="宋体" panose="02010600030101010101" pitchFamily="2" charset="-122"/>
              </a:rPr>
              <a:t>	a &lt; 0: a &lt; -EPS</a:t>
            </a:r>
          </a:p>
          <a:p>
            <a:pPr>
              <a:buFont typeface="Wingdings" panose="05000000000000000000" pitchFamily="2" charset="2"/>
              <a:buNone/>
            </a:pPr>
            <a:r>
              <a:rPr lang="en-US" altLang="zh-CN" dirty="0">
                <a:latin typeface="Consolas" panose="020B0609020204030204" pitchFamily="49" charset="0"/>
                <a:ea typeface="宋体" panose="02010600030101010101" pitchFamily="2" charset="-122"/>
              </a:rPr>
              <a:t>	a &gt; 0: a &gt; EPS</a:t>
            </a:r>
          </a:p>
          <a:p>
            <a:pPr>
              <a:buFont typeface="Wingdings" panose="05000000000000000000" pitchFamily="2" charset="2"/>
              <a:buNone/>
            </a:pPr>
            <a:endParaRPr lang="en-US" altLang="zh-CN" dirty="0"/>
          </a:p>
          <a:p>
            <a:pPr marL="342900" indent="-342900" algn="just">
              <a:lnSpc>
                <a:spcPct val="20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出于对精度和时间效率的考虑，尽量少使用除法、开方和三角函数，避免除以一个很小的数</a:t>
            </a:r>
            <a:endParaRPr lang="en-US" altLang="zh-CN" b="1" kern="100" dirty="0">
              <a:solidFill>
                <a:srgbClr val="014B88"/>
              </a:solidFill>
              <a:latin typeface="仿宋_GB2312"/>
              <a:cs typeface="Times New Roman" panose="02020603050405020304" pitchFamily="18" charset="0"/>
            </a:endParaRPr>
          </a:p>
          <a:p>
            <a:pPr marL="342900" indent="-342900" algn="just">
              <a:lnSpc>
                <a:spcPct val="200000"/>
              </a:lnSpc>
              <a:buFont typeface="Wingdings" panose="05000000000000000000" pitchFamily="2" charset="2"/>
              <a:buChar char="l"/>
            </a:pPr>
            <a:r>
              <a:rPr lang="en-US" altLang="zh-CN" b="1" kern="100" dirty="0">
                <a:solidFill>
                  <a:srgbClr val="014B88"/>
                </a:solidFill>
                <a:latin typeface="仿宋_GB2312"/>
                <a:cs typeface="Times New Roman" panose="02020603050405020304" pitchFamily="18" charset="0"/>
              </a:rPr>
              <a:t>C/C++ </a:t>
            </a:r>
            <a:r>
              <a:rPr lang="zh-CN" altLang="en-US" b="1" kern="100" dirty="0">
                <a:solidFill>
                  <a:srgbClr val="014B88"/>
                </a:solidFill>
                <a:latin typeface="仿宋_GB2312"/>
                <a:cs typeface="Times New Roman" panose="02020603050405020304" pitchFamily="18" charset="0"/>
              </a:rPr>
              <a:t>中的三角函数均为弧度制，注意转化</a:t>
            </a:r>
            <a:endParaRPr lang="en-US" altLang="zh-CN" b="1" kern="100" dirty="0">
              <a:solidFill>
                <a:srgbClr val="014B88"/>
              </a:solidFill>
              <a:latin typeface="仿宋_GB2312"/>
              <a:cs typeface="Times New Roman" panose="02020603050405020304" pitchFamily="18" charset="0"/>
            </a:endParaRPr>
          </a:p>
          <a:p>
            <a:endParaRPr lang="en-US" altLang="zh-CN" dirty="0"/>
          </a:p>
          <a:p>
            <a:endParaRPr lang="zh-CN" altLang="en-US" dirty="0"/>
          </a:p>
        </p:txBody>
      </p:sp>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几何中的精度问题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checkerboard(across)">
                                      <p:cBhvr>
                                        <p:cTn id="25" dur="500"/>
                                        <p:tgtEl>
                                          <p:spTgt spid="2">
                                            <p:txEl>
                                              <p:pRg st="5" end="5"/>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checkerboard(across)">
                                      <p:cBhvr>
                                        <p:cTn id="2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35006" y="1253331"/>
            <a:ext cx="10515600" cy="4351337"/>
          </a:xfrm>
        </p:spPr>
        <p:txBody>
          <a:bodyPr/>
          <a:lstStyle/>
          <a:p>
            <a:pPr marL="342900"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两个向量</a:t>
            </a:r>
            <a:r>
              <a:rPr lang="en-US" altLang="zh-CN" b="1" kern="100" dirty="0">
                <a:solidFill>
                  <a:srgbClr val="014B88"/>
                </a:solidFill>
                <a:latin typeface="仿宋_GB2312"/>
                <a:cs typeface="Times New Roman" panose="02020603050405020304" pitchFamily="18" charset="0"/>
              </a:rPr>
              <a:t>A</a:t>
            </a:r>
            <a:r>
              <a:rPr lang="zh-CN" altLang="en-US" b="1" kern="100" dirty="0">
                <a:solidFill>
                  <a:srgbClr val="014B88"/>
                </a:solidFill>
                <a:latin typeface="仿宋_GB2312"/>
                <a:cs typeface="Times New Roman" panose="02020603050405020304" pitchFamily="18" charset="0"/>
              </a:rPr>
              <a:t>和</a:t>
            </a:r>
            <a:r>
              <a:rPr lang="en-US" altLang="zh-CN" b="1" kern="100" dirty="0">
                <a:solidFill>
                  <a:srgbClr val="014B88"/>
                </a:solidFill>
                <a:latin typeface="仿宋_GB2312"/>
                <a:cs typeface="Times New Roman" panose="02020603050405020304" pitchFamily="18" charset="0"/>
              </a:rPr>
              <a:t>B</a:t>
            </a:r>
            <a:r>
              <a:rPr lang="zh-CN" altLang="en-US" b="1" kern="100" dirty="0">
                <a:solidFill>
                  <a:srgbClr val="014B88"/>
                </a:solidFill>
                <a:latin typeface="仿宋_GB2312"/>
                <a:cs typeface="Times New Roman" panose="02020603050405020304" pitchFamily="18" charset="0"/>
              </a:rPr>
              <a:t>，可以通过叉积判断它们的位置关系</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若 </a:t>
            </a:r>
            <a:r>
              <a:rPr lang="en-US" altLang="zh-CN" b="1" kern="100" dirty="0">
                <a:solidFill>
                  <a:srgbClr val="014B88"/>
                </a:solidFill>
                <a:latin typeface="仿宋_GB2312"/>
                <a:cs typeface="Times New Roman" panose="02020603050405020304" pitchFamily="18" charset="0"/>
              </a:rPr>
              <a:t>A × B &gt; 0 , </a:t>
            </a:r>
            <a:r>
              <a:rPr lang="zh-CN" altLang="en-US" b="1" kern="100" dirty="0">
                <a:solidFill>
                  <a:srgbClr val="014B88"/>
                </a:solidFill>
                <a:latin typeface="仿宋_GB2312"/>
                <a:cs typeface="Times New Roman" panose="02020603050405020304" pitchFamily="18" charset="0"/>
              </a:rPr>
              <a:t>则</a:t>
            </a:r>
            <a:r>
              <a:rPr lang="en-US" altLang="zh-CN" b="1" kern="100" dirty="0">
                <a:solidFill>
                  <a:srgbClr val="014B88"/>
                </a:solidFill>
                <a:latin typeface="仿宋_GB2312"/>
                <a:cs typeface="Times New Roman" panose="02020603050405020304" pitchFamily="18" charset="0"/>
              </a:rPr>
              <a:t>A</a:t>
            </a:r>
            <a:r>
              <a:rPr lang="zh-CN" altLang="en-US" b="1" kern="100" dirty="0">
                <a:solidFill>
                  <a:srgbClr val="014B88"/>
                </a:solidFill>
                <a:latin typeface="仿宋_GB2312"/>
                <a:cs typeface="Times New Roman" panose="02020603050405020304" pitchFamily="18" charset="0"/>
              </a:rPr>
              <a:t>在</a:t>
            </a:r>
            <a:r>
              <a:rPr lang="en-US" altLang="zh-CN" b="1" kern="100" dirty="0">
                <a:solidFill>
                  <a:srgbClr val="014B88"/>
                </a:solidFill>
                <a:latin typeface="仿宋_GB2312"/>
                <a:cs typeface="Times New Roman" panose="02020603050405020304" pitchFamily="18" charset="0"/>
              </a:rPr>
              <a:t>B</a:t>
            </a:r>
            <a:r>
              <a:rPr lang="zh-CN" altLang="en-US" b="1" kern="100" dirty="0">
                <a:solidFill>
                  <a:srgbClr val="014B88"/>
                </a:solidFill>
                <a:latin typeface="仿宋_GB2312"/>
                <a:cs typeface="Times New Roman" panose="02020603050405020304" pitchFamily="18" charset="0"/>
              </a:rPr>
              <a:t>的顺时针方向。</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若 </a:t>
            </a:r>
            <a:r>
              <a:rPr lang="en-US" altLang="zh-CN" b="1" kern="100" dirty="0">
                <a:solidFill>
                  <a:srgbClr val="014B88"/>
                </a:solidFill>
                <a:latin typeface="仿宋_GB2312"/>
                <a:cs typeface="Times New Roman" panose="02020603050405020304" pitchFamily="18" charset="0"/>
              </a:rPr>
              <a:t>A × B &lt; 0 , </a:t>
            </a:r>
            <a:r>
              <a:rPr lang="zh-CN" altLang="en-US" b="1" kern="100" dirty="0">
                <a:solidFill>
                  <a:srgbClr val="014B88"/>
                </a:solidFill>
                <a:latin typeface="仿宋_GB2312"/>
                <a:cs typeface="Times New Roman" panose="02020603050405020304" pitchFamily="18" charset="0"/>
              </a:rPr>
              <a:t>则</a:t>
            </a:r>
            <a:r>
              <a:rPr lang="en-US" altLang="zh-CN" b="1" kern="100" dirty="0">
                <a:solidFill>
                  <a:srgbClr val="014B88"/>
                </a:solidFill>
                <a:latin typeface="仿宋_GB2312"/>
                <a:cs typeface="Times New Roman" panose="02020603050405020304" pitchFamily="18" charset="0"/>
              </a:rPr>
              <a:t>A</a:t>
            </a:r>
            <a:r>
              <a:rPr lang="zh-CN" altLang="en-US" b="1" kern="100" dirty="0">
                <a:solidFill>
                  <a:srgbClr val="014B88"/>
                </a:solidFill>
                <a:latin typeface="仿宋_GB2312"/>
                <a:cs typeface="Times New Roman" panose="02020603050405020304" pitchFamily="18" charset="0"/>
              </a:rPr>
              <a:t>在</a:t>
            </a:r>
            <a:r>
              <a:rPr lang="en-US" altLang="zh-CN" b="1" kern="100" dirty="0">
                <a:solidFill>
                  <a:srgbClr val="014B88"/>
                </a:solidFill>
                <a:latin typeface="仿宋_GB2312"/>
                <a:cs typeface="Times New Roman" panose="02020603050405020304" pitchFamily="18" charset="0"/>
              </a:rPr>
              <a:t>B</a:t>
            </a:r>
            <a:r>
              <a:rPr lang="zh-CN" altLang="en-US" b="1" kern="100" dirty="0">
                <a:solidFill>
                  <a:srgbClr val="014B88"/>
                </a:solidFill>
                <a:latin typeface="仿宋_GB2312"/>
                <a:cs typeface="Times New Roman" panose="02020603050405020304" pitchFamily="18" charset="0"/>
              </a:rPr>
              <a:t>的逆时针方向。</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15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若 </a:t>
            </a:r>
            <a:r>
              <a:rPr lang="en-US" altLang="zh-CN" b="1" kern="100" dirty="0">
                <a:solidFill>
                  <a:srgbClr val="014B88"/>
                </a:solidFill>
                <a:latin typeface="仿宋_GB2312"/>
                <a:cs typeface="Times New Roman" panose="02020603050405020304" pitchFamily="18" charset="0"/>
              </a:rPr>
              <a:t>A × B = 0 , </a:t>
            </a:r>
            <a:r>
              <a:rPr lang="zh-CN" altLang="en-US" b="1" kern="100" dirty="0">
                <a:solidFill>
                  <a:srgbClr val="014B88"/>
                </a:solidFill>
                <a:latin typeface="仿宋_GB2312"/>
                <a:cs typeface="Times New Roman" panose="02020603050405020304" pitchFamily="18" charset="0"/>
              </a:rPr>
              <a:t>则</a:t>
            </a:r>
            <a:r>
              <a:rPr lang="en-US" altLang="zh-CN" b="1" kern="100" dirty="0">
                <a:solidFill>
                  <a:srgbClr val="014B88"/>
                </a:solidFill>
                <a:latin typeface="仿宋_GB2312"/>
                <a:cs typeface="Times New Roman" panose="02020603050405020304" pitchFamily="18" charset="0"/>
              </a:rPr>
              <a:t>A</a:t>
            </a:r>
            <a:r>
              <a:rPr lang="zh-CN" altLang="en-US" b="1" kern="100" dirty="0">
                <a:solidFill>
                  <a:srgbClr val="014B88"/>
                </a:solidFill>
                <a:latin typeface="仿宋_GB2312"/>
                <a:cs typeface="Times New Roman" panose="02020603050405020304" pitchFamily="18" charset="0"/>
              </a:rPr>
              <a:t>与</a:t>
            </a:r>
            <a:r>
              <a:rPr lang="en-US" altLang="zh-CN" b="1" kern="100" dirty="0">
                <a:solidFill>
                  <a:srgbClr val="014B88"/>
                </a:solidFill>
                <a:latin typeface="仿宋_GB2312"/>
                <a:cs typeface="Times New Roman" panose="02020603050405020304" pitchFamily="18" charset="0"/>
              </a:rPr>
              <a:t>B</a:t>
            </a:r>
            <a:r>
              <a:rPr lang="zh-CN" altLang="en-US" b="1" kern="100" dirty="0">
                <a:solidFill>
                  <a:srgbClr val="014B88"/>
                </a:solidFill>
                <a:latin typeface="仿宋_GB2312"/>
                <a:cs typeface="Times New Roman" panose="02020603050405020304" pitchFamily="18" charset="0"/>
              </a:rPr>
              <a:t>共线，但可能同向也可能反向。</a:t>
            </a:r>
            <a:endParaRPr lang="en-US" altLang="zh-CN" b="1" kern="100" dirty="0">
              <a:solidFill>
                <a:srgbClr val="014B88"/>
              </a:solidFill>
              <a:latin typeface="仿宋_GB2312"/>
              <a:cs typeface="Times New Roman" panose="02020603050405020304" pitchFamily="18" charset="0"/>
            </a:endParaRPr>
          </a:p>
          <a:p>
            <a:endParaRPr lang="zh-CN" altLang="en-US" dirty="0"/>
          </a:p>
        </p:txBody>
      </p:sp>
      <p:pic>
        <p:nvPicPr>
          <p:cNvPr id="11268" name="Picture 2" descr="http://tutorial.math.lamar.edu/Classes/CalcII/CrossProduct_files/image00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3044" y="3874133"/>
            <a:ext cx="3357562" cy="250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向量及其运算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ox(in)">
                                      <p:cBhvr>
                                        <p:cTn id="10" dur="500"/>
                                        <p:tgtEl>
                                          <p:spTgt spid="2">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ox(in)">
                                      <p:cBhvr>
                                        <p:cTn id="13" dur="500"/>
                                        <p:tgtEl>
                                          <p:spTgt spid="2">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ox(in)">
                                      <p:cBhvr>
                                        <p:cTn id="16"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550416" y="1046302"/>
            <a:ext cx="10515600" cy="5336898"/>
          </a:xfrm>
        </p:spPr>
        <p:txBody>
          <a:bodyPr>
            <a:normAutofit fontScale="77500" lnSpcReduction="20000"/>
          </a:bodyPr>
          <a:lstStyle/>
          <a:p>
            <a:pPr marL="342900" indent="-342900" algn="just">
              <a:lnSpc>
                <a:spcPct val="150000"/>
              </a:lnSpc>
              <a:buFont typeface="Wingdings" panose="05000000000000000000" pitchFamily="2" charset="2"/>
              <a:buChar char="l"/>
            </a:pPr>
            <a:r>
              <a:rPr lang="zh-CN" altLang="en-US" sz="3800" b="1" kern="100" dirty="0">
                <a:solidFill>
                  <a:srgbClr val="014B88"/>
                </a:solidFill>
                <a:latin typeface="仿宋_GB2312"/>
                <a:cs typeface="Times New Roman" panose="02020603050405020304" pitchFamily="18" charset="0"/>
              </a:rPr>
              <a:t>点在线段上</a:t>
            </a:r>
            <a:endParaRPr lang="en-US" altLang="zh-CN" sz="3800" b="1" kern="100" dirty="0">
              <a:solidFill>
                <a:srgbClr val="014B88"/>
              </a:solidFill>
              <a:latin typeface="仿宋_GB2312"/>
              <a:cs typeface="Times New Roman" panose="02020603050405020304" pitchFamily="18" charset="0"/>
            </a:endParaRPr>
          </a:p>
          <a:p>
            <a:pPr marL="800100" lvl="1" indent="-342900" algn="just">
              <a:lnSpc>
                <a:spcPct val="150000"/>
              </a:lnSpc>
              <a:buFont typeface="Wingdings" panose="05000000000000000000" pitchFamily="2" charset="2"/>
              <a:buChar char="l"/>
            </a:pPr>
            <a:r>
              <a:rPr lang="zh-CN" altLang="en-US" sz="3400" b="1" kern="100" dirty="0">
                <a:solidFill>
                  <a:srgbClr val="014B88"/>
                </a:solidFill>
                <a:latin typeface="仿宋_GB2312"/>
                <a:cs typeface="Times New Roman" panose="02020603050405020304" pitchFamily="18" charset="0"/>
              </a:rPr>
              <a:t>判断点</a:t>
            </a:r>
            <a:r>
              <a:rPr lang="en-US" altLang="zh-CN" sz="3400" b="1" kern="100" dirty="0">
                <a:solidFill>
                  <a:srgbClr val="014B88"/>
                </a:solidFill>
                <a:latin typeface="仿宋_GB2312"/>
                <a:cs typeface="Times New Roman" panose="02020603050405020304" pitchFamily="18" charset="0"/>
              </a:rPr>
              <a:t>C</a:t>
            </a:r>
            <a:r>
              <a:rPr lang="zh-CN" altLang="en-US" sz="3400" b="1" kern="100" dirty="0">
                <a:solidFill>
                  <a:srgbClr val="014B88"/>
                </a:solidFill>
                <a:latin typeface="仿宋_GB2312"/>
                <a:cs typeface="Times New Roman" panose="02020603050405020304" pitchFamily="18" charset="0"/>
              </a:rPr>
              <a:t>是否在线段</a:t>
            </a:r>
            <a:r>
              <a:rPr lang="en-US" altLang="zh-CN" sz="3400" b="1" kern="100" dirty="0">
                <a:solidFill>
                  <a:srgbClr val="014B88"/>
                </a:solidFill>
                <a:latin typeface="仿宋_GB2312"/>
                <a:cs typeface="Times New Roman" panose="02020603050405020304" pitchFamily="18" charset="0"/>
              </a:rPr>
              <a:t>AB</a:t>
            </a:r>
            <a:r>
              <a:rPr lang="zh-CN" altLang="en-US" sz="3400" b="1" kern="100" dirty="0">
                <a:solidFill>
                  <a:srgbClr val="014B88"/>
                </a:solidFill>
                <a:latin typeface="仿宋_GB2312"/>
                <a:cs typeface="Times New Roman" panose="02020603050405020304" pitchFamily="18" charset="0"/>
              </a:rPr>
              <a:t>上</a:t>
            </a:r>
            <a:endParaRPr lang="en-US" altLang="zh-CN" sz="3400" b="1" kern="100" dirty="0">
              <a:solidFill>
                <a:srgbClr val="014B88"/>
              </a:solidFill>
              <a:latin typeface="仿宋_GB2312"/>
              <a:cs typeface="Times New Roman" panose="02020603050405020304" pitchFamily="18" charset="0"/>
            </a:endParaRPr>
          </a:p>
          <a:p>
            <a:pPr marL="800100" lvl="1" indent="-342900" algn="just">
              <a:lnSpc>
                <a:spcPct val="150000"/>
              </a:lnSpc>
              <a:buFont typeface="Wingdings" panose="05000000000000000000" pitchFamily="2" charset="2"/>
              <a:buChar char="l"/>
            </a:pPr>
            <a:r>
              <a:rPr lang="zh-CN" altLang="en-US" sz="3400" b="1" kern="100" dirty="0">
                <a:solidFill>
                  <a:srgbClr val="014B88"/>
                </a:solidFill>
                <a:latin typeface="仿宋_GB2312"/>
                <a:cs typeface="Times New Roman" panose="02020603050405020304" pitchFamily="18" charset="0"/>
              </a:rPr>
              <a:t>若</a:t>
            </a:r>
            <a:r>
              <a:rPr lang="en-US" altLang="zh-CN" sz="3400" b="1" kern="100" dirty="0">
                <a:solidFill>
                  <a:srgbClr val="014B88"/>
                </a:solidFill>
                <a:latin typeface="仿宋_GB2312"/>
                <a:cs typeface="Times New Roman" panose="02020603050405020304" pitchFamily="18" charset="0"/>
              </a:rPr>
              <a:t>C</a:t>
            </a:r>
            <a:r>
              <a:rPr lang="zh-CN" altLang="en-US" sz="3400" b="1" kern="100" dirty="0">
                <a:solidFill>
                  <a:srgbClr val="014B88"/>
                </a:solidFill>
                <a:latin typeface="仿宋_GB2312"/>
                <a:cs typeface="Times New Roman" panose="02020603050405020304" pitchFamily="18" charset="0"/>
              </a:rPr>
              <a:t>在线段</a:t>
            </a:r>
            <a:r>
              <a:rPr lang="en-US" altLang="zh-CN" sz="3400" b="1" kern="100" dirty="0">
                <a:solidFill>
                  <a:srgbClr val="014B88"/>
                </a:solidFill>
                <a:latin typeface="仿宋_GB2312"/>
                <a:cs typeface="Times New Roman" panose="02020603050405020304" pitchFamily="18" charset="0"/>
              </a:rPr>
              <a:t>AB</a:t>
            </a:r>
            <a:r>
              <a:rPr lang="zh-CN" altLang="en-US" sz="3400" b="1" kern="100" dirty="0">
                <a:solidFill>
                  <a:srgbClr val="014B88"/>
                </a:solidFill>
                <a:latin typeface="仿宋_GB2312"/>
                <a:cs typeface="Times New Roman" panose="02020603050405020304" pitchFamily="18" charset="0"/>
              </a:rPr>
              <a:t>上，那么必然有</a:t>
            </a:r>
            <a:endParaRPr lang="en-US" altLang="zh-CN" sz="34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pPr>
            <a:endParaRPr lang="en-US" altLang="zh-CN" sz="38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pPr>
            <a:endParaRPr lang="en-US" altLang="zh-CN" sz="38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3800" b="1" kern="100" dirty="0">
                <a:solidFill>
                  <a:srgbClr val="014B88"/>
                </a:solidFill>
                <a:latin typeface="仿宋_GB2312"/>
                <a:cs typeface="Times New Roman" panose="02020603050405020304" pitchFamily="18" charset="0"/>
              </a:rPr>
              <a:t>若</a:t>
            </a:r>
            <a:r>
              <a:rPr lang="en-US" altLang="zh-CN" sz="3800" b="1" kern="100" dirty="0">
                <a:solidFill>
                  <a:srgbClr val="014B88"/>
                </a:solidFill>
                <a:latin typeface="仿宋_GB2312"/>
                <a:cs typeface="Times New Roman" panose="02020603050405020304" pitchFamily="18" charset="0"/>
              </a:rPr>
              <a:t>C</a:t>
            </a:r>
            <a:r>
              <a:rPr lang="zh-CN" altLang="en-US" sz="3800" b="1" kern="100" dirty="0">
                <a:solidFill>
                  <a:srgbClr val="014B88"/>
                </a:solidFill>
                <a:latin typeface="仿宋_GB2312"/>
                <a:cs typeface="Times New Roman" panose="02020603050405020304" pitchFamily="18" charset="0"/>
              </a:rPr>
              <a:t>不在线段</a:t>
            </a:r>
            <a:r>
              <a:rPr lang="en-US" altLang="zh-CN" sz="3800" b="1" kern="100" dirty="0">
                <a:solidFill>
                  <a:srgbClr val="014B88"/>
                </a:solidFill>
                <a:latin typeface="仿宋_GB2312"/>
                <a:cs typeface="Times New Roman" panose="02020603050405020304" pitchFamily="18" charset="0"/>
              </a:rPr>
              <a:t>AB</a:t>
            </a:r>
            <a:r>
              <a:rPr lang="zh-CN" altLang="en-US" sz="3800" b="1" kern="100" dirty="0">
                <a:solidFill>
                  <a:srgbClr val="014B88"/>
                </a:solidFill>
                <a:latin typeface="仿宋_GB2312"/>
                <a:cs typeface="Times New Roman" panose="02020603050405020304" pitchFamily="18" charset="0"/>
              </a:rPr>
              <a:t>上，有</a:t>
            </a:r>
            <a:endParaRPr lang="en-US" altLang="zh-CN" sz="3800" b="1" kern="100" dirty="0">
              <a:solidFill>
                <a:srgbClr val="014B88"/>
              </a:solidFill>
              <a:latin typeface="仿宋_GB2312"/>
              <a:cs typeface="Times New Roman" panose="02020603050405020304" pitchFamily="18" charset="0"/>
            </a:endParaRPr>
          </a:p>
          <a:p>
            <a:pPr marL="800100" lvl="1" indent="-342900" algn="just">
              <a:lnSpc>
                <a:spcPct val="150000"/>
              </a:lnSpc>
              <a:buFont typeface="Wingdings" panose="05000000000000000000" pitchFamily="2" charset="2"/>
              <a:buChar char="l"/>
            </a:pPr>
            <a:r>
              <a:rPr lang="en-US" altLang="zh-CN" sz="3400" b="1" kern="100" dirty="0">
                <a:solidFill>
                  <a:srgbClr val="014B88"/>
                </a:solidFill>
                <a:latin typeface="仿宋_GB2312"/>
                <a:cs typeface="Times New Roman" panose="02020603050405020304" pitchFamily="18" charset="0"/>
              </a:rPr>
              <a:t>fabs(AC × AB )   &gt;  0</a:t>
            </a:r>
          </a:p>
          <a:p>
            <a:pPr marL="800100" lvl="1" indent="-342900" algn="just">
              <a:lnSpc>
                <a:spcPct val="150000"/>
              </a:lnSpc>
              <a:buFont typeface="Wingdings" panose="05000000000000000000" pitchFamily="2" charset="2"/>
              <a:buChar char="l"/>
            </a:pPr>
            <a:r>
              <a:rPr lang="zh-CN" altLang="en-US" sz="3400" b="1" kern="100" dirty="0">
                <a:solidFill>
                  <a:srgbClr val="014B88"/>
                </a:solidFill>
                <a:latin typeface="仿宋_GB2312"/>
                <a:cs typeface="Times New Roman" panose="02020603050405020304" pitchFamily="18" charset="0"/>
              </a:rPr>
              <a:t>或者</a:t>
            </a:r>
            <a:r>
              <a:rPr lang="en-US" altLang="zh-CN" sz="3400" b="1" kern="100" dirty="0">
                <a:solidFill>
                  <a:srgbClr val="014B88"/>
                </a:solidFill>
                <a:latin typeface="仿宋_GB2312"/>
                <a:cs typeface="Times New Roman" panose="02020603050405020304" pitchFamily="18" charset="0"/>
              </a:rPr>
              <a:t>C</a:t>
            </a:r>
            <a:r>
              <a:rPr lang="zh-CN" altLang="en-US" sz="3400" b="1" kern="100" dirty="0">
                <a:solidFill>
                  <a:srgbClr val="014B88"/>
                </a:solidFill>
                <a:latin typeface="仿宋_GB2312"/>
                <a:cs typeface="Times New Roman" panose="02020603050405020304" pitchFamily="18" charset="0"/>
              </a:rPr>
              <a:t>在线段</a:t>
            </a:r>
            <a:r>
              <a:rPr lang="en-US" altLang="zh-CN" sz="3400" b="1" kern="100" dirty="0">
                <a:solidFill>
                  <a:srgbClr val="014B88"/>
                </a:solidFill>
                <a:latin typeface="仿宋_GB2312"/>
                <a:cs typeface="Times New Roman" panose="02020603050405020304" pitchFamily="18" charset="0"/>
              </a:rPr>
              <a:t>AB</a:t>
            </a:r>
            <a:r>
              <a:rPr lang="zh-CN" altLang="en-US" sz="3400" b="1" kern="100" dirty="0">
                <a:solidFill>
                  <a:srgbClr val="014B88"/>
                </a:solidFill>
                <a:latin typeface="仿宋_GB2312"/>
                <a:cs typeface="Times New Roman" panose="02020603050405020304" pitchFamily="18" charset="0"/>
              </a:rPr>
              <a:t>所在直线上</a:t>
            </a:r>
            <a:endParaRPr lang="en-US" altLang="zh-CN" sz="3400" b="1" kern="100" dirty="0">
              <a:solidFill>
                <a:srgbClr val="014B88"/>
              </a:solidFill>
              <a:latin typeface="仿宋_GB2312"/>
              <a:cs typeface="Times New Roman" panose="02020603050405020304" pitchFamily="18" charset="0"/>
            </a:endParaRPr>
          </a:p>
          <a:p>
            <a:pPr>
              <a:buFont typeface="Wingdings" panose="05000000000000000000" pitchFamily="2" charset="2"/>
              <a:buNone/>
            </a:pPr>
            <a:endParaRPr lang="zh-CN" altLang="en-US" dirty="0"/>
          </a:p>
        </p:txBody>
      </p:sp>
      <p:cxnSp>
        <p:nvCxnSpPr>
          <p:cNvPr id="10" name="直接连接符 9"/>
          <p:cNvCxnSpPr/>
          <p:nvPr/>
        </p:nvCxnSpPr>
        <p:spPr>
          <a:xfrm>
            <a:off x="6596064" y="4286250"/>
            <a:ext cx="3286125" cy="1588"/>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同心圆 20"/>
          <p:cNvSpPr/>
          <p:nvPr/>
        </p:nvSpPr>
        <p:spPr>
          <a:xfrm>
            <a:off x="7953375" y="2357439"/>
            <a:ext cx="71438" cy="71437"/>
          </a:xfrm>
          <a:prstGeom prst="donu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12294" name="TextBox 25"/>
          <p:cNvSpPr txBox="1">
            <a:spLocks noChangeArrowheads="1"/>
          </p:cNvSpPr>
          <p:nvPr/>
        </p:nvSpPr>
        <p:spPr bwMode="auto">
          <a:xfrm>
            <a:off x="6238876" y="4357689"/>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A</a:t>
            </a:r>
            <a:endParaRPr kumimoji="0" lang="zh-CN" altLang="en-US"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12295" name="TextBox 28"/>
          <p:cNvSpPr txBox="1">
            <a:spLocks noChangeArrowheads="1"/>
          </p:cNvSpPr>
          <p:nvPr/>
        </p:nvSpPr>
        <p:spPr bwMode="auto">
          <a:xfrm>
            <a:off x="9739314" y="4357689"/>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B</a:t>
            </a:r>
            <a:endParaRPr kumimoji="0" lang="zh-CN" altLang="en-US"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30" name="TextBox 29"/>
          <p:cNvSpPr txBox="1">
            <a:spLocks noChangeArrowheads="1"/>
          </p:cNvSpPr>
          <p:nvPr/>
        </p:nvSpPr>
        <p:spPr bwMode="auto">
          <a:xfrm>
            <a:off x="8096251" y="2000251"/>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C</a:t>
            </a:r>
            <a:endParaRPr kumimoji="0" lang="zh-CN" altLang="en-US"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cxnSp>
        <p:nvCxnSpPr>
          <p:cNvPr id="35" name="直接箭头连接符 34"/>
          <p:cNvCxnSpPr>
            <a:endCxn id="21" idx="3"/>
          </p:cNvCxnSpPr>
          <p:nvPr/>
        </p:nvCxnSpPr>
        <p:spPr>
          <a:xfrm rot="5400000" flipH="1" flipV="1">
            <a:off x="6346033" y="2667795"/>
            <a:ext cx="1868487" cy="1368425"/>
          </a:xfrm>
          <a:prstGeom prst="straightConnector1">
            <a:avLst/>
          </a:prstGeom>
          <a:ln w="508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6596064" y="4286250"/>
            <a:ext cx="3500437" cy="1588"/>
          </a:xfrm>
          <a:prstGeom prst="straightConnector1">
            <a:avLst/>
          </a:prstGeom>
          <a:ln w="508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43" name="同心圆 42"/>
          <p:cNvSpPr/>
          <p:nvPr/>
        </p:nvSpPr>
        <p:spPr>
          <a:xfrm flipH="1">
            <a:off x="8382000" y="4286250"/>
            <a:ext cx="71438" cy="71438"/>
          </a:xfrm>
          <a:prstGeom prst="donu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cxnSp>
        <p:nvCxnSpPr>
          <p:cNvPr id="45" name="直接箭头连接符 44"/>
          <p:cNvCxnSpPr>
            <a:endCxn id="43" idx="0"/>
          </p:cNvCxnSpPr>
          <p:nvPr/>
        </p:nvCxnSpPr>
        <p:spPr>
          <a:xfrm>
            <a:off x="6524625" y="4286250"/>
            <a:ext cx="1893888" cy="1588"/>
          </a:xfrm>
          <a:prstGeom prst="straightConnector1">
            <a:avLst/>
          </a:prstGeom>
          <a:ln w="50800">
            <a:solidFill>
              <a:srgbClr val="FF0000">
                <a:alpha val="47000"/>
              </a:srgbClr>
            </a:solidFill>
            <a:tailEnd type="arrow"/>
          </a:ln>
        </p:spPr>
        <p:style>
          <a:lnRef idx="1">
            <a:schemeClr val="accent1"/>
          </a:lnRef>
          <a:fillRef idx="0">
            <a:schemeClr val="accent1"/>
          </a:fillRef>
          <a:effectRef idx="0">
            <a:schemeClr val="accent1"/>
          </a:effectRef>
          <a:fontRef idx="minor">
            <a:schemeClr val="tx1"/>
          </a:fontRef>
        </p:style>
      </p:cxnSp>
      <p:sp>
        <p:nvSpPr>
          <p:cNvPr id="12301" name="TextBox 45"/>
          <p:cNvSpPr txBox="1">
            <a:spLocks noChangeArrowheads="1"/>
          </p:cNvSpPr>
          <p:nvPr/>
        </p:nvSpPr>
        <p:spPr bwMode="auto">
          <a:xfrm>
            <a:off x="8239126" y="4429126"/>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C</a:t>
            </a:r>
            <a:endParaRPr kumimoji="0" lang="zh-CN" altLang="en-US"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47" name="同心圆 46"/>
          <p:cNvSpPr/>
          <p:nvPr/>
        </p:nvSpPr>
        <p:spPr>
          <a:xfrm>
            <a:off x="5595939" y="4286250"/>
            <a:ext cx="71437" cy="71438"/>
          </a:xfrm>
          <a:prstGeom prst="donu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cxnSp>
        <p:nvCxnSpPr>
          <p:cNvPr id="49" name="直接连接符 48"/>
          <p:cNvCxnSpPr/>
          <p:nvPr/>
        </p:nvCxnSpPr>
        <p:spPr>
          <a:xfrm>
            <a:off x="5024439" y="4286250"/>
            <a:ext cx="1571625" cy="1588"/>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1" name="TextBox 50"/>
          <p:cNvSpPr txBox="1">
            <a:spLocks noChangeArrowheads="1"/>
          </p:cNvSpPr>
          <p:nvPr/>
        </p:nvSpPr>
        <p:spPr bwMode="auto">
          <a:xfrm>
            <a:off x="5453064" y="3714751"/>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C</a:t>
            </a:r>
            <a:endParaRPr kumimoji="0" lang="zh-CN" altLang="en-US" sz="2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graphicFrame>
        <p:nvGraphicFramePr>
          <p:cNvPr id="12305" name="对象 18"/>
          <p:cNvGraphicFramePr>
            <a:graphicFrameLocks noChangeAspect="1"/>
          </p:cNvGraphicFramePr>
          <p:nvPr/>
        </p:nvGraphicFramePr>
        <p:xfrm>
          <a:off x="1581440" y="3118925"/>
          <a:ext cx="2692400" cy="787400"/>
        </p:xfrm>
        <a:graphic>
          <a:graphicData uri="http://schemas.openxmlformats.org/presentationml/2006/ole">
            <mc:AlternateContent xmlns:mc="http://schemas.openxmlformats.org/markup-compatibility/2006">
              <mc:Choice xmlns:v="urn:schemas-microsoft-com:vml" Requires="v">
                <p:oleObj spid="_x0000_s22536" name="公式" r:id="rId3" imgW="812165" imgH="215900" progId="Equation.3">
                  <p:embed/>
                </p:oleObj>
              </mc:Choice>
              <mc:Fallback>
                <p:oleObj name="公式" r:id="rId3" imgW="812165" imgH="215900" progId="Equation.3">
                  <p:embed/>
                  <p:pic>
                    <p:nvPicPr>
                      <p:cNvPr id="12305" name="对象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1440" y="3118925"/>
                        <a:ext cx="26924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点线位置关系</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blinds(horizontal)">
                                      <p:cBhvr>
                                        <p:cTn id="7" dur="500"/>
                                        <p:tgtEl>
                                          <p:spTgt spid="2">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blinds(horizontal)">
                                      <p:cBhvr>
                                        <p:cTn id="10" dur="500"/>
                                        <p:tgtEl>
                                          <p:spTgt spid="2">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lide(fromBottom)">
                                      <p:cBhvr>
                                        <p:cTn id="15" dur="500"/>
                                        <p:tgtEl>
                                          <p:spTgt spid="35"/>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slide(fromBottom)">
                                      <p:cBhvr>
                                        <p:cTn id="18" dur="500"/>
                                        <p:tgtEl>
                                          <p:spTgt spid="30"/>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wipe(down)">
                                      <p:cBhvr>
                                        <p:cTn id="21" dur="500"/>
                                        <p:tgtEl>
                                          <p:spTgt spid="5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
                                            <p:txEl>
                                              <p:pRg st="7" end="7"/>
                                            </p:txEl>
                                          </p:spTgt>
                                        </p:tgtEl>
                                        <p:attrNameLst>
                                          <p:attrName>style.visibility</p:attrName>
                                        </p:attrNameLst>
                                      </p:cBhvr>
                                      <p:to>
                                        <p:strVal val="visible"/>
                                      </p:to>
                                    </p:set>
                                    <p:animEffect transition="in" filter="blinds(horizontal)">
                                      <p:cBhvr>
                                        <p:cTn id="26" dur="500"/>
                                        <p:tgtEl>
                                          <p:spTgt spid="2">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down)">
                                      <p:cBhvr>
                                        <p:cTn id="3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5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97149" y="1207063"/>
            <a:ext cx="10502284" cy="4856385"/>
          </a:xfrm>
        </p:spPr>
        <p:txBody>
          <a:bodyPr>
            <a:normAutofit fontScale="32500" lnSpcReduction="20000"/>
          </a:bodyPr>
          <a:lstStyle/>
          <a:p>
            <a:pPr marL="342900" indent="-342900" algn="just">
              <a:lnSpc>
                <a:spcPct val="150000"/>
              </a:lnSpc>
              <a:buFont typeface="Wingdings" panose="05000000000000000000" pitchFamily="2" charset="2"/>
              <a:buChar char="l"/>
              <a:defRPr/>
            </a:pPr>
            <a:r>
              <a:rPr lang="zh-CN" altLang="en-US" sz="8600" b="1" kern="100" dirty="0">
                <a:solidFill>
                  <a:srgbClr val="014B88"/>
                </a:solidFill>
                <a:latin typeface="仿宋_GB2312"/>
                <a:cs typeface="Times New Roman" panose="02020603050405020304" pitchFamily="18" charset="0"/>
              </a:rPr>
              <a:t>先判断点是否在以线段为对角线的矩阵中</a:t>
            </a:r>
            <a:endParaRPr lang="en-US" altLang="zh-CN" sz="86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defRPr/>
            </a:pPr>
            <a:r>
              <a:rPr lang="zh-CN" altLang="en-US" sz="8600" b="1" kern="100" dirty="0">
                <a:solidFill>
                  <a:srgbClr val="014B88"/>
                </a:solidFill>
                <a:latin typeface="仿宋_GB2312"/>
                <a:cs typeface="Times New Roman" panose="02020603050405020304" pitchFamily="18" charset="0"/>
              </a:rPr>
              <a:t>判断点是否在直线上不用考虑该问题</a:t>
            </a:r>
            <a:endParaRPr lang="en-US" altLang="zh-CN" sz="8600" b="1" kern="100" dirty="0">
              <a:solidFill>
                <a:srgbClr val="014B88"/>
              </a:solidFill>
              <a:latin typeface="仿宋_GB2312"/>
              <a:cs typeface="Times New Roman" panose="02020603050405020304" pitchFamily="18" charset="0"/>
            </a:endParaRPr>
          </a:p>
          <a:p>
            <a:pPr>
              <a:buFont typeface="Wingdings" panose="05000000000000000000" pitchFamily="2" charset="2"/>
              <a:buNone/>
              <a:defRPr/>
            </a:pPr>
            <a:endParaRPr lang="en-US" altLang="zh-CN" dirty="0"/>
          </a:p>
          <a:p>
            <a:pPr>
              <a:buFont typeface="Wingdings" panose="05000000000000000000" pitchFamily="2" charset="2"/>
              <a:buNone/>
              <a:defRPr/>
            </a:pPr>
            <a:endParaRPr lang="en-US" altLang="zh-CN" dirty="0"/>
          </a:p>
          <a:p>
            <a:pPr>
              <a:lnSpc>
                <a:spcPct val="120000"/>
              </a:lnSpc>
              <a:buFont typeface="Wingdings" panose="05000000000000000000" pitchFamily="2" charset="2"/>
              <a:buNone/>
              <a:defRPr/>
            </a:pPr>
            <a:r>
              <a:rPr lang="en-US" altLang="zh-CN" sz="5100" dirty="0">
                <a:latin typeface="Consolas" panose="020B0609020204030204" pitchFamily="49" charset="0"/>
                <a:ea typeface="宋体" panose="02010600030101010101" pitchFamily="2" charset="-122"/>
              </a:rPr>
              <a:t>inline </a:t>
            </a:r>
            <a:r>
              <a:rPr lang="en-US" altLang="zh-CN" sz="5100" dirty="0" err="1">
                <a:latin typeface="Consolas" panose="020B0609020204030204" pitchFamily="49" charset="0"/>
                <a:ea typeface="宋体" panose="02010600030101010101" pitchFamily="2" charset="-122"/>
              </a:rPr>
              <a:t>bool</a:t>
            </a:r>
            <a:r>
              <a:rPr lang="en-US" altLang="zh-CN" sz="5100" dirty="0">
                <a:latin typeface="Consolas" panose="020B0609020204030204" pitchFamily="49" charset="0"/>
                <a:ea typeface="宋体" panose="02010600030101010101" pitchFamily="2" charset="-122"/>
              </a:rPr>
              <a:t> </a:t>
            </a:r>
            <a:r>
              <a:rPr lang="en-US" altLang="zh-CN" sz="5100" dirty="0" err="1">
                <a:latin typeface="Consolas" panose="020B0609020204030204" pitchFamily="49" charset="0"/>
                <a:ea typeface="宋体" panose="02010600030101010101" pitchFamily="2" charset="-122"/>
              </a:rPr>
              <a:t>PonSeg</a:t>
            </a:r>
            <a:r>
              <a:rPr lang="en-US" altLang="zh-CN" sz="5100" dirty="0">
                <a:latin typeface="Consolas" panose="020B0609020204030204" pitchFamily="49" charset="0"/>
                <a:ea typeface="宋体" panose="02010600030101010101" pitchFamily="2" charset="-122"/>
              </a:rPr>
              <a:t>(Point </a:t>
            </a:r>
            <a:r>
              <a:rPr lang="en-US" altLang="zh-CN" sz="5100" dirty="0" err="1">
                <a:latin typeface="Consolas" panose="020B0609020204030204" pitchFamily="49" charset="0"/>
                <a:ea typeface="宋体" panose="02010600030101010101" pitchFamily="2" charset="-122"/>
              </a:rPr>
              <a:t>a,Point</a:t>
            </a:r>
            <a:r>
              <a:rPr lang="en-US" altLang="zh-CN" sz="5100" dirty="0">
                <a:latin typeface="Consolas" panose="020B0609020204030204" pitchFamily="49" charset="0"/>
                <a:ea typeface="宋体" panose="02010600030101010101" pitchFamily="2" charset="-122"/>
              </a:rPr>
              <a:t> p1,Point p2){</a:t>
            </a:r>
          </a:p>
          <a:p>
            <a:pPr>
              <a:lnSpc>
                <a:spcPct val="120000"/>
              </a:lnSpc>
              <a:buFont typeface="Wingdings" panose="05000000000000000000" pitchFamily="2" charset="2"/>
              <a:buNone/>
              <a:defRPr/>
            </a:pPr>
            <a:r>
              <a:rPr lang="en-US" altLang="zh-CN" sz="5100" dirty="0">
                <a:latin typeface="Consolas" panose="020B0609020204030204" pitchFamily="49" charset="0"/>
                <a:ea typeface="宋体" panose="02010600030101010101" pitchFamily="2" charset="-122"/>
              </a:rPr>
              <a:t>       if (</a:t>
            </a:r>
            <a:r>
              <a:rPr lang="en-US" altLang="zh-CN" sz="5100" dirty="0" err="1">
                <a:latin typeface="Consolas" panose="020B0609020204030204" pitchFamily="49" charset="0"/>
                <a:ea typeface="宋体" panose="02010600030101010101" pitchFamily="2" charset="-122"/>
              </a:rPr>
              <a:t>a.x</a:t>
            </a:r>
            <a:r>
              <a:rPr lang="en-US" altLang="zh-CN" sz="5100" dirty="0">
                <a:latin typeface="Consolas" panose="020B0609020204030204" pitchFamily="49" charset="0"/>
                <a:ea typeface="宋体" panose="02010600030101010101" pitchFamily="2" charset="-122"/>
              </a:rPr>
              <a:t> + EPS &lt; min(p1.x,p2.x) || </a:t>
            </a:r>
            <a:r>
              <a:rPr lang="en-US" altLang="zh-CN" sz="5100" dirty="0" err="1">
                <a:latin typeface="Consolas" panose="020B0609020204030204" pitchFamily="49" charset="0"/>
                <a:ea typeface="宋体" panose="02010600030101010101" pitchFamily="2" charset="-122"/>
              </a:rPr>
              <a:t>a.x</a:t>
            </a:r>
            <a:r>
              <a:rPr lang="en-US" altLang="zh-CN" sz="5100" dirty="0">
                <a:latin typeface="Consolas" panose="020B0609020204030204" pitchFamily="49" charset="0"/>
                <a:ea typeface="宋体" panose="02010600030101010101" pitchFamily="2" charset="-122"/>
              </a:rPr>
              <a:t> &gt; 				max(p1.x,p2.x) + EPS)return 0;</a:t>
            </a:r>
          </a:p>
          <a:p>
            <a:pPr>
              <a:lnSpc>
                <a:spcPct val="120000"/>
              </a:lnSpc>
              <a:buFont typeface="Wingdings" panose="05000000000000000000" pitchFamily="2" charset="2"/>
              <a:buNone/>
              <a:defRPr/>
            </a:pPr>
            <a:r>
              <a:rPr lang="en-US" altLang="zh-CN" sz="5100" dirty="0">
                <a:latin typeface="Consolas" panose="020B0609020204030204" pitchFamily="49" charset="0"/>
                <a:ea typeface="宋体" panose="02010600030101010101" pitchFamily="2" charset="-122"/>
              </a:rPr>
              <a:t>       if (</a:t>
            </a:r>
            <a:r>
              <a:rPr lang="en-US" altLang="zh-CN" sz="5100" dirty="0" err="1">
                <a:latin typeface="Consolas" panose="020B0609020204030204" pitchFamily="49" charset="0"/>
                <a:ea typeface="宋体" panose="02010600030101010101" pitchFamily="2" charset="-122"/>
              </a:rPr>
              <a:t>a.y</a:t>
            </a:r>
            <a:r>
              <a:rPr lang="en-US" altLang="zh-CN" sz="5100" dirty="0">
                <a:latin typeface="Consolas" panose="020B0609020204030204" pitchFamily="49" charset="0"/>
                <a:ea typeface="宋体" panose="02010600030101010101" pitchFamily="2" charset="-122"/>
              </a:rPr>
              <a:t> + EPS &lt; min(p1.y,p2.y) || </a:t>
            </a:r>
            <a:r>
              <a:rPr lang="en-US" altLang="zh-CN" sz="5100" dirty="0" err="1">
                <a:latin typeface="Consolas" panose="020B0609020204030204" pitchFamily="49" charset="0"/>
                <a:ea typeface="宋体" panose="02010600030101010101" pitchFamily="2" charset="-122"/>
              </a:rPr>
              <a:t>a.y</a:t>
            </a:r>
            <a:r>
              <a:rPr lang="en-US" altLang="zh-CN" sz="5100" dirty="0">
                <a:latin typeface="Consolas" panose="020B0609020204030204" pitchFamily="49" charset="0"/>
                <a:ea typeface="宋体" panose="02010600030101010101" pitchFamily="2" charset="-122"/>
              </a:rPr>
              <a:t> &gt; 				max(p1.y,p2.y) + EPS)return 0;</a:t>
            </a:r>
          </a:p>
          <a:p>
            <a:pPr>
              <a:lnSpc>
                <a:spcPct val="120000"/>
              </a:lnSpc>
              <a:buFont typeface="Wingdings" panose="05000000000000000000" pitchFamily="2" charset="2"/>
              <a:buNone/>
              <a:defRPr/>
            </a:pPr>
            <a:r>
              <a:rPr lang="en-US" altLang="zh-CN" sz="5100" dirty="0">
                <a:latin typeface="Consolas" panose="020B0609020204030204" pitchFamily="49" charset="0"/>
                <a:ea typeface="宋体" panose="02010600030101010101" pitchFamily="2" charset="-122"/>
              </a:rPr>
              <a:t>       if(</a:t>
            </a:r>
            <a:r>
              <a:rPr lang="en-US" altLang="zh-CN" sz="5100" dirty="0" err="1">
                <a:latin typeface="Consolas" panose="020B0609020204030204" pitchFamily="49" charset="0"/>
                <a:ea typeface="宋体" panose="02010600030101010101" pitchFamily="2" charset="-122"/>
              </a:rPr>
              <a:t>fabs</a:t>
            </a:r>
            <a:r>
              <a:rPr lang="en-US" altLang="zh-CN" sz="5100" dirty="0">
                <a:latin typeface="Consolas" panose="020B0609020204030204" pitchFamily="49" charset="0"/>
                <a:ea typeface="宋体" panose="02010600030101010101" pitchFamily="2" charset="-122"/>
              </a:rPr>
              <a:t>(</a:t>
            </a:r>
            <a:r>
              <a:rPr lang="en-US" altLang="zh-CN" sz="5100" dirty="0" err="1">
                <a:latin typeface="Consolas" panose="020B0609020204030204" pitchFamily="49" charset="0"/>
                <a:ea typeface="宋体" panose="02010600030101010101" pitchFamily="2" charset="-122"/>
              </a:rPr>
              <a:t>difcross</a:t>
            </a:r>
            <a:r>
              <a:rPr lang="en-US" altLang="zh-CN" sz="5100" dirty="0">
                <a:latin typeface="Consolas" panose="020B0609020204030204" pitchFamily="49" charset="0"/>
                <a:ea typeface="宋体" panose="02010600030101010101" pitchFamily="2" charset="-122"/>
              </a:rPr>
              <a:t>(a,p1,p2)) &lt; EPS) return 1;</a:t>
            </a:r>
          </a:p>
          <a:p>
            <a:pPr>
              <a:lnSpc>
                <a:spcPct val="120000"/>
              </a:lnSpc>
              <a:buFont typeface="Wingdings" panose="05000000000000000000" pitchFamily="2" charset="2"/>
              <a:buNone/>
              <a:defRPr/>
            </a:pPr>
            <a:r>
              <a:rPr lang="en-US" altLang="zh-CN" sz="5100" dirty="0">
                <a:latin typeface="Consolas" panose="020B0609020204030204" pitchFamily="49" charset="0"/>
                <a:ea typeface="宋体" panose="02010600030101010101" pitchFamily="2" charset="-122"/>
              </a:rPr>
              <a:t>       return 0;</a:t>
            </a:r>
          </a:p>
          <a:p>
            <a:pPr>
              <a:lnSpc>
                <a:spcPct val="120000"/>
              </a:lnSpc>
              <a:buFont typeface="Wingdings" panose="05000000000000000000" pitchFamily="2" charset="2"/>
              <a:buNone/>
              <a:defRPr/>
            </a:pPr>
            <a:r>
              <a:rPr lang="en-US" altLang="zh-CN" sz="5100" dirty="0">
                <a:latin typeface="Consolas" panose="020B0609020204030204" pitchFamily="49" charset="0"/>
                <a:ea typeface="宋体" panose="02010600030101010101" pitchFamily="2" charset="-122"/>
              </a:rPr>
              <a:t>}</a:t>
            </a:r>
            <a:endParaRPr lang="zh-CN" altLang="en-US" sz="5100" dirty="0">
              <a:latin typeface="Consolas" panose="020B0609020204030204" pitchFamily="49" charset="0"/>
              <a:ea typeface="宋体" panose="02010600030101010101" pitchFamily="2" charset="-122"/>
            </a:endParaRPr>
          </a:p>
        </p:txBody>
      </p:sp>
      <p:sp>
        <p:nvSpPr>
          <p:cNvPr id="4" name="矩形 3"/>
          <p:cNvSpPr/>
          <p:nvPr/>
        </p:nvSpPr>
        <p:spPr>
          <a:xfrm>
            <a:off x="8382001" y="857251"/>
            <a:ext cx="1571625" cy="2143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cxnSp>
        <p:nvCxnSpPr>
          <p:cNvPr id="6" name="直接连接符 5"/>
          <p:cNvCxnSpPr/>
          <p:nvPr/>
        </p:nvCxnSpPr>
        <p:spPr>
          <a:xfrm rot="5400000" flipH="1" flipV="1">
            <a:off x="8167688" y="1214438"/>
            <a:ext cx="2000250" cy="14287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点线位置关系</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heckerboard(across)">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dissolve">
                                      <p:cBhvr>
                                        <p:cTn id="17" dur="500"/>
                                        <p:tgtEl>
                                          <p:spTgt spid="2">
                                            <p:txEl>
                                              <p:pRg st="4" end="4"/>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dissolve">
                                      <p:cBhvr>
                                        <p:cTn id="20" dur="500"/>
                                        <p:tgtEl>
                                          <p:spTgt spid="2">
                                            <p:txEl>
                                              <p:pRg st="5" end="5"/>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dissolve">
                                      <p:cBhvr>
                                        <p:cTn id="23" dur="500"/>
                                        <p:tgtEl>
                                          <p:spTgt spid="2">
                                            <p:txEl>
                                              <p:pRg st="6" end="6"/>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2">
                                            <p:txEl>
                                              <p:pRg st="7" end="7"/>
                                            </p:txEl>
                                          </p:spTgt>
                                        </p:tgtEl>
                                        <p:attrNameLst>
                                          <p:attrName>style.visibility</p:attrName>
                                        </p:attrNameLst>
                                      </p:cBhvr>
                                      <p:to>
                                        <p:strVal val="visible"/>
                                      </p:to>
                                    </p:set>
                                    <p:animEffect transition="in" filter="dissolve">
                                      <p:cBhvr>
                                        <p:cTn id="26" dur="500"/>
                                        <p:tgtEl>
                                          <p:spTgt spid="2">
                                            <p:txEl>
                                              <p:pRg st="7" end="7"/>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animEffect transition="in" filter="dissolve">
                                      <p:cBhvr>
                                        <p:cTn id="29" dur="500"/>
                                        <p:tgtEl>
                                          <p:spTgt spid="2">
                                            <p:txEl>
                                              <p:pRg st="8" end="8"/>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2">
                                            <p:txEl>
                                              <p:pRg st="9" end="9"/>
                                            </p:txEl>
                                          </p:spTgt>
                                        </p:tgtEl>
                                        <p:attrNameLst>
                                          <p:attrName>style.visibility</p:attrName>
                                        </p:attrNameLst>
                                      </p:cBhvr>
                                      <p:to>
                                        <p:strVal val="visible"/>
                                      </p:to>
                                    </p:set>
                                    <p:animEffect transition="in" filter="dissolve">
                                      <p:cBhvr>
                                        <p:cTn id="3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a:xfrm>
            <a:off x="0" y="3694113"/>
            <a:ext cx="2466975" cy="1276350"/>
          </a:xfrm>
        </p:spPr>
      </p:pic>
      <p:pic>
        <p:nvPicPr>
          <p:cNvPr id="235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1875" y="1285875"/>
            <a:ext cx="2933700" cy="127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7064" y="2714625"/>
            <a:ext cx="2695575"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1814" y="2857501"/>
            <a:ext cx="34766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2689" y="4071938"/>
            <a:ext cx="30765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81814" y="5500689"/>
            <a:ext cx="23145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1"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38938" y="3857626"/>
            <a:ext cx="222885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2"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6938" y="5214939"/>
            <a:ext cx="35242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7" name="TextBox 12"/>
          <p:cNvSpPr txBox="1">
            <a:spLocks noChangeArrowheads="1"/>
          </p:cNvSpPr>
          <p:nvPr/>
        </p:nvSpPr>
        <p:spPr bwMode="auto">
          <a:xfrm>
            <a:off x="2095501" y="1500188"/>
            <a:ext cx="3286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1" u="none" strike="noStrike" kern="1200" cap="none" spc="0" normalizeH="0" baseline="0" noProof="0" dirty="0">
                <a:ln>
                  <a:noFill/>
                </a:ln>
                <a:solidFill>
                  <a:prstClr val="black"/>
                </a:solidFill>
                <a:effectLst/>
                <a:uLnTx/>
                <a:uFillTx/>
                <a:latin typeface="Arial" panose="020B0604020202020204" pitchFamily="34" charset="0"/>
                <a:ea typeface="华文细黑" panose="02010600040101010101" pitchFamily="2" charset="-122"/>
                <a:cs typeface="+mn-cs"/>
              </a:rPr>
              <a:t>线段与线段</a:t>
            </a:r>
          </a:p>
        </p:txBody>
      </p:sp>
      <p:sp>
        <p:nvSpPr>
          <p:cNvPr id="1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点线位置关系</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box(in)">
                                      <p:cBhvr>
                                        <p:cTn id="7" dur="500"/>
                                        <p:tgtEl>
                                          <p:spTgt spid="2355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3556"/>
                                        </p:tgtEl>
                                        <p:attrNameLst>
                                          <p:attrName>style.visibility</p:attrName>
                                        </p:attrNameLst>
                                      </p:cBhvr>
                                      <p:to>
                                        <p:strVal val="visible"/>
                                      </p:to>
                                    </p:set>
                                    <p:animEffect transition="in" filter="diamond(in)">
                                      <p:cBhvr>
                                        <p:cTn id="12" dur="2000"/>
                                        <p:tgtEl>
                                          <p:spTgt spid="2355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557"/>
                                        </p:tgtEl>
                                        <p:attrNameLst>
                                          <p:attrName>style.visibility</p:attrName>
                                        </p:attrNameLst>
                                      </p:cBhvr>
                                      <p:to>
                                        <p:strVal val="visible"/>
                                      </p:to>
                                    </p:set>
                                    <p:anim calcmode="lin" valueType="num">
                                      <p:cBhvr additive="base">
                                        <p:cTn id="17" dur="500" fill="hold"/>
                                        <p:tgtEl>
                                          <p:spTgt spid="23557"/>
                                        </p:tgtEl>
                                        <p:attrNameLst>
                                          <p:attrName>ppt_x</p:attrName>
                                        </p:attrNameLst>
                                      </p:cBhvr>
                                      <p:tavLst>
                                        <p:tav tm="0">
                                          <p:val>
                                            <p:strVal val="#ppt_x"/>
                                          </p:val>
                                        </p:tav>
                                        <p:tav tm="100000">
                                          <p:val>
                                            <p:strVal val="#ppt_x"/>
                                          </p:val>
                                        </p:tav>
                                      </p:tavLst>
                                    </p:anim>
                                    <p:anim calcmode="lin" valueType="num">
                                      <p:cBhvr additive="base">
                                        <p:cTn id="18" dur="500" fill="hold"/>
                                        <p:tgtEl>
                                          <p:spTgt spid="2355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3558"/>
                                        </p:tgtEl>
                                        <p:attrNameLst>
                                          <p:attrName>style.visibility</p:attrName>
                                        </p:attrNameLst>
                                      </p:cBhvr>
                                      <p:to>
                                        <p:strVal val="visible"/>
                                      </p:to>
                                    </p:set>
                                    <p:anim calcmode="lin" valueType="num">
                                      <p:cBhvr additive="base">
                                        <p:cTn id="23" dur="500" fill="hold"/>
                                        <p:tgtEl>
                                          <p:spTgt spid="23558"/>
                                        </p:tgtEl>
                                        <p:attrNameLst>
                                          <p:attrName>ppt_x</p:attrName>
                                        </p:attrNameLst>
                                      </p:cBhvr>
                                      <p:tavLst>
                                        <p:tav tm="0">
                                          <p:val>
                                            <p:strVal val="#ppt_x"/>
                                          </p:val>
                                        </p:tav>
                                        <p:tav tm="100000">
                                          <p:val>
                                            <p:strVal val="#ppt_x"/>
                                          </p:val>
                                        </p:tav>
                                      </p:tavLst>
                                    </p:anim>
                                    <p:anim calcmode="lin" valueType="num">
                                      <p:cBhvr additive="base">
                                        <p:cTn id="24" dur="500" fill="hold"/>
                                        <p:tgtEl>
                                          <p:spTgt spid="2355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3559"/>
                                        </p:tgtEl>
                                        <p:attrNameLst>
                                          <p:attrName>style.visibility</p:attrName>
                                        </p:attrNameLst>
                                      </p:cBhvr>
                                      <p:to>
                                        <p:strVal val="visible"/>
                                      </p:to>
                                    </p:set>
                                    <p:anim calcmode="lin" valueType="num">
                                      <p:cBhvr additive="base">
                                        <p:cTn id="29" dur="500" fill="hold"/>
                                        <p:tgtEl>
                                          <p:spTgt spid="23559"/>
                                        </p:tgtEl>
                                        <p:attrNameLst>
                                          <p:attrName>ppt_x</p:attrName>
                                        </p:attrNameLst>
                                      </p:cBhvr>
                                      <p:tavLst>
                                        <p:tav tm="0">
                                          <p:val>
                                            <p:strVal val="#ppt_x"/>
                                          </p:val>
                                        </p:tav>
                                        <p:tav tm="100000">
                                          <p:val>
                                            <p:strVal val="#ppt_x"/>
                                          </p:val>
                                        </p:tav>
                                      </p:tavLst>
                                    </p:anim>
                                    <p:anim calcmode="lin" valueType="num">
                                      <p:cBhvr additive="base">
                                        <p:cTn id="30"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3561"/>
                                        </p:tgtEl>
                                        <p:attrNameLst>
                                          <p:attrName>style.visibility</p:attrName>
                                        </p:attrNameLst>
                                      </p:cBhvr>
                                      <p:to>
                                        <p:strVal val="visible"/>
                                      </p:to>
                                    </p:set>
                                    <p:anim calcmode="lin" valueType="num">
                                      <p:cBhvr additive="base">
                                        <p:cTn id="35" dur="500" fill="hold"/>
                                        <p:tgtEl>
                                          <p:spTgt spid="23561"/>
                                        </p:tgtEl>
                                        <p:attrNameLst>
                                          <p:attrName>ppt_x</p:attrName>
                                        </p:attrNameLst>
                                      </p:cBhvr>
                                      <p:tavLst>
                                        <p:tav tm="0">
                                          <p:val>
                                            <p:strVal val="#ppt_x"/>
                                          </p:val>
                                        </p:tav>
                                        <p:tav tm="100000">
                                          <p:val>
                                            <p:strVal val="#ppt_x"/>
                                          </p:val>
                                        </p:tav>
                                      </p:tavLst>
                                    </p:anim>
                                    <p:anim calcmode="lin" valueType="num">
                                      <p:cBhvr additive="base">
                                        <p:cTn id="36" dur="500" fill="hold"/>
                                        <p:tgtEl>
                                          <p:spTgt spid="2356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3562"/>
                                        </p:tgtEl>
                                        <p:attrNameLst>
                                          <p:attrName>style.visibility</p:attrName>
                                        </p:attrNameLst>
                                      </p:cBhvr>
                                      <p:to>
                                        <p:strVal val="visible"/>
                                      </p:to>
                                    </p:set>
                                    <p:anim calcmode="lin" valueType="num">
                                      <p:cBhvr additive="base">
                                        <p:cTn id="41" dur="500" fill="hold"/>
                                        <p:tgtEl>
                                          <p:spTgt spid="23562"/>
                                        </p:tgtEl>
                                        <p:attrNameLst>
                                          <p:attrName>ppt_x</p:attrName>
                                        </p:attrNameLst>
                                      </p:cBhvr>
                                      <p:tavLst>
                                        <p:tav tm="0">
                                          <p:val>
                                            <p:strVal val="#ppt_x"/>
                                          </p:val>
                                        </p:tav>
                                        <p:tav tm="100000">
                                          <p:val>
                                            <p:strVal val="#ppt_x"/>
                                          </p:val>
                                        </p:tav>
                                      </p:tavLst>
                                    </p:anim>
                                    <p:anim calcmode="lin" valueType="num">
                                      <p:cBhvr additive="base">
                                        <p:cTn id="42" dur="500" fill="hold"/>
                                        <p:tgtEl>
                                          <p:spTgt spid="2356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3560"/>
                                        </p:tgtEl>
                                        <p:attrNameLst>
                                          <p:attrName>style.visibility</p:attrName>
                                        </p:attrNameLst>
                                      </p:cBhvr>
                                      <p:to>
                                        <p:strVal val="visible"/>
                                      </p:to>
                                    </p:set>
                                    <p:anim calcmode="lin" valueType="num">
                                      <p:cBhvr additive="base">
                                        <p:cTn id="47" dur="500" fill="hold"/>
                                        <p:tgtEl>
                                          <p:spTgt spid="23560"/>
                                        </p:tgtEl>
                                        <p:attrNameLst>
                                          <p:attrName>ppt_x</p:attrName>
                                        </p:attrNameLst>
                                      </p:cBhvr>
                                      <p:tavLst>
                                        <p:tav tm="0">
                                          <p:val>
                                            <p:strVal val="#ppt_x"/>
                                          </p:val>
                                        </p:tav>
                                        <p:tav tm="100000">
                                          <p:val>
                                            <p:strVal val="#ppt_x"/>
                                          </p:val>
                                        </p:tav>
                                      </p:tavLst>
                                    </p:anim>
                                    <p:anim calcmode="lin" valueType="num">
                                      <p:cBhvr additive="base">
                                        <p:cTn id="48" dur="500" fill="hold"/>
                                        <p:tgtEl>
                                          <p:spTgt spid="235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4294967295"/>
          </p:nvPr>
        </p:nvSpPr>
        <p:spPr>
          <a:xfrm>
            <a:off x="496519" y="1150259"/>
            <a:ext cx="10515600" cy="4351337"/>
          </a:xfrm>
        </p:spPr>
        <p:txBody>
          <a:bodyPr>
            <a:normAutofit/>
          </a:bodyPr>
          <a:lstStyle/>
          <a:p>
            <a:pPr marL="342900" indent="-342900" algn="just">
              <a:lnSpc>
                <a:spcPct val="15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如图，线段</a:t>
            </a:r>
            <a:r>
              <a:rPr lang="en-US" altLang="zh-CN" sz="2400" b="1" kern="100" dirty="0" err="1">
                <a:solidFill>
                  <a:srgbClr val="014B88"/>
                </a:solidFill>
                <a:latin typeface="仿宋_GB2312"/>
                <a:cs typeface="Times New Roman" panose="02020603050405020304" pitchFamily="18" charset="0"/>
              </a:rPr>
              <a:t>ab</a:t>
            </a:r>
            <a:r>
              <a:rPr lang="zh-CN" altLang="en-US" sz="2400" b="1" kern="100" dirty="0">
                <a:solidFill>
                  <a:srgbClr val="014B88"/>
                </a:solidFill>
                <a:latin typeface="仿宋_GB2312"/>
                <a:cs typeface="Times New Roman" panose="02020603050405020304" pitchFamily="18" charset="0"/>
              </a:rPr>
              <a:t>与线段</a:t>
            </a:r>
            <a:r>
              <a:rPr lang="en-US" altLang="zh-CN" sz="2400" b="1" kern="100" dirty="0" err="1">
                <a:solidFill>
                  <a:srgbClr val="014B88"/>
                </a:solidFill>
                <a:latin typeface="仿宋_GB2312"/>
                <a:cs typeface="Times New Roman" panose="02020603050405020304" pitchFamily="18" charset="0"/>
              </a:rPr>
              <a:t>cd</a:t>
            </a:r>
            <a:r>
              <a:rPr lang="zh-CN" altLang="en-US" sz="2400" b="1" kern="100" dirty="0">
                <a:solidFill>
                  <a:srgbClr val="014B88"/>
                </a:solidFill>
                <a:latin typeface="仿宋_GB2312"/>
                <a:cs typeface="Times New Roman" panose="02020603050405020304" pitchFamily="18" charset="0"/>
              </a:rPr>
              <a:t>规范相交，则向量</a:t>
            </a:r>
            <a:r>
              <a:rPr lang="en-US" altLang="zh-CN" sz="2400" b="1" kern="100" dirty="0">
                <a:solidFill>
                  <a:srgbClr val="014B88"/>
                </a:solidFill>
                <a:latin typeface="仿宋_GB2312"/>
                <a:cs typeface="Times New Roman" panose="02020603050405020304" pitchFamily="18" charset="0"/>
              </a:rPr>
              <a:t>ac</a:t>
            </a:r>
            <a:r>
              <a:rPr lang="zh-CN" altLang="en-US" sz="2400" b="1" kern="100" dirty="0">
                <a:solidFill>
                  <a:srgbClr val="014B88"/>
                </a:solidFill>
                <a:latin typeface="仿宋_GB2312"/>
                <a:cs typeface="Times New Roman" panose="02020603050405020304" pitchFamily="18" charset="0"/>
              </a:rPr>
              <a:t>和向量</a:t>
            </a:r>
            <a:r>
              <a:rPr lang="en-US" altLang="zh-CN" sz="2400" b="1" kern="100" dirty="0">
                <a:solidFill>
                  <a:srgbClr val="014B88"/>
                </a:solidFill>
                <a:latin typeface="仿宋_GB2312"/>
                <a:cs typeface="Times New Roman" panose="02020603050405020304" pitchFamily="18" charset="0"/>
              </a:rPr>
              <a:t>ad</a:t>
            </a:r>
            <a:r>
              <a:rPr lang="zh-CN" altLang="en-US" sz="2400" b="1" kern="100" dirty="0">
                <a:solidFill>
                  <a:srgbClr val="014B88"/>
                </a:solidFill>
                <a:latin typeface="仿宋_GB2312"/>
                <a:cs typeface="Times New Roman" panose="02020603050405020304" pitchFamily="18" charset="0"/>
              </a:rPr>
              <a:t>在向量</a:t>
            </a:r>
            <a:r>
              <a:rPr lang="en-US" altLang="zh-CN" sz="2400" b="1" kern="100" dirty="0" err="1">
                <a:solidFill>
                  <a:srgbClr val="014B88"/>
                </a:solidFill>
                <a:latin typeface="仿宋_GB2312"/>
                <a:cs typeface="Times New Roman" panose="02020603050405020304" pitchFamily="18" charset="0"/>
              </a:rPr>
              <a:t>ab</a:t>
            </a:r>
            <a:r>
              <a:rPr lang="zh-CN" altLang="en-US" sz="2400" b="1" kern="100" dirty="0">
                <a:solidFill>
                  <a:srgbClr val="014B88"/>
                </a:solidFill>
                <a:latin typeface="仿宋_GB2312"/>
                <a:cs typeface="Times New Roman" panose="02020603050405020304" pitchFamily="18" charset="0"/>
              </a:rPr>
              <a:t>的两侧，即符合条件</a:t>
            </a:r>
            <a:r>
              <a:rPr lang="en-US" altLang="zh-CN" sz="2400" b="1" kern="100" dirty="0">
                <a:solidFill>
                  <a:srgbClr val="014B88"/>
                </a:solidFill>
                <a:latin typeface="仿宋_GB2312"/>
                <a:cs typeface="Times New Roman" panose="02020603050405020304" pitchFamily="18" charset="0"/>
              </a:rPr>
              <a:t>(</a:t>
            </a:r>
            <a:r>
              <a:rPr lang="en-US" altLang="zh-CN" sz="2400" b="1" kern="100" dirty="0" err="1">
                <a:solidFill>
                  <a:srgbClr val="014B88"/>
                </a:solidFill>
                <a:latin typeface="仿宋_GB2312"/>
                <a:cs typeface="Times New Roman" panose="02020603050405020304" pitchFamily="18" charset="0"/>
              </a:rPr>
              <a:t>ab×ad</a:t>
            </a:r>
            <a:r>
              <a:rPr lang="en-US" altLang="zh-CN" sz="2400" b="1" kern="100" dirty="0">
                <a:solidFill>
                  <a:srgbClr val="014B88"/>
                </a:solidFill>
                <a:latin typeface="仿宋_GB2312"/>
                <a:cs typeface="Times New Roman" panose="02020603050405020304" pitchFamily="18" charset="0"/>
              </a:rPr>
              <a:t>) (ab ×ac) &lt; 0</a:t>
            </a:r>
            <a:r>
              <a:rPr lang="zh-CN" altLang="en-US" sz="2400" b="1" kern="100" dirty="0">
                <a:solidFill>
                  <a:srgbClr val="014B88"/>
                </a:solidFill>
                <a:latin typeface="仿宋_GB2312"/>
                <a:cs typeface="Times New Roman" panose="02020603050405020304" pitchFamily="18" charset="0"/>
              </a:rPr>
              <a:t>，即可通过该条件判定</a:t>
            </a:r>
            <a:r>
              <a:rPr lang="en-US" altLang="zh-CN" sz="2400" b="1" kern="100" dirty="0">
                <a:solidFill>
                  <a:srgbClr val="014B88"/>
                </a:solidFill>
                <a:latin typeface="仿宋_GB2312"/>
                <a:cs typeface="Times New Roman" panose="02020603050405020304" pitchFamily="18" charset="0"/>
              </a:rPr>
              <a:t>c</a:t>
            </a:r>
            <a:r>
              <a:rPr lang="zh-CN" altLang="en-US" sz="2400" b="1" kern="100" dirty="0">
                <a:solidFill>
                  <a:srgbClr val="014B88"/>
                </a:solidFill>
                <a:latin typeface="仿宋_GB2312"/>
                <a:cs typeface="Times New Roman" panose="02020603050405020304" pitchFamily="18" charset="0"/>
              </a:rPr>
              <a:t>和</a:t>
            </a:r>
            <a:r>
              <a:rPr lang="en-US" altLang="zh-CN" sz="2400" b="1" kern="100" dirty="0">
                <a:solidFill>
                  <a:srgbClr val="014B88"/>
                </a:solidFill>
                <a:latin typeface="仿宋_GB2312"/>
                <a:cs typeface="Times New Roman" panose="02020603050405020304" pitchFamily="18" charset="0"/>
              </a:rPr>
              <a:t>d</a:t>
            </a:r>
            <a:r>
              <a:rPr lang="zh-CN" altLang="en-US" sz="2400" b="1" kern="100" dirty="0">
                <a:solidFill>
                  <a:srgbClr val="014B88"/>
                </a:solidFill>
                <a:latin typeface="仿宋_GB2312"/>
                <a:cs typeface="Times New Roman" panose="02020603050405020304" pitchFamily="18" charset="0"/>
              </a:rPr>
              <a:t>在</a:t>
            </a:r>
            <a:r>
              <a:rPr lang="en-US" altLang="zh-CN" sz="2400" b="1" kern="100" dirty="0" err="1">
                <a:solidFill>
                  <a:srgbClr val="014B88"/>
                </a:solidFill>
                <a:latin typeface="仿宋_GB2312"/>
                <a:cs typeface="Times New Roman" panose="02020603050405020304" pitchFamily="18" charset="0"/>
              </a:rPr>
              <a:t>ab</a:t>
            </a:r>
            <a:r>
              <a:rPr lang="zh-CN" altLang="en-US" sz="2400" b="1" kern="100" dirty="0">
                <a:solidFill>
                  <a:srgbClr val="014B88"/>
                </a:solidFill>
                <a:latin typeface="仿宋_GB2312"/>
                <a:cs typeface="Times New Roman" panose="02020603050405020304" pitchFamily="18" charset="0"/>
              </a:rPr>
              <a:t>的两侧</a:t>
            </a:r>
            <a:endParaRPr lang="en-US" altLang="zh-CN" sz="24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同理可判定</a:t>
            </a:r>
            <a:r>
              <a:rPr lang="en-US" altLang="zh-CN" sz="2400" b="1" kern="100" dirty="0">
                <a:solidFill>
                  <a:srgbClr val="014B88"/>
                </a:solidFill>
                <a:latin typeface="仿宋_GB2312"/>
                <a:cs typeface="Times New Roman" panose="02020603050405020304" pitchFamily="18" charset="0"/>
              </a:rPr>
              <a:t>a</a:t>
            </a:r>
            <a:r>
              <a:rPr lang="zh-CN" altLang="en-US" sz="2400" b="1" kern="100" dirty="0">
                <a:solidFill>
                  <a:srgbClr val="014B88"/>
                </a:solidFill>
                <a:latin typeface="仿宋_GB2312"/>
                <a:cs typeface="Times New Roman" panose="02020603050405020304" pitchFamily="18" charset="0"/>
              </a:rPr>
              <a:t>和</a:t>
            </a:r>
            <a:r>
              <a:rPr lang="en-US" altLang="zh-CN" sz="2400" b="1" kern="100" dirty="0">
                <a:solidFill>
                  <a:srgbClr val="014B88"/>
                </a:solidFill>
                <a:latin typeface="仿宋_GB2312"/>
                <a:cs typeface="Times New Roman" panose="02020603050405020304" pitchFamily="18" charset="0"/>
              </a:rPr>
              <a:t>b</a:t>
            </a:r>
            <a:r>
              <a:rPr lang="zh-CN" altLang="en-US" sz="2400" b="1" kern="100" dirty="0">
                <a:solidFill>
                  <a:srgbClr val="014B88"/>
                </a:solidFill>
                <a:latin typeface="仿宋_GB2312"/>
                <a:cs typeface="Times New Roman" panose="02020603050405020304" pitchFamily="18" charset="0"/>
              </a:rPr>
              <a:t>是否在</a:t>
            </a:r>
            <a:r>
              <a:rPr lang="en-US" altLang="zh-CN" sz="2400" b="1" kern="100" dirty="0" err="1">
                <a:solidFill>
                  <a:srgbClr val="014B88"/>
                </a:solidFill>
                <a:latin typeface="仿宋_GB2312"/>
                <a:cs typeface="Times New Roman" panose="02020603050405020304" pitchFamily="18" charset="0"/>
              </a:rPr>
              <a:t>cd</a:t>
            </a:r>
            <a:r>
              <a:rPr lang="zh-CN" altLang="en-US" sz="2400" b="1" kern="100" dirty="0">
                <a:solidFill>
                  <a:srgbClr val="014B88"/>
                </a:solidFill>
                <a:latin typeface="仿宋_GB2312"/>
                <a:cs typeface="Times New Roman" panose="02020603050405020304" pitchFamily="18" charset="0"/>
              </a:rPr>
              <a:t>的两侧</a:t>
            </a:r>
            <a:endParaRPr lang="en-US" altLang="zh-CN" sz="24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特殊的相交情况特殊判定！</a:t>
            </a:r>
            <a:endParaRPr lang="en-US" altLang="zh-CN" sz="24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快速排斥实验：</a:t>
            </a:r>
            <a:endParaRPr lang="en-US" altLang="zh-CN" sz="2400" b="1" kern="100" dirty="0">
              <a:solidFill>
                <a:srgbClr val="014B88"/>
              </a:solidFill>
              <a:latin typeface="仿宋_GB2312"/>
              <a:cs typeface="Times New Roman" panose="02020603050405020304" pitchFamily="18" charset="0"/>
            </a:endParaRPr>
          </a:p>
          <a:p>
            <a:pPr>
              <a:buFont typeface="Wingdings" panose="05000000000000000000" pitchFamily="2" charset="2"/>
              <a:buNone/>
              <a:defRPr/>
            </a:pPr>
            <a:endParaRPr lang="en-US" altLang="zh-CN" dirty="0">
              <a:latin typeface="宋体" panose="02010600030101010101" pitchFamily="2" charset="-122"/>
              <a:ea typeface="宋体" panose="02010600030101010101" pitchFamily="2" charset="-122"/>
            </a:endParaRPr>
          </a:p>
          <a:p>
            <a:pPr>
              <a:buFont typeface="Wingdings" panose="05000000000000000000" pitchFamily="2" charset="2"/>
              <a:buNone/>
              <a:defRPr/>
            </a:pPr>
            <a:endParaRPr lang="en-US" altLang="zh-CN" dirty="0">
              <a:latin typeface="宋体" panose="02010600030101010101" pitchFamily="2" charset="-122"/>
              <a:ea typeface="宋体" panose="02010600030101010101" pitchFamily="2" charset="-122"/>
            </a:endParaRPr>
          </a:p>
          <a:p>
            <a:pPr>
              <a:buFont typeface="Wingdings" panose="05000000000000000000" pitchFamily="2" charset="2"/>
              <a:buNone/>
              <a:defRPr/>
            </a:pPr>
            <a:endParaRPr lang="zh-CN" altLang="en-US" dirty="0">
              <a:latin typeface="宋体" panose="02010600030101010101" pitchFamily="2" charset="-122"/>
              <a:ea typeface="宋体" panose="02010600030101010101" pitchFamily="2" charset="-122"/>
            </a:endParaRPr>
          </a:p>
        </p:txBody>
      </p:sp>
      <p:pic>
        <p:nvPicPr>
          <p:cNvPr id="1536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5338" y="2290083"/>
            <a:ext cx="20002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8796" y="4173103"/>
            <a:ext cx="4930775" cy="230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点线位置关系</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slide(fromBottom)">
                                      <p:cBhvr>
                                        <p:cTn id="19" dur="500"/>
                                        <p:tgtEl>
                                          <p:spTgt spid="8">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8">
                                            <p:txEl>
                                              <p:pRg st="3" end="3"/>
                                            </p:txEl>
                                          </p:spTgt>
                                        </p:tgtEl>
                                        <p:attrNameLst>
                                          <p:attrName>style.visibility</p:attrName>
                                        </p:attrNameLst>
                                      </p:cBhvr>
                                      <p:to>
                                        <p:strVal val="visible"/>
                                      </p:to>
                                    </p:set>
                                    <p:animEffect transition="in" filter="slide(fromBottom)">
                                      <p:cBhvr>
                                        <p:cTn id="24" dur="500"/>
                                        <p:tgtEl>
                                          <p:spTgt spid="8">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389"/>
                                        </p:tgtEl>
                                        <p:attrNameLst>
                                          <p:attrName>style.visibility</p:attrName>
                                        </p:attrNameLst>
                                      </p:cBhvr>
                                      <p:to>
                                        <p:strVal val="visible"/>
                                      </p:to>
                                    </p:set>
                                    <p:animEffect transition="in" filter="fade">
                                      <p:cBhvr>
                                        <p:cTn id="29"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59088" y="1371599"/>
            <a:ext cx="11259436" cy="4351337"/>
          </a:xfrm>
        </p:spPr>
        <p:txBody>
          <a:bodyPr>
            <a:normAutofit lnSpcReduction="10000"/>
          </a:bodyPr>
          <a:lstStyle/>
          <a:p>
            <a:pPr marL="342900" indent="-342900" algn="just">
              <a:lnSpc>
                <a:spcPct val="15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点是否在多边形内判断</a:t>
            </a:r>
            <a:endParaRPr lang="en-US" altLang="zh-CN" sz="2400" b="1" kern="100" dirty="0">
              <a:solidFill>
                <a:srgbClr val="014B88"/>
              </a:solidFill>
              <a:latin typeface="仿宋_GB2312"/>
              <a:cs typeface="Times New Roman" panose="02020603050405020304" pitchFamily="18" charset="0"/>
            </a:endParaRPr>
          </a:p>
          <a:p>
            <a:pPr marL="0" indent="0" algn="just">
              <a:lnSpc>
                <a:spcPct val="150000"/>
              </a:lnSpc>
              <a:buNone/>
              <a:defRPr/>
            </a:pPr>
            <a:r>
              <a:rPr lang="en-US" altLang="zh-CN" sz="2400" b="1" kern="100" dirty="0">
                <a:solidFill>
                  <a:srgbClr val="014B88"/>
                </a:solidFill>
                <a:latin typeface="仿宋_GB2312"/>
                <a:cs typeface="Times New Roman" panose="02020603050405020304" pitchFamily="18" charset="0"/>
              </a:rPr>
              <a:t>	</a:t>
            </a:r>
            <a:r>
              <a:rPr lang="zh-CN" altLang="en-US" sz="2400" b="1" kern="100" dirty="0">
                <a:solidFill>
                  <a:srgbClr val="014B88"/>
                </a:solidFill>
                <a:latin typeface="仿宋_GB2312"/>
                <a:cs typeface="Times New Roman" panose="02020603050405020304" pitchFamily="18" charset="0"/>
              </a:rPr>
              <a:t>凸多边形</a:t>
            </a:r>
            <a:endParaRPr lang="en-US" altLang="zh-CN" sz="2400" b="1" kern="100" dirty="0">
              <a:solidFill>
                <a:srgbClr val="014B88"/>
              </a:solidFill>
              <a:latin typeface="仿宋_GB2312"/>
              <a:cs typeface="Times New Roman" panose="02020603050405020304" pitchFamily="18" charset="0"/>
            </a:endParaRPr>
          </a:p>
          <a:p>
            <a:pPr marL="0" indent="0" algn="just">
              <a:lnSpc>
                <a:spcPct val="150000"/>
              </a:lnSpc>
              <a:buNone/>
              <a:defRPr/>
            </a:pPr>
            <a:r>
              <a:rPr lang="en-US" altLang="zh-CN" sz="2400" b="1" kern="100" dirty="0">
                <a:solidFill>
                  <a:srgbClr val="014B88"/>
                </a:solidFill>
                <a:latin typeface="仿宋_GB2312"/>
                <a:cs typeface="Times New Roman" panose="02020603050405020304" pitchFamily="18" charset="0"/>
              </a:rPr>
              <a:t>		</a:t>
            </a:r>
            <a:r>
              <a:rPr lang="zh-CN" altLang="en-US" sz="2400" b="1" kern="100" dirty="0">
                <a:solidFill>
                  <a:srgbClr val="014B88"/>
                </a:solidFill>
                <a:latin typeface="仿宋_GB2312"/>
                <a:cs typeface="Times New Roman" panose="02020603050405020304" pitchFamily="18" charset="0"/>
              </a:rPr>
              <a:t>直接叉积判断</a:t>
            </a:r>
            <a:endParaRPr lang="en-US" altLang="zh-CN" sz="2400" b="1" kern="100" dirty="0">
              <a:solidFill>
                <a:srgbClr val="014B88"/>
              </a:solidFill>
              <a:latin typeface="仿宋_GB2312"/>
              <a:cs typeface="Times New Roman" panose="02020603050405020304" pitchFamily="18" charset="0"/>
            </a:endParaRPr>
          </a:p>
          <a:p>
            <a:pPr marL="0" indent="0" algn="just">
              <a:lnSpc>
                <a:spcPct val="150000"/>
              </a:lnSpc>
              <a:buNone/>
              <a:defRPr/>
            </a:pPr>
            <a:r>
              <a:rPr lang="en-US" altLang="zh-CN" sz="2400" b="1" kern="100" dirty="0">
                <a:solidFill>
                  <a:srgbClr val="014B88"/>
                </a:solidFill>
                <a:latin typeface="仿宋_GB2312"/>
                <a:cs typeface="Times New Roman" panose="02020603050405020304" pitchFamily="18" charset="0"/>
              </a:rPr>
              <a:t>	</a:t>
            </a:r>
            <a:r>
              <a:rPr lang="zh-CN" altLang="en-US" sz="2400" b="1" kern="100" dirty="0">
                <a:solidFill>
                  <a:srgbClr val="014B88"/>
                </a:solidFill>
                <a:latin typeface="仿宋_GB2312"/>
                <a:cs typeface="Times New Roman" panose="02020603050405020304" pitchFamily="18" charset="0"/>
              </a:rPr>
              <a:t>一般多边形</a:t>
            </a:r>
            <a:endParaRPr lang="en-US" altLang="zh-CN" sz="2400" b="1" kern="100" dirty="0">
              <a:solidFill>
                <a:srgbClr val="014B88"/>
              </a:solidFill>
              <a:latin typeface="仿宋_GB2312"/>
              <a:cs typeface="Times New Roman" panose="02020603050405020304" pitchFamily="18" charset="0"/>
            </a:endParaRPr>
          </a:p>
          <a:p>
            <a:pPr marL="0" indent="0" algn="just">
              <a:lnSpc>
                <a:spcPct val="150000"/>
              </a:lnSpc>
              <a:buNone/>
              <a:defRPr/>
            </a:pPr>
            <a:r>
              <a:rPr lang="en-US" altLang="zh-CN" sz="2400" b="1" kern="100" dirty="0">
                <a:solidFill>
                  <a:srgbClr val="014B88"/>
                </a:solidFill>
                <a:latin typeface="仿宋_GB2312"/>
                <a:cs typeface="Times New Roman" panose="02020603050405020304" pitchFamily="18" charset="0"/>
              </a:rPr>
              <a:t>		</a:t>
            </a:r>
            <a:r>
              <a:rPr lang="zh-CN" altLang="en-US" sz="2400" b="1" kern="100" dirty="0">
                <a:solidFill>
                  <a:srgbClr val="014B88"/>
                </a:solidFill>
                <a:latin typeface="仿宋_GB2312"/>
                <a:cs typeface="Times New Roman" panose="02020603050405020304" pitchFamily="18" charset="0"/>
              </a:rPr>
              <a:t>射线法（需要考虑特殊情况）</a:t>
            </a:r>
            <a:endParaRPr lang="en-US" altLang="zh-CN" sz="2400" b="1" kern="100" dirty="0">
              <a:solidFill>
                <a:srgbClr val="014B88"/>
              </a:solidFill>
              <a:latin typeface="仿宋_GB2312"/>
              <a:cs typeface="Times New Roman" panose="02020603050405020304" pitchFamily="18" charset="0"/>
            </a:endParaRPr>
          </a:p>
          <a:p>
            <a:pPr marL="0" indent="0" algn="just">
              <a:lnSpc>
                <a:spcPct val="150000"/>
              </a:lnSpc>
              <a:buNone/>
              <a:defRPr/>
            </a:pPr>
            <a:r>
              <a:rPr lang="en-US" altLang="zh-CN" sz="2400" b="1" kern="100" dirty="0">
                <a:solidFill>
                  <a:srgbClr val="014B88"/>
                </a:solidFill>
                <a:latin typeface="仿宋_GB2312"/>
                <a:cs typeface="Times New Roman" panose="02020603050405020304" pitchFamily="18" charset="0"/>
              </a:rPr>
              <a:t>	………………</a:t>
            </a:r>
          </a:p>
          <a:p>
            <a:pPr>
              <a:buFont typeface="Wingdings" panose="05000000000000000000" pitchFamily="2" charset="2"/>
              <a:buNone/>
            </a:pPr>
            <a:r>
              <a:rPr lang="en-US" altLang="zh-CN" dirty="0"/>
              <a:t>	</a:t>
            </a:r>
          </a:p>
          <a:p>
            <a:pPr>
              <a:buFont typeface="Wingdings" panose="05000000000000000000" pitchFamily="2" charset="2"/>
              <a:buNone/>
            </a:pPr>
            <a:endParaRPr lang="en-US" altLang="zh-CN" dirty="0"/>
          </a:p>
          <a:p>
            <a:pPr>
              <a:buFont typeface="Wingdings" panose="05000000000000000000" pitchFamily="2" charset="2"/>
              <a:buNone/>
            </a:pPr>
            <a:endParaRPr lang="zh-CN" altLang="en-US" dirty="0"/>
          </a:p>
        </p:txBody>
      </p:sp>
      <p:pic>
        <p:nvPicPr>
          <p:cNvPr id="174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8152" y="1726431"/>
            <a:ext cx="3853440" cy="3759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点线位置关系</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ox(in)">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 calcmode="lin" valueType="num">
                                      <p:cBhvr additive="base">
                                        <p:cTn id="18"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box(in)">
                                      <p:cBhvr>
                                        <p:cTn id="24" dur="500"/>
                                        <p:tgtEl>
                                          <p:spTgt spid="2">
                                            <p:txEl>
                                              <p:pRg st="4" end="4"/>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ox(in)">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7412"/>
                                        </p:tgtEl>
                                        <p:attrNameLst>
                                          <p:attrName>style.visibility</p:attrName>
                                        </p:attrNameLst>
                                      </p:cBhvr>
                                      <p:to>
                                        <p:strVal val="visible"/>
                                      </p:to>
                                    </p:set>
                                    <p:anim calcmode="lin" valueType="num">
                                      <p:cBhvr additive="base">
                                        <p:cTn id="32" dur="500" fill="hold"/>
                                        <p:tgtEl>
                                          <p:spTgt spid="17412"/>
                                        </p:tgtEl>
                                        <p:attrNameLst>
                                          <p:attrName>ppt_x</p:attrName>
                                        </p:attrNameLst>
                                      </p:cBhvr>
                                      <p:tavLst>
                                        <p:tav tm="0">
                                          <p:val>
                                            <p:strVal val="#ppt_x"/>
                                          </p:val>
                                        </p:tav>
                                        <p:tav tm="100000">
                                          <p:val>
                                            <p:strVal val="#ppt_x"/>
                                          </p:val>
                                        </p:tav>
                                      </p:tavLst>
                                    </p:anim>
                                    <p:anim calcmode="lin" valueType="num">
                                      <p:cBhvr additive="base">
                                        <p:cTn id="33"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772358" y="1253331"/>
            <a:ext cx="10515600" cy="4351337"/>
          </a:xfrm>
        </p:spPr>
        <p:txBody>
          <a:bodyPr>
            <a:normAutofit/>
          </a:bodyPr>
          <a:lstStyle/>
          <a:p>
            <a:pPr marL="342900" indent="-342900" algn="just">
              <a:lnSpc>
                <a:spcPct val="150000"/>
              </a:lnSpc>
              <a:buFont typeface="Wingdings" panose="05000000000000000000" pitchFamily="2" charset="2"/>
              <a:buChar char="l"/>
              <a:defRPr/>
            </a:pPr>
            <a:r>
              <a:rPr lang="zh-CN" altLang="en-US" sz="3200" b="1" kern="100" dirty="0">
                <a:solidFill>
                  <a:srgbClr val="014B88"/>
                </a:solidFill>
                <a:latin typeface="仿宋_GB2312"/>
                <a:cs typeface="Times New Roman" panose="02020603050405020304" pitchFamily="18" charset="0"/>
              </a:rPr>
              <a:t>点在直线上</a:t>
            </a:r>
            <a:endParaRPr lang="en-US" altLang="zh-CN" sz="32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defRPr/>
            </a:pPr>
            <a:r>
              <a:rPr lang="zh-CN" altLang="en-US" sz="3200" b="1" kern="100" dirty="0">
                <a:solidFill>
                  <a:srgbClr val="014B88"/>
                </a:solidFill>
                <a:latin typeface="仿宋_GB2312"/>
                <a:cs typeface="Times New Roman" panose="02020603050405020304" pitchFamily="18" charset="0"/>
              </a:rPr>
              <a:t>直线与直线相交</a:t>
            </a:r>
            <a:endParaRPr lang="en-US" altLang="zh-CN" sz="32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defRPr/>
            </a:pPr>
            <a:r>
              <a:rPr lang="zh-CN" altLang="en-US" sz="3200" b="1" kern="100" dirty="0">
                <a:solidFill>
                  <a:srgbClr val="014B88"/>
                </a:solidFill>
                <a:latin typeface="仿宋_GB2312"/>
                <a:cs typeface="Times New Roman" panose="02020603050405020304" pitchFamily="18" charset="0"/>
              </a:rPr>
              <a:t>线段与直线相交</a:t>
            </a:r>
            <a:endParaRPr lang="en-US" altLang="zh-CN" sz="3200" b="1" kern="100" dirty="0">
              <a:solidFill>
                <a:srgbClr val="014B88"/>
              </a:solidFill>
              <a:latin typeface="仿宋_GB2312"/>
              <a:cs typeface="Times New Roman" panose="02020603050405020304" pitchFamily="18" charset="0"/>
            </a:endParaRPr>
          </a:p>
          <a:p>
            <a:pPr>
              <a:buFont typeface="Wingdings" panose="05000000000000000000" pitchFamily="2" charset="2"/>
              <a:buNone/>
            </a:pPr>
            <a:endParaRPr lang="en-US" altLang="zh-CN" sz="3600" dirty="0"/>
          </a:p>
          <a:p>
            <a:pPr>
              <a:buFont typeface="Wingdings" panose="05000000000000000000" pitchFamily="2" charset="2"/>
              <a:buNone/>
            </a:pPr>
            <a:endParaRPr lang="en-US" altLang="zh-CN" sz="3600" dirty="0"/>
          </a:p>
          <a:p>
            <a:pPr>
              <a:buFont typeface="Wingdings" panose="05000000000000000000" pitchFamily="2" charset="2"/>
              <a:buNone/>
            </a:pPr>
            <a:endParaRPr lang="en-US" altLang="zh-CN" sz="3600" dirty="0"/>
          </a:p>
          <a:p>
            <a:pPr>
              <a:buFont typeface="Wingdings" panose="05000000000000000000" pitchFamily="2" charset="2"/>
              <a:buNone/>
            </a:pPr>
            <a:endParaRPr lang="en-US" altLang="zh-CN" sz="3600" dirty="0"/>
          </a:p>
          <a:p>
            <a:pPr>
              <a:buFont typeface="Wingdings" panose="05000000000000000000" pitchFamily="2" charset="2"/>
              <a:buNone/>
            </a:pPr>
            <a:endParaRPr lang="en-US" altLang="zh-CN" sz="3600" dirty="0"/>
          </a:p>
          <a:p>
            <a:pPr>
              <a:buFont typeface="Wingdings" panose="05000000000000000000" pitchFamily="2" charset="2"/>
              <a:buNone/>
            </a:pPr>
            <a:endParaRPr lang="en-US" altLang="zh-CN" sz="3600" dirty="0"/>
          </a:p>
          <a:p>
            <a:pPr>
              <a:buFont typeface="Wingdings" panose="05000000000000000000" pitchFamily="2" charset="2"/>
              <a:buNone/>
            </a:pPr>
            <a:endParaRPr lang="en-US" altLang="zh-CN" sz="3600" dirty="0"/>
          </a:p>
          <a:p>
            <a:pPr>
              <a:buFont typeface="Wingdings" panose="05000000000000000000" pitchFamily="2" charset="2"/>
              <a:buNone/>
            </a:pPr>
            <a:endParaRPr lang="en-US" altLang="zh-CN" sz="3600"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点线位置关系</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ox(in)">
                                      <p:cBhvr>
                                        <p:cTn id="10" dur="500"/>
                                        <p:tgtEl>
                                          <p:spTgt spid="2">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ox(in)">
                                      <p:cBhvr>
                                        <p:cTn id="13"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1"/>
          <p:cNvSpPr>
            <a:spLocks noGrp="1"/>
          </p:cNvSpPr>
          <p:nvPr>
            <p:ph idx="4294967295"/>
          </p:nvPr>
        </p:nvSpPr>
        <p:spPr>
          <a:xfrm>
            <a:off x="772357" y="1253331"/>
            <a:ext cx="10515600" cy="4351337"/>
          </a:xfrm>
        </p:spPr>
        <p:txBody>
          <a:bodyPr/>
          <a:lstStyle/>
          <a:p>
            <a:r>
              <a:rPr lang="zh-CN" altLang="en-US" sz="3200" b="1" kern="100" dirty="0">
                <a:solidFill>
                  <a:srgbClr val="014B88"/>
                </a:solidFill>
                <a:latin typeface="仿宋_GB2312"/>
                <a:cs typeface="Times New Roman" panose="02020603050405020304" pitchFamily="18" charset="0"/>
              </a:rPr>
              <a:t>求多边形面积</a:t>
            </a:r>
            <a:endParaRPr lang="en-US" altLang="zh-CN" sz="3200" b="1" kern="100" dirty="0">
              <a:solidFill>
                <a:srgbClr val="014B88"/>
              </a:solidFill>
              <a:latin typeface="仿宋_GB2312"/>
              <a:cs typeface="Times New Roman" panose="02020603050405020304" pitchFamily="18" charset="0"/>
            </a:endParaRPr>
          </a:p>
          <a:p>
            <a:pPr>
              <a:buFont typeface="Wingdings" panose="05000000000000000000" pitchFamily="2" charset="2"/>
              <a:buNone/>
            </a:pPr>
            <a:r>
              <a:rPr lang="en-US" altLang="zh-CN" dirty="0"/>
              <a:t> </a:t>
            </a:r>
          </a:p>
          <a:p>
            <a:pPr>
              <a:buFont typeface="Wingdings" panose="05000000000000000000" pitchFamily="2" charset="2"/>
              <a:buNone/>
            </a:pPr>
            <a:r>
              <a:rPr lang="en-US" altLang="zh-CN" dirty="0"/>
              <a:t>	</a:t>
            </a:r>
            <a:endParaRPr lang="zh-CN" altLang="en-US" dirty="0"/>
          </a:p>
        </p:txBody>
      </p:sp>
      <p:cxnSp>
        <p:nvCxnSpPr>
          <p:cNvPr id="4" name="直接连接符 3"/>
          <p:cNvCxnSpPr/>
          <p:nvPr/>
        </p:nvCxnSpPr>
        <p:spPr>
          <a:xfrm>
            <a:off x="2343150" y="5489575"/>
            <a:ext cx="5143500" cy="1588"/>
          </a:xfrm>
          <a:prstGeom prst="line">
            <a:avLst/>
          </a:prstGeom>
          <a:ln w="19050">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p:sp>
        <p:nvSpPr>
          <p:cNvPr id="5" name="任意多边形 4"/>
          <p:cNvSpPr/>
          <p:nvPr/>
        </p:nvSpPr>
        <p:spPr>
          <a:xfrm>
            <a:off x="3908425" y="2460625"/>
            <a:ext cx="3003550" cy="2698750"/>
          </a:xfrm>
          <a:custGeom>
            <a:avLst/>
            <a:gdLst>
              <a:gd name="connsiteX0" fmla="*/ 2103120 w 3002280"/>
              <a:gd name="connsiteY0" fmla="*/ 1272540 h 2697480"/>
              <a:gd name="connsiteX1" fmla="*/ 2529840 w 3002280"/>
              <a:gd name="connsiteY1" fmla="*/ 2697480 h 2697480"/>
              <a:gd name="connsiteX2" fmla="*/ 320040 w 3002280"/>
              <a:gd name="connsiteY2" fmla="*/ 1684020 h 2697480"/>
              <a:gd name="connsiteX3" fmla="*/ 0 w 3002280"/>
              <a:gd name="connsiteY3" fmla="*/ 0 h 2697480"/>
              <a:gd name="connsiteX4" fmla="*/ 2583180 w 3002280"/>
              <a:gd name="connsiteY4" fmla="*/ 152400 h 2697480"/>
              <a:gd name="connsiteX5" fmla="*/ 3002280 w 3002280"/>
              <a:gd name="connsiteY5" fmla="*/ 1623060 h 2697480"/>
              <a:gd name="connsiteX6" fmla="*/ 2103120 w 3002280"/>
              <a:gd name="connsiteY6" fmla="*/ 1272540 h 269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2280" h="2697480">
                <a:moveTo>
                  <a:pt x="2103120" y="1272540"/>
                </a:moveTo>
                <a:lnTo>
                  <a:pt x="2529840" y="2697480"/>
                </a:lnTo>
                <a:lnTo>
                  <a:pt x="320040" y="1684020"/>
                </a:lnTo>
                <a:lnTo>
                  <a:pt x="0" y="0"/>
                </a:lnTo>
                <a:lnTo>
                  <a:pt x="2583180" y="152400"/>
                </a:lnTo>
                <a:lnTo>
                  <a:pt x="3002280" y="1623060"/>
                </a:lnTo>
                <a:lnTo>
                  <a:pt x="2103120" y="127254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cxnSp>
        <p:nvCxnSpPr>
          <p:cNvPr id="6" name="直接连接符 5"/>
          <p:cNvCxnSpPr>
            <a:endCxn id="5" idx="2"/>
          </p:cNvCxnSpPr>
          <p:nvPr/>
        </p:nvCxnSpPr>
        <p:spPr>
          <a:xfrm rot="5400000" flipH="1" flipV="1">
            <a:off x="2970213" y="4230688"/>
            <a:ext cx="1344612" cy="117316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a:endCxn id="5" idx="3"/>
          </p:cNvCxnSpPr>
          <p:nvPr/>
        </p:nvCxnSpPr>
        <p:spPr>
          <a:xfrm rot="5400000" flipH="1" flipV="1">
            <a:off x="1967707" y="3548857"/>
            <a:ext cx="3028950" cy="85248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5" idx="4"/>
          </p:cNvCxnSpPr>
          <p:nvPr/>
        </p:nvCxnSpPr>
        <p:spPr>
          <a:xfrm flipV="1">
            <a:off x="3057525" y="2613025"/>
            <a:ext cx="3435350" cy="287813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3055938" y="2857501"/>
            <a:ext cx="4430712" cy="263366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a:endCxn id="5" idx="5"/>
          </p:cNvCxnSpPr>
          <p:nvPr/>
        </p:nvCxnSpPr>
        <p:spPr>
          <a:xfrm flipV="1">
            <a:off x="3055939" y="4084639"/>
            <a:ext cx="3856037" cy="140652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a:endCxn id="5" idx="1"/>
          </p:cNvCxnSpPr>
          <p:nvPr/>
        </p:nvCxnSpPr>
        <p:spPr>
          <a:xfrm flipV="1">
            <a:off x="3055938" y="5159375"/>
            <a:ext cx="3382962" cy="3317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rot="5400000" flipH="1" flipV="1">
            <a:off x="1345407" y="3750470"/>
            <a:ext cx="3429000" cy="7143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5602" name="Object 2"/>
          <p:cNvGraphicFramePr>
            <a:graphicFrameLocks noChangeAspect="1"/>
          </p:cNvGraphicFramePr>
          <p:nvPr/>
        </p:nvGraphicFramePr>
        <p:xfrm>
          <a:off x="7453314" y="4000501"/>
          <a:ext cx="2955925" cy="1489075"/>
        </p:xfrm>
        <a:graphic>
          <a:graphicData uri="http://schemas.openxmlformats.org/presentationml/2006/ole">
            <mc:AlternateContent xmlns:mc="http://schemas.openxmlformats.org/markup-compatibility/2006">
              <mc:Choice xmlns:v="urn:schemas-microsoft-com:vml" Requires="v">
                <p:oleObj spid="_x0000_s23560" name="公式" r:id="rId3" imgW="989965" imgH="482600" progId="Equation.3">
                  <p:embed/>
                </p:oleObj>
              </mc:Choice>
              <mc:Fallback>
                <p:oleObj name="公式" r:id="rId3" imgW="989965" imgH="482600" progId="Equation.3">
                  <p:embed/>
                  <p:pic>
                    <p:nvPicPr>
                      <p:cNvPr id="2560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3314" y="4000501"/>
                        <a:ext cx="2955925"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多边形相关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dissolve">
                                      <p:cBhvr>
                                        <p:cTn id="7" dur="500"/>
                                        <p:tgtEl>
                                          <p:spTgt spid="25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612558" y="1253331"/>
            <a:ext cx="11185865" cy="4351337"/>
          </a:xfrm>
        </p:spPr>
        <p:txBody>
          <a:bodyPr>
            <a:normAutofit fontScale="25000" lnSpcReduction="20000"/>
          </a:bodyPr>
          <a:lstStyle/>
          <a:p>
            <a:pPr marL="342900" indent="-342900" algn="just">
              <a:lnSpc>
                <a:spcPct val="170000"/>
              </a:lnSpc>
              <a:buFont typeface="Wingdings" panose="05000000000000000000" pitchFamily="2" charset="2"/>
              <a:buChar char="l"/>
              <a:defRPr/>
            </a:pPr>
            <a:r>
              <a:rPr lang="zh-CN" altLang="en-US" sz="11200" b="1" kern="100" dirty="0">
                <a:solidFill>
                  <a:srgbClr val="014B88"/>
                </a:solidFill>
                <a:latin typeface="仿宋_GB2312"/>
                <a:cs typeface="Times New Roman" panose="02020603050405020304" pitchFamily="18" charset="0"/>
              </a:rPr>
              <a:t>凸包问题</a:t>
            </a:r>
            <a:endParaRPr lang="en-US" altLang="zh-CN" sz="11200" b="1" kern="100" dirty="0">
              <a:solidFill>
                <a:srgbClr val="014B88"/>
              </a:solidFill>
              <a:latin typeface="仿宋_GB2312"/>
              <a:cs typeface="Times New Roman" panose="02020603050405020304" pitchFamily="18" charset="0"/>
            </a:endParaRPr>
          </a:p>
          <a:p>
            <a:pPr marL="800100" lvl="1" indent="-342900" algn="just">
              <a:lnSpc>
                <a:spcPct val="170000"/>
              </a:lnSpc>
              <a:buFont typeface="Wingdings" panose="05000000000000000000" pitchFamily="2" charset="2"/>
              <a:buChar char="l"/>
              <a:defRPr/>
            </a:pPr>
            <a:r>
              <a:rPr lang="zh-CN" altLang="en-US" sz="11200" b="1" kern="100" dirty="0">
                <a:solidFill>
                  <a:srgbClr val="014B88"/>
                </a:solidFill>
                <a:latin typeface="仿宋_GB2312"/>
                <a:cs typeface="Times New Roman" panose="02020603050405020304" pitchFamily="18" charset="0"/>
              </a:rPr>
              <a:t>平面上给</a:t>
            </a:r>
            <a:r>
              <a:rPr lang="en-US" altLang="zh-CN" sz="11200" b="1" kern="100" dirty="0">
                <a:solidFill>
                  <a:srgbClr val="014B88"/>
                </a:solidFill>
                <a:latin typeface="仿宋_GB2312"/>
                <a:cs typeface="Times New Roman" panose="02020603050405020304" pitchFamily="18" charset="0"/>
              </a:rPr>
              <a:t>N</a:t>
            </a:r>
            <a:r>
              <a:rPr lang="zh-CN" altLang="en-US" sz="11200" b="1" kern="100" dirty="0">
                <a:solidFill>
                  <a:srgbClr val="014B88"/>
                </a:solidFill>
                <a:latin typeface="仿宋_GB2312"/>
                <a:cs typeface="Times New Roman" panose="02020603050405020304" pitchFamily="18" charset="0"/>
              </a:rPr>
              <a:t>个点，找到最小的凸多边形使所有点落在这个多边形内</a:t>
            </a:r>
            <a:endParaRPr lang="en-US" altLang="zh-CN" sz="11200" b="1" kern="100" dirty="0">
              <a:solidFill>
                <a:srgbClr val="014B88"/>
              </a:solidFill>
              <a:latin typeface="仿宋_GB2312"/>
              <a:cs typeface="Times New Roman" panose="02020603050405020304" pitchFamily="18" charset="0"/>
            </a:endParaRPr>
          </a:p>
          <a:p>
            <a:pPr marL="342900" indent="-342900" algn="just">
              <a:lnSpc>
                <a:spcPct val="170000"/>
              </a:lnSpc>
              <a:buFont typeface="Wingdings" panose="05000000000000000000" pitchFamily="2" charset="2"/>
              <a:buChar char="l"/>
              <a:defRPr/>
            </a:pPr>
            <a:r>
              <a:rPr lang="zh-CN" altLang="en-US" sz="11200" b="1" kern="100" dirty="0">
                <a:solidFill>
                  <a:srgbClr val="014B88"/>
                </a:solidFill>
                <a:latin typeface="仿宋_GB2312"/>
                <a:cs typeface="Times New Roman" panose="02020603050405020304" pitchFamily="18" charset="0"/>
              </a:rPr>
              <a:t>求凸包的方法</a:t>
            </a:r>
            <a:endParaRPr lang="en-US" altLang="zh-CN" sz="11200" b="1" kern="100" dirty="0">
              <a:solidFill>
                <a:srgbClr val="014B88"/>
              </a:solidFill>
              <a:latin typeface="仿宋_GB2312"/>
              <a:cs typeface="Times New Roman" panose="02020603050405020304" pitchFamily="18" charset="0"/>
            </a:endParaRPr>
          </a:p>
          <a:p>
            <a:pPr marL="800100" lvl="1" indent="-342900" algn="just">
              <a:lnSpc>
                <a:spcPct val="170000"/>
              </a:lnSpc>
              <a:buFont typeface="Wingdings" panose="05000000000000000000" pitchFamily="2" charset="2"/>
              <a:buChar char="l"/>
              <a:defRPr/>
            </a:pPr>
            <a:r>
              <a:rPr lang="en-US" altLang="zh-CN" sz="11200" b="1" kern="100" dirty="0">
                <a:solidFill>
                  <a:srgbClr val="014B88"/>
                </a:solidFill>
                <a:latin typeface="仿宋_GB2312"/>
                <a:cs typeface="Times New Roman" panose="02020603050405020304" pitchFamily="18" charset="0"/>
              </a:rPr>
              <a:t>Graham</a:t>
            </a:r>
            <a:r>
              <a:rPr lang="zh-CN" altLang="en-US" sz="11200" b="1" kern="100" dirty="0">
                <a:solidFill>
                  <a:srgbClr val="014B88"/>
                </a:solidFill>
                <a:latin typeface="仿宋_GB2312"/>
                <a:cs typeface="Times New Roman" panose="02020603050405020304" pitchFamily="18" charset="0"/>
              </a:rPr>
              <a:t>方法 复杂度</a:t>
            </a:r>
            <a:r>
              <a:rPr lang="en-US" altLang="zh-CN" sz="11200" b="1" kern="100" dirty="0">
                <a:solidFill>
                  <a:srgbClr val="014B88"/>
                </a:solidFill>
                <a:latin typeface="仿宋_GB2312"/>
                <a:cs typeface="Times New Roman" panose="02020603050405020304" pitchFamily="18" charset="0"/>
              </a:rPr>
              <a:t>O(</a:t>
            </a:r>
            <a:r>
              <a:rPr lang="en-US" altLang="zh-CN" sz="11200" b="1" kern="100" dirty="0" err="1">
                <a:solidFill>
                  <a:srgbClr val="014B88"/>
                </a:solidFill>
                <a:latin typeface="仿宋_GB2312"/>
                <a:cs typeface="Times New Roman" panose="02020603050405020304" pitchFamily="18" charset="0"/>
              </a:rPr>
              <a:t>NLogN</a:t>
            </a:r>
            <a:r>
              <a:rPr lang="en-US" altLang="zh-CN" sz="11200" b="1" kern="100" dirty="0">
                <a:solidFill>
                  <a:srgbClr val="014B88"/>
                </a:solidFill>
                <a:latin typeface="仿宋_GB2312"/>
                <a:cs typeface="Times New Roman" panose="02020603050405020304" pitchFamily="18" charset="0"/>
              </a:rPr>
              <a:t>)</a:t>
            </a:r>
          </a:p>
          <a:p>
            <a:pPr marL="800100" lvl="1" indent="-342900" algn="just">
              <a:lnSpc>
                <a:spcPct val="170000"/>
              </a:lnSpc>
              <a:buFont typeface="Wingdings" panose="05000000000000000000" pitchFamily="2" charset="2"/>
              <a:buChar char="l"/>
              <a:defRPr/>
            </a:pPr>
            <a:r>
              <a:rPr lang="zh-CN" altLang="en-US" sz="11200" b="1" kern="100" dirty="0">
                <a:solidFill>
                  <a:srgbClr val="014B88"/>
                </a:solidFill>
                <a:latin typeface="仿宋_GB2312"/>
                <a:cs typeface="Times New Roman" panose="02020603050405020304" pitchFamily="18" charset="0"/>
              </a:rPr>
              <a:t>卷包裹法 </a:t>
            </a:r>
            <a:r>
              <a:rPr lang="en-US" altLang="zh-CN" sz="11200" b="1" kern="100" dirty="0">
                <a:solidFill>
                  <a:srgbClr val="014B88"/>
                </a:solidFill>
                <a:latin typeface="仿宋_GB2312"/>
                <a:cs typeface="Times New Roman" panose="02020603050405020304" pitchFamily="18" charset="0"/>
              </a:rPr>
              <a:t>(Jarvis‘s march)  </a:t>
            </a:r>
            <a:r>
              <a:rPr lang="zh-CN" altLang="en-US" sz="11200" b="1" kern="100" dirty="0">
                <a:solidFill>
                  <a:srgbClr val="014B88"/>
                </a:solidFill>
                <a:latin typeface="仿宋_GB2312"/>
                <a:cs typeface="Times New Roman" panose="02020603050405020304" pitchFamily="18" charset="0"/>
              </a:rPr>
              <a:t>复杂度</a:t>
            </a:r>
            <a:r>
              <a:rPr lang="en-US" altLang="zh-CN" sz="11200" b="1" kern="100" dirty="0">
                <a:solidFill>
                  <a:srgbClr val="014B88"/>
                </a:solidFill>
                <a:latin typeface="仿宋_GB2312"/>
                <a:cs typeface="Times New Roman" panose="02020603050405020304" pitchFamily="18" charset="0"/>
              </a:rPr>
              <a:t>O(NH)</a:t>
            </a:r>
            <a:r>
              <a:rPr lang="zh-CN" altLang="en-US" sz="11200" b="1" kern="100" dirty="0">
                <a:solidFill>
                  <a:srgbClr val="014B88"/>
                </a:solidFill>
                <a:latin typeface="仿宋_GB2312"/>
                <a:cs typeface="Times New Roman" panose="02020603050405020304" pitchFamily="18" charset="0"/>
              </a:rPr>
              <a:t>，</a:t>
            </a:r>
            <a:r>
              <a:rPr lang="en-US" altLang="zh-CN" sz="11200" b="1" kern="100" dirty="0">
                <a:solidFill>
                  <a:srgbClr val="014B88"/>
                </a:solidFill>
                <a:latin typeface="仿宋_GB2312"/>
                <a:cs typeface="Times New Roman" panose="02020603050405020304" pitchFamily="18" charset="0"/>
              </a:rPr>
              <a:t>H</a:t>
            </a:r>
            <a:r>
              <a:rPr lang="zh-CN" altLang="en-US" sz="11200" b="1" kern="100" dirty="0">
                <a:solidFill>
                  <a:srgbClr val="014B88"/>
                </a:solidFill>
                <a:latin typeface="仿宋_GB2312"/>
                <a:cs typeface="Times New Roman" panose="02020603050405020304" pitchFamily="18" charset="0"/>
              </a:rPr>
              <a:t>为凸包上点的个数</a:t>
            </a:r>
            <a:endParaRPr lang="en-US" altLang="zh-CN" sz="11200" b="1" kern="100" dirty="0">
              <a:solidFill>
                <a:srgbClr val="014B88"/>
              </a:solidFill>
              <a:latin typeface="仿宋_GB2312"/>
              <a:cs typeface="Times New Roman" panose="02020603050405020304" pitchFamily="18" charset="0"/>
            </a:endParaRPr>
          </a:p>
          <a:p>
            <a:pPr lvl="1">
              <a:defRPr/>
            </a:pPr>
            <a:endParaRPr lang="en-US" altLang="zh-CN" dirty="0"/>
          </a:p>
          <a:p>
            <a:pPr lvl="1">
              <a:defRPr/>
            </a:pPr>
            <a:endParaRPr lang="en-US" altLang="zh-CN" dirty="0"/>
          </a:p>
          <a:p>
            <a:pPr>
              <a:buFont typeface="Wingdings" panose="05000000000000000000" pitchFamily="2" charset="2"/>
              <a:buNone/>
              <a:defRPr/>
            </a:pPr>
            <a:r>
              <a:rPr lang="en-US" altLang="zh-CN" dirty="0"/>
              <a:t> </a:t>
            </a:r>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a:buFont typeface="Wingdings" panose="05000000000000000000" pitchFamily="2" charset="2"/>
              <a:buNone/>
              <a:defRPr/>
            </a:pPr>
            <a:r>
              <a:rPr lang="en-US" altLang="zh-CN" dirty="0"/>
              <a:t> </a:t>
            </a:r>
            <a:r>
              <a:rPr lang="zh-CN" altLang="en-US" dirty="0"/>
              <a:t>  </a:t>
            </a:r>
            <a:endParaRPr lang="en-US" altLang="zh-CN"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多边形相关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F8994B59-85F7-4E7D-87BD-A21DACCB3CFF}"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21507"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58ACA026-1AD9-4418-929F-9629B36F61B4}"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94</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21510" name="Picture 4"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0"/>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C20C3AB-CA3C-4678-9321-1CF0DBE8EB18}"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23555"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5A12BDC6-14D3-4375-BD7A-1719C8E27FD1}"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95</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23558" name="Picture 4" descr="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0"/>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CBAB691-752E-42A7-A184-C63BF100A5AE}"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24579"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4B121D92-1A8D-4544-82A6-FA5F38F2814F}"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96</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24582" name="Picture 4"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175"/>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EDA6A61C-CA13-4350-8CDD-11E7E90A2914}"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25603"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78FB1C3C-B648-4705-819D-450D426E4283}"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97</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25606" name="Picture 4" descr="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0"/>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6EDD69F4-E8C5-41F0-A190-F7DD105A669F}"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26627"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5F94F198-9B91-4A8F-996E-34785D96F1AE}"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98</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26630" name="Picture 4" descr="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0"/>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F417F125-0546-46C5-B0CE-5F9DA24831CB}"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27651"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45B2BE04-4CEC-43E1-9BF9-A733B70C4913}"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99</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27654" name="Picture 4" descr="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175"/>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466D098-D2DE-4E7E-B8C4-14125612463B}"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28675"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B4CAE496-5FC4-4F38-A228-BC3C1B6D736C}"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100</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28678" name="Picture 4" descr="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0"/>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C9D611EE-0C80-4ED2-8514-2E0EEBDED9D8}"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29699"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349ACBF4-65DD-48C0-B3C0-7060C373907D}"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101</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29702" name="Picture 4" descr="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0"/>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EE6A2F0-1A98-4793-833E-3E9A2FFFAD78}"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30723"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6BF9493D-6869-43ED-90E0-8D8E5E4B845F}"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102</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30726" name="Picture 4" descr="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175"/>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995E7C3-2A22-49AA-8C79-C65CD6C9652C}"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31747"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07D8E6B5-3F01-447C-8591-9752916B4EA8}"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103</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31750" name="Picture 4" descr="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175"/>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4DE295B-1267-4E4D-987C-17F8FA3BD559}"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32771"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E68C16D0-92F8-4DF7-8066-C7F36CBA367B}"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104</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32774" name="Picture 4" descr="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175"/>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01C06CD-4B31-4F37-A6AA-BAAA07F364F8}"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33795"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831A54DC-150C-4699-9B59-90134D0A065B}"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105</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33798" name="Picture 4" descr="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0"/>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3DCA83D6-3434-4C88-AF11-BFC2EBF0923D}"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34819"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6C0788D5-C691-4019-A5F2-FC6468529E12}"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106</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34822" name="Picture 4" descr="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1775"/>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C5DBEE6E-6536-4945-A7D4-A47A242AE58B}"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35843"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6E14F05E-B52F-4989-AF50-3F243295C56F}"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107</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35846" name="Picture 4" descr="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175"/>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a:spLocks noGrp="1"/>
          </p:cNvSpPr>
          <p:nvPr>
            <p:ph type="dt" sz="quarter" idx="4294967295"/>
          </p:nvPr>
        </p:nvSpPr>
        <p:spPr bwMode="auto">
          <a:xfrm>
            <a:off x="10287000" y="6442075"/>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8378A37-97EC-4347-B09E-B14298B08AF0}" type="datetime1">
              <a:rPr kumimoji="0" lang="zh-CN" altLang="en-US"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2026-05-08</a:t>
            </a:fld>
            <a:endParaRPr kumimoji="0" lang="en-US" altLang="zh-CN" sz="12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36867" name="灯片编号占位符 5"/>
          <p:cNvSpPr>
            <a:spLocks noGrp="1"/>
          </p:cNvSpPr>
          <p:nvPr>
            <p:ph type="sldNum" sz="quarter" idx="10"/>
          </p:nvPr>
        </p:nvSpPr>
        <p:spPr>
          <a:xfrm>
            <a:off x="10287000" y="6148388"/>
            <a:ext cx="1905000" cy="381000"/>
          </a:xfrm>
          <a:noFill/>
        </p:spPr>
        <p:txBody>
          <a:bodyPr/>
          <a:lstStyle>
            <a:lvl1pPr marL="342900" indent="-342900" eaLnBrk="0" hangingPunct="0">
              <a:defRPr b="1" i="1">
                <a:solidFill>
                  <a:schemeClr val="tx1"/>
                </a:solidFill>
                <a:latin typeface="Arial" panose="020B0604020202020204" pitchFamily="34" charset="0"/>
                <a:ea typeface="华文细黑" panose="02010600040101010101" pitchFamily="2" charset="-122"/>
              </a:defRPr>
            </a:lvl1pPr>
            <a:lvl2pPr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fld id="{E0BC9C1D-3F76-40F8-9260-91317FCBECE2}" type="slidenum">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pPr marL="457200" marR="0" lvl="1" indent="0" algn="l" defTabSz="914400" rtl="0" eaLnBrk="1" fontAlgn="auto" latinLnBrk="0" hangingPunct="1">
                <a:lnSpc>
                  <a:spcPct val="100000"/>
                </a:lnSpc>
                <a:spcBef>
                  <a:spcPts val="0"/>
                </a:spcBef>
                <a:spcAft>
                  <a:spcPts val="0"/>
                </a:spcAft>
                <a:buClrTx/>
                <a:buSzTx/>
                <a:buFontTx/>
                <a:buNone/>
                <a:tabLst/>
                <a:defRPr/>
              </a:pPr>
              <a:t>108</a:t>
            </a:fld>
            <a:endParaRPr kumimoji="0" lang="en-US" altLang="zh-CN" sz="1800" b="1" i="1" u="none" strike="noStrike" kern="1200" cap="none" spc="0" normalizeH="0" baseline="0" noProof="0">
              <a:ln>
                <a:noFill/>
              </a:ln>
              <a:solidFill>
                <a:prstClr val="black"/>
              </a:solidFill>
              <a:effectLst/>
              <a:uLnTx/>
              <a:uFillTx/>
              <a:latin typeface="Times New Roman" panose="02020603050405020304" pitchFamily="18" charset="0"/>
              <a:ea typeface="华文细黑" panose="02010600040101010101" pitchFamily="2" charset="-122"/>
              <a:cs typeface="+mn-cs"/>
            </a:endParaRPr>
          </a:p>
        </p:txBody>
      </p:sp>
      <p:pic>
        <p:nvPicPr>
          <p:cNvPr id="36870" name="Picture 4" descr="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0"/>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Graham</a:t>
            </a: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Text 1"/>
          <p:cNvSpPr/>
          <p:nvPr/>
        </p:nvSpPr>
        <p:spPr>
          <a:xfrm>
            <a:off x="883613" y="1286356"/>
            <a:ext cx="10287000" cy="914400"/>
          </a:xfrm>
          <a:prstGeom prst="rect">
            <a:avLst/>
          </a:prstGeom>
          <a:noFill/>
        </p:spPr>
        <p:txBody>
          <a:bodyPr wrap="square" rtlCol="0" anchor="t"/>
          <a:lstStyle/>
          <a:p>
            <a:pPr marL="0" marR="0" lvl="0" indent="0" algn="l" defTabSz="914400" rtl="0" eaLnBrk="1" fontAlgn="auto" latinLnBrk="0" hangingPunct="1">
              <a:lnSpc>
                <a:spcPct val="150000"/>
              </a:lnSpc>
              <a:spcBef>
                <a:spcPts val="0"/>
              </a:spcBef>
              <a:spcAft>
                <a:spcPts val="0"/>
              </a:spcAft>
              <a:buClrTx/>
              <a:buSzPct val="100000"/>
              <a:buFontTx/>
              <a:buNone/>
              <a:tabLst/>
              <a:defRPr/>
            </a:pP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Jarvis</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步进法（礼品包裹算法）</a:t>
            </a:r>
          </a:p>
        </p:txBody>
      </p:sp>
      <p:sp>
        <p:nvSpPr>
          <p:cNvPr id="1048765" name="矩形 15"/>
          <p:cNvSpPr/>
          <p:nvPr/>
        </p:nvSpPr>
        <p:spPr>
          <a:xfrm>
            <a:off x="1043709" y="2313573"/>
            <a:ext cx="10889673" cy="2611741"/>
          </a:xfrm>
          <a:prstGeom prst="rect">
            <a:avLst/>
          </a:prstGeom>
        </p:spPr>
        <p:txBody>
          <a:bodyPr wrap="square">
            <a:spAutoFit/>
          </a:bodyPr>
          <a:lstStyle/>
          <a:p>
            <a:pPr marL="0" marR="0" lvl="0" indent="480060" algn="l" defTabSz="9144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Jarvis</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步进法，也称为“礼品包裹算法”（</a:t>
            </a: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Gift Wrapping Algorithm</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），是解决凸包问题的一种直观且易于理解的方法。它的基本思想是从点集中找到一个最左边的点，然后沿着点集中的点依次找到包含所有点的凸包。</a:t>
            </a:r>
          </a:p>
        </p:txBody>
      </p:sp>
      <p:sp>
        <p:nvSpPr>
          <p:cNvPr id="6"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凸包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卷包裹法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Text 1"/>
          <p:cNvSpPr/>
          <p:nvPr/>
        </p:nvSpPr>
        <p:spPr>
          <a:xfrm>
            <a:off x="708121" y="1129338"/>
            <a:ext cx="10287000" cy="914400"/>
          </a:xfrm>
          <a:prstGeom prst="rect">
            <a:avLst/>
          </a:prstGeom>
          <a:noFill/>
        </p:spPr>
        <p:txBody>
          <a:bodyPr wrap="square" rtlCol="0" anchor="t"/>
          <a:lstStyle/>
          <a:p>
            <a:pPr marL="0" marR="0" lvl="0" indent="0" algn="l" defTabSz="914400" rtl="0" eaLnBrk="1" fontAlgn="auto" latinLnBrk="0" hangingPunct="1">
              <a:lnSpc>
                <a:spcPct val="150000"/>
              </a:lnSpc>
              <a:spcBef>
                <a:spcPts val="0"/>
              </a:spcBef>
              <a:spcAft>
                <a:spcPts val="0"/>
              </a:spcAft>
              <a:buClrTx/>
              <a:buSzPct val="100000"/>
              <a:buFontTx/>
              <a:buNone/>
              <a:tabLst/>
              <a:defRPr/>
            </a:pP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Jarvis</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步进法（礼品包裹算法）</a:t>
            </a:r>
          </a:p>
        </p:txBody>
      </p:sp>
      <p:sp>
        <p:nvSpPr>
          <p:cNvPr id="1048771" name="矩形 13"/>
          <p:cNvSpPr/>
          <p:nvPr/>
        </p:nvSpPr>
        <p:spPr>
          <a:xfrm>
            <a:off x="910552" y="1881074"/>
            <a:ext cx="10173085" cy="2815258"/>
          </a:xfrm>
          <a:prstGeom prst="rect">
            <a:avLst/>
          </a:prstGeom>
        </p:spPr>
        <p:txBody>
          <a:bodyPr wrap="square">
            <a:spAutoFit/>
          </a:bodyPr>
          <a:lstStyle/>
          <a:p>
            <a:pPr marL="0" marR="0" lvl="0" indent="480060" algn="l" defTabSz="914400" rtl="0" eaLnBrk="1" fontAlgn="auto" latinLnBrk="0" hangingPunct="1">
              <a:lnSpc>
                <a:spcPct val="150000"/>
              </a:lnSpc>
              <a:spcBef>
                <a:spcPts val="0"/>
              </a:spcBef>
              <a:spcAft>
                <a:spcPts val="0"/>
              </a:spcAft>
              <a:buClrTx/>
              <a:buSzTx/>
              <a:buFont typeface="+mj-lt"/>
              <a:buAutoNum type="arabicPeriod"/>
              <a:tabLst/>
              <a:defRPr/>
            </a:pPr>
            <a:r>
              <a:rPr kumimoji="0" lang="zh-CN" altLang="en-US"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找到最低点： </a:t>
            </a:r>
            <a:r>
              <a:rPr kumimoji="0" lang="zh-CN" altLang="en-US" sz="2000" b="0"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遍历点集中的所有点，找到其中最下边的点，该点一定在凸包中，因为凸包的边缘必然经过最下边的点。</a:t>
            </a:r>
          </a:p>
          <a:p>
            <a:pPr marL="0" marR="0" lvl="0" indent="480060" algn="l" defTabSz="914400" rtl="0" eaLnBrk="1" fontAlgn="auto" latinLnBrk="0" hangingPunct="1">
              <a:lnSpc>
                <a:spcPct val="150000"/>
              </a:lnSpc>
              <a:spcBef>
                <a:spcPts val="0"/>
              </a:spcBef>
              <a:spcAft>
                <a:spcPts val="0"/>
              </a:spcAft>
              <a:buClrTx/>
              <a:buSzTx/>
              <a:buFont typeface="+mj-lt"/>
              <a:buAutoNum type="arabicPeriod"/>
              <a:tabLst/>
              <a:defRPr/>
            </a:pPr>
            <a:r>
              <a:rPr kumimoji="0" lang="zh-CN" altLang="en-US"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寻找下一个凸包顶点： </a:t>
            </a:r>
            <a:r>
              <a:rPr kumimoji="0" lang="zh-CN" altLang="en-US" sz="2000" b="0"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从最下边的点出发，找到与该点形成的所有边的极角最小的点，该点也必然在凸包中。</a:t>
            </a:r>
          </a:p>
          <a:p>
            <a:pPr marL="0" marR="0" lvl="0" indent="480060" algn="l" defTabSz="914400" rtl="0" eaLnBrk="1" fontAlgn="auto" latinLnBrk="0" hangingPunct="1">
              <a:lnSpc>
                <a:spcPct val="150000"/>
              </a:lnSpc>
              <a:spcBef>
                <a:spcPts val="0"/>
              </a:spcBef>
              <a:spcAft>
                <a:spcPts val="0"/>
              </a:spcAft>
              <a:buClrTx/>
              <a:buSzTx/>
              <a:buFont typeface="+mj-lt"/>
              <a:buAutoNum type="arabicPeriod"/>
              <a:tabLst/>
              <a:defRPr/>
            </a:pPr>
            <a:r>
              <a:rPr kumimoji="0" lang="zh-CN" altLang="en-US" sz="20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迭代寻找凸包的所有顶点： </a:t>
            </a:r>
            <a:r>
              <a:rPr kumimoji="0" lang="zh-CN" altLang="en-US" sz="2000" b="0"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将下一个点作为当前的点，然后继续寻找下一个凸包顶点。不断地迭代这个过程直到回到最下边的点为止，此时即形成了一个闭合的凸包。</a:t>
            </a:r>
            <a:endParaRPr kumimoji="0" lang="en-US" altLang="zh-CN" sz="2000" b="0"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6"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凸包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卷包裹法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6" name="Text Box 2"/>
          <p:cNvSpPr txBox="1">
            <a:spLocks noChangeArrowheads="1"/>
          </p:cNvSpPr>
          <p:nvPr/>
        </p:nvSpPr>
        <p:spPr bwMode="auto">
          <a:xfrm>
            <a:off x="972513" y="1593849"/>
            <a:ext cx="6432549" cy="1319079"/>
          </a:xfrm>
          <a:prstGeom prst="rect">
            <a:avLst/>
          </a:prstGeom>
          <a:noFill/>
          <a:ln w="9525">
            <a:noFill/>
            <a:miter lim="800000"/>
          </a:ln>
        </p:spPr>
        <p:txBody>
          <a:bodyPr>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kumimoji="0" lang="zh-CN" altLang="en-US" sz="2665"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Consolas" panose="020B0609020204030204" pitchFamily="49" charset="0"/>
              </a:rPr>
              <a:t>　　</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对于右图所示的点集</a:t>
            </a: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，采用礼品包裹算法求凸包的过程如下：</a:t>
            </a:r>
          </a:p>
        </p:txBody>
      </p:sp>
      <p:sp>
        <p:nvSpPr>
          <p:cNvPr id="1048777" name="Text Box 4"/>
          <p:cNvSpPr txBox="1">
            <a:spLocks noRot="1" noChangeAspect="1" noMove="1" noResize="1" noEditPoints="1" noAdjustHandles="1" noChangeArrowheads="1" noChangeShapeType="1" noTextEdit="1"/>
          </p:cNvSpPr>
          <p:nvPr/>
        </p:nvSpPr>
        <p:spPr bwMode="auto">
          <a:xfrm>
            <a:off x="1054101" y="3271885"/>
            <a:ext cx="11137900" cy="2769343"/>
          </a:xfrm>
          <a:prstGeom prst="rect">
            <a:avLst/>
          </a:prstGeom>
          <a:blipFill>
            <a:blip r:embed="rId3"/>
            <a:stretch>
              <a:fillRect l="-73"/>
            </a:stretch>
          </a:bli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a:ln>
                  <a:noFill/>
                </a:ln>
                <a:noFill/>
                <a:effectLst/>
                <a:uLnTx/>
                <a:uFillTx/>
                <a:latin typeface="Calibri"/>
                <a:ea typeface="微软雅黑" panose="020B0503020204020204" pitchFamily="34" charset="-122"/>
                <a:cs typeface="+mn-cs"/>
              </a:rPr>
              <a:t> </a:t>
            </a:r>
          </a:p>
        </p:txBody>
      </p:sp>
      <p:pic>
        <p:nvPicPr>
          <p:cNvPr id="2097174" name="Picture 3"/>
          <p:cNvPicPr>
            <a:picLocks noChangeAspect="1" noChangeArrowheads="1"/>
          </p:cNvPicPr>
          <p:nvPr/>
        </p:nvPicPr>
        <p:blipFill>
          <a:blip r:embed="rId4" cstate="print"/>
          <a:srcRect/>
          <a:stretch>
            <a:fillRect/>
          </a:stretch>
        </p:blipFill>
        <p:spPr bwMode="auto">
          <a:xfrm>
            <a:off x="8003213" y="1593849"/>
            <a:ext cx="3410823" cy="3196235"/>
          </a:xfrm>
          <a:prstGeom prst="rect">
            <a:avLst/>
          </a:prstGeom>
          <a:noFill/>
          <a:ln w="9525">
            <a:noFill/>
            <a:miter lim="800000"/>
            <a:headEnd/>
            <a:tailEnd/>
          </a:ln>
        </p:spPr>
      </p:pic>
      <p:sp>
        <p:nvSpPr>
          <p:cNvPr id="7"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凸包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卷包裹法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2" name="Text 1"/>
          <p:cNvSpPr/>
          <p:nvPr/>
        </p:nvSpPr>
        <p:spPr>
          <a:xfrm>
            <a:off x="745067" y="1572683"/>
            <a:ext cx="10287000" cy="914400"/>
          </a:xfrm>
          <a:prstGeom prst="rect">
            <a:avLst/>
          </a:prstGeom>
          <a:noFill/>
        </p:spPr>
        <p:txBody>
          <a:bodyPr wrap="square" rtlCol="0" anchor="t"/>
          <a:lstStyle/>
          <a:p>
            <a:pPr marL="0" marR="0" lvl="0" indent="0" algn="l" defTabSz="914400" rtl="0" eaLnBrk="1" fontAlgn="auto" latinLnBrk="0" hangingPunct="1">
              <a:lnSpc>
                <a:spcPct val="150000"/>
              </a:lnSpc>
              <a:spcBef>
                <a:spcPts val="0"/>
              </a:spcBef>
              <a:spcAft>
                <a:spcPts val="0"/>
              </a:spcAft>
              <a:buClrTx/>
              <a:buSzPct val="100000"/>
              <a:buFontTx/>
              <a:buNone/>
              <a:tabLst/>
              <a:defRPr/>
            </a:pP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Jarvis</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步进法（礼品包裹算法）</a:t>
            </a:r>
          </a:p>
        </p:txBody>
      </p:sp>
      <p:sp>
        <p:nvSpPr>
          <p:cNvPr id="1048783" name="矩形 5"/>
          <p:cNvSpPr/>
          <p:nvPr/>
        </p:nvSpPr>
        <p:spPr>
          <a:xfrm>
            <a:off x="1034473" y="2426007"/>
            <a:ext cx="10612582" cy="131907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Jarvis</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步进法的时间复杂度为 </a:t>
            </a: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O(</a:t>
            </a:r>
            <a:r>
              <a:rPr kumimoji="0" lang="en-US" altLang="zh-CN" sz="28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nh</a:t>
            </a: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，其中 </a:t>
            </a: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n </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是点集的大小，</a:t>
            </a: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h </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是凸包的边数。在最坏情况下，</a:t>
            </a: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Jarvis</a:t>
            </a: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步进法的时间复杂度是 </a:t>
            </a:r>
            <a:r>
              <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O(n^2)</a:t>
            </a:r>
            <a:endPar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1048784" name="矩形 8"/>
          <p:cNvSpPr/>
          <p:nvPr/>
        </p:nvSpPr>
        <p:spPr>
          <a:xfrm>
            <a:off x="1034473" y="4417574"/>
            <a:ext cx="9040777" cy="67274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思考：多个点都在最下方或多个点极角都最小如何解决？</a:t>
            </a:r>
          </a:p>
        </p:txBody>
      </p:sp>
      <p:sp>
        <p:nvSpPr>
          <p:cNvPr id="7"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凸包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卷包裹法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577048" y="889984"/>
            <a:ext cx="11280152" cy="5647616"/>
          </a:xfrm>
        </p:spPr>
        <p:txBody>
          <a:bodyPr>
            <a:normAutofit/>
          </a:bodyPr>
          <a:lstStyle/>
          <a:p>
            <a:pPr marL="342900" indent="-342900" algn="just">
              <a:lnSpc>
                <a:spcPct val="17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判断点在圆内、点在圆上（</a:t>
            </a:r>
            <a:r>
              <a:rPr lang="en-US" altLang="zh-CN" sz="2400" b="1" kern="100" dirty="0">
                <a:solidFill>
                  <a:srgbClr val="014B88"/>
                </a:solidFill>
                <a:latin typeface="仿宋_GB2312"/>
                <a:cs typeface="Times New Roman" panose="02020603050405020304" pitchFamily="18" charset="0"/>
              </a:rPr>
              <a:t>So Easy</a:t>
            </a:r>
            <a:r>
              <a:rPr lang="zh-CN" altLang="en-US" sz="2400" b="1" kern="100" dirty="0">
                <a:solidFill>
                  <a:srgbClr val="014B88"/>
                </a:solidFill>
                <a:latin typeface="仿宋_GB2312"/>
                <a:cs typeface="Times New Roman" panose="02020603050405020304" pitchFamily="18" charset="0"/>
              </a:rPr>
              <a:t>！）</a:t>
            </a:r>
            <a:endParaRPr lang="en-US" altLang="zh-CN" sz="2400" b="1" kern="100" dirty="0">
              <a:solidFill>
                <a:srgbClr val="014B88"/>
              </a:solidFill>
              <a:latin typeface="仿宋_GB2312"/>
              <a:cs typeface="Times New Roman" panose="02020603050405020304" pitchFamily="18" charset="0"/>
            </a:endParaRPr>
          </a:p>
          <a:p>
            <a:pPr marL="342900" indent="-342900" algn="just">
              <a:lnSpc>
                <a:spcPct val="17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直线与圆相交并求交点</a:t>
            </a:r>
            <a:endParaRPr lang="en-US" altLang="zh-CN" sz="2400" b="1" kern="100" dirty="0">
              <a:solidFill>
                <a:srgbClr val="014B88"/>
              </a:solidFill>
              <a:latin typeface="仿宋_GB2312"/>
              <a:cs typeface="Times New Roman" panose="02020603050405020304" pitchFamily="18" charset="0"/>
            </a:endParaRPr>
          </a:p>
          <a:p>
            <a:pPr>
              <a:buFont typeface="Wingdings" panose="05000000000000000000" pitchFamily="2" charset="2"/>
              <a:buNone/>
              <a:defRPr/>
            </a:pPr>
            <a:endParaRPr lang="en-US" altLang="zh-CN" dirty="0"/>
          </a:p>
          <a:p>
            <a:pPr>
              <a:buFont typeface="Wingdings" panose="05000000000000000000" pitchFamily="2" charset="2"/>
              <a:buNone/>
              <a:defRPr/>
            </a:pPr>
            <a:r>
              <a:rPr lang="en-US" altLang="zh-CN" dirty="0"/>
              <a:t> </a:t>
            </a:r>
            <a:endParaRPr lang="zh-CN" altLang="en-US" dirty="0"/>
          </a:p>
          <a:p>
            <a:pPr>
              <a:defRPr/>
            </a:pPr>
            <a:endParaRPr lang="en-US" altLang="zh-CN" dirty="0"/>
          </a:p>
          <a:p>
            <a:pPr>
              <a:defRPr/>
            </a:pPr>
            <a:endParaRPr lang="en-US" altLang="zh-CN"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点线与圆的关系</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529577" y="1333849"/>
            <a:ext cx="9184177" cy="268826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问题：给定两个圆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C1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x1, y1, r1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C2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x2, y2, r2</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endPar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它们有几个交点？</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它们相交部分的面积是多少？</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圆</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和直线</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AB</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有几个交点，坐标分别是多少？</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3"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圆相关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742992" y="1051340"/>
            <a:ext cx="10868096" cy="424069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5000"/>
              </a:lnSpc>
              <a:spcBef>
                <a:spcPts val="10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问题：给定两个圆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C1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x1, y1, r1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C2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x2, y2, r2</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且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r1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r2 &gt; 0</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25000"/>
              </a:lnSpc>
              <a:spcBef>
                <a:spcPts val="500"/>
              </a:spcBef>
              <a:spcAft>
                <a:spcPts val="0"/>
              </a:spcAft>
              <a:buClrTx/>
              <a:buSzTx/>
              <a:buFont typeface="Arial" panose="020B0604020202020204" pitchFamily="34" charset="0"/>
              <a:buChar char="•"/>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 dis(x1, y1, x2, y2)</a:t>
            </a:r>
          </a:p>
          <a:p>
            <a:pPr marL="685800" marR="0" lvl="1" indent="-228600" algn="l" defTabSz="914400" rtl="0" eaLnBrk="1" fontAlgn="auto" latinLnBrk="0" hangingPunct="1">
              <a:lnSpc>
                <a:spcPct val="125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相离：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&gt; r1 + r2   		0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交点</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25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外切：</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 r1 + r2    		1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交点</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25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相交：</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&gt; fabs(r1 - r2) &amp;&amp; d &lt; r1 + r2 	 2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交点</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25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内切：</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 fabs(r1 - r2) 		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交点</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25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内含：</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&lt; fabs(r1 - r2) 		0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交点</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25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重合： 无数交点</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3"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圆与圆的交点数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 calcmode="lin" valueType="num">
                                      <p:cBhvr additive="base">
                                        <p:cTn id="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945215" y="1457740"/>
            <a:ext cx="7736968" cy="295523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问题：给定两个圆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C1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x1, y1, r1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C2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x2, y2, r2</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且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r1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r2 &gt; 0</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endPar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第一步：确定是否存在交面积，方法？</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第二步：计算</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方法一：简单图形面积加减（扇形，三角形）</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方法二：积分法</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pic>
        <p:nvPicPr>
          <p:cNvPr id="4" name="图片 13" descr="圆相交面积"/>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5127" y="2385290"/>
            <a:ext cx="3571538" cy="277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圆与圆相交的面积</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 calcmode="lin" valueType="num">
                                      <p:cBhvr additive="base">
                                        <p:cTn id="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769723" y="1345096"/>
            <a:ext cx="9184177" cy="2789582"/>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问题：圆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 y, r</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）和直线</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AB=</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x1,y1,x2,y2</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）求交点</a:t>
            </a:r>
            <a:endParaRPr kumimoji="0" lang="en-US" altLang="zh-CN" sz="28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第一步：判断交点是否存在。设圆心到直线距离为</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则：</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&lt; r</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：直线是圆的割线，与圆有两个交点</a:t>
            </a: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 r</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：直线是圆的切线，与圆有一个交点</a:t>
            </a: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d &gt; r</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：直线与圆无交点</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
        <p:nvSpPr>
          <p:cNvPr id="3" name="椭圆 2"/>
          <p:cNvSpPr/>
          <p:nvPr/>
        </p:nvSpPr>
        <p:spPr>
          <a:xfrm>
            <a:off x="8772939" y="3803374"/>
            <a:ext cx="1709530" cy="170953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cxnSp>
        <p:nvCxnSpPr>
          <p:cNvPr id="4" name="直接连接符 3"/>
          <p:cNvCxnSpPr/>
          <p:nvPr/>
        </p:nvCxnSpPr>
        <p:spPr>
          <a:xfrm flipH="1">
            <a:off x="7849056" y="2941983"/>
            <a:ext cx="1472843" cy="2239617"/>
          </a:xfrm>
          <a:prstGeom prst="line">
            <a:avLst/>
          </a:prstGeom>
          <a:ln>
            <a:tailEnd type="none"/>
          </a:ln>
        </p:spPr>
        <p:style>
          <a:lnRef idx="3">
            <a:schemeClr val="accent1"/>
          </a:lnRef>
          <a:fillRef idx="0">
            <a:schemeClr val="accent1"/>
          </a:fillRef>
          <a:effectRef idx="2">
            <a:schemeClr val="accent1"/>
          </a:effectRef>
          <a:fontRef idx="minor">
            <a:schemeClr val="tx1"/>
          </a:fontRef>
        </p:style>
      </p:cxnSp>
      <p:cxnSp>
        <p:nvCxnSpPr>
          <p:cNvPr id="5" name="直接连接符 4"/>
          <p:cNvCxnSpPr/>
          <p:nvPr/>
        </p:nvCxnSpPr>
        <p:spPr>
          <a:xfrm>
            <a:off x="8640417" y="3962400"/>
            <a:ext cx="993913" cy="702365"/>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p:cNvSpPr txBox="1"/>
          <p:nvPr/>
        </p:nvSpPr>
        <p:spPr>
          <a:xfrm>
            <a:off x="9169499" y="3971346"/>
            <a:ext cx="384313" cy="424732"/>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d</a:t>
            </a:r>
            <a:endParaRPr kumimoji="0" lang="zh-CN" altLang="en-US" sz="24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7"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圆与直线相交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871323" y="1345096"/>
            <a:ext cx="9184177" cy="346820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问题：圆  </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C =</a:t>
            </a: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 y, r</a:t>
            </a: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）和直线</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AB=</a:t>
            </a: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x1,y1,x2,y2</a:t>
            </a: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）求交点</a:t>
            </a:r>
            <a:endPar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第二步：依据交点数进行计算</a:t>
            </a:r>
            <a:endPar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一个交点 </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a:t>
            </a: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切点，即点</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p</a:t>
            </a: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两个交点 </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a:t>
            </a: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先求点 </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p</a:t>
            </a: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，然后在直线</a:t>
            </a:r>
            <a:r>
              <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AB</a:t>
            </a:r>
            <a:r>
              <a:rPr kumimoji="0" lang="zh-CN" altLang="en-US"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上移动得到两交点</a:t>
            </a:r>
            <a:endParaRPr kumimoji="0" lang="en-US" altLang="zh-CN" sz="22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3" name="椭圆 2"/>
          <p:cNvSpPr/>
          <p:nvPr/>
        </p:nvSpPr>
        <p:spPr>
          <a:xfrm>
            <a:off x="8722638" y="3803374"/>
            <a:ext cx="1709530" cy="170953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cxnSp>
        <p:nvCxnSpPr>
          <p:cNvPr id="4" name="直接连接符 3"/>
          <p:cNvCxnSpPr/>
          <p:nvPr/>
        </p:nvCxnSpPr>
        <p:spPr>
          <a:xfrm flipH="1">
            <a:off x="8401878" y="3299791"/>
            <a:ext cx="1457740" cy="2213113"/>
          </a:xfrm>
          <a:prstGeom prst="line">
            <a:avLst/>
          </a:prstGeom>
          <a:ln>
            <a:tailEnd type="none"/>
          </a:ln>
        </p:spPr>
        <p:style>
          <a:lnRef idx="3">
            <a:schemeClr val="accent1"/>
          </a:lnRef>
          <a:fillRef idx="0">
            <a:schemeClr val="accent1"/>
          </a:fillRef>
          <a:effectRef idx="2">
            <a:schemeClr val="accent1"/>
          </a:effectRef>
          <a:fontRef idx="minor">
            <a:schemeClr val="tx1"/>
          </a:fontRef>
        </p:style>
      </p:cxnSp>
      <p:cxnSp>
        <p:nvCxnSpPr>
          <p:cNvPr id="5" name="直接连接符 4"/>
          <p:cNvCxnSpPr/>
          <p:nvPr/>
        </p:nvCxnSpPr>
        <p:spPr>
          <a:xfrm>
            <a:off x="9527102" y="3803374"/>
            <a:ext cx="100602" cy="854765"/>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直接连接符 5"/>
          <p:cNvCxnSpPr/>
          <p:nvPr/>
        </p:nvCxnSpPr>
        <p:spPr>
          <a:xfrm flipV="1">
            <a:off x="8799443" y="4658139"/>
            <a:ext cx="821637" cy="286578"/>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直接连接符 6"/>
          <p:cNvCxnSpPr/>
          <p:nvPr/>
        </p:nvCxnSpPr>
        <p:spPr>
          <a:xfrm flipH="1" flipV="1">
            <a:off x="9155906" y="4388644"/>
            <a:ext cx="465174" cy="269495"/>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文本框 7"/>
          <p:cNvSpPr txBox="1"/>
          <p:nvPr/>
        </p:nvSpPr>
        <p:spPr>
          <a:xfrm>
            <a:off x="8878668" y="4193981"/>
            <a:ext cx="431800" cy="424732"/>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p</a:t>
            </a:r>
            <a:endParaRPr kumimoji="0" lang="zh-CN" altLang="en-US" sz="24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圆与直线相交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547456" y="1198625"/>
            <a:ext cx="11097088" cy="5086766"/>
          </a:xfrm>
        </p:spPr>
        <p:txBody>
          <a:bodyPr>
            <a:normAutofit fontScale="92500" lnSpcReduction="20000"/>
          </a:bodyPr>
          <a:lstStyle/>
          <a:p>
            <a:pPr marL="342900" indent="-342900" algn="just">
              <a:lnSpc>
                <a:spcPct val="150000"/>
              </a:lnSpc>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什么是半平面？</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150000"/>
              </a:lnSpc>
              <a:buFont typeface="Wingdings" panose="05000000000000000000" pitchFamily="2" charset="2"/>
              <a:buChar char="l"/>
              <a:defRPr/>
            </a:pPr>
            <a:r>
              <a:rPr lang="zh-CN" altLang="en-US" sz="2800" b="1" kern="100" dirty="0">
                <a:solidFill>
                  <a:srgbClr val="014B88"/>
                </a:solidFill>
                <a:latin typeface="仿宋_GB2312"/>
                <a:cs typeface="Times New Roman" panose="02020603050405020304" pitchFamily="18" charset="0"/>
              </a:rPr>
              <a:t>顾名思义，半平面就是指平面的一半，我们知道，一条直线可以将平面分为两个部分，那么这两个部分就叫做两个半平面。</a:t>
            </a:r>
            <a:endParaRPr lang="en-US" altLang="zh-CN" sz="2800"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半平面怎么表示？</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150000"/>
              </a:lnSpc>
              <a:buFont typeface="Wingdings" panose="05000000000000000000" pitchFamily="2" charset="2"/>
              <a:buChar char="l"/>
              <a:defRPr/>
            </a:pPr>
            <a:r>
              <a:rPr lang="zh-CN" altLang="en-US" sz="2800" b="1" kern="100" dirty="0">
                <a:solidFill>
                  <a:srgbClr val="014B88"/>
                </a:solidFill>
                <a:latin typeface="仿宋_GB2312"/>
                <a:cs typeface="Times New Roman" panose="02020603050405020304" pitchFamily="18" charset="0"/>
              </a:rPr>
              <a:t>二维坐标系下，直线可以表示为</a:t>
            </a:r>
            <a:r>
              <a:rPr lang="en-US" sz="2800" b="1" kern="100" dirty="0">
                <a:solidFill>
                  <a:srgbClr val="014B88"/>
                </a:solidFill>
                <a:latin typeface="仿宋_GB2312"/>
                <a:cs typeface="Times New Roman" panose="02020603050405020304" pitchFamily="18" charset="0"/>
              </a:rPr>
              <a:t>ax + by + c = 0，</a:t>
            </a:r>
            <a:r>
              <a:rPr lang="zh-CN" altLang="en-US" sz="2800" b="1" kern="100" dirty="0">
                <a:solidFill>
                  <a:srgbClr val="014B88"/>
                </a:solidFill>
                <a:latin typeface="仿宋_GB2312"/>
                <a:cs typeface="Times New Roman" panose="02020603050405020304" pitchFamily="18" charset="0"/>
              </a:rPr>
              <a:t>那么两个半平面则可以表示为</a:t>
            </a:r>
            <a:r>
              <a:rPr lang="en-US" sz="2800" b="1" kern="100" dirty="0">
                <a:solidFill>
                  <a:srgbClr val="014B88"/>
                </a:solidFill>
                <a:latin typeface="仿宋_GB2312"/>
                <a:cs typeface="Times New Roman" panose="02020603050405020304" pitchFamily="18" charset="0"/>
              </a:rPr>
              <a:t>ax + by + c &gt;= 0 </a:t>
            </a:r>
            <a:r>
              <a:rPr lang="zh-CN" altLang="en-US" sz="2800" b="1" kern="100" dirty="0">
                <a:solidFill>
                  <a:srgbClr val="014B88"/>
                </a:solidFill>
                <a:latin typeface="仿宋_GB2312"/>
                <a:cs typeface="Times New Roman" panose="02020603050405020304" pitchFamily="18" charset="0"/>
              </a:rPr>
              <a:t>和</a:t>
            </a:r>
            <a:r>
              <a:rPr lang="en-US" sz="2800" b="1" kern="100" dirty="0">
                <a:solidFill>
                  <a:srgbClr val="014B88"/>
                </a:solidFill>
                <a:latin typeface="仿宋_GB2312"/>
                <a:cs typeface="Times New Roman" panose="02020603050405020304" pitchFamily="18" charset="0"/>
              </a:rPr>
              <a:t>ax + by + c &lt; 0，</a:t>
            </a:r>
            <a:r>
              <a:rPr lang="zh-CN" altLang="en-US" sz="2800" b="1" kern="100" dirty="0">
                <a:solidFill>
                  <a:srgbClr val="014B88"/>
                </a:solidFill>
                <a:latin typeface="仿宋_GB2312"/>
                <a:cs typeface="Times New Roman" panose="02020603050405020304" pitchFamily="18" charset="0"/>
              </a:rPr>
              <a:t>这就是半平面的表示方法。半平面一般用有向直线来表示，沿其正方向看去，左侧是其所代表的半平面</a:t>
            </a:r>
            <a:endParaRPr lang="en-US" altLang="zh-CN" sz="2800" b="1" kern="100" dirty="0">
              <a:solidFill>
                <a:srgbClr val="014B88"/>
              </a:solidFill>
              <a:latin typeface="仿宋_GB2312"/>
              <a:cs typeface="Times New Roman" panose="02020603050405020304" pitchFamily="18" charset="0"/>
            </a:endParaRPr>
          </a:p>
          <a:p>
            <a:pPr>
              <a:buFont typeface="Wingdings" panose="05000000000000000000" pitchFamily="2" charset="2"/>
              <a:buNone/>
              <a:defRPr/>
            </a:pPr>
            <a:r>
              <a:rPr lang="en-US" altLang="zh-CN" dirty="0"/>
              <a:t>	</a:t>
            </a:r>
          </a:p>
          <a:p>
            <a:pPr>
              <a:buFont typeface="Wingdings" panose="05000000000000000000" pitchFamily="2" charset="2"/>
              <a:buNone/>
              <a:defRPr/>
            </a:pPr>
            <a:endParaRPr lang="zh-CN" altLang="en-US"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半平面交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6" name="Picture 3"/>
          <p:cNvPicPr>
            <a:picLocks noChangeAspect="1" noChangeArrowheads="1"/>
          </p:cNvPicPr>
          <p:nvPr/>
        </p:nvPicPr>
        <p:blipFill>
          <a:blip r:embed="rId2"/>
          <a:srcRect/>
          <a:stretch>
            <a:fillRect/>
          </a:stretch>
        </p:blipFill>
        <p:spPr bwMode="auto">
          <a:xfrm>
            <a:off x="9458036" y="25607"/>
            <a:ext cx="1169770" cy="1905718"/>
          </a:xfrm>
          <a:prstGeom prst="rect">
            <a:avLst/>
          </a:prstGeom>
          <a:noFill/>
          <a:ln w="9525">
            <a:noFill/>
            <a:miter lim="800000"/>
            <a:headEnd/>
            <a:tailEnd/>
          </a:ln>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334800" y="1253330"/>
            <a:ext cx="11286070" cy="4351337"/>
          </a:xfrm>
        </p:spPr>
        <p:txBody>
          <a:bodyPr>
            <a:normAutofit/>
          </a:bodyPr>
          <a:lstStyle/>
          <a:p>
            <a:pPr marL="388620" lvl="1" indent="-342900" algn="just">
              <a:lnSpc>
                <a:spcPct val="150000"/>
              </a:lnSpc>
              <a:spcBef>
                <a:spcPts val="600"/>
              </a:spcBef>
              <a:buClr>
                <a:schemeClr val="accent2"/>
              </a:buClr>
              <a:buFont typeface="Wingdings" panose="05000000000000000000" pitchFamily="2" charset="2"/>
              <a:buChar char="l"/>
              <a:defRPr/>
            </a:pPr>
            <a:r>
              <a:rPr lang="zh-CN" altLang="en-US" sz="3200" b="1" kern="100" dirty="0">
                <a:solidFill>
                  <a:srgbClr val="014B88"/>
                </a:solidFill>
                <a:latin typeface="仿宋_GB2312"/>
                <a:cs typeface="Times New Roman" panose="02020603050405020304" pitchFamily="18" charset="0"/>
              </a:rPr>
              <a:t>什么是半平面的交？</a:t>
            </a:r>
            <a:endParaRPr lang="en-US" altLang="zh-CN" sz="3200" b="1" kern="100" dirty="0">
              <a:solidFill>
                <a:srgbClr val="014B88"/>
              </a:solidFill>
              <a:latin typeface="仿宋_GB2312"/>
              <a:cs typeface="Times New Roman" panose="02020603050405020304" pitchFamily="18" charset="0"/>
            </a:endParaRPr>
          </a:p>
          <a:p>
            <a:pPr marL="754380" lvl="2" indent="-342900" algn="just">
              <a:lnSpc>
                <a:spcPct val="150000"/>
              </a:lnSpc>
              <a:spcBef>
                <a:spcPts val="600"/>
              </a:spcBef>
              <a:buFont typeface="Wingdings" panose="05000000000000000000" pitchFamily="2" charset="2"/>
              <a:buChar char="l"/>
              <a:defRPr/>
            </a:pPr>
            <a:r>
              <a:rPr lang="zh-CN" altLang="en-US" sz="2800" b="1" kern="100" dirty="0">
                <a:solidFill>
                  <a:srgbClr val="014B88"/>
                </a:solidFill>
                <a:latin typeface="仿宋_GB2312"/>
                <a:cs typeface="Times New Roman" panose="02020603050405020304" pitchFamily="18" charset="0"/>
              </a:rPr>
              <a:t>给若干半平面的表示（即一个方程组），在二维坐标系上求出符合每个方程组的区域。类似于求线性规划中的可行域。</a:t>
            </a:r>
            <a:endParaRPr lang="en-US" altLang="zh-CN" sz="2800" dirty="0"/>
          </a:p>
          <a:p>
            <a:pPr marL="640080" lvl="2">
              <a:spcBef>
                <a:spcPts val="600"/>
              </a:spcBef>
              <a:defRPr/>
            </a:pPr>
            <a:endParaRPr lang="en-US" altLang="zh-CN" sz="2800" dirty="0"/>
          </a:p>
          <a:p>
            <a:pPr marL="640080" lvl="2">
              <a:spcBef>
                <a:spcPts val="600"/>
              </a:spcBef>
              <a:defRPr/>
            </a:pPr>
            <a:endParaRPr lang="en-US" altLang="zh-CN" sz="2800" dirty="0"/>
          </a:p>
          <a:p>
            <a:pPr>
              <a:defRPr/>
            </a:pPr>
            <a:endParaRPr lang="en-US" altLang="zh-CN" dirty="0"/>
          </a:p>
          <a:p>
            <a:pPr lvl="1">
              <a:buFont typeface="Wingdings" panose="05000000000000000000" pitchFamily="2" charset="2"/>
              <a:buNone/>
              <a:defRPr/>
            </a:pPr>
            <a:endParaRPr lang="en-US" altLang="zh-CN" dirty="0"/>
          </a:p>
          <a:p>
            <a:pPr lvl="1">
              <a:defRPr/>
            </a:pPr>
            <a:endParaRPr lang="zh-CN" altLang="en-US" dirty="0"/>
          </a:p>
        </p:txBody>
      </p:sp>
      <p:pic>
        <p:nvPicPr>
          <p:cNvPr id="583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0730" y="3576782"/>
            <a:ext cx="7072313"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半平面交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6" name="Picture 2"/>
          <p:cNvPicPr>
            <a:picLocks noChangeAspect="1" noChangeArrowheads="1"/>
          </p:cNvPicPr>
          <p:nvPr/>
        </p:nvPicPr>
        <p:blipFill>
          <a:blip r:embed="rId3"/>
          <a:stretch>
            <a:fillRect/>
          </a:stretch>
        </p:blipFill>
        <p:spPr bwMode="auto">
          <a:xfrm>
            <a:off x="761782" y="3749644"/>
            <a:ext cx="3238500" cy="2619375"/>
          </a:xfrm>
          <a:prstGeom prst="rect">
            <a:avLst/>
          </a:prstGeom>
          <a:noFill/>
          <a:ln w="9525">
            <a:noFill/>
            <a:miter lim="800000"/>
            <a:headEnd/>
            <a:tailEnd/>
          </a:ln>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slide(fromBottom)">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8370"/>
                                        </p:tgtEl>
                                        <p:attrNameLst>
                                          <p:attrName>style.visibility</p:attrName>
                                        </p:attrNameLst>
                                      </p:cBhvr>
                                      <p:to>
                                        <p:strVal val="visible"/>
                                      </p:to>
                                    </p:set>
                                    <p:animEffect transition="in" filter="dissolve">
                                      <p:cBhvr>
                                        <p:cTn id="12" dur="500"/>
                                        <p:tgtEl>
                                          <p:spTgt spid="58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532660" y="1110456"/>
            <a:ext cx="5239584" cy="4351337"/>
          </a:xfrm>
        </p:spPr>
        <p:txBody>
          <a:bodyPr>
            <a:normAutofit fontScale="92500"/>
          </a:bodyPr>
          <a:lstStyle/>
          <a:p>
            <a:pPr marL="387350" lvl="1" indent="-342900" algn="just">
              <a:lnSpc>
                <a:spcPct val="150000"/>
              </a:lnSpc>
              <a:spcBef>
                <a:spcPts val="600"/>
              </a:spcBef>
              <a:buClr>
                <a:schemeClr val="accent2"/>
              </a:buClr>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什么是多边形的核？</a:t>
            </a:r>
            <a:endParaRPr lang="en-US" altLang="zh-CN" b="1" kern="100" dirty="0">
              <a:solidFill>
                <a:srgbClr val="014B88"/>
              </a:solidFill>
              <a:latin typeface="仿宋_GB2312"/>
              <a:cs typeface="Times New Roman" panose="02020603050405020304" pitchFamily="18" charset="0"/>
            </a:endParaRPr>
          </a:p>
          <a:p>
            <a:pPr marL="640080" lvl="2" indent="-342900" algn="just">
              <a:lnSpc>
                <a:spcPct val="150000"/>
              </a:lnSpc>
              <a:spcBef>
                <a:spcPts val="600"/>
              </a:spcBef>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简单多边形的核是指多边形内的一个点集，该点集内的任意一点与多边形边界上所连的线段都在多边形的内部。在一个房子（多边形）里某一点放一个摄像头，能监视到这个房子的每一处，满足条件的所有点的集合即为多边形的核。</a:t>
            </a:r>
            <a:endParaRPr lang="en-US" altLang="zh-CN" sz="2400" b="1" kern="100" dirty="0">
              <a:solidFill>
                <a:srgbClr val="014B88"/>
              </a:solidFill>
              <a:latin typeface="仿宋_GB2312"/>
              <a:cs typeface="Times New Roman" panose="02020603050405020304" pitchFamily="18" charset="0"/>
            </a:endParaRPr>
          </a:p>
          <a:p>
            <a:pPr>
              <a:buFont typeface="Wingdings" panose="05000000000000000000" pitchFamily="2" charset="2"/>
              <a:buNone/>
            </a:pPr>
            <a:endParaRPr lang="zh-CN" altLang="en-US" dirty="0"/>
          </a:p>
        </p:txBody>
      </p:sp>
      <p:cxnSp>
        <p:nvCxnSpPr>
          <p:cNvPr id="6" name="直接连接符 5"/>
          <p:cNvCxnSpPr/>
          <p:nvPr/>
        </p:nvCxnSpPr>
        <p:spPr>
          <a:xfrm flipV="1">
            <a:off x="7991382" y="2388007"/>
            <a:ext cx="2357438" cy="4286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rot="5400000" flipH="1" flipV="1">
            <a:off x="7312726" y="3209537"/>
            <a:ext cx="1071562" cy="2857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7705633" y="3888193"/>
            <a:ext cx="1643063" cy="6429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flipH="1" flipV="1">
            <a:off x="8991508" y="2388006"/>
            <a:ext cx="1357312" cy="135731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16200000" flipV="1">
            <a:off x="8777195" y="3959631"/>
            <a:ext cx="785813" cy="3571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7205571" y="2173694"/>
            <a:ext cx="4429125" cy="785813"/>
          </a:xfrm>
          <a:prstGeom prst="line">
            <a:avLst/>
          </a:prstGeom>
          <a:ln w="254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flipH="1" flipV="1">
            <a:off x="8277133" y="1673631"/>
            <a:ext cx="2786062" cy="2786063"/>
          </a:xfrm>
          <a:prstGeom prst="line">
            <a:avLst/>
          </a:prstGeom>
          <a:ln w="254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16200000" flipH="1">
            <a:off x="7705632" y="3102381"/>
            <a:ext cx="2571750" cy="1143000"/>
          </a:xfrm>
          <a:prstGeom prst="line">
            <a:avLst/>
          </a:prstGeom>
          <a:ln w="254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flipH="1" flipV="1">
            <a:off x="5955415" y="2780913"/>
            <a:ext cx="3786187" cy="1000125"/>
          </a:xfrm>
          <a:prstGeom prst="line">
            <a:avLst/>
          </a:prstGeom>
          <a:ln w="254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419758" y="3388132"/>
            <a:ext cx="4714875" cy="1785937"/>
          </a:xfrm>
          <a:prstGeom prst="line">
            <a:avLst/>
          </a:prstGeom>
          <a:ln w="254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rot="16200000" flipH="1">
            <a:off x="8884351" y="2780912"/>
            <a:ext cx="285750" cy="7143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rot="16200000" flipV="1">
            <a:off x="9205820" y="3102381"/>
            <a:ext cx="214312" cy="2143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rot="10800000" flipV="1">
            <a:off x="8777195" y="3888194"/>
            <a:ext cx="285750" cy="14287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rot="5400000" flipH="1" flipV="1">
            <a:off x="8277133" y="3888194"/>
            <a:ext cx="285750" cy="14287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7919945" y="3245257"/>
            <a:ext cx="285750" cy="714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16200000" flipH="1">
            <a:off x="8420008" y="2745194"/>
            <a:ext cx="214313" cy="214313"/>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8205696" y="2816631"/>
            <a:ext cx="642937" cy="5715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7991383" y="2888068"/>
            <a:ext cx="1000125" cy="85725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7919946" y="3102381"/>
            <a:ext cx="928687" cy="78581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848507" y="3316694"/>
            <a:ext cx="857250" cy="71437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7777070" y="3531007"/>
            <a:ext cx="785812" cy="642937"/>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7777070" y="3745318"/>
            <a:ext cx="500062" cy="357188"/>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半平面交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par>
                                <p:cTn id="23" presetID="4" presetClass="entr" presetSubtype="16"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ox(in)">
                                      <p:cBhvr>
                                        <p:cTn id="25" dur="500"/>
                                        <p:tgtEl>
                                          <p:spTgt spid="6"/>
                                        </p:tgtEl>
                                      </p:cBhvr>
                                    </p:animEffect>
                                  </p:childTnLst>
                                </p:cTn>
                              </p:par>
                              <p:par>
                                <p:cTn id="26" presetID="4" presetClass="entr" presetSubtype="16"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ox(in)">
                                      <p:cBhvr>
                                        <p:cTn id="28" dur="500"/>
                                        <p:tgtEl>
                                          <p:spTgt spid="7"/>
                                        </p:tgtEl>
                                      </p:cBhvr>
                                    </p:animEffect>
                                  </p:childTnLst>
                                </p:cTn>
                              </p:par>
                              <p:par>
                                <p:cTn id="29" presetID="4" presetClass="entr" presetSubtype="16"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ox(in)">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diamond(in)">
                                      <p:cBhvr>
                                        <p:cTn id="36" dur="2000"/>
                                        <p:tgtEl>
                                          <p:spTgt spid="20"/>
                                        </p:tgtEl>
                                      </p:cBhvr>
                                    </p:animEffect>
                                  </p:childTnLst>
                                </p:cTn>
                              </p:par>
                              <p:par>
                                <p:cTn id="37" presetID="8" presetClass="entr" presetSubtype="16"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diamond(in)">
                                      <p:cBhvr>
                                        <p:cTn id="39" dur="2000"/>
                                        <p:tgtEl>
                                          <p:spTgt spid="18"/>
                                        </p:tgtEl>
                                      </p:cBhvr>
                                    </p:animEffect>
                                  </p:childTnLst>
                                </p:cTn>
                              </p:par>
                              <p:par>
                                <p:cTn id="40" presetID="8" presetClass="entr" presetSubtype="16" fill="hold"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diamond(in)">
                                      <p:cBhvr>
                                        <p:cTn id="42" dur="2000"/>
                                        <p:tgtEl>
                                          <p:spTgt spid="36"/>
                                        </p:tgtEl>
                                      </p:cBhvr>
                                    </p:animEffect>
                                  </p:childTnLst>
                                </p:cTn>
                              </p:par>
                              <p:par>
                                <p:cTn id="43" presetID="8" presetClass="entr" presetSubtype="16"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diamond(in)">
                                      <p:cBhvr>
                                        <p:cTn id="45" dur="2000"/>
                                        <p:tgtEl>
                                          <p:spTgt spid="24"/>
                                        </p:tgtEl>
                                      </p:cBhvr>
                                    </p:animEffect>
                                  </p:childTnLst>
                                </p:cTn>
                              </p:par>
                              <p:par>
                                <p:cTn id="46" presetID="8" presetClass="entr" presetSubtype="16" fill="hold"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diamond(in)">
                                      <p:cBhvr>
                                        <p:cTn id="48" dur="2000"/>
                                        <p:tgtEl>
                                          <p:spTgt spid="3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blinds(horizontal)">
                                      <p:cBhvr>
                                        <p:cTn id="53" dur="500"/>
                                        <p:tgtEl>
                                          <p:spTgt spid="42"/>
                                        </p:tgtEl>
                                      </p:cBhvr>
                                    </p:animEffect>
                                  </p:childTnLst>
                                </p:cTn>
                              </p:par>
                              <p:par>
                                <p:cTn id="54" presetID="3" presetClass="entr" presetSubtype="10"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blinds(horizontal)">
                                      <p:cBhvr>
                                        <p:cTn id="56" dur="500"/>
                                        <p:tgtEl>
                                          <p:spTgt spid="41"/>
                                        </p:tgtEl>
                                      </p:cBhvr>
                                    </p:animEffect>
                                  </p:childTnLst>
                                </p:cTn>
                              </p:par>
                              <p:par>
                                <p:cTn id="57" presetID="3" presetClass="entr" presetSubtype="10"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blinds(horizontal)">
                                      <p:cBhvr>
                                        <p:cTn id="59" dur="500"/>
                                        <p:tgtEl>
                                          <p:spTgt spid="51"/>
                                        </p:tgtEl>
                                      </p:cBhvr>
                                    </p:animEffect>
                                  </p:childTnLst>
                                </p:cTn>
                              </p:par>
                              <p:par>
                                <p:cTn id="60" presetID="3" presetClass="entr" presetSubtype="10" fill="hold" nodeType="with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blinds(horizontal)">
                                      <p:cBhvr>
                                        <p:cTn id="62" dur="500"/>
                                        <p:tgtEl>
                                          <p:spTgt spid="45"/>
                                        </p:tgtEl>
                                      </p:cBhvr>
                                    </p:animEffect>
                                  </p:childTnLst>
                                </p:cTn>
                              </p:par>
                              <p:par>
                                <p:cTn id="63" presetID="3" presetClass="entr" presetSubtype="1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blinds(horizontal)">
                                      <p:cBhvr>
                                        <p:cTn id="65" dur="500"/>
                                        <p:tgtEl>
                                          <p:spTgt spid="47"/>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dissolve">
                                      <p:cBhvr>
                                        <p:cTn id="70" dur="500"/>
                                        <p:tgtEl>
                                          <p:spTgt spid="55"/>
                                        </p:tgtEl>
                                      </p:cBhvr>
                                    </p:animEffect>
                                  </p:childTnLst>
                                </p:cTn>
                              </p:par>
                              <p:par>
                                <p:cTn id="71" presetID="9" presetClass="entr" presetSubtype="0" fill="hold" nodeType="with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dissolve">
                                      <p:cBhvr>
                                        <p:cTn id="73" dur="500"/>
                                        <p:tgtEl>
                                          <p:spTgt spid="58"/>
                                        </p:tgtEl>
                                      </p:cBhvr>
                                    </p:animEffect>
                                  </p:childTnLst>
                                </p:cTn>
                              </p:par>
                              <p:par>
                                <p:cTn id="74" presetID="9" presetClass="entr" presetSubtype="0" fill="hold" nodeType="withEffect">
                                  <p:stCondLst>
                                    <p:cond delay="0"/>
                                  </p:stCondLst>
                                  <p:childTnLst>
                                    <p:set>
                                      <p:cBhvr>
                                        <p:cTn id="75" dur="1" fill="hold">
                                          <p:stCondLst>
                                            <p:cond delay="0"/>
                                          </p:stCondLst>
                                        </p:cTn>
                                        <p:tgtEl>
                                          <p:spTgt spid="60"/>
                                        </p:tgtEl>
                                        <p:attrNameLst>
                                          <p:attrName>style.visibility</p:attrName>
                                        </p:attrNameLst>
                                      </p:cBhvr>
                                      <p:to>
                                        <p:strVal val="visible"/>
                                      </p:to>
                                    </p:set>
                                    <p:animEffect transition="in" filter="dissolve">
                                      <p:cBhvr>
                                        <p:cTn id="76" dur="500"/>
                                        <p:tgtEl>
                                          <p:spTgt spid="60"/>
                                        </p:tgtEl>
                                      </p:cBhvr>
                                    </p:animEffect>
                                  </p:childTnLst>
                                </p:cTn>
                              </p:par>
                              <p:par>
                                <p:cTn id="77" presetID="9" presetClass="entr" presetSubtype="0" fill="hold"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dissolve">
                                      <p:cBhvr>
                                        <p:cTn id="79" dur="500"/>
                                        <p:tgtEl>
                                          <p:spTgt spid="67"/>
                                        </p:tgtEl>
                                      </p:cBhvr>
                                    </p:animEffect>
                                  </p:childTnLst>
                                </p:cTn>
                              </p:par>
                              <p:par>
                                <p:cTn id="80" presetID="9"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dissolve">
                                      <p:cBhvr>
                                        <p:cTn id="82" dur="500"/>
                                        <p:tgtEl>
                                          <p:spTgt spid="68"/>
                                        </p:tgtEl>
                                      </p:cBhvr>
                                    </p:animEffect>
                                  </p:childTnLst>
                                </p:cTn>
                              </p:par>
                              <p:par>
                                <p:cTn id="83" presetID="9" presetClass="entr" presetSubtype="0" fill="hold"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dissolve">
                                      <p:cBhvr>
                                        <p:cTn id="85" dur="500"/>
                                        <p:tgtEl>
                                          <p:spTgt spid="69"/>
                                        </p:tgtEl>
                                      </p:cBhvr>
                                    </p:animEffect>
                                  </p:childTnLst>
                                </p:cTn>
                              </p:par>
                              <p:par>
                                <p:cTn id="86" presetID="9"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dissolve">
                                      <p:cBhvr>
                                        <p:cTn id="88"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648070" y="1253331"/>
            <a:ext cx="10515600" cy="4351337"/>
          </a:xfrm>
        </p:spPr>
        <p:txBody>
          <a:bodyPr>
            <a:normAutofit fontScale="92500" lnSpcReduction="20000"/>
          </a:bodyPr>
          <a:lstStyle/>
          <a:p>
            <a:pPr marL="342900" indent="-342900" algn="just">
              <a:lnSpc>
                <a:spcPct val="150000"/>
              </a:lnSpc>
              <a:spcBef>
                <a:spcPts val="600"/>
              </a:spcBef>
              <a:buFont typeface="Wingdings" panose="05000000000000000000" pitchFamily="2" charset="2"/>
              <a:buChar char="l"/>
              <a:defRPr/>
            </a:pPr>
            <a:r>
              <a:rPr lang="zh-CN" altLang="en-US" sz="3000" b="1" kern="100" dirty="0">
                <a:solidFill>
                  <a:srgbClr val="014B88"/>
                </a:solidFill>
                <a:latin typeface="仿宋_GB2312"/>
                <a:cs typeface="Times New Roman" panose="02020603050405020304" pitchFamily="18" charset="0"/>
              </a:rPr>
              <a:t>如何求出符合条件的区域？怎么记录所求得的解？</a:t>
            </a:r>
            <a:endParaRPr lang="en-US" altLang="zh-CN" sz="3000" b="1" kern="100" dirty="0">
              <a:solidFill>
                <a:srgbClr val="014B88"/>
              </a:solidFill>
              <a:latin typeface="仿宋_GB2312"/>
              <a:cs typeface="Times New Roman" panose="02020603050405020304" pitchFamily="18" charset="0"/>
            </a:endParaRPr>
          </a:p>
          <a:p>
            <a:pPr marL="800100" lvl="1" indent="-342900" algn="just">
              <a:lnSpc>
                <a:spcPct val="15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假定二维坐标有边界（人为设定一个大正方形），不断使用直线切割多边形，最终得到可行解，或者可判定无解。线性规划中，可行域可以是一个凸多边形，一条直线，一个点，所以可以使用顶点集来表示半平面交的可行解</a:t>
            </a:r>
            <a:r>
              <a:rPr lang="en-US" altLang="zh-CN" sz="2600" b="1" kern="100" dirty="0">
                <a:solidFill>
                  <a:srgbClr val="014B88"/>
                </a:solidFill>
                <a:latin typeface="仿宋_GB2312"/>
                <a:cs typeface="Times New Roman" panose="02020603050405020304" pitchFamily="18" charset="0"/>
              </a:rPr>
              <a:t>	</a:t>
            </a:r>
          </a:p>
          <a:p>
            <a:pPr marL="342900" indent="-342900" algn="just">
              <a:lnSpc>
                <a:spcPct val="150000"/>
              </a:lnSpc>
              <a:spcBef>
                <a:spcPts val="600"/>
              </a:spcBef>
              <a:buFont typeface="Wingdings" panose="05000000000000000000" pitchFamily="2" charset="2"/>
              <a:buChar char="l"/>
              <a:defRPr/>
            </a:pPr>
            <a:r>
              <a:rPr lang="zh-CN" altLang="en-US" sz="3000" b="1" kern="100" dirty="0">
                <a:solidFill>
                  <a:srgbClr val="014B88"/>
                </a:solidFill>
                <a:latin typeface="仿宋_GB2312"/>
                <a:cs typeface="Times New Roman" panose="02020603050405020304" pitchFamily="18" charset="0"/>
              </a:rPr>
              <a:t>判断解的状况</a:t>
            </a:r>
            <a:endParaRPr lang="en-US" altLang="zh-CN" sz="3000" b="1" kern="100" dirty="0">
              <a:solidFill>
                <a:srgbClr val="014B88"/>
              </a:solidFill>
              <a:latin typeface="仿宋_GB2312"/>
              <a:cs typeface="Times New Roman" panose="02020603050405020304" pitchFamily="18" charset="0"/>
            </a:endParaRPr>
          </a:p>
          <a:p>
            <a:pPr marL="800100" lvl="1" indent="-342900" algn="just">
              <a:lnSpc>
                <a:spcPct val="15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通过所求得的顶点集（凸多边形的顶点）中的顶点个数判断，不大于</a:t>
            </a:r>
            <a:r>
              <a:rPr lang="en-US" altLang="zh-CN" sz="2600" b="1" kern="100" dirty="0">
                <a:solidFill>
                  <a:srgbClr val="014B88"/>
                </a:solidFill>
                <a:latin typeface="仿宋_GB2312"/>
                <a:cs typeface="Times New Roman" panose="02020603050405020304" pitchFamily="18" charset="0"/>
              </a:rPr>
              <a:t>0</a:t>
            </a:r>
            <a:r>
              <a:rPr lang="zh-CN" altLang="en-US" sz="2600" b="1" kern="100" dirty="0">
                <a:solidFill>
                  <a:srgbClr val="014B88"/>
                </a:solidFill>
                <a:latin typeface="仿宋_GB2312"/>
                <a:cs typeface="Times New Roman" panose="02020603050405020304" pitchFamily="18" charset="0"/>
              </a:rPr>
              <a:t>无解，等于</a:t>
            </a:r>
            <a:r>
              <a:rPr lang="en-US" altLang="zh-CN" sz="2600" b="1" kern="100" dirty="0">
                <a:solidFill>
                  <a:srgbClr val="014B88"/>
                </a:solidFill>
                <a:latin typeface="仿宋_GB2312"/>
                <a:cs typeface="Times New Roman" panose="02020603050405020304" pitchFamily="18" charset="0"/>
              </a:rPr>
              <a:t>2</a:t>
            </a:r>
            <a:r>
              <a:rPr lang="zh-CN" altLang="en-US" sz="2600" b="1" kern="100" dirty="0">
                <a:solidFill>
                  <a:srgbClr val="014B88"/>
                </a:solidFill>
                <a:latin typeface="仿宋_GB2312"/>
                <a:cs typeface="Times New Roman" panose="02020603050405020304" pitchFamily="18" charset="0"/>
              </a:rPr>
              <a:t>，解为一条直线，大于</a:t>
            </a:r>
            <a:r>
              <a:rPr lang="en-US" altLang="zh-CN" sz="2600" b="1" kern="100" dirty="0">
                <a:solidFill>
                  <a:srgbClr val="014B88"/>
                </a:solidFill>
                <a:latin typeface="仿宋_GB2312"/>
                <a:cs typeface="Times New Roman" panose="02020603050405020304" pitchFamily="18" charset="0"/>
              </a:rPr>
              <a:t>2</a:t>
            </a:r>
            <a:r>
              <a:rPr lang="zh-CN" altLang="en-US" sz="2600" b="1" kern="100" dirty="0">
                <a:solidFill>
                  <a:srgbClr val="014B88"/>
                </a:solidFill>
                <a:latin typeface="仿宋_GB2312"/>
                <a:cs typeface="Times New Roman" panose="02020603050405020304" pitchFamily="18" charset="0"/>
              </a:rPr>
              <a:t>，解为一个凸多边形</a:t>
            </a:r>
            <a:endParaRPr lang="en-US" altLang="zh-CN" sz="2600" b="1" kern="100" dirty="0">
              <a:solidFill>
                <a:srgbClr val="014B88"/>
              </a:solidFill>
              <a:latin typeface="仿宋_GB2312"/>
              <a:cs typeface="Times New Roman" panose="02020603050405020304" pitchFamily="18" charset="0"/>
            </a:endParaRPr>
          </a:p>
          <a:p>
            <a:pPr>
              <a:buFont typeface="Wingdings" panose="05000000000000000000" pitchFamily="2" charset="2"/>
              <a:buNone/>
            </a:pPr>
            <a:endParaRPr lang="en-US" altLang="zh-CN" dirty="0"/>
          </a:p>
          <a:p>
            <a:pPr>
              <a:buFont typeface="Wingdings" panose="05000000000000000000" pitchFamily="2" charset="2"/>
              <a:buNone/>
            </a:pPr>
            <a:endParaRPr lang="en-US" altLang="zh-CN" dirty="0"/>
          </a:p>
          <a:p>
            <a:pPr>
              <a:buFont typeface="Wingdings" panose="05000000000000000000" pitchFamily="2" charset="2"/>
              <a:buNone/>
            </a:pPr>
            <a:endParaRPr lang="en-US" altLang="zh-CN" dirty="0"/>
          </a:p>
          <a:p>
            <a:endParaRPr lang="en-US" altLang="zh-CN" dirty="0"/>
          </a:p>
          <a:p>
            <a:pPr>
              <a:buFont typeface="Wingdings" panose="05000000000000000000" pitchFamily="2" charset="2"/>
              <a:buNone/>
            </a:pPr>
            <a:endParaRPr lang="zh-CN" altLang="en-US"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半平面交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612560" y="1253331"/>
            <a:ext cx="7266058" cy="4351337"/>
          </a:xfrm>
        </p:spPr>
        <p:txBody>
          <a:bodyPr>
            <a:normAutofit/>
          </a:bodyPr>
          <a:lstStyle/>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直线切割多边形流程</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对 凸多边形（指的是当前多边形）的每一个顶点，如果这个顶点在直线的指定的一侧（即在该半平面内），那么就将该顶点直接加入到新的多边形中，否则，看与该点 相邻的多边形上的两个点（判断线段是否和直线相交），如果和直线相交，则把交点加入到新的多边形中。这样，就可以得到一个新的凸多边形。</a:t>
            </a:r>
            <a:endParaRPr lang="en-US" altLang="zh-CN" b="1" kern="100" dirty="0">
              <a:solidFill>
                <a:srgbClr val="014B88"/>
              </a:solidFill>
              <a:latin typeface="仿宋_GB2312"/>
              <a:cs typeface="Times New Roman" panose="02020603050405020304" pitchFamily="18" charset="0"/>
            </a:endParaRPr>
          </a:p>
          <a:p>
            <a:endParaRPr lang="zh-CN" altLang="en-US" dirty="0"/>
          </a:p>
        </p:txBody>
      </p:sp>
      <p:sp>
        <p:nvSpPr>
          <p:cNvPr id="4" name="TextBox 36"/>
          <p:cNvSpPr txBox="1"/>
          <p:nvPr/>
        </p:nvSpPr>
        <p:spPr>
          <a:xfrm>
            <a:off x="334800" y="274218"/>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半平面交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5" name="Picture 2"/>
          <p:cNvPicPr>
            <a:picLocks noChangeAspect="1" noChangeArrowheads="1"/>
          </p:cNvPicPr>
          <p:nvPr/>
        </p:nvPicPr>
        <p:blipFill>
          <a:blip r:embed="rId2"/>
          <a:srcRect/>
          <a:stretch>
            <a:fillRect/>
          </a:stretch>
        </p:blipFill>
        <p:spPr bwMode="auto">
          <a:xfrm>
            <a:off x="8655543" y="600044"/>
            <a:ext cx="2247900" cy="2362200"/>
          </a:xfrm>
          <a:prstGeom prst="rect">
            <a:avLst/>
          </a:prstGeom>
          <a:noFill/>
          <a:ln w="9525">
            <a:noFill/>
            <a:miter lim="800000"/>
            <a:headEnd/>
            <a:tailEnd/>
          </a:ln>
          <a:effectLst/>
        </p:spPr>
      </p:pic>
      <p:pic>
        <p:nvPicPr>
          <p:cNvPr id="6" name="Picture 3"/>
          <p:cNvPicPr>
            <a:picLocks noChangeAspect="1" noChangeArrowheads="1"/>
          </p:cNvPicPr>
          <p:nvPr/>
        </p:nvPicPr>
        <p:blipFill>
          <a:blip r:embed="rId3"/>
          <a:srcRect/>
          <a:stretch>
            <a:fillRect/>
          </a:stretch>
        </p:blipFill>
        <p:spPr bwMode="auto">
          <a:xfrm>
            <a:off x="8655543" y="4060499"/>
            <a:ext cx="2343150" cy="2219325"/>
          </a:xfrm>
          <a:prstGeom prst="rect">
            <a:avLst/>
          </a:prstGeom>
          <a:noFill/>
          <a:ln w="9525">
            <a:noFill/>
            <a:miter lim="800000"/>
            <a:headEnd/>
            <a:tailEnd/>
          </a:ln>
          <a:effectLst/>
        </p:spPr>
      </p:pic>
      <p:sp>
        <p:nvSpPr>
          <p:cNvPr id="7" name="右箭头 6"/>
          <p:cNvSpPr/>
          <p:nvPr/>
        </p:nvSpPr>
        <p:spPr>
          <a:xfrm rot="5208429">
            <a:off x="9415661" y="3370804"/>
            <a:ext cx="523300"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Tree>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542433" y="1253331"/>
            <a:ext cx="11490256" cy="4351337"/>
          </a:xfrm>
        </p:spPr>
        <p:txBody>
          <a:bodyPr/>
          <a:lstStyle/>
          <a:p>
            <a:pPr marL="342900" indent="-342900" algn="just">
              <a:lnSpc>
                <a:spcPct val="130000"/>
              </a:lnSpc>
              <a:spcBef>
                <a:spcPts val="600"/>
              </a:spcBef>
              <a:buFont typeface="Wingdings" panose="05000000000000000000" pitchFamily="2" charset="2"/>
              <a:buChar char="l"/>
              <a:defRPr/>
            </a:pPr>
            <a:r>
              <a:rPr lang="en-US" altLang="zh-CN" b="1" kern="100" dirty="0">
                <a:solidFill>
                  <a:srgbClr val="014B88"/>
                </a:solidFill>
                <a:latin typeface="仿宋_GB2312"/>
                <a:cs typeface="Times New Roman" panose="02020603050405020304" pitchFamily="18" charset="0"/>
              </a:rPr>
              <a:t> </a:t>
            </a:r>
            <a:r>
              <a:rPr lang="zh-CN" altLang="en-US" b="1" kern="100" dirty="0">
                <a:solidFill>
                  <a:srgbClr val="014B88"/>
                </a:solidFill>
                <a:latin typeface="仿宋_GB2312"/>
                <a:cs typeface="Times New Roman" panose="02020603050405020304" pitchFamily="18" charset="0"/>
              </a:rPr>
              <a:t>求凸多边形内可以画的最大圆 </a:t>
            </a:r>
            <a:endParaRPr lang="en-US" altLang="zh-CN" b="1" kern="100" dirty="0">
              <a:solidFill>
                <a:srgbClr val="014B88"/>
              </a:solidFill>
              <a:latin typeface="仿宋_GB2312"/>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利用半平面交</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二分圆半径，半平面交判定（是否有解）</a:t>
            </a:r>
            <a:endParaRPr lang="en-US" altLang="zh-CN" b="1" kern="100" dirty="0">
              <a:solidFill>
                <a:srgbClr val="014B88"/>
              </a:solidFill>
              <a:latin typeface="仿宋_GB2312"/>
              <a:cs typeface="Times New Roman" panose="02020603050405020304" pitchFamily="18" charset="0"/>
            </a:endParaRPr>
          </a:p>
          <a:p>
            <a:endParaRPr lang="en-US" altLang="zh-CN" dirty="0"/>
          </a:p>
          <a:p>
            <a:pPr>
              <a:buFont typeface="Wingdings" panose="05000000000000000000" pitchFamily="2" charset="2"/>
              <a:buNone/>
            </a:pPr>
            <a:endParaRPr lang="en-US" altLang="zh-CN" dirty="0"/>
          </a:p>
          <a:p>
            <a:endParaRPr lang="zh-CN" altLang="en-US" dirty="0"/>
          </a:p>
        </p:txBody>
      </p:sp>
      <p:sp>
        <p:nvSpPr>
          <p:cNvPr id="5" name="梯形 4"/>
          <p:cNvSpPr/>
          <p:nvPr/>
        </p:nvSpPr>
        <p:spPr>
          <a:xfrm>
            <a:off x="2309814" y="3929063"/>
            <a:ext cx="2714625" cy="1428750"/>
          </a:xfrm>
          <a:prstGeom prst="trapezoid">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6" name="椭圆 5"/>
          <p:cNvSpPr/>
          <p:nvPr/>
        </p:nvSpPr>
        <p:spPr>
          <a:xfrm>
            <a:off x="2524125" y="3929063"/>
            <a:ext cx="1428750" cy="1428750"/>
          </a:xfrm>
          <a:prstGeom prst="ellipse">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5062" name="Freeform 10"/>
          <p:cNvSpPr/>
          <p:nvPr/>
        </p:nvSpPr>
        <p:spPr bwMode="auto">
          <a:xfrm>
            <a:off x="7024688" y="2214563"/>
            <a:ext cx="1981200" cy="1447800"/>
          </a:xfrm>
          <a:custGeom>
            <a:avLst/>
            <a:gdLst>
              <a:gd name="T0" fmla="*/ 990600 w 1248"/>
              <a:gd name="T1" fmla="*/ 0 h 912"/>
              <a:gd name="T2" fmla="*/ 228600 w 1248"/>
              <a:gd name="T3" fmla="*/ 381000 h 912"/>
              <a:gd name="T4" fmla="*/ 0 w 1248"/>
              <a:gd name="T5" fmla="*/ 1447800 h 912"/>
              <a:gd name="T6" fmla="*/ 1981200 w 1248"/>
              <a:gd name="T7" fmla="*/ 1447800 h 912"/>
              <a:gd name="T8" fmla="*/ 1752600 w 1248"/>
              <a:gd name="T9" fmla="*/ 457200 h 912"/>
              <a:gd name="T10" fmla="*/ 990600 w 1248"/>
              <a:gd name="T11" fmla="*/ 0 h 9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48" h="912">
                <a:moveTo>
                  <a:pt x="624" y="0"/>
                </a:moveTo>
                <a:lnTo>
                  <a:pt x="144" y="240"/>
                </a:lnTo>
                <a:lnTo>
                  <a:pt x="0" y="912"/>
                </a:lnTo>
                <a:lnTo>
                  <a:pt x="1248" y="912"/>
                </a:lnTo>
                <a:lnTo>
                  <a:pt x="1104" y="288"/>
                </a:lnTo>
                <a:lnTo>
                  <a:pt x="624"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45063" name="Oval 11"/>
          <p:cNvSpPr>
            <a:spLocks noChangeArrowheads="1"/>
          </p:cNvSpPr>
          <p:nvPr/>
        </p:nvSpPr>
        <p:spPr bwMode="auto">
          <a:xfrm>
            <a:off x="7381875" y="2357438"/>
            <a:ext cx="1295400" cy="1295400"/>
          </a:xfrm>
          <a:prstGeom prst="ellipse">
            <a:avLst/>
          </a:prstGeom>
          <a:solidFill>
            <a:schemeClr val="accent1"/>
          </a:solidFill>
          <a:ln w="9525">
            <a:solidFill>
              <a:schemeClr val="tx1"/>
            </a:solidFill>
            <a:round/>
          </a:ln>
        </p:spPr>
        <p:txBody>
          <a:bodyPr wrap="none" anchor="ct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cxnSp>
        <p:nvCxnSpPr>
          <p:cNvPr id="11" name="直接连接符 10"/>
          <p:cNvCxnSpPr/>
          <p:nvPr/>
        </p:nvCxnSpPr>
        <p:spPr>
          <a:xfrm>
            <a:off x="5738813" y="4214814"/>
            <a:ext cx="3643312" cy="21431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453188" y="3786189"/>
            <a:ext cx="3643312" cy="21431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rot="5400000" flipH="1" flipV="1">
            <a:off x="7239001" y="4643438"/>
            <a:ext cx="571500" cy="42862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a:spLocks noChangeArrowheads="1"/>
          </p:cNvSpPr>
          <p:nvPr/>
        </p:nvSpPr>
        <p:spPr bwMode="auto">
          <a:xfrm>
            <a:off x="7524750" y="4786314"/>
            <a:ext cx="357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R</a:t>
            </a:r>
            <a:endParaRPr kumimoji="0" lang="zh-CN" altLang="en-US"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1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半平面交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down)">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dissolve">
                                      <p:cBhvr>
                                        <p:cTn id="21" dur="500"/>
                                        <p:tgtEl>
                                          <p:spTgt spid="16"/>
                                        </p:tgtEl>
                                      </p:cBhvr>
                                    </p:animEffect>
                                  </p:childTnLst>
                                </p:cTn>
                              </p:par>
                              <p:par>
                                <p:cTn id="22" presetID="9"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500"/>
                                        <p:tgtEl>
                                          <p:spTgt spid="11"/>
                                        </p:tgtEl>
                                      </p:cBhvr>
                                    </p:animEffect>
                                  </p:childTnLst>
                                </p:cTn>
                              </p:par>
                              <p:par>
                                <p:cTn id="25" presetID="9"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77049" y="1349545"/>
            <a:ext cx="10515600" cy="4351337"/>
          </a:xfrm>
        </p:spPr>
        <p:txBody>
          <a:bodyPr>
            <a:normAutofit/>
          </a:bodyPr>
          <a:lstStyle/>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凸多边形的交</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以第一个凸多边形的点集为初始点集，不断用其他多边形切割</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最后得到的点集即为相交的区域</a:t>
            </a: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半平面交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79394" y="1253331"/>
            <a:ext cx="10515600" cy="4351337"/>
          </a:xfrm>
        </p:spPr>
        <p:txBody>
          <a:bodyPr>
            <a:normAutofit fontScale="92500" lnSpcReduction="20000"/>
          </a:bodyPr>
          <a:lstStyle/>
          <a:p>
            <a:pPr marL="342900" indent="-342900" algn="just">
              <a:lnSpc>
                <a:spcPct val="130000"/>
              </a:lnSpc>
              <a:spcBef>
                <a:spcPts val="600"/>
              </a:spcBef>
              <a:buFont typeface="Wingdings" panose="05000000000000000000" pitchFamily="2" charset="2"/>
              <a:buChar char="l"/>
              <a:defRPr/>
            </a:pPr>
            <a:r>
              <a:rPr lang="en-US" altLang="zh-CN" b="1" kern="100" dirty="0">
                <a:solidFill>
                  <a:srgbClr val="014B88"/>
                </a:solidFill>
                <a:latin typeface="仿宋_GB2312"/>
                <a:cs typeface="Times New Roman" panose="02020603050405020304" pitchFamily="18" charset="0"/>
              </a:rPr>
              <a:t>100000</a:t>
            </a:r>
            <a:r>
              <a:rPr lang="zh-CN" altLang="en-US" b="1" kern="100" dirty="0">
                <a:solidFill>
                  <a:srgbClr val="014B88"/>
                </a:solidFill>
                <a:latin typeface="仿宋_GB2312"/>
                <a:cs typeface="Times New Roman" panose="02020603050405020304" pitchFamily="18" charset="0"/>
              </a:rPr>
              <a:t>个点的集合，求其中最近的两个点和最远的两个点。</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en-US" altLang="zh-CN" b="1" kern="100" dirty="0">
                <a:solidFill>
                  <a:srgbClr val="014B88"/>
                </a:solidFill>
                <a:latin typeface="仿宋_GB2312"/>
                <a:cs typeface="Times New Roman" panose="02020603050405020304" pitchFamily="18" charset="0"/>
              </a:rPr>
              <a:t>O(N^2)</a:t>
            </a:r>
            <a:r>
              <a:rPr lang="zh-CN" altLang="en-US" b="1" kern="100" dirty="0">
                <a:solidFill>
                  <a:srgbClr val="014B88"/>
                </a:solidFill>
                <a:latin typeface="仿宋_GB2312"/>
                <a:cs typeface="Times New Roman" panose="02020603050405020304" pitchFamily="18" charset="0"/>
              </a:rPr>
              <a:t>暴力枚举？必挂无疑</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最近点对可使用分治法</a:t>
            </a:r>
            <a:r>
              <a:rPr lang="en-US" altLang="zh-CN" b="1" kern="100" dirty="0">
                <a:solidFill>
                  <a:srgbClr val="014B88"/>
                </a:solidFill>
                <a:latin typeface="仿宋_GB2312"/>
                <a:cs typeface="Times New Roman" panose="02020603050405020304" pitchFamily="18" charset="0"/>
              </a:rPr>
              <a:t>O(</a:t>
            </a:r>
            <a:r>
              <a:rPr lang="en-US" altLang="zh-CN" b="1" kern="100" dirty="0" err="1">
                <a:solidFill>
                  <a:srgbClr val="014B88"/>
                </a:solidFill>
                <a:latin typeface="仿宋_GB2312"/>
                <a:cs typeface="Times New Roman" panose="02020603050405020304" pitchFamily="18" charset="0"/>
              </a:rPr>
              <a:t>NLogN</a:t>
            </a:r>
            <a:r>
              <a:rPr lang="en-US" altLang="zh-CN" b="1" kern="100" dirty="0">
                <a:solidFill>
                  <a:srgbClr val="014B88"/>
                </a:solidFill>
                <a:latin typeface="仿宋_GB2312"/>
                <a:cs typeface="Times New Roman" panose="02020603050405020304" pitchFamily="18" charset="0"/>
              </a:rPr>
              <a:t>)</a:t>
            </a:r>
            <a:r>
              <a:rPr lang="zh-CN" altLang="en-US" b="1" kern="100" dirty="0">
                <a:solidFill>
                  <a:srgbClr val="014B88"/>
                </a:solidFill>
                <a:latin typeface="仿宋_GB2312"/>
                <a:cs typeface="Times New Roman" panose="02020603050405020304" pitchFamily="18" charset="0"/>
              </a:rPr>
              <a:t>解决</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最远点对（点集直径）怎么解决？</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很容易想到，最远点对必然在点集的凸包上</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先求凸包</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枚举凸包上的点？</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最坏仍然</a:t>
            </a:r>
            <a:r>
              <a:rPr lang="en-US" altLang="zh-CN" b="1" kern="100" dirty="0">
                <a:solidFill>
                  <a:srgbClr val="014B88"/>
                </a:solidFill>
                <a:latin typeface="仿宋_GB2312"/>
                <a:cs typeface="Times New Roman" panose="02020603050405020304" pitchFamily="18" charset="0"/>
              </a:rPr>
              <a:t>O(N^2)</a:t>
            </a:r>
            <a:r>
              <a:rPr lang="zh-CN" altLang="en-US" b="1" kern="100" dirty="0">
                <a:solidFill>
                  <a:srgbClr val="014B88"/>
                </a:solidFill>
                <a:latin typeface="仿宋_GB2312"/>
                <a:cs typeface="Times New Roman" panose="02020603050405020304" pitchFamily="18" charset="0"/>
              </a:rPr>
              <a:t>，不可行</a:t>
            </a:r>
            <a:endParaRPr lang="en-US" altLang="zh-CN" b="1" kern="100" dirty="0">
              <a:solidFill>
                <a:srgbClr val="014B88"/>
              </a:solidFill>
              <a:latin typeface="仿宋_GB2312"/>
              <a:cs typeface="Times New Roman" panose="02020603050405020304" pitchFamily="18" charset="0"/>
            </a:endParaRPr>
          </a:p>
          <a:p>
            <a:endParaRPr lang="en-US" altLang="zh-CN" dirty="0"/>
          </a:p>
        </p:txBody>
      </p:sp>
      <p:sp>
        <p:nvSpPr>
          <p:cNvPr id="4" name="矩形 3"/>
          <p:cNvSpPr/>
          <p:nvPr/>
        </p:nvSpPr>
        <p:spPr>
          <a:xfrm>
            <a:off x="5410881" y="4962616"/>
            <a:ext cx="6301725" cy="923330"/>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50" normalizeH="0" baseline="0" noProof="0" dirty="0">
                <a:ln w="11430"/>
                <a:gradFill>
                  <a:gsLst>
                    <a:gs pos="25000">
                      <a:srgbClr val="EE822F">
                        <a:satMod val="155000"/>
                      </a:srgbClr>
                    </a:gs>
                    <a:gs pos="100000">
                      <a:srgbClr val="EE822F">
                        <a:shade val="45000"/>
                        <a:satMod val="165000"/>
                      </a:srgbClr>
                    </a:gs>
                  </a:gsLst>
                  <a:lin ang="5400000"/>
                </a:gradFill>
                <a:effectLst/>
                <a:uLnTx/>
                <a:uFillTx/>
                <a:latin typeface="Arial" panose="020B0604020202020204" pitchFamily="34" charset="0"/>
                <a:ea typeface="微软雅黑" panose="020B0503020204020204" pitchFamily="34" charset="-122"/>
                <a:cs typeface="+mn-cs"/>
              </a:rPr>
              <a:t>Rotating Calipers</a:t>
            </a:r>
            <a:r>
              <a:rPr kumimoji="0" lang="zh-CN" altLang="en-US" sz="5400" b="0" i="0" u="none" strike="noStrike" kern="1200" cap="none" spc="50" normalizeH="0" baseline="0" noProof="0" dirty="0">
                <a:ln w="11430"/>
                <a:gradFill>
                  <a:gsLst>
                    <a:gs pos="25000">
                      <a:srgbClr val="EE822F">
                        <a:satMod val="155000"/>
                      </a:srgbClr>
                    </a:gs>
                    <a:gs pos="100000">
                      <a:srgbClr val="EE822F">
                        <a:shade val="45000"/>
                        <a:satMod val="165000"/>
                      </a:srgbClr>
                    </a:gs>
                  </a:gsLst>
                  <a:lin ang="5400000"/>
                </a:gradFill>
                <a:effectLst/>
                <a:uLnTx/>
                <a:uFillTx/>
                <a:latin typeface="Arial" panose="020B0604020202020204" pitchFamily="34" charset="0"/>
                <a:ea typeface="微软雅黑" panose="020B0503020204020204" pitchFamily="34" charset="-122"/>
                <a:cs typeface="+mn-cs"/>
              </a:rPr>
              <a:t>！</a:t>
            </a:r>
          </a:p>
        </p:txBody>
      </p:sp>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Problem</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slide(fromBottom)">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slide(fromBottom)">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slide(fromBottom)">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slide(fromBottom)">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slide(fromBottom)">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slide(fromBottom)">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slide(fromBottom)">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dissolve">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1"/>
          <p:cNvSpPr>
            <a:spLocks noGrp="1"/>
          </p:cNvSpPr>
          <p:nvPr>
            <p:ph idx="4294967295"/>
          </p:nvPr>
        </p:nvSpPr>
        <p:spPr>
          <a:xfrm>
            <a:off x="461639" y="1253331"/>
            <a:ext cx="10848512" cy="5049815"/>
          </a:xfrm>
        </p:spPr>
        <p:txBody>
          <a:bodyPr>
            <a:normAutofit fontScale="92500"/>
          </a:bodyPr>
          <a:lstStyle/>
          <a:p>
            <a:pPr marL="342900" indent="-342900" algn="just">
              <a:lnSpc>
                <a:spcPct val="15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凸包直径（</a:t>
            </a:r>
            <a:r>
              <a:rPr lang="en-US" altLang="zh-CN" sz="2600" b="1" kern="100" dirty="0">
                <a:solidFill>
                  <a:srgbClr val="014B88"/>
                </a:solidFill>
                <a:latin typeface="仿宋_GB2312"/>
                <a:cs typeface="Times New Roman" panose="02020603050405020304" pitchFamily="18" charset="0"/>
              </a:rPr>
              <a:t>The diameter of a convex polygon</a:t>
            </a:r>
            <a:r>
              <a:rPr lang="zh-CN" altLang="en-US" sz="2600" b="1" kern="100" dirty="0">
                <a:solidFill>
                  <a:srgbClr val="014B88"/>
                </a:solidFill>
                <a:latin typeface="仿宋_GB2312"/>
                <a:cs typeface="Times New Roman" panose="02020603050405020304" pitchFamily="18" charset="0"/>
              </a:rPr>
              <a:t>）</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利用凸多边形的性质</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对锺点</a:t>
            </a:r>
            <a:endParaRPr lang="en-US" altLang="zh-CN" sz="2600" b="1" kern="100" dirty="0">
              <a:solidFill>
                <a:srgbClr val="014B88"/>
              </a:solidFill>
              <a:latin typeface="仿宋_GB2312"/>
              <a:cs typeface="Times New Roman" panose="02020603050405020304" pitchFamily="18" charset="0"/>
            </a:endParaRPr>
          </a:p>
          <a:p>
            <a:pPr marL="800100" lvl="1" indent="-342900" algn="just">
              <a:lnSpc>
                <a:spcPct val="15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如果过凸包上的两个点可以画一对平行直线，使凸包上的所有点都夹在两 条平行线之间或落在平行线上，那么这两个点叫做一对对踵点。</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凸包上最远的两点显然为对锺点</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使用两条平行线，将一条平行线放在凸包的边上，另一条放在点上，并且设置两个指针，使点与边围绕凸包转一圈取最大值即可</a:t>
            </a:r>
            <a:r>
              <a:rPr lang="en-US" altLang="zh-CN" sz="2600" b="1" kern="100" dirty="0">
                <a:solidFill>
                  <a:srgbClr val="014B88"/>
                </a:solidFill>
                <a:latin typeface="仿宋_GB2312"/>
                <a:cs typeface="Times New Roman" panose="02020603050405020304" pitchFamily="18" charset="0"/>
              </a:rPr>
              <a:t>,</a:t>
            </a:r>
            <a:r>
              <a:rPr lang="zh-CN" altLang="en-US" sz="2600" b="1" kern="100" dirty="0">
                <a:solidFill>
                  <a:srgbClr val="014B88"/>
                </a:solidFill>
                <a:latin typeface="仿宋_GB2312"/>
                <a:cs typeface="Times New Roman" panose="02020603050405020304" pitchFamily="18" charset="0"/>
              </a:rPr>
              <a:t>复杂度</a:t>
            </a:r>
            <a:r>
              <a:rPr lang="en-US" altLang="zh-CN" sz="2600" b="1" kern="100" dirty="0">
                <a:solidFill>
                  <a:srgbClr val="014B88"/>
                </a:solidFill>
                <a:latin typeface="仿宋_GB2312"/>
                <a:cs typeface="Times New Roman" panose="02020603050405020304" pitchFamily="18" charset="0"/>
              </a:rPr>
              <a:t>O(N)</a:t>
            </a:r>
            <a:endParaRPr lang="zh-CN" altLang="en-US" sz="2600" b="1" kern="100" dirty="0">
              <a:solidFill>
                <a:srgbClr val="014B88"/>
              </a:solidFill>
              <a:latin typeface="仿宋_GB2312"/>
              <a:cs typeface="Times New Roman" panose="02020603050405020304" pitchFamily="18" charset="0"/>
            </a:endParaRP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旋转卡壳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Box 4"/>
          <p:cNvSpPr txBox="1">
            <a:spLocks noChangeArrowheads="1"/>
          </p:cNvSpPr>
          <p:nvPr/>
        </p:nvSpPr>
        <p:spPr bwMode="auto">
          <a:xfrm>
            <a:off x="6596063" y="407780"/>
            <a:ext cx="4900520" cy="6129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如果</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Qa</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Qb</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是凸包上最远两点，必然可以分别过</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Qa</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Qb</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画出一对平行线。通过旋转这对平行线，我们可以让它和凸包上的一条边重合</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如图中黄色直线，可以注意到，</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Qb</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是凸包上离</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P</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a:t>
            </a:r>
            <a:r>
              <a:rPr kumimoji="0" lang="en-US" altLang="zh-CN" sz="2400" b="1" i="0" u="none" strike="noStrike" kern="100" cap="none" spc="0" normalizeH="0" baseline="0" noProof="0" dirty="0" err="1">
                <a:ln>
                  <a:noFill/>
                </a:ln>
                <a:solidFill>
                  <a:srgbClr val="014B88"/>
                </a:solidFill>
                <a:effectLst/>
                <a:uLnTx/>
                <a:uFillTx/>
                <a:latin typeface="仿宋_GB2312"/>
                <a:ea typeface="微软雅黑" panose="020B0503020204020204" pitchFamily="34" charset="-122"/>
                <a:cs typeface="Times New Roman" panose="02020603050405020304" pitchFamily="18" charset="0"/>
              </a:rPr>
              <a:t>Qa</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所在直线最远的点。于是我们的思路就是枚举凸包上的所有边，对每一条边找出凸包上离该边最远的顶点，计算这个顶点到该边两个端点的距离，并记录最大的值。</a:t>
            </a:r>
          </a:p>
        </p:txBody>
      </p:sp>
      <p:cxnSp>
        <p:nvCxnSpPr>
          <p:cNvPr id="7" name="直接连接符 6"/>
          <p:cNvCxnSpPr/>
          <p:nvPr/>
        </p:nvCxnSpPr>
        <p:spPr>
          <a:xfrm rot="5400000">
            <a:off x="1952626" y="2571751"/>
            <a:ext cx="714375" cy="4286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rot="10800000" flipV="1">
            <a:off x="2524125" y="2000251"/>
            <a:ext cx="1214438" cy="4286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6200000" flipH="1">
            <a:off x="1774031" y="3464719"/>
            <a:ext cx="928688" cy="2857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16200000" flipH="1">
            <a:off x="2166938" y="4286250"/>
            <a:ext cx="1357312" cy="9286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rot="10800000" flipV="1">
            <a:off x="3309939" y="4857750"/>
            <a:ext cx="1285875" cy="5715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3774283" y="3893345"/>
            <a:ext cx="1785937" cy="1428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16200000" flipH="1">
            <a:off x="3702845" y="2035970"/>
            <a:ext cx="1071563" cy="10001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0187" name="TextBox 25"/>
          <p:cNvSpPr txBox="1">
            <a:spLocks noChangeArrowheads="1"/>
          </p:cNvSpPr>
          <p:nvPr/>
        </p:nvSpPr>
        <p:spPr bwMode="auto">
          <a:xfrm>
            <a:off x="3309938" y="1571625"/>
            <a:ext cx="785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Qa</a:t>
            </a:r>
            <a:endParaRPr kumimoji="0" lang="zh-CN" altLang="en-US"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50188" name="TextBox 26"/>
          <p:cNvSpPr txBox="1">
            <a:spLocks noChangeArrowheads="1"/>
          </p:cNvSpPr>
          <p:nvPr/>
        </p:nvSpPr>
        <p:spPr bwMode="auto">
          <a:xfrm>
            <a:off x="4810126" y="2857500"/>
            <a:ext cx="785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P</a:t>
            </a:r>
            <a:endParaRPr kumimoji="0" lang="zh-CN" altLang="en-US"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sp>
        <p:nvSpPr>
          <p:cNvPr id="50189" name="TextBox 28"/>
          <p:cNvSpPr txBox="1">
            <a:spLocks noChangeArrowheads="1"/>
          </p:cNvSpPr>
          <p:nvPr/>
        </p:nvSpPr>
        <p:spPr bwMode="auto">
          <a:xfrm>
            <a:off x="3095626" y="5572125"/>
            <a:ext cx="785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ea typeface="华文细黑" panose="02010600040101010101" pitchFamily="2" charset="-122"/>
              </a:defRPr>
            </a:lvl1pPr>
            <a:lvl2pPr marL="742950" indent="-285750" eaLnBrk="0" hangingPunct="0">
              <a:defRPr b="1" i="1">
                <a:solidFill>
                  <a:schemeClr val="tx1"/>
                </a:solidFill>
                <a:latin typeface="Arial" panose="020B0604020202020204" pitchFamily="34" charset="0"/>
                <a:ea typeface="华文细黑" panose="02010600040101010101" pitchFamily="2" charset="-122"/>
              </a:defRPr>
            </a:lvl2pPr>
            <a:lvl3pPr marL="1143000" indent="-228600" eaLnBrk="0" hangingPunct="0">
              <a:defRPr b="1" i="1">
                <a:solidFill>
                  <a:schemeClr val="tx1"/>
                </a:solidFill>
                <a:latin typeface="Arial" panose="020B0604020202020204" pitchFamily="34" charset="0"/>
                <a:ea typeface="华文细黑" panose="02010600040101010101" pitchFamily="2" charset="-122"/>
              </a:defRPr>
            </a:lvl3pPr>
            <a:lvl4pPr marL="1600200" indent="-228600" eaLnBrk="0" hangingPunct="0">
              <a:defRPr b="1" i="1">
                <a:solidFill>
                  <a:schemeClr val="tx1"/>
                </a:solidFill>
                <a:latin typeface="Arial" panose="020B0604020202020204" pitchFamily="34" charset="0"/>
                <a:ea typeface="华文细黑" panose="02010600040101010101" pitchFamily="2" charset="-122"/>
              </a:defRPr>
            </a:lvl4pPr>
            <a:lvl5pPr marL="2057400" indent="-228600" eaLnBrk="0" hangingPunct="0">
              <a:defRPr b="1" i="1">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rPr>
              <a:t>Qb</a:t>
            </a:r>
            <a:endParaRPr kumimoji="0" lang="zh-CN" altLang="en-US" sz="1800" b="1" i="1" u="none" strike="noStrike" kern="1200" cap="none" spc="0" normalizeH="0" baseline="0" noProof="0">
              <a:ln>
                <a:noFill/>
              </a:ln>
              <a:solidFill>
                <a:prstClr val="black"/>
              </a:solidFill>
              <a:effectLst/>
              <a:uLnTx/>
              <a:uFillTx/>
              <a:latin typeface="Arial" panose="020B0604020202020204" pitchFamily="34" charset="0"/>
              <a:ea typeface="华文细黑" panose="02010600040101010101" pitchFamily="2" charset="-122"/>
              <a:cs typeface="+mn-cs"/>
            </a:endParaRPr>
          </a:p>
        </p:txBody>
      </p:sp>
      <p:cxnSp>
        <p:nvCxnSpPr>
          <p:cNvPr id="30" name="直接连接符 29"/>
          <p:cNvCxnSpPr/>
          <p:nvPr/>
        </p:nvCxnSpPr>
        <p:spPr>
          <a:xfrm rot="5400000">
            <a:off x="1809751" y="3500438"/>
            <a:ext cx="3429000" cy="4286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rot="10800000">
            <a:off x="2595564" y="1785939"/>
            <a:ext cx="3857625" cy="7143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10800000">
            <a:off x="1524001" y="5072064"/>
            <a:ext cx="3857625" cy="7143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rot="16200000" flipV="1">
            <a:off x="2845594" y="1321594"/>
            <a:ext cx="2928938" cy="257175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rot="16200000" flipV="1">
            <a:off x="1559719" y="3750469"/>
            <a:ext cx="2928938" cy="257175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6" name="右弧形箭头 45"/>
          <p:cNvSpPr/>
          <p:nvPr/>
        </p:nvSpPr>
        <p:spPr>
          <a:xfrm>
            <a:off x="4881564" y="2286001"/>
            <a:ext cx="357187" cy="1000125"/>
          </a:xfrm>
          <a:prstGeom prst="curvedLeftArrow">
            <a:avLst/>
          </a:prstGeom>
          <a:solidFill>
            <a:schemeClr val="accent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47" name="右弧形箭头 46"/>
          <p:cNvSpPr/>
          <p:nvPr/>
        </p:nvSpPr>
        <p:spPr>
          <a:xfrm>
            <a:off x="4167188" y="5643564"/>
            <a:ext cx="285750" cy="714375"/>
          </a:xfrm>
          <a:prstGeom prst="curvedLeftArrow">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22"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旋转卡壳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ox(in)">
                                      <p:cBhvr>
                                        <p:cTn id="7" dur="500"/>
                                        <p:tgtEl>
                                          <p:spTgt spid="19"/>
                                        </p:tgtEl>
                                      </p:cBhvr>
                                    </p:animEffect>
                                  </p:childTnLst>
                                </p:cTn>
                              </p:par>
                              <p:par>
                                <p:cTn id="8" presetID="4" presetClass="entr" presetSubtype="16"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ox(in)">
                                      <p:cBhvr>
                                        <p:cTn id="10" dur="500"/>
                                        <p:tgtEl>
                                          <p:spTgt spid="18"/>
                                        </p:tgtEl>
                                      </p:cBhvr>
                                    </p:animEffect>
                                  </p:childTnLst>
                                </p:cTn>
                              </p:par>
                              <p:par>
                                <p:cTn id="11" presetID="4" presetClass="entr" presetSubtype="16"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ox(in)">
                                      <p:cBhvr>
                                        <p:cTn id="13" dur="500"/>
                                        <p:tgtEl>
                                          <p:spTgt spid="17"/>
                                        </p:tgtEl>
                                      </p:cBhvr>
                                    </p:animEffect>
                                  </p:childTnLst>
                                </p:cTn>
                              </p:par>
                              <p:par>
                                <p:cTn id="14" presetID="4" presetClass="entr" presetSubtype="16"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ox(in)">
                                      <p:cBhvr>
                                        <p:cTn id="16" dur="500"/>
                                        <p:tgtEl>
                                          <p:spTgt spid="30"/>
                                        </p:tgtEl>
                                      </p:cBhvr>
                                    </p:animEffect>
                                  </p:childTnLst>
                                </p:cTn>
                              </p:par>
                              <p:par>
                                <p:cTn id="17" presetID="4" presetClass="entr" presetSubtype="16"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ox(in)">
                                      <p:cBhvr>
                                        <p:cTn id="19" dur="500"/>
                                        <p:tgtEl>
                                          <p:spTgt spid="8"/>
                                        </p:tgtEl>
                                      </p:cBhvr>
                                    </p:animEffect>
                                  </p:childTnLst>
                                </p:cTn>
                              </p:par>
                              <p:par>
                                <p:cTn id="20" presetID="4" presetClass="entr" presetSubtype="16"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in)">
                                      <p:cBhvr>
                                        <p:cTn id="22" dur="500"/>
                                        <p:tgtEl>
                                          <p:spTgt spid="7"/>
                                        </p:tgtEl>
                                      </p:cBhvr>
                                    </p:animEffect>
                                  </p:childTnLst>
                                </p:cTn>
                              </p:par>
                              <p:par>
                                <p:cTn id="23" presetID="4" presetClass="entr" presetSubtype="16"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ox(in)">
                                      <p:cBhvr>
                                        <p:cTn id="25" dur="500"/>
                                        <p:tgtEl>
                                          <p:spTgt spid="9"/>
                                        </p:tgtEl>
                                      </p:cBhvr>
                                    </p:animEffect>
                                  </p:childTnLst>
                                </p:cTn>
                              </p:par>
                              <p:par>
                                <p:cTn id="26" presetID="4" presetClass="entr" presetSubtype="16"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box(in)">
                                      <p:cBhvr>
                                        <p:cTn id="28" dur="500"/>
                                        <p:tgtEl>
                                          <p:spTgt spid="38"/>
                                        </p:tgtEl>
                                      </p:cBhvr>
                                    </p:animEffect>
                                  </p:childTnLst>
                                </p:cTn>
                              </p:par>
                              <p:par>
                                <p:cTn id="29" presetID="4" presetClass="entr" presetSubtype="16"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box(in)">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checkerboard(across)">
                                      <p:cBhvr>
                                        <p:cTn id="36" dur="500"/>
                                        <p:tgtEl>
                                          <p:spTgt spid="46"/>
                                        </p:tgtEl>
                                      </p:cBhvr>
                                    </p:animEffect>
                                  </p:childTnLst>
                                </p:cTn>
                              </p:par>
                              <p:par>
                                <p:cTn id="37" presetID="5" presetClass="entr" presetSubtype="1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checkerboard(across)">
                                      <p:cBhvr>
                                        <p:cTn id="39" dur="500"/>
                                        <p:tgtEl>
                                          <p:spTgt spid="39"/>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checkerboard(across)">
                                      <p:cBhvr>
                                        <p:cTn id="42" dur="500"/>
                                        <p:tgtEl>
                                          <p:spTgt spid="47"/>
                                        </p:tgtEl>
                                      </p:cBhvr>
                                    </p:animEffect>
                                  </p:childTnLst>
                                </p:cTn>
                              </p:par>
                              <p:par>
                                <p:cTn id="43" presetID="5" presetClass="entr" presetSubtype="1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checkerboard(across)">
                                      <p:cBhvr>
                                        <p:cTn id="4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556741" y="1491589"/>
            <a:ext cx="10515600" cy="4351337"/>
          </a:xfrm>
        </p:spPr>
        <p:txBody>
          <a:bodyPr/>
          <a:lstStyle/>
          <a:p>
            <a:pPr>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凸包直径（最远点对的距离）</a:t>
            </a:r>
            <a:endParaRPr lang="en-US" altLang="zh-CN" b="1" kern="100" dirty="0">
              <a:solidFill>
                <a:srgbClr val="014B88"/>
              </a:solidFill>
              <a:latin typeface="仿宋_GB2312"/>
              <a:cs typeface="Times New Roman" panose="02020603050405020304" pitchFamily="18" charset="0"/>
            </a:endParaRPr>
          </a:p>
          <a:p>
            <a:pPr>
              <a:buFont typeface="Wingdings" panose="05000000000000000000" pitchFamily="2" charset="2"/>
              <a:buNone/>
            </a:pPr>
            <a:r>
              <a:rPr lang="en-US" altLang="zh-CN" b="1" kern="100" dirty="0">
                <a:solidFill>
                  <a:srgbClr val="014B88"/>
                </a:solidFill>
                <a:latin typeface="仿宋_GB2312"/>
                <a:cs typeface="Times New Roman" panose="02020603050405020304" pitchFamily="18" charset="0"/>
              </a:rPr>
              <a:t> 	</a:t>
            </a:r>
            <a:r>
              <a:rPr lang="en-US" altLang="zh-CN" b="1" kern="100" dirty="0" err="1">
                <a:solidFill>
                  <a:srgbClr val="014B88"/>
                </a:solidFill>
                <a:latin typeface="仿宋_GB2312"/>
                <a:cs typeface="Times New Roman" panose="02020603050405020304" pitchFamily="18" charset="0"/>
              </a:rPr>
              <a:t>ps</a:t>
            </a:r>
            <a:r>
              <a:rPr lang="zh-CN" altLang="en-US" b="1" kern="100" dirty="0">
                <a:solidFill>
                  <a:srgbClr val="014B88"/>
                </a:solidFill>
                <a:latin typeface="仿宋_GB2312"/>
                <a:cs typeface="Times New Roman" panose="02020603050405020304" pitchFamily="18" charset="0"/>
              </a:rPr>
              <a:t>为已经求得得凸包</a:t>
            </a:r>
            <a:endParaRPr lang="en-US" altLang="zh-CN" b="1" kern="100" dirty="0">
              <a:solidFill>
                <a:srgbClr val="014B88"/>
              </a:solidFill>
              <a:latin typeface="仿宋_GB2312"/>
              <a:cs typeface="Times New Roman" panose="02020603050405020304" pitchFamily="18" charset="0"/>
            </a:endParaRPr>
          </a:p>
          <a:p>
            <a:endParaRPr lang="zh-CN" altLang="en-US" dirty="0"/>
          </a:p>
        </p:txBody>
      </p:sp>
      <p:pic>
        <p:nvPicPr>
          <p:cNvPr id="614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4277" y="2157413"/>
            <a:ext cx="728662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旋转卡壳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61443"/>
                                        </p:tgtEl>
                                        <p:attrNameLst>
                                          <p:attrName>style.visibility</p:attrName>
                                        </p:attrNameLst>
                                      </p:cBhvr>
                                      <p:to>
                                        <p:strVal val="visible"/>
                                      </p:to>
                                    </p:set>
                                    <p:animEffect transition="in" filter="dissolve">
                                      <p:cBhvr>
                                        <p:cTn id="15" dur="500"/>
                                        <p:tgtEl>
                                          <p:spTgt spid="61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88270" y="1189747"/>
            <a:ext cx="11176987" cy="4351337"/>
          </a:xfrm>
        </p:spPr>
        <p:txBody>
          <a:bodyPr>
            <a:normAutofit fontScale="92500" lnSpcReduction="10000"/>
          </a:bodyPr>
          <a:lstStyle/>
          <a:p>
            <a:pPr>
              <a:lnSpc>
                <a:spcPct val="15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两凸包的最近距离</a:t>
            </a:r>
            <a:endParaRPr lang="en-US" altLang="zh-CN" sz="2400" b="1" kern="100" dirty="0">
              <a:solidFill>
                <a:srgbClr val="014B88"/>
              </a:solidFill>
              <a:latin typeface="仿宋_GB2312"/>
              <a:cs typeface="Times New Roman" panose="02020603050405020304" pitchFamily="18" charset="0"/>
            </a:endParaRPr>
          </a:p>
          <a:p>
            <a:pPr marL="457200" indent="-457200">
              <a:lnSpc>
                <a:spcPct val="150000"/>
              </a:lnSpc>
              <a:buFont typeface="+mj-lt"/>
              <a:buAutoNum type="arabicPeriod"/>
              <a:defRPr/>
            </a:pPr>
            <a:r>
              <a:rPr lang="zh-CN" altLang="en-US" sz="2400" b="1" kern="100" dirty="0">
                <a:solidFill>
                  <a:srgbClr val="014B88"/>
                </a:solidFill>
                <a:latin typeface="仿宋_GB2312"/>
                <a:cs typeface="Times New Roman" panose="02020603050405020304" pitchFamily="18" charset="0"/>
              </a:rPr>
              <a:t>两个凸多边形，记为</a:t>
            </a:r>
            <a:r>
              <a:rPr lang="en-US" altLang="zh-CN" sz="2400" b="1" kern="100" dirty="0">
                <a:solidFill>
                  <a:srgbClr val="014B88"/>
                </a:solidFill>
                <a:latin typeface="仿宋_GB2312"/>
                <a:cs typeface="Times New Roman" panose="02020603050405020304" pitchFamily="18" charset="0"/>
              </a:rPr>
              <a:t>P</a:t>
            </a:r>
            <a:r>
              <a:rPr lang="zh-CN" altLang="en-US" sz="2400" b="1" kern="100" dirty="0">
                <a:solidFill>
                  <a:srgbClr val="014B88"/>
                </a:solidFill>
                <a:latin typeface="仿宋_GB2312"/>
                <a:cs typeface="Times New Roman" panose="02020603050405020304" pitchFamily="18" charset="0"/>
              </a:rPr>
              <a:t>和</a:t>
            </a:r>
            <a:r>
              <a:rPr lang="en-US" altLang="zh-CN" sz="2400" b="1" kern="100" dirty="0">
                <a:solidFill>
                  <a:srgbClr val="014B88"/>
                </a:solidFill>
                <a:latin typeface="仿宋_GB2312"/>
                <a:cs typeface="Times New Roman" panose="02020603050405020304" pitchFamily="18" charset="0"/>
              </a:rPr>
              <a:t>Q</a:t>
            </a:r>
            <a:r>
              <a:rPr lang="zh-CN" altLang="en-US" sz="2400" b="1" kern="100" dirty="0">
                <a:solidFill>
                  <a:srgbClr val="014B88"/>
                </a:solidFill>
                <a:latin typeface="仿宋_GB2312"/>
                <a:cs typeface="Times New Roman" panose="02020603050405020304" pitchFamily="18" charset="0"/>
              </a:rPr>
              <a:t>，计算出</a:t>
            </a:r>
            <a:r>
              <a:rPr lang="en-US" altLang="zh-CN" sz="2400" b="1" kern="100" dirty="0">
                <a:solidFill>
                  <a:srgbClr val="014B88"/>
                </a:solidFill>
                <a:latin typeface="仿宋_GB2312"/>
                <a:cs typeface="Times New Roman" panose="02020603050405020304" pitchFamily="18" charset="0"/>
              </a:rPr>
              <a:t>P</a:t>
            </a:r>
            <a:r>
              <a:rPr lang="zh-CN" altLang="en-US" sz="2400" b="1" kern="100" dirty="0">
                <a:solidFill>
                  <a:srgbClr val="014B88"/>
                </a:solidFill>
                <a:latin typeface="仿宋_GB2312"/>
                <a:cs typeface="Times New Roman" panose="02020603050405020304" pitchFamily="18" charset="0"/>
              </a:rPr>
              <a:t>中</a:t>
            </a:r>
            <a:r>
              <a:rPr lang="en-US" altLang="zh-CN" sz="2400" b="1" kern="100" dirty="0">
                <a:solidFill>
                  <a:srgbClr val="014B88"/>
                </a:solidFill>
                <a:latin typeface="仿宋_GB2312"/>
                <a:cs typeface="Times New Roman" panose="02020603050405020304" pitchFamily="18" charset="0"/>
              </a:rPr>
              <a:t>y</a:t>
            </a:r>
            <a:r>
              <a:rPr lang="zh-CN" altLang="en-US" sz="2400" b="1" kern="100" dirty="0">
                <a:solidFill>
                  <a:srgbClr val="014B88"/>
                </a:solidFill>
                <a:latin typeface="仿宋_GB2312"/>
                <a:cs typeface="Times New Roman" panose="02020603050405020304" pitchFamily="18" charset="0"/>
              </a:rPr>
              <a:t>坐标最小的点（记为</a:t>
            </a:r>
            <a:r>
              <a:rPr lang="en-US" altLang="zh-CN" sz="2400" b="1" kern="100" dirty="0" err="1">
                <a:solidFill>
                  <a:srgbClr val="014B88"/>
                </a:solidFill>
                <a:latin typeface="仿宋_GB2312"/>
                <a:cs typeface="Times New Roman" panose="02020603050405020304" pitchFamily="18" charset="0"/>
              </a:rPr>
              <a:t>yminP</a:t>
            </a:r>
            <a:r>
              <a:rPr lang="zh-CN" altLang="en-US" sz="2400" b="1" kern="100" dirty="0">
                <a:solidFill>
                  <a:srgbClr val="014B88"/>
                </a:solidFill>
                <a:latin typeface="仿宋_GB2312"/>
                <a:cs typeface="Times New Roman" panose="02020603050405020304" pitchFamily="18" charset="0"/>
              </a:rPr>
              <a:t>），还有</a:t>
            </a:r>
            <a:r>
              <a:rPr lang="en-US" altLang="zh-CN" sz="2400" b="1" kern="100" dirty="0">
                <a:solidFill>
                  <a:srgbClr val="014B88"/>
                </a:solidFill>
                <a:latin typeface="仿宋_GB2312"/>
                <a:cs typeface="Times New Roman" panose="02020603050405020304" pitchFamily="18" charset="0"/>
              </a:rPr>
              <a:t>Q</a:t>
            </a:r>
            <a:r>
              <a:rPr lang="zh-CN" altLang="en-US" sz="2400" b="1" kern="100" dirty="0">
                <a:solidFill>
                  <a:srgbClr val="014B88"/>
                </a:solidFill>
                <a:latin typeface="仿宋_GB2312"/>
                <a:cs typeface="Times New Roman" panose="02020603050405020304" pitchFamily="18" charset="0"/>
              </a:rPr>
              <a:t>中</a:t>
            </a:r>
            <a:r>
              <a:rPr lang="en-US" altLang="zh-CN" sz="2400" b="1" kern="100" dirty="0">
                <a:solidFill>
                  <a:srgbClr val="014B88"/>
                </a:solidFill>
                <a:latin typeface="仿宋_GB2312"/>
                <a:cs typeface="Times New Roman" panose="02020603050405020304" pitchFamily="18" charset="0"/>
              </a:rPr>
              <a:t>y</a:t>
            </a:r>
            <a:r>
              <a:rPr lang="zh-CN" altLang="en-US" sz="2400" b="1" kern="100" dirty="0">
                <a:solidFill>
                  <a:srgbClr val="014B88"/>
                </a:solidFill>
                <a:latin typeface="仿宋_GB2312"/>
                <a:cs typeface="Times New Roman" panose="02020603050405020304" pitchFamily="18" charset="0"/>
              </a:rPr>
              <a:t>坐标最大的点（记为 </a:t>
            </a:r>
            <a:r>
              <a:rPr lang="en-US" altLang="zh-CN" sz="2400" b="1" kern="100" dirty="0" err="1">
                <a:solidFill>
                  <a:srgbClr val="014B88"/>
                </a:solidFill>
                <a:latin typeface="仿宋_GB2312"/>
                <a:cs typeface="Times New Roman" panose="02020603050405020304" pitchFamily="18" charset="0"/>
              </a:rPr>
              <a:t>ymaxQ</a:t>
            </a:r>
            <a:r>
              <a:rPr lang="zh-CN" altLang="en-US" sz="2400" b="1" kern="100" dirty="0">
                <a:solidFill>
                  <a:srgbClr val="014B88"/>
                </a:solidFill>
                <a:latin typeface="仿宋_GB2312"/>
                <a:cs typeface="Times New Roman" panose="02020603050405020304" pitchFamily="18" charset="0"/>
              </a:rPr>
              <a:t>）</a:t>
            </a:r>
            <a:endParaRPr lang="en-US" altLang="zh-CN" sz="2400" b="1" kern="100" dirty="0">
              <a:solidFill>
                <a:srgbClr val="014B88"/>
              </a:solidFill>
              <a:latin typeface="仿宋_GB2312"/>
              <a:cs typeface="Times New Roman" panose="02020603050405020304" pitchFamily="18" charset="0"/>
            </a:endParaRPr>
          </a:p>
          <a:p>
            <a:pPr marL="457200" indent="-457200">
              <a:lnSpc>
                <a:spcPct val="150000"/>
              </a:lnSpc>
              <a:buFont typeface="+mj-lt"/>
              <a:buAutoNum type="arabicPeriod"/>
              <a:defRPr/>
            </a:pPr>
            <a:r>
              <a:rPr lang="zh-CN" altLang="en-US" sz="2400" b="1" kern="100" dirty="0">
                <a:solidFill>
                  <a:srgbClr val="014B88"/>
                </a:solidFill>
                <a:latin typeface="仿宋_GB2312"/>
                <a:cs typeface="Times New Roman" panose="02020603050405020304" pitchFamily="18" charset="0"/>
              </a:rPr>
              <a:t>分别过 </a:t>
            </a:r>
            <a:r>
              <a:rPr lang="en-US" altLang="zh-CN" sz="2400" b="1" kern="100" dirty="0" err="1">
                <a:solidFill>
                  <a:srgbClr val="014B88"/>
                </a:solidFill>
                <a:latin typeface="仿宋_GB2312"/>
                <a:cs typeface="Times New Roman" panose="02020603050405020304" pitchFamily="18" charset="0"/>
              </a:rPr>
              <a:t>yminP</a:t>
            </a:r>
            <a:r>
              <a:rPr lang="zh-CN" altLang="en-US" sz="2400" b="1" kern="100" dirty="0">
                <a:solidFill>
                  <a:srgbClr val="014B88"/>
                </a:solidFill>
                <a:latin typeface="仿宋_GB2312"/>
                <a:cs typeface="Times New Roman" panose="02020603050405020304" pitchFamily="18" charset="0"/>
              </a:rPr>
              <a:t>和 </a:t>
            </a:r>
            <a:r>
              <a:rPr lang="en-US" altLang="zh-CN" sz="2400" b="1" kern="100" dirty="0" err="1">
                <a:solidFill>
                  <a:srgbClr val="014B88"/>
                </a:solidFill>
                <a:latin typeface="仿宋_GB2312"/>
                <a:cs typeface="Times New Roman" panose="02020603050405020304" pitchFamily="18" charset="0"/>
              </a:rPr>
              <a:t>ymaxQ</a:t>
            </a:r>
            <a:r>
              <a:rPr lang="zh-CN" altLang="en-US" sz="2400" b="1" kern="100" dirty="0">
                <a:solidFill>
                  <a:srgbClr val="014B88"/>
                </a:solidFill>
                <a:latin typeface="仿宋_GB2312"/>
                <a:cs typeface="Times New Roman" panose="02020603050405020304" pitchFamily="18" charset="0"/>
              </a:rPr>
              <a:t>做直线，并且使两条有向直线平行（旋转卡壳的过程中始终保持平行），记为</a:t>
            </a:r>
            <a:r>
              <a:rPr lang="en-US" altLang="zh-CN" sz="2400" b="1" kern="100" dirty="0">
                <a:solidFill>
                  <a:srgbClr val="014B88"/>
                </a:solidFill>
                <a:latin typeface="仿宋_GB2312"/>
                <a:cs typeface="Times New Roman" panose="02020603050405020304" pitchFamily="18" charset="0"/>
              </a:rPr>
              <a:t>LP</a:t>
            </a:r>
            <a:r>
              <a:rPr lang="zh-CN" altLang="en-US" sz="2400" b="1" kern="100" dirty="0">
                <a:solidFill>
                  <a:srgbClr val="014B88"/>
                </a:solidFill>
                <a:latin typeface="仿宋_GB2312"/>
                <a:cs typeface="Times New Roman" panose="02020603050405020304" pitchFamily="18" charset="0"/>
              </a:rPr>
              <a:t>和</a:t>
            </a:r>
            <a:r>
              <a:rPr lang="en-US" altLang="zh-CN" sz="2400" b="1" kern="100" dirty="0">
                <a:solidFill>
                  <a:srgbClr val="014B88"/>
                </a:solidFill>
                <a:latin typeface="仿宋_GB2312"/>
                <a:cs typeface="Times New Roman" panose="02020603050405020304" pitchFamily="18" charset="0"/>
              </a:rPr>
              <a:t>LQ</a:t>
            </a:r>
            <a:r>
              <a:rPr lang="zh-CN" altLang="en-US" sz="2400" b="1" kern="100" dirty="0">
                <a:solidFill>
                  <a:srgbClr val="014B88"/>
                </a:solidFill>
                <a:latin typeface="仿宋_GB2312"/>
                <a:cs typeface="Times New Roman" panose="02020603050405020304" pitchFamily="18" charset="0"/>
              </a:rPr>
              <a:t>，让凸多边形分别位于</a:t>
            </a:r>
            <a:r>
              <a:rPr lang="en-US" altLang="zh-CN" sz="2400" b="1" kern="100" dirty="0">
                <a:solidFill>
                  <a:srgbClr val="014B88"/>
                </a:solidFill>
                <a:latin typeface="仿宋_GB2312"/>
                <a:cs typeface="Times New Roman" panose="02020603050405020304" pitchFamily="18" charset="0"/>
              </a:rPr>
              <a:t>LP</a:t>
            </a:r>
            <a:r>
              <a:rPr lang="zh-CN" altLang="en-US" sz="2400" b="1" kern="100" dirty="0">
                <a:solidFill>
                  <a:srgbClr val="014B88"/>
                </a:solidFill>
                <a:latin typeface="仿宋_GB2312"/>
                <a:cs typeface="Times New Roman" panose="02020603050405020304" pitchFamily="18" charset="0"/>
              </a:rPr>
              <a:t>和</a:t>
            </a:r>
            <a:r>
              <a:rPr lang="en-US" altLang="zh-CN" sz="2400" b="1" kern="100" dirty="0">
                <a:solidFill>
                  <a:srgbClr val="014B88"/>
                </a:solidFill>
                <a:latin typeface="仿宋_GB2312"/>
                <a:cs typeface="Times New Roman" panose="02020603050405020304" pitchFamily="18" charset="0"/>
              </a:rPr>
              <a:t>LQ</a:t>
            </a:r>
            <a:r>
              <a:rPr lang="zh-CN" altLang="en-US" sz="2400" b="1" kern="100" dirty="0">
                <a:solidFill>
                  <a:srgbClr val="014B88"/>
                </a:solidFill>
                <a:latin typeface="仿宋_GB2312"/>
                <a:cs typeface="Times New Roman" panose="02020603050405020304" pitchFamily="18" charset="0"/>
              </a:rPr>
              <a:t>的右边。</a:t>
            </a:r>
            <a:r>
              <a:rPr lang="en-US" altLang="zh-CN" sz="2400" b="1" kern="100" dirty="0">
                <a:solidFill>
                  <a:srgbClr val="014B88"/>
                </a:solidFill>
                <a:latin typeface="仿宋_GB2312"/>
                <a:cs typeface="Times New Roman" panose="02020603050405020304" pitchFamily="18" charset="0"/>
              </a:rPr>
              <a:t>LP</a:t>
            </a:r>
            <a:r>
              <a:rPr lang="zh-CN" altLang="en-US" sz="2400" b="1" kern="100" dirty="0">
                <a:solidFill>
                  <a:srgbClr val="014B88"/>
                </a:solidFill>
                <a:latin typeface="仿宋_GB2312"/>
                <a:cs typeface="Times New Roman" panose="02020603050405020304" pitchFamily="18" charset="0"/>
              </a:rPr>
              <a:t>和</a:t>
            </a:r>
            <a:r>
              <a:rPr lang="en-US" altLang="zh-CN" sz="2400" b="1" kern="100" dirty="0">
                <a:solidFill>
                  <a:srgbClr val="014B88"/>
                </a:solidFill>
                <a:latin typeface="仿宋_GB2312"/>
                <a:cs typeface="Times New Roman" panose="02020603050405020304" pitchFamily="18" charset="0"/>
              </a:rPr>
              <a:t>LQ</a:t>
            </a:r>
            <a:r>
              <a:rPr lang="zh-CN" altLang="en-US" sz="2400" b="1" kern="100" dirty="0">
                <a:solidFill>
                  <a:srgbClr val="014B88"/>
                </a:solidFill>
                <a:latin typeface="仿宋_GB2312"/>
                <a:cs typeface="Times New Roman" panose="02020603050405020304" pitchFamily="18" charset="0"/>
              </a:rPr>
              <a:t>具有相反的方向，</a:t>
            </a:r>
            <a:r>
              <a:rPr lang="en-US" altLang="zh-CN" sz="2400" b="1" kern="100" dirty="0" err="1">
                <a:solidFill>
                  <a:srgbClr val="014B88"/>
                </a:solidFill>
                <a:latin typeface="仿宋_GB2312"/>
                <a:cs typeface="Times New Roman" panose="02020603050405020304" pitchFamily="18" charset="0"/>
              </a:rPr>
              <a:t>yminP</a:t>
            </a:r>
            <a:r>
              <a:rPr lang="zh-CN" altLang="en-US" sz="2400" b="1" kern="100" dirty="0">
                <a:solidFill>
                  <a:srgbClr val="014B88"/>
                </a:solidFill>
                <a:latin typeface="仿宋_GB2312"/>
                <a:cs typeface="Times New Roman" panose="02020603050405020304" pitchFamily="18" charset="0"/>
              </a:rPr>
              <a:t>和</a:t>
            </a:r>
            <a:r>
              <a:rPr lang="en-US" altLang="zh-CN" sz="2400" b="1" kern="100" dirty="0" err="1">
                <a:solidFill>
                  <a:srgbClr val="014B88"/>
                </a:solidFill>
                <a:latin typeface="仿宋_GB2312"/>
                <a:cs typeface="Times New Roman" panose="02020603050405020304" pitchFamily="18" charset="0"/>
              </a:rPr>
              <a:t>ymaxQ</a:t>
            </a:r>
            <a:r>
              <a:rPr lang="zh-CN" altLang="en-US" sz="2400" b="1" kern="100" dirty="0">
                <a:solidFill>
                  <a:srgbClr val="014B88"/>
                </a:solidFill>
                <a:latin typeface="仿宋_GB2312"/>
                <a:cs typeface="Times New Roman" panose="02020603050405020304" pitchFamily="18" charset="0"/>
              </a:rPr>
              <a:t>就构成了一对对踵点</a:t>
            </a:r>
            <a:endParaRPr lang="en-US" altLang="zh-CN" sz="2400" b="1" kern="100" dirty="0">
              <a:solidFill>
                <a:srgbClr val="014B88"/>
              </a:solidFill>
              <a:latin typeface="仿宋_GB2312"/>
              <a:cs typeface="Times New Roman" panose="02020603050405020304" pitchFamily="18" charset="0"/>
            </a:endParaRPr>
          </a:p>
          <a:p>
            <a:pPr marL="457200" indent="-457200">
              <a:lnSpc>
                <a:spcPct val="150000"/>
              </a:lnSpc>
              <a:buFont typeface="+mj-lt"/>
              <a:buAutoNum type="arabicPeriod"/>
              <a:defRPr/>
            </a:pPr>
            <a:r>
              <a:rPr lang="zh-CN" altLang="en-US" sz="2400" b="1" kern="100" dirty="0">
                <a:solidFill>
                  <a:srgbClr val="014B88"/>
                </a:solidFill>
                <a:latin typeface="仿宋_GB2312"/>
                <a:cs typeface="Times New Roman" panose="02020603050405020304" pitchFamily="18" charset="0"/>
              </a:rPr>
              <a:t>计算 </a:t>
            </a:r>
            <a:r>
              <a:rPr lang="en-US" altLang="zh-CN" sz="2400" b="1" kern="100" dirty="0" err="1">
                <a:solidFill>
                  <a:srgbClr val="014B88"/>
                </a:solidFill>
                <a:latin typeface="仿宋_GB2312"/>
                <a:cs typeface="Times New Roman" panose="02020603050405020304" pitchFamily="18" charset="0"/>
              </a:rPr>
              <a:t>yminP</a:t>
            </a:r>
            <a:r>
              <a:rPr lang="zh-CN" altLang="en-US" sz="2400" b="1" kern="100" dirty="0">
                <a:solidFill>
                  <a:srgbClr val="014B88"/>
                </a:solidFill>
                <a:latin typeface="仿宋_GB2312"/>
                <a:cs typeface="Times New Roman" panose="02020603050405020304" pitchFamily="18" charset="0"/>
              </a:rPr>
              <a:t>和 </a:t>
            </a:r>
            <a:r>
              <a:rPr lang="en-US" altLang="zh-CN" sz="2400" b="1" kern="100" dirty="0" err="1">
                <a:solidFill>
                  <a:srgbClr val="014B88"/>
                </a:solidFill>
                <a:latin typeface="仿宋_GB2312"/>
                <a:cs typeface="Times New Roman" panose="02020603050405020304" pitchFamily="18" charset="0"/>
              </a:rPr>
              <a:t>ymaxQ</a:t>
            </a:r>
            <a:r>
              <a:rPr lang="zh-CN" altLang="en-US" sz="2400" b="1" kern="100" dirty="0">
                <a:solidFill>
                  <a:srgbClr val="014B88"/>
                </a:solidFill>
                <a:latin typeface="仿宋_GB2312"/>
                <a:cs typeface="Times New Roman" panose="02020603050405020304" pitchFamily="18" charset="0"/>
              </a:rPr>
              <a:t>的距离，存入最小距离（记为</a:t>
            </a:r>
            <a:r>
              <a:rPr lang="en-US" altLang="zh-CN" sz="2400" b="1" kern="100" dirty="0">
                <a:solidFill>
                  <a:srgbClr val="014B88"/>
                </a:solidFill>
                <a:latin typeface="仿宋_GB2312"/>
                <a:cs typeface="Times New Roman" panose="02020603050405020304" pitchFamily="18" charset="0"/>
              </a:rPr>
              <a:t>minimum</a:t>
            </a:r>
            <a:r>
              <a:rPr lang="zh-CN" altLang="en-US" sz="2400" b="1" kern="100" dirty="0">
                <a:solidFill>
                  <a:srgbClr val="014B88"/>
                </a:solidFill>
                <a:latin typeface="仿宋_GB2312"/>
                <a:cs typeface="Times New Roman" panose="02020603050405020304" pitchFamily="18" charset="0"/>
              </a:rPr>
              <a:t>）</a:t>
            </a:r>
            <a:endParaRPr lang="en-US" altLang="zh-CN" sz="2400" b="1" kern="100" dirty="0">
              <a:solidFill>
                <a:srgbClr val="014B88"/>
              </a:solidFill>
              <a:latin typeface="仿宋_GB2312"/>
              <a:cs typeface="Times New Roman" panose="02020603050405020304" pitchFamily="18" charset="0"/>
            </a:endParaRPr>
          </a:p>
          <a:p>
            <a:pPr marL="457200" indent="-457200">
              <a:lnSpc>
                <a:spcPct val="150000"/>
              </a:lnSpc>
              <a:buFont typeface="+mj-lt"/>
              <a:buAutoNum type="arabicPeriod"/>
              <a:defRPr/>
            </a:pPr>
            <a:r>
              <a:rPr lang="zh-CN" altLang="en-US" sz="2400" b="1" kern="100" dirty="0">
                <a:solidFill>
                  <a:srgbClr val="014B88"/>
                </a:solidFill>
                <a:latin typeface="仿宋_GB2312"/>
                <a:cs typeface="Times New Roman" panose="02020603050405020304" pitchFamily="18" charset="0"/>
              </a:rPr>
              <a:t>顺时针旋转直线（两条直线都旋转），直到其中一条直线与多边形的某条边重合</a:t>
            </a:r>
            <a:endParaRPr lang="en-US" altLang="zh-CN" sz="2400" b="1" kern="100" dirty="0">
              <a:solidFill>
                <a:srgbClr val="014B88"/>
              </a:solidFill>
              <a:latin typeface="仿宋_GB2312"/>
              <a:cs typeface="Times New Roman" panose="02020603050405020304" pitchFamily="18" charset="0"/>
            </a:endParaRP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旋转卡壳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54106" y="1180870"/>
            <a:ext cx="11166764" cy="4351337"/>
          </a:xfrm>
        </p:spPr>
        <p:txBody>
          <a:bodyPr>
            <a:normAutofit fontScale="77500" lnSpcReduction="20000"/>
          </a:bodyPr>
          <a:lstStyle/>
          <a:p>
            <a:pPr marL="0" indent="0" algn="just">
              <a:lnSpc>
                <a:spcPct val="150000"/>
              </a:lnSpc>
              <a:buNone/>
              <a:defRPr/>
            </a:pPr>
            <a:r>
              <a:rPr lang="en-US" altLang="zh-CN" b="1" kern="100" dirty="0">
                <a:solidFill>
                  <a:srgbClr val="014B88"/>
                </a:solidFill>
                <a:latin typeface="仿宋_GB2312"/>
                <a:cs typeface="Times New Roman" panose="02020603050405020304" pitchFamily="18" charset="0"/>
              </a:rPr>
              <a:t>5 .  </a:t>
            </a:r>
            <a:r>
              <a:rPr lang="zh-CN" altLang="en-US" b="1" kern="100" dirty="0">
                <a:solidFill>
                  <a:srgbClr val="014B88"/>
                </a:solidFill>
                <a:latin typeface="仿宋_GB2312"/>
                <a:cs typeface="Times New Roman" panose="02020603050405020304" pitchFamily="18" charset="0"/>
              </a:rPr>
              <a:t>如果此时只有一条直线与多边形的一条边重合，假如说</a:t>
            </a:r>
            <a:r>
              <a:rPr lang="en-US" altLang="zh-CN" b="1" kern="100" dirty="0">
                <a:solidFill>
                  <a:srgbClr val="014B88"/>
                </a:solidFill>
                <a:latin typeface="仿宋_GB2312"/>
                <a:cs typeface="Times New Roman" panose="02020603050405020304" pitchFamily="18" charset="0"/>
              </a:rPr>
              <a:t>LP</a:t>
            </a:r>
            <a:r>
              <a:rPr lang="zh-CN" altLang="en-US" b="1" kern="100" dirty="0">
                <a:solidFill>
                  <a:srgbClr val="014B88"/>
                </a:solidFill>
                <a:latin typeface="仿宋_GB2312"/>
                <a:cs typeface="Times New Roman" panose="02020603050405020304" pitchFamily="18" charset="0"/>
              </a:rPr>
              <a:t>和</a:t>
            </a:r>
            <a:r>
              <a:rPr lang="en-US" altLang="zh-CN" b="1" kern="100" dirty="0">
                <a:solidFill>
                  <a:srgbClr val="014B88"/>
                </a:solidFill>
                <a:latin typeface="仿宋_GB2312"/>
                <a:cs typeface="Times New Roman" panose="02020603050405020304" pitchFamily="18" charset="0"/>
              </a:rPr>
              <a:t>P</a:t>
            </a:r>
            <a:r>
              <a:rPr lang="zh-CN" altLang="en-US" b="1" kern="100" dirty="0">
                <a:solidFill>
                  <a:srgbClr val="014B88"/>
                </a:solidFill>
                <a:latin typeface="仿宋_GB2312"/>
                <a:cs typeface="Times New Roman" panose="02020603050405020304" pitchFamily="18" charset="0"/>
              </a:rPr>
              <a:t>的某一条边（记为</a:t>
            </a:r>
            <a:r>
              <a:rPr lang="en-US" altLang="zh-CN" b="1" kern="100" dirty="0">
                <a:solidFill>
                  <a:srgbClr val="014B88"/>
                </a:solidFill>
                <a:latin typeface="仿宋_GB2312"/>
                <a:cs typeface="Times New Roman" panose="02020603050405020304" pitchFamily="18" charset="0"/>
              </a:rPr>
              <a:t>e</a:t>
            </a:r>
            <a:r>
              <a:rPr lang="zh-CN" altLang="en-US" b="1" kern="100" dirty="0">
                <a:solidFill>
                  <a:srgbClr val="014B88"/>
                </a:solidFill>
                <a:latin typeface="仿宋_GB2312"/>
                <a:cs typeface="Times New Roman" panose="02020603050405020304" pitchFamily="18" charset="0"/>
              </a:rPr>
              <a:t>）重合，那么可能的最近的点就是当前</a:t>
            </a:r>
            <a:r>
              <a:rPr lang="en-US" altLang="zh-CN" b="1" kern="100" dirty="0">
                <a:solidFill>
                  <a:srgbClr val="014B88"/>
                </a:solidFill>
                <a:latin typeface="仿宋_GB2312"/>
                <a:cs typeface="Times New Roman" panose="02020603050405020304" pitchFamily="18" charset="0"/>
              </a:rPr>
              <a:t>LQ</a:t>
            </a:r>
            <a:r>
              <a:rPr lang="zh-CN" altLang="en-US" b="1" kern="100" dirty="0">
                <a:solidFill>
                  <a:srgbClr val="014B88"/>
                </a:solidFill>
                <a:latin typeface="仿宋_GB2312"/>
                <a:cs typeface="Times New Roman" panose="02020603050405020304" pitchFamily="18" charset="0"/>
              </a:rPr>
              <a:t>与</a:t>
            </a:r>
            <a:r>
              <a:rPr lang="en-US" altLang="zh-CN" b="1" kern="100" dirty="0">
                <a:solidFill>
                  <a:srgbClr val="014B88"/>
                </a:solidFill>
                <a:latin typeface="仿宋_GB2312"/>
                <a:cs typeface="Times New Roman" panose="02020603050405020304" pitchFamily="18" charset="0"/>
              </a:rPr>
              <a:t>Q</a:t>
            </a:r>
            <a:r>
              <a:rPr lang="zh-CN" altLang="en-US" b="1" kern="100" dirty="0">
                <a:solidFill>
                  <a:srgbClr val="014B88"/>
                </a:solidFill>
                <a:latin typeface="仿宋_GB2312"/>
                <a:cs typeface="Times New Roman" panose="02020603050405020304" pitchFamily="18" charset="0"/>
              </a:rPr>
              <a:t>相交的那个顶点到</a:t>
            </a:r>
            <a:r>
              <a:rPr lang="en-US" altLang="zh-CN" b="1" kern="100" dirty="0">
                <a:solidFill>
                  <a:srgbClr val="014B88"/>
                </a:solidFill>
                <a:latin typeface="仿宋_GB2312"/>
                <a:cs typeface="Times New Roman" panose="02020603050405020304" pitchFamily="18" charset="0"/>
              </a:rPr>
              <a:t>e</a:t>
            </a:r>
            <a:r>
              <a:rPr lang="zh-CN" altLang="en-US" b="1" kern="100" dirty="0">
                <a:solidFill>
                  <a:srgbClr val="014B88"/>
                </a:solidFill>
                <a:latin typeface="仿宋_GB2312"/>
                <a:cs typeface="Times New Roman" panose="02020603050405020304" pitchFamily="18" charset="0"/>
              </a:rPr>
              <a:t>的最短距离（点到线段的最短距离）；如果</a:t>
            </a:r>
            <a:r>
              <a:rPr lang="en-US" altLang="zh-CN" b="1" kern="100" dirty="0">
                <a:solidFill>
                  <a:srgbClr val="014B88"/>
                </a:solidFill>
                <a:latin typeface="仿宋_GB2312"/>
                <a:cs typeface="Times New Roman" panose="02020603050405020304" pitchFamily="18" charset="0"/>
              </a:rPr>
              <a:t>LP</a:t>
            </a:r>
            <a:r>
              <a:rPr lang="zh-CN" altLang="en-US" b="1" kern="100" dirty="0">
                <a:solidFill>
                  <a:srgbClr val="014B88"/>
                </a:solidFill>
                <a:latin typeface="仿宋_GB2312"/>
                <a:cs typeface="Times New Roman" panose="02020603050405020304" pitchFamily="18" charset="0"/>
              </a:rPr>
              <a:t>和</a:t>
            </a:r>
            <a:r>
              <a:rPr lang="en-US" altLang="zh-CN" b="1" kern="100" dirty="0">
                <a:solidFill>
                  <a:srgbClr val="014B88"/>
                </a:solidFill>
                <a:latin typeface="仿宋_GB2312"/>
                <a:cs typeface="Times New Roman" panose="02020603050405020304" pitchFamily="18" charset="0"/>
              </a:rPr>
              <a:t>LQ</a:t>
            </a:r>
            <a:r>
              <a:rPr lang="zh-CN" altLang="en-US" b="1" kern="100" dirty="0">
                <a:solidFill>
                  <a:srgbClr val="014B88"/>
                </a:solidFill>
                <a:latin typeface="仿宋_GB2312"/>
                <a:cs typeface="Times New Roman" panose="02020603050405020304" pitchFamily="18" charset="0"/>
              </a:rPr>
              <a:t>都与多边形的某条边重合，那么如果有一条直线可以同时相交于这两个边并且垂直于这两条边，那么</a:t>
            </a:r>
            <a:r>
              <a:rPr lang="en-US" altLang="zh-CN" b="1" kern="100" dirty="0">
                <a:solidFill>
                  <a:srgbClr val="014B88"/>
                </a:solidFill>
                <a:latin typeface="仿宋_GB2312"/>
                <a:cs typeface="Times New Roman" panose="02020603050405020304" pitchFamily="18" charset="0"/>
              </a:rPr>
              <a:t>LP</a:t>
            </a:r>
            <a:r>
              <a:rPr lang="zh-CN" altLang="en-US" b="1" kern="100" dirty="0">
                <a:solidFill>
                  <a:srgbClr val="014B88"/>
                </a:solidFill>
                <a:latin typeface="仿宋_GB2312"/>
                <a:cs typeface="Times New Roman" panose="02020603050405020304" pitchFamily="18" charset="0"/>
              </a:rPr>
              <a:t>和</a:t>
            </a:r>
            <a:r>
              <a:rPr lang="en-US" altLang="zh-CN" b="1" kern="100" dirty="0">
                <a:solidFill>
                  <a:srgbClr val="014B88"/>
                </a:solidFill>
                <a:latin typeface="仿宋_GB2312"/>
                <a:cs typeface="Times New Roman" panose="02020603050405020304" pitchFamily="18" charset="0"/>
              </a:rPr>
              <a:t>LQ</a:t>
            </a:r>
            <a:r>
              <a:rPr lang="zh-CN" altLang="en-US" b="1" kern="100" dirty="0">
                <a:solidFill>
                  <a:srgbClr val="014B88"/>
                </a:solidFill>
                <a:latin typeface="仿宋_GB2312"/>
                <a:cs typeface="Times New Roman" panose="02020603050405020304" pitchFamily="18" charset="0"/>
              </a:rPr>
              <a:t>之间的距离即为可能的最近距离，否则就计算点到线段的距离（这一步可以简化为：两条边分别为</a:t>
            </a:r>
            <a:r>
              <a:rPr lang="en-US" altLang="zh-CN" b="1" kern="100" dirty="0">
                <a:solidFill>
                  <a:srgbClr val="014B88"/>
                </a:solidFill>
                <a:latin typeface="仿宋_GB2312"/>
                <a:cs typeface="Times New Roman" panose="02020603050405020304" pitchFamily="18" charset="0"/>
              </a:rPr>
              <a:t>p1p2,q1q2,</a:t>
            </a:r>
            <a:r>
              <a:rPr lang="zh-CN" altLang="en-US" b="1" kern="100" dirty="0">
                <a:solidFill>
                  <a:srgbClr val="014B88"/>
                </a:solidFill>
                <a:latin typeface="仿宋_GB2312"/>
                <a:cs typeface="Times New Roman" panose="02020603050405020304" pitchFamily="18" charset="0"/>
              </a:rPr>
              <a:t>就计算</a:t>
            </a:r>
            <a:r>
              <a:rPr lang="en-US" altLang="zh-CN" b="1" kern="100" dirty="0">
                <a:solidFill>
                  <a:srgbClr val="014B88"/>
                </a:solidFill>
                <a:latin typeface="仿宋_GB2312"/>
                <a:cs typeface="Times New Roman" panose="02020603050405020304" pitchFamily="18" charset="0"/>
              </a:rPr>
              <a:t>p1</a:t>
            </a:r>
            <a:r>
              <a:rPr lang="zh-CN" altLang="en-US" b="1" kern="100" dirty="0">
                <a:solidFill>
                  <a:srgbClr val="014B88"/>
                </a:solidFill>
                <a:latin typeface="仿宋_GB2312"/>
                <a:cs typeface="Times New Roman" panose="02020603050405020304" pitchFamily="18" charset="0"/>
              </a:rPr>
              <a:t>到</a:t>
            </a:r>
            <a:r>
              <a:rPr lang="en-US" altLang="zh-CN" b="1" kern="100" dirty="0">
                <a:solidFill>
                  <a:srgbClr val="014B88"/>
                </a:solidFill>
                <a:latin typeface="仿宋_GB2312"/>
                <a:cs typeface="Times New Roman" panose="02020603050405020304" pitchFamily="18" charset="0"/>
              </a:rPr>
              <a:t>q1q2</a:t>
            </a:r>
            <a:r>
              <a:rPr lang="zh-CN" altLang="en-US" b="1" kern="100" dirty="0">
                <a:solidFill>
                  <a:srgbClr val="014B88"/>
                </a:solidFill>
                <a:latin typeface="仿宋_GB2312"/>
                <a:cs typeface="Times New Roman" panose="02020603050405020304" pitchFamily="18" charset="0"/>
              </a:rPr>
              <a:t>的最短距离（点到线段的最短距离），</a:t>
            </a:r>
            <a:r>
              <a:rPr lang="en-US" altLang="zh-CN" b="1" kern="100" dirty="0">
                <a:solidFill>
                  <a:srgbClr val="014B88"/>
                </a:solidFill>
                <a:latin typeface="仿宋_GB2312"/>
                <a:cs typeface="Times New Roman" panose="02020603050405020304" pitchFamily="18" charset="0"/>
              </a:rPr>
              <a:t>p2</a:t>
            </a:r>
            <a:r>
              <a:rPr lang="zh-CN" altLang="en-US" b="1" kern="100" dirty="0">
                <a:solidFill>
                  <a:srgbClr val="014B88"/>
                </a:solidFill>
                <a:latin typeface="仿宋_GB2312"/>
                <a:cs typeface="Times New Roman" panose="02020603050405020304" pitchFamily="18" charset="0"/>
              </a:rPr>
              <a:t>到</a:t>
            </a:r>
            <a:r>
              <a:rPr lang="en-US" altLang="zh-CN" b="1" kern="100" dirty="0">
                <a:solidFill>
                  <a:srgbClr val="014B88"/>
                </a:solidFill>
                <a:latin typeface="仿宋_GB2312"/>
                <a:cs typeface="Times New Roman" panose="02020603050405020304" pitchFamily="18" charset="0"/>
              </a:rPr>
              <a:t>q1q2</a:t>
            </a:r>
            <a:r>
              <a:rPr lang="zh-CN" altLang="en-US" b="1" kern="100" dirty="0">
                <a:solidFill>
                  <a:srgbClr val="014B88"/>
                </a:solidFill>
                <a:latin typeface="仿宋_GB2312"/>
                <a:cs typeface="Times New Roman" panose="02020603050405020304" pitchFamily="18" charset="0"/>
              </a:rPr>
              <a:t>的最短距离，</a:t>
            </a:r>
            <a:r>
              <a:rPr lang="en-US" altLang="zh-CN" b="1" kern="100" dirty="0">
                <a:solidFill>
                  <a:srgbClr val="014B88"/>
                </a:solidFill>
                <a:latin typeface="仿宋_GB2312"/>
                <a:cs typeface="Times New Roman" panose="02020603050405020304" pitchFamily="18" charset="0"/>
              </a:rPr>
              <a:t>q1</a:t>
            </a:r>
            <a:r>
              <a:rPr lang="zh-CN" altLang="en-US" b="1" kern="100" dirty="0">
                <a:solidFill>
                  <a:srgbClr val="014B88"/>
                </a:solidFill>
                <a:latin typeface="仿宋_GB2312"/>
                <a:cs typeface="Times New Roman" panose="02020603050405020304" pitchFamily="18" charset="0"/>
              </a:rPr>
              <a:t>到</a:t>
            </a:r>
            <a:r>
              <a:rPr lang="en-US" altLang="zh-CN" b="1" kern="100" dirty="0">
                <a:solidFill>
                  <a:srgbClr val="014B88"/>
                </a:solidFill>
                <a:latin typeface="仿宋_GB2312"/>
                <a:cs typeface="Times New Roman" panose="02020603050405020304" pitchFamily="18" charset="0"/>
              </a:rPr>
              <a:t>p1p2</a:t>
            </a:r>
            <a:r>
              <a:rPr lang="zh-CN" altLang="en-US" b="1" kern="100" dirty="0">
                <a:solidFill>
                  <a:srgbClr val="014B88"/>
                </a:solidFill>
                <a:latin typeface="仿宋_GB2312"/>
                <a:cs typeface="Times New Roman" panose="02020603050405020304" pitchFamily="18" charset="0"/>
              </a:rPr>
              <a:t>的最短距离，</a:t>
            </a:r>
            <a:r>
              <a:rPr lang="en-US" altLang="zh-CN" b="1" kern="100" dirty="0">
                <a:solidFill>
                  <a:srgbClr val="014B88"/>
                </a:solidFill>
                <a:latin typeface="仿宋_GB2312"/>
                <a:cs typeface="Times New Roman" panose="02020603050405020304" pitchFamily="18" charset="0"/>
              </a:rPr>
              <a:t>q2</a:t>
            </a:r>
            <a:r>
              <a:rPr lang="zh-CN" altLang="en-US" b="1" kern="100" dirty="0">
                <a:solidFill>
                  <a:srgbClr val="014B88"/>
                </a:solidFill>
                <a:latin typeface="仿宋_GB2312"/>
                <a:cs typeface="Times New Roman" panose="02020603050405020304" pitchFamily="18" charset="0"/>
              </a:rPr>
              <a:t>到</a:t>
            </a:r>
            <a:r>
              <a:rPr lang="en-US" altLang="zh-CN" b="1" kern="100" dirty="0">
                <a:solidFill>
                  <a:srgbClr val="014B88"/>
                </a:solidFill>
                <a:latin typeface="仿宋_GB2312"/>
                <a:cs typeface="Times New Roman" panose="02020603050405020304" pitchFamily="18" charset="0"/>
              </a:rPr>
              <a:t>p1p2</a:t>
            </a:r>
            <a:r>
              <a:rPr lang="zh-CN" altLang="en-US" b="1" kern="100" dirty="0">
                <a:solidFill>
                  <a:srgbClr val="014B88"/>
                </a:solidFill>
                <a:latin typeface="仿宋_GB2312"/>
                <a:cs typeface="Times New Roman" panose="02020603050405020304" pitchFamily="18" charset="0"/>
              </a:rPr>
              <a:t>的最短距离，然后取四个值的最小值），得到最小值以后，更新</a:t>
            </a:r>
            <a:r>
              <a:rPr lang="en-US" altLang="zh-CN" b="1" kern="100" dirty="0">
                <a:solidFill>
                  <a:srgbClr val="014B88"/>
                </a:solidFill>
                <a:latin typeface="仿宋_GB2312"/>
                <a:cs typeface="Times New Roman" panose="02020603050405020304" pitchFamily="18" charset="0"/>
              </a:rPr>
              <a:t>minimum</a:t>
            </a:r>
          </a:p>
          <a:p>
            <a:pPr marL="0" indent="0" algn="just">
              <a:lnSpc>
                <a:spcPct val="150000"/>
              </a:lnSpc>
              <a:buNone/>
              <a:defRPr/>
            </a:pPr>
            <a:r>
              <a:rPr lang="en-US" altLang="zh-CN" b="1" kern="100" dirty="0">
                <a:solidFill>
                  <a:srgbClr val="014B88"/>
                </a:solidFill>
                <a:latin typeface="仿宋_GB2312"/>
                <a:cs typeface="Times New Roman" panose="02020603050405020304" pitchFamily="18" charset="0"/>
              </a:rPr>
              <a:t>6.   </a:t>
            </a:r>
            <a:r>
              <a:rPr lang="zh-CN" altLang="en-US" b="1" kern="100" dirty="0">
                <a:solidFill>
                  <a:srgbClr val="014B88"/>
                </a:solidFill>
                <a:latin typeface="仿宋_GB2312"/>
                <a:cs typeface="Times New Roman" panose="02020603050405020304" pitchFamily="18" charset="0"/>
              </a:rPr>
              <a:t>重复</a:t>
            </a:r>
            <a:r>
              <a:rPr lang="en-US" altLang="zh-CN" b="1" kern="100" dirty="0">
                <a:solidFill>
                  <a:srgbClr val="014B88"/>
                </a:solidFill>
                <a:latin typeface="仿宋_GB2312"/>
                <a:cs typeface="Times New Roman" panose="02020603050405020304" pitchFamily="18" charset="0"/>
              </a:rPr>
              <a:t>4</a:t>
            </a:r>
            <a:r>
              <a:rPr lang="zh-CN" altLang="en-US" b="1" kern="100" dirty="0">
                <a:solidFill>
                  <a:srgbClr val="014B88"/>
                </a:solidFill>
                <a:latin typeface="仿宋_GB2312"/>
                <a:cs typeface="Times New Roman" panose="02020603050405020304" pitchFamily="18" charset="0"/>
              </a:rPr>
              <a:t>和</a:t>
            </a:r>
            <a:r>
              <a:rPr lang="en-US" altLang="zh-CN" b="1" kern="100" dirty="0">
                <a:solidFill>
                  <a:srgbClr val="014B88"/>
                </a:solidFill>
                <a:latin typeface="仿宋_GB2312"/>
                <a:cs typeface="Times New Roman" panose="02020603050405020304" pitchFamily="18" charset="0"/>
              </a:rPr>
              <a:t>5</a:t>
            </a:r>
            <a:r>
              <a:rPr lang="zh-CN" altLang="en-US" b="1" kern="100" dirty="0">
                <a:solidFill>
                  <a:srgbClr val="014B88"/>
                </a:solidFill>
                <a:latin typeface="仿宋_GB2312"/>
                <a:cs typeface="Times New Roman" panose="02020603050405020304" pitchFamily="18" charset="0"/>
              </a:rPr>
              <a:t>，直到回到初始状态</a:t>
            </a:r>
            <a:endParaRPr lang="en-US" altLang="zh-CN" b="1" kern="100" dirty="0">
              <a:solidFill>
                <a:srgbClr val="014B88"/>
              </a:solidFill>
              <a:latin typeface="仿宋_GB2312"/>
              <a:cs typeface="Times New Roman" panose="02020603050405020304" pitchFamily="18" charset="0"/>
            </a:endParaRPr>
          </a:p>
          <a:p>
            <a:pPr marL="0" indent="0" algn="just">
              <a:lnSpc>
                <a:spcPct val="150000"/>
              </a:lnSpc>
              <a:buNone/>
              <a:defRPr/>
            </a:pPr>
            <a:r>
              <a:rPr lang="en-US" altLang="zh-CN" b="1" kern="100" dirty="0">
                <a:solidFill>
                  <a:srgbClr val="014B88"/>
                </a:solidFill>
                <a:latin typeface="仿宋_GB2312"/>
                <a:cs typeface="Times New Roman" panose="02020603050405020304" pitchFamily="18" charset="0"/>
              </a:rPr>
              <a:t>7.   </a:t>
            </a:r>
            <a:r>
              <a:rPr lang="zh-CN" altLang="en-US" b="1" kern="100" dirty="0">
                <a:solidFill>
                  <a:srgbClr val="014B88"/>
                </a:solidFill>
                <a:latin typeface="仿宋_GB2312"/>
                <a:cs typeface="Times New Roman" panose="02020603050405020304" pitchFamily="18" charset="0"/>
              </a:rPr>
              <a:t>输出最小距离</a:t>
            </a:r>
          </a:p>
          <a:p>
            <a:pPr>
              <a:defRPr/>
            </a:pPr>
            <a:endParaRPr lang="zh-CN" altLang="en-US"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旋转卡壳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1"/>
          <p:cNvSpPr>
            <a:spLocks noGrp="1"/>
          </p:cNvSpPr>
          <p:nvPr>
            <p:ph idx="4294967295"/>
          </p:nvPr>
        </p:nvSpPr>
        <p:spPr>
          <a:xfrm>
            <a:off x="514905" y="1253331"/>
            <a:ext cx="10515600" cy="4351337"/>
          </a:xfrm>
        </p:spPr>
        <p:txBody>
          <a:bodyPr>
            <a:normAutofit/>
          </a:bodyPr>
          <a:lstStyle/>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凸包的宽</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两凸包的最远距离</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内接、外接矩形的最小面积</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a:t>
            </a: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旋转卡壳</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1"/>
          <p:cNvSpPr>
            <a:spLocks noGrp="1"/>
          </p:cNvSpPr>
          <p:nvPr>
            <p:ph idx="4294967295"/>
          </p:nvPr>
        </p:nvSpPr>
        <p:spPr>
          <a:xfrm>
            <a:off x="559293" y="1253331"/>
            <a:ext cx="10515600" cy="4351337"/>
          </a:xfrm>
        </p:spPr>
        <p:txBody>
          <a:bodyPr/>
          <a:lstStyle/>
          <a:p>
            <a:pPr marL="342900" indent="-342900" algn="just">
              <a:lnSpc>
                <a:spcPct val="11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三维几何</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1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扫描线</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1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最小包围圆</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1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多边形三角剖分</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10000"/>
              </a:lnSpc>
              <a:spcBef>
                <a:spcPts val="600"/>
              </a:spcBef>
              <a:buFont typeface="Wingdings" panose="05000000000000000000" pitchFamily="2" charset="2"/>
              <a:buChar char="l"/>
              <a:defRPr/>
            </a:pPr>
            <a:r>
              <a:rPr lang="zh-CN" altLang="en-US" sz="2600" b="1" kern="100" dirty="0">
                <a:solidFill>
                  <a:srgbClr val="014B88"/>
                </a:solidFill>
                <a:latin typeface="仿宋_GB2312"/>
                <a:cs typeface="Times New Roman" panose="02020603050405020304" pitchFamily="18" charset="0"/>
              </a:rPr>
              <a:t>点集的最大三角形</a:t>
            </a:r>
            <a:endParaRPr lang="en-US" altLang="zh-CN" sz="2600" b="1" kern="100" dirty="0">
              <a:solidFill>
                <a:srgbClr val="014B88"/>
              </a:solidFill>
              <a:latin typeface="仿宋_GB2312"/>
              <a:cs typeface="Times New Roman" panose="02020603050405020304" pitchFamily="18" charset="0"/>
            </a:endParaRPr>
          </a:p>
          <a:p>
            <a:pPr marL="342900" indent="-342900" algn="just">
              <a:lnSpc>
                <a:spcPct val="110000"/>
              </a:lnSpc>
              <a:spcBef>
                <a:spcPts val="600"/>
              </a:spcBef>
              <a:buFont typeface="Wingdings" panose="05000000000000000000" pitchFamily="2" charset="2"/>
              <a:buChar char="l"/>
              <a:defRPr/>
            </a:pPr>
            <a:r>
              <a:rPr lang="en-US" altLang="zh-CN" sz="2600" b="1" kern="100" dirty="0">
                <a:solidFill>
                  <a:srgbClr val="014B88"/>
                </a:solidFill>
                <a:latin typeface="仿宋_GB2312"/>
                <a:cs typeface="Times New Roman" panose="02020603050405020304" pitchFamily="18" charset="0"/>
              </a:rPr>
              <a:t>…………………………</a:t>
            </a:r>
          </a:p>
          <a:p>
            <a:endParaRPr lang="en-US" altLang="zh-CN" dirty="0"/>
          </a:p>
          <a:p>
            <a:endParaRPr lang="zh-CN" altLang="en-US"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更多</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94804" y="1253331"/>
            <a:ext cx="10515600" cy="4351337"/>
          </a:xfrm>
        </p:spPr>
        <p:txBody>
          <a:bodyPr/>
          <a:lstStyle/>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给出一个点的集合，求一个最小的可以将所有的点囊括进内的圆</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O(N^3)</a:t>
            </a:r>
            <a:r>
              <a:rPr lang="zh-CN" altLang="en-US" sz="2400" b="1" kern="100" dirty="0">
                <a:solidFill>
                  <a:srgbClr val="014B88"/>
                </a:solidFill>
                <a:latin typeface="仿宋_GB2312"/>
                <a:cs typeface="Times New Roman" panose="02020603050405020304" pitchFamily="18" charset="0"/>
              </a:rPr>
              <a:t>暴力枚举出三点，求三点的最小包围圆，然后判定，复杂度</a:t>
            </a:r>
            <a:r>
              <a:rPr lang="en-US" altLang="zh-CN" sz="2400" b="1" kern="100" dirty="0">
                <a:solidFill>
                  <a:srgbClr val="014B88"/>
                </a:solidFill>
                <a:latin typeface="仿宋_GB2312"/>
                <a:cs typeface="Times New Roman" panose="02020603050405020304" pitchFamily="18" charset="0"/>
              </a:rPr>
              <a:t>O(N^4)</a:t>
            </a: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求出最远点对，枚举另外一个点求出三点的最小包围圆，然后判定其他点是否在圆内，复杂度</a:t>
            </a:r>
            <a:r>
              <a:rPr lang="en-US" altLang="zh-CN" sz="2400" b="1" kern="100" dirty="0">
                <a:solidFill>
                  <a:srgbClr val="014B88"/>
                </a:solidFill>
                <a:latin typeface="仿宋_GB2312"/>
                <a:cs typeface="Times New Roman" panose="02020603050405020304" pitchFamily="18" charset="0"/>
              </a:rPr>
              <a:t>O(N^2)</a:t>
            </a:r>
            <a:r>
              <a:rPr lang="zh-CN" altLang="en-US" sz="2400" b="1" kern="100" dirty="0">
                <a:solidFill>
                  <a:srgbClr val="014B88"/>
                </a:solidFill>
                <a:latin typeface="仿宋_GB2312"/>
                <a:cs typeface="Times New Roman" panose="02020603050405020304" pitchFamily="18" charset="0"/>
              </a:rPr>
              <a:t>（有待验证）</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随机增量法</a:t>
            </a:r>
            <a:endParaRPr lang="en-US" altLang="zh-CN" sz="2400" b="1" kern="100" dirty="0">
              <a:solidFill>
                <a:srgbClr val="014B88"/>
              </a:solidFill>
              <a:latin typeface="仿宋_GB2312"/>
              <a:cs typeface="Times New Roman" panose="02020603050405020304" pitchFamily="18" charset="0"/>
            </a:endParaRP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最小包围圆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 calcmode="lin" valueType="num">
                                      <p:cBhvr additive="base">
                                        <p:cTn id="1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2"/>
          <p:cNvSpPr>
            <a:spLocks noGrp="1"/>
          </p:cNvSpPr>
          <p:nvPr>
            <p:ph idx="4294967295"/>
          </p:nvPr>
        </p:nvSpPr>
        <p:spPr>
          <a:xfrm>
            <a:off x="399495" y="1253331"/>
            <a:ext cx="11026066" cy="4934405"/>
          </a:xfrm>
        </p:spPr>
        <p:txBody>
          <a:bodyPr>
            <a:normAutofit/>
          </a:bodyPr>
          <a:lstStyle/>
          <a:p>
            <a:pPr>
              <a:lnSpc>
                <a:spcPct val="150000"/>
              </a:lnSpc>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1. </a:t>
            </a:r>
            <a:r>
              <a:rPr lang="zh-CN" altLang="en-US" sz="2400" b="1" kern="100" dirty="0">
                <a:solidFill>
                  <a:srgbClr val="014B88"/>
                </a:solidFill>
                <a:latin typeface="仿宋_GB2312"/>
                <a:cs typeface="Times New Roman" panose="02020603050405020304" pitchFamily="18" charset="0"/>
              </a:rPr>
              <a:t>在点集中任取 </a:t>
            </a:r>
            <a:r>
              <a:rPr lang="en-US" altLang="zh-CN" sz="2400" b="1" kern="100" dirty="0">
                <a:solidFill>
                  <a:srgbClr val="014B88"/>
                </a:solidFill>
                <a:latin typeface="仿宋_GB2312"/>
                <a:cs typeface="Times New Roman" panose="02020603050405020304" pitchFamily="18" charset="0"/>
              </a:rPr>
              <a:t>3</a:t>
            </a:r>
            <a:r>
              <a:rPr lang="zh-CN" altLang="en-US" sz="2400" b="1" kern="100" dirty="0">
                <a:solidFill>
                  <a:srgbClr val="014B88"/>
                </a:solidFill>
                <a:latin typeface="仿宋_GB2312"/>
                <a:cs typeface="Times New Roman" panose="02020603050405020304" pitchFamily="18" charset="0"/>
              </a:rPr>
              <a:t>点</a:t>
            </a:r>
            <a:r>
              <a:rPr lang="en-US" altLang="zh-CN" sz="2400" b="1" kern="100" dirty="0">
                <a:solidFill>
                  <a:srgbClr val="014B88"/>
                </a:solidFill>
                <a:latin typeface="仿宋_GB2312"/>
                <a:cs typeface="Times New Roman" panose="02020603050405020304" pitchFamily="18" charset="0"/>
              </a:rPr>
              <a:t>A,B,C</a:t>
            </a:r>
          </a:p>
          <a:p>
            <a:pPr>
              <a:lnSpc>
                <a:spcPct val="150000"/>
              </a:lnSpc>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2. </a:t>
            </a:r>
            <a:r>
              <a:rPr lang="zh-CN" altLang="en-US" sz="2400" b="1" kern="100" dirty="0">
                <a:solidFill>
                  <a:srgbClr val="014B88"/>
                </a:solidFill>
                <a:latin typeface="仿宋_GB2312"/>
                <a:cs typeface="Times New Roman" panose="02020603050405020304" pitchFamily="18" charset="0"/>
              </a:rPr>
              <a:t>作一个包含</a:t>
            </a:r>
            <a:r>
              <a:rPr lang="en-US" altLang="zh-CN" sz="2400" b="1" kern="100" dirty="0">
                <a:solidFill>
                  <a:srgbClr val="014B88"/>
                </a:solidFill>
                <a:latin typeface="仿宋_GB2312"/>
                <a:cs typeface="Times New Roman" panose="02020603050405020304" pitchFamily="18" charset="0"/>
              </a:rPr>
              <a:t>A,B,C</a:t>
            </a:r>
            <a:r>
              <a:rPr lang="zh-CN" altLang="en-US" sz="2400" b="1" kern="100" dirty="0">
                <a:solidFill>
                  <a:srgbClr val="014B88"/>
                </a:solidFill>
                <a:latin typeface="仿宋_GB2312"/>
                <a:cs typeface="Times New Roman" panose="02020603050405020304" pitchFamily="18" charset="0"/>
              </a:rPr>
              <a:t>三点的最小圆</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圆周可能通过这</a:t>
            </a:r>
            <a:r>
              <a:rPr lang="en-US" altLang="zh-CN" sz="2400" b="1" kern="100" dirty="0">
                <a:solidFill>
                  <a:srgbClr val="014B88"/>
                </a:solidFill>
                <a:latin typeface="仿宋_GB2312"/>
                <a:cs typeface="Times New Roman" panose="02020603050405020304" pitchFamily="18" charset="0"/>
              </a:rPr>
              <a:t>3</a:t>
            </a:r>
            <a:r>
              <a:rPr lang="zh-CN" altLang="en-US" sz="2400" b="1" kern="100" dirty="0">
                <a:solidFill>
                  <a:srgbClr val="014B88"/>
                </a:solidFill>
                <a:latin typeface="仿宋_GB2312"/>
                <a:cs typeface="Times New Roman" panose="02020603050405020304" pitchFamily="18" charset="0"/>
              </a:rPr>
              <a:t>点，也可能只通过 其中两点</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但包含第</a:t>
            </a:r>
            <a:r>
              <a:rPr lang="en-US" altLang="zh-CN" sz="2400" b="1" kern="100" dirty="0">
                <a:solidFill>
                  <a:srgbClr val="014B88"/>
                </a:solidFill>
                <a:latin typeface="仿宋_GB2312"/>
                <a:cs typeface="Times New Roman" panose="02020603050405020304" pitchFamily="18" charset="0"/>
              </a:rPr>
              <a:t>3</a:t>
            </a:r>
            <a:r>
              <a:rPr lang="zh-CN" altLang="en-US" sz="2400" b="1" kern="100" dirty="0">
                <a:solidFill>
                  <a:srgbClr val="014B88"/>
                </a:solidFill>
                <a:latin typeface="仿宋_GB2312"/>
                <a:cs typeface="Times New Roman" panose="02020603050405020304" pitchFamily="18" charset="0"/>
              </a:rPr>
              <a:t>点</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后一种情况圆周上的两点一定是位于圆的一条直 径的两端</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3. </a:t>
            </a:r>
            <a:r>
              <a:rPr lang="zh-CN" altLang="en-US" sz="2400" b="1" kern="100" dirty="0">
                <a:solidFill>
                  <a:srgbClr val="014B88"/>
                </a:solidFill>
                <a:latin typeface="仿宋_GB2312"/>
                <a:cs typeface="Times New Roman" panose="02020603050405020304" pitchFamily="18" charset="0"/>
              </a:rPr>
              <a:t>在点集中找出距离第</a:t>
            </a:r>
            <a:r>
              <a:rPr lang="en-US" altLang="zh-CN" sz="2400" b="1" kern="100" dirty="0">
                <a:solidFill>
                  <a:srgbClr val="014B88"/>
                </a:solidFill>
                <a:latin typeface="仿宋_GB2312"/>
                <a:cs typeface="Times New Roman" panose="02020603050405020304" pitchFamily="18" charset="0"/>
              </a:rPr>
              <a:t>2</a:t>
            </a:r>
            <a:r>
              <a:rPr lang="zh-CN" altLang="en-US" sz="2400" b="1" kern="100" dirty="0">
                <a:solidFill>
                  <a:srgbClr val="014B88"/>
                </a:solidFill>
                <a:latin typeface="仿宋_GB2312"/>
                <a:cs typeface="Times New Roman" panose="02020603050405020304" pitchFamily="18" charset="0"/>
              </a:rPr>
              <a:t>步所建圆圆心最远的</a:t>
            </a:r>
            <a:r>
              <a:rPr lang="en-US" altLang="zh-CN" sz="2400" b="1" kern="100" dirty="0">
                <a:solidFill>
                  <a:srgbClr val="014B88"/>
                </a:solidFill>
                <a:latin typeface="仿宋_GB2312"/>
                <a:cs typeface="Times New Roman" panose="02020603050405020304" pitchFamily="18" charset="0"/>
              </a:rPr>
              <a:t>D</a:t>
            </a:r>
            <a:r>
              <a:rPr lang="zh-CN" altLang="en-US" sz="2400" b="1" kern="100" dirty="0">
                <a:solidFill>
                  <a:srgbClr val="014B88"/>
                </a:solidFill>
                <a:latin typeface="仿宋_GB2312"/>
                <a:cs typeface="Times New Roman" panose="02020603050405020304" pitchFamily="18" charset="0"/>
              </a:rPr>
              <a:t>点，若</a:t>
            </a:r>
            <a:r>
              <a:rPr lang="en-US" altLang="zh-CN" sz="2400" b="1" kern="100" dirty="0">
                <a:solidFill>
                  <a:srgbClr val="014B88"/>
                </a:solidFill>
                <a:latin typeface="仿宋_GB2312"/>
                <a:cs typeface="Times New Roman" panose="02020603050405020304" pitchFamily="18" charset="0"/>
              </a:rPr>
              <a:t>D</a:t>
            </a:r>
            <a:r>
              <a:rPr lang="zh-CN" altLang="en-US" sz="2400" b="1" kern="100" dirty="0">
                <a:solidFill>
                  <a:srgbClr val="014B88"/>
                </a:solidFill>
                <a:latin typeface="仿宋_GB2312"/>
                <a:cs typeface="Times New Roman" panose="02020603050405020304" pitchFamily="18" charset="0"/>
              </a:rPr>
              <a:t>点已在圆内或圆周上， 则该圆即为所求的圆，算法结束</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则，执行第</a:t>
            </a:r>
            <a:r>
              <a:rPr lang="en-US" altLang="zh-CN" sz="2400" b="1" kern="100" dirty="0">
                <a:solidFill>
                  <a:srgbClr val="014B88"/>
                </a:solidFill>
                <a:latin typeface="仿宋_GB2312"/>
                <a:cs typeface="Times New Roman" panose="02020603050405020304" pitchFamily="18" charset="0"/>
              </a:rPr>
              <a:t>4</a:t>
            </a:r>
            <a:r>
              <a:rPr lang="zh-CN" altLang="en-US" sz="2400" b="1" kern="100" dirty="0">
                <a:solidFill>
                  <a:srgbClr val="014B88"/>
                </a:solidFill>
                <a:latin typeface="仿宋_GB2312"/>
                <a:cs typeface="Times New Roman" panose="02020603050405020304" pitchFamily="18" charset="0"/>
              </a:rPr>
              <a:t>步</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4. </a:t>
            </a:r>
            <a:r>
              <a:rPr lang="zh-CN" altLang="en-US" sz="2400" b="1" kern="100" dirty="0">
                <a:solidFill>
                  <a:srgbClr val="014B88"/>
                </a:solidFill>
                <a:latin typeface="仿宋_GB2312"/>
                <a:cs typeface="Times New Roman" panose="02020603050405020304" pitchFamily="18" charset="0"/>
              </a:rPr>
              <a:t>在</a:t>
            </a:r>
            <a:r>
              <a:rPr lang="en-US" altLang="zh-CN" sz="2400" b="1" kern="100" dirty="0">
                <a:solidFill>
                  <a:srgbClr val="014B88"/>
                </a:solidFill>
                <a:latin typeface="仿宋_GB2312"/>
                <a:cs typeface="Times New Roman" panose="02020603050405020304" pitchFamily="18" charset="0"/>
              </a:rPr>
              <a:t>A,B,C,D</a:t>
            </a:r>
            <a:r>
              <a:rPr lang="zh-CN" altLang="en-US" sz="2400" b="1" kern="100" dirty="0">
                <a:solidFill>
                  <a:srgbClr val="014B88"/>
                </a:solidFill>
                <a:latin typeface="仿宋_GB2312"/>
                <a:cs typeface="Times New Roman" panose="02020603050405020304" pitchFamily="18" charset="0"/>
              </a:rPr>
              <a:t>中选</a:t>
            </a:r>
            <a:r>
              <a:rPr lang="en-US" altLang="zh-CN" sz="2400" b="1" kern="100" dirty="0">
                <a:solidFill>
                  <a:srgbClr val="014B88"/>
                </a:solidFill>
                <a:latin typeface="仿宋_GB2312"/>
                <a:cs typeface="Times New Roman" panose="02020603050405020304" pitchFamily="18" charset="0"/>
              </a:rPr>
              <a:t>3</a:t>
            </a:r>
            <a:r>
              <a:rPr lang="zh-CN" altLang="en-US" sz="2400" b="1" kern="100" dirty="0">
                <a:solidFill>
                  <a:srgbClr val="014B88"/>
                </a:solidFill>
                <a:latin typeface="仿宋_GB2312"/>
                <a:cs typeface="Times New Roman" panose="02020603050405020304" pitchFamily="18" charset="0"/>
              </a:rPr>
              <a:t>个点</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使由它们生成的一个包含这</a:t>
            </a:r>
            <a:r>
              <a:rPr lang="en-US" altLang="zh-CN" sz="2400" b="1" kern="100" dirty="0">
                <a:solidFill>
                  <a:srgbClr val="014B88"/>
                </a:solidFill>
                <a:latin typeface="仿宋_GB2312"/>
                <a:cs typeface="Times New Roman" panose="02020603050405020304" pitchFamily="18" charset="0"/>
              </a:rPr>
              <a:t>4</a:t>
            </a:r>
            <a:r>
              <a:rPr lang="zh-CN" altLang="en-US" sz="2400" b="1" kern="100" dirty="0">
                <a:solidFill>
                  <a:srgbClr val="014B88"/>
                </a:solidFill>
                <a:latin typeface="仿宋_GB2312"/>
                <a:cs typeface="Times New Roman" panose="02020603050405020304" pitchFamily="18" charset="0"/>
              </a:rPr>
              <a:t>个点的圆为最小，这</a:t>
            </a:r>
            <a:r>
              <a:rPr lang="en-US" altLang="zh-CN" sz="2400" b="1" kern="100" dirty="0">
                <a:solidFill>
                  <a:srgbClr val="014B88"/>
                </a:solidFill>
                <a:latin typeface="仿宋_GB2312"/>
                <a:cs typeface="Times New Roman" panose="02020603050405020304" pitchFamily="18" charset="0"/>
              </a:rPr>
              <a:t>3 </a:t>
            </a:r>
            <a:r>
              <a:rPr lang="zh-CN" altLang="en-US" sz="2400" b="1" kern="100" dirty="0">
                <a:solidFill>
                  <a:srgbClr val="014B88"/>
                </a:solidFill>
                <a:latin typeface="仿宋_GB2312"/>
                <a:cs typeface="Times New Roman" panose="02020603050405020304" pitchFamily="18" charset="0"/>
              </a:rPr>
              <a:t>点成为新的</a:t>
            </a:r>
            <a:r>
              <a:rPr lang="en-US" altLang="zh-CN" sz="2400" b="1" kern="100" dirty="0">
                <a:solidFill>
                  <a:srgbClr val="014B88"/>
                </a:solidFill>
                <a:latin typeface="仿宋_GB2312"/>
                <a:cs typeface="Times New Roman" panose="02020603050405020304" pitchFamily="18" charset="0"/>
              </a:rPr>
              <a:t>A,B,C</a:t>
            </a:r>
            <a:r>
              <a:rPr lang="zh-CN" altLang="en-US" sz="2400" b="1" kern="100" dirty="0">
                <a:solidFill>
                  <a:srgbClr val="014B88"/>
                </a:solidFill>
                <a:latin typeface="仿宋_GB2312"/>
                <a:cs typeface="Times New Roman" panose="02020603050405020304" pitchFamily="18" charset="0"/>
              </a:rPr>
              <a:t>，返回执行第</a:t>
            </a:r>
            <a:r>
              <a:rPr lang="en-US" altLang="zh-CN" sz="2400" b="1" kern="100" dirty="0">
                <a:solidFill>
                  <a:srgbClr val="014B88"/>
                </a:solidFill>
                <a:latin typeface="仿宋_GB2312"/>
                <a:cs typeface="Times New Roman" panose="02020603050405020304" pitchFamily="18" charset="0"/>
              </a:rPr>
              <a:t>2</a:t>
            </a:r>
            <a:r>
              <a:rPr lang="zh-CN" altLang="en-US" sz="2400" b="1" kern="100" dirty="0">
                <a:solidFill>
                  <a:srgbClr val="014B88"/>
                </a:solidFill>
                <a:latin typeface="仿宋_GB2312"/>
                <a:cs typeface="Times New Roman" panose="02020603050405020304" pitchFamily="18" charset="0"/>
              </a:rPr>
              <a:t>步。若在第</a:t>
            </a:r>
            <a:r>
              <a:rPr lang="en-US" altLang="zh-CN" sz="2400" b="1" kern="100" dirty="0">
                <a:solidFill>
                  <a:srgbClr val="014B88"/>
                </a:solidFill>
                <a:latin typeface="仿宋_GB2312"/>
                <a:cs typeface="Times New Roman" panose="02020603050405020304" pitchFamily="18" charset="0"/>
              </a:rPr>
              <a:t>4</a:t>
            </a:r>
            <a:r>
              <a:rPr lang="zh-CN" altLang="en-US" sz="2400" b="1" kern="100" dirty="0">
                <a:solidFill>
                  <a:srgbClr val="014B88"/>
                </a:solidFill>
                <a:latin typeface="仿宋_GB2312"/>
                <a:cs typeface="Times New Roman" panose="02020603050405020304" pitchFamily="18" charset="0"/>
              </a:rPr>
              <a:t>步生成的圆的圆周只通过</a:t>
            </a:r>
            <a:r>
              <a:rPr lang="en-US" altLang="zh-CN" sz="2400" b="1" kern="100" dirty="0">
                <a:solidFill>
                  <a:srgbClr val="014B88"/>
                </a:solidFill>
                <a:latin typeface="仿宋_GB2312"/>
                <a:cs typeface="Times New Roman" panose="02020603050405020304" pitchFamily="18" charset="0"/>
              </a:rPr>
              <a:t>A,B,C,D </a:t>
            </a:r>
            <a:r>
              <a:rPr lang="zh-CN" altLang="en-US" sz="2400" b="1" kern="100" dirty="0">
                <a:solidFill>
                  <a:srgbClr val="014B88"/>
                </a:solidFill>
                <a:latin typeface="仿宋_GB2312"/>
                <a:cs typeface="Times New Roman" panose="02020603050405020304" pitchFamily="18" charset="0"/>
              </a:rPr>
              <a:t>中的两点，则圆周上的两点取成新的</a:t>
            </a:r>
            <a:r>
              <a:rPr lang="en-US" altLang="zh-CN" sz="2400" b="1" kern="100" dirty="0">
                <a:solidFill>
                  <a:srgbClr val="014B88"/>
                </a:solidFill>
                <a:latin typeface="仿宋_GB2312"/>
                <a:cs typeface="Times New Roman" panose="02020603050405020304" pitchFamily="18" charset="0"/>
              </a:rPr>
              <a:t>A</a:t>
            </a:r>
            <a:r>
              <a:rPr lang="zh-CN" altLang="en-US" sz="2400" b="1" kern="100" dirty="0">
                <a:solidFill>
                  <a:srgbClr val="014B88"/>
                </a:solidFill>
                <a:latin typeface="仿宋_GB2312"/>
                <a:cs typeface="Times New Roman" panose="02020603050405020304" pitchFamily="18" charset="0"/>
              </a:rPr>
              <a:t>和</a:t>
            </a:r>
            <a:r>
              <a:rPr lang="en-US" altLang="zh-CN" sz="2400" b="1" kern="100" dirty="0">
                <a:solidFill>
                  <a:srgbClr val="014B88"/>
                </a:solidFill>
                <a:latin typeface="仿宋_GB2312"/>
                <a:cs typeface="Times New Roman" panose="02020603050405020304" pitchFamily="18" charset="0"/>
              </a:rPr>
              <a:t>B,</a:t>
            </a:r>
            <a:r>
              <a:rPr lang="zh-CN" altLang="en-US" sz="2400" b="1" kern="100" dirty="0">
                <a:solidFill>
                  <a:srgbClr val="014B88"/>
                </a:solidFill>
                <a:latin typeface="仿宋_GB2312"/>
                <a:cs typeface="Times New Roman" panose="02020603050405020304" pitchFamily="18" charset="0"/>
              </a:rPr>
              <a:t>从另两点中任取一点作为新的</a:t>
            </a:r>
            <a:r>
              <a:rPr lang="en-US" altLang="zh-CN" sz="2400" b="1" kern="100" dirty="0">
                <a:solidFill>
                  <a:srgbClr val="014B88"/>
                </a:solidFill>
                <a:latin typeface="仿宋_GB2312"/>
                <a:cs typeface="Times New Roman" panose="02020603050405020304" pitchFamily="18" charset="0"/>
              </a:rPr>
              <a:t>C</a:t>
            </a:r>
            <a:endParaRPr lang="zh-CN" altLang="en-US" sz="2400" b="1" kern="100" dirty="0">
              <a:solidFill>
                <a:srgbClr val="014B88"/>
              </a:solidFill>
              <a:latin typeface="仿宋_GB2312"/>
              <a:cs typeface="Times New Roman" panose="02020603050405020304" pitchFamily="18" charset="0"/>
            </a:endParaRP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最小包围圆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79395" y="1253331"/>
            <a:ext cx="10963922" cy="4351337"/>
          </a:xfrm>
        </p:spPr>
        <p:txBody>
          <a:bodyPr>
            <a:normAutofit/>
          </a:bodyPr>
          <a:lstStyle/>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扫描线是计算几何中比较常用的一种方法</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扫描线方法：维护一个集合，使用一条直线或者射线从上到下，从左到右，或者旋转一周，遇到事件点时，对所维护的集合进行更新操作</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事件点：扫描线所触碰到的使得集合发生改变的点，比如线段的端点，线段与线段的交点，不同的问题需要定义不同的事件点</a:t>
            </a: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扫描线</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65212" y="1253331"/>
            <a:ext cx="7017844" cy="4351337"/>
          </a:xfrm>
        </p:spPr>
        <p:txBody>
          <a:bodyPr>
            <a:noAutofit/>
          </a:bodyPr>
          <a:lstStyle/>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题意：原子弹爆炸，一些互不相交的线段，求能辐射到的线段（可以将原子弹爆炸点视为泛光源）</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以辐射源为中心对周围的点按照极坐标角度进行排序，然后在极坐标上使用扫描线方法</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维护一个集合，集合内的元素是与扫描线相交的线段，排序依据是线段与扫描线的交点到辐射源的距离。该集合中的最小元素就是被照射到的线段</a:t>
            </a:r>
            <a:endParaRPr lang="en-US" altLang="zh-CN" sz="2400" b="1" kern="100" dirty="0">
              <a:solidFill>
                <a:srgbClr val="014B88"/>
              </a:solidFill>
              <a:latin typeface="仿宋_GB2312"/>
              <a:cs typeface="Times New Roman" panose="02020603050405020304" pitchFamily="18" charset="0"/>
            </a:endParaRPr>
          </a:p>
          <a:p>
            <a:pPr>
              <a:lnSpc>
                <a:spcPct val="15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可以使用</a:t>
            </a:r>
            <a:r>
              <a:rPr lang="en-US" altLang="zh-CN" sz="2400" b="1" kern="100" dirty="0">
                <a:solidFill>
                  <a:srgbClr val="014B88"/>
                </a:solidFill>
                <a:latin typeface="仿宋_GB2312"/>
                <a:cs typeface="Times New Roman" panose="02020603050405020304" pitchFamily="18" charset="0"/>
              </a:rPr>
              <a:t>SET</a:t>
            </a:r>
            <a:endParaRPr lang="zh-CN" altLang="en-US" sz="2400" b="1" kern="100" dirty="0">
              <a:solidFill>
                <a:srgbClr val="014B88"/>
              </a:solidFill>
              <a:latin typeface="仿宋_GB2312"/>
              <a:cs typeface="Times New Roman" panose="02020603050405020304" pitchFamily="18" charset="0"/>
            </a:endParaRPr>
          </a:p>
        </p:txBody>
      </p:sp>
      <p:pic>
        <p:nvPicPr>
          <p:cNvPr id="5939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9578" y="2246913"/>
            <a:ext cx="3817937" cy="195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扫描线</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559294" y="1393934"/>
            <a:ext cx="10515600" cy="4351337"/>
          </a:xfrm>
        </p:spPr>
        <p:txBody>
          <a:bodyPr>
            <a:normAutofit fontScale="25000" lnSpcReduction="20000"/>
          </a:bodyPr>
          <a:lstStyle/>
          <a:p>
            <a:pPr>
              <a:lnSpc>
                <a:spcPct val="170000"/>
              </a:lnSpc>
              <a:buFont typeface="Wingdings" panose="05000000000000000000" pitchFamily="2" charset="2"/>
              <a:buChar char="l"/>
              <a:defRPr/>
            </a:pPr>
            <a:r>
              <a:rPr lang="zh-CN" altLang="en-US" sz="9600" b="1" kern="100" dirty="0">
                <a:solidFill>
                  <a:srgbClr val="014B88"/>
                </a:solidFill>
                <a:latin typeface="仿宋_GB2312"/>
                <a:cs typeface="Times New Roman" panose="02020603050405020304" pitchFamily="18" charset="0"/>
              </a:rPr>
              <a:t>向量旋转</a:t>
            </a:r>
            <a:endParaRPr lang="en-US" altLang="zh-CN" sz="9600" b="1" kern="100" dirty="0">
              <a:solidFill>
                <a:srgbClr val="014B88"/>
              </a:solidFill>
              <a:latin typeface="仿宋_GB2312"/>
              <a:cs typeface="Times New Roman" panose="02020603050405020304" pitchFamily="18" charset="0"/>
            </a:endParaRPr>
          </a:p>
          <a:p>
            <a:pPr>
              <a:buFont typeface="Wingdings" panose="05000000000000000000" pitchFamily="2" charset="2"/>
              <a:buNone/>
              <a:defRPr/>
            </a:pPr>
            <a:r>
              <a:rPr lang="en-US" altLang="zh-CN" sz="11200" dirty="0"/>
              <a:t>	</a:t>
            </a:r>
            <a:r>
              <a:rPr lang="zh-CN" altLang="en-US" sz="9600" dirty="0"/>
              <a:t>将向量</a:t>
            </a:r>
            <a:r>
              <a:rPr lang="en-US" altLang="zh-CN" sz="9600" dirty="0"/>
              <a:t>(</a:t>
            </a:r>
            <a:r>
              <a:rPr lang="en-US" altLang="zh-CN" sz="9600" dirty="0" err="1"/>
              <a:t>x,y</a:t>
            </a:r>
            <a:r>
              <a:rPr lang="en-US" altLang="zh-CN" sz="9600" dirty="0"/>
              <a:t>)</a:t>
            </a:r>
            <a:r>
              <a:rPr lang="zh-CN" altLang="en-US" sz="9600" dirty="0"/>
              <a:t>逆时针旋转</a:t>
            </a:r>
            <a:r>
              <a:rPr lang="en-US" altLang="zh-CN" sz="9600" dirty="0"/>
              <a:t>d</a:t>
            </a:r>
            <a:r>
              <a:rPr lang="zh-CN" altLang="en-US" sz="9600" dirty="0"/>
              <a:t>弧度：</a:t>
            </a:r>
          </a:p>
          <a:p>
            <a:pPr>
              <a:buFont typeface="Wingdings" panose="05000000000000000000" pitchFamily="2" charset="2"/>
              <a:buNone/>
              <a:defRPr/>
            </a:pPr>
            <a:r>
              <a:rPr lang="en-US" altLang="zh-CN" sz="9600" dirty="0"/>
              <a:t>	X’ = x * cos(d) - y * sin(d);</a:t>
            </a:r>
          </a:p>
          <a:p>
            <a:pPr>
              <a:buFont typeface="Wingdings" panose="05000000000000000000" pitchFamily="2" charset="2"/>
              <a:buNone/>
              <a:defRPr/>
            </a:pPr>
            <a:r>
              <a:rPr lang="en-US" altLang="zh-CN" sz="9600" dirty="0"/>
              <a:t>	Y’ = x * sin(d) + y * cos(d); </a:t>
            </a:r>
          </a:p>
          <a:p>
            <a:pPr>
              <a:lnSpc>
                <a:spcPct val="170000"/>
              </a:lnSpc>
              <a:buFont typeface="Wingdings" panose="05000000000000000000" pitchFamily="2" charset="2"/>
              <a:buChar char="l"/>
              <a:defRPr/>
            </a:pPr>
            <a:r>
              <a:rPr lang="zh-CN" altLang="en-US" sz="9600" b="1" kern="100" dirty="0">
                <a:solidFill>
                  <a:srgbClr val="014B88"/>
                </a:solidFill>
                <a:latin typeface="仿宋_GB2312"/>
                <a:cs typeface="Times New Roman" panose="02020603050405020304" pitchFamily="18" charset="0"/>
              </a:rPr>
              <a:t>坐标系旋转</a:t>
            </a:r>
            <a:endParaRPr lang="en-US" altLang="zh-CN" sz="9600" b="1" kern="100" dirty="0">
              <a:solidFill>
                <a:srgbClr val="014B88"/>
              </a:solidFill>
              <a:latin typeface="仿宋_GB2312"/>
              <a:cs typeface="Times New Roman" panose="02020603050405020304" pitchFamily="18" charset="0"/>
            </a:endParaRPr>
          </a:p>
          <a:p>
            <a:pPr>
              <a:buFont typeface="Wingdings" panose="05000000000000000000" pitchFamily="2" charset="2"/>
              <a:buNone/>
              <a:defRPr/>
            </a:pPr>
            <a:r>
              <a:rPr lang="en-US" altLang="zh-CN" sz="9600" dirty="0"/>
              <a:t>	</a:t>
            </a:r>
            <a:r>
              <a:rPr lang="zh-CN" altLang="en-US" sz="8000" dirty="0"/>
              <a:t>将坐标系顺时针旋转</a:t>
            </a:r>
            <a:r>
              <a:rPr lang="en-US" altLang="zh-CN" sz="8000" dirty="0"/>
              <a:t>angle</a:t>
            </a:r>
            <a:r>
              <a:rPr lang="zh-CN" altLang="en-US" sz="8000" dirty="0"/>
              <a:t>角</a:t>
            </a:r>
            <a:endParaRPr lang="en-US" altLang="zh-CN" sz="8000" dirty="0"/>
          </a:p>
          <a:p>
            <a:pPr>
              <a:buFont typeface="Wingdings" panose="05000000000000000000" pitchFamily="2" charset="2"/>
              <a:buNone/>
              <a:defRPr/>
            </a:pPr>
            <a:r>
              <a:rPr lang="en-US" altLang="zh-CN" sz="8000" dirty="0"/>
              <a:t>	</a:t>
            </a:r>
            <a:r>
              <a:rPr lang="zh-CN" altLang="en-US" sz="8000" dirty="0"/>
              <a:t>原坐标：</a:t>
            </a:r>
            <a:r>
              <a:rPr lang="en-US" altLang="zh-CN" sz="8000" dirty="0"/>
              <a:t>(</a:t>
            </a:r>
            <a:r>
              <a:rPr lang="en-US" altLang="zh-CN" sz="8000" dirty="0" err="1"/>
              <a:t>x,y</a:t>
            </a:r>
            <a:r>
              <a:rPr lang="en-US" altLang="zh-CN" sz="8000" dirty="0"/>
              <a:t>)</a:t>
            </a:r>
          </a:p>
          <a:p>
            <a:pPr>
              <a:buFont typeface="Wingdings" panose="05000000000000000000" pitchFamily="2" charset="2"/>
              <a:buNone/>
              <a:defRPr/>
            </a:pPr>
            <a:r>
              <a:rPr lang="en-US" altLang="zh-CN" sz="8000" dirty="0"/>
              <a:t>	</a:t>
            </a:r>
            <a:r>
              <a:rPr lang="zh-CN" altLang="en-US" sz="8000" dirty="0"/>
              <a:t>旋转后的坐标：</a:t>
            </a:r>
            <a:endParaRPr lang="en-US" altLang="zh-CN" sz="8000" dirty="0"/>
          </a:p>
          <a:p>
            <a:pPr>
              <a:buFont typeface="Wingdings" panose="05000000000000000000" pitchFamily="2" charset="2"/>
              <a:buNone/>
              <a:defRPr/>
            </a:pPr>
            <a:r>
              <a:rPr lang="en-US" altLang="zh-CN" sz="8000" dirty="0"/>
              <a:t>	X’ = x*cos(angle) - y*sin(angle);</a:t>
            </a:r>
          </a:p>
          <a:p>
            <a:pPr>
              <a:buFont typeface="Wingdings" panose="05000000000000000000" pitchFamily="2" charset="2"/>
              <a:buNone/>
              <a:defRPr/>
            </a:pPr>
            <a:r>
              <a:rPr lang="en-US" altLang="zh-CN" sz="8000" dirty="0"/>
              <a:t> 	Y’ = x*sin(angle) + y*cos(angle);</a:t>
            </a:r>
          </a:p>
          <a:p>
            <a:pPr>
              <a:buFont typeface="Wingdings" panose="05000000000000000000" pitchFamily="2" charset="2"/>
              <a:buNone/>
              <a:defRPr/>
            </a:pPr>
            <a:endParaRPr lang="en-US" altLang="zh-CN" dirty="0"/>
          </a:p>
          <a:p>
            <a:pPr>
              <a:buFont typeface="Wingdings" panose="05000000000000000000" pitchFamily="2" charset="2"/>
              <a:buNone/>
              <a:defRPr/>
            </a:pPr>
            <a:r>
              <a:rPr lang="en-US" altLang="zh-CN" dirty="0"/>
              <a:t>	</a:t>
            </a:r>
          </a:p>
          <a:p>
            <a:pPr>
              <a:buFont typeface="Wingdings" panose="05000000000000000000" pitchFamily="2" charset="2"/>
              <a:buNone/>
              <a:defRPr/>
            </a:pPr>
            <a:r>
              <a:rPr lang="en-US" altLang="zh-CN" dirty="0"/>
              <a:t>	</a:t>
            </a:r>
            <a:endParaRPr lang="zh-CN" altLang="en-US" dirty="0"/>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杂项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1"/>
          <p:cNvSpPr>
            <a:spLocks noGrp="1"/>
          </p:cNvSpPr>
          <p:nvPr>
            <p:ph idx="4294967295"/>
          </p:nvPr>
        </p:nvSpPr>
        <p:spPr>
          <a:xfrm>
            <a:off x="531575" y="1051952"/>
            <a:ext cx="11487705" cy="4351337"/>
          </a:xfrm>
        </p:spPr>
        <p:txBody>
          <a:bodyPr>
            <a:noAutofit/>
          </a:bodyPr>
          <a:lstStyle/>
          <a:p>
            <a:pPr>
              <a:lnSpc>
                <a:spcPct val="100000"/>
              </a:lnSpc>
              <a:buFont typeface="Wingdings" panose="05000000000000000000" pitchFamily="2" charset="2"/>
              <a:buChar char="l"/>
              <a:defRPr/>
            </a:pPr>
            <a:r>
              <a:rPr lang="en-US" altLang="zh-CN" sz="2400" b="1" kern="100" dirty="0">
                <a:solidFill>
                  <a:srgbClr val="014B88"/>
                </a:solidFill>
                <a:latin typeface="仿宋_GB2312"/>
                <a:cs typeface="Times New Roman" panose="02020603050405020304" pitchFamily="18" charset="0"/>
              </a:rPr>
              <a:t>Pick</a:t>
            </a:r>
            <a:r>
              <a:rPr lang="zh-CN" altLang="en-US" sz="2400" b="1" kern="100" dirty="0">
                <a:solidFill>
                  <a:srgbClr val="014B88"/>
                </a:solidFill>
                <a:latin typeface="仿宋_GB2312"/>
                <a:cs typeface="Times New Roman" panose="02020603050405020304" pitchFamily="18" charset="0"/>
              </a:rPr>
              <a:t>定理</a:t>
            </a:r>
            <a:endParaRPr lang="en-US" altLang="zh-CN" sz="2400" b="1" kern="100" dirty="0">
              <a:solidFill>
                <a:srgbClr val="014B88"/>
              </a:solidFill>
              <a:latin typeface="仿宋_GB2312"/>
              <a:cs typeface="Times New Roman" panose="02020603050405020304" pitchFamily="18" charset="0"/>
            </a:endParaRPr>
          </a:p>
          <a:p>
            <a:pPr>
              <a:lnSpc>
                <a:spcPct val="100000"/>
              </a:lnSpc>
              <a:buFont typeface="Wingdings" panose="05000000000000000000" pitchFamily="2" charset="2"/>
              <a:buNone/>
            </a:pPr>
            <a:r>
              <a:rPr lang="en-US" altLang="zh-CN" sz="2400" dirty="0"/>
              <a:t>	</a:t>
            </a:r>
            <a:r>
              <a:rPr lang="zh-CN" altLang="en-US" sz="2000" dirty="0"/>
              <a:t>考虑顶点为整格点的多边形，设</a:t>
            </a:r>
          </a:p>
          <a:p>
            <a:pPr lvl="1">
              <a:lnSpc>
                <a:spcPct val="100000"/>
              </a:lnSpc>
            </a:pPr>
            <a:r>
              <a:rPr lang="en-US" altLang="zh-CN" sz="2000" dirty="0"/>
              <a:t>a</a:t>
            </a:r>
            <a:r>
              <a:rPr lang="zh-CN" altLang="en-US" sz="2000" dirty="0"/>
              <a:t>为多边形内部的格点数</a:t>
            </a:r>
            <a:endParaRPr lang="en-US" altLang="zh-CN" sz="2000" dirty="0"/>
          </a:p>
          <a:p>
            <a:pPr lvl="1">
              <a:lnSpc>
                <a:spcPct val="100000"/>
              </a:lnSpc>
            </a:pPr>
            <a:r>
              <a:rPr lang="en-US" altLang="zh-CN" sz="2000" dirty="0"/>
              <a:t>b</a:t>
            </a:r>
            <a:r>
              <a:rPr lang="zh-CN" altLang="en-US" sz="2000" dirty="0"/>
              <a:t>为多边形边界上的格点数</a:t>
            </a:r>
          </a:p>
          <a:p>
            <a:pPr lvl="1">
              <a:lnSpc>
                <a:spcPct val="100000"/>
              </a:lnSpc>
              <a:buFont typeface="Wingdings" panose="05000000000000000000" pitchFamily="2" charset="2"/>
              <a:buNone/>
            </a:pPr>
            <a:r>
              <a:rPr lang="zh-CN" altLang="en-US" sz="2000" dirty="0"/>
              <a:t>则有面积 </a:t>
            </a:r>
            <a:r>
              <a:rPr lang="en-US" altLang="zh-CN" sz="2000" dirty="0"/>
              <a:t>S = a + b/2 – 1  </a:t>
            </a:r>
          </a:p>
          <a:p>
            <a:pPr>
              <a:lnSpc>
                <a:spcPct val="10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海伦公式</a:t>
            </a:r>
          </a:p>
          <a:p>
            <a:pPr>
              <a:lnSpc>
                <a:spcPct val="100000"/>
              </a:lnSpc>
              <a:buFont typeface="Wingdings" panose="05000000000000000000" pitchFamily="2" charset="2"/>
              <a:buNone/>
            </a:pPr>
            <a:r>
              <a:rPr lang="zh-CN" altLang="en-US" sz="2400" dirty="0"/>
              <a:t>	</a:t>
            </a:r>
            <a:r>
              <a:rPr lang="zh-CN" altLang="en-US" sz="2000" dirty="0"/>
              <a:t>三角形面积</a:t>
            </a:r>
            <a:r>
              <a:rPr lang="en-US" altLang="zh-CN" sz="2000" dirty="0"/>
              <a:t>S=sqrt(p*(p-a)*(p-b)*(p-c))</a:t>
            </a:r>
          </a:p>
          <a:p>
            <a:pPr>
              <a:lnSpc>
                <a:spcPct val="100000"/>
              </a:lnSpc>
              <a:buFont typeface="Wingdings" panose="05000000000000000000" pitchFamily="2" charset="2"/>
              <a:buNone/>
            </a:pPr>
            <a:r>
              <a:rPr lang="en-US" altLang="zh-CN" sz="2000" dirty="0"/>
              <a:t>	</a:t>
            </a:r>
            <a:r>
              <a:rPr lang="zh-CN" altLang="en-US" sz="2000" dirty="0"/>
              <a:t>其中</a:t>
            </a:r>
            <a:r>
              <a:rPr lang="en-US" altLang="zh-CN" sz="2000" dirty="0"/>
              <a:t>p=(</a:t>
            </a:r>
            <a:r>
              <a:rPr lang="en-US" altLang="zh-CN" sz="2000" dirty="0" err="1"/>
              <a:t>a+b+c</a:t>
            </a:r>
            <a:r>
              <a:rPr lang="en-US" altLang="zh-CN" sz="2000" dirty="0"/>
              <a:t>)/2</a:t>
            </a:r>
          </a:p>
          <a:p>
            <a:pPr>
              <a:lnSpc>
                <a:spcPct val="100000"/>
              </a:lnSpc>
              <a:buFont typeface="Wingdings" panose="05000000000000000000" pitchFamily="2" charset="2"/>
              <a:buNone/>
            </a:pPr>
            <a:r>
              <a:rPr lang="en-US" altLang="zh-CN" sz="2000" dirty="0"/>
              <a:t>	a b c</a:t>
            </a:r>
            <a:r>
              <a:rPr lang="zh-CN" altLang="en-US" sz="2000" dirty="0"/>
              <a:t>为三角形三条边的长度</a:t>
            </a:r>
            <a:endParaRPr lang="en-US" altLang="zh-CN" sz="2000" dirty="0"/>
          </a:p>
          <a:p>
            <a:pPr>
              <a:lnSpc>
                <a:spcPct val="10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三角形内切圆半径</a:t>
            </a:r>
            <a:r>
              <a:rPr lang="en-US" altLang="zh-CN" sz="2400" b="1" kern="100" dirty="0">
                <a:solidFill>
                  <a:srgbClr val="014B88"/>
                </a:solidFill>
                <a:latin typeface="仿宋_GB2312"/>
                <a:cs typeface="Times New Roman" panose="02020603050405020304" pitchFamily="18" charset="0"/>
              </a:rPr>
              <a:t>r = 2S/(</a:t>
            </a:r>
            <a:r>
              <a:rPr lang="en-US" altLang="zh-CN" sz="2400" b="1" kern="100" dirty="0" err="1">
                <a:solidFill>
                  <a:srgbClr val="014B88"/>
                </a:solidFill>
                <a:latin typeface="仿宋_GB2312"/>
                <a:cs typeface="Times New Roman" panose="02020603050405020304" pitchFamily="18" charset="0"/>
              </a:rPr>
              <a:t>a+b+c</a:t>
            </a:r>
            <a:r>
              <a:rPr lang="en-US" altLang="zh-CN" sz="2400" b="1" kern="100" dirty="0">
                <a:solidFill>
                  <a:srgbClr val="014B88"/>
                </a:solidFill>
                <a:latin typeface="仿宋_GB2312"/>
                <a:cs typeface="Times New Roman" panose="02020603050405020304" pitchFamily="18" charset="0"/>
              </a:rPr>
              <a:t>)</a:t>
            </a:r>
          </a:p>
          <a:p>
            <a:pPr>
              <a:lnSpc>
                <a:spcPct val="10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三角形外接圆半径</a:t>
            </a:r>
            <a:r>
              <a:rPr lang="en-US" altLang="zh-CN" sz="2400" b="1" kern="100" dirty="0">
                <a:solidFill>
                  <a:srgbClr val="014B88"/>
                </a:solidFill>
                <a:latin typeface="仿宋_GB2312"/>
                <a:cs typeface="Times New Roman" panose="02020603050405020304" pitchFamily="18" charset="0"/>
              </a:rPr>
              <a:t>r = a*b*c/(4S)</a:t>
            </a:r>
          </a:p>
          <a:p>
            <a:pPr>
              <a:lnSpc>
                <a:spcPct val="100000"/>
              </a:lnSpc>
              <a:buFont typeface="Wingdings" panose="05000000000000000000" pitchFamily="2" charset="2"/>
              <a:buChar char="l"/>
              <a:defRPr/>
            </a:pPr>
            <a:r>
              <a:rPr lang="zh-CN" altLang="en-US" sz="2400" b="1" kern="100" dirty="0">
                <a:solidFill>
                  <a:srgbClr val="014B88"/>
                </a:solidFill>
                <a:latin typeface="仿宋_GB2312"/>
                <a:cs typeface="Times New Roman" panose="02020603050405020304" pitchFamily="18" charset="0"/>
              </a:rPr>
              <a:t>各种面积、体积公式</a:t>
            </a:r>
          </a:p>
        </p:txBody>
      </p:sp>
      <p:sp>
        <p:nvSpPr>
          <p:cNvPr id="4"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杂项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6146" name="Picture 2" descr="https://bkimg.cdn.bcebos.com/pic/574e9258d109b3dedfdab26accbf6c81800a4c4e?x-bce-process=image/resize,m_lfit,w_268,limit_1/format,f_au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7040" y="2047025"/>
            <a:ext cx="4375130" cy="33562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4294967295"/>
          </p:nvPr>
        </p:nvSpPr>
        <p:spPr>
          <a:xfrm>
            <a:off x="568171" y="972053"/>
            <a:ext cx="10515600" cy="4351337"/>
          </a:xfrm>
        </p:spPr>
        <p:txBody>
          <a:bodyPr/>
          <a:lstStyle/>
          <a:p>
            <a:pPr marL="342900" indent="-342900" algn="just">
              <a:lnSpc>
                <a:spcPct val="150000"/>
              </a:lnSpc>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多边形重心</a:t>
            </a:r>
            <a:endParaRPr lang="en-US" altLang="zh-CN" b="1" kern="100" dirty="0">
              <a:solidFill>
                <a:srgbClr val="014B88"/>
              </a:solidFill>
              <a:latin typeface="仿宋_GB2312"/>
              <a:cs typeface="Times New Roman" panose="02020603050405020304" pitchFamily="18" charset="0"/>
            </a:endParaRPr>
          </a:p>
          <a:p>
            <a:pPr marL="342900" indent="-342900" algn="just">
              <a:lnSpc>
                <a:spcPct val="150000"/>
              </a:lnSpc>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剖分成小的三角形</a:t>
            </a:r>
            <a:r>
              <a:rPr lang="en-US" altLang="zh-CN" b="1" kern="100" dirty="0">
                <a:solidFill>
                  <a:srgbClr val="014B88"/>
                </a:solidFill>
                <a:latin typeface="仿宋_GB2312"/>
                <a:cs typeface="Times New Roman" panose="02020603050405020304" pitchFamily="18" charset="0"/>
              </a:rPr>
              <a:t>(</a:t>
            </a:r>
            <a:r>
              <a:rPr lang="zh-CN" altLang="en-US" b="1" kern="100" dirty="0">
                <a:solidFill>
                  <a:srgbClr val="014B88"/>
                </a:solidFill>
                <a:latin typeface="仿宋_GB2312"/>
                <a:cs typeface="Times New Roman" panose="02020603050405020304" pitchFamily="18" charset="0"/>
              </a:rPr>
              <a:t>带符号</a:t>
            </a:r>
            <a:r>
              <a:rPr lang="en-US" altLang="zh-CN" b="1" kern="100" dirty="0">
                <a:solidFill>
                  <a:srgbClr val="014B88"/>
                </a:solidFill>
                <a:latin typeface="仿宋_GB2312"/>
                <a:cs typeface="Times New Roman" panose="02020603050405020304" pitchFamily="18" charset="0"/>
              </a:rPr>
              <a:t>)</a:t>
            </a:r>
            <a:r>
              <a:rPr lang="zh-CN" altLang="en-US" b="1" kern="100" dirty="0">
                <a:solidFill>
                  <a:srgbClr val="014B88"/>
                </a:solidFill>
                <a:latin typeface="仿宋_GB2312"/>
                <a:cs typeface="Times New Roman" panose="02020603050405020304" pitchFamily="18" charset="0"/>
              </a:rPr>
              <a:t>，把每个小三角形的重心看作质点，按有向面积加权平均</a:t>
            </a:r>
          </a:p>
          <a:p>
            <a:pPr marL="342900" indent="-342900" algn="just">
              <a:lnSpc>
                <a:spcPct val="150000"/>
              </a:lnSpc>
              <a:buFont typeface="Wingdings" panose="05000000000000000000" pitchFamily="2" charset="2"/>
              <a:buChar char="l"/>
              <a:defRPr/>
            </a:pPr>
            <a:r>
              <a:rPr lang="zh-CN" altLang="en-US" b="1" kern="100" dirty="0">
                <a:solidFill>
                  <a:srgbClr val="014B88"/>
                </a:solidFill>
                <a:latin typeface="仿宋_GB2312"/>
                <a:cs typeface="Times New Roman" panose="02020603050405020304" pitchFamily="18" charset="0"/>
              </a:rPr>
              <a:t>设多边形总面积为</a:t>
            </a:r>
            <a:r>
              <a:rPr lang="en-US" altLang="zh-CN" b="1" kern="100" dirty="0">
                <a:solidFill>
                  <a:srgbClr val="014B88"/>
                </a:solidFill>
                <a:latin typeface="仿宋_GB2312"/>
                <a:cs typeface="Times New Roman" panose="02020603050405020304" pitchFamily="18" charset="0"/>
              </a:rPr>
              <a:t>A,</a:t>
            </a:r>
            <a:r>
              <a:rPr lang="zh-CN" altLang="en-US" b="1" kern="100" dirty="0">
                <a:solidFill>
                  <a:srgbClr val="014B88"/>
                </a:solidFill>
                <a:latin typeface="仿宋_GB2312"/>
                <a:cs typeface="Times New Roman" panose="02020603050405020304" pitchFamily="18" charset="0"/>
              </a:rPr>
              <a:t>每个小三角形为</a:t>
            </a:r>
            <a:r>
              <a:rPr lang="en-US" altLang="zh-CN" b="1" kern="100" dirty="0">
                <a:solidFill>
                  <a:srgbClr val="014B88"/>
                </a:solidFill>
                <a:latin typeface="仿宋_GB2312"/>
                <a:cs typeface="Times New Roman" panose="02020603050405020304" pitchFamily="18" charset="0"/>
              </a:rPr>
              <a:t>Ai</a:t>
            </a:r>
          </a:p>
          <a:p>
            <a:endParaRPr lang="en-US" altLang="zh-CN" dirty="0"/>
          </a:p>
          <a:p>
            <a:pPr>
              <a:buFont typeface="Wingdings" panose="05000000000000000000" pitchFamily="2" charset="2"/>
              <a:buNone/>
            </a:pPr>
            <a:endParaRPr lang="zh-CN" altLang="en-US" dirty="0"/>
          </a:p>
        </p:txBody>
      </p:sp>
      <p:graphicFrame>
        <p:nvGraphicFramePr>
          <p:cNvPr id="56322" name="Object 2"/>
          <p:cNvGraphicFramePr>
            <a:graphicFrameLocks noChangeAspect="1"/>
          </p:cNvGraphicFramePr>
          <p:nvPr/>
        </p:nvGraphicFramePr>
        <p:xfrm>
          <a:off x="3394136" y="4220361"/>
          <a:ext cx="5105400" cy="944562"/>
        </p:xfrm>
        <a:graphic>
          <a:graphicData uri="http://schemas.openxmlformats.org/presentationml/2006/ole">
            <mc:AlternateContent xmlns:mc="http://schemas.openxmlformats.org/markup-compatibility/2006">
              <mc:Choice xmlns:v="urn:schemas-microsoft-com:vml" Requires="v">
                <p:oleObj spid="_x0000_s24590" name="公式" r:id="rId3" imgW="2540000" imgH="469900" progId="Equation.3">
                  <p:embed/>
                </p:oleObj>
              </mc:Choice>
              <mc:Fallback>
                <p:oleObj name="公式" r:id="rId3" imgW="2540000" imgH="469900" progId="Equation.3">
                  <p:embed/>
                  <p:pic>
                    <p:nvPicPr>
                      <p:cNvPr id="563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4136" y="4220361"/>
                        <a:ext cx="5105400"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3" name="Object 3"/>
          <p:cNvGraphicFramePr>
            <a:graphicFrameLocks noChangeAspect="1"/>
          </p:cNvGraphicFramePr>
          <p:nvPr/>
        </p:nvGraphicFramePr>
        <p:xfrm>
          <a:off x="3935674" y="5454343"/>
          <a:ext cx="4191000" cy="1041400"/>
        </p:xfrm>
        <a:graphic>
          <a:graphicData uri="http://schemas.openxmlformats.org/presentationml/2006/ole">
            <mc:AlternateContent xmlns:mc="http://schemas.openxmlformats.org/markup-compatibility/2006">
              <mc:Choice xmlns:v="urn:schemas-microsoft-com:vml" Requires="v">
                <p:oleObj spid="_x0000_s24591" name="公式" r:id="rId5" imgW="1943100" imgH="482600" progId="Equation.3">
                  <p:embed/>
                </p:oleObj>
              </mc:Choice>
              <mc:Fallback>
                <p:oleObj name="公式" r:id="rId5" imgW="1943100" imgH="482600" progId="Equation.3">
                  <p:embed/>
                  <p:pic>
                    <p:nvPicPr>
                      <p:cNvPr id="5632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5674" y="5454343"/>
                        <a:ext cx="41910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杂项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blinds(horizontal)">
                                      <p:cBhvr>
                                        <p:cTn id="7" dur="500"/>
                                        <p:tgtEl>
                                          <p:spTgt spid="5632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6323"/>
                                        </p:tgtEl>
                                        <p:attrNameLst>
                                          <p:attrName>style.visibility</p:attrName>
                                        </p:attrNameLst>
                                      </p:cBhvr>
                                      <p:to>
                                        <p:strVal val="visible"/>
                                      </p:to>
                                    </p:set>
                                    <p:animEffect transition="in" filter="checkerboard(across)">
                                      <p:cBhvr>
                                        <p:cTn id="12" dur="500"/>
                                        <p:tgtEl>
                                          <p:spTgt spid="56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639" y="283033"/>
            <a:ext cx="5934903" cy="5830114"/>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3871" y="254454"/>
            <a:ext cx="6201640" cy="5887272"/>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505" y="0"/>
            <a:ext cx="7686261" cy="6858000"/>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404" y="639448"/>
            <a:ext cx="8545118" cy="2438740"/>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2892" y="3078188"/>
            <a:ext cx="9221487" cy="3419952"/>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409" y="634638"/>
            <a:ext cx="10097909" cy="5182323"/>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4256" y="528232"/>
            <a:ext cx="9583487" cy="5801535"/>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4862" y="287058"/>
            <a:ext cx="8602275" cy="1924319"/>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4862" y="2065904"/>
            <a:ext cx="7983064" cy="1209844"/>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0094" y="0"/>
            <a:ext cx="8709399" cy="68580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57018" y="0"/>
            <a:ext cx="6419273" cy="6858000"/>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3418" y="0"/>
            <a:ext cx="6548582" cy="68580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1835" y="1085523"/>
            <a:ext cx="9888330" cy="4686954"/>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r="41284"/>
          <a:stretch>
            <a:fillRect/>
          </a:stretch>
        </p:blipFill>
        <p:spPr>
          <a:xfrm>
            <a:off x="230910" y="1385602"/>
            <a:ext cx="4414980" cy="4086795"/>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9636" y="0"/>
            <a:ext cx="7712364" cy="68580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440" y="704470"/>
            <a:ext cx="10355120" cy="544906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11889</Words>
  <Application>Microsoft Office PowerPoint</Application>
  <PresentationFormat>宽屏</PresentationFormat>
  <Paragraphs>1082</Paragraphs>
  <Slides>151</Slides>
  <Notes>16</Notes>
  <HiddenSlides>0</HiddenSlides>
  <MMClips>0</MMClips>
  <ScaleCrop>false</ScaleCrop>
  <HeadingPairs>
    <vt:vector size="8" baseType="variant">
      <vt:variant>
        <vt:lpstr>已用的字体</vt:lpstr>
      </vt:variant>
      <vt:variant>
        <vt:i4>20</vt:i4>
      </vt:variant>
      <vt:variant>
        <vt:lpstr>主题</vt:lpstr>
      </vt:variant>
      <vt:variant>
        <vt:i4>3</vt:i4>
      </vt:variant>
      <vt:variant>
        <vt:lpstr>嵌入 OLE 服务器</vt:lpstr>
      </vt:variant>
      <vt:variant>
        <vt:i4>2</vt:i4>
      </vt:variant>
      <vt:variant>
        <vt:lpstr>幻灯片标题</vt:lpstr>
      </vt:variant>
      <vt:variant>
        <vt:i4>151</vt:i4>
      </vt:variant>
    </vt:vector>
  </HeadingPairs>
  <TitlesOfParts>
    <vt:vector size="176" baseType="lpstr">
      <vt:lpstr>Gungsuh</vt:lpstr>
      <vt:lpstr>UbuntuMono</vt:lpstr>
      <vt:lpstr>等线</vt:lpstr>
      <vt:lpstr>等线 Light</vt:lpstr>
      <vt:lpstr>仿宋_GB2312</vt:lpstr>
      <vt:lpstr>黑体</vt:lpstr>
      <vt:lpstr>华文细黑</vt:lpstr>
      <vt:lpstr>华文中宋</vt:lpstr>
      <vt:lpstr>楷体_GB2312</vt:lpstr>
      <vt:lpstr>宋体</vt:lpstr>
      <vt:lpstr>微软雅黑</vt:lpstr>
      <vt:lpstr>Arial</vt:lpstr>
      <vt:lpstr>Book Antiqua</vt:lpstr>
      <vt:lpstr>Calibri</vt:lpstr>
      <vt:lpstr>Cambria Math</vt:lpstr>
      <vt:lpstr>Consolas</vt:lpstr>
      <vt:lpstr>Lucida Fax</vt:lpstr>
      <vt:lpstr>Symbol</vt:lpstr>
      <vt:lpstr>Times New Roman</vt:lpstr>
      <vt:lpstr>Wingdings</vt:lpstr>
      <vt:lpstr>Office 主题​​</vt:lpstr>
      <vt:lpstr>2_Office 主题​​</vt:lpstr>
      <vt:lpstr>WPS</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特例：</vt:lpstr>
      <vt:lpstr>母函数定义：</vt:lpstr>
      <vt:lpstr>例1：若有1克、2克、3克、4克的砝码各一 枚，能称出哪几种重量？各有几种可能方案？ </vt:lpstr>
      <vt:lpstr>几种砝码的组合可以称重的情况，可以用以上几个函数的乘积表示：</vt:lpstr>
      <vt:lpstr>例2：求用1分、2分、3分的邮票贴出不同数值的方案数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zmk</dc:creator>
  <cp:lastModifiedBy>zmk</cp:lastModifiedBy>
  <cp:revision>73</cp:revision>
  <dcterms:created xsi:type="dcterms:W3CDTF">2023-08-09T12:44:00Z</dcterms:created>
  <dcterms:modified xsi:type="dcterms:W3CDTF">2026-05-08T09:36:54Z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9C9A9BA14E3C413E97014FBA08E950EF_12</vt:lpwstr>
  </property>
</Properties>
</file>