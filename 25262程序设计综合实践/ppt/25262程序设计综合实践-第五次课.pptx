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png" ContentType="image/png"/>
  <Default Extension="emf" ContentType="image/x-emf"/>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2" r:id="rId3"/>
  </p:sldMasterIdLst>
  <p:notesMasterIdLst>
    <p:notesMasterId r:id="rId5"/>
  </p:notesMasterIdLst>
  <p:sldIdLst>
    <p:sldId id="514" r:id="rId4"/>
    <p:sldId id="1734" r:id="rId6"/>
    <p:sldId id="2380" r:id="rId7"/>
    <p:sldId id="974" r:id="rId8"/>
    <p:sldId id="2398" r:id="rId9"/>
    <p:sldId id="2381" r:id="rId10"/>
    <p:sldId id="2382" r:id="rId11"/>
    <p:sldId id="2383" r:id="rId12"/>
    <p:sldId id="2384" r:id="rId13"/>
    <p:sldId id="288" r:id="rId14"/>
    <p:sldId id="289" r:id="rId15"/>
    <p:sldId id="265" r:id="rId16"/>
    <p:sldId id="266" r:id="rId17"/>
    <p:sldId id="2393" r:id="rId18"/>
    <p:sldId id="290" r:id="rId19"/>
    <p:sldId id="291" r:id="rId20"/>
    <p:sldId id="292" r:id="rId21"/>
    <p:sldId id="293" r:id="rId22"/>
    <p:sldId id="294" r:id="rId23"/>
    <p:sldId id="295" r:id="rId24"/>
    <p:sldId id="296" r:id="rId25"/>
    <p:sldId id="297" r:id="rId26"/>
    <p:sldId id="298" r:id="rId27"/>
    <p:sldId id="2394" r:id="rId28"/>
    <p:sldId id="300" r:id="rId29"/>
    <p:sldId id="301" r:id="rId30"/>
    <p:sldId id="302" r:id="rId31"/>
    <p:sldId id="303" r:id="rId32"/>
    <p:sldId id="304" r:id="rId33"/>
    <p:sldId id="305" r:id="rId34"/>
    <p:sldId id="1000" r:id="rId35"/>
    <p:sldId id="993" r:id="rId36"/>
    <p:sldId id="994" r:id="rId37"/>
    <p:sldId id="1732" r:id="rId38"/>
    <p:sldId id="1733" r:id="rId39"/>
    <p:sldId id="1731" r:id="rId40"/>
    <p:sldId id="995" r:id="rId41"/>
    <p:sldId id="996" r:id="rId42"/>
    <p:sldId id="997" r:id="rId43"/>
    <p:sldId id="998" r:id="rId44"/>
    <p:sldId id="999" r:id="rId45"/>
    <p:sldId id="316" r:id="rId46"/>
    <p:sldId id="317" r:id="rId47"/>
    <p:sldId id="318" r:id="rId48"/>
    <p:sldId id="331" r:id="rId49"/>
    <p:sldId id="313" r:id="rId50"/>
    <p:sldId id="2395" r:id="rId51"/>
    <p:sldId id="264" r:id="rId52"/>
    <p:sldId id="975" r:id="rId53"/>
    <p:sldId id="268" r:id="rId54"/>
    <p:sldId id="269" r:id="rId55"/>
    <p:sldId id="270" r:id="rId56"/>
    <p:sldId id="271" r:id="rId57"/>
    <p:sldId id="272" r:id="rId58"/>
    <p:sldId id="2396" r:id="rId59"/>
    <p:sldId id="274" r:id="rId60"/>
    <p:sldId id="275" r:id="rId61"/>
    <p:sldId id="276" r:id="rId62"/>
    <p:sldId id="277" r:id="rId63"/>
    <p:sldId id="278" r:id="rId64"/>
    <p:sldId id="279" r:id="rId65"/>
    <p:sldId id="280" r:id="rId66"/>
    <p:sldId id="281" r:id="rId67"/>
    <p:sldId id="282" r:id="rId68"/>
    <p:sldId id="283" r:id="rId69"/>
    <p:sldId id="284" r:id="rId70"/>
    <p:sldId id="285" r:id="rId71"/>
    <p:sldId id="286" r:id="rId72"/>
    <p:sldId id="287" r:id="rId73"/>
    <p:sldId id="976" r:id="rId74"/>
    <p:sldId id="977" r:id="rId75"/>
    <p:sldId id="978" r:id="rId76"/>
    <p:sldId id="979" r:id="rId77"/>
    <p:sldId id="980" r:id="rId78"/>
    <p:sldId id="981" r:id="rId79"/>
    <p:sldId id="982" r:id="rId80"/>
    <p:sldId id="983" r:id="rId81"/>
    <p:sldId id="984" r:id="rId82"/>
    <p:sldId id="985" r:id="rId83"/>
    <p:sldId id="986" r:id="rId84"/>
    <p:sldId id="987" r:id="rId85"/>
    <p:sldId id="988" r:id="rId86"/>
    <p:sldId id="989" r:id="rId87"/>
    <p:sldId id="990" r:id="rId88"/>
    <p:sldId id="312" r:id="rId89"/>
    <p:sldId id="314" r:id="rId90"/>
    <p:sldId id="308" r:id="rId91"/>
    <p:sldId id="310" r:id="rId92"/>
    <p:sldId id="991" r:id="rId93"/>
    <p:sldId id="307" r:id="rId94"/>
    <p:sldId id="972" r:id="rId95"/>
    <p:sldId id="973" r:id="rId96"/>
    <p:sldId id="309" r:id="rId97"/>
    <p:sldId id="992" r:id="rId98"/>
    <p:sldId id="1730" r:id="rId99"/>
    <p:sldId id="306" r:id="rId100"/>
    <p:sldId id="321" r:id="rId101"/>
    <p:sldId id="322" r:id="rId102"/>
    <p:sldId id="323" r:id="rId103"/>
    <p:sldId id="2397" r:id="rId104"/>
    <p:sldId id="327" r:id="rId105"/>
    <p:sldId id="328" r:id="rId106"/>
    <p:sldId id="329" r:id="rId10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660"/>
  </p:normalViewPr>
  <p:slideViewPr>
    <p:cSldViewPr snapToGrid="0">
      <p:cViewPr varScale="1">
        <p:scale>
          <a:sx n="77" d="100"/>
          <a:sy n="77" d="100"/>
        </p:scale>
        <p:origin x="232"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5.xml"/><Relationship Id="rId98" Type="http://schemas.openxmlformats.org/officeDocument/2006/relationships/slide" Target="slides/slide94.xml"/><Relationship Id="rId97" Type="http://schemas.openxmlformats.org/officeDocument/2006/relationships/slide" Target="slides/slide93.xml"/><Relationship Id="rId96" Type="http://schemas.openxmlformats.org/officeDocument/2006/relationships/slide" Target="slides/slide92.xml"/><Relationship Id="rId95" Type="http://schemas.openxmlformats.org/officeDocument/2006/relationships/slide" Target="slides/slide91.xml"/><Relationship Id="rId94" Type="http://schemas.openxmlformats.org/officeDocument/2006/relationships/slide" Target="slides/slide90.xml"/><Relationship Id="rId93" Type="http://schemas.openxmlformats.org/officeDocument/2006/relationships/slide" Target="slides/slide89.xml"/><Relationship Id="rId92" Type="http://schemas.openxmlformats.org/officeDocument/2006/relationships/slide" Target="slides/slide88.xml"/><Relationship Id="rId91" Type="http://schemas.openxmlformats.org/officeDocument/2006/relationships/slide" Target="slides/slide87.xml"/><Relationship Id="rId90" Type="http://schemas.openxmlformats.org/officeDocument/2006/relationships/slide" Target="slides/slide86.xml"/><Relationship Id="rId9" Type="http://schemas.openxmlformats.org/officeDocument/2006/relationships/slide" Target="slides/slide5.xml"/><Relationship Id="rId89" Type="http://schemas.openxmlformats.org/officeDocument/2006/relationships/slide" Target="slides/slide85.xml"/><Relationship Id="rId88" Type="http://schemas.openxmlformats.org/officeDocument/2006/relationships/slide" Target="slides/slide84.xml"/><Relationship Id="rId87" Type="http://schemas.openxmlformats.org/officeDocument/2006/relationships/slide" Target="slides/slide83.xml"/><Relationship Id="rId86" Type="http://schemas.openxmlformats.org/officeDocument/2006/relationships/slide" Target="slides/slide82.xml"/><Relationship Id="rId85" Type="http://schemas.openxmlformats.org/officeDocument/2006/relationships/slide" Target="slides/slide81.xml"/><Relationship Id="rId84" Type="http://schemas.openxmlformats.org/officeDocument/2006/relationships/slide" Target="slides/slide80.xml"/><Relationship Id="rId83" Type="http://schemas.openxmlformats.org/officeDocument/2006/relationships/slide" Target="slides/slide79.xml"/><Relationship Id="rId82" Type="http://schemas.openxmlformats.org/officeDocument/2006/relationships/slide" Target="slides/slide78.xml"/><Relationship Id="rId81" Type="http://schemas.openxmlformats.org/officeDocument/2006/relationships/slide" Target="slides/slide77.xml"/><Relationship Id="rId80" Type="http://schemas.openxmlformats.org/officeDocument/2006/relationships/slide" Target="slides/slide76.xml"/><Relationship Id="rId8" Type="http://schemas.openxmlformats.org/officeDocument/2006/relationships/slide" Target="slides/slide4.xml"/><Relationship Id="rId79" Type="http://schemas.openxmlformats.org/officeDocument/2006/relationships/slide" Target="slides/slide75.xml"/><Relationship Id="rId78" Type="http://schemas.openxmlformats.org/officeDocument/2006/relationships/slide" Target="slides/slide74.xml"/><Relationship Id="rId77" Type="http://schemas.openxmlformats.org/officeDocument/2006/relationships/slide" Target="slides/slide73.xml"/><Relationship Id="rId76" Type="http://schemas.openxmlformats.org/officeDocument/2006/relationships/slide" Target="slides/slide72.xml"/><Relationship Id="rId75" Type="http://schemas.openxmlformats.org/officeDocument/2006/relationships/slide" Target="slides/slide71.xml"/><Relationship Id="rId74" Type="http://schemas.openxmlformats.org/officeDocument/2006/relationships/slide" Target="slides/slide70.xml"/><Relationship Id="rId73" Type="http://schemas.openxmlformats.org/officeDocument/2006/relationships/slide" Target="slides/slide69.xml"/><Relationship Id="rId72" Type="http://schemas.openxmlformats.org/officeDocument/2006/relationships/slide" Target="slides/slide68.xml"/><Relationship Id="rId71" Type="http://schemas.openxmlformats.org/officeDocument/2006/relationships/slide" Target="slides/slide67.xml"/><Relationship Id="rId70" Type="http://schemas.openxmlformats.org/officeDocument/2006/relationships/slide" Target="slides/slide66.xml"/><Relationship Id="rId7" Type="http://schemas.openxmlformats.org/officeDocument/2006/relationships/slide" Target="slides/slide3.xml"/><Relationship Id="rId69" Type="http://schemas.openxmlformats.org/officeDocument/2006/relationships/slide" Target="slides/slide65.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slide" Target="slides/slide2.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notesMaster" Target="notesMasters/notesMaster1.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0" Type="http://schemas.openxmlformats.org/officeDocument/2006/relationships/tableStyles" Target="tableStyles.xml"/><Relationship Id="rId11" Type="http://schemas.openxmlformats.org/officeDocument/2006/relationships/slide" Target="slides/slide7.xml"/><Relationship Id="rId109" Type="http://schemas.openxmlformats.org/officeDocument/2006/relationships/viewProps" Target="viewProps.xml"/><Relationship Id="rId108" Type="http://schemas.openxmlformats.org/officeDocument/2006/relationships/presProps" Target="presProps.xml"/><Relationship Id="rId107" Type="http://schemas.openxmlformats.org/officeDocument/2006/relationships/slide" Target="slides/slide103.xml"/><Relationship Id="rId106" Type="http://schemas.openxmlformats.org/officeDocument/2006/relationships/slide" Target="slides/slide102.xml"/><Relationship Id="rId105" Type="http://schemas.openxmlformats.org/officeDocument/2006/relationships/slide" Target="slides/slide101.xml"/><Relationship Id="rId104" Type="http://schemas.openxmlformats.org/officeDocument/2006/relationships/slide" Target="slides/slide100.xml"/><Relationship Id="rId103" Type="http://schemas.openxmlformats.org/officeDocument/2006/relationships/slide" Target="slides/slide99.xml"/><Relationship Id="rId102" Type="http://schemas.openxmlformats.org/officeDocument/2006/relationships/slide" Target="slides/slide98.xml"/><Relationship Id="rId101" Type="http://schemas.openxmlformats.org/officeDocument/2006/relationships/slide" Target="slides/slide97.xml"/><Relationship Id="rId100" Type="http://schemas.openxmlformats.org/officeDocument/2006/relationships/slide" Target="slides/slide96.xml"/><Relationship Id="rId10" Type="http://schemas.openxmlformats.org/officeDocument/2006/relationships/slide" Target="slides/slide6.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AD226CC-D057-4076-973D-28E1C9E2EB25}"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EDC9969-7BFD-472B-BE30-5B3FAF9D0D4D}"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8.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A718BCC-8E0E-4014-A15C-131A86B0AD65}"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A718BCC-8E0E-4014-A15C-131A86B0AD65}"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3A718BCC-8E0E-4014-A15C-131A86B0AD65}"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PlaceHolder 1"/>
          <p:cNvSpPr>
            <a:spLocks noGrp="1"/>
          </p:cNvSpPr>
          <p:nvPr>
            <p:ph type="body"/>
          </p:nvPr>
        </p:nvSpPr>
        <p:spPr>
          <a:xfrm>
            <a:off x="685800" y="4400640"/>
            <a:ext cx="5485320" cy="3599280"/>
          </a:xfrm>
          <a:prstGeom prst="rect">
            <a:avLst/>
          </a:prstGeom>
        </p:spPr>
        <p:txBody>
          <a:bodyPr lIns="0" tIns="0" rIns="0" bIns="0"/>
          <a:lstStyle/>
          <a:p>
            <a:r>
              <a:rPr lang="en-US" sz="2000" strike="noStrike" spc="-1" dirty="0">
                <a:solidFill>
                  <a:srgbClr val="000000"/>
                </a:solidFill>
                <a:uFill>
                  <a:solidFill>
                    <a:srgbClr val="FFFFFF"/>
                  </a:solidFill>
                </a:uFill>
                <a:latin typeface="Arial" panose="020B0604020202020204"/>
              </a:rPr>
              <a:t>一颗深度为n，且没有任何剪枝行为的搜索树，节点总数为2^0+2^1+…2^(n-1)=2^n-1</a:t>
            </a:r>
            <a:endParaRPr lang="en-US" sz="2000" strike="noStrike" spc="-1" dirty="0">
              <a:solidFill>
                <a:srgbClr val="000000"/>
              </a:solidFill>
              <a:uFill>
                <a:solidFill>
                  <a:srgbClr val="FFFFFF"/>
                </a:solidFill>
              </a:uFill>
              <a:latin typeface="Arial" panose="020B0604020202020204"/>
            </a:endParaRPr>
          </a:p>
          <a:p>
            <a:r>
              <a:rPr lang="en-US" sz="2000" strike="noStrike" spc="-1" dirty="0">
                <a:solidFill>
                  <a:srgbClr val="000000"/>
                </a:solidFill>
                <a:uFill>
                  <a:solidFill>
                    <a:srgbClr val="FFFFFF"/>
                  </a:solidFill>
                </a:uFill>
                <a:latin typeface="Arial" panose="020B0604020202020204"/>
              </a:rPr>
              <a:t>假设解在第n+1层，搜索树的深度增加1后，为2^n-1+2^n=2^(n+1)-1。</a:t>
            </a:r>
            <a:endParaRPr lang="en-US" sz="2000" strike="noStrike" spc="-1" dirty="0">
              <a:solidFill>
                <a:srgbClr val="000000"/>
              </a:solidFill>
              <a:uFill>
                <a:solidFill>
                  <a:srgbClr val="FFFFFF"/>
                </a:solidFill>
              </a:uFill>
              <a:latin typeface="Arial" panose="020B0604020202020204"/>
            </a:endParaRPr>
          </a:p>
          <a:p>
            <a:r>
              <a:rPr lang="en-US" sz="2000" strike="noStrike" spc="-1" dirty="0">
                <a:solidFill>
                  <a:srgbClr val="000000"/>
                </a:solidFill>
                <a:uFill>
                  <a:solidFill>
                    <a:srgbClr val="FFFFFF"/>
                  </a:solidFill>
                </a:uFill>
                <a:latin typeface="Arial" panose="020B0604020202020204"/>
              </a:rPr>
              <a:t>深度1~n的搜索代价总和为2^(n+1)-n-2，于是深度为n+1时的代价和之前所有深度的搜索代价和几乎是同一数量级的。</a:t>
            </a:r>
            <a:endParaRPr lang="en-US" sz="2000" strike="noStrike" spc="-1" dirty="0">
              <a:solidFill>
                <a:srgbClr val="000000"/>
              </a:solidFill>
              <a:uFill>
                <a:solidFill>
                  <a:srgbClr val="FFFFFF"/>
                </a:solidFill>
              </a:uFill>
              <a:latin typeface="Arial" panose="020B0604020202020204"/>
            </a:endParaRPr>
          </a:p>
        </p:txBody>
      </p:sp>
      <p:sp>
        <p:nvSpPr>
          <p:cNvPr id="112" name="CustomShape 2"/>
          <p:cNvSpPr/>
          <p:nvPr/>
        </p:nvSpPr>
        <p:spPr>
          <a:xfrm>
            <a:off x="3884760" y="8685360"/>
            <a:ext cx="2970720" cy="45756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nchor="b"/>
          <a:lstStyle/>
          <a:p>
            <a:pPr algn="r">
              <a:lnSpc>
                <a:spcPct val="100000"/>
              </a:lnSpc>
            </a:pPr>
            <a:fld id="{41DEC955-3180-4269-994F-BE7AC82AD3D3}" type="slidenum">
              <a:rPr lang="en-US" sz="1200" strike="noStrike" spc="-1">
                <a:solidFill>
                  <a:srgbClr val="000000"/>
                </a:solidFill>
                <a:uFill>
                  <a:solidFill>
                    <a:srgbClr val="FFFFFF"/>
                  </a:solidFill>
                </a:uFill>
                <a:latin typeface="+mn-lt"/>
                <a:ea typeface="+mn-ea"/>
              </a:rPr>
            </a:fld>
            <a:endParaRPr lang="en-US" sz="1800" strike="noStrike" spc="-1">
              <a:solidFill>
                <a:srgbClr val="000000"/>
              </a:solidFill>
              <a:uFill>
                <a:solidFill>
                  <a:srgbClr val="FFFFFF"/>
                </a:solidFill>
              </a:uFill>
              <a:latin typeface="Arial" panose="020B0604020202020204"/>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956108"/>
            <a:ext cx="9144000" cy="2387600"/>
          </a:xfrm>
        </p:spPr>
        <p:txBody>
          <a:bodyPr anchor="b">
            <a:normAutofit/>
          </a:bodyPr>
          <a:lstStyle>
            <a:lvl1pPr algn="ctr">
              <a:defRPr sz="4400">
                <a:solidFill>
                  <a:schemeClr val="accent5">
                    <a:lumMod val="75000"/>
                  </a:schemeClr>
                </a:solidFill>
                <a:latin typeface="微软雅黑" panose="020B0503020204020204" pitchFamily="34" charset="-122"/>
                <a:ea typeface="微软雅黑" panose="020B0503020204020204" pitchFamily="34" charset="-122"/>
              </a:defRPr>
            </a:lvl1pPr>
          </a:lstStyle>
          <a:p>
            <a:r>
              <a:rPr lang="zh-CN" altLang="en-US" dirty="0"/>
              <a:t>单击此处编辑母版标题样式</a:t>
            </a:r>
            <a:endParaRPr lang="zh-CN" altLang="en-US" dirty="0"/>
          </a:p>
        </p:txBody>
      </p:sp>
      <p:sp>
        <p:nvSpPr>
          <p:cNvPr id="3" name="副标题 2"/>
          <p:cNvSpPr>
            <a:spLocks noGrp="1"/>
          </p:cNvSpPr>
          <p:nvPr>
            <p:ph type="subTitle" idx="1" hasCustomPrompt="1"/>
          </p:nvPr>
        </p:nvSpPr>
        <p:spPr>
          <a:xfrm>
            <a:off x="1524000" y="3602038"/>
            <a:ext cx="9144000" cy="1655762"/>
          </a:xfrm>
        </p:spPr>
        <p:txBody>
          <a:bodyPr/>
          <a:lstStyle>
            <a:lvl1pPr marL="0" indent="0" algn="ctr">
              <a:buNone/>
              <a:defRPr sz="2400">
                <a:solidFill>
                  <a:schemeClr val="accent5">
                    <a:lumMod val="75000"/>
                  </a:schemeClr>
                </a:solidFill>
                <a:latin typeface="黑体" panose="02010609060101010101" pitchFamily="49" charset="-122"/>
                <a:ea typeface="黑体" panose="02010609060101010101" pitchFamily="49"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单击以编辑母版副标题样式</a:t>
            </a:r>
            <a:endParaRPr lang="zh-CN" altLang="en-US" dirty="0"/>
          </a:p>
        </p:txBody>
      </p:sp>
      <p:pic>
        <p:nvPicPr>
          <p:cNvPr id="8" name="图片 7"/>
          <p:cNvPicPr>
            <a:picLocks noChangeAspect="1"/>
          </p:cNvPicPr>
          <p:nvPr userDrawn="1"/>
        </p:nvPicPr>
        <p:blipFill rotWithShape="1">
          <a:blip r:embed="rId2"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930381"/>
            <a:ext cx="10515600" cy="933261"/>
          </a:xfrm>
        </p:spPr>
        <p:txBody>
          <a:bodyPr>
            <a:normAutofit/>
          </a:bodyPr>
          <a:lstStyle>
            <a:lvl1pPr>
              <a:defRPr sz="4000">
                <a:solidFill>
                  <a:schemeClr val="accent5">
                    <a:lumMod val="75000"/>
                  </a:schemeClr>
                </a:solidFill>
                <a:latin typeface="黑体" panose="02010609060101010101" pitchFamily="49" charset="-122"/>
                <a:ea typeface="黑体" panose="02010609060101010101" pitchFamily="49" charset="-122"/>
              </a:defRPr>
            </a:lvl1pPr>
          </a:lstStyle>
          <a:p>
            <a:r>
              <a:rPr lang="zh-CN" altLang="en-US" dirty="0"/>
              <a:t>单击此处编辑母版标题样式</a:t>
            </a:r>
            <a:endParaRPr lang="zh-CN" altLang="en-US" dirty="0"/>
          </a:p>
        </p:txBody>
      </p:sp>
      <p:sp>
        <p:nvSpPr>
          <p:cNvPr id="3" name="内容占位符 2"/>
          <p:cNvSpPr>
            <a:spLocks noGrp="1"/>
          </p:cNvSpPr>
          <p:nvPr>
            <p:ph idx="1" hasCustomPrompt="1"/>
          </p:nvPr>
        </p:nvSpPr>
        <p:spPr>
          <a:xfrm>
            <a:off x="838200" y="2158134"/>
            <a:ext cx="10515600" cy="4351338"/>
          </a:xfrm>
        </p:spPr>
        <p:txBody>
          <a:bodyPr/>
          <a:lstStyle/>
          <a:p>
            <a:pPr lvl="0"/>
            <a:r>
              <a:rPr lang="zh-CN" altLang="en-US" dirty="0"/>
              <a:t>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956108"/>
            <a:ext cx="9144000" cy="2387600"/>
          </a:xfrm>
        </p:spPr>
        <p:txBody>
          <a:bodyPr anchor="b">
            <a:normAutofit/>
          </a:bodyPr>
          <a:lstStyle>
            <a:lvl1pPr algn="ctr">
              <a:defRPr sz="4400">
                <a:solidFill>
                  <a:schemeClr val="accent5">
                    <a:lumMod val="75000"/>
                  </a:schemeClr>
                </a:solidFill>
                <a:latin typeface="微软雅黑" panose="020B0503020204020204" pitchFamily="34" charset="-122"/>
                <a:ea typeface="微软雅黑" panose="020B0503020204020204" pitchFamily="34" charset="-122"/>
              </a:defRPr>
            </a:lvl1pPr>
          </a:lstStyle>
          <a:p>
            <a:r>
              <a:rPr lang="zh-CN" altLang="en-US" dirty="0"/>
              <a:t>单击此处编辑母版标题样式</a:t>
            </a:r>
            <a:endParaRPr lang="zh-CN" altLang="en-US" dirty="0"/>
          </a:p>
        </p:txBody>
      </p:sp>
      <p:sp>
        <p:nvSpPr>
          <p:cNvPr id="3" name="副标题 2"/>
          <p:cNvSpPr>
            <a:spLocks noGrp="1"/>
          </p:cNvSpPr>
          <p:nvPr>
            <p:ph type="subTitle" idx="1" hasCustomPrompt="1"/>
          </p:nvPr>
        </p:nvSpPr>
        <p:spPr>
          <a:xfrm>
            <a:off x="1524000" y="3602038"/>
            <a:ext cx="9144000" cy="1655762"/>
          </a:xfrm>
        </p:spPr>
        <p:txBody>
          <a:bodyPr/>
          <a:lstStyle>
            <a:lvl1pPr marL="0" indent="0" algn="ctr">
              <a:buNone/>
              <a:defRPr sz="2400">
                <a:solidFill>
                  <a:schemeClr val="accent5">
                    <a:lumMod val="75000"/>
                  </a:schemeClr>
                </a:solidFill>
                <a:latin typeface="黑体" panose="02010609060101010101" pitchFamily="49" charset="-122"/>
                <a:ea typeface="黑体" panose="02010609060101010101" pitchFamily="49"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单击以编辑母版副标题样式</a:t>
            </a:r>
            <a:endParaRPr lang="zh-CN" altLang="en-US" dirty="0"/>
          </a:p>
        </p:txBody>
      </p:sp>
      <p:pic>
        <p:nvPicPr>
          <p:cNvPr id="7" name="图片 8" descr="WechatIMG2.jpeg"/>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0277" y="289894"/>
            <a:ext cx="1897862" cy="55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7"/>
          <p:cNvPicPr>
            <a:picLocks noChangeAspect="1"/>
          </p:cNvPicPr>
          <p:nvPr userDrawn="1"/>
        </p:nvPicPr>
        <p:blipFill rotWithShape="1">
          <a:blip r:embed="rId3"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930381"/>
            <a:ext cx="10515600" cy="933261"/>
          </a:xfrm>
        </p:spPr>
        <p:txBody>
          <a:bodyPr>
            <a:normAutofit/>
          </a:bodyPr>
          <a:lstStyle>
            <a:lvl1pPr>
              <a:defRPr sz="4000">
                <a:solidFill>
                  <a:schemeClr val="accent5">
                    <a:lumMod val="75000"/>
                  </a:schemeClr>
                </a:solidFill>
                <a:latin typeface="黑体" panose="02010609060101010101" pitchFamily="49" charset="-122"/>
                <a:ea typeface="黑体" panose="02010609060101010101" pitchFamily="49" charset="-122"/>
              </a:defRPr>
            </a:lvl1pPr>
          </a:lstStyle>
          <a:p>
            <a:r>
              <a:rPr lang="zh-CN" altLang="en-US" dirty="0"/>
              <a:t>单击此处编辑母版标题样式</a:t>
            </a:r>
            <a:endParaRPr lang="zh-CN" altLang="en-US" dirty="0"/>
          </a:p>
        </p:txBody>
      </p:sp>
      <p:sp>
        <p:nvSpPr>
          <p:cNvPr id="3" name="内容占位符 2"/>
          <p:cNvSpPr>
            <a:spLocks noGrp="1"/>
          </p:cNvSpPr>
          <p:nvPr>
            <p:ph idx="1" hasCustomPrompt="1"/>
          </p:nvPr>
        </p:nvSpPr>
        <p:spPr>
          <a:xfrm>
            <a:off x="838200" y="2158134"/>
            <a:ext cx="10515600" cy="4351338"/>
          </a:xfrm>
        </p:spPr>
        <p:txBody>
          <a:bodyPr/>
          <a:lstStyle/>
          <a:p>
            <a:pPr lvl="0"/>
            <a:r>
              <a:rPr lang="zh-CN" altLang="en-US" dirty="0"/>
              <a:t>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pic>
        <p:nvPicPr>
          <p:cNvPr id="10" name="图片 8" descr="WechatIMG2.jpeg"/>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00277" y="289894"/>
            <a:ext cx="1897862" cy="55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p:txBody>
          <a:bodyPr/>
          <a:lstStyle>
            <a:lvl1pPr>
              <a:defRPr/>
            </a:lvl1pPr>
          </a:lstStyle>
          <a:p>
            <a:endParaRPr lang="en-US" altLang="zh-CN"/>
          </a:p>
        </p:txBody>
      </p:sp>
      <p:sp>
        <p:nvSpPr>
          <p:cNvPr id="4" name="页脚占位符 3"/>
          <p:cNvSpPr>
            <a:spLocks noGrp="1"/>
          </p:cNvSpPr>
          <p:nvPr>
            <p:ph type="ftr" sz="quarter" idx="11"/>
          </p:nvPr>
        </p:nvSpPr>
        <p:spPr/>
        <p:txBody>
          <a:bodyPr/>
          <a:lstStyle>
            <a:lvl1pPr>
              <a:defRPr/>
            </a:lvl1pPr>
          </a:lstStyle>
          <a:p>
            <a:endParaRPr lang="en-US" altLang="zh-CN"/>
          </a:p>
        </p:txBody>
      </p:sp>
      <p:sp>
        <p:nvSpPr>
          <p:cNvPr id="5" name="灯片编号占位符 4"/>
          <p:cNvSpPr>
            <a:spLocks noGrp="1"/>
          </p:cNvSpPr>
          <p:nvPr>
            <p:ph type="sldNum" sz="quarter" idx="12"/>
          </p:nvPr>
        </p:nvSpPr>
        <p:spPr/>
        <p:txBody>
          <a:bodyPr/>
          <a:lstStyle>
            <a:lvl1pPr>
              <a:defRPr/>
            </a:lvl1pPr>
          </a:lstStyle>
          <a:p>
            <a:fld id="{CB077E6C-12EB-46C4-85B9-839AD5856171}" type="slidenum">
              <a:rPr lang="en-US" altLang="zh-CN"/>
            </a:fld>
            <a:endParaRPr lang="en-US" altLang="zh-CN"/>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p:spPr>
        <p:txBody>
          <a:bodyPr/>
          <a:lstStyle/>
          <a:p>
            <a:r>
              <a:rPr lang="zh-CN" altLang="en-US"/>
              <a:t>单击此处编辑母版标题样式</a:t>
            </a:r>
            <a:endParaRPr lang="zh-CN" altLang="en-US"/>
          </a:p>
        </p:txBody>
      </p:sp>
      <p:sp>
        <p:nvSpPr>
          <p:cNvPr id="3" name="表格占位符 2"/>
          <p:cNvSpPr>
            <a:spLocks noGrp="1"/>
          </p:cNvSpPr>
          <p:nvPr>
            <p:ph type="tbl" idx="1"/>
          </p:nvPr>
        </p:nvSpPr>
        <p:spPr>
          <a:xfrm>
            <a:off x="609600" y="1600201"/>
            <a:ext cx="10972800" cy="4525963"/>
          </a:xfrm>
        </p:spPr>
        <p:txBody>
          <a:bodyPr/>
          <a:lstStyle/>
          <a:p>
            <a:endParaRPr lang="zh-CN" altLang="en-US"/>
          </a:p>
        </p:txBody>
      </p:sp>
      <p:sp>
        <p:nvSpPr>
          <p:cNvPr id="4" name="日期占位符 3"/>
          <p:cNvSpPr>
            <a:spLocks noGrp="1"/>
          </p:cNvSpPr>
          <p:nvPr>
            <p:ph type="dt" sz="half" idx="10"/>
          </p:nvPr>
        </p:nvSpPr>
        <p:spPr>
          <a:xfrm>
            <a:off x="609600" y="6245225"/>
            <a:ext cx="2844800" cy="476250"/>
          </a:xfrm>
        </p:spPr>
        <p:txBody>
          <a:bodyPr/>
          <a:lstStyle>
            <a:lvl1pPr>
              <a:defRPr/>
            </a:lvl1pPr>
          </a:lstStyle>
          <a:p>
            <a:endParaRPr lang="en-US" altLang="zh-CN"/>
          </a:p>
        </p:txBody>
      </p:sp>
      <p:sp>
        <p:nvSpPr>
          <p:cNvPr id="5" name="页脚占位符 4"/>
          <p:cNvSpPr>
            <a:spLocks noGrp="1"/>
          </p:cNvSpPr>
          <p:nvPr>
            <p:ph type="ftr" sz="quarter" idx="11"/>
          </p:nvPr>
        </p:nvSpPr>
        <p:spPr>
          <a:xfrm>
            <a:off x="4165600" y="6245225"/>
            <a:ext cx="3860800" cy="476250"/>
          </a:xfrm>
        </p:spPr>
        <p:txBody>
          <a:bodyPr/>
          <a:lstStyle>
            <a:lvl1pPr>
              <a:defRPr/>
            </a:lvl1pPr>
          </a:lstStyle>
          <a:p>
            <a:endParaRPr lang="en-US" altLang="zh-CN"/>
          </a:p>
        </p:txBody>
      </p:sp>
      <p:sp>
        <p:nvSpPr>
          <p:cNvPr id="6" name="灯片编号占位符 5"/>
          <p:cNvSpPr>
            <a:spLocks noGrp="1"/>
          </p:cNvSpPr>
          <p:nvPr>
            <p:ph type="sldNum" sz="quarter" idx="12"/>
          </p:nvPr>
        </p:nvSpPr>
        <p:spPr>
          <a:xfrm>
            <a:off x="8737600" y="6245225"/>
            <a:ext cx="2844800" cy="476250"/>
          </a:xfrm>
        </p:spPr>
        <p:txBody>
          <a:bodyPr/>
          <a:lstStyle>
            <a:lvl1pPr>
              <a:defRPr/>
            </a:lvl1pPr>
          </a:lstStyle>
          <a:p>
            <a:fld id="{90E15AEE-7382-452F-9082-1351453B8B90}" type="slidenum">
              <a:rPr lang="en-US" altLang="zh-CN"/>
            </a:fld>
            <a:endParaRPr lang="en-US" altLang="zh-CN"/>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1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endParaRPr lang="zh-CN" altLang="en-US" dirty="0"/>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endParaRPr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2_自定义版式">
    <p:spTree>
      <p:nvGrpSpPr>
        <p:cNvPr id="1" name=""/>
        <p:cNvGrpSpPr/>
        <p:nvPr/>
      </p:nvGrpSpPr>
      <p:grpSpPr>
        <a:xfrm>
          <a:off x="0" y="0"/>
          <a:ext cx="0" cy="0"/>
          <a:chOff x="0" y="0"/>
          <a:chExt cx="0" cy="0"/>
        </a:xfrm>
      </p:grpSpPr>
      <p:sp>
        <p:nvSpPr>
          <p:cNvPr id="2" name="标题 1"/>
          <p:cNvSpPr>
            <a:spLocks noGrp="1"/>
          </p:cNvSpPr>
          <p:nvPr>
            <p:ph type="title" hasCustomPrompt="1"/>
          </p:nvPr>
        </p:nvSpPr>
        <p:spPr>
          <a:xfrm>
            <a:off x="838200" y="564948"/>
            <a:ext cx="10515600" cy="518958"/>
          </a:xfrm>
          <a:prstGeom prst="rect">
            <a:avLst/>
          </a:prstGeom>
        </p:spPr>
        <p:txBody>
          <a:bodyPr>
            <a:normAutofit/>
          </a:bodyPr>
          <a:lstStyle>
            <a:lvl1pPr algn="ctr">
              <a:defRPr sz="2600" b="1">
                <a:latin typeface="华文中宋" panose="02010600040101010101" pitchFamily="2" charset="-122"/>
                <a:ea typeface="华文中宋" panose="02010600040101010101" pitchFamily="2" charset="-122"/>
              </a:defRPr>
            </a:lvl1pPr>
          </a:lstStyle>
          <a:p>
            <a:r>
              <a:rPr lang="zh-CN" altLang="en-US" dirty="0"/>
              <a:t>单击此处编辑一级标题样式</a:t>
            </a:r>
            <a:endParaRPr lang="zh-CN" altLang="en-US" dirty="0"/>
          </a:p>
        </p:txBody>
      </p:sp>
      <p:sp>
        <p:nvSpPr>
          <p:cNvPr id="9" name="副标题 2"/>
          <p:cNvSpPr>
            <a:spLocks noGrp="1"/>
          </p:cNvSpPr>
          <p:nvPr>
            <p:ph type="subTitle" idx="1" hasCustomPrompt="1"/>
          </p:nvPr>
        </p:nvSpPr>
        <p:spPr>
          <a:xfrm>
            <a:off x="584225" y="271204"/>
            <a:ext cx="4864359" cy="327421"/>
          </a:xfrm>
          <a:prstGeom prst="rect">
            <a:avLst/>
          </a:prstGeom>
        </p:spPr>
        <p:txBody>
          <a:bodyPr>
            <a:normAutofit/>
          </a:bodyPr>
          <a:lstStyle>
            <a:lvl1pPr marL="0" indent="0" algn="l">
              <a:buNone/>
              <a:defRPr sz="1200">
                <a:latin typeface="微软雅黑" panose="020B0503020204020204" pitchFamily="34" charset="-122"/>
                <a:ea typeface="微软雅黑" panose="020B0503020204020204" pitchFamily="34"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单击此处编辑小节名</a:t>
            </a:r>
            <a:endParaRPr lang="zh-CN" altLang="en-US" dirty="0"/>
          </a:p>
        </p:txBody>
      </p:sp>
      <p:sp>
        <p:nvSpPr>
          <p:cNvPr id="21" name="内容占位符 2"/>
          <p:cNvSpPr>
            <a:spLocks noGrp="1"/>
          </p:cNvSpPr>
          <p:nvPr>
            <p:ph idx="11" hasCustomPrompt="1"/>
          </p:nvPr>
        </p:nvSpPr>
        <p:spPr>
          <a:xfrm>
            <a:off x="584225" y="1276350"/>
            <a:ext cx="11055325" cy="5057775"/>
          </a:xfrm>
        </p:spPr>
        <p:txBody>
          <a:bodyPr>
            <a:normAutofit/>
          </a:bodyPr>
          <a:lstStyle>
            <a:lvl1pPr marL="0" indent="0">
              <a:buFontTx/>
              <a:buNone/>
              <a:defRPr sz="2000">
                <a:latin typeface="微软雅黑" panose="020B0503020204020204" pitchFamily="34" charset="-122"/>
                <a:ea typeface="微软雅黑" panose="020B0503020204020204" pitchFamily="34" charset="-122"/>
              </a:defRPr>
            </a:lvl1pPr>
            <a:lvl2pPr marL="457200" indent="0">
              <a:buFontTx/>
              <a:buNone/>
              <a:defRPr sz="2800"/>
            </a:lvl2pPr>
            <a:lvl3pPr marL="914400" indent="0">
              <a:buFontTx/>
              <a:buNone/>
              <a:defRPr sz="2400"/>
            </a:lvl3pPr>
            <a:lvl4pPr marL="1371600" indent="0">
              <a:buFontTx/>
              <a:buNone/>
              <a:defRPr sz="2000"/>
            </a:lvl4pPr>
            <a:lvl5pPr marL="1828800" indent="0">
              <a:buFontTx/>
              <a:buNone/>
              <a:defRPr sz="2000"/>
            </a:lvl5pPr>
            <a:lvl6pPr>
              <a:defRPr sz="2000"/>
            </a:lvl6pPr>
            <a:lvl7pPr>
              <a:defRPr sz="2000"/>
            </a:lvl7pPr>
            <a:lvl8pPr>
              <a:defRPr sz="2000"/>
            </a:lvl8pPr>
            <a:lvl9pPr>
              <a:defRPr sz="2000"/>
            </a:lvl9pPr>
          </a:lstStyle>
          <a:p>
            <a:pPr lvl="0"/>
            <a:r>
              <a:rPr lang="zh-CN" altLang="en-US" dirty="0"/>
              <a:t>单击此处编辑正文</a:t>
            </a:r>
            <a:endParaRPr lang="zh-CN" altLang="en-US" dirty="0"/>
          </a:p>
        </p:txBody>
      </p:sp>
    </p:spTree>
  </p:cSld>
  <p:clrMapOvr>
    <a:masterClrMapping/>
  </p:clrMapOvr>
</p:sldLayout>
</file>

<file path=ppt/slideMasters/_rels/slideMaster1.xml.rels><?xml version="1.0" encoding="UTF-8" standalone="yes"?>
<Relationships xmlns="http://schemas.openxmlformats.org/package/2006/relationships"><Relationship Id="rId4" Type="http://schemas.openxmlformats.org/officeDocument/2006/relationships/theme" Target="../theme/theme1.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7" Type="http://schemas.openxmlformats.org/officeDocument/2006/relationships/slideLayout" Target="../slideLayouts/slideLayout10.xml"/><Relationship Id="rId6" Type="http://schemas.openxmlformats.org/officeDocument/2006/relationships/slideLayout" Target="../slideLayouts/slideLayout9.xml"/><Relationship Id="rId5" Type="http://schemas.openxmlformats.org/officeDocument/2006/relationships/slideLayout" Target="../slideLayouts/slideLayout8.xml"/><Relationship Id="rId4" Type="http://schemas.openxmlformats.org/officeDocument/2006/relationships/slideLayout" Target="../slideLayouts/slideLayout7.xml"/><Relationship Id="rId3" Type="http://schemas.openxmlformats.org/officeDocument/2006/relationships/slideLayout" Target="../slideLayouts/slideLayout6.xml"/><Relationship Id="rId2" Type="http://schemas.openxmlformats.org/officeDocument/2006/relationships/slideLayout" Target="../slideLayouts/slideLayout5.xml"/><Relationship Id="rId1"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53" r:id="rId1"/>
    <p:sldLayoutId id="2147483654" r:id="rId2"/>
    <p:sldLayoutId id="2147483655" r:id="rId3"/>
    <p:sldLayoutId id="2147483656" r:id="rId4"/>
    <p:sldLayoutId id="2147483657" r:id="rId5"/>
    <p:sldLayoutId id="2147483658" r:id="rId6"/>
    <p:sldLayoutId id="2147483659"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4" Type="http://schemas.openxmlformats.org/officeDocument/2006/relationships/notesSlide" Target="../notesSlides/notesSlide1.xml"/><Relationship Id="rId3" Type="http://schemas.openxmlformats.org/officeDocument/2006/relationships/slideLayout" Target="../slideLayouts/slideLayout1.xml"/><Relationship Id="rId2" Type="http://schemas.openxmlformats.org/officeDocument/2006/relationships/hyperlink" Target="mailto:zmk@tju.edu.cn" TargetMode="External"/><Relationship Id="rId1" Type="http://schemas.openxmlformats.org/officeDocument/2006/relationships/image" Target="../media/image1.jpeg"/></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4" Type="http://schemas.openxmlformats.org/officeDocument/2006/relationships/slideLayout" Target="../slideLayouts/slideLayout6.xml"/><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image" Target="../media/image7.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0.png"/></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1.png"/></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image" Target="../media/image13.png"/><Relationship Id="rId1" Type="http://schemas.openxmlformats.org/officeDocument/2006/relationships/image" Target="../media/image12.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4.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6.wmf"/></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4" Type="http://schemas.openxmlformats.org/officeDocument/2006/relationships/vmlDrawing" Target="../drawings/vmlDrawing1.vml"/><Relationship Id="rId3" Type="http://schemas.openxmlformats.org/officeDocument/2006/relationships/slideLayout" Target="../slideLayouts/slideLayout6.xml"/><Relationship Id="rId2" Type="http://schemas.openxmlformats.org/officeDocument/2006/relationships/image" Target="../media/image15.emf"/><Relationship Id="rId1" Type="http://schemas.openxmlformats.org/officeDocument/2006/relationships/oleObject" Target="../embeddings/oleObject1.bin"/></Relationships>
</file>

<file path=ppt/slides/_rels/slide72.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2.bin"/></Relationships>
</file>

<file path=ppt/slides/_rels/slide73.xml.rels><?xml version="1.0" encoding="UTF-8" standalone="yes"?>
<Relationships xmlns="http://schemas.openxmlformats.org/package/2006/relationships"><Relationship Id="rId4" Type="http://schemas.openxmlformats.org/officeDocument/2006/relationships/vmlDrawing" Target="../drawings/vmlDrawing3.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3.bin"/></Relationships>
</file>

<file path=ppt/slides/_rels/slide74.xml.rels><?xml version="1.0" encoding="UTF-8" standalone="yes"?>
<Relationships xmlns="http://schemas.openxmlformats.org/package/2006/relationships"><Relationship Id="rId4" Type="http://schemas.openxmlformats.org/officeDocument/2006/relationships/vmlDrawing" Target="../drawings/vmlDrawing4.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4.bin"/></Relationships>
</file>

<file path=ppt/slides/_rels/slide75.xml.rels><?xml version="1.0" encoding="UTF-8" standalone="yes"?>
<Relationships xmlns="http://schemas.openxmlformats.org/package/2006/relationships"><Relationship Id="rId4" Type="http://schemas.openxmlformats.org/officeDocument/2006/relationships/vmlDrawing" Target="../drawings/vmlDrawing5.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5.bin"/></Relationships>
</file>

<file path=ppt/slides/_rels/slide76.xml.rels><?xml version="1.0" encoding="UTF-8" standalone="yes"?>
<Relationships xmlns="http://schemas.openxmlformats.org/package/2006/relationships"><Relationship Id="rId4" Type="http://schemas.openxmlformats.org/officeDocument/2006/relationships/vmlDrawing" Target="../drawings/vmlDrawing6.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6.bin"/></Relationships>
</file>

<file path=ppt/slides/_rels/slide77.xml.rels><?xml version="1.0" encoding="UTF-8" standalone="yes"?>
<Relationships xmlns="http://schemas.openxmlformats.org/package/2006/relationships"><Relationship Id="rId4" Type="http://schemas.openxmlformats.org/officeDocument/2006/relationships/vmlDrawing" Target="../drawings/vmlDrawing7.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7.bin"/></Relationships>
</file>

<file path=ppt/slides/_rels/slide78.xml.rels><?xml version="1.0" encoding="UTF-8" standalone="yes"?>
<Relationships xmlns="http://schemas.openxmlformats.org/package/2006/relationships"><Relationship Id="rId4" Type="http://schemas.openxmlformats.org/officeDocument/2006/relationships/vmlDrawing" Target="../drawings/vmlDrawing8.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8.bin"/></Relationships>
</file>

<file path=ppt/slides/_rels/slide79.xml.rels><?xml version="1.0" encoding="UTF-8" standalone="yes"?>
<Relationships xmlns="http://schemas.openxmlformats.org/package/2006/relationships"><Relationship Id="rId4" Type="http://schemas.openxmlformats.org/officeDocument/2006/relationships/vmlDrawing" Target="../drawings/vmlDrawing9.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9.bin"/></Relationships>
</file>

<file path=ppt/slides/_rels/slide80.xml.rels><?xml version="1.0" encoding="UTF-8" standalone="yes"?>
<Relationships xmlns="http://schemas.openxmlformats.org/package/2006/relationships"><Relationship Id="rId4" Type="http://schemas.openxmlformats.org/officeDocument/2006/relationships/vmlDrawing" Target="../drawings/vmlDrawing10.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10.bin"/></Relationships>
</file>

<file path=ppt/slides/_rels/slide81.xml.rels><?xml version="1.0" encoding="UTF-8" standalone="yes"?>
<Relationships xmlns="http://schemas.openxmlformats.org/package/2006/relationships"><Relationship Id="rId4" Type="http://schemas.openxmlformats.org/officeDocument/2006/relationships/vmlDrawing" Target="../drawings/vmlDrawing11.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11.bin"/></Relationships>
</file>

<file path=ppt/slides/_rels/slide82.xml.rels><?xml version="1.0" encoding="UTF-8" standalone="yes"?>
<Relationships xmlns="http://schemas.openxmlformats.org/package/2006/relationships"><Relationship Id="rId4" Type="http://schemas.openxmlformats.org/officeDocument/2006/relationships/vmlDrawing" Target="../drawings/vmlDrawing12.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12.bin"/></Relationships>
</file>

<file path=ppt/slides/_rels/slide83.xml.rels><?xml version="1.0" encoding="UTF-8" standalone="yes"?>
<Relationships xmlns="http://schemas.openxmlformats.org/package/2006/relationships"><Relationship Id="rId4" Type="http://schemas.openxmlformats.org/officeDocument/2006/relationships/vmlDrawing" Target="../drawings/vmlDrawing13.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13.bin"/></Relationships>
</file>

<file path=ppt/slides/_rels/slide84.xml.rels><?xml version="1.0" encoding="UTF-8" standalone="yes"?>
<Relationships xmlns="http://schemas.openxmlformats.org/package/2006/relationships"><Relationship Id="rId4" Type="http://schemas.openxmlformats.org/officeDocument/2006/relationships/vmlDrawing" Target="../drawings/vmlDrawing14.vml"/><Relationship Id="rId3" Type="http://schemas.openxmlformats.org/officeDocument/2006/relationships/slideLayout" Target="../slideLayouts/slideLayout6.xml"/><Relationship Id="rId2" Type="http://schemas.openxmlformats.org/officeDocument/2006/relationships/image" Target="../media/image16.wmf"/><Relationship Id="rId1" Type="http://schemas.openxmlformats.org/officeDocument/2006/relationships/oleObject" Target="../embeddings/oleObject14.bin"/></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7.png"/></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8.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hyperlink" Target="http://poj.org/problem?id=1011" TargetMode="Externa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19.png"/></Relationships>
</file>

<file path=ppt/slides/_rels/slide98.xml.rels><?xml version="1.0" encoding="UTF-8" standalone="yes"?>
<Relationships xmlns="http://schemas.openxmlformats.org/package/2006/relationships"><Relationship Id="rId5" Type="http://schemas.openxmlformats.org/officeDocument/2006/relationships/notesSlide" Target="../notesSlides/notesSlide3.xml"/><Relationship Id="rId4" Type="http://schemas.openxmlformats.org/officeDocument/2006/relationships/slideLayout" Target="../slideLayouts/slideLayout6.xml"/><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image" Target="../media/image20.png"/></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image" Target="../media/image23.png"/></Relationships>
</file>

<file path=ppt/slides/_rels/slide100.xml.rels><?xml version="1.0" encoding="UTF-8" standalone="yes"?>
<Relationships xmlns="http://schemas.openxmlformats.org/package/2006/relationships"><Relationship Id="rId4" Type="http://schemas.openxmlformats.org/officeDocument/2006/relationships/slideLayout" Target="../slideLayouts/slideLayout6.xml"/><Relationship Id="rId3" Type="http://schemas.openxmlformats.org/officeDocument/2006/relationships/image" Target="../media/image26.emf"/><Relationship Id="rId2" Type="http://schemas.openxmlformats.org/officeDocument/2006/relationships/image" Target="../media/image25.emf"/><Relationship Id="rId1" Type="http://schemas.openxmlformats.org/officeDocument/2006/relationships/image" Target="../media/image24.emf"/></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rotWithShape="1">
          <a:blip r:embed="rId1" cstate="print">
            <a:biLevel thresh="25000"/>
            <a:extLst>
              <a:ext uri="{28A0092B-C50C-407E-A947-70E740481C1C}">
                <a14:useLocalDpi xmlns:a14="http://schemas.microsoft.com/office/drawing/2010/main" val="0"/>
              </a:ext>
            </a:extLst>
          </a:blip>
          <a:srcRect t="55949" b="20928"/>
          <a:stretch>
            <a:fillRect/>
          </a:stretch>
        </p:blipFill>
        <p:spPr>
          <a:xfrm>
            <a:off x="0" y="5272269"/>
            <a:ext cx="12192000" cy="1585731"/>
          </a:xfrm>
          <a:prstGeom prst="rect">
            <a:avLst/>
          </a:prstGeom>
        </p:spPr>
      </p:pic>
      <p:sp>
        <p:nvSpPr>
          <p:cNvPr id="2" name="灯片编号占位符 1"/>
          <p:cNvSpPr>
            <a:spLocks noGrp="1"/>
          </p:cNvSpPr>
          <p:nvPr>
            <p:ph type="sldNum" sz="quarter" idx="4294967295"/>
          </p:nvPr>
        </p:nvSpPr>
        <p:spPr>
          <a:xfrm>
            <a:off x="9448800" y="6492875"/>
            <a:ext cx="2743200" cy="365125"/>
          </a:xfrm>
          <a:prstGeom prst="rect">
            <a:avLst/>
          </a:prstGeom>
        </p:spPr>
        <p:txBody>
          <a:bodyPr/>
          <a:lstStyle/>
          <a:p>
            <a:fld id="{CFD2B472-FC81-4D56-BB73-EBB478A21F5E}" type="slidenum">
              <a:rPr lang="zh-CN" altLang="en-US" smtClean="0"/>
            </a:fld>
            <a:endParaRPr lang="zh-CN" altLang="en-US"/>
          </a:p>
        </p:txBody>
      </p:sp>
      <p:sp>
        <p:nvSpPr>
          <p:cNvPr id="5" name="文本框 5"/>
          <p:cNvSpPr txBox="1">
            <a:spLocks noChangeArrowheads="1"/>
          </p:cNvSpPr>
          <p:nvPr/>
        </p:nvSpPr>
        <p:spPr bwMode="auto">
          <a:xfrm>
            <a:off x="1032671" y="2051405"/>
            <a:ext cx="10311215" cy="2343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nchor="ctr"/>
          <a:lstStyle>
            <a:lvl1pPr defTabSz="6858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1pPr>
            <a:lvl2pPr marL="742950" indent="-285750" defTabSz="685800">
              <a:spcBef>
                <a:spcPct val="20000"/>
              </a:spcBef>
              <a:buFont typeface="Arial" panose="020B0604020202020204" pitchFamily="34" charset="0"/>
              <a:buChar char="–"/>
              <a:defRPr sz="2100">
                <a:solidFill>
                  <a:schemeClr val="tx1"/>
                </a:solidFill>
                <a:latin typeface="Calibri" panose="020F0502020204030204" pitchFamily="34" charset="0"/>
                <a:ea typeface="宋体" panose="02010600030101010101" pitchFamily="2" charset="-122"/>
              </a:defRPr>
            </a:lvl2pPr>
            <a:lvl3pPr marL="1143000" indent="-228600" defTabSz="6858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defTabSz="685800">
              <a:spcBef>
                <a:spcPct val="20000"/>
              </a:spcBef>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4pPr>
            <a:lvl5pPr marL="2057400" indent="-228600" defTabSz="685800">
              <a:spcBef>
                <a:spcPct val="20000"/>
              </a:spcBef>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20000"/>
              </a:spcBef>
              <a:spcAft>
                <a:spcPct val="0"/>
              </a:spcAft>
              <a:buFont typeface="Arial" panose="020B0604020202020204" pitchFamily="34" charset="0"/>
              <a:buChar char="»"/>
              <a:defRPr sz="1500">
                <a:solidFill>
                  <a:schemeClr val="tx1"/>
                </a:solidFill>
                <a:latin typeface="Calibri" panose="020F0502020204030204" pitchFamily="34" charset="0"/>
                <a:ea typeface="宋体" panose="02010600030101010101" pitchFamily="2" charset="-122"/>
              </a:defRPr>
            </a:lvl9pPr>
          </a:lstStyle>
          <a:p>
            <a:pPr algn="ctr">
              <a:buNone/>
            </a:pPr>
            <a:r>
              <a:rPr lang="zh-CN" altLang="en-US"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rPr>
              <a:t>程序设计综合实践</a:t>
            </a:r>
            <a:endParaRPr lang="en-US" altLang="zh-CN"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endParaRPr lang="en-US" altLang="zh-CN" sz="36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r>
              <a:rPr lang="en-US" altLang="zh-CN"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hlinkClick r:id="rId2"/>
              </a:rPr>
              <a:t>zmk@tju.edu.cn</a:t>
            </a:r>
            <a:endParaRPr lang="en-US" altLang="zh-CN"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a:p>
            <a:pPr algn="ctr">
              <a:buNone/>
            </a:pPr>
            <a:r>
              <a:rPr lang="zh-CN" altLang="en-US"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rPr>
              <a:t>喻梅，于瑞国，王建荣，李雪威，赵满坤，应翔</a:t>
            </a:r>
            <a:endParaRPr lang="zh-CN" altLang="en-US" sz="2000" b="1" kern="100" dirty="0">
              <a:solidFill>
                <a:srgbClr val="002060"/>
              </a:solidFill>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3310129" y="3979272"/>
            <a:ext cx="5652000" cy="933907"/>
            <a:chOff x="2363538" y="2160418"/>
            <a:chExt cx="5613852" cy="933907"/>
          </a:xfrm>
        </p:grpSpPr>
        <p:pic>
          <p:nvPicPr>
            <p:cNvPr id="13" name="图片 1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14" name="直接连接符 13"/>
            <p:cNvCxnSpPr/>
            <p:nvPr/>
          </p:nvCxnSpPr>
          <p:spPr>
            <a:xfrm>
              <a:off x="2721390" y="3079085"/>
              <a:ext cx="5256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grpSp>
        <p:nvGrpSpPr>
          <p:cNvPr id="10" name="组合 9"/>
          <p:cNvGrpSpPr/>
          <p:nvPr/>
        </p:nvGrpSpPr>
        <p:grpSpPr>
          <a:xfrm>
            <a:off x="3310129" y="2715571"/>
            <a:ext cx="5649852" cy="933907"/>
            <a:chOff x="2363538" y="2160418"/>
            <a:chExt cx="5649852" cy="933907"/>
          </a:xfrm>
        </p:grpSpPr>
        <p:pic>
          <p:nvPicPr>
            <p:cNvPr id="8" name="图片 7"/>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9" name="直接连接符 8"/>
            <p:cNvCxnSpPr/>
            <p:nvPr/>
          </p:nvCxnSpPr>
          <p:spPr>
            <a:xfrm>
              <a:off x="2721390" y="3079085"/>
              <a:ext cx="5292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组合 10"/>
          <p:cNvGrpSpPr/>
          <p:nvPr/>
        </p:nvGrpSpPr>
        <p:grpSpPr>
          <a:xfrm>
            <a:off x="3310129" y="1528540"/>
            <a:ext cx="5649852" cy="933907"/>
            <a:chOff x="2211138" y="2008018"/>
            <a:chExt cx="5649852" cy="933907"/>
          </a:xfrm>
        </p:grpSpPr>
        <p:pic>
          <p:nvPicPr>
            <p:cNvPr id="2" name="图片 1"/>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2211138" y="2008018"/>
              <a:ext cx="715704" cy="933907"/>
            </a:xfrm>
            <a:prstGeom prst="rect">
              <a:avLst/>
            </a:prstGeom>
          </p:spPr>
        </p:pic>
        <p:cxnSp>
          <p:nvCxnSpPr>
            <p:cNvPr id="6" name="直接连接符 5"/>
            <p:cNvCxnSpPr/>
            <p:nvPr/>
          </p:nvCxnSpPr>
          <p:spPr>
            <a:xfrm>
              <a:off x="2568990" y="2926685"/>
              <a:ext cx="5292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sp>
        <p:nvSpPr>
          <p:cNvPr id="5" name="内容占位符 2"/>
          <p:cNvSpPr txBox="1"/>
          <p:nvPr/>
        </p:nvSpPr>
        <p:spPr>
          <a:xfrm>
            <a:off x="3346129" y="2490025"/>
            <a:ext cx="1002601" cy="128065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二</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4" name="文本框 3"/>
          <p:cNvSpPr txBox="1"/>
          <p:nvPr/>
        </p:nvSpPr>
        <p:spPr>
          <a:xfrm>
            <a:off x="5365081" y="636022"/>
            <a:ext cx="1750017"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4000" b="1" dirty="0">
                <a:solidFill>
                  <a:srgbClr val="002060"/>
                </a:solidFill>
                <a:latin typeface="微软雅黑" panose="020B0503020204020204" pitchFamily="34" charset="-122"/>
                <a:ea typeface="微软雅黑" panose="020B0503020204020204" pitchFamily="34" charset="-122"/>
              </a:rPr>
              <a:t>搜</a:t>
            </a:r>
            <a:r>
              <a:rPr kumimoji="0" lang="zh-CN" altLang="en-US" sz="40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  </a:t>
            </a:r>
            <a:r>
              <a:rPr lang="zh-CN" altLang="en-US" sz="4000" b="1" dirty="0">
                <a:solidFill>
                  <a:srgbClr val="002060"/>
                </a:solidFill>
                <a:latin typeface="微软雅黑" panose="020B0503020204020204" pitchFamily="34" charset="-122"/>
                <a:ea typeface="微软雅黑" panose="020B0503020204020204" pitchFamily="34" charset="-122"/>
              </a:rPr>
              <a:t>索</a:t>
            </a:r>
            <a:endParaRPr kumimoji="0" lang="zh-CN" altLang="en-US" sz="40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15" name="内容占位符 2"/>
          <p:cNvSpPr txBox="1"/>
          <p:nvPr/>
        </p:nvSpPr>
        <p:spPr>
          <a:xfrm>
            <a:off x="3346129" y="1343908"/>
            <a:ext cx="739863" cy="1023029"/>
          </a:xfrm>
          <a:prstGeom prst="rect">
            <a:avLst/>
          </a:prstGeom>
        </p:spPr>
        <p:txBody>
          <a:bodyPr vert="horz" lIns="91440" tIns="45720" rIns="91440" bIns="45720" rtlCol="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一</a:t>
            </a:r>
            <a:endParaRPr kumimoji="0" lang="en-US" altLang="zh-CN"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16" name="内容占位符 2"/>
          <p:cNvSpPr txBox="1"/>
          <p:nvPr/>
        </p:nvSpPr>
        <p:spPr>
          <a:xfrm>
            <a:off x="3338705" y="3724501"/>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三</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7" name="矩形 6"/>
          <p:cNvSpPr/>
          <p:nvPr/>
        </p:nvSpPr>
        <p:spPr>
          <a:xfrm>
            <a:off x="4272309" y="1659528"/>
            <a:ext cx="5009022" cy="646331"/>
          </a:xfrm>
          <a:prstGeom prst="rect">
            <a:avLst/>
          </a:prstGeom>
        </p:spPr>
        <p:txBody>
          <a:bodyPr wrap="none"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3200" b="1" dirty="0">
                <a:solidFill>
                  <a:srgbClr val="002060"/>
                </a:solidFill>
                <a:latin typeface="微软雅黑" panose="020B0503020204020204" pitchFamily="34" charset="-122"/>
                <a:ea typeface="微软雅黑" panose="020B0503020204020204" pitchFamily="34" charset="-122"/>
              </a:rPr>
              <a:t>广度优先搜索</a:t>
            </a:r>
            <a:r>
              <a:rPr lang="en-US" altLang="zh-CN" sz="3200" b="1" dirty="0">
                <a:solidFill>
                  <a:srgbClr val="002060"/>
                </a:solidFill>
                <a:latin typeface="微软雅黑" panose="020B0503020204020204" pitchFamily="34" charset="-122"/>
                <a:ea typeface="微软雅黑" panose="020B0503020204020204" pitchFamily="34" charset="-122"/>
              </a:rPr>
              <a:t>BFS</a:t>
            </a:r>
            <a:endParaRPr lang="zh-CN" altLang="en-US" sz="3200" b="1" dirty="0">
              <a:solidFill>
                <a:srgbClr val="002060"/>
              </a:solidFill>
              <a:latin typeface="微软雅黑" panose="020B0503020204020204" pitchFamily="34" charset="-122"/>
              <a:ea typeface="微软雅黑" panose="020B0503020204020204" pitchFamily="34" charset="-122"/>
            </a:endParaRPr>
          </a:p>
        </p:txBody>
      </p:sp>
      <p:sp>
        <p:nvSpPr>
          <p:cNvPr id="17" name="矩形 16"/>
          <p:cNvSpPr/>
          <p:nvPr/>
        </p:nvSpPr>
        <p:spPr>
          <a:xfrm>
            <a:off x="4272309" y="2937686"/>
            <a:ext cx="6002124" cy="584776"/>
          </a:xfrm>
          <a:prstGeom prst="rect">
            <a:avLst/>
          </a:prstGeom>
        </p:spPr>
        <p:txBody>
          <a:bodyPr wrap="none"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3200" b="1" dirty="0">
                <a:solidFill>
                  <a:srgbClr val="002060"/>
                </a:solidFill>
                <a:latin typeface="微软雅黑" panose="020B0503020204020204" pitchFamily="34" charset="-122"/>
                <a:ea typeface="微软雅黑" panose="020B0503020204020204" pitchFamily="34" charset="-122"/>
              </a:rPr>
              <a:t>深度</a:t>
            </a:r>
            <a:r>
              <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优先搜索</a:t>
            </a:r>
            <a:r>
              <a:rPr kumimoji="0" lang="en-US" altLang="zh-CN"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rPr>
              <a:t>DFS</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18" name="矩形 17"/>
          <p:cNvSpPr/>
          <p:nvPr/>
        </p:nvSpPr>
        <p:spPr>
          <a:xfrm>
            <a:off x="4318030" y="4131905"/>
            <a:ext cx="2015038" cy="584775"/>
          </a:xfrm>
          <a:prstGeom prst="rect">
            <a:avLst/>
          </a:prstGeom>
        </p:spPr>
        <p:txBody>
          <a:bodyPr wrap="square"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3200" b="1" dirty="0">
                <a:solidFill>
                  <a:srgbClr val="002060"/>
                </a:solidFill>
                <a:latin typeface="微软雅黑" panose="020B0503020204020204" pitchFamily="34" charset="-122"/>
                <a:ea typeface="微软雅黑" panose="020B0503020204020204" pitchFamily="34" charset="-122"/>
              </a:rPr>
              <a:t>搜索剪枝</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
        <p:nvSpPr>
          <p:cNvPr id="22" name="内容占位符 2"/>
          <p:cNvSpPr txBox="1"/>
          <p:nvPr/>
        </p:nvSpPr>
        <p:spPr>
          <a:xfrm>
            <a:off x="3329265" y="4847941"/>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28" name="内容占位符 2"/>
          <p:cNvSpPr txBox="1"/>
          <p:nvPr/>
        </p:nvSpPr>
        <p:spPr>
          <a:xfrm>
            <a:off x="3336557" y="4917357"/>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kumimoji="0" lang="zh-CN" altLang="en-US" sz="3600" b="1"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grpSp>
        <p:nvGrpSpPr>
          <p:cNvPr id="25" name="组合 24"/>
          <p:cNvGrpSpPr/>
          <p:nvPr/>
        </p:nvGrpSpPr>
        <p:grpSpPr>
          <a:xfrm>
            <a:off x="3346129" y="5108601"/>
            <a:ext cx="5652000" cy="933907"/>
            <a:chOff x="2363538" y="2160418"/>
            <a:chExt cx="5613852" cy="933907"/>
          </a:xfrm>
        </p:grpSpPr>
        <p:pic>
          <p:nvPicPr>
            <p:cNvPr id="26" name="图片 2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2363538" y="2160418"/>
              <a:ext cx="715704" cy="933907"/>
            </a:xfrm>
            <a:prstGeom prst="rect">
              <a:avLst/>
            </a:prstGeom>
          </p:spPr>
        </p:pic>
        <p:cxnSp>
          <p:nvCxnSpPr>
            <p:cNvPr id="27" name="直接连接符 26"/>
            <p:cNvCxnSpPr/>
            <p:nvPr/>
          </p:nvCxnSpPr>
          <p:spPr>
            <a:xfrm>
              <a:off x="2721390" y="3079085"/>
              <a:ext cx="5256000" cy="0"/>
            </a:xfrm>
            <a:prstGeom prst="line">
              <a:avLst/>
            </a:prstGeom>
            <a:ln w="19050">
              <a:solidFill>
                <a:srgbClr val="014B88"/>
              </a:solidFill>
              <a:prstDash val="dash"/>
            </a:ln>
          </p:spPr>
          <p:style>
            <a:lnRef idx="1">
              <a:schemeClr val="accent1"/>
            </a:lnRef>
            <a:fillRef idx="0">
              <a:schemeClr val="accent1"/>
            </a:fillRef>
            <a:effectRef idx="0">
              <a:schemeClr val="accent1"/>
            </a:effectRef>
            <a:fontRef idx="minor">
              <a:schemeClr val="tx1"/>
            </a:fontRef>
          </p:style>
        </p:cxnSp>
      </p:grpSp>
      <p:sp>
        <p:nvSpPr>
          <p:cNvPr id="29" name="内容占位符 2"/>
          <p:cNvSpPr txBox="1"/>
          <p:nvPr/>
        </p:nvSpPr>
        <p:spPr>
          <a:xfrm>
            <a:off x="3374705" y="4853830"/>
            <a:ext cx="948479" cy="128084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200000"/>
              </a:lnSpc>
              <a:spcBef>
                <a:spcPts val="1000"/>
              </a:spcBef>
              <a:spcAft>
                <a:spcPts val="0"/>
              </a:spcAft>
              <a:buClrTx/>
              <a:buSzTx/>
              <a:buFont typeface="Arial" panose="020B0604020202020204" pitchFamily="34" charset="0"/>
              <a:buNone/>
              <a:defRPr/>
            </a:pPr>
            <a:r>
              <a:rPr lang="zh-CN" altLang="en-US" sz="3600" b="1" dirty="0">
                <a:solidFill>
                  <a:prstClr val="white"/>
                </a:solidFill>
                <a:latin typeface="微软雅黑" panose="020B0503020204020204" pitchFamily="34" charset="-122"/>
                <a:ea typeface="微软雅黑" panose="020B0503020204020204" pitchFamily="34" charset="-122"/>
              </a:rPr>
              <a:t>四</a:t>
            </a:r>
            <a:endParaRPr kumimoji="0" lang="zh-CN" altLang="en-US" sz="3600" b="1" i="0" u="none" strike="noStrike" kern="1200" cap="none" spc="0" normalizeH="0" baseline="0" noProof="0" dirty="0">
              <a:ln>
                <a:noFill/>
              </a:ln>
              <a:solidFill>
                <a:srgbClr val="002060"/>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30" name="矩形 29"/>
          <p:cNvSpPr/>
          <p:nvPr/>
        </p:nvSpPr>
        <p:spPr>
          <a:xfrm>
            <a:off x="4354029" y="5261234"/>
            <a:ext cx="3807837" cy="584775"/>
          </a:xfrm>
          <a:prstGeom prst="rect">
            <a:avLst/>
          </a:prstGeom>
        </p:spPr>
        <p:txBody>
          <a:bodyPr wrap="square"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3200" b="1" dirty="0">
                <a:solidFill>
                  <a:srgbClr val="002060"/>
                </a:solidFill>
                <a:latin typeface="微软雅黑" panose="020B0503020204020204" pitchFamily="34" charset="-122"/>
                <a:ea typeface="微软雅黑" panose="020B0503020204020204" pitchFamily="34" charset="-122"/>
              </a:rPr>
              <a:t>启发式与迭代加深</a:t>
            </a:r>
            <a:endParaRPr kumimoji="0" lang="zh-CN" altLang="en-US" sz="3200" b="1" i="0" u="none" strike="noStrike" kern="1200" cap="none" spc="0" normalizeH="0" baseline="0" noProof="0" dirty="0">
              <a:ln>
                <a:noFill/>
              </a:ln>
              <a:solidFill>
                <a:srgbClr val="002060"/>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什么是搜索？</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172720" y="878889"/>
            <a:ext cx="11536927" cy="5796459"/>
          </a:xfrm>
          <a:prstGeom prst="rect">
            <a:avLst/>
          </a:prstGeom>
          <a:noFill/>
        </p:spPr>
        <p:txBody>
          <a:bodyPr wrap="square" rtlCol="0">
            <a:spAutoFit/>
          </a:bodyPr>
          <a:lstStyle/>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搜索是一种通过穷举所有可能的解的状态，来求得问题所要求的解或者最优解的方法，即通过枚举解的所有可能状态，来寻求一个解或者最优解。</a:t>
            </a:r>
            <a:endParaRPr lang="zh-CN" altLang="en-US" sz="2400" b="1" kern="100" dirty="0">
              <a:solidFill>
                <a:srgbClr val="014B88"/>
              </a:solidFill>
              <a:latin typeface="仿宋_GB2312"/>
              <a:cs typeface="Times New Roman" panose="02020603050405020304" pitchFamily="18" charset="0"/>
            </a:endParaRP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搜索过程实际上是根据初始条件和扩展规则构造一棵解答树并寻找符合目标状态的节点的过程</a:t>
            </a:r>
            <a:endParaRPr lang="zh-CN" altLang="en-US" sz="2400" b="1" kern="100" dirty="0">
              <a:solidFill>
                <a:srgbClr val="014B88"/>
              </a:solidFill>
              <a:latin typeface="仿宋_GB2312"/>
              <a:cs typeface="Times New Roman" panose="02020603050405020304" pitchFamily="18" charset="0"/>
            </a:endParaRP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状态：对某一系统在某一时刻的数学描述。</a:t>
            </a:r>
            <a:endParaRPr lang="zh-CN" altLang="en-US" sz="2400" b="1" kern="100" dirty="0">
              <a:solidFill>
                <a:srgbClr val="014B88"/>
              </a:solidFill>
              <a:latin typeface="仿宋_GB2312"/>
              <a:cs typeface="Times New Roman" panose="02020603050405020304" pitchFamily="18" charset="0"/>
            </a:endParaRP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状态转移：状态到另一种状态的操作</a:t>
            </a:r>
            <a:endParaRPr lang="zh-CN" altLang="en-US" sz="2400" b="1" kern="100" dirty="0">
              <a:solidFill>
                <a:srgbClr val="014B88"/>
              </a:solidFill>
              <a:latin typeface="仿宋_GB2312"/>
              <a:cs typeface="Times New Roman" panose="02020603050405020304" pitchFamily="18" charset="0"/>
            </a:endParaRPr>
          </a:p>
          <a:p>
            <a:pPr marL="800100" lvl="1" indent="-342900" algn="just">
              <a:lnSpc>
                <a:spcPct val="200000"/>
              </a:lnSpc>
              <a:spcBef>
                <a:spcPts val="5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时间允许的情况下，几乎所有问题都可以使用搜索解决</a:t>
            </a:r>
            <a:endParaRPr lang="en-US" altLang="zh-CN" dirty="0"/>
          </a:p>
          <a:p>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172720" y="972053"/>
            <a:ext cx="10515600" cy="4351337"/>
          </a:xfrm>
        </p:spPr>
        <p:txBody>
          <a:bodyPr>
            <a:noAutofit/>
          </a:bodyPr>
          <a:lstStyle/>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给四个数，通过加减乘除运算得到 </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，求出一组解，可能无解</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朴素纯暴力搜索</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对 </a:t>
            </a:r>
            <a:r>
              <a:rPr lang="en-US" altLang="zh-CN" b="1" kern="100" dirty="0">
                <a:solidFill>
                  <a:srgbClr val="014B88"/>
                </a:solidFill>
                <a:latin typeface="仿宋_GB2312"/>
                <a:cs typeface="Times New Roman" panose="02020603050405020304" pitchFamily="18" charset="0"/>
              </a:rPr>
              <a:t>a b c d </a:t>
            </a:r>
            <a:r>
              <a:rPr lang="zh-CN" altLang="en-US" b="1" kern="100" dirty="0">
                <a:solidFill>
                  <a:srgbClr val="014B88"/>
                </a:solidFill>
                <a:latin typeface="仿宋_GB2312"/>
                <a:cs typeface="Times New Roman" panose="02020603050405020304" pitchFamily="18" charset="0"/>
              </a:rPr>
              <a:t>这四个数，有</a:t>
            </a:r>
            <a:r>
              <a:rPr lang="en-US" altLang="zh-CN" b="1" kern="100" dirty="0">
                <a:solidFill>
                  <a:srgbClr val="014B88"/>
                </a:solidFill>
                <a:latin typeface="仿宋_GB2312"/>
                <a:cs typeface="Times New Roman" panose="02020603050405020304" pitchFamily="18" charset="0"/>
              </a:rPr>
              <a:t>5</a:t>
            </a:r>
            <a:r>
              <a:rPr lang="zh-CN" altLang="en-US" b="1" kern="100" dirty="0">
                <a:solidFill>
                  <a:srgbClr val="014B88"/>
                </a:solidFill>
                <a:latin typeface="仿宋_GB2312"/>
                <a:cs typeface="Times New Roman" panose="02020603050405020304" pitchFamily="18" charset="0"/>
              </a:rPr>
              <a:t>种运算情况 ‘</a:t>
            </a:r>
            <a:r>
              <a:rPr lang="en-US" altLang="zh-CN" b="1" kern="100" dirty="0">
                <a:solidFill>
                  <a:srgbClr val="014B88"/>
                </a:solidFill>
                <a:latin typeface="仿宋_GB2312"/>
                <a:cs typeface="Times New Roman" panose="02020603050405020304" pitchFamily="18" charset="0"/>
              </a:rPr>
              <a:t>@</a:t>
            </a:r>
            <a:r>
              <a:rPr lang="zh-CN" altLang="en-US" b="1" kern="100" dirty="0">
                <a:solidFill>
                  <a:srgbClr val="014B88"/>
                </a:solidFill>
                <a:latin typeface="仿宋_GB2312"/>
                <a:cs typeface="Times New Roman" panose="02020603050405020304" pitchFamily="18" charset="0"/>
              </a:rPr>
              <a:t>’代表一种运算</a:t>
            </a:r>
            <a:endParaRPr lang="en-US"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1, (a @ b) @ (c @ d)</a:t>
            </a:r>
            <a:endParaRPr lang="pt-BR"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2, ((a @ b) @ c) @ d</a:t>
            </a:r>
            <a:endParaRPr lang="pt-BR"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3, (a @ (b @ c)) @ d</a:t>
            </a:r>
            <a:endParaRPr lang="pt-BR"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4, a @ (b @ (c @ d))</a:t>
            </a:r>
            <a:endParaRPr lang="pt-BR" altLang="zh-CN" b="1" kern="100" dirty="0">
              <a:solidFill>
                <a:srgbClr val="014B88"/>
              </a:solidFill>
              <a:latin typeface="仿宋_GB2312"/>
              <a:cs typeface="Times New Roman" panose="02020603050405020304" pitchFamily="18" charset="0"/>
            </a:endParaRPr>
          </a:p>
          <a:p>
            <a:pPr marL="914400" lvl="2" indent="0" algn="just">
              <a:lnSpc>
                <a:spcPct val="125000"/>
              </a:lnSpc>
              <a:buNone/>
              <a:defRPr/>
            </a:pPr>
            <a:r>
              <a:rPr lang="pt-BR" altLang="zh-CN" b="1" kern="100" dirty="0">
                <a:solidFill>
                  <a:srgbClr val="014B88"/>
                </a:solidFill>
                <a:latin typeface="仿宋_GB2312"/>
                <a:cs typeface="Times New Roman" panose="02020603050405020304" pitchFamily="18" charset="0"/>
              </a:rPr>
              <a:t>5, a @ ((b @ c) @ d)</a:t>
            </a:r>
            <a:endParaRPr lang="pt-BR"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对四个数的每种排列的每种运算情况进行计算，得到</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即解决问题，所有情况均不为</a:t>
            </a:r>
            <a:r>
              <a:rPr lang="en-US" altLang="zh-CN" b="1" kern="100" dirty="0">
                <a:solidFill>
                  <a:srgbClr val="014B88"/>
                </a:solidFill>
                <a:latin typeface="仿宋_GB2312"/>
                <a:cs typeface="Times New Roman" panose="02020603050405020304" pitchFamily="18" charset="0"/>
              </a:rPr>
              <a:t>24</a:t>
            </a:r>
            <a:r>
              <a:rPr lang="zh-CN" altLang="en-US" b="1" kern="100" dirty="0">
                <a:solidFill>
                  <a:srgbClr val="014B88"/>
                </a:solidFill>
                <a:latin typeface="仿宋_GB2312"/>
                <a:cs typeface="Times New Roman" panose="02020603050405020304" pitchFamily="18" charset="0"/>
              </a:rPr>
              <a:t>，则无解。</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共有</a:t>
            </a:r>
            <a:r>
              <a:rPr lang="en-US" altLang="zh-CN" b="1" kern="100" dirty="0">
                <a:solidFill>
                  <a:srgbClr val="014B88"/>
                </a:solidFill>
                <a:latin typeface="仿宋_GB2312"/>
                <a:cs typeface="Times New Roman" panose="02020603050405020304" pitchFamily="18" charset="0"/>
              </a:rPr>
              <a:t>4</a:t>
            </a:r>
            <a:r>
              <a:rPr lang="zh-CN" altLang="en-US" b="1" kern="100" dirty="0">
                <a:solidFill>
                  <a:srgbClr val="014B88"/>
                </a:solidFill>
                <a:latin typeface="仿宋_GB2312"/>
                <a:cs typeface="Times New Roman" panose="02020603050405020304" pitchFamily="18" charset="0"/>
              </a:rPr>
              <a:t>！</a:t>
            </a:r>
            <a:r>
              <a:rPr lang="en-US" altLang="zh-CN" b="1" kern="100" dirty="0">
                <a:solidFill>
                  <a:srgbClr val="014B88"/>
                </a:solidFill>
                <a:latin typeface="仿宋_GB2312"/>
                <a:cs typeface="Times New Roman" panose="02020603050405020304" pitchFamily="18" charset="0"/>
              </a:rPr>
              <a:t>× 5 × 4^3 = 7680 </a:t>
            </a:r>
            <a:r>
              <a:rPr lang="zh-CN" altLang="en-US" b="1" kern="100" dirty="0">
                <a:solidFill>
                  <a:srgbClr val="014B88"/>
                </a:solidFill>
                <a:latin typeface="仿宋_GB2312"/>
                <a:cs typeface="Times New Roman" panose="02020603050405020304" pitchFamily="18" charset="0"/>
              </a:rPr>
              <a:t>种组合方式</a:t>
            </a:r>
            <a:endParaRPr lang="zh-CN" altLang="en-US" b="1" kern="100" dirty="0">
              <a:solidFill>
                <a:srgbClr val="014B88"/>
              </a:solidFill>
              <a:latin typeface="仿宋_GB2312"/>
              <a:cs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例：</a:t>
            </a:r>
            <a:r>
              <a:rPr lang="en-US" altLang="zh-CN" sz="3200" b="1" dirty="0">
                <a:solidFill>
                  <a:srgbClr val="C00000"/>
                </a:solidFill>
                <a:latin typeface="微软雅黑" panose="020B0503020204020204" pitchFamily="34" charset="-122"/>
                <a:ea typeface="微软雅黑" panose="020B0503020204020204" pitchFamily="34" charset="-122"/>
              </a:rPr>
              <a:t>24</a:t>
            </a:r>
            <a:r>
              <a:rPr lang="zh-CN" altLang="en-US" sz="3200" b="1" dirty="0">
                <a:solidFill>
                  <a:srgbClr val="C00000"/>
                </a:solidFill>
                <a:latin typeface="微软雅黑" panose="020B0503020204020204" pitchFamily="34" charset="-122"/>
                <a:ea typeface="微软雅黑" panose="020B0503020204020204" pitchFamily="34" charset="-122"/>
              </a:rPr>
              <a:t>点问题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ustDataLst>
      <p:tags r:id="rId1"/>
    </p:custDataLst>
  </p:cSld>
  <p:clrMapOvr>
    <a:masterClrMapping/>
  </p:clrMapOvr>
  <p:transition spd="slow" advTm="21727"/>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3">
                                            <p:txEl>
                                              <p:pRg st="8" end="8"/>
                                            </p:txEl>
                                          </p:spTgt>
                                        </p:tgtEl>
                                        <p:attrNameLst>
                                          <p:attrName>style.visibility</p:attrName>
                                        </p:attrNameLst>
                                      </p:cBhvr>
                                      <p:to>
                                        <p:strVal val="visible"/>
                                      </p:to>
                                    </p:set>
                                    <p:animEffect transition="in" filter="fade">
                                      <p:cBhvr>
                                        <p:cTn id="33" dur="500"/>
                                        <p:tgtEl>
                                          <p:spTgt spid="3">
                                            <p:txEl>
                                              <p:pRg st="8" end="8"/>
                                            </p:txEl>
                                          </p:spTgt>
                                        </p:tgtEl>
                                      </p:cBhvr>
                                    </p:animEffect>
                                  </p:childTnLst>
                                </p:cTn>
                              </p:par>
                              <p:par>
                                <p:cTn id="34" presetID="10" presetClass="entr" presetSubtype="0" fill="hold" nodeType="withEffect">
                                  <p:stCondLst>
                                    <p:cond delay="0"/>
                                  </p:stCondLst>
                                  <p:childTnLst>
                                    <p:set>
                                      <p:cBhvr>
                                        <p:cTn id="35" dur="1" fill="hold">
                                          <p:stCondLst>
                                            <p:cond delay="0"/>
                                          </p:stCondLst>
                                        </p:cTn>
                                        <p:tgtEl>
                                          <p:spTgt spid="3">
                                            <p:txEl>
                                              <p:pRg st="9" end="9"/>
                                            </p:txEl>
                                          </p:spTgt>
                                        </p:tgtEl>
                                        <p:attrNameLst>
                                          <p:attrName>style.visibility</p:attrName>
                                        </p:attrNameLst>
                                      </p:cBhvr>
                                      <p:to>
                                        <p:strVal val="visible"/>
                                      </p:to>
                                    </p:set>
                                    <p:animEffect transition="in" filter="fade">
                                      <p:cBhvr>
                                        <p:cTn id="36"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TextBox 36"/>
          <p:cNvSpPr txBox="1"/>
          <p:nvPr/>
        </p:nvSpPr>
        <p:spPr>
          <a:xfrm>
            <a:off x="334800" y="320400"/>
            <a:ext cx="11684480" cy="706755"/>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例：分土豆</a:t>
            </a:r>
            <a:endParaRPr lang="en-US" sz="3200" b="1" dirty="0">
              <a:solidFill>
                <a:srgbClr val="C00000"/>
              </a:solidFill>
              <a:latin typeface="微软雅黑" panose="020B0503020204020204" pitchFamily="34" charset="-122"/>
              <a:ea typeface="微软雅黑" panose="020B0503020204020204" pitchFamily="34" charset="-122"/>
            </a:endParaRPr>
          </a:p>
        </p:txBody>
      </p:sp>
      <p:sp>
        <p:nvSpPr>
          <p:cNvPr id="3" name="内容占位符 2"/>
          <p:cNvSpPr>
            <a:spLocks noGrp="1"/>
          </p:cNvSpPr>
          <p:nvPr/>
        </p:nvSpPr>
        <p:spPr>
          <a:xfrm>
            <a:off x="172720" y="1194435"/>
            <a:ext cx="11678285" cy="186436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800100" lvl="1" indent="-342900" algn="just">
              <a:lnSpc>
                <a:spcPct val="150000"/>
              </a:lnSpc>
              <a:buFont typeface="Wingdings" panose="05000000000000000000" pitchFamily="2" charset="2"/>
              <a:buChar char="l"/>
              <a:defRPr/>
            </a:pPr>
            <a:r>
              <a:rPr lang="en-US" b="1" kern="100" dirty="0">
                <a:solidFill>
                  <a:srgbClr val="014B88"/>
                </a:solidFill>
                <a:latin typeface="仿宋_GB2312"/>
                <a:cs typeface="Times New Roman" panose="02020603050405020304" pitchFamily="18" charset="0"/>
              </a:rPr>
              <a:t>N(N &lt; 20)</a:t>
            </a:r>
            <a:r>
              <a:rPr lang="zh-CN" altLang="en-US" b="1" kern="100" dirty="0">
                <a:solidFill>
                  <a:srgbClr val="014B88"/>
                </a:solidFill>
                <a:latin typeface="仿宋_GB2312"/>
                <a:cs typeface="Times New Roman" panose="02020603050405020304" pitchFamily="18" charset="0"/>
              </a:rPr>
              <a:t>个土豆，每个土豆有其重量</a:t>
            </a:r>
            <a:r>
              <a:rPr lang="en-US" altLang="zh-CN" b="1" kern="100" dirty="0">
                <a:solidFill>
                  <a:srgbClr val="014B88"/>
                </a:solidFill>
                <a:latin typeface="仿宋_GB2312"/>
                <a:cs typeface="Times New Roman" panose="02020603050405020304" pitchFamily="18" charset="0"/>
              </a:rPr>
              <a:t>a</a:t>
            </a:r>
            <a:r>
              <a:rPr lang="en-US" altLang="zh-CN" b="1" kern="100" baseline="-25000" dirty="0">
                <a:solidFill>
                  <a:srgbClr val="014B88"/>
                </a:solidFill>
                <a:latin typeface="仿宋_GB2312"/>
                <a:cs typeface="Times New Roman" panose="02020603050405020304" pitchFamily="18" charset="0"/>
              </a:rPr>
              <a:t>i</a:t>
            </a:r>
            <a:endParaRPr lang="en-US" altLang="zh-CN" b="1" kern="100" baseline="-25000" dirty="0">
              <a:solidFill>
                <a:srgbClr val="014B88"/>
              </a:solidFill>
              <a:latin typeface="仿宋_GB2312"/>
              <a:cs typeface="Times New Roman" panose="02020603050405020304" pitchFamily="18" charset="0"/>
            </a:endParaRPr>
          </a:p>
          <a:p>
            <a:pPr marL="800100" lvl="1" indent="-342900" algn="just">
              <a:lnSpc>
                <a:spcPct val="150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在不切开土豆的情况下分成两堆，尽可能让这两堆平均分</a:t>
            </a:r>
            <a:endParaRPr lang="zh-CN" altLang="en-US" b="1" kern="100" dirty="0">
              <a:solidFill>
                <a:srgbClr val="014B88"/>
              </a:solidFill>
              <a:latin typeface="仿宋_GB2312"/>
              <a:cs typeface="Times New Roman" panose="02020603050405020304" pitchFamily="18" charset="0"/>
            </a:endParaRPr>
          </a:p>
          <a:p>
            <a:pPr marL="800100" lvl="1" indent="-342900" algn="just">
              <a:lnSpc>
                <a:spcPct val="150000"/>
              </a:lnSpc>
              <a:buFont typeface="Wingdings" panose="05000000000000000000" pitchFamily="2" charset="2"/>
              <a:buChar char="l"/>
              <a:defRPr/>
            </a:pPr>
            <a:r>
              <a:rPr lang="zh-CN" altLang="en-US" b="1" kern="100" dirty="0">
                <a:solidFill>
                  <a:srgbClr val="014B88"/>
                </a:solidFill>
                <a:latin typeface="仿宋_GB2312"/>
                <a:cs typeface="Times New Roman" panose="02020603050405020304" pitchFamily="18" charset="0"/>
              </a:rPr>
              <a:t>应该如何分？</a:t>
            </a:r>
            <a:endParaRPr lang="en-US" altLang="zh-CN" b="1" kern="100" dirty="0">
              <a:solidFill>
                <a:srgbClr val="014B88"/>
              </a:solidFill>
              <a:latin typeface="仿宋_GB2312"/>
              <a:cs typeface="Times New Roman" panose="02020603050405020304" pitchFamily="18" charset="0"/>
            </a:endParaRPr>
          </a:p>
          <a:p>
            <a:pPr marL="800100" lvl="1" indent="-342900" algn="just">
              <a:lnSpc>
                <a:spcPct val="125000"/>
              </a:lnSpc>
              <a:buFont typeface="Wingdings" panose="05000000000000000000" pitchFamily="2" charset="2"/>
              <a:buChar char="l"/>
              <a:defRPr/>
            </a:pPr>
            <a:endParaRPr lang="en-US" altLang="zh-CN" b="1" kern="100" baseline="-25000" dirty="0">
              <a:solidFill>
                <a:srgbClr val="014B88"/>
              </a:solidFill>
              <a:latin typeface="仿宋_GB231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文本占位符 13314"/>
          <p:cNvSpPr>
            <a:spLocks noGrp="1" noRot="1"/>
          </p:cNvSpPr>
          <p:nvPr>
            <p:ph type="body" idx="4294967295"/>
          </p:nvPr>
        </p:nvSpPr>
        <p:spPr>
          <a:xfrm>
            <a:off x="334800" y="1253331"/>
            <a:ext cx="10515600" cy="4351337"/>
          </a:xfrm>
        </p:spPr>
        <p:txBody>
          <a:bodyPr/>
          <a:lstStyle/>
          <a:p>
            <a:pPr marL="800100" lvl="1" indent="-342900" algn="just">
              <a:lnSpc>
                <a:spcPct val="200000"/>
              </a:lnSpc>
              <a:buFont typeface="Wingdings" panose="05000000000000000000" pitchFamily="2" charset="2"/>
              <a:buChar char="l"/>
            </a:pPr>
            <a:r>
              <a:rPr lang="en-US" altLang="zh-CN" b="1" kern="100" noProof="1">
                <a:solidFill>
                  <a:srgbClr val="014B88"/>
                </a:solidFill>
                <a:latin typeface="仿宋_GB2312"/>
                <a:cs typeface="Times New Roman" panose="02020603050405020304" pitchFamily="18" charset="0"/>
              </a:rPr>
              <a:t>	</a:t>
            </a:r>
            <a:r>
              <a:rPr lang="zh-CN" altLang="en-US" b="1" kern="100" noProof="1">
                <a:solidFill>
                  <a:srgbClr val="014B88"/>
                </a:solidFill>
                <a:latin typeface="仿宋_GB2312"/>
                <a:cs typeface="Times New Roman" panose="02020603050405020304" pitchFamily="18" charset="0"/>
              </a:rPr>
              <a:t>过河问题</a:t>
            </a:r>
            <a:endParaRPr lang="zh-CN" altLang="en-US" b="1" kern="100" noProof="1">
              <a:solidFill>
                <a:srgbClr val="014B88"/>
              </a:solidFill>
              <a:latin typeface="仿宋_GB2312"/>
              <a:cs typeface="Times New Roman" panose="02020603050405020304" pitchFamily="18" charset="0"/>
            </a:endParaRPr>
          </a:p>
          <a:p>
            <a:pPr marL="800100" lvl="1" indent="-342900"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一个人要带着米、鸡、狗划船过河，而船上只能载一物过河。当人不在时，鸡吃米，狗吃鸡，求过河策略。</a:t>
            </a:r>
            <a:endParaRPr lang="zh-CN" altLang="en-US" b="1" kern="100" noProof="1">
              <a:solidFill>
                <a:srgbClr val="014B88"/>
              </a:solidFill>
              <a:latin typeface="仿宋_GB2312"/>
              <a:cs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文本占位符 14338"/>
          <p:cNvSpPr>
            <a:spLocks noGrp="1" noRot="1"/>
          </p:cNvSpPr>
          <p:nvPr>
            <p:ph type="body" idx="4294967295"/>
          </p:nvPr>
        </p:nvSpPr>
        <p:spPr>
          <a:xfrm>
            <a:off x="443883" y="1100971"/>
            <a:ext cx="11363418" cy="5308707"/>
          </a:xfrm>
        </p:spPr>
        <p:txBody>
          <a:bodyPr>
            <a:normAutofit fontScale="77500" lnSpcReduction="20000"/>
          </a:bodyPr>
          <a:lstStyle/>
          <a:p>
            <a:pPr marL="800100" lvl="1" indent="-342900" algn="just">
              <a:lnSpc>
                <a:spcPct val="220000"/>
              </a:lnSpc>
              <a:buFont typeface="Wingdings" panose="05000000000000000000" pitchFamily="2" charset="2"/>
              <a:buChar char="l"/>
            </a:pPr>
            <a:r>
              <a:rPr lang="zh-CN" altLang="en-US" sz="3400" b="1" kern="100" noProof="1">
                <a:solidFill>
                  <a:srgbClr val="014B88"/>
                </a:solidFill>
                <a:latin typeface="仿宋_GB2312"/>
                <a:cs typeface="Times New Roman" panose="02020603050405020304" pitchFamily="18" charset="0"/>
              </a:rPr>
              <a:t>	用四元组</a:t>
            </a:r>
            <a:r>
              <a:rPr lang="en-US" altLang="zh-CN" sz="3400" b="1" kern="100" noProof="1">
                <a:solidFill>
                  <a:srgbClr val="014B88"/>
                </a:solidFill>
                <a:latin typeface="仿宋_GB2312"/>
                <a:cs typeface="Times New Roman" panose="02020603050405020304" pitchFamily="18" charset="0"/>
              </a:rPr>
              <a:t>(a, b, c, d)</a:t>
            </a:r>
            <a:r>
              <a:rPr lang="zh-CN" altLang="en-US" sz="3400" b="1" kern="100" noProof="1">
                <a:solidFill>
                  <a:srgbClr val="014B88"/>
                </a:solidFill>
                <a:latin typeface="仿宋_GB2312"/>
                <a:cs typeface="Times New Roman" panose="02020603050405020304" pitchFamily="18" charset="0"/>
              </a:rPr>
              <a:t>来表示人、狗、鸡、米的状态。其中</a:t>
            </a:r>
            <a:r>
              <a:rPr lang="en-US" altLang="zh-CN" sz="3400" b="1" kern="100" noProof="1">
                <a:solidFill>
                  <a:srgbClr val="014B88"/>
                </a:solidFill>
                <a:latin typeface="仿宋_GB2312"/>
                <a:cs typeface="Times New Roman" panose="02020603050405020304" pitchFamily="18" charset="0"/>
              </a:rPr>
              <a:t>a</a:t>
            </a:r>
            <a:r>
              <a:rPr lang="zh-CN" altLang="en-US" sz="3400" b="1" kern="100" noProof="1">
                <a:solidFill>
                  <a:srgbClr val="014B88"/>
                </a:solidFill>
                <a:latin typeface="仿宋_GB2312"/>
                <a:cs typeface="Times New Roman" panose="02020603050405020304" pitchFamily="18" charset="0"/>
              </a:rPr>
              <a:t>为</a:t>
            </a:r>
            <a:r>
              <a:rPr lang="en-US" altLang="zh-CN" sz="3400" b="1" kern="100" noProof="1">
                <a:solidFill>
                  <a:srgbClr val="014B88"/>
                </a:solidFill>
                <a:latin typeface="仿宋_GB2312"/>
                <a:cs typeface="Times New Roman" panose="02020603050405020304" pitchFamily="18" charset="0"/>
              </a:rPr>
              <a:t>0</a:t>
            </a:r>
            <a:r>
              <a:rPr lang="zh-CN" altLang="en-US" sz="3400" b="1" kern="100" noProof="1">
                <a:solidFill>
                  <a:srgbClr val="014B88"/>
                </a:solidFill>
                <a:latin typeface="仿宋_GB2312"/>
                <a:cs typeface="Times New Roman" panose="02020603050405020304" pitchFamily="18" charset="0"/>
              </a:rPr>
              <a:t>表示未过河，为</a:t>
            </a:r>
            <a:r>
              <a:rPr lang="en-US" altLang="zh-CN" sz="3400" b="1" kern="100" noProof="1">
                <a:solidFill>
                  <a:srgbClr val="014B88"/>
                </a:solidFill>
                <a:latin typeface="仿宋_GB2312"/>
                <a:cs typeface="Times New Roman" panose="02020603050405020304" pitchFamily="18" charset="0"/>
              </a:rPr>
              <a:t>1</a:t>
            </a:r>
            <a:r>
              <a:rPr lang="zh-CN" altLang="en-US" sz="3400" b="1" kern="100" noProof="1">
                <a:solidFill>
                  <a:srgbClr val="014B88"/>
                </a:solidFill>
                <a:latin typeface="仿宋_GB2312"/>
                <a:cs typeface="Times New Roman" panose="02020603050405020304" pitchFamily="18" charset="0"/>
              </a:rPr>
              <a:t>表示已过河。故我们由</a:t>
            </a:r>
            <a:r>
              <a:rPr lang="en-US" altLang="zh-CN" sz="3400" b="1" kern="100" noProof="1">
                <a:solidFill>
                  <a:srgbClr val="014B88"/>
                </a:solidFill>
                <a:latin typeface="仿宋_GB2312"/>
                <a:cs typeface="Times New Roman" panose="02020603050405020304" pitchFamily="18" charset="0"/>
              </a:rPr>
              <a:t>(0, 0, 0, 0)</a:t>
            </a:r>
            <a:r>
              <a:rPr lang="zh-CN" altLang="en-US" sz="3400" b="1" kern="100" noProof="1">
                <a:solidFill>
                  <a:srgbClr val="014B88"/>
                </a:solidFill>
                <a:latin typeface="仿宋_GB2312"/>
                <a:cs typeface="Times New Roman" panose="02020603050405020304" pitchFamily="18" charset="0"/>
              </a:rPr>
              <a:t>要转移到</a:t>
            </a:r>
            <a:r>
              <a:rPr lang="en-US" altLang="zh-CN" sz="3400" b="1" kern="100" noProof="1">
                <a:solidFill>
                  <a:srgbClr val="014B88"/>
                </a:solidFill>
                <a:latin typeface="仿宋_GB2312"/>
                <a:cs typeface="Times New Roman" panose="02020603050405020304" pitchFamily="18" charset="0"/>
              </a:rPr>
              <a:t>(1, 1, 1, 1)</a:t>
            </a:r>
            <a:r>
              <a:rPr lang="zh-CN" altLang="en-US" sz="3400" b="1" kern="100" noProof="1">
                <a:solidFill>
                  <a:srgbClr val="014B88"/>
                </a:solidFill>
                <a:latin typeface="仿宋_GB2312"/>
                <a:cs typeface="Times New Roman" panose="02020603050405020304" pitchFamily="18" charset="0"/>
              </a:rPr>
              <a:t>。</a:t>
            </a:r>
            <a:endParaRPr lang="zh-CN" altLang="en-US" sz="3400" b="1" kern="100" noProof="1">
              <a:solidFill>
                <a:srgbClr val="014B88"/>
              </a:solidFill>
              <a:latin typeface="仿宋_GB2312"/>
              <a:cs typeface="Times New Roman" panose="02020603050405020304" pitchFamily="18" charset="0"/>
            </a:endParaRPr>
          </a:p>
          <a:p>
            <a:pPr lvl="2">
              <a:lnSpc>
                <a:spcPct val="135000"/>
              </a:lnSpc>
              <a:spcBef>
                <a:spcPts val="1000"/>
              </a:spcBef>
              <a:buNone/>
            </a:pPr>
            <a:r>
              <a:rPr lang="zh-CN" altLang="en-US" sz="3400" noProof="1"/>
              <a:t>	</a:t>
            </a:r>
            <a:endParaRPr lang="en-US" altLang="zh-CN" sz="3400" noProof="1"/>
          </a:p>
          <a:p>
            <a:pPr lvl="2">
              <a:lnSpc>
                <a:spcPct val="135000"/>
              </a:lnSpc>
              <a:spcBef>
                <a:spcPts val="1000"/>
              </a:spcBef>
              <a:buNone/>
            </a:pPr>
            <a:r>
              <a:rPr lang="zh-CN" altLang="en-US" sz="3400" noProof="1"/>
              <a:t>转移方式</a:t>
            </a:r>
            <a:r>
              <a:rPr lang="en-US" altLang="zh-CN" sz="3400" noProof="1"/>
              <a:t>:</a:t>
            </a:r>
            <a:r>
              <a:rPr lang="en-US" altLang="zh-CN" sz="3400" noProof="1">
                <a:sym typeface="Wingdings" panose="05000000000000000000" pitchFamily="2" charset="2"/>
              </a:rPr>
              <a:t>(a, b, c, d) ----&gt; (1 - a, 1 - b, c, d) (a == b)</a:t>
            </a:r>
            <a:endParaRPr lang="en-US" altLang="zh-CN" sz="3400" noProof="1">
              <a:sym typeface="Wingdings" panose="05000000000000000000" pitchFamily="2" charset="2"/>
            </a:endParaRPr>
          </a:p>
          <a:p>
            <a:pPr lvl="2">
              <a:lnSpc>
                <a:spcPct val="135000"/>
              </a:lnSpc>
              <a:spcBef>
                <a:spcPts val="1000"/>
              </a:spcBef>
              <a:buNone/>
            </a:pPr>
            <a:r>
              <a:rPr lang="en-US" altLang="zh-CN" sz="3400" noProof="1">
                <a:sym typeface="Wingdings" panose="05000000000000000000" pitchFamily="2" charset="2"/>
              </a:rPr>
              <a:t>			           ----&gt; (1 - a, b, 1 - c, d) (a == c)</a:t>
            </a:r>
            <a:endParaRPr lang="en-US" altLang="zh-CN" sz="3400" noProof="1">
              <a:sym typeface="Wingdings" panose="05000000000000000000" pitchFamily="2" charset="2"/>
            </a:endParaRPr>
          </a:p>
          <a:p>
            <a:pPr lvl="2">
              <a:lnSpc>
                <a:spcPct val="135000"/>
              </a:lnSpc>
              <a:spcBef>
                <a:spcPts val="1000"/>
              </a:spcBef>
              <a:buNone/>
            </a:pPr>
            <a:r>
              <a:rPr lang="en-US" altLang="zh-CN" sz="3400" noProof="1">
                <a:sym typeface="Wingdings" panose="05000000000000000000" pitchFamily="2" charset="2"/>
              </a:rPr>
              <a:t>			           ----&gt; (1 - a, b, c, 1 - d) (a == d)</a:t>
            </a:r>
            <a:endParaRPr lang="en-US" altLang="zh-CN" sz="3400" noProof="1">
              <a:sym typeface="Wingdings" panose="05000000000000000000" pitchFamily="2" charset="2"/>
            </a:endParaRPr>
          </a:p>
          <a:p>
            <a:pPr lvl="2">
              <a:lnSpc>
                <a:spcPct val="135000"/>
              </a:lnSpc>
              <a:spcBef>
                <a:spcPts val="1000"/>
              </a:spcBef>
              <a:buNone/>
            </a:pPr>
            <a:r>
              <a:rPr lang="en-US" altLang="zh-CN" sz="3400" noProof="1">
                <a:sym typeface="Wingdings" panose="05000000000000000000" pitchFamily="2" charset="2"/>
              </a:rPr>
              <a:t>			           ----&gt; (1 - a, b, c, d)</a:t>
            </a:r>
            <a:endParaRPr lang="en-US" altLang="zh-CN" sz="3400" noProof="1">
              <a:sym typeface="Wingdings" panose="05000000000000000000" pitchFamily="2" charset="2"/>
            </a:endParaRPr>
          </a:p>
          <a:p>
            <a:pPr lvl="2">
              <a:lnSpc>
                <a:spcPct val="135000"/>
              </a:lnSpc>
              <a:spcBef>
                <a:spcPts val="1000"/>
              </a:spcBef>
              <a:buNone/>
            </a:pPr>
            <a:r>
              <a:rPr lang="zh-CN" altLang="en-US" sz="3400" noProof="1">
                <a:sym typeface="Wingdings" panose="05000000000000000000" pitchFamily="2" charset="2"/>
              </a:rPr>
              <a:t>约束条件：</a:t>
            </a:r>
            <a:r>
              <a:rPr lang="en-US" altLang="zh-CN" sz="3400" noProof="1">
                <a:sym typeface="Wingdings" panose="05000000000000000000" pitchFamily="2" charset="2"/>
              </a:rPr>
              <a:t>a != b</a:t>
            </a:r>
            <a:r>
              <a:rPr lang="zh-CN" altLang="en-US" sz="3400" noProof="1">
                <a:sym typeface="Wingdings" panose="05000000000000000000" pitchFamily="2" charset="2"/>
              </a:rPr>
              <a:t>时，必须要满足</a:t>
            </a:r>
            <a:r>
              <a:rPr lang="en-US" altLang="zh-CN" sz="3400" noProof="1">
                <a:sym typeface="Wingdings" panose="05000000000000000000" pitchFamily="2" charset="2"/>
              </a:rPr>
              <a:t>b != c</a:t>
            </a:r>
            <a:r>
              <a:rPr lang="zh-CN" altLang="en-US" sz="3400" noProof="1">
                <a:sym typeface="Wingdings" panose="05000000000000000000" pitchFamily="2" charset="2"/>
              </a:rPr>
              <a:t>；</a:t>
            </a:r>
            <a:r>
              <a:rPr lang="en-US" altLang="zh-CN" sz="3400" noProof="1">
                <a:sym typeface="Wingdings" panose="05000000000000000000" pitchFamily="2" charset="2"/>
              </a:rPr>
              <a:t>a != c </a:t>
            </a:r>
            <a:r>
              <a:rPr lang="zh-CN" altLang="en-US" sz="3400" noProof="1">
                <a:sym typeface="Wingdings" panose="05000000000000000000" pitchFamily="2" charset="2"/>
              </a:rPr>
              <a:t>时，必须要满足</a:t>
            </a:r>
            <a:r>
              <a:rPr lang="en-US" altLang="zh-CN" sz="3400" noProof="1">
                <a:sym typeface="Wingdings" panose="05000000000000000000" pitchFamily="2" charset="2"/>
              </a:rPr>
              <a:t>c != d</a:t>
            </a:r>
            <a:r>
              <a:rPr lang="zh-CN" altLang="en-US" sz="3400" noProof="1">
                <a:sym typeface="Wingdings" panose="05000000000000000000" pitchFamily="2" charset="2"/>
              </a:rPr>
              <a:t>。</a:t>
            </a:r>
            <a:endParaRPr lang="zh-CN" altLang="en-US" sz="3400" noProof="1">
              <a:sym typeface="Wingdings" panose="05000000000000000000" pitchFamily="2" charset="2"/>
            </a:endParaRPr>
          </a:p>
          <a:p>
            <a:pPr>
              <a:buFont typeface="Arial" panose="020B0604020202020204" pitchFamily="34" charset="0"/>
              <a:buNone/>
            </a:pPr>
            <a:endParaRPr lang="zh-CN" altLang="en-US" sz="2000" noProof="1">
              <a:sym typeface="Wingdings" panose="05000000000000000000" pitchFamily="2" charset="2"/>
            </a:endParaRPr>
          </a:p>
          <a:p>
            <a:pPr>
              <a:buFont typeface="Arial" panose="020B0604020202020204" pitchFamily="34" charset="0"/>
              <a:buNone/>
            </a:pPr>
            <a:endParaRPr lang="zh-CN" altLang="en-US" sz="2000" noProof="1">
              <a:sym typeface="Wingdings" panose="05000000000000000000" pitchFamily="2" charset="2"/>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4"/>
          <p:cNvPicPr>
            <a:picLocks noGrp="1" noChangeAspect="1" noChangeArrowheads="1"/>
          </p:cNvPicPr>
          <p:nvPr>
            <p:ph idx="4294967295"/>
          </p:nvPr>
        </p:nvPicPr>
        <p:blipFill>
          <a:blip r:embed="rId1">
            <a:extLst>
              <a:ext uri="{28A0092B-C50C-407E-A947-70E740481C1C}">
                <a14:useLocalDpi xmlns:a14="http://schemas.microsoft.com/office/drawing/2010/main" val="0"/>
              </a:ext>
            </a:extLst>
          </a:blip>
          <a:srcRect/>
          <a:stretch>
            <a:fillRect/>
          </a:stretch>
        </p:blipFill>
        <p:spPr bwMode="auto">
          <a:xfrm>
            <a:off x="2544593" y="1046842"/>
            <a:ext cx="7264893" cy="5384226"/>
          </a:xfrm>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状态的表示</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文本占位符 16386"/>
          <p:cNvSpPr>
            <a:spLocks noGrp="1" noRot="1"/>
          </p:cNvSpPr>
          <p:nvPr>
            <p:ph type="body" idx="4294967295"/>
          </p:nvPr>
        </p:nvSpPr>
        <p:spPr>
          <a:xfrm>
            <a:off x="265430" y="859790"/>
            <a:ext cx="11664950" cy="5864225"/>
          </a:xfrm>
        </p:spPr>
        <p:txBody>
          <a:bodyPr>
            <a:normAutofit fontScale="40000"/>
          </a:bodyPr>
          <a:lstStyle/>
          <a:p>
            <a:pPr marL="800100" lvl="1" indent="-342900" algn="just">
              <a:lnSpc>
                <a:spcPct val="210000"/>
              </a:lnSpc>
              <a:buFont typeface="Wingdings" panose="05000000000000000000" pitchFamily="2" charset="2"/>
              <a:buChar char="l"/>
            </a:pPr>
            <a:r>
              <a:rPr lang="zh-CN" altLang="en-US" sz="5000" b="1" kern="100" noProof="1">
                <a:solidFill>
                  <a:srgbClr val="014B88"/>
                </a:solidFill>
                <a:latin typeface="仿宋_GB2312"/>
                <a:cs typeface="Times New Roman" panose="02020603050405020304" pitchFamily="18" charset="0"/>
              </a:rPr>
              <a:t>盲目搜索：</a:t>
            </a:r>
            <a:endParaRPr lang="zh-CN" altLang="en-US" sz="5000" b="1" kern="100" noProof="1">
              <a:solidFill>
                <a:srgbClr val="014B88"/>
              </a:solidFill>
              <a:latin typeface="仿宋_GB2312"/>
              <a:cs typeface="Times New Roman" panose="02020603050405020304" pitchFamily="18" charset="0"/>
            </a:endParaRPr>
          </a:p>
          <a:p>
            <a:pPr>
              <a:spcBef>
                <a:spcPts val="1300"/>
              </a:spcBef>
              <a:buFont typeface="Arial" panose="020B0604020202020204" pitchFamily="34" charset="0"/>
              <a:buNone/>
            </a:pPr>
            <a:r>
              <a:rPr lang="zh-CN" altLang="en-US" sz="5000" noProof="1"/>
              <a:t>		</a:t>
            </a:r>
            <a:r>
              <a:rPr lang="en-US" altLang="zh-CN" sz="5000" noProof="1"/>
              <a:t>	</a:t>
            </a:r>
            <a:r>
              <a:rPr lang="zh-CN" altLang="en-US" sz="5000" b="1" kern="100" noProof="1">
                <a:solidFill>
                  <a:srgbClr val="014B88"/>
                </a:solidFill>
                <a:latin typeface="仿宋_GB2312"/>
                <a:cs typeface="Times New Roman" panose="02020603050405020304" pitchFamily="18" charset="0"/>
              </a:rPr>
              <a:t>纯随机搜索</a:t>
            </a:r>
            <a:r>
              <a:rPr lang="en-US" altLang="zh-CN" sz="5000" b="1" kern="100" noProof="1">
                <a:solidFill>
                  <a:srgbClr val="014B88"/>
                </a:solidFill>
                <a:latin typeface="仿宋_GB2312"/>
                <a:cs typeface="Times New Roman" panose="02020603050405020304" pitchFamily="18" charset="0"/>
              </a:rPr>
              <a:t>(Random Generation And Random Walk)</a:t>
            </a:r>
            <a:endParaRPr lang="en-US" altLang="zh-CN" sz="5000" b="1" kern="100" noProof="1">
              <a:solidFill>
                <a:srgbClr val="014B88"/>
              </a:solidFill>
              <a:latin typeface="仿宋_GB2312"/>
              <a:cs typeface="Times New Roman" panose="02020603050405020304" pitchFamily="18" charset="0"/>
            </a:endParaRPr>
          </a:p>
          <a:p>
            <a:pPr>
              <a:spcBef>
                <a:spcPts val="1300"/>
              </a:spcBef>
              <a:buFont typeface="Arial" panose="020B0604020202020204" pitchFamily="34" charset="0"/>
              <a:buNone/>
            </a:pPr>
            <a:r>
              <a:rPr lang="en-US" altLang="zh-CN" sz="5000" b="1" kern="100" noProof="1">
                <a:solidFill>
                  <a:srgbClr val="014B88"/>
                </a:solidFill>
                <a:latin typeface="仿宋_GB2312"/>
                <a:cs typeface="Times New Roman" panose="02020603050405020304" pitchFamily="18" charset="0"/>
              </a:rPr>
              <a:t>			</a:t>
            </a:r>
            <a:r>
              <a:rPr lang="zh-CN" altLang="en-US" sz="5000" b="1" kern="100" noProof="1">
                <a:solidFill>
                  <a:srgbClr val="FF0000"/>
                </a:solidFill>
                <a:latin typeface="仿宋_GB2312"/>
                <a:cs typeface="Times New Roman" panose="02020603050405020304" pitchFamily="18" charset="0"/>
              </a:rPr>
              <a:t>深度优先搜索</a:t>
            </a:r>
            <a:r>
              <a:rPr lang="en-US" altLang="zh-CN" sz="5000" b="1" kern="100" noProof="1">
                <a:solidFill>
                  <a:srgbClr val="FF0000"/>
                </a:solidFill>
                <a:latin typeface="仿宋_GB2312"/>
                <a:cs typeface="Times New Roman" panose="02020603050405020304" pitchFamily="18" charset="0"/>
              </a:rPr>
              <a:t>(Depth First Search)</a:t>
            </a:r>
            <a:endParaRPr lang="en-US" altLang="zh-CN" sz="5000" b="1" kern="100" noProof="1">
              <a:solidFill>
                <a:srgbClr val="FF0000"/>
              </a:solidFill>
              <a:latin typeface="仿宋_GB2312"/>
              <a:cs typeface="Times New Roman" panose="02020603050405020304" pitchFamily="18" charset="0"/>
            </a:endParaRPr>
          </a:p>
          <a:p>
            <a:pPr>
              <a:spcBef>
                <a:spcPts val="1300"/>
              </a:spcBef>
              <a:buFont typeface="Arial" panose="020B0604020202020204" pitchFamily="34" charset="0"/>
              <a:buNone/>
            </a:pPr>
            <a:r>
              <a:rPr lang="en-US" altLang="zh-CN" sz="5000" b="1" kern="100" noProof="1">
                <a:solidFill>
                  <a:srgbClr val="014B88"/>
                </a:solidFill>
                <a:latin typeface="仿宋_GB2312"/>
                <a:cs typeface="Times New Roman" panose="02020603050405020304" pitchFamily="18" charset="0"/>
              </a:rPr>
              <a:t>			</a:t>
            </a:r>
            <a:r>
              <a:rPr lang="zh-CN" altLang="en-US" sz="5000" b="1" kern="100" noProof="1">
                <a:solidFill>
                  <a:srgbClr val="FF0000"/>
                </a:solidFill>
                <a:latin typeface="仿宋_GB2312"/>
                <a:cs typeface="Times New Roman" panose="02020603050405020304" pitchFamily="18" charset="0"/>
              </a:rPr>
              <a:t>广度优先搜索</a:t>
            </a:r>
            <a:r>
              <a:rPr lang="en-US" altLang="zh-CN" sz="5000" b="1" kern="100" noProof="1">
                <a:solidFill>
                  <a:srgbClr val="FF0000"/>
                </a:solidFill>
                <a:latin typeface="仿宋_GB2312"/>
                <a:cs typeface="Times New Roman" panose="02020603050405020304" pitchFamily="18" charset="0"/>
              </a:rPr>
              <a:t>(Breadth First Search)</a:t>
            </a:r>
            <a:endParaRPr lang="en-US" altLang="zh-CN" sz="5000" b="1" kern="100" noProof="1">
              <a:solidFill>
                <a:srgbClr val="FF0000"/>
              </a:solidFill>
              <a:latin typeface="仿宋_GB2312"/>
              <a:cs typeface="Times New Roman" panose="02020603050405020304" pitchFamily="18" charset="0"/>
            </a:endParaRPr>
          </a:p>
          <a:p>
            <a:pPr>
              <a:lnSpc>
                <a:spcPct val="120000"/>
              </a:lnSpc>
              <a:spcBef>
                <a:spcPts val="1300"/>
              </a:spcBef>
              <a:buFont typeface="Arial" panose="020B0604020202020204" pitchFamily="34" charset="0"/>
              <a:buNone/>
            </a:pPr>
            <a:r>
              <a:rPr lang="en-US" altLang="zh-CN" sz="5000" b="1" kern="100" noProof="1">
                <a:solidFill>
                  <a:srgbClr val="014B88"/>
                </a:solidFill>
                <a:latin typeface="仿宋_GB2312"/>
                <a:cs typeface="Times New Roman" panose="02020603050405020304" pitchFamily="18" charset="0"/>
              </a:rPr>
              <a:t>			</a:t>
            </a:r>
            <a:r>
              <a:rPr lang="zh-CN" altLang="en-US" sz="5000" b="1" kern="100" noProof="1">
                <a:solidFill>
                  <a:srgbClr val="014B88"/>
                </a:solidFill>
                <a:latin typeface="仿宋_GB2312"/>
                <a:cs typeface="Times New Roman" panose="02020603050405020304" pitchFamily="18" charset="0"/>
              </a:rPr>
              <a:t>重复式搜索：</a:t>
            </a:r>
            <a:endParaRPr lang="zh-CN" altLang="en-US" sz="5000" b="1" kern="100" noProof="1">
              <a:solidFill>
                <a:srgbClr val="014B88"/>
              </a:solidFill>
              <a:latin typeface="仿宋_GB2312"/>
              <a:cs typeface="Times New Roman" panose="02020603050405020304" pitchFamily="18" charset="0"/>
            </a:endParaRPr>
          </a:p>
          <a:p>
            <a:pPr marL="2057400" lvl="4" indent="457200">
              <a:lnSpc>
                <a:spcPct val="120000"/>
              </a:lnSpc>
              <a:spcBef>
                <a:spcPts val="1300"/>
              </a:spcBef>
              <a:buFont typeface="Arial" panose="020B0604020202020204" pitchFamily="34" charset="0"/>
              <a:buNone/>
            </a:pPr>
            <a:r>
              <a:rPr lang="zh-CN" altLang="en-US" sz="5000" b="1" kern="100" noProof="1">
                <a:solidFill>
                  <a:srgbClr val="014B88"/>
                </a:solidFill>
                <a:latin typeface="仿宋_GB2312"/>
                <a:cs typeface="Times New Roman" panose="02020603050405020304" pitchFamily="18" charset="0"/>
              </a:rPr>
              <a:t>迭代加深搜索</a:t>
            </a:r>
            <a:r>
              <a:rPr lang="en-US" altLang="zh-CN" sz="5000" b="1" kern="100" noProof="1">
                <a:solidFill>
                  <a:srgbClr val="014B88"/>
                </a:solidFill>
                <a:latin typeface="仿宋_GB2312"/>
                <a:cs typeface="Times New Roman" panose="02020603050405020304" pitchFamily="18" charset="0"/>
              </a:rPr>
              <a:t>(Iterative Deepening) </a:t>
            </a:r>
            <a:r>
              <a:rPr lang="zh-CN" altLang="en-US" sz="5000" b="1" kern="100" noProof="1">
                <a:solidFill>
                  <a:srgbClr val="014B88"/>
                </a:solidFill>
                <a:latin typeface="仿宋_GB2312"/>
                <a:cs typeface="Times New Roman" panose="02020603050405020304" pitchFamily="18" charset="0"/>
              </a:rPr>
              <a:t>迭代加宽搜索</a:t>
            </a:r>
            <a:r>
              <a:rPr lang="en-US" altLang="zh-CN" sz="5000" b="1" kern="100" noProof="1">
                <a:solidFill>
                  <a:srgbClr val="014B88"/>
                </a:solidFill>
                <a:latin typeface="仿宋_GB2312"/>
                <a:cs typeface="Times New Roman" panose="02020603050405020304" pitchFamily="18" charset="0"/>
              </a:rPr>
              <a:t>(Iterative Broadening)</a:t>
            </a:r>
            <a:endParaRPr lang="en-US" altLang="zh-CN" sz="5000" b="1" kern="100" noProof="1">
              <a:solidFill>
                <a:srgbClr val="014B88"/>
              </a:solidFill>
              <a:latin typeface="仿宋_GB2312"/>
              <a:cs typeface="Times New Roman" panose="02020603050405020304" pitchFamily="18" charset="0"/>
            </a:endParaRPr>
          </a:p>
          <a:p>
            <a:pPr marL="2057400" lvl="4" indent="457200">
              <a:lnSpc>
                <a:spcPct val="120000"/>
              </a:lnSpc>
              <a:spcBef>
                <a:spcPts val="1300"/>
              </a:spcBef>
              <a:buFont typeface="Arial" panose="020B0604020202020204" pitchFamily="34" charset="0"/>
              <a:buNone/>
            </a:pPr>
            <a:r>
              <a:rPr lang="zh-CN" altLang="en-US" sz="5000" b="1" kern="100" noProof="1">
                <a:solidFill>
                  <a:srgbClr val="014B88"/>
                </a:solidFill>
                <a:latin typeface="仿宋_GB2312"/>
                <a:cs typeface="Times New Roman" panose="02020603050405020304" pitchFamily="18" charset="0"/>
              </a:rPr>
              <a:t>柱型搜索</a:t>
            </a:r>
            <a:r>
              <a:rPr lang="en-US" altLang="zh-CN" sz="5000" b="1" kern="100" noProof="1">
                <a:solidFill>
                  <a:srgbClr val="014B88"/>
                </a:solidFill>
                <a:latin typeface="仿宋_GB2312"/>
                <a:cs typeface="Times New Roman" panose="02020603050405020304" pitchFamily="18" charset="0"/>
              </a:rPr>
              <a:t>(Beam Search)  </a:t>
            </a:r>
            <a:r>
              <a:rPr lang="zh-CN" altLang="en-US" sz="5000" b="1" kern="100" noProof="1">
                <a:solidFill>
                  <a:srgbClr val="014B88"/>
                </a:solidFill>
                <a:latin typeface="仿宋_GB2312"/>
                <a:cs typeface="Times New Roman" panose="02020603050405020304" pitchFamily="18" charset="0"/>
              </a:rPr>
              <a:t>模拟退火等</a:t>
            </a:r>
            <a:endParaRPr lang="en-US" altLang="zh-CN" sz="5000" b="1" kern="100" noProof="1">
              <a:solidFill>
                <a:srgbClr val="014B88"/>
              </a:solidFill>
              <a:latin typeface="仿宋_GB2312"/>
              <a:cs typeface="Times New Roman" panose="02020603050405020304" pitchFamily="18" charset="0"/>
            </a:endParaRPr>
          </a:p>
          <a:p>
            <a:pPr marL="800100" lvl="1" indent="-342900" algn="just">
              <a:lnSpc>
                <a:spcPct val="210000"/>
              </a:lnSpc>
              <a:buFont typeface="Wingdings" panose="05000000000000000000" pitchFamily="2" charset="2"/>
              <a:buChar char="l"/>
            </a:pPr>
            <a:r>
              <a:rPr lang="zh-CN" altLang="en-US" sz="5000" b="1" kern="100" noProof="1">
                <a:solidFill>
                  <a:srgbClr val="014B88"/>
                </a:solidFill>
                <a:latin typeface="仿宋_GB2312"/>
                <a:cs typeface="Times New Roman" panose="02020603050405020304" pitchFamily="18" charset="0"/>
              </a:rPr>
              <a:t>启发式搜索：</a:t>
            </a:r>
            <a:endParaRPr lang="zh-CN" altLang="en-US" sz="5000" b="1" kern="100" noProof="1">
              <a:solidFill>
                <a:srgbClr val="014B88"/>
              </a:solidFill>
              <a:latin typeface="仿宋_GB2312"/>
              <a:cs typeface="Times New Roman" panose="02020603050405020304" pitchFamily="18" charset="0"/>
            </a:endParaRPr>
          </a:p>
          <a:p>
            <a:pPr>
              <a:spcBef>
                <a:spcPts val="1300"/>
              </a:spcBef>
              <a:buFont typeface="Arial" panose="020B0604020202020204" pitchFamily="34" charset="0"/>
              <a:buNone/>
            </a:pPr>
            <a:r>
              <a:rPr lang="zh-CN" altLang="en-US" sz="5000" noProof="1"/>
              <a:t>		</a:t>
            </a:r>
            <a:r>
              <a:rPr lang="en-US" altLang="zh-CN" sz="5000" noProof="1"/>
              <a:t>	</a:t>
            </a:r>
            <a:r>
              <a:rPr lang="en-US" altLang="zh-CN" sz="5000" b="1" kern="100" noProof="1">
                <a:solidFill>
                  <a:srgbClr val="FF0000"/>
                </a:solidFill>
                <a:latin typeface="仿宋_GB2312"/>
                <a:cs typeface="Times New Roman" panose="02020603050405020304" pitchFamily="18" charset="0"/>
              </a:rPr>
              <a:t>A*</a:t>
            </a:r>
            <a:r>
              <a:rPr lang="zh-CN" altLang="en-US" sz="5000" b="1" kern="100" noProof="1">
                <a:solidFill>
                  <a:srgbClr val="FF0000"/>
                </a:solidFill>
                <a:latin typeface="仿宋_GB2312"/>
                <a:cs typeface="Times New Roman" panose="02020603050405020304" pitchFamily="18" charset="0"/>
              </a:rPr>
              <a:t>算法</a:t>
            </a:r>
            <a:r>
              <a:rPr lang="en-US" altLang="zh-CN" sz="5000" b="1" kern="100" noProof="1">
                <a:solidFill>
                  <a:srgbClr val="014B88"/>
                </a:solidFill>
                <a:latin typeface="仿宋_GB2312"/>
                <a:cs typeface="Times New Roman" panose="02020603050405020304" pitchFamily="18" charset="0"/>
              </a:rPr>
              <a:t>, IDA*</a:t>
            </a:r>
            <a:r>
              <a:rPr lang="zh-CN" altLang="en-US" sz="5000" b="1" kern="100" noProof="1">
                <a:solidFill>
                  <a:srgbClr val="014B88"/>
                </a:solidFill>
                <a:latin typeface="仿宋_GB2312"/>
                <a:cs typeface="Times New Roman" panose="02020603050405020304" pitchFamily="18" charset="0"/>
              </a:rPr>
              <a:t>算法</a:t>
            </a:r>
            <a:r>
              <a:rPr lang="en-US" altLang="zh-CN" sz="5000" b="1" kern="100" noProof="1">
                <a:solidFill>
                  <a:srgbClr val="014B88"/>
                </a:solidFill>
                <a:latin typeface="仿宋_GB2312"/>
                <a:cs typeface="Times New Roman" panose="02020603050405020304" pitchFamily="18" charset="0"/>
              </a:rPr>
              <a:t>(Iterative Deepening A*) </a:t>
            </a:r>
            <a:r>
              <a:rPr lang="en-US" altLang="zh-CN" sz="2800" noProof="1"/>
              <a:t>	    </a:t>
            </a:r>
            <a:endParaRPr lang="en-US" altLang="zh-CN" sz="2800" noProof="1"/>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经典搜索方法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内容占位符 3" descr="300px-Breadth-first-tree_svg.png"/>
          <p:cNvPicPr>
            <a:picLocks noGrp="1" noChangeAspect="1" noChangeArrowheads="1"/>
          </p:cNvPicPr>
          <p:nvPr>
            <p:ph idx="4294967295"/>
          </p:nvPr>
        </p:nvPicPr>
        <p:blipFill>
          <a:blip r:embed="rId1">
            <a:extLst>
              <a:ext uri="{28A0092B-C50C-407E-A947-70E740481C1C}">
                <a14:useLocalDpi xmlns:a14="http://schemas.microsoft.com/office/drawing/2010/main" val="0"/>
              </a:ext>
            </a:extLst>
          </a:blip>
          <a:srcRect/>
          <a:stretch>
            <a:fillRect/>
          </a:stretch>
        </p:blipFill>
        <p:spPr bwMode="auto">
          <a:xfrm>
            <a:off x="7211628" y="1278383"/>
            <a:ext cx="4980372" cy="3676003"/>
          </a:xfrm>
        </p:spPr>
      </p:pic>
      <p:sp>
        <p:nvSpPr>
          <p:cNvPr id="43012" name="TextBox 4"/>
          <p:cNvSpPr txBox="1">
            <a:spLocks noChangeArrowheads="1"/>
          </p:cNvSpPr>
          <p:nvPr/>
        </p:nvSpPr>
        <p:spPr bwMode="auto">
          <a:xfrm>
            <a:off x="417250" y="1628775"/>
            <a:ext cx="6809173" cy="369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nSpc>
                <a:spcPct val="150000"/>
              </a:lnSpc>
            </a:pPr>
            <a:r>
              <a:rPr lang="zh-CN" altLang="en-US" sz="2600" b="1" kern="100" dirty="0">
                <a:solidFill>
                  <a:srgbClr val="014B88"/>
                </a:solidFill>
                <a:latin typeface="仿宋_GB2312"/>
                <a:ea typeface="+mn-ea"/>
                <a:cs typeface="Times New Roman" panose="02020603050405020304" pitchFamily="18" charset="0"/>
              </a:rPr>
              <a:t>算法描述：</a:t>
            </a:r>
            <a:endParaRPr lang="zh-CN" altLang="en-US" sz="2600" b="1" kern="100" dirty="0">
              <a:solidFill>
                <a:srgbClr val="014B88"/>
              </a:solidFill>
              <a:latin typeface="仿宋_GB2312"/>
              <a:ea typeface="+mn-ea"/>
              <a:cs typeface="Times New Roman" panose="02020603050405020304" pitchFamily="18" charset="0"/>
            </a:endParaRPr>
          </a:p>
          <a:p>
            <a:pPr>
              <a:lnSpc>
                <a:spcPct val="150000"/>
              </a:lnSpc>
            </a:pPr>
            <a:r>
              <a:rPr lang="en-US" altLang="zh-CN" sz="2600" b="1" kern="100" dirty="0">
                <a:solidFill>
                  <a:srgbClr val="014B88"/>
                </a:solidFill>
                <a:latin typeface="仿宋_GB2312"/>
                <a:ea typeface="+mn-ea"/>
                <a:cs typeface="Times New Roman" panose="02020603050405020304" pitchFamily="18" charset="0"/>
              </a:rPr>
              <a:t>  </a:t>
            </a:r>
            <a:r>
              <a:rPr lang="zh-CN" altLang="en-US" sz="2600" b="1" kern="100" dirty="0">
                <a:solidFill>
                  <a:srgbClr val="014B88"/>
                </a:solidFill>
                <a:latin typeface="仿宋_GB2312"/>
                <a:ea typeface="+mn-ea"/>
                <a:cs typeface="Times New Roman" panose="02020603050405020304" pitchFamily="18" charset="0"/>
              </a:rPr>
              <a:t>按照广度优先的顺序遍历状态空间，优先搜索当前结点的所有子结点，一般采用队列实现。</a:t>
            </a:r>
            <a:endParaRPr lang="en-US" altLang="zh-CN" sz="2600" b="1" kern="100" dirty="0">
              <a:solidFill>
                <a:srgbClr val="014B88"/>
              </a:solidFill>
              <a:latin typeface="仿宋_GB2312"/>
              <a:ea typeface="+mn-ea"/>
              <a:cs typeface="Times New Roman" panose="02020603050405020304" pitchFamily="18" charset="0"/>
            </a:endParaRPr>
          </a:p>
          <a:p>
            <a:pPr>
              <a:lnSpc>
                <a:spcPct val="150000"/>
              </a:lnSpc>
            </a:pPr>
            <a:r>
              <a:rPr lang="en-US" altLang="zh-CN" sz="2600" b="1" kern="100" dirty="0">
                <a:solidFill>
                  <a:srgbClr val="014B88"/>
                </a:solidFill>
                <a:latin typeface="仿宋_GB2312"/>
                <a:ea typeface="+mn-ea"/>
                <a:cs typeface="Times New Roman" panose="02020603050405020304" pitchFamily="18" charset="0"/>
              </a:rPr>
              <a:t>  </a:t>
            </a:r>
            <a:r>
              <a:rPr lang="zh-CN" altLang="en-US" sz="2600" b="1" kern="100" dirty="0">
                <a:solidFill>
                  <a:srgbClr val="014B88"/>
                </a:solidFill>
                <a:latin typeface="仿宋_GB2312"/>
                <a:ea typeface="+mn-ea"/>
                <a:cs typeface="Times New Roman" panose="02020603050405020304" pitchFamily="18" charset="0"/>
              </a:rPr>
              <a:t>就像你的眼镜掉在地上以后，你趴在地板上找。你总是先摸最接近你的地方，如果没有，再摸远一点的地方</a:t>
            </a:r>
            <a:r>
              <a:rPr lang="en-US" altLang="zh-CN" sz="2600" b="1" kern="100" dirty="0">
                <a:solidFill>
                  <a:srgbClr val="014B88"/>
                </a:solidFill>
                <a:latin typeface="仿宋_GB2312"/>
                <a:ea typeface="+mn-ea"/>
                <a:cs typeface="Times New Roman" panose="02020603050405020304" pitchFamily="18" charset="0"/>
              </a:rPr>
              <a:t>……</a:t>
            </a:r>
            <a:endParaRPr lang="zh-CN" altLang="en-US" sz="2600" b="1" kern="100" dirty="0">
              <a:solidFill>
                <a:srgbClr val="014B88"/>
              </a:solidFill>
              <a:latin typeface="仿宋_GB2312"/>
              <a:ea typeface="+mn-ea"/>
              <a:cs typeface="Times New Roman" panose="02020603050405020304" pitchFamily="18" charset="0"/>
            </a:endParaRPr>
          </a:p>
        </p:txBody>
      </p:sp>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广度优先搜索（</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3012">
                                            <p:txEl>
                                              <p:pRg st="0" end="0"/>
                                            </p:txEl>
                                          </p:spTgt>
                                        </p:tgtEl>
                                        <p:attrNameLst>
                                          <p:attrName>style.visibility</p:attrName>
                                        </p:attrNameLst>
                                      </p:cBhvr>
                                      <p:to>
                                        <p:strVal val="visible"/>
                                      </p:to>
                                    </p:set>
                                    <p:animEffect transition="in" filter="wipe(down)">
                                      <p:cBhvr>
                                        <p:cTn id="7" dur="500"/>
                                        <p:tgtEl>
                                          <p:spTgt spid="430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3012">
                                            <p:txEl>
                                              <p:pRg st="1" end="1"/>
                                            </p:txEl>
                                          </p:spTgt>
                                        </p:tgtEl>
                                        <p:attrNameLst>
                                          <p:attrName>style.visibility</p:attrName>
                                        </p:attrNameLst>
                                      </p:cBhvr>
                                      <p:to>
                                        <p:strVal val="visible"/>
                                      </p:to>
                                    </p:set>
                                    <p:animEffect transition="in" filter="wipe(down)">
                                      <p:cBhvr>
                                        <p:cTn id="12" dur="500"/>
                                        <p:tgtEl>
                                          <p:spTgt spid="430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3012">
                                            <p:txEl>
                                              <p:pRg st="2" end="2"/>
                                            </p:txEl>
                                          </p:spTgt>
                                        </p:tgtEl>
                                        <p:attrNameLst>
                                          <p:attrName>style.visibility</p:attrName>
                                        </p:attrNameLst>
                                      </p:cBhvr>
                                      <p:to>
                                        <p:strVal val="visible"/>
                                      </p:to>
                                    </p:set>
                                    <p:animEffect transition="in" filter="wipe(down)">
                                      <p:cBhvr>
                                        <p:cTn id="17" dur="500"/>
                                        <p:tgtEl>
                                          <p:spTgt spid="4301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2"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5" name="内容占位符 2"/>
          <p:cNvSpPr>
            <a:spLocks noGrp="1"/>
          </p:cNvSpPr>
          <p:nvPr>
            <p:ph idx="4294967295"/>
          </p:nvPr>
        </p:nvSpPr>
        <p:spPr>
          <a:xfrm>
            <a:off x="658426" y="1102524"/>
            <a:ext cx="10875147" cy="5514975"/>
          </a:xfrm>
        </p:spPr>
        <p:txBody>
          <a:bodyPr vert="horz" wrap="square" anchor="t">
            <a:normAutofit fontScale="77500" lnSpcReduction="20000"/>
          </a:bodyPr>
          <a:lstStyle/>
          <a:p>
            <a:pPr marL="548005" indent="-411480">
              <a:lnSpc>
                <a:spcPct val="145000"/>
              </a:lnSpc>
              <a:spcBef>
                <a:spcPts val="0"/>
              </a:spcBef>
              <a:buNone/>
            </a:pPr>
            <a:r>
              <a:rPr lang="en-US" altLang="zh-CN" sz="2900" b="1" noProof="1">
                <a:solidFill>
                  <a:srgbClr val="014B88"/>
                </a:solidFill>
                <a:latin typeface="Consolas" panose="020B0609020204030204" pitchFamily="49" charset="0"/>
              </a:rPr>
              <a:t>v</a:t>
            </a:r>
            <a:r>
              <a:rPr lang="en-US" altLang="x-none" sz="2900" b="1" noProof="1">
                <a:solidFill>
                  <a:srgbClr val="014B88"/>
                </a:solidFill>
                <a:latin typeface="Consolas" panose="020B0609020204030204" pitchFamily="49" charset="0"/>
              </a:rPr>
              <a:t>oid BFS(){//</a:t>
            </a:r>
            <a:r>
              <a:rPr lang="zh-CN" altLang="en-US" sz="2900" b="1" noProof="1">
                <a:solidFill>
                  <a:srgbClr val="014B88"/>
                </a:solidFill>
                <a:latin typeface="Consolas" panose="020B0609020204030204" pitchFamily="49" charset="0"/>
              </a:rPr>
              <a:t>按照广度优先遍历图</a:t>
            </a:r>
            <a:r>
              <a:rPr lang="en-US" altLang="zh-CN" sz="2900" b="1" noProof="1">
                <a:solidFill>
                  <a:srgbClr val="014B88"/>
                </a:solidFill>
                <a:latin typeface="Consolas" panose="020B0609020204030204" pitchFamily="49" charset="0"/>
              </a:rPr>
              <a:t>G</a:t>
            </a:r>
            <a:r>
              <a:rPr lang="zh-CN" altLang="en-US" sz="2900" b="1" noProof="1">
                <a:solidFill>
                  <a:srgbClr val="014B88"/>
                </a:solidFill>
                <a:latin typeface="Consolas" panose="020B0609020204030204" pitchFamily="49" charset="0"/>
              </a:rPr>
              <a:t>。使用队列</a:t>
            </a:r>
            <a:r>
              <a:rPr lang="en-US" altLang="zh-CN" sz="2900" b="1" noProof="1">
                <a:solidFill>
                  <a:srgbClr val="014B88"/>
                </a:solidFill>
                <a:latin typeface="Consolas" panose="020B0609020204030204" pitchFamily="49" charset="0"/>
              </a:rPr>
              <a:t>Q</a:t>
            </a:r>
            <a:r>
              <a:rPr lang="zh-CN" altLang="en-US" sz="2900" b="1" noProof="1">
                <a:solidFill>
                  <a:srgbClr val="014B88"/>
                </a:solidFill>
                <a:latin typeface="Consolas" panose="020B0609020204030204" pitchFamily="49" charset="0"/>
              </a:rPr>
              <a:t>和访问数组</a:t>
            </a:r>
            <a:r>
              <a:rPr lang="en-US" altLang="zh-CN" sz="2900" b="1" noProof="1">
                <a:solidFill>
                  <a:srgbClr val="014B88"/>
                </a:solidFill>
                <a:latin typeface="Consolas" panose="020B0609020204030204" pitchFamily="49" charset="0"/>
              </a:rPr>
              <a:t>visit</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for(v=0;v&lt;maxn;v++)visit[v] = false;</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Q.clear();</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Q.push(start);//</a:t>
            </a:r>
            <a:r>
              <a:rPr lang="zh-CN" altLang="en-US" sz="2900" b="1" noProof="1">
                <a:solidFill>
                  <a:srgbClr val="014B88"/>
                </a:solidFill>
                <a:latin typeface="Consolas" panose="020B0609020204030204" pitchFamily="49" charset="0"/>
              </a:rPr>
              <a:t>放入队头</a:t>
            </a:r>
            <a:endParaRPr lang="zh-CN" altLang="en-US"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while(!Q.empty()){</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u = Q.front();Q.pop();//</a:t>
            </a:r>
            <a:r>
              <a:rPr lang="zh-CN" altLang="en-US" sz="2900" b="1" noProof="1">
                <a:solidFill>
                  <a:srgbClr val="014B88"/>
                </a:solidFill>
                <a:latin typeface="Consolas" panose="020B0609020204030204" pitchFamily="49" charset="0"/>
              </a:rPr>
              <a:t>队头元素出队并置为</a:t>
            </a:r>
            <a:r>
              <a:rPr lang="en-US" altLang="zh-CN" sz="2900" b="1" noProof="1">
                <a:solidFill>
                  <a:srgbClr val="014B88"/>
                </a:solidFill>
                <a:latin typeface="Consolas" panose="020B0609020204030204" pitchFamily="49" charset="0"/>
              </a:rPr>
              <a:t>u</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visit[u] = true;</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a:t>
            </a:r>
            <a:r>
              <a:rPr lang="zh-CN" altLang="en-US" sz="2900" b="1" noProof="1">
                <a:solidFill>
                  <a:srgbClr val="014B88"/>
                </a:solidFill>
                <a:latin typeface="Consolas" panose="020B0609020204030204" pitchFamily="49" charset="0"/>
              </a:rPr>
              <a:t>具体函数实现</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if(!visit[w])Q.push(w);//</a:t>
            </a:r>
            <a:r>
              <a:rPr lang="zh-CN" altLang="en-US" sz="2900" b="1" noProof="1">
                <a:solidFill>
                  <a:srgbClr val="014B88"/>
                </a:solidFill>
                <a:latin typeface="Consolas" panose="020B0609020204030204" pitchFamily="49" charset="0"/>
              </a:rPr>
              <a:t>对于每个和</a:t>
            </a:r>
            <a:r>
              <a:rPr lang="en-US" altLang="zh-CN" sz="2900" b="1" noProof="1">
                <a:solidFill>
                  <a:srgbClr val="014B88"/>
                </a:solidFill>
                <a:latin typeface="Consolas" panose="020B0609020204030204" pitchFamily="49" charset="0"/>
              </a:rPr>
              <a:t>u</a:t>
            </a:r>
            <a:r>
              <a:rPr lang="zh-CN" altLang="en-US" sz="2900" b="1" noProof="1">
                <a:solidFill>
                  <a:srgbClr val="014B88"/>
                </a:solidFill>
                <a:latin typeface="Consolas" panose="020B0609020204030204" pitchFamily="49" charset="0"/>
              </a:rPr>
              <a:t>相邻的元素</a:t>
            </a:r>
            <a:r>
              <a:rPr lang="en-US" altLang="zh-CN" sz="2900" b="1" noProof="1">
                <a:solidFill>
                  <a:srgbClr val="014B88"/>
                </a:solidFill>
                <a:latin typeface="Consolas" panose="020B0609020204030204" pitchFamily="49" charset="0"/>
              </a:rPr>
              <a:t>w</a:t>
            </a:r>
            <a:r>
              <a:rPr lang="zh-CN" altLang="en-US" sz="2900" b="1" noProof="1">
                <a:solidFill>
                  <a:srgbClr val="014B88"/>
                </a:solidFill>
                <a:latin typeface="Consolas" panose="020B0609020204030204" pitchFamily="49" charset="0"/>
              </a:rPr>
              <a:t>的尚未访问的邻接顶点</a:t>
            </a:r>
            <a:r>
              <a:rPr lang="en-US" altLang="zh-CN" sz="2900" b="1" noProof="1">
                <a:solidFill>
                  <a:srgbClr val="014B88"/>
                </a:solidFill>
                <a:latin typeface="Consolas" panose="020B0609020204030204" pitchFamily="49" charset="0"/>
              </a:rPr>
              <a:t>w</a:t>
            </a:r>
            <a:r>
              <a:rPr lang="zh-CN" altLang="en-US" sz="2900" b="1" noProof="1">
                <a:solidFill>
                  <a:srgbClr val="014B88"/>
                </a:solidFill>
                <a:latin typeface="Consolas" panose="020B0609020204030204" pitchFamily="49" charset="0"/>
              </a:rPr>
              <a:t>入队列</a:t>
            </a:r>
            <a:r>
              <a:rPr lang="en-US" altLang="zh-CN" sz="2900" b="1" noProof="1">
                <a:solidFill>
                  <a:srgbClr val="014B88"/>
                </a:solidFill>
                <a:latin typeface="Consolas" panose="020B0609020204030204" pitchFamily="49" charset="0"/>
              </a:rPr>
              <a:t>Q</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	}</a:t>
            </a:r>
            <a:endParaRPr lang="en-US" altLang="zh-CN" sz="2900" b="1" noProof="1">
              <a:solidFill>
                <a:srgbClr val="014B88"/>
              </a:solidFill>
              <a:latin typeface="Consolas" panose="020B0609020204030204" pitchFamily="49" charset="0"/>
            </a:endParaRPr>
          </a:p>
          <a:p>
            <a:pPr marL="548005" indent="-411480">
              <a:lnSpc>
                <a:spcPct val="145000"/>
              </a:lnSpc>
              <a:spcBef>
                <a:spcPts val="0"/>
              </a:spcBef>
              <a:buNone/>
            </a:pPr>
            <a:r>
              <a:rPr lang="en-US" altLang="zh-CN" sz="2900" b="1" noProof="1">
                <a:solidFill>
                  <a:srgbClr val="014B88"/>
                </a:solidFill>
                <a:latin typeface="Consolas" panose="020B0609020204030204" pitchFamily="49" charset="0"/>
              </a:rPr>
              <a:t>}</a:t>
            </a:r>
            <a:endParaRPr lang="en-US" altLang="zh-CN" sz="2900" b="1" noProof="1">
              <a:solidFill>
                <a:srgbClr val="014B88"/>
              </a:solidFill>
              <a:latin typeface="Consolas" panose="020B0609020204030204" pitchFamily="49"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广度优先搜索（</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文本占位符 19458"/>
          <p:cNvSpPr>
            <a:spLocks noGrp="1" noRot="1"/>
          </p:cNvSpPr>
          <p:nvPr>
            <p:ph type="body" idx="4294967295"/>
          </p:nvPr>
        </p:nvSpPr>
        <p:spPr>
          <a:xfrm>
            <a:off x="718879" y="972053"/>
            <a:ext cx="10515600" cy="1947587"/>
          </a:xfrm>
        </p:spPr>
        <p:txBody>
          <a:bodyPr/>
          <a:lstStyle/>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被大魔王关在了迷宫里，现在大魔王出差离开了迷宫，路人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想趁机逃出去，请机智勇敢的你帮他找一条路逃出去。路人</a:t>
            </a:r>
            <a:r>
              <a:rPr lang="en-US" altLang="zh-CN" sz="2600" b="1" kern="100" noProof="1">
                <a:solidFill>
                  <a:srgbClr val="014B88"/>
                </a:solidFill>
                <a:latin typeface="仿宋_GB2312"/>
                <a:cs typeface="Times New Roman" panose="02020603050405020304" pitchFamily="18" charset="0"/>
              </a:rPr>
              <a:t>A</a:t>
            </a:r>
            <a:r>
              <a:rPr lang="zh-CN" altLang="en-US" sz="2600" b="1" kern="100" noProof="1">
                <a:solidFill>
                  <a:srgbClr val="014B88"/>
                </a:solidFill>
                <a:latin typeface="仿宋_GB2312"/>
                <a:cs typeface="Times New Roman" panose="02020603050405020304" pitchFamily="18" charset="0"/>
              </a:rPr>
              <a:t>的位置是</a:t>
            </a:r>
            <a:r>
              <a:rPr lang="en-US" altLang="zh-CN" sz="2600" b="1" kern="100" noProof="1">
                <a:solidFill>
                  <a:srgbClr val="014B88"/>
                </a:solidFill>
                <a:latin typeface="仿宋_GB2312"/>
                <a:cs typeface="Times New Roman" panose="02020603050405020304" pitchFamily="18" charset="0"/>
              </a:rPr>
              <a:t>(1,1)</a:t>
            </a:r>
            <a:r>
              <a:rPr lang="zh-CN" altLang="en-US" sz="2600" b="1" kern="100" noProof="1">
                <a:solidFill>
                  <a:srgbClr val="014B88"/>
                </a:solidFill>
                <a:latin typeface="仿宋_GB2312"/>
                <a:cs typeface="Times New Roman" panose="02020603050405020304" pitchFamily="18" charset="0"/>
              </a:rPr>
              <a:t>，终点位置在</a:t>
            </a:r>
            <a:r>
              <a:rPr lang="en-US" altLang="zh-CN" sz="2600" b="1" kern="100" noProof="1">
                <a:solidFill>
                  <a:srgbClr val="014B88"/>
                </a:solidFill>
                <a:latin typeface="仿宋_GB2312"/>
                <a:cs typeface="Times New Roman" panose="02020603050405020304" pitchFamily="18" charset="0"/>
              </a:rPr>
              <a:t>(1,8)</a:t>
            </a:r>
            <a:endParaRPr lang="en-US" altLang="zh-CN" sz="2600" b="1" kern="100" noProof="1">
              <a:solidFill>
                <a:srgbClr val="014B88"/>
              </a:solidFill>
              <a:latin typeface="仿宋_GB2312"/>
              <a:cs typeface="Times New Roman" panose="02020603050405020304" pitchFamily="18" charset="0"/>
            </a:endParaRPr>
          </a:p>
        </p:txBody>
      </p:sp>
      <p:grpSp>
        <p:nvGrpSpPr>
          <p:cNvPr id="19460" name="Group 2"/>
          <p:cNvGrpSpPr/>
          <p:nvPr/>
        </p:nvGrpSpPr>
        <p:grpSpPr bwMode="auto">
          <a:xfrm>
            <a:off x="3843079" y="2906438"/>
            <a:ext cx="3657600" cy="3733800"/>
            <a:chOff x="0" y="0"/>
            <a:chExt cx="2304" cy="2352"/>
          </a:xfrm>
        </p:grpSpPr>
        <p:sp>
          <p:nvSpPr>
            <p:cNvPr id="12292" name="Rectangle 3"/>
            <p:cNvSpPr>
              <a:spLocks noChangeArrowheads="1"/>
            </p:cNvSpPr>
            <p:nvPr/>
          </p:nvSpPr>
          <p:spPr bwMode="auto">
            <a:xfrm>
              <a:off x="38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3" name="Rectangle 4"/>
            <p:cNvSpPr>
              <a:spLocks noChangeArrowheads="1"/>
            </p:cNvSpPr>
            <p:nvPr/>
          </p:nvSpPr>
          <p:spPr bwMode="auto">
            <a:xfrm>
              <a:off x="62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4" name="Rectangle 5"/>
            <p:cNvSpPr>
              <a:spLocks noChangeArrowheads="1"/>
            </p:cNvSpPr>
            <p:nvPr/>
          </p:nvSpPr>
          <p:spPr bwMode="auto">
            <a:xfrm>
              <a:off x="864" y="4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5" name="Rectangle 6"/>
            <p:cNvSpPr>
              <a:spLocks noChangeArrowheads="1"/>
            </p:cNvSpPr>
            <p:nvPr/>
          </p:nvSpPr>
          <p:spPr bwMode="auto">
            <a:xfrm>
              <a:off x="110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6" name="Rectangle 7"/>
            <p:cNvSpPr>
              <a:spLocks noChangeArrowheads="1"/>
            </p:cNvSpPr>
            <p:nvPr/>
          </p:nvSpPr>
          <p:spPr bwMode="auto">
            <a:xfrm>
              <a:off x="134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7" name="Rectangle 8"/>
            <p:cNvSpPr>
              <a:spLocks noChangeArrowheads="1"/>
            </p:cNvSpPr>
            <p:nvPr/>
          </p:nvSpPr>
          <p:spPr bwMode="auto">
            <a:xfrm>
              <a:off x="158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8" name="Rectangle 9"/>
            <p:cNvSpPr>
              <a:spLocks noChangeArrowheads="1"/>
            </p:cNvSpPr>
            <p:nvPr/>
          </p:nvSpPr>
          <p:spPr bwMode="auto">
            <a:xfrm>
              <a:off x="1824" y="4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299" name="Rectangle 10"/>
            <p:cNvSpPr>
              <a:spLocks noChangeArrowheads="1"/>
            </p:cNvSpPr>
            <p:nvPr/>
          </p:nvSpPr>
          <p:spPr bwMode="auto">
            <a:xfrm>
              <a:off x="2064" y="4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0" name="Rectangle 11"/>
            <p:cNvSpPr>
              <a:spLocks noChangeArrowheads="1"/>
            </p:cNvSpPr>
            <p:nvPr/>
          </p:nvSpPr>
          <p:spPr bwMode="auto">
            <a:xfrm>
              <a:off x="38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1" name="Rectangle 12"/>
            <p:cNvSpPr>
              <a:spLocks noChangeArrowheads="1"/>
            </p:cNvSpPr>
            <p:nvPr/>
          </p:nvSpPr>
          <p:spPr bwMode="auto">
            <a:xfrm>
              <a:off x="62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2" name="Rectangle 13"/>
            <p:cNvSpPr>
              <a:spLocks noChangeArrowheads="1"/>
            </p:cNvSpPr>
            <p:nvPr/>
          </p:nvSpPr>
          <p:spPr bwMode="auto">
            <a:xfrm>
              <a:off x="864" y="6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3" name="Rectangle 14"/>
            <p:cNvSpPr>
              <a:spLocks noChangeArrowheads="1"/>
            </p:cNvSpPr>
            <p:nvPr/>
          </p:nvSpPr>
          <p:spPr bwMode="auto">
            <a:xfrm>
              <a:off x="110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4" name="Rectangle 15"/>
            <p:cNvSpPr>
              <a:spLocks noChangeArrowheads="1"/>
            </p:cNvSpPr>
            <p:nvPr/>
          </p:nvSpPr>
          <p:spPr bwMode="auto">
            <a:xfrm>
              <a:off x="134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5" name="Rectangle 16"/>
            <p:cNvSpPr>
              <a:spLocks noChangeArrowheads="1"/>
            </p:cNvSpPr>
            <p:nvPr/>
          </p:nvSpPr>
          <p:spPr bwMode="auto">
            <a:xfrm>
              <a:off x="158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6" name="Rectangle 17"/>
            <p:cNvSpPr>
              <a:spLocks noChangeArrowheads="1"/>
            </p:cNvSpPr>
            <p:nvPr/>
          </p:nvSpPr>
          <p:spPr bwMode="auto">
            <a:xfrm>
              <a:off x="1824" y="6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7" name="Rectangle 18"/>
            <p:cNvSpPr>
              <a:spLocks noChangeArrowheads="1"/>
            </p:cNvSpPr>
            <p:nvPr/>
          </p:nvSpPr>
          <p:spPr bwMode="auto">
            <a:xfrm>
              <a:off x="2064" y="6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8" name="Rectangle 19"/>
            <p:cNvSpPr>
              <a:spLocks noChangeArrowheads="1"/>
            </p:cNvSpPr>
            <p:nvPr/>
          </p:nvSpPr>
          <p:spPr bwMode="auto">
            <a:xfrm>
              <a:off x="38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09" name="Rectangle 20"/>
            <p:cNvSpPr>
              <a:spLocks noChangeArrowheads="1"/>
            </p:cNvSpPr>
            <p:nvPr/>
          </p:nvSpPr>
          <p:spPr bwMode="auto">
            <a:xfrm>
              <a:off x="62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0" name="Rectangle 21"/>
            <p:cNvSpPr>
              <a:spLocks noChangeArrowheads="1"/>
            </p:cNvSpPr>
            <p:nvPr/>
          </p:nvSpPr>
          <p:spPr bwMode="auto">
            <a:xfrm>
              <a:off x="86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1" name="Rectangle 22"/>
            <p:cNvSpPr>
              <a:spLocks noChangeArrowheads="1"/>
            </p:cNvSpPr>
            <p:nvPr/>
          </p:nvSpPr>
          <p:spPr bwMode="auto">
            <a:xfrm>
              <a:off x="110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2" name="Rectangle 23"/>
            <p:cNvSpPr>
              <a:spLocks noChangeArrowheads="1"/>
            </p:cNvSpPr>
            <p:nvPr/>
          </p:nvSpPr>
          <p:spPr bwMode="auto">
            <a:xfrm>
              <a:off x="1344" y="9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3" name="Rectangle 24"/>
            <p:cNvSpPr>
              <a:spLocks noChangeArrowheads="1"/>
            </p:cNvSpPr>
            <p:nvPr/>
          </p:nvSpPr>
          <p:spPr bwMode="auto">
            <a:xfrm>
              <a:off x="1584" y="9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4" name="Rectangle 25"/>
            <p:cNvSpPr>
              <a:spLocks noChangeArrowheads="1"/>
            </p:cNvSpPr>
            <p:nvPr/>
          </p:nvSpPr>
          <p:spPr bwMode="auto">
            <a:xfrm>
              <a:off x="182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5" name="Rectangle 26"/>
            <p:cNvSpPr>
              <a:spLocks noChangeArrowheads="1"/>
            </p:cNvSpPr>
            <p:nvPr/>
          </p:nvSpPr>
          <p:spPr bwMode="auto">
            <a:xfrm>
              <a:off x="2064" y="9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6" name="Rectangle 27"/>
            <p:cNvSpPr>
              <a:spLocks noChangeArrowheads="1"/>
            </p:cNvSpPr>
            <p:nvPr/>
          </p:nvSpPr>
          <p:spPr bwMode="auto">
            <a:xfrm>
              <a:off x="38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7" name="Rectangle 28"/>
            <p:cNvSpPr>
              <a:spLocks noChangeArrowheads="1"/>
            </p:cNvSpPr>
            <p:nvPr/>
          </p:nvSpPr>
          <p:spPr bwMode="auto">
            <a:xfrm>
              <a:off x="62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8" name="Rectangle 29"/>
            <p:cNvSpPr>
              <a:spLocks noChangeArrowheads="1"/>
            </p:cNvSpPr>
            <p:nvPr/>
          </p:nvSpPr>
          <p:spPr bwMode="auto">
            <a:xfrm>
              <a:off x="86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19" name="Rectangle 30"/>
            <p:cNvSpPr>
              <a:spLocks noChangeArrowheads="1"/>
            </p:cNvSpPr>
            <p:nvPr/>
          </p:nvSpPr>
          <p:spPr bwMode="auto">
            <a:xfrm>
              <a:off x="1104" y="115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0" name="Rectangle 31"/>
            <p:cNvSpPr>
              <a:spLocks noChangeArrowheads="1"/>
            </p:cNvSpPr>
            <p:nvPr/>
          </p:nvSpPr>
          <p:spPr bwMode="auto">
            <a:xfrm>
              <a:off x="134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1" name="Rectangle 32"/>
            <p:cNvSpPr>
              <a:spLocks noChangeArrowheads="1"/>
            </p:cNvSpPr>
            <p:nvPr/>
          </p:nvSpPr>
          <p:spPr bwMode="auto">
            <a:xfrm>
              <a:off x="158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2" name="Rectangle 33"/>
            <p:cNvSpPr>
              <a:spLocks noChangeArrowheads="1"/>
            </p:cNvSpPr>
            <p:nvPr/>
          </p:nvSpPr>
          <p:spPr bwMode="auto">
            <a:xfrm>
              <a:off x="182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3" name="Rectangle 34"/>
            <p:cNvSpPr>
              <a:spLocks noChangeArrowheads="1"/>
            </p:cNvSpPr>
            <p:nvPr/>
          </p:nvSpPr>
          <p:spPr bwMode="auto">
            <a:xfrm>
              <a:off x="2064" y="115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4" name="Rectangle 35"/>
            <p:cNvSpPr>
              <a:spLocks noChangeArrowheads="1"/>
            </p:cNvSpPr>
            <p:nvPr/>
          </p:nvSpPr>
          <p:spPr bwMode="auto">
            <a:xfrm>
              <a:off x="38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5" name="Rectangle 36"/>
            <p:cNvSpPr>
              <a:spLocks noChangeArrowheads="1"/>
            </p:cNvSpPr>
            <p:nvPr/>
          </p:nvSpPr>
          <p:spPr bwMode="auto">
            <a:xfrm>
              <a:off x="62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6" name="Rectangle 37"/>
            <p:cNvSpPr>
              <a:spLocks noChangeArrowheads="1"/>
            </p:cNvSpPr>
            <p:nvPr/>
          </p:nvSpPr>
          <p:spPr bwMode="auto">
            <a:xfrm>
              <a:off x="86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7" name="Rectangle 38"/>
            <p:cNvSpPr>
              <a:spLocks noChangeArrowheads="1"/>
            </p:cNvSpPr>
            <p:nvPr/>
          </p:nvSpPr>
          <p:spPr bwMode="auto">
            <a:xfrm>
              <a:off x="1104" y="139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8" name="Rectangle 39"/>
            <p:cNvSpPr>
              <a:spLocks noChangeArrowheads="1"/>
            </p:cNvSpPr>
            <p:nvPr/>
          </p:nvSpPr>
          <p:spPr bwMode="auto">
            <a:xfrm>
              <a:off x="134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29" name="Rectangle 40"/>
            <p:cNvSpPr>
              <a:spLocks noChangeArrowheads="1"/>
            </p:cNvSpPr>
            <p:nvPr/>
          </p:nvSpPr>
          <p:spPr bwMode="auto">
            <a:xfrm>
              <a:off x="158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0" name="Rectangle 41"/>
            <p:cNvSpPr>
              <a:spLocks noChangeArrowheads="1"/>
            </p:cNvSpPr>
            <p:nvPr/>
          </p:nvSpPr>
          <p:spPr bwMode="auto">
            <a:xfrm>
              <a:off x="182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1" name="Rectangle 42"/>
            <p:cNvSpPr>
              <a:spLocks noChangeArrowheads="1"/>
            </p:cNvSpPr>
            <p:nvPr/>
          </p:nvSpPr>
          <p:spPr bwMode="auto">
            <a:xfrm>
              <a:off x="2064" y="139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2" name="Rectangle 43"/>
            <p:cNvSpPr>
              <a:spLocks noChangeArrowheads="1"/>
            </p:cNvSpPr>
            <p:nvPr/>
          </p:nvSpPr>
          <p:spPr bwMode="auto">
            <a:xfrm>
              <a:off x="38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3" name="Rectangle 44"/>
            <p:cNvSpPr>
              <a:spLocks noChangeArrowheads="1"/>
            </p:cNvSpPr>
            <p:nvPr/>
          </p:nvSpPr>
          <p:spPr bwMode="auto">
            <a:xfrm>
              <a:off x="624" y="16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4" name="Rectangle 45"/>
            <p:cNvSpPr>
              <a:spLocks noChangeArrowheads="1"/>
            </p:cNvSpPr>
            <p:nvPr/>
          </p:nvSpPr>
          <p:spPr bwMode="auto">
            <a:xfrm>
              <a:off x="86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5" name="Rectangle 46"/>
            <p:cNvSpPr>
              <a:spLocks noChangeArrowheads="1"/>
            </p:cNvSpPr>
            <p:nvPr/>
          </p:nvSpPr>
          <p:spPr bwMode="auto">
            <a:xfrm>
              <a:off x="110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6" name="Rectangle 47"/>
            <p:cNvSpPr>
              <a:spLocks noChangeArrowheads="1"/>
            </p:cNvSpPr>
            <p:nvPr/>
          </p:nvSpPr>
          <p:spPr bwMode="auto">
            <a:xfrm>
              <a:off x="134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7" name="Rectangle 48"/>
            <p:cNvSpPr>
              <a:spLocks noChangeArrowheads="1"/>
            </p:cNvSpPr>
            <p:nvPr/>
          </p:nvSpPr>
          <p:spPr bwMode="auto">
            <a:xfrm>
              <a:off x="1584" y="163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8" name="Rectangle 49"/>
            <p:cNvSpPr>
              <a:spLocks noChangeArrowheads="1"/>
            </p:cNvSpPr>
            <p:nvPr/>
          </p:nvSpPr>
          <p:spPr bwMode="auto">
            <a:xfrm>
              <a:off x="182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39" name="Rectangle 50"/>
            <p:cNvSpPr>
              <a:spLocks noChangeArrowheads="1"/>
            </p:cNvSpPr>
            <p:nvPr/>
          </p:nvSpPr>
          <p:spPr bwMode="auto">
            <a:xfrm>
              <a:off x="2064" y="163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0" name="Rectangle 51"/>
            <p:cNvSpPr>
              <a:spLocks noChangeArrowheads="1"/>
            </p:cNvSpPr>
            <p:nvPr/>
          </p:nvSpPr>
          <p:spPr bwMode="auto">
            <a:xfrm>
              <a:off x="38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1" name="Rectangle 52"/>
            <p:cNvSpPr>
              <a:spLocks noChangeArrowheads="1"/>
            </p:cNvSpPr>
            <p:nvPr/>
          </p:nvSpPr>
          <p:spPr bwMode="auto">
            <a:xfrm>
              <a:off x="62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2" name="Rectangle 53"/>
            <p:cNvSpPr>
              <a:spLocks noChangeArrowheads="1"/>
            </p:cNvSpPr>
            <p:nvPr/>
          </p:nvSpPr>
          <p:spPr bwMode="auto">
            <a:xfrm>
              <a:off x="86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3" name="Rectangle 54"/>
            <p:cNvSpPr>
              <a:spLocks noChangeArrowheads="1"/>
            </p:cNvSpPr>
            <p:nvPr/>
          </p:nvSpPr>
          <p:spPr bwMode="auto">
            <a:xfrm>
              <a:off x="110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4" name="Rectangle 55"/>
            <p:cNvSpPr>
              <a:spLocks noChangeArrowheads="1"/>
            </p:cNvSpPr>
            <p:nvPr/>
          </p:nvSpPr>
          <p:spPr bwMode="auto">
            <a:xfrm>
              <a:off x="134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5" name="Rectangle 56"/>
            <p:cNvSpPr>
              <a:spLocks noChangeArrowheads="1"/>
            </p:cNvSpPr>
            <p:nvPr/>
          </p:nvSpPr>
          <p:spPr bwMode="auto">
            <a:xfrm>
              <a:off x="158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6" name="Rectangle 57"/>
            <p:cNvSpPr>
              <a:spLocks noChangeArrowheads="1"/>
            </p:cNvSpPr>
            <p:nvPr/>
          </p:nvSpPr>
          <p:spPr bwMode="auto">
            <a:xfrm>
              <a:off x="1824" y="187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7" name="Rectangle 58"/>
            <p:cNvSpPr>
              <a:spLocks noChangeArrowheads="1"/>
            </p:cNvSpPr>
            <p:nvPr/>
          </p:nvSpPr>
          <p:spPr bwMode="auto">
            <a:xfrm>
              <a:off x="2064" y="187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8" name="Rectangle 59"/>
            <p:cNvSpPr>
              <a:spLocks noChangeArrowheads="1"/>
            </p:cNvSpPr>
            <p:nvPr/>
          </p:nvSpPr>
          <p:spPr bwMode="auto">
            <a:xfrm>
              <a:off x="384" y="21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49" name="Rectangle 60"/>
            <p:cNvSpPr>
              <a:spLocks noChangeArrowheads="1"/>
            </p:cNvSpPr>
            <p:nvPr/>
          </p:nvSpPr>
          <p:spPr bwMode="auto">
            <a:xfrm>
              <a:off x="624" y="2112"/>
              <a:ext cx="240" cy="24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0" name="Rectangle 61"/>
            <p:cNvSpPr>
              <a:spLocks noChangeArrowheads="1"/>
            </p:cNvSpPr>
            <p:nvPr/>
          </p:nvSpPr>
          <p:spPr bwMode="auto">
            <a:xfrm>
              <a:off x="86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1" name="Rectangle 62"/>
            <p:cNvSpPr>
              <a:spLocks noChangeArrowheads="1"/>
            </p:cNvSpPr>
            <p:nvPr/>
          </p:nvSpPr>
          <p:spPr bwMode="auto">
            <a:xfrm>
              <a:off x="110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2" name="Rectangle 63"/>
            <p:cNvSpPr>
              <a:spLocks noChangeArrowheads="1"/>
            </p:cNvSpPr>
            <p:nvPr/>
          </p:nvSpPr>
          <p:spPr bwMode="auto">
            <a:xfrm>
              <a:off x="134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3" name="Rectangle 64"/>
            <p:cNvSpPr>
              <a:spLocks noChangeArrowheads="1"/>
            </p:cNvSpPr>
            <p:nvPr/>
          </p:nvSpPr>
          <p:spPr bwMode="auto">
            <a:xfrm>
              <a:off x="158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4" name="Rectangle 65"/>
            <p:cNvSpPr>
              <a:spLocks noChangeArrowheads="1"/>
            </p:cNvSpPr>
            <p:nvPr/>
          </p:nvSpPr>
          <p:spPr bwMode="auto">
            <a:xfrm>
              <a:off x="182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2355" name="Rectangle 66"/>
            <p:cNvSpPr>
              <a:spLocks noChangeArrowheads="1"/>
            </p:cNvSpPr>
            <p:nvPr/>
          </p:nvSpPr>
          <p:spPr bwMode="auto">
            <a:xfrm>
              <a:off x="2064" y="2112"/>
              <a:ext cx="240" cy="24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grpSp>
          <p:nvGrpSpPr>
            <p:cNvPr id="12356" name="Group 67"/>
            <p:cNvGrpSpPr/>
            <p:nvPr/>
          </p:nvGrpSpPr>
          <p:grpSpPr bwMode="auto">
            <a:xfrm>
              <a:off x="384" y="0"/>
              <a:ext cx="1920" cy="240"/>
              <a:chOff x="0" y="0"/>
              <a:chExt cx="1920" cy="240"/>
            </a:xfrm>
          </p:grpSpPr>
          <p:sp>
            <p:nvSpPr>
              <p:cNvPr id="12357" name="Rectangle 68"/>
              <p:cNvSpPr>
                <a:spLocks noChangeArrowheads="1"/>
              </p:cNvSpPr>
              <p:nvPr/>
            </p:nvSpPr>
            <p:spPr bwMode="auto">
              <a:xfrm>
                <a:off x="16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dirty="0">
                    <a:solidFill>
                      <a:schemeClr val="folHlink"/>
                    </a:solidFill>
                    <a:latin typeface="Tahoma" panose="020B0604030504040204" pitchFamily="34" charset="0"/>
                    <a:sym typeface="Tahoma" panose="020B0604030504040204" pitchFamily="34" charset="0"/>
                  </a:rPr>
                  <a:t>8</a:t>
                </a:r>
                <a:endParaRPr lang="en-US" altLang="zh-CN" dirty="0"/>
              </a:p>
            </p:txBody>
          </p:sp>
          <p:sp>
            <p:nvSpPr>
              <p:cNvPr id="12358" name="Rectangle 69"/>
              <p:cNvSpPr>
                <a:spLocks noChangeArrowheads="1"/>
              </p:cNvSpPr>
              <p:nvPr/>
            </p:nvSpPr>
            <p:spPr bwMode="auto">
              <a:xfrm>
                <a:off x="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2359" name="Rectangle 70"/>
              <p:cNvSpPr>
                <a:spLocks noChangeArrowheads="1"/>
              </p:cNvSpPr>
              <p:nvPr/>
            </p:nvSpPr>
            <p:spPr bwMode="auto">
              <a:xfrm>
                <a:off x="2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2360" name="Rectangle 71"/>
              <p:cNvSpPr>
                <a:spLocks noChangeArrowheads="1"/>
              </p:cNvSpPr>
              <p:nvPr/>
            </p:nvSpPr>
            <p:spPr bwMode="auto">
              <a:xfrm>
                <a:off x="4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2361" name="Rectangle 72"/>
              <p:cNvSpPr>
                <a:spLocks noChangeArrowheads="1"/>
              </p:cNvSpPr>
              <p:nvPr/>
            </p:nvSpPr>
            <p:spPr bwMode="auto">
              <a:xfrm>
                <a:off x="7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2362" name="Rectangle 73"/>
              <p:cNvSpPr>
                <a:spLocks noChangeArrowheads="1"/>
              </p:cNvSpPr>
              <p:nvPr/>
            </p:nvSpPr>
            <p:spPr bwMode="auto">
              <a:xfrm>
                <a:off x="9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2363" name="Rectangle 74"/>
              <p:cNvSpPr>
                <a:spLocks noChangeArrowheads="1"/>
              </p:cNvSpPr>
              <p:nvPr/>
            </p:nvSpPr>
            <p:spPr bwMode="auto">
              <a:xfrm>
                <a:off x="120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2364" name="Rectangle 75"/>
              <p:cNvSpPr>
                <a:spLocks noChangeArrowheads="1"/>
              </p:cNvSpPr>
              <p:nvPr/>
            </p:nvSpPr>
            <p:spPr bwMode="auto">
              <a:xfrm>
                <a:off x="14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grpSp>
        <p:sp>
          <p:nvSpPr>
            <p:cNvPr id="12365" name="Rectangle 76"/>
            <p:cNvSpPr>
              <a:spLocks noChangeArrowheads="1"/>
            </p:cNvSpPr>
            <p:nvPr/>
          </p:nvSpPr>
          <p:spPr bwMode="auto">
            <a:xfrm>
              <a:off x="0" y="211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2366" name="Rectangle 77"/>
            <p:cNvSpPr>
              <a:spLocks noChangeArrowheads="1"/>
            </p:cNvSpPr>
            <p:nvPr/>
          </p:nvSpPr>
          <p:spPr bwMode="auto">
            <a:xfrm>
              <a:off x="0" y="43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2367" name="Rectangle 78"/>
            <p:cNvSpPr>
              <a:spLocks noChangeArrowheads="1"/>
            </p:cNvSpPr>
            <p:nvPr/>
          </p:nvSpPr>
          <p:spPr bwMode="auto">
            <a:xfrm>
              <a:off x="0" y="67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2368" name="Rectangle 79"/>
            <p:cNvSpPr>
              <a:spLocks noChangeArrowheads="1"/>
            </p:cNvSpPr>
            <p:nvPr/>
          </p:nvSpPr>
          <p:spPr bwMode="auto">
            <a:xfrm>
              <a:off x="0" y="91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2369" name="Rectangle 80"/>
            <p:cNvSpPr>
              <a:spLocks noChangeArrowheads="1"/>
            </p:cNvSpPr>
            <p:nvPr/>
          </p:nvSpPr>
          <p:spPr bwMode="auto">
            <a:xfrm>
              <a:off x="0" y="115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2370" name="Rectangle 81"/>
            <p:cNvSpPr>
              <a:spLocks noChangeArrowheads="1"/>
            </p:cNvSpPr>
            <p:nvPr/>
          </p:nvSpPr>
          <p:spPr bwMode="auto">
            <a:xfrm>
              <a:off x="0" y="139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2371" name="Rectangle 82"/>
            <p:cNvSpPr>
              <a:spLocks noChangeArrowheads="1"/>
            </p:cNvSpPr>
            <p:nvPr/>
          </p:nvSpPr>
          <p:spPr bwMode="auto">
            <a:xfrm>
              <a:off x="0" y="163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2372" name="Rectangle 83"/>
            <p:cNvSpPr>
              <a:spLocks noChangeArrowheads="1"/>
            </p:cNvSpPr>
            <p:nvPr/>
          </p:nvSpPr>
          <p:spPr bwMode="auto">
            <a:xfrm>
              <a:off x="0" y="187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grpSp>
      <p:sp>
        <p:nvSpPr>
          <p:cNvPr id="8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4509770" y="3654425"/>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176770" y="3654425"/>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19460"/>
                                        </p:tgtEl>
                                        <p:attrNameLst>
                                          <p:attrName>style.visibility</p:attrName>
                                        </p:attrNameLst>
                                      </p:cBhvr>
                                      <p:to>
                                        <p:strVal val="visible"/>
                                      </p:to>
                                    </p:set>
                                    <p:anim calcmode="lin" valueType="num">
                                      <p:cBhvr>
                                        <p:cTn id="7" dur="500" fill="hold"/>
                                        <p:tgtEl>
                                          <p:spTgt spid="19460"/>
                                        </p:tgtEl>
                                        <p:attrNameLst>
                                          <p:attrName>ppt_w</p:attrName>
                                        </p:attrNameLst>
                                      </p:cBhvr>
                                      <p:tavLst>
                                        <p:tav tm="0">
                                          <p:val>
                                            <p:fltVal val="0"/>
                                          </p:val>
                                        </p:tav>
                                        <p:tav tm="100000">
                                          <p:val>
                                            <p:strVal val="#ppt_w"/>
                                          </p:val>
                                        </p:tav>
                                      </p:tavLst>
                                    </p:anim>
                                    <p:anim calcmode="lin" valueType="num">
                                      <p:cBhvr>
                                        <p:cTn id="8" dur="500" fill="hold"/>
                                        <p:tgtEl>
                                          <p:spTgt spid="1946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2"/>
          <p:cNvSpPr>
            <a:spLocks noChangeArrowheads="1"/>
          </p:cNvSpPr>
          <p:nvPr/>
        </p:nvSpPr>
        <p:spPr bwMode="auto">
          <a:xfrm>
            <a:off x="8153400" y="2971801"/>
            <a:ext cx="533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右</a:t>
            </a:r>
            <a:endParaRPr lang="zh-CN" altLang="en-US" b="1"/>
          </a:p>
        </p:txBody>
      </p:sp>
      <p:sp>
        <p:nvSpPr>
          <p:cNvPr id="13315" name="Text Box 3"/>
          <p:cNvSpPr>
            <a:spLocks noChangeArrowheads="1"/>
          </p:cNvSpPr>
          <p:nvPr/>
        </p:nvSpPr>
        <p:spPr bwMode="auto">
          <a:xfrm>
            <a:off x="6934200" y="4114801"/>
            <a:ext cx="533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下</a:t>
            </a:r>
            <a:endParaRPr lang="zh-CN" altLang="en-US" b="1"/>
          </a:p>
        </p:txBody>
      </p:sp>
      <p:sp>
        <p:nvSpPr>
          <p:cNvPr id="13316" name="Rectangle 4"/>
          <p:cNvSpPr>
            <a:spLocks noChangeArrowheads="1"/>
          </p:cNvSpPr>
          <p:nvPr/>
        </p:nvSpPr>
        <p:spPr bwMode="auto">
          <a:xfrm>
            <a:off x="3276600" y="2590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7" name="Rectangle 5"/>
          <p:cNvSpPr>
            <a:spLocks noChangeArrowheads="1"/>
          </p:cNvSpPr>
          <p:nvPr/>
        </p:nvSpPr>
        <p:spPr bwMode="auto">
          <a:xfrm>
            <a:off x="3657600" y="2590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8" name="Rectangle 6"/>
          <p:cNvSpPr>
            <a:spLocks noChangeArrowheads="1"/>
          </p:cNvSpPr>
          <p:nvPr/>
        </p:nvSpPr>
        <p:spPr bwMode="auto">
          <a:xfrm>
            <a:off x="4038600" y="2590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19" name="Rectangle 7"/>
          <p:cNvSpPr>
            <a:spLocks noChangeArrowheads="1"/>
          </p:cNvSpPr>
          <p:nvPr/>
        </p:nvSpPr>
        <p:spPr bwMode="auto">
          <a:xfrm>
            <a:off x="3276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0" name="Rectangle 8"/>
          <p:cNvSpPr>
            <a:spLocks noChangeArrowheads="1"/>
          </p:cNvSpPr>
          <p:nvPr/>
        </p:nvSpPr>
        <p:spPr bwMode="auto">
          <a:xfrm>
            <a:off x="3657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1" name="Rectangle 9"/>
          <p:cNvSpPr>
            <a:spLocks noChangeArrowheads="1"/>
          </p:cNvSpPr>
          <p:nvPr/>
        </p:nvSpPr>
        <p:spPr bwMode="auto">
          <a:xfrm>
            <a:off x="40386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2" name="Rectangle 10"/>
          <p:cNvSpPr>
            <a:spLocks noChangeArrowheads="1"/>
          </p:cNvSpPr>
          <p:nvPr/>
        </p:nvSpPr>
        <p:spPr bwMode="auto">
          <a:xfrm>
            <a:off x="3276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3" name="Rectangle 11"/>
          <p:cNvSpPr>
            <a:spLocks noChangeArrowheads="1"/>
          </p:cNvSpPr>
          <p:nvPr/>
        </p:nvSpPr>
        <p:spPr bwMode="auto">
          <a:xfrm>
            <a:off x="3657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3324" name="Rectangle 12"/>
          <p:cNvSpPr>
            <a:spLocks noChangeArrowheads="1"/>
          </p:cNvSpPr>
          <p:nvPr/>
        </p:nvSpPr>
        <p:spPr bwMode="auto">
          <a:xfrm>
            <a:off x="4038600" y="33528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13325" name="Picture 1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648075" y="29972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326" name="Line 15"/>
          <p:cNvSpPr>
            <a:spLocks noChangeShapeType="1"/>
          </p:cNvSpPr>
          <p:nvPr/>
        </p:nvSpPr>
        <p:spPr bwMode="auto">
          <a:xfrm flipV="1">
            <a:off x="7162800" y="2286000"/>
            <a:ext cx="0" cy="685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7" name="Line 16"/>
          <p:cNvSpPr>
            <a:spLocks noChangeShapeType="1"/>
          </p:cNvSpPr>
          <p:nvPr/>
        </p:nvSpPr>
        <p:spPr bwMode="auto">
          <a:xfrm>
            <a:off x="7162800" y="3352800"/>
            <a:ext cx="0" cy="762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8" name="Line 17"/>
          <p:cNvSpPr>
            <a:spLocks noChangeShapeType="1"/>
          </p:cNvSpPr>
          <p:nvPr/>
        </p:nvSpPr>
        <p:spPr bwMode="auto">
          <a:xfrm flipH="1">
            <a:off x="6248400" y="3200400"/>
            <a:ext cx="762000"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29" name="Line 18"/>
          <p:cNvSpPr>
            <a:spLocks noChangeShapeType="1"/>
          </p:cNvSpPr>
          <p:nvPr/>
        </p:nvSpPr>
        <p:spPr bwMode="auto">
          <a:xfrm>
            <a:off x="7391400" y="3200400"/>
            <a:ext cx="762000" cy="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13330" name="Rectangle 19"/>
          <p:cNvSpPr>
            <a:spLocks noChangeArrowheads="1"/>
          </p:cNvSpPr>
          <p:nvPr/>
        </p:nvSpPr>
        <p:spPr bwMode="auto">
          <a:xfrm>
            <a:off x="7010400" y="29718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0" name="Freeform 20"/>
          <p:cNvSpPr>
            <a:spLocks noChangeArrowheads="1"/>
          </p:cNvSpPr>
          <p:nvPr/>
        </p:nvSpPr>
        <p:spPr bwMode="auto">
          <a:xfrm>
            <a:off x="7061200" y="2832100"/>
            <a:ext cx="1778000" cy="2044700"/>
          </a:xfrm>
          <a:custGeom>
            <a:avLst/>
            <a:gdLst/>
            <a:ahLst/>
            <a:cxnLst/>
            <a:rect l="0" t="0" r="0" b="0"/>
            <a:pathLst/>
          </a:custGeom>
          <a:noFill/>
          <a:ln w="31750">
            <a:solidFill>
              <a:schemeClr val="folHlink"/>
            </a:solidFill>
            <a:round/>
            <a:tailEnd type="triangle" w="med" len="me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p>
        </p:txBody>
      </p:sp>
      <p:sp>
        <p:nvSpPr>
          <p:cNvPr id="13332" name="Text Box 21"/>
          <p:cNvSpPr>
            <a:spLocks noChangeArrowheads="1"/>
          </p:cNvSpPr>
          <p:nvPr/>
        </p:nvSpPr>
        <p:spPr bwMode="auto">
          <a:xfrm>
            <a:off x="6934200" y="1752601"/>
            <a:ext cx="1219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上</a:t>
            </a:r>
            <a:endParaRPr lang="zh-CN" altLang="en-US" b="1"/>
          </a:p>
        </p:txBody>
      </p:sp>
      <p:sp>
        <p:nvSpPr>
          <p:cNvPr id="13333" name="Text Box 22"/>
          <p:cNvSpPr>
            <a:spLocks noChangeArrowheads="1"/>
          </p:cNvSpPr>
          <p:nvPr/>
        </p:nvSpPr>
        <p:spPr bwMode="auto">
          <a:xfrm>
            <a:off x="5303838" y="2997201"/>
            <a:ext cx="838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b="1">
                <a:latin typeface="Tahoma" panose="020B0604030504040204" pitchFamily="34" charset="0"/>
                <a:sym typeface="Tahoma" panose="020B0604030504040204" pitchFamily="34" charset="0"/>
              </a:rPr>
              <a:t>左</a:t>
            </a:r>
            <a:endParaRPr lang="zh-CN" altLang="en-US" b="1"/>
          </a:p>
        </p:txBody>
      </p:sp>
      <p:sp>
        <p:nvSpPr>
          <p:cNvPr id="20503" name="Rectangle 24"/>
          <p:cNvSpPr>
            <a:spLocks noChangeArrowheads="1"/>
          </p:cNvSpPr>
          <p:nvPr/>
        </p:nvSpPr>
        <p:spPr bwMode="auto">
          <a:xfrm>
            <a:off x="3483744" y="4847279"/>
            <a:ext cx="4669656"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zh-CN" altLang="en-US" sz="2600" b="1" kern="100" dirty="0">
                <a:solidFill>
                  <a:srgbClr val="014B88"/>
                </a:solidFill>
                <a:latin typeface="仿宋_GB2312"/>
                <a:ea typeface="+mn-ea"/>
                <a:cs typeface="Times New Roman" panose="02020603050405020304" pitchFamily="18" charset="0"/>
              </a:rPr>
              <a:t>路人</a:t>
            </a:r>
            <a:r>
              <a:rPr lang="en-US" altLang="zh-CN" sz="2600" b="1" kern="100" dirty="0">
                <a:solidFill>
                  <a:srgbClr val="014B88"/>
                </a:solidFill>
                <a:latin typeface="仿宋_GB2312"/>
                <a:ea typeface="+mn-ea"/>
                <a:cs typeface="Times New Roman" panose="02020603050405020304" pitchFamily="18" charset="0"/>
              </a:rPr>
              <a:t>A</a:t>
            </a:r>
            <a:r>
              <a:rPr lang="zh-CN" altLang="en-US" sz="2600" b="1" kern="100" dirty="0">
                <a:solidFill>
                  <a:srgbClr val="014B88"/>
                </a:solidFill>
                <a:latin typeface="仿宋_GB2312"/>
                <a:ea typeface="+mn-ea"/>
                <a:cs typeface="Times New Roman" panose="02020603050405020304" pitchFamily="18" charset="0"/>
              </a:rPr>
              <a:t>可以走的方向如图所示</a:t>
            </a:r>
            <a:endParaRPr lang="en-US" altLang="zh-CN" sz="2600" b="1" kern="100" dirty="0">
              <a:solidFill>
                <a:srgbClr val="014B88"/>
              </a:solidFill>
              <a:latin typeface="仿宋_GB2312"/>
              <a:ea typeface="+mn-ea"/>
              <a:cs typeface="Times New Roman" panose="02020603050405020304" pitchFamily="18" charset="0"/>
            </a:endParaRPr>
          </a:p>
          <a:p>
            <a:pPr>
              <a:spcBef>
                <a:spcPct val="20000"/>
              </a:spcBef>
              <a:buClr>
                <a:schemeClr val="folHlink"/>
              </a:buClr>
              <a:buSzPct val="60000"/>
              <a:buFont typeface="Wingdings" panose="05000000000000000000" pitchFamily="2" charset="2"/>
              <a:buNone/>
            </a:pPr>
            <a:r>
              <a:rPr lang="zh-CN" altLang="en-US" sz="2600" b="1" kern="100" dirty="0">
                <a:solidFill>
                  <a:srgbClr val="014B88"/>
                </a:solidFill>
                <a:latin typeface="仿宋_GB2312"/>
                <a:ea typeface="+mn-ea"/>
                <a:cs typeface="Times New Roman" panose="02020603050405020304" pitchFamily="18" charset="0"/>
              </a:rPr>
              <a:t>选择走的顺序：逆时针方向</a:t>
            </a:r>
            <a:endParaRPr lang="zh-CN" altLang="en-US" sz="2600" b="1" kern="100" dirty="0">
              <a:solidFill>
                <a:srgbClr val="014B88"/>
              </a:solidFill>
              <a:latin typeface="仿宋_GB2312"/>
              <a:ea typeface="+mn-ea"/>
              <a:cs typeface="Times New Roman" panose="02020603050405020304" pitchFamily="18" charset="0"/>
            </a:endParaRPr>
          </a:p>
        </p:txBody>
      </p:sp>
      <p:sp>
        <p:nvSpPr>
          <p:cNvPr id="2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0500"/>
                                        </p:tgtEl>
                                        <p:attrNameLst>
                                          <p:attrName>style.visibility</p:attrName>
                                        </p:attrNameLst>
                                      </p:cBhvr>
                                      <p:to>
                                        <p:strVal val="visible"/>
                                      </p:to>
                                    </p:set>
                                    <p:animEffect filter="wipe(down)">
                                      <p:cBhvr>
                                        <p:cTn id="7" dur="500"/>
                                        <p:tgtEl>
                                          <p:spTgt spid="2050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503"/>
                                        </p:tgtEl>
                                        <p:attrNameLst>
                                          <p:attrName>style.visibility</p:attrName>
                                        </p:attrNameLst>
                                      </p:cBhvr>
                                      <p:to>
                                        <p:strVal val="visible"/>
                                      </p:to>
                                    </p:set>
                                    <p:animEffect filter="wipe(left)">
                                      <p:cBhvr>
                                        <p:cTn id="12" dur="500"/>
                                        <p:tgtEl>
                                          <p:spTgt spid="205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3" grpId="0" bldLvl="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Rectangle 107"/>
          <p:cNvSpPr>
            <a:spLocks noGrp="1"/>
          </p:cNvSpPr>
          <p:nvPr>
            <p:ph type="body" idx="4294967295"/>
          </p:nvPr>
        </p:nvSpPr>
        <p:spPr>
          <a:xfrm>
            <a:off x="2974182" y="1340353"/>
            <a:ext cx="7700962" cy="684213"/>
          </a:xfrm>
        </p:spPr>
        <p:txBody>
          <a:bodyPr vert="horz" wrap="square" anchor="ctr"/>
          <a:lstStyle/>
          <a:p>
            <a:pPr marL="273050" indent="-273050">
              <a:buNone/>
            </a:pPr>
            <a:r>
              <a:rPr lang="zh-CN" altLang="en-US" sz="2600" b="1" kern="100" noProof="1">
                <a:latin typeface="仿宋_GB2312"/>
                <a:cs typeface="Times New Roman" panose="02020603050405020304" pitchFamily="18" charset="0"/>
              </a:rPr>
              <a:t>魔王贴心的为路人</a:t>
            </a:r>
            <a:r>
              <a:rPr lang="en-US" altLang="zh-CN" sz="2600" b="1" kern="100" noProof="1">
                <a:latin typeface="仿宋_GB2312"/>
                <a:cs typeface="Times New Roman" panose="02020603050405020304" pitchFamily="18" charset="0"/>
              </a:rPr>
              <a:t>A</a:t>
            </a:r>
            <a:r>
              <a:rPr lang="zh-CN" altLang="en-US" sz="2600" b="1" kern="100" noProof="1">
                <a:latin typeface="仿宋_GB2312"/>
                <a:cs typeface="Times New Roman" panose="02020603050405020304" pitchFamily="18" charset="0"/>
              </a:rPr>
              <a:t>加了一圈墙，防止他走出去</a:t>
            </a:r>
            <a:endParaRPr lang="zh-CN" altLang="en-US" sz="2600" b="1" kern="100" noProof="1">
              <a:latin typeface="仿宋_GB2312"/>
              <a:cs typeface="Times New Roman" panose="02020603050405020304" pitchFamily="18" charset="0"/>
            </a:endParaRPr>
          </a:p>
        </p:txBody>
      </p:sp>
      <p:sp>
        <p:nvSpPr>
          <p:cNvPr id="14339" name="Rectangle 2"/>
          <p:cNvSpPr>
            <a:spLocks noChangeArrowheads="1"/>
          </p:cNvSpPr>
          <p:nvPr/>
        </p:nvSpPr>
        <p:spPr bwMode="auto">
          <a:xfrm>
            <a:off x="4919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0" name="Rectangle 3"/>
          <p:cNvSpPr>
            <a:spLocks noChangeArrowheads="1"/>
          </p:cNvSpPr>
          <p:nvPr/>
        </p:nvSpPr>
        <p:spPr bwMode="auto">
          <a:xfrm>
            <a:off x="5300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1" name="Rectangle 4"/>
          <p:cNvSpPr>
            <a:spLocks noChangeArrowheads="1"/>
          </p:cNvSpPr>
          <p:nvPr/>
        </p:nvSpPr>
        <p:spPr bwMode="auto">
          <a:xfrm>
            <a:off x="5681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2" name="Rectangle 5"/>
          <p:cNvSpPr>
            <a:spLocks noChangeArrowheads="1"/>
          </p:cNvSpPr>
          <p:nvPr/>
        </p:nvSpPr>
        <p:spPr bwMode="auto">
          <a:xfrm>
            <a:off x="6062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3" name="Rectangle 6"/>
          <p:cNvSpPr>
            <a:spLocks noChangeArrowheads="1"/>
          </p:cNvSpPr>
          <p:nvPr/>
        </p:nvSpPr>
        <p:spPr bwMode="auto">
          <a:xfrm>
            <a:off x="6443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4" name="Rectangle 7"/>
          <p:cNvSpPr>
            <a:spLocks noChangeArrowheads="1"/>
          </p:cNvSpPr>
          <p:nvPr/>
        </p:nvSpPr>
        <p:spPr bwMode="auto">
          <a:xfrm>
            <a:off x="6824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5" name="Rectangle 8"/>
          <p:cNvSpPr>
            <a:spLocks noChangeArrowheads="1"/>
          </p:cNvSpPr>
          <p:nvPr/>
        </p:nvSpPr>
        <p:spPr bwMode="auto">
          <a:xfrm>
            <a:off x="7205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6" name="Rectangle 9"/>
          <p:cNvSpPr>
            <a:spLocks noChangeArrowheads="1"/>
          </p:cNvSpPr>
          <p:nvPr/>
        </p:nvSpPr>
        <p:spPr bwMode="auto">
          <a:xfrm>
            <a:off x="7586663" y="3044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7" name="Rectangle 10"/>
          <p:cNvSpPr>
            <a:spLocks noChangeArrowheads="1"/>
          </p:cNvSpPr>
          <p:nvPr/>
        </p:nvSpPr>
        <p:spPr bwMode="auto">
          <a:xfrm>
            <a:off x="4919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8" name="Rectangle 11"/>
          <p:cNvSpPr>
            <a:spLocks noChangeArrowheads="1"/>
          </p:cNvSpPr>
          <p:nvPr/>
        </p:nvSpPr>
        <p:spPr bwMode="auto">
          <a:xfrm>
            <a:off x="5300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49" name="Rectangle 12"/>
          <p:cNvSpPr>
            <a:spLocks noChangeArrowheads="1"/>
          </p:cNvSpPr>
          <p:nvPr/>
        </p:nvSpPr>
        <p:spPr bwMode="auto">
          <a:xfrm>
            <a:off x="5681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0" name="Rectangle 13"/>
          <p:cNvSpPr>
            <a:spLocks noChangeArrowheads="1"/>
          </p:cNvSpPr>
          <p:nvPr/>
        </p:nvSpPr>
        <p:spPr bwMode="auto">
          <a:xfrm>
            <a:off x="6062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1" name="Rectangle 14"/>
          <p:cNvSpPr>
            <a:spLocks noChangeArrowheads="1"/>
          </p:cNvSpPr>
          <p:nvPr/>
        </p:nvSpPr>
        <p:spPr bwMode="auto">
          <a:xfrm>
            <a:off x="6443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2" name="Rectangle 15"/>
          <p:cNvSpPr>
            <a:spLocks noChangeArrowheads="1"/>
          </p:cNvSpPr>
          <p:nvPr/>
        </p:nvSpPr>
        <p:spPr bwMode="auto">
          <a:xfrm>
            <a:off x="6824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3" name="Rectangle 16"/>
          <p:cNvSpPr>
            <a:spLocks noChangeArrowheads="1"/>
          </p:cNvSpPr>
          <p:nvPr/>
        </p:nvSpPr>
        <p:spPr bwMode="auto">
          <a:xfrm>
            <a:off x="7205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4" name="Rectangle 17"/>
          <p:cNvSpPr>
            <a:spLocks noChangeArrowheads="1"/>
          </p:cNvSpPr>
          <p:nvPr/>
        </p:nvSpPr>
        <p:spPr bwMode="auto">
          <a:xfrm>
            <a:off x="7586663" y="3425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5" name="Rectangle 18"/>
          <p:cNvSpPr>
            <a:spLocks noChangeArrowheads="1"/>
          </p:cNvSpPr>
          <p:nvPr/>
        </p:nvSpPr>
        <p:spPr bwMode="auto">
          <a:xfrm>
            <a:off x="4919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6" name="Rectangle 19"/>
          <p:cNvSpPr>
            <a:spLocks noChangeArrowheads="1"/>
          </p:cNvSpPr>
          <p:nvPr/>
        </p:nvSpPr>
        <p:spPr bwMode="auto">
          <a:xfrm>
            <a:off x="5300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7" name="Rectangle 20"/>
          <p:cNvSpPr>
            <a:spLocks noChangeArrowheads="1"/>
          </p:cNvSpPr>
          <p:nvPr/>
        </p:nvSpPr>
        <p:spPr bwMode="auto">
          <a:xfrm>
            <a:off x="5681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8" name="Rectangle 21"/>
          <p:cNvSpPr>
            <a:spLocks noChangeArrowheads="1"/>
          </p:cNvSpPr>
          <p:nvPr/>
        </p:nvSpPr>
        <p:spPr bwMode="auto">
          <a:xfrm>
            <a:off x="6057900" y="38195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59" name="Rectangle 22"/>
          <p:cNvSpPr>
            <a:spLocks noChangeArrowheads="1"/>
          </p:cNvSpPr>
          <p:nvPr/>
        </p:nvSpPr>
        <p:spPr bwMode="auto">
          <a:xfrm>
            <a:off x="6443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0" name="Rectangle 23"/>
          <p:cNvSpPr>
            <a:spLocks noChangeArrowheads="1"/>
          </p:cNvSpPr>
          <p:nvPr/>
        </p:nvSpPr>
        <p:spPr bwMode="auto">
          <a:xfrm>
            <a:off x="6824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1" name="Rectangle 24"/>
          <p:cNvSpPr>
            <a:spLocks noChangeArrowheads="1"/>
          </p:cNvSpPr>
          <p:nvPr/>
        </p:nvSpPr>
        <p:spPr bwMode="auto">
          <a:xfrm>
            <a:off x="7205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2" name="Rectangle 25"/>
          <p:cNvSpPr>
            <a:spLocks noChangeArrowheads="1"/>
          </p:cNvSpPr>
          <p:nvPr/>
        </p:nvSpPr>
        <p:spPr bwMode="auto">
          <a:xfrm>
            <a:off x="7586663" y="3806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3" name="Rectangle 26"/>
          <p:cNvSpPr>
            <a:spLocks noChangeArrowheads="1"/>
          </p:cNvSpPr>
          <p:nvPr/>
        </p:nvSpPr>
        <p:spPr bwMode="auto">
          <a:xfrm>
            <a:off x="4919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4" name="Rectangle 27"/>
          <p:cNvSpPr>
            <a:spLocks noChangeArrowheads="1"/>
          </p:cNvSpPr>
          <p:nvPr/>
        </p:nvSpPr>
        <p:spPr bwMode="auto">
          <a:xfrm>
            <a:off x="5300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5" name="Rectangle 28"/>
          <p:cNvSpPr>
            <a:spLocks noChangeArrowheads="1"/>
          </p:cNvSpPr>
          <p:nvPr/>
        </p:nvSpPr>
        <p:spPr bwMode="auto">
          <a:xfrm>
            <a:off x="5681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6" name="Rectangle 29"/>
          <p:cNvSpPr>
            <a:spLocks noChangeArrowheads="1"/>
          </p:cNvSpPr>
          <p:nvPr/>
        </p:nvSpPr>
        <p:spPr bwMode="auto">
          <a:xfrm>
            <a:off x="6062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7" name="Rectangle 30"/>
          <p:cNvSpPr>
            <a:spLocks noChangeArrowheads="1"/>
          </p:cNvSpPr>
          <p:nvPr/>
        </p:nvSpPr>
        <p:spPr bwMode="auto">
          <a:xfrm>
            <a:off x="6443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8" name="Rectangle 31"/>
          <p:cNvSpPr>
            <a:spLocks noChangeArrowheads="1"/>
          </p:cNvSpPr>
          <p:nvPr/>
        </p:nvSpPr>
        <p:spPr bwMode="auto">
          <a:xfrm>
            <a:off x="6824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69" name="Rectangle 32"/>
          <p:cNvSpPr>
            <a:spLocks noChangeArrowheads="1"/>
          </p:cNvSpPr>
          <p:nvPr/>
        </p:nvSpPr>
        <p:spPr bwMode="auto">
          <a:xfrm>
            <a:off x="7205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0" name="Rectangle 33"/>
          <p:cNvSpPr>
            <a:spLocks noChangeArrowheads="1"/>
          </p:cNvSpPr>
          <p:nvPr/>
        </p:nvSpPr>
        <p:spPr bwMode="auto">
          <a:xfrm>
            <a:off x="7586663" y="4187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1" name="Rectangle 34"/>
          <p:cNvSpPr>
            <a:spLocks noChangeArrowheads="1"/>
          </p:cNvSpPr>
          <p:nvPr/>
        </p:nvSpPr>
        <p:spPr bwMode="auto">
          <a:xfrm>
            <a:off x="4919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2" name="Rectangle 35"/>
          <p:cNvSpPr>
            <a:spLocks noChangeArrowheads="1"/>
          </p:cNvSpPr>
          <p:nvPr/>
        </p:nvSpPr>
        <p:spPr bwMode="auto">
          <a:xfrm>
            <a:off x="5300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3" name="Rectangle 36"/>
          <p:cNvSpPr>
            <a:spLocks noChangeArrowheads="1"/>
          </p:cNvSpPr>
          <p:nvPr/>
        </p:nvSpPr>
        <p:spPr bwMode="auto">
          <a:xfrm>
            <a:off x="5681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4" name="Rectangle 37"/>
          <p:cNvSpPr>
            <a:spLocks noChangeArrowheads="1"/>
          </p:cNvSpPr>
          <p:nvPr/>
        </p:nvSpPr>
        <p:spPr bwMode="auto">
          <a:xfrm>
            <a:off x="6062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5" name="Rectangle 38"/>
          <p:cNvSpPr>
            <a:spLocks noChangeArrowheads="1"/>
          </p:cNvSpPr>
          <p:nvPr/>
        </p:nvSpPr>
        <p:spPr bwMode="auto">
          <a:xfrm>
            <a:off x="6443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6" name="Rectangle 39"/>
          <p:cNvSpPr>
            <a:spLocks noChangeArrowheads="1"/>
          </p:cNvSpPr>
          <p:nvPr/>
        </p:nvSpPr>
        <p:spPr bwMode="auto">
          <a:xfrm>
            <a:off x="6824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7" name="Rectangle 40"/>
          <p:cNvSpPr>
            <a:spLocks noChangeArrowheads="1"/>
          </p:cNvSpPr>
          <p:nvPr/>
        </p:nvSpPr>
        <p:spPr bwMode="auto">
          <a:xfrm>
            <a:off x="7205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8" name="Rectangle 41"/>
          <p:cNvSpPr>
            <a:spLocks noChangeArrowheads="1"/>
          </p:cNvSpPr>
          <p:nvPr/>
        </p:nvSpPr>
        <p:spPr bwMode="auto">
          <a:xfrm>
            <a:off x="7586663" y="4568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79" name="Rectangle 42"/>
          <p:cNvSpPr>
            <a:spLocks noChangeArrowheads="1"/>
          </p:cNvSpPr>
          <p:nvPr/>
        </p:nvSpPr>
        <p:spPr bwMode="auto">
          <a:xfrm>
            <a:off x="4919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0" name="Rectangle 43"/>
          <p:cNvSpPr>
            <a:spLocks noChangeArrowheads="1"/>
          </p:cNvSpPr>
          <p:nvPr/>
        </p:nvSpPr>
        <p:spPr bwMode="auto">
          <a:xfrm>
            <a:off x="5300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1" name="Rectangle 44"/>
          <p:cNvSpPr>
            <a:spLocks noChangeArrowheads="1"/>
          </p:cNvSpPr>
          <p:nvPr/>
        </p:nvSpPr>
        <p:spPr bwMode="auto">
          <a:xfrm>
            <a:off x="5681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2" name="Rectangle 45"/>
          <p:cNvSpPr>
            <a:spLocks noChangeArrowheads="1"/>
          </p:cNvSpPr>
          <p:nvPr/>
        </p:nvSpPr>
        <p:spPr bwMode="auto">
          <a:xfrm>
            <a:off x="6062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3" name="Rectangle 46"/>
          <p:cNvSpPr>
            <a:spLocks noChangeArrowheads="1"/>
          </p:cNvSpPr>
          <p:nvPr/>
        </p:nvSpPr>
        <p:spPr bwMode="auto">
          <a:xfrm>
            <a:off x="6443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4" name="Rectangle 47"/>
          <p:cNvSpPr>
            <a:spLocks noChangeArrowheads="1"/>
          </p:cNvSpPr>
          <p:nvPr/>
        </p:nvSpPr>
        <p:spPr bwMode="auto">
          <a:xfrm>
            <a:off x="6824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5" name="Rectangle 48"/>
          <p:cNvSpPr>
            <a:spLocks noChangeArrowheads="1"/>
          </p:cNvSpPr>
          <p:nvPr/>
        </p:nvSpPr>
        <p:spPr bwMode="auto">
          <a:xfrm>
            <a:off x="7205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6" name="Rectangle 49"/>
          <p:cNvSpPr>
            <a:spLocks noChangeArrowheads="1"/>
          </p:cNvSpPr>
          <p:nvPr/>
        </p:nvSpPr>
        <p:spPr bwMode="auto">
          <a:xfrm>
            <a:off x="7586663" y="4949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7" name="Rectangle 50"/>
          <p:cNvSpPr>
            <a:spLocks noChangeArrowheads="1"/>
          </p:cNvSpPr>
          <p:nvPr/>
        </p:nvSpPr>
        <p:spPr bwMode="auto">
          <a:xfrm>
            <a:off x="4919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8" name="Rectangle 51"/>
          <p:cNvSpPr>
            <a:spLocks noChangeArrowheads="1"/>
          </p:cNvSpPr>
          <p:nvPr/>
        </p:nvSpPr>
        <p:spPr bwMode="auto">
          <a:xfrm>
            <a:off x="5300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89" name="Rectangle 52"/>
          <p:cNvSpPr>
            <a:spLocks noChangeArrowheads="1"/>
          </p:cNvSpPr>
          <p:nvPr/>
        </p:nvSpPr>
        <p:spPr bwMode="auto">
          <a:xfrm>
            <a:off x="5681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0" name="Rectangle 53"/>
          <p:cNvSpPr>
            <a:spLocks noChangeArrowheads="1"/>
          </p:cNvSpPr>
          <p:nvPr/>
        </p:nvSpPr>
        <p:spPr bwMode="auto">
          <a:xfrm>
            <a:off x="6062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1" name="Rectangle 54"/>
          <p:cNvSpPr>
            <a:spLocks noChangeArrowheads="1"/>
          </p:cNvSpPr>
          <p:nvPr/>
        </p:nvSpPr>
        <p:spPr bwMode="auto">
          <a:xfrm>
            <a:off x="6443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2" name="Rectangle 55"/>
          <p:cNvSpPr>
            <a:spLocks noChangeArrowheads="1"/>
          </p:cNvSpPr>
          <p:nvPr/>
        </p:nvSpPr>
        <p:spPr bwMode="auto">
          <a:xfrm>
            <a:off x="6824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3" name="Rectangle 56"/>
          <p:cNvSpPr>
            <a:spLocks noChangeArrowheads="1"/>
          </p:cNvSpPr>
          <p:nvPr/>
        </p:nvSpPr>
        <p:spPr bwMode="auto">
          <a:xfrm>
            <a:off x="7205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4" name="Rectangle 57"/>
          <p:cNvSpPr>
            <a:spLocks noChangeArrowheads="1"/>
          </p:cNvSpPr>
          <p:nvPr/>
        </p:nvSpPr>
        <p:spPr bwMode="auto">
          <a:xfrm>
            <a:off x="7586663" y="5330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5" name="Rectangle 58"/>
          <p:cNvSpPr>
            <a:spLocks noChangeArrowheads="1"/>
          </p:cNvSpPr>
          <p:nvPr/>
        </p:nvSpPr>
        <p:spPr bwMode="auto">
          <a:xfrm>
            <a:off x="4919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6" name="Rectangle 59"/>
          <p:cNvSpPr>
            <a:spLocks noChangeArrowheads="1"/>
          </p:cNvSpPr>
          <p:nvPr/>
        </p:nvSpPr>
        <p:spPr bwMode="auto">
          <a:xfrm>
            <a:off x="5300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7" name="Rectangle 60"/>
          <p:cNvSpPr>
            <a:spLocks noChangeArrowheads="1"/>
          </p:cNvSpPr>
          <p:nvPr/>
        </p:nvSpPr>
        <p:spPr bwMode="auto">
          <a:xfrm>
            <a:off x="5681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8" name="Rectangle 61"/>
          <p:cNvSpPr>
            <a:spLocks noChangeArrowheads="1"/>
          </p:cNvSpPr>
          <p:nvPr/>
        </p:nvSpPr>
        <p:spPr bwMode="auto">
          <a:xfrm>
            <a:off x="6062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399" name="Rectangle 62"/>
          <p:cNvSpPr>
            <a:spLocks noChangeArrowheads="1"/>
          </p:cNvSpPr>
          <p:nvPr/>
        </p:nvSpPr>
        <p:spPr bwMode="auto">
          <a:xfrm>
            <a:off x="6443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0" name="Rectangle 63"/>
          <p:cNvSpPr>
            <a:spLocks noChangeArrowheads="1"/>
          </p:cNvSpPr>
          <p:nvPr/>
        </p:nvSpPr>
        <p:spPr bwMode="auto">
          <a:xfrm>
            <a:off x="6824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1" name="Rectangle 64"/>
          <p:cNvSpPr>
            <a:spLocks noChangeArrowheads="1"/>
          </p:cNvSpPr>
          <p:nvPr/>
        </p:nvSpPr>
        <p:spPr bwMode="auto">
          <a:xfrm>
            <a:off x="7205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2" name="Rectangle 65"/>
          <p:cNvSpPr>
            <a:spLocks noChangeArrowheads="1"/>
          </p:cNvSpPr>
          <p:nvPr/>
        </p:nvSpPr>
        <p:spPr bwMode="auto">
          <a:xfrm>
            <a:off x="7586663" y="5711825"/>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3" name="Rectangle 71"/>
          <p:cNvSpPr>
            <a:spLocks noChangeArrowheads="1"/>
          </p:cNvSpPr>
          <p:nvPr/>
        </p:nvSpPr>
        <p:spPr bwMode="auto">
          <a:xfrm>
            <a:off x="4538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4" name="Rectangle 72"/>
          <p:cNvSpPr>
            <a:spLocks noChangeArrowheads="1"/>
          </p:cNvSpPr>
          <p:nvPr/>
        </p:nvSpPr>
        <p:spPr bwMode="auto">
          <a:xfrm>
            <a:off x="4538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5" name="Rectangle 73"/>
          <p:cNvSpPr>
            <a:spLocks noChangeArrowheads="1"/>
          </p:cNvSpPr>
          <p:nvPr/>
        </p:nvSpPr>
        <p:spPr bwMode="auto">
          <a:xfrm>
            <a:off x="4538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6" name="Rectangle 74"/>
          <p:cNvSpPr>
            <a:spLocks noChangeArrowheads="1"/>
          </p:cNvSpPr>
          <p:nvPr/>
        </p:nvSpPr>
        <p:spPr bwMode="auto">
          <a:xfrm>
            <a:off x="4538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7" name="Rectangle 75"/>
          <p:cNvSpPr>
            <a:spLocks noChangeArrowheads="1"/>
          </p:cNvSpPr>
          <p:nvPr/>
        </p:nvSpPr>
        <p:spPr bwMode="auto">
          <a:xfrm>
            <a:off x="4538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8" name="Rectangle 76"/>
          <p:cNvSpPr>
            <a:spLocks noChangeArrowheads="1"/>
          </p:cNvSpPr>
          <p:nvPr/>
        </p:nvSpPr>
        <p:spPr bwMode="auto">
          <a:xfrm>
            <a:off x="4538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09" name="Rectangle 77"/>
          <p:cNvSpPr>
            <a:spLocks noChangeArrowheads="1"/>
          </p:cNvSpPr>
          <p:nvPr/>
        </p:nvSpPr>
        <p:spPr bwMode="auto">
          <a:xfrm>
            <a:off x="4538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0" name="Rectangle 78"/>
          <p:cNvSpPr>
            <a:spLocks noChangeArrowheads="1"/>
          </p:cNvSpPr>
          <p:nvPr/>
        </p:nvSpPr>
        <p:spPr bwMode="auto">
          <a:xfrm>
            <a:off x="4538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1" name="Rectangle 79"/>
          <p:cNvSpPr>
            <a:spLocks noChangeArrowheads="1"/>
          </p:cNvSpPr>
          <p:nvPr/>
        </p:nvSpPr>
        <p:spPr bwMode="auto">
          <a:xfrm>
            <a:off x="4538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2" name="Rectangle 80"/>
          <p:cNvSpPr>
            <a:spLocks noChangeArrowheads="1"/>
          </p:cNvSpPr>
          <p:nvPr/>
        </p:nvSpPr>
        <p:spPr bwMode="auto">
          <a:xfrm>
            <a:off x="7967663" y="3044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3" name="Rectangle 81"/>
          <p:cNvSpPr>
            <a:spLocks noChangeArrowheads="1"/>
          </p:cNvSpPr>
          <p:nvPr/>
        </p:nvSpPr>
        <p:spPr bwMode="auto">
          <a:xfrm>
            <a:off x="7967663" y="3425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4" name="Rectangle 82"/>
          <p:cNvSpPr>
            <a:spLocks noChangeArrowheads="1"/>
          </p:cNvSpPr>
          <p:nvPr/>
        </p:nvSpPr>
        <p:spPr bwMode="auto">
          <a:xfrm>
            <a:off x="7967663" y="3806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5" name="Rectangle 83"/>
          <p:cNvSpPr>
            <a:spLocks noChangeArrowheads="1"/>
          </p:cNvSpPr>
          <p:nvPr/>
        </p:nvSpPr>
        <p:spPr bwMode="auto">
          <a:xfrm>
            <a:off x="7967663" y="4187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6" name="Rectangle 84"/>
          <p:cNvSpPr>
            <a:spLocks noChangeArrowheads="1"/>
          </p:cNvSpPr>
          <p:nvPr/>
        </p:nvSpPr>
        <p:spPr bwMode="auto">
          <a:xfrm>
            <a:off x="7967663" y="4568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7" name="Rectangle 85"/>
          <p:cNvSpPr>
            <a:spLocks noChangeArrowheads="1"/>
          </p:cNvSpPr>
          <p:nvPr/>
        </p:nvSpPr>
        <p:spPr bwMode="auto">
          <a:xfrm>
            <a:off x="7967663" y="4949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8" name="Rectangle 86"/>
          <p:cNvSpPr>
            <a:spLocks noChangeArrowheads="1"/>
          </p:cNvSpPr>
          <p:nvPr/>
        </p:nvSpPr>
        <p:spPr bwMode="auto">
          <a:xfrm>
            <a:off x="7967663" y="5330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19" name="Rectangle 87"/>
          <p:cNvSpPr>
            <a:spLocks noChangeArrowheads="1"/>
          </p:cNvSpPr>
          <p:nvPr/>
        </p:nvSpPr>
        <p:spPr bwMode="auto">
          <a:xfrm>
            <a:off x="7967663" y="5711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0" name="Rectangle 88"/>
          <p:cNvSpPr>
            <a:spLocks noChangeArrowheads="1"/>
          </p:cNvSpPr>
          <p:nvPr/>
        </p:nvSpPr>
        <p:spPr bwMode="auto">
          <a:xfrm>
            <a:off x="7967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1" name="Rectangle 89"/>
          <p:cNvSpPr>
            <a:spLocks noChangeArrowheads="1"/>
          </p:cNvSpPr>
          <p:nvPr/>
        </p:nvSpPr>
        <p:spPr bwMode="auto">
          <a:xfrm>
            <a:off x="5300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2" name="Rectangle 90"/>
          <p:cNvSpPr>
            <a:spLocks noChangeArrowheads="1"/>
          </p:cNvSpPr>
          <p:nvPr/>
        </p:nvSpPr>
        <p:spPr bwMode="auto">
          <a:xfrm>
            <a:off x="5681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3" name="Rectangle 91"/>
          <p:cNvSpPr>
            <a:spLocks noChangeArrowheads="1"/>
          </p:cNvSpPr>
          <p:nvPr/>
        </p:nvSpPr>
        <p:spPr bwMode="auto">
          <a:xfrm>
            <a:off x="6062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4" name="Rectangle 92"/>
          <p:cNvSpPr>
            <a:spLocks noChangeArrowheads="1"/>
          </p:cNvSpPr>
          <p:nvPr/>
        </p:nvSpPr>
        <p:spPr bwMode="auto">
          <a:xfrm>
            <a:off x="6443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5" name="Rectangle 93"/>
          <p:cNvSpPr>
            <a:spLocks noChangeArrowheads="1"/>
          </p:cNvSpPr>
          <p:nvPr/>
        </p:nvSpPr>
        <p:spPr bwMode="auto">
          <a:xfrm>
            <a:off x="6824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6" name="Rectangle 94"/>
          <p:cNvSpPr>
            <a:spLocks noChangeArrowheads="1"/>
          </p:cNvSpPr>
          <p:nvPr/>
        </p:nvSpPr>
        <p:spPr bwMode="auto">
          <a:xfrm>
            <a:off x="7205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7" name="Rectangle 95"/>
          <p:cNvSpPr>
            <a:spLocks noChangeArrowheads="1"/>
          </p:cNvSpPr>
          <p:nvPr/>
        </p:nvSpPr>
        <p:spPr bwMode="auto">
          <a:xfrm>
            <a:off x="7586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8" name="Rectangle 96"/>
          <p:cNvSpPr>
            <a:spLocks noChangeArrowheads="1"/>
          </p:cNvSpPr>
          <p:nvPr/>
        </p:nvSpPr>
        <p:spPr bwMode="auto">
          <a:xfrm>
            <a:off x="4919663" y="6092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29" name="Rectangle 97"/>
          <p:cNvSpPr>
            <a:spLocks noChangeArrowheads="1"/>
          </p:cNvSpPr>
          <p:nvPr/>
        </p:nvSpPr>
        <p:spPr bwMode="auto">
          <a:xfrm>
            <a:off x="4538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0" name="Rectangle 98"/>
          <p:cNvSpPr>
            <a:spLocks noChangeArrowheads="1"/>
          </p:cNvSpPr>
          <p:nvPr/>
        </p:nvSpPr>
        <p:spPr bwMode="auto">
          <a:xfrm>
            <a:off x="7967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1" name="Rectangle 99"/>
          <p:cNvSpPr>
            <a:spLocks noChangeArrowheads="1"/>
          </p:cNvSpPr>
          <p:nvPr/>
        </p:nvSpPr>
        <p:spPr bwMode="auto">
          <a:xfrm>
            <a:off x="5300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2" name="Rectangle 100"/>
          <p:cNvSpPr>
            <a:spLocks noChangeArrowheads="1"/>
          </p:cNvSpPr>
          <p:nvPr/>
        </p:nvSpPr>
        <p:spPr bwMode="auto">
          <a:xfrm>
            <a:off x="5681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3" name="Rectangle 101"/>
          <p:cNvSpPr>
            <a:spLocks noChangeArrowheads="1"/>
          </p:cNvSpPr>
          <p:nvPr/>
        </p:nvSpPr>
        <p:spPr bwMode="auto">
          <a:xfrm>
            <a:off x="6062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4" name="Rectangle 102"/>
          <p:cNvSpPr>
            <a:spLocks noChangeArrowheads="1"/>
          </p:cNvSpPr>
          <p:nvPr/>
        </p:nvSpPr>
        <p:spPr bwMode="auto">
          <a:xfrm>
            <a:off x="6443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5" name="Rectangle 103"/>
          <p:cNvSpPr>
            <a:spLocks noChangeArrowheads="1"/>
          </p:cNvSpPr>
          <p:nvPr/>
        </p:nvSpPr>
        <p:spPr bwMode="auto">
          <a:xfrm>
            <a:off x="6824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6" name="Rectangle 104"/>
          <p:cNvSpPr>
            <a:spLocks noChangeArrowheads="1"/>
          </p:cNvSpPr>
          <p:nvPr/>
        </p:nvSpPr>
        <p:spPr bwMode="auto">
          <a:xfrm>
            <a:off x="7205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7" name="Rectangle 105"/>
          <p:cNvSpPr>
            <a:spLocks noChangeArrowheads="1"/>
          </p:cNvSpPr>
          <p:nvPr/>
        </p:nvSpPr>
        <p:spPr bwMode="auto">
          <a:xfrm>
            <a:off x="7586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8" name="Rectangle 106"/>
          <p:cNvSpPr>
            <a:spLocks noChangeArrowheads="1"/>
          </p:cNvSpPr>
          <p:nvPr/>
        </p:nvSpPr>
        <p:spPr bwMode="auto">
          <a:xfrm>
            <a:off x="4919663" y="2663825"/>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4439" name="Rectangle 108"/>
          <p:cNvSpPr>
            <a:spLocks noChangeArrowheads="1"/>
          </p:cNvSpPr>
          <p:nvPr/>
        </p:nvSpPr>
        <p:spPr bwMode="auto">
          <a:xfrm>
            <a:off x="7586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4440" name="Rectangle 109"/>
          <p:cNvSpPr>
            <a:spLocks noChangeArrowheads="1"/>
          </p:cNvSpPr>
          <p:nvPr/>
        </p:nvSpPr>
        <p:spPr bwMode="auto">
          <a:xfrm>
            <a:off x="4919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4441" name="Rectangle 110"/>
          <p:cNvSpPr>
            <a:spLocks noChangeArrowheads="1"/>
          </p:cNvSpPr>
          <p:nvPr/>
        </p:nvSpPr>
        <p:spPr bwMode="auto">
          <a:xfrm>
            <a:off x="5300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4442" name="Rectangle 111"/>
          <p:cNvSpPr>
            <a:spLocks noChangeArrowheads="1"/>
          </p:cNvSpPr>
          <p:nvPr/>
        </p:nvSpPr>
        <p:spPr bwMode="auto">
          <a:xfrm>
            <a:off x="5681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4443" name="Rectangle 112"/>
          <p:cNvSpPr>
            <a:spLocks noChangeArrowheads="1"/>
          </p:cNvSpPr>
          <p:nvPr/>
        </p:nvSpPr>
        <p:spPr bwMode="auto">
          <a:xfrm>
            <a:off x="6062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4444" name="Rectangle 113"/>
          <p:cNvSpPr>
            <a:spLocks noChangeArrowheads="1"/>
          </p:cNvSpPr>
          <p:nvPr/>
        </p:nvSpPr>
        <p:spPr bwMode="auto">
          <a:xfrm>
            <a:off x="6443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4445" name="Rectangle 114"/>
          <p:cNvSpPr>
            <a:spLocks noChangeArrowheads="1"/>
          </p:cNvSpPr>
          <p:nvPr/>
        </p:nvSpPr>
        <p:spPr bwMode="auto">
          <a:xfrm>
            <a:off x="6824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4446" name="Rectangle 115"/>
          <p:cNvSpPr>
            <a:spLocks noChangeArrowheads="1"/>
          </p:cNvSpPr>
          <p:nvPr/>
        </p:nvSpPr>
        <p:spPr bwMode="auto">
          <a:xfrm>
            <a:off x="7205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4447" name="Rectangle 116"/>
          <p:cNvSpPr>
            <a:spLocks noChangeArrowheads="1"/>
          </p:cNvSpPr>
          <p:nvPr/>
        </p:nvSpPr>
        <p:spPr bwMode="auto">
          <a:xfrm>
            <a:off x="4081463" y="5711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4448" name="Rectangle 117"/>
          <p:cNvSpPr>
            <a:spLocks noChangeArrowheads="1"/>
          </p:cNvSpPr>
          <p:nvPr/>
        </p:nvSpPr>
        <p:spPr bwMode="auto">
          <a:xfrm>
            <a:off x="4081463" y="3044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4449" name="Rectangle 118"/>
          <p:cNvSpPr>
            <a:spLocks noChangeArrowheads="1"/>
          </p:cNvSpPr>
          <p:nvPr/>
        </p:nvSpPr>
        <p:spPr bwMode="auto">
          <a:xfrm>
            <a:off x="4081463" y="3425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4450" name="Rectangle 119"/>
          <p:cNvSpPr>
            <a:spLocks noChangeArrowheads="1"/>
          </p:cNvSpPr>
          <p:nvPr/>
        </p:nvSpPr>
        <p:spPr bwMode="auto">
          <a:xfrm>
            <a:off x="4081463" y="3806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4451" name="Rectangle 120"/>
          <p:cNvSpPr>
            <a:spLocks noChangeArrowheads="1"/>
          </p:cNvSpPr>
          <p:nvPr/>
        </p:nvSpPr>
        <p:spPr bwMode="auto">
          <a:xfrm>
            <a:off x="4081463" y="4187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4452" name="Rectangle 121"/>
          <p:cNvSpPr>
            <a:spLocks noChangeArrowheads="1"/>
          </p:cNvSpPr>
          <p:nvPr/>
        </p:nvSpPr>
        <p:spPr bwMode="auto">
          <a:xfrm>
            <a:off x="4081463" y="4568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4453" name="Rectangle 122"/>
          <p:cNvSpPr>
            <a:spLocks noChangeArrowheads="1"/>
          </p:cNvSpPr>
          <p:nvPr/>
        </p:nvSpPr>
        <p:spPr bwMode="auto">
          <a:xfrm>
            <a:off x="4081463" y="4949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4454" name="Rectangle 123"/>
          <p:cNvSpPr>
            <a:spLocks noChangeArrowheads="1"/>
          </p:cNvSpPr>
          <p:nvPr/>
        </p:nvSpPr>
        <p:spPr bwMode="auto">
          <a:xfrm>
            <a:off x="4114800" y="5330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4455" name="Rectangle 124"/>
          <p:cNvSpPr>
            <a:spLocks noChangeArrowheads="1"/>
          </p:cNvSpPr>
          <p:nvPr/>
        </p:nvSpPr>
        <p:spPr bwMode="auto">
          <a:xfrm>
            <a:off x="4081463" y="60928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4456" name="Rectangle 125"/>
          <p:cNvSpPr>
            <a:spLocks noChangeArrowheads="1"/>
          </p:cNvSpPr>
          <p:nvPr/>
        </p:nvSpPr>
        <p:spPr bwMode="auto">
          <a:xfrm>
            <a:off x="4538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4457" name="Rectangle 126"/>
          <p:cNvSpPr>
            <a:spLocks noChangeArrowheads="1"/>
          </p:cNvSpPr>
          <p:nvPr/>
        </p:nvSpPr>
        <p:spPr bwMode="auto">
          <a:xfrm>
            <a:off x="7967663" y="220662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4458" name="Rectangle 127"/>
          <p:cNvSpPr>
            <a:spLocks noChangeArrowheads="1"/>
          </p:cNvSpPr>
          <p:nvPr/>
        </p:nvSpPr>
        <p:spPr bwMode="auto">
          <a:xfrm>
            <a:off x="41148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4977130" y="3107055"/>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644130" y="3107055"/>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5059" name="Rectangle 106"/>
          <p:cNvSpPr>
            <a:spLocks noGrp="1"/>
          </p:cNvSpPr>
          <p:nvPr>
            <p:ph type="body" idx="4294967295"/>
          </p:nvPr>
        </p:nvSpPr>
        <p:spPr>
          <a:xfrm>
            <a:off x="2057400" y="1017815"/>
            <a:ext cx="8610600" cy="725488"/>
          </a:xfrm>
        </p:spPr>
        <p:txBody>
          <a:bodyPr vert="horz" wrap="square" anchor="ctr"/>
          <a:lstStyle/>
          <a:p>
            <a:pPr marL="273050" indent="-273050">
              <a:buNone/>
            </a:pPr>
            <a:r>
              <a:rPr lang="zh-CN" altLang="en-US" noProof="1"/>
              <a:t>借助于队列可求得入口到出口的最短路径</a:t>
            </a:r>
            <a:r>
              <a:rPr lang="en-US" altLang="zh-CN" noProof="1"/>
              <a:t>(</a:t>
            </a:r>
            <a:r>
              <a:rPr lang="zh-CN" altLang="en-US" noProof="1"/>
              <a:t>若存在</a:t>
            </a:r>
            <a:r>
              <a:rPr lang="en-US" altLang="zh-CN" noProof="1"/>
              <a:t>)</a:t>
            </a:r>
            <a:endParaRPr lang="en-US" altLang="zh-CN" noProof="1"/>
          </a:p>
        </p:txBody>
      </p:sp>
      <p:sp>
        <p:nvSpPr>
          <p:cNvPr id="3789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imes New Roman" panose="02020603050405020304" pitchFamily="18" charset="0"/>
              <a:sym typeface="Times New Roman" panose="02020603050405020304" pitchFamily="18" charset="0"/>
            </a:endParaRPr>
          </a:p>
        </p:txBody>
      </p:sp>
      <p:sp>
        <p:nvSpPr>
          <p:cNvPr id="3789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89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0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1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2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3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入口</a:t>
            </a:r>
            <a:endParaRPr lang="zh-CN" altLang="en-US">
              <a:latin typeface="Tahoma" panose="020B0604030504040204" pitchFamily="34" charset="0"/>
              <a:sym typeface="Tahoma" panose="020B0604030504040204" pitchFamily="34" charset="0"/>
            </a:endParaRPr>
          </a:p>
        </p:txBody>
      </p:sp>
      <p:sp>
        <p:nvSpPr>
          <p:cNvPr id="3795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95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出口</a:t>
            </a:r>
            <a:endParaRPr lang="zh-CN" altLang="en-US">
              <a:latin typeface="Tahoma" panose="020B0604030504040204" pitchFamily="34" charset="0"/>
              <a:sym typeface="Tahoma" panose="020B0604030504040204" pitchFamily="34" charset="0"/>
            </a:endParaRPr>
          </a:p>
        </p:txBody>
      </p:sp>
      <p:sp>
        <p:nvSpPr>
          <p:cNvPr id="3795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795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5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6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7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8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8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799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799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799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799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799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799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800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800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800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800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800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800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800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800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800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800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801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801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801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801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499995"/>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499995"/>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891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891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1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892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2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3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4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5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6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8"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入口</a:t>
            </a:r>
            <a:endParaRPr lang="zh-CN" altLang="en-US"/>
          </a:p>
        </p:txBody>
      </p:sp>
      <p:sp>
        <p:nvSpPr>
          <p:cNvPr id="3897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898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latin typeface="Tahoma" panose="020B0604030504040204" pitchFamily="34" charset="0"/>
                <a:sym typeface="Tahoma" panose="020B0604030504040204" pitchFamily="34" charset="0"/>
              </a:rPr>
              <a:t>出口</a:t>
            </a:r>
            <a:endParaRPr lang="zh-CN" altLang="en-US"/>
          </a:p>
        </p:txBody>
      </p:sp>
      <p:sp>
        <p:nvSpPr>
          <p:cNvPr id="3898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3898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8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9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00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0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901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901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902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902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902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902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902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902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902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902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902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902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903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903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903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903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903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903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903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903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499995"/>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499995"/>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993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994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4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3994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3994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3995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5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6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7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8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999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0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000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000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000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000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0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1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1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2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03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3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004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004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004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004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004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004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004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004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005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005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005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005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005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005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005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005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005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005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006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006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500630"/>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500630"/>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096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096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6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097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097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7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098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098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098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8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099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0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1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2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102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102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102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103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3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4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05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5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106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106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106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106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107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107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107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107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107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107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107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107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107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107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108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108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108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108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108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108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500630"/>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500630"/>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87"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1988"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89"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0"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1"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2"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3"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4"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1995"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1996"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7"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8"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1999"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0"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1"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2"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2003"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2004"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2005"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6"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7"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8"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09"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2010"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1"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2"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3"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4"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5"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6"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7"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2018"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19"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0"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1"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2"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3"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4"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5"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6"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7"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8"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29"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0"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1"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2"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3"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4"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5"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6"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7"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8"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39"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0"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1"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2"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3"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4"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5"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6"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7"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8"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49"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2050"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2051"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2052"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2053"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4"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5"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6"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7"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8"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59"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0"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1"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62"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3"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4"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5"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6"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7"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8"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69"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0"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1"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2"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3"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4"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5"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6"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7"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8"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2079"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0"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1"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2"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3"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4"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5"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6"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7"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8"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2089"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2090"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2091"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2092"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2093"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2094"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2095"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2096"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2097"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2098"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2099"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2100"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2101"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2102"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2103"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2104"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2105"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2106"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2107"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2108"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500630"/>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500630"/>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301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301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1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302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302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2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302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302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303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3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303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3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304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4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4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305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5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6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7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307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307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307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307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7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08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8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8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09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310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0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311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311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311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311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311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311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312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312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312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312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312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312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312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312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312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312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313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313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313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313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6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4403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403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3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404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404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4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4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405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405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405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5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5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405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6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406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6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6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407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4407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7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408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8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098"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409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410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410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410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0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1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1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1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412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2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413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413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414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414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414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414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414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414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414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414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414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414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415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415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415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415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415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415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415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415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505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506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06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6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506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506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07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07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7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507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507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507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7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508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8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509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9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09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09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509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510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510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0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1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2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512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512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512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512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2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3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3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4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515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5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516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516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516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516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516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516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516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516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517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517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517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517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517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517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517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517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517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517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518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518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6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4608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608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08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08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8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609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609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09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09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09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09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610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610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610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0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610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0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611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1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11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1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612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612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612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2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613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3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4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solidFill>
                  <a:srgbClr val="000000"/>
                </a:solidFill>
                <a:latin typeface="Tahoma" panose="020B0604030504040204" pitchFamily="34" charset="0"/>
                <a:sym typeface="Tahoma" panose="020B0604030504040204" pitchFamily="34" charset="0"/>
              </a:rPr>
              <a:t>入口</a:t>
            </a:r>
            <a:endParaRPr lang="zh-CN" altLang="en-US"/>
          </a:p>
        </p:txBody>
      </p:sp>
      <p:sp>
        <p:nvSpPr>
          <p:cNvPr id="4614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614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a:solidFill>
                  <a:srgbClr val="000000"/>
                </a:solidFill>
                <a:latin typeface="Tahoma" panose="020B0604030504040204" pitchFamily="34" charset="0"/>
                <a:sym typeface="Tahoma" panose="020B0604030504040204" pitchFamily="34" charset="0"/>
              </a:rPr>
              <a:t>出口</a:t>
            </a:r>
            <a:endParaRPr lang="zh-CN" altLang="en-US"/>
          </a:p>
        </p:txBody>
      </p:sp>
      <p:sp>
        <p:nvSpPr>
          <p:cNvPr id="4614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615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5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6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7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618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618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618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618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619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619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619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619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619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619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619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619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619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619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620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620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620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620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620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620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7107"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08"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7109"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0"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11"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12"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7113"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4"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5"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7116"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7117"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18"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19"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20"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21"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2"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3"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7124"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7125"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7126"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27"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8"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29"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0"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7131"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2"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3"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4"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5"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6"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7"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38"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7139"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40"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41"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2"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3"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4"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5"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6"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7147"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48"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7149"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7150"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7151"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2"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3"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4"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7155"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6"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7"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8"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59"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0"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1"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2"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3"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4"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5"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6"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7"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8"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69"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70"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7171"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172"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7173"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7174"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5"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6"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7"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8"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79"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0"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1"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2"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183"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4"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5"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6"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7"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8"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89"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0"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1"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2"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3"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4"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5"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6"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7"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8"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199"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7200"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1"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2"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3"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4"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5"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6"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7"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8"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09"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7210"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7211"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7212"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7213"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7214"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7215"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7216"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7217"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7218"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7219"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7220"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7221"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7222"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7223"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7224"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7225"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7226"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7227"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7228"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7229"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7230"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48131"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2"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8133"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4"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35"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36"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8137"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8"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39"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8140"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8141"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2"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43"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44"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45"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6"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47"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8148"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8149"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8150"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51"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2"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53"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4"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8155"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6"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7"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8"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59"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60"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1"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2"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8163"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64"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65"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6"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67"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8"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69"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0"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8171"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2"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8173"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8174"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8175"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6"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7"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78"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8179"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0"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1"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2"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8183"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4"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5"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6"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7"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8"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89"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0"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1"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2"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3"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194"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8195"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8196"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8197"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8198"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199"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0"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1"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2"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3"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4"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5"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6"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07"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08"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09"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0"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1"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2"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3"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4"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5"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6"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7"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8"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19"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0"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1"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2"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3"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8224"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5"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6"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7"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8"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29"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0"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1"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2"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3"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8234"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8235"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8236"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8237"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8238"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8239"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8240"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8241"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8242"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8243"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8244"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8245"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8246"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8247"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8248"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8249"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8250"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8251"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8252"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8253"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8254"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5"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56"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9157"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58"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59"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60"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9161"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2"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3"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49164"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9165"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66"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167"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68"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69"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0"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1"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49172"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9173"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9174"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75"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76"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77"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78"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49179"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0"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1"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2"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83"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84"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85"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86"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49187"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88"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189"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0"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191"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192"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3"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4"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49195"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196"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49197"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49198"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49199"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0"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1"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2"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49203"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4"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5"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6"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49207"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8"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09"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0"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1"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2"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3"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4"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49215"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6"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7"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18" name="Rectangle 66"/>
          <p:cNvSpPr>
            <a:spLocks noChangeArrowheads="1"/>
          </p:cNvSpPr>
          <p:nvPr/>
        </p:nvSpPr>
        <p:spPr bwMode="auto">
          <a:xfrm>
            <a:off x="2927350" y="2060575"/>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49219"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9220"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49221"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49222"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3"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4"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5"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6"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7"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8"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29"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30"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31"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2"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3"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4"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5"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6"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7"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8"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39"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0"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1"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2"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3"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4"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5"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6"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7"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49248"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49"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0"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1"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2"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3"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4"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5"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6"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7"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49258"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9259"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9260"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9261"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9262"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9263"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9264"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9265"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9266"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49267"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49268"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49269"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49270"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49271"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49272"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49273"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49274"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9275"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9276"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49277"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9278"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0"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0181"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2"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183"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184"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0185"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86"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187"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0188"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0189"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90"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191"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192"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193"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194"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195"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0196"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0197"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0198"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199"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0"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01"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2"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0203"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4"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5"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06"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7"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08"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09"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10"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0211"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212"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213"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14"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15"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16"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17"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18"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0219"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0"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0221"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0222"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0223"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4"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5"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6"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0227"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8"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29"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0"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0231"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2"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3"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4"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5"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36"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37"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38"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0239"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0240"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b="1">
              <a:latin typeface="Times New Roman" panose="02020603050405020304" pitchFamily="18" charset="0"/>
              <a:sym typeface="Times New Roman" panose="02020603050405020304" pitchFamily="18" charset="0"/>
            </a:endParaRPr>
          </a:p>
        </p:txBody>
      </p:sp>
      <p:sp>
        <p:nvSpPr>
          <p:cNvPr id="50241"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42"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0243"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0244"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0245"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0246"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7"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8"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49"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0"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1"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2"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3"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4"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55"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6"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7"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8"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59"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0"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1"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2"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3"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4"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5"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6"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7"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8"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69"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0"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1"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0272"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3"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4"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5"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6"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7"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8"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79"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0"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1"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0282"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0283"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0284"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0285"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0286"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0287"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0288"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0289"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0290"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0291"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0292"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0293"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0294"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0295"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0296"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0297"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0298"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0299"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0300"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0301"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0302"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51203"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04"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1205"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06"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07"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08"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1209"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0"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11"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1212"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1213"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4"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15"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16"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17"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18"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19"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1220"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1221"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1222"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23"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4"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25"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26"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1227"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8"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29"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30"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31"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32"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33"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34"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1235"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36"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37"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38"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39"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40"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41"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42"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1243"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4"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1245"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1246"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1247"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8"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49"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0"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1251"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2"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3"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4"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1255"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6"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7"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8"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59"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60"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61"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62"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1263"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1264"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1265"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66"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1267"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1268"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1269"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1270"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1"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2"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3"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4"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5"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6"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7"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8"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79"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0"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1"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2"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3"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4"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5"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6"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7"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8"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89"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0"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1"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2"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3"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4"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5"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1296"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7"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8"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299"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0"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1"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2"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3"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4"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5"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1306"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1307"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1308"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1309"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1310"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1311"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1312"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1313"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1314"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1315"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1316"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1317"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1318"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1319"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1320"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1321"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1322"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1323"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1324"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1325"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1326"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12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6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52227" name="Rectangle 2"/>
          <p:cNvSpPr>
            <a:spLocks noChangeArrowheads="1"/>
          </p:cNvSpPr>
          <p:nvPr/>
        </p:nvSpPr>
        <p:spPr bwMode="auto">
          <a:xfrm>
            <a:off x="5029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28" name="Rectangle 3"/>
          <p:cNvSpPr>
            <a:spLocks noChangeArrowheads="1"/>
          </p:cNvSpPr>
          <p:nvPr/>
        </p:nvSpPr>
        <p:spPr bwMode="auto">
          <a:xfrm>
            <a:off x="5410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2229" name="Rectangle 4"/>
          <p:cNvSpPr>
            <a:spLocks noChangeArrowheads="1"/>
          </p:cNvSpPr>
          <p:nvPr/>
        </p:nvSpPr>
        <p:spPr bwMode="auto">
          <a:xfrm>
            <a:off x="5791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0" name="Rectangle 5"/>
          <p:cNvSpPr>
            <a:spLocks noChangeArrowheads="1"/>
          </p:cNvSpPr>
          <p:nvPr/>
        </p:nvSpPr>
        <p:spPr bwMode="auto">
          <a:xfrm>
            <a:off x="6172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31" name="Rectangle 6"/>
          <p:cNvSpPr>
            <a:spLocks noChangeArrowheads="1"/>
          </p:cNvSpPr>
          <p:nvPr/>
        </p:nvSpPr>
        <p:spPr bwMode="auto">
          <a:xfrm>
            <a:off x="6553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32" name="Rectangle 7"/>
          <p:cNvSpPr>
            <a:spLocks noChangeArrowheads="1"/>
          </p:cNvSpPr>
          <p:nvPr/>
        </p:nvSpPr>
        <p:spPr bwMode="auto">
          <a:xfrm>
            <a:off x="6934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2233" name="Rectangle 8"/>
          <p:cNvSpPr>
            <a:spLocks noChangeArrowheads="1"/>
          </p:cNvSpPr>
          <p:nvPr/>
        </p:nvSpPr>
        <p:spPr bwMode="auto">
          <a:xfrm>
            <a:off x="7315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4" name="Rectangle 9"/>
          <p:cNvSpPr>
            <a:spLocks noChangeArrowheads="1"/>
          </p:cNvSpPr>
          <p:nvPr/>
        </p:nvSpPr>
        <p:spPr bwMode="auto">
          <a:xfrm>
            <a:off x="7696200" y="2438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35" name="Rectangle 10"/>
          <p:cNvSpPr>
            <a:spLocks noChangeArrowheads="1"/>
          </p:cNvSpPr>
          <p:nvPr/>
        </p:nvSpPr>
        <p:spPr bwMode="auto">
          <a:xfrm>
            <a:off x="5029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imes New Roman" panose="02020603050405020304" pitchFamily="18" charset="0"/>
                <a:sym typeface="Times New Roman" panose="02020603050405020304" pitchFamily="18" charset="0"/>
              </a:rPr>
              <a:t>1</a:t>
            </a:r>
            <a:endParaRPr lang="en-US" altLang="zh-CN"/>
          </a:p>
        </p:txBody>
      </p:sp>
      <p:sp>
        <p:nvSpPr>
          <p:cNvPr id="52236" name="Rectangle 11"/>
          <p:cNvSpPr>
            <a:spLocks noChangeArrowheads="1"/>
          </p:cNvSpPr>
          <p:nvPr/>
        </p:nvSpPr>
        <p:spPr bwMode="auto">
          <a:xfrm>
            <a:off x="5410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2237" name="Rectangle 12"/>
          <p:cNvSpPr>
            <a:spLocks noChangeArrowheads="1"/>
          </p:cNvSpPr>
          <p:nvPr/>
        </p:nvSpPr>
        <p:spPr bwMode="auto">
          <a:xfrm>
            <a:off x="5791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38" name="Rectangle 13"/>
          <p:cNvSpPr>
            <a:spLocks noChangeArrowheads="1"/>
          </p:cNvSpPr>
          <p:nvPr/>
        </p:nvSpPr>
        <p:spPr bwMode="auto">
          <a:xfrm>
            <a:off x="6172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39" name="Rectangle 14"/>
          <p:cNvSpPr>
            <a:spLocks noChangeArrowheads="1"/>
          </p:cNvSpPr>
          <p:nvPr/>
        </p:nvSpPr>
        <p:spPr bwMode="auto">
          <a:xfrm>
            <a:off x="6553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40" name="Rectangle 15"/>
          <p:cNvSpPr>
            <a:spLocks noChangeArrowheads="1"/>
          </p:cNvSpPr>
          <p:nvPr/>
        </p:nvSpPr>
        <p:spPr bwMode="auto">
          <a:xfrm>
            <a:off x="6934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41" name="Rectangle 16"/>
          <p:cNvSpPr>
            <a:spLocks noChangeArrowheads="1"/>
          </p:cNvSpPr>
          <p:nvPr/>
        </p:nvSpPr>
        <p:spPr bwMode="auto">
          <a:xfrm>
            <a:off x="7315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42" name="Rectangle 17"/>
          <p:cNvSpPr>
            <a:spLocks noChangeArrowheads="1"/>
          </p:cNvSpPr>
          <p:nvPr/>
        </p:nvSpPr>
        <p:spPr bwMode="auto">
          <a:xfrm>
            <a:off x="7696200" y="2819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43" name="Rectangle 18"/>
          <p:cNvSpPr>
            <a:spLocks noChangeArrowheads="1"/>
          </p:cNvSpPr>
          <p:nvPr/>
        </p:nvSpPr>
        <p:spPr bwMode="auto">
          <a:xfrm>
            <a:off x="5029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2</a:t>
            </a:r>
            <a:endParaRPr lang="en-US" altLang="zh-CN"/>
          </a:p>
        </p:txBody>
      </p:sp>
      <p:sp>
        <p:nvSpPr>
          <p:cNvPr id="52244" name="Rectangle 19"/>
          <p:cNvSpPr>
            <a:spLocks noChangeArrowheads="1"/>
          </p:cNvSpPr>
          <p:nvPr/>
        </p:nvSpPr>
        <p:spPr bwMode="auto">
          <a:xfrm>
            <a:off x="5410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2245" name="Rectangle 20"/>
          <p:cNvSpPr>
            <a:spLocks noChangeArrowheads="1"/>
          </p:cNvSpPr>
          <p:nvPr/>
        </p:nvSpPr>
        <p:spPr bwMode="auto">
          <a:xfrm>
            <a:off x="5791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2246" name="Rectangle 21"/>
          <p:cNvSpPr>
            <a:spLocks noChangeArrowheads="1"/>
          </p:cNvSpPr>
          <p:nvPr/>
        </p:nvSpPr>
        <p:spPr bwMode="auto">
          <a:xfrm>
            <a:off x="6172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47" name="Rectangle 22"/>
          <p:cNvSpPr>
            <a:spLocks noChangeArrowheads="1"/>
          </p:cNvSpPr>
          <p:nvPr/>
        </p:nvSpPr>
        <p:spPr bwMode="auto">
          <a:xfrm>
            <a:off x="6553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48" name="Rectangle 23"/>
          <p:cNvSpPr>
            <a:spLocks noChangeArrowheads="1"/>
          </p:cNvSpPr>
          <p:nvPr/>
        </p:nvSpPr>
        <p:spPr bwMode="auto">
          <a:xfrm>
            <a:off x="7315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49" name="Rectangle 24"/>
          <p:cNvSpPr>
            <a:spLocks noChangeArrowheads="1"/>
          </p:cNvSpPr>
          <p:nvPr/>
        </p:nvSpPr>
        <p:spPr bwMode="auto">
          <a:xfrm>
            <a:off x="7696200" y="3200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0" name="Rectangle 25"/>
          <p:cNvSpPr>
            <a:spLocks noChangeArrowheads="1"/>
          </p:cNvSpPr>
          <p:nvPr/>
        </p:nvSpPr>
        <p:spPr bwMode="auto">
          <a:xfrm>
            <a:off x="5029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3</a:t>
            </a:r>
            <a:endParaRPr lang="en-US" altLang="zh-CN"/>
          </a:p>
        </p:txBody>
      </p:sp>
      <p:sp>
        <p:nvSpPr>
          <p:cNvPr id="52251" name="Rectangle 26"/>
          <p:cNvSpPr>
            <a:spLocks noChangeArrowheads="1"/>
          </p:cNvSpPr>
          <p:nvPr/>
        </p:nvSpPr>
        <p:spPr bwMode="auto">
          <a:xfrm>
            <a:off x="5410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2" name="Rectangle 27"/>
          <p:cNvSpPr>
            <a:spLocks noChangeArrowheads="1"/>
          </p:cNvSpPr>
          <p:nvPr/>
        </p:nvSpPr>
        <p:spPr bwMode="auto">
          <a:xfrm>
            <a:off x="5791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3" name="Rectangle 28"/>
          <p:cNvSpPr>
            <a:spLocks noChangeArrowheads="1"/>
          </p:cNvSpPr>
          <p:nvPr/>
        </p:nvSpPr>
        <p:spPr bwMode="auto">
          <a:xfrm>
            <a:off x="6172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54" name="Rectangle 29"/>
          <p:cNvSpPr>
            <a:spLocks noChangeArrowheads="1"/>
          </p:cNvSpPr>
          <p:nvPr/>
        </p:nvSpPr>
        <p:spPr bwMode="auto">
          <a:xfrm>
            <a:off x="6553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5" name="Rectangle 30"/>
          <p:cNvSpPr>
            <a:spLocks noChangeArrowheads="1"/>
          </p:cNvSpPr>
          <p:nvPr/>
        </p:nvSpPr>
        <p:spPr bwMode="auto">
          <a:xfrm>
            <a:off x="6934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56" name="Rectangle 31"/>
          <p:cNvSpPr>
            <a:spLocks noChangeArrowheads="1"/>
          </p:cNvSpPr>
          <p:nvPr/>
        </p:nvSpPr>
        <p:spPr bwMode="auto">
          <a:xfrm>
            <a:off x="7315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57" name="Rectangle 32"/>
          <p:cNvSpPr>
            <a:spLocks noChangeArrowheads="1"/>
          </p:cNvSpPr>
          <p:nvPr/>
        </p:nvSpPr>
        <p:spPr bwMode="auto">
          <a:xfrm>
            <a:off x="7696200" y="3581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58" name="Rectangle 33"/>
          <p:cNvSpPr>
            <a:spLocks noChangeArrowheads="1"/>
          </p:cNvSpPr>
          <p:nvPr/>
        </p:nvSpPr>
        <p:spPr bwMode="auto">
          <a:xfrm>
            <a:off x="5029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4</a:t>
            </a:r>
            <a:endParaRPr lang="en-US" altLang="zh-CN"/>
          </a:p>
        </p:txBody>
      </p:sp>
      <p:sp>
        <p:nvSpPr>
          <p:cNvPr id="52259" name="Rectangle 34"/>
          <p:cNvSpPr>
            <a:spLocks noChangeArrowheads="1"/>
          </p:cNvSpPr>
          <p:nvPr/>
        </p:nvSpPr>
        <p:spPr bwMode="auto">
          <a:xfrm>
            <a:off x="5410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60" name="Rectangle 35"/>
          <p:cNvSpPr>
            <a:spLocks noChangeArrowheads="1"/>
          </p:cNvSpPr>
          <p:nvPr/>
        </p:nvSpPr>
        <p:spPr bwMode="auto">
          <a:xfrm>
            <a:off x="5791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61" name="Rectangle 36"/>
          <p:cNvSpPr>
            <a:spLocks noChangeArrowheads="1"/>
          </p:cNvSpPr>
          <p:nvPr/>
        </p:nvSpPr>
        <p:spPr bwMode="auto">
          <a:xfrm>
            <a:off x="6172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62" name="Rectangle 37"/>
          <p:cNvSpPr>
            <a:spLocks noChangeArrowheads="1"/>
          </p:cNvSpPr>
          <p:nvPr/>
        </p:nvSpPr>
        <p:spPr bwMode="auto">
          <a:xfrm>
            <a:off x="6553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63" name="Rectangle 38"/>
          <p:cNvSpPr>
            <a:spLocks noChangeArrowheads="1"/>
          </p:cNvSpPr>
          <p:nvPr/>
        </p:nvSpPr>
        <p:spPr bwMode="auto">
          <a:xfrm>
            <a:off x="6934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64" name="Rectangle 39"/>
          <p:cNvSpPr>
            <a:spLocks noChangeArrowheads="1"/>
          </p:cNvSpPr>
          <p:nvPr/>
        </p:nvSpPr>
        <p:spPr bwMode="auto">
          <a:xfrm>
            <a:off x="7315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65" name="Rectangle 40"/>
          <p:cNvSpPr>
            <a:spLocks noChangeArrowheads="1"/>
          </p:cNvSpPr>
          <p:nvPr/>
        </p:nvSpPr>
        <p:spPr bwMode="auto">
          <a:xfrm>
            <a:off x="7696200" y="3962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66" name="Rectangle 41"/>
          <p:cNvSpPr>
            <a:spLocks noChangeArrowheads="1"/>
          </p:cNvSpPr>
          <p:nvPr/>
        </p:nvSpPr>
        <p:spPr bwMode="auto">
          <a:xfrm>
            <a:off x="5029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5</a:t>
            </a:r>
            <a:endParaRPr lang="en-US" altLang="zh-CN"/>
          </a:p>
        </p:txBody>
      </p:sp>
      <p:sp>
        <p:nvSpPr>
          <p:cNvPr id="52267" name="Rectangle 42"/>
          <p:cNvSpPr>
            <a:spLocks noChangeArrowheads="1"/>
          </p:cNvSpPr>
          <p:nvPr/>
        </p:nvSpPr>
        <p:spPr bwMode="auto">
          <a:xfrm>
            <a:off x="5410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68" name="Rectangle 43"/>
          <p:cNvSpPr>
            <a:spLocks noChangeArrowheads="1"/>
          </p:cNvSpPr>
          <p:nvPr/>
        </p:nvSpPr>
        <p:spPr bwMode="auto">
          <a:xfrm>
            <a:off x="5791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7</a:t>
            </a:r>
            <a:endParaRPr lang="en-US" altLang="zh-CN"/>
          </a:p>
        </p:txBody>
      </p:sp>
      <p:sp>
        <p:nvSpPr>
          <p:cNvPr id="52269" name="Rectangle 44"/>
          <p:cNvSpPr>
            <a:spLocks noChangeArrowheads="1"/>
          </p:cNvSpPr>
          <p:nvPr/>
        </p:nvSpPr>
        <p:spPr bwMode="auto">
          <a:xfrm>
            <a:off x="6172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8</a:t>
            </a:r>
            <a:endParaRPr lang="en-US" altLang="zh-CN"/>
          </a:p>
        </p:txBody>
      </p:sp>
      <p:sp>
        <p:nvSpPr>
          <p:cNvPr id="52270" name="Rectangle 45"/>
          <p:cNvSpPr>
            <a:spLocks noChangeArrowheads="1"/>
          </p:cNvSpPr>
          <p:nvPr/>
        </p:nvSpPr>
        <p:spPr bwMode="auto">
          <a:xfrm>
            <a:off x="6553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2271" name="Rectangle 46"/>
          <p:cNvSpPr>
            <a:spLocks noChangeArrowheads="1"/>
          </p:cNvSpPr>
          <p:nvPr/>
        </p:nvSpPr>
        <p:spPr bwMode="auto">
          <a:xfrm>
            <a:off x="6934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2" name="Rectangle 47"/>
          <p:cNvSpPr>
            <a:spLocks noChangeArrowheads="1"/>
          </p:cNvSpPr>
          <p:nvPr/>
        </p:nvSpPr>
        <p:spPr bwMode="auto">
          <a:xfrm>
            <a:off x="7315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3" name="Rectangle 48"/>
          <p:cNvSpPr>
            <a:spLocks noChangeArrowheads="1"/>
          </p:cNvSpPr>
          <p:nvPr/>
        </p:nvSpPr>
        <p:spPr bwMode="auto">
          <a:xfrm>
            <a:off x="7696200" y="4343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4" name="Rectangle 49"/>
          <p:cNvSpPr>
            <a:spLocks noChangeArrowheads="1"/>
          </p:cNvSpPr>
          <p:nvPr/>
        </p:nvSpPr>
        <p:spPr bwMode="auto">
          <a:xfrm>
            <a:off x="5029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6</a:t>
            </a:r>
            <a:endParaRPr lang="en-US" altLang="zh-CN"/>
          </a:p>
        </p:txBody>
      </p:sp>
      <p:sp>
        <p:nvSpPr>
          <p:cNvPr id="52275" name="Rectangle 50"/>
          <p:cNvSpPr>
            <a:spLocks noChangeArrowheads="1"/>
          </p:cNvSpPr>
          <p:nvPr/>
        </p:nvSpPr>
        <p:spPr bwMode="auto">
          <a:xfrm>
            <a:off x="5410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6" name="Rectangle 51"/>
          <p:cNvSpPr>
            <a:spLocks noChangeArrowheads="1"/>
          </p:cNvSpPr>
          <p:nvPr/>
        </p:nvSpPr>
        <p:spPr bwMode="auto">
          <a:xfrm>
            <a:off x="5791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7" name="Rectangle 52"/>
          <p:cNvSpPr>
            <a:spLocks noChangeArrowheads="1"/>
          </p:cNvSpPr>
          <p:nvPr/>
        </p:nvSpPr>
        <p:spPr bwMode="auto">
          <a:xfrm>
            <a:off x="6172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78" name="Rectangle 53"/>
          <p:cNvSpPr>
            <a:spLocks noChangeArrowheads="1"/>
          </p:cNvSpPr>
          <p:nvPr/>
        </p:nvSpPr>
        <p:spPr bwMode="auto">
          <a:xfrm>
            <a:off x="6553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10</a:t>
            </a:r>
            <a:endParaRPr lang="en-US" altLang="zh-CN"/>
          </a:p>
        </p:txBody>
      </p:sp>
      <p:sp>
        <p:nvSpPr>
          <p:cNvPr id="52279" name="Rectangle 54"/>
          <p:cNvSpPr>
            <a:spLocks noChangeArrowheads="1"/>
          </p:cNvSpPr>
          <p:nvPr/>
        </p:nvSpPr>
        <p:spPr bwMode="auto">
          <a:xfrm>
            <a:off x="6934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0" name="Rectangle 55"/>
          <p:cNvSpPr>
            <a:spLocks noChangeArrowheads="1"/>
          </p:cNvSpPr>
          <p:nvPr/>
        </p:nvSpPr>
        <p:spPr bwMode="auto">
          <a:xfrm>
            <a:off x="7315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1" name="Rectangle 56"/>
          <p:cNvSpPr>
            <a:spLocks noChangeArrowheads="1"/>
          </p:cNvSpPr>
          <p:nvPr/>
        </p:nvSpPr>
        <p:spPr bwMode="auto">
          <a:xfrm>
            <a:off x="7696200" y="4724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2" name="Rectangle 57"/>
          <p:cNvSpPr>
            <a:spLocks noChangeArrowheads="1"/>
          </p:cNvSpPr>
          <p:nvPr/>
        </p:nvSpPr>
        <p:spPr bwMode="auto">
          <a:xfrm>
            <a:off x="5029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3" name="Rectangle 58"/>
          <p:cNvSpPr>
            <a:spLocks noChangeArrowheads="1"/>
          </p:cNvSpPr>
          <p:nvPr/>
        </p:nvSpPr>
        <p:spPr bwMode="auto">
          <a:xfrm>
            <a:off x="5410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84" name="Rectangle 59"/>
          <p:cNvSpPr>
            <a:spLocks noChangeArrowheads="1"/>
          </p:cNvSpPr>
          <p:nvPr/>
        </p:nvSpPr>
        <p:spPr bwMode="auto">
          <a:xfrm>
            <a:off x="5791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85" name="Rectangle 60"/>
          <p:cNvSpPr>
            <a:spLocks noChangeArrowheads="1"/>
          </p:cNvSpPr>
          <p:nvPr/>
        </p:nvSpPr>
        <p:spPr bwMode="auto">
          <a:xfrm>
            <a:off x="6172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86" name="Rectangle 61"/>
          <p:cNvSpPr>
            <a:spLocks noChangeArrowheads="1"/>
          </p:cNvSpPr>
          <p:nvPr/>
        </p:nvSpPr>
        <p:spPr bwMode="auto">
          <a:xfrm>
            <a:off x="6553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11</a:t>
            </a:r>
            <a:endParaRPr lang="en-US" altLang="zh-CN"/>
          </a:p>
        </p:txBody>
      </p:sp>
      <p:sp>
        <p:nvSpPr>
          <p:cNvPr id="52287" name="Rectangle 62"/>
          <p:cNvSpPr>
            <a:spLocks noChangeArrowheads="1"/>
          </p:cNvSpPr>
          <p:nvPr/>
        </p:nvSpPr>
        <p:spPr bwMode="auto">
          <a:xfrm>
            <a:off x="6934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12</a:t>
            </a:r>
            <a:endParaRPr lang="en-US" altLang="zh-CN"/>
          </a:p>
        </p:txBody>
      </p:sp>
      <p:sp>
        <p:nvSpPr>
          <p:cNvPr id="52288" name="Rectangle 63"/>
          <p:cNvSpPr>
            <a:spLocks noChangeArrowheads="1"/>
          </p:cNvSpPr>
          <p:nvPr/>
        </p:nvSpPr>
        <p:spPr bwMode="auto">
          <a:xfrm>
            <a:off x="7315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13</a:t>
            </a:r>
            <a:endParaRPr lang="en-US" altLang="zh-CN"/>
          </a:p>
        </p:txBody>
      </p:sp>
      <p:sp>
        <p:nvSpPr>
          <p:cNvPr id="52289" name="Rectangle 64"/>
          <p:cNvSpPr>
            <a:spLocks noChangeArrowheads="1"/>
          </p:cNvSpPr>
          <p:nvPr/>
        </p:nvSpPr>
        <p:spPr bwMode="auto">
          <a:xfrm>
            <a:off x="7696200" y="51054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290" name="Rectangle 66"/>
          <p:cNvSpPr>
            <a:spLocks noChangeArrowheads="1"/>
          </p:cNvSpPr>
          <p:nvPr/>
        </p:nvSpPr>
        <p:spPr bwMode="auto">
          <a:xfrm>
            <a:off x="2895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入口</a:t>
            </a:r>
            <a:endParaRPr lang="zh-CN" altLang="en-US" dirty="0"/>
          </a:p>
        </p:txBody>
      </p:sp>
      <p:sp>
        <p:nvSpPr>
          <p:cNvPr id="52291" name="Line 67"/>
          <p:cNvSpPr>
            <a:spLocks noChangeShapeType="1"/>
          </p:cNvSpPr>
          <p:nvPr/>
        </p:nvSpPr>
        <p:spPr bwMode="auto">
          <a:xfrm>
            <a:off x="3733800" y="2362200"/>
            <a:ext cx="1447800" cy="3048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2292" name="Rectangle 68"/>
          <p:cNvSpPr>
            <a:spLocks noChangeArrowheads="1"/>
          </p:cNvSpPr>
          <p:nvPr/>
        </p:nvSpPr>
        <p:spPr bwMode="auto">
          <a:xfrm>
            <a:off x="8991600" y="2057400"/>
            <a:ext cx="1066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zh-CN" altLang="en-US" dirty="0">
                <a:latin typeface="Tahoma" panose="020B0604030504040204" pitchFamily="34" charset="0"/>
                <a:sym typeface="Tahoma" panose="020B0604030504040204" pitchFamily="34" charset="0"/>
              </a:rPr>
              <a:t>出口</a:t>
            </a:r>
            <a:endParaRPr lang="zh-CN" altLang="en-US" dirty="0"/>
          </a:p>
        </p:txBody>
      </p:sp>
      <p:sp>
        <p:nvSpPr>
          <p:cNvPr id="52293" name="Line 69"/>
          <p:cNvSpPr>
            <a:spLocks noChangeShapeType="1"/>
          </p:cNvSpPr>
          <p:nvPr/>
        </p:nvSpPr>
        <p:spPr bwMode="auto">
          <a:xfrm flipH="1">
            <a:off x="7848600" y="2286000"/>
            <a:ext cx="1295400" cy="38100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52294" name="Rectangle 70"/>
          <p:cNvSpPr>
            <a:spLocks noChangeArrowheads="1"/>
          </p:cNvSpPr>
          <p:nvPr/>
        </p:nvSpPr>
        <p:spPr bwMode="auto">
          <a:xfrm>
            <a:off x="4648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5" name="Rectangle 71"/>
          <p:cNvSpPr>
            <a:spLocks noChangeArrowheads="1"/>
          </p:cNvSpPr>
          <p:nvPr/>
        </p:nvSpPr>
        <p:spPr bwMode="auto">
          <a:xfrm>
            <a:off x="4648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6" name="Rectangle 72"/>
          <p:cNvSpPr>
            <a:spLocks noChangeArrowheads="1"/>
          </p:cNvSpPr>
          <p:nvPr/>
        </p:nvSpPr>
        <p:spPr bwMode="auto">
          <a:xfrm>
            <a:off x="4648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7" name="Rectangle 73"/>
          <p:cNvSpPr>
            <a:spLocks noChangeArrowheads="1"/>
          </p:cNvSpPr>
          <p:nvPr/>
        </p:nvSpPr>
        <p:spPr bwMode="auto">
          <a:xfrm>
            <a:off x="4648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8" name="Rectangle 74"/>
          <p:cNvSpPr>
            <a:spLocks noChangeArrowheads="1"/>
          </p:cNvSpPr>
          <p:nvPr/>
        </p:nvSpPr>
        <p:spPr bwMode="auto">
          <a:xfrm>
            <a:off x="4648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299" name="Rectangle 75"/>
          <p:cNvSpPr>
            <a:spLocks noChangeArrowheads="1"/>
          </p:cNvSpPr>
          <p:nvPr/>
        </p:nvSpPr>
        <p:spPr bwMode="auto">
          <a:xfrm>
            <a:off x="4648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0" name="Rectangle 76"/>
          <p:cNvSpPr>
            <a:spLocks noChangeArrowheads="1"/>
          </p:cNvSpPr>
          <p:nvPr/>
        </p:nvSpPr>
        <p:spPr bwMode="auto">
          <a:xfrm>
            <a:off x="4648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1" name="Rectangle 77"/>
          <p:cNvSpPr>
            <a:spLocks noChangeArrowheads="1"/>
          </p:cNvSpPr>
          <p:nvPr/>
        </p:nvSpPr>
        <p:spPr bwMode="auto">
          <a:xfrm>
            <a:off x="4648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2" name="Rectangle 78"/>
          <p:cNvSpPr>
            <a:spLocks noChangeArrowheads="1"/>
          </p:cNvSpPr>
          <p:nvPr/>
        </p:nvSpPr>
        <p:spPr bwMode="auto">
          <a:xfrm>
            <a:off x="4648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03" name="Rectangle 79"/>
          <p:cNvSpPr>
            <a:spLocks noChangeArrowheads="1"/>
          </p:cNvSpPr>
          <p:nvPr/>
        </p:nvSpPr>
        <p:spPr bwMode="auto">
          <a:xfrm>
            <a:off x="8077200" y="2438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4" name="Rectangle 80"/>
          <p:cNvSpPr>
            <a:spLocks noChangeArrowheads="1"/>
          </p:cNvSpPr>
          <p:nvPr/>
        </p:nvSpPr>
        <p:spPr bwMode="auto">
          <a:xfrm>
            <a:off x="8077200" y="2819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5" name="Rectangle 81"/>
          <p:cNvSpPr>
            <a:spLocks noChangeArrowheads="1"/>
          </p:cNvSpPr>
          <p:nvPr/>
        </p:nvSpPr>
        <p:spPr bwMode="auto">
          <a:xfrm>
            <a:off x="8077200" y="3200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6" name="Rectangle 82"/>
          <p:cNvSpPr>
            <a:spLocks noChangeArrowheads="1"/>
          </p:cNvSpPr>
          <p:nvPr/>
        </p:nvSpPr>
        <p:spPr bwMode="auto">
          <a:xfrm>
            <a:off x="8077200" y="3581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7" name="Rectangle 83"/>
          <p:cNvSpPr>
            <a:spLocks noChangeArrowheads="1"/>
          </p:cNvSpPr>
          <p:nvPr/>
        </p:nvSpPr>
        <p:spPr bwMode="auto">
          <a:xfrm>
            <a:off x="8077200" y="3962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8" name="Rectangle 84"/>
          <p:cNvSpPr>
            <a:spLocks noChangeArrowheads="1"/>
          </p:cNvSpPr>
          <p:nvPr/>
        </p:nvSpPr>
        <p:spPr bwMode="auto">
          <a:xfrm>
            <a:off x="8077200" y="4343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09" name="Rectangle 85"/>
          <p:cNvSpPr>
            <a:spLocks noChangeArrowheads="1"/>
          </p:cNvSpPr>
          <p:nvPr/>
        </p:nvSpPr>
        <p:spPr bwMode="auto">
          <a:xfrm>
            <a:off x="8077200" y="4724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0" name="Rectangle 86"/>
          <p:cNvSpPr>
            <a:spLocks noChangeArrowheads="1"/>
          </p:cNvSpPr>
          <p:nvPr/>
        </p:nvSpPr>
        <p:spPr bwMode="auto">
          <a:xfrm>
            <a:off x="8077200" y="5105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1" name="Rectangle 87"/>
          <p:cNvSpPr>
            <a:spLocks noChangeArrowheads="1"/>
          </p:cNvSpPr>
          <p:nvPr/>
        </p:nvSpPr>
        <p:spPr bwMode="auto">
          <a:xfrm>
            <a:off x="8077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2" name="Rectangle 88"/>
          <p:cNvSpPr>
            <a:spLocks noChangeArrowheads="1"/>
          </p:cNvSpPr>
          <p:nvPr/>
        </p:nvSpPr>
        <p:spPr bwMode="auto">
          <a:xfrm>
            <a:off x="5410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3" name="Rectangle 89"/>
          <p:cNvSpPr>
            <a:spLocks noChangeArrowheads="1"/>
          </p:cNvSpPr>
          <p:nvPr/>
        </p:nvSpPr>
        <p:spPr bwMode="auto">
          <a:xfrm>
            <a:off x="5791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4" name="Rectangle 90"/>
          <p:cNvSpPr>
            <a:spLocks noChangeArrowheads="1"/>
          </p:cNvSpPr>
          <p:nvPr/>
        </p:nvSpPr>
        <p:spPr bwMode="auto">
          <a:xfrm>
            <a:off x="6172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5" name="Rectangle 91"/>
          <p:cNvSpPr>
            <a:spLocks noChangeArrowheads="1"/>
          </p:cNvSpPr>
          <p:nvPr/>
        </p:nvSpPr>
        <p:spPr bwMode="auto">
          <a:xfrm>
            <a:off x="6553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6" name="Rectangle 92"/>
          <p:cNvSpPr>
            <a:spLocks noChangeArrowheads="1"/>
          </p:cNvSpPr>
          <p:nvPr/>
        </p:nvSpPr>
        <p:spPr bwMode="auto">
          <a:xfrm>
            <a:off x="6934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7" name="Rectangle 93"/>
          <p:cNvSpPr>
            <a:spLocks noChangeArrowheads="1"/>
          </p:cNvSpPr>
          <p:nvPr/>
        </p:nvSpPr>
        <p:spPr bwMode="auto">
          <a:xfrm>
            <a:off x="7315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8" name="Rectangle 94"/>
          <p:cNvSpPr>
            <a:spLocks noChangeArrowheads="1"/>
          </p:cNvSpPr>
          <p:nvPr/>
        </p:nvSpPr>
        <p:spPr bwMode="auto">
          <a:xfrm>
            <a:off x="7696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19" name="Rectangle 95"/>
          <p:cNvSpPr>
            <a:spLocks noChangeArrowheads="1"/>
          </p:cNvSpPr>
          <p:nvPr/>
        </p:nvSpPr>
        <p:spPr bwMode="auto">
          <a:xfrm>
            <a:off x="5029200" y="5486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52320" name="Rectangle 96"/>
          <p:cNvSpPr>
            <a:spLocks noChangeArrowheads="1"/>
          </p:cNvSpPr>
          <p:nvPr/>
        </p:nvSpPr>
        <p:spPr bwMode="auto">
          <a:xfrm>
            <a:off x="4648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1" name="Rectangle 97"/>
          <p:cNvSpPr>
            <a:spLocks noChangeArrowheads="1"/>
          </p:cNvSpPr>
          <p:nvPr/>
        </p:nvSpPr>
        <p:spPr bwMode="auto">
          <a:xfrm>
            <a:off x="8077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2" name="Rectangle 98"/>
          <p:cNvSpPr>
            <a:spLocks noChangeArrowheads="1"/>
          </p:cNvSpPr>
          <p:nvPr/>
        </p:nvSpPr>
        <p:spPr bwMode="auto">
          <a:xfrm>
            <a:off x="5410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3" name="Rectangle 99"/>
          <p:cNvSpPr>
            <a:spLocks noChangeArrowheads="1"/>
          </p:cNvSpPr>
          <p:nvPr/>
        </p:nvSpPr>
        <p:spPr bwMode="auto">
          <a:xfrm>
            <a:off x="5791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4" name="Rectangle 100"/>
          <p:cNvSpPr>
            <a:spLocks noChangeArrowheads="1"/>
          </p:cNvSpPr>
          <p:nvPr/>
        </p:nvSpPr>
        <p:spPr bwMode="auto">
          <a:xfrm>
            <a:off x="6172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5" name="Rectangle 101"/>
          <p:cNvSpPr>
            <a:spLocks noChangeArrowheads="1"/>
          </p:cNvSpPr>
          <p:nvPr/>
        </p:nvSpPr>
        <p:spPr bwMode="auto">
          <a:xfrm>
            <a:off x="6553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6" name="Rectangle 102"/>
          <p:cNvSpPr>
            <a:spLocks noChangeArrowheads="1"/>
          </p:cNvSpPr>
          <p:nvPr/>
        </p:nvSpPr>
        <p:spPr bwMode="auto">
          <a:xfrm>
            <a:off x="6934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7" name="Rectangle 103"/>
          <p:cNvSpPr>
            <a:spLocks noChangeArrowheads="1"/>
          </p:cNvSpPr>
          <p:nvPr/>
        </p:nvSpPr>
        <p:spPr bwMode="auto">
          <a:xfrm>
            <a:off x="7315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8" name="Rectangle 104"/>
          <p:cNvSpPr>
            <a:spLocks noChangeArrowheads="1"/>
          </p:cNvSpPr>
          <p:nvPr/>
        </p:nvSpPr>
        <p:spPr bwMode="auto">
          <a:xfrm>
            <a:off x="7696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29" name="Rectangle 105"/>
          <p:cNvSpPr>
            <a:spLocks noChangeArrowheads="1"/>
          </p:cNvSpPr>
          <p:nvPr/>
        </p:nvSpPr>
        <p:spPr bwMode="auto">
          <a:xfrm>
            <a:off x="5029200" y="20574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52330" name="Rectangle 107"/>
          <p:cNvSpPr>
            <a:spLocks noChangeArrowheads="1"/>
          </p:cNvSpPr>
          <p:nvPr/>
        </p:nvSpPr>
        <p:spPr bwMode="auto">
          <a:xfrm>
            <a:off x="7696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2331" name="Rectangle 108"/>
          <p:cNvSpPr>
            <a:spLocks noChangeArrowheads="1"/>
          </p:cNvSpPr>
          <p:nvPr/>
        </p:nvSpPr>
        <p:spPr bwMode="auto">
          <a:xfrm>
            <a:off x="5029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2332" name="Rectangle 109"/>
          <p:cNvSpPr>
            <a:spLocks noChangeArrowheads="1"/>
          </p:cNvSpPr>
          <p:nvPr/>
        </p:nvSpPr>
        <p:spPr bwMode="auto">
          <a:xfrm>
            <a:off x="5410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2333" name="Rectangle 110"/>
          <p:cNvSpPr>
            <a:spLocks noChangeArrowheads="1"/>
          </p:cNvSpPr>
          <p:nvPr/>
        </p:nvSpPr>
        <p:spPr bwMode="auto">
          <a:xfrm>
            <a:off x="5791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2334" name="Rectangle 111"/>
          <p:cNvSpPr>
            <a:spLocks noChangeArrowheads="1"/>
          </p:cNvSpPr>
          <p:nvPr/>
        </p:nvSpPr>
        <p:spPr bwMode="auto">
          <a:xfrm>
            <a:off x="6172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2335" name="Rectangle 112"/>
          <p:cNvSpPr>
            <a:spLocks noChangeArrowheads="1"/>
          </p:cNvSpPr>
          <p:nvPr/>
        </p:nvSpPr>
        <p:spPr bwMode="auto">
          <a:xfrm>
            <a:off x="6553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2336" name="Rectangle 113"/>
          <p:cNvSpPr>
            <a:spLocks noChangeArrowheads="1"/>
          </p:cNvSpPr>
          <p:nvPr/>
        </p:nvSpPr>
        <p:spPr bwMode="auto">
          <a:xfrm>
            <a:off x="6934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2337" name="Rectangle 114"/>
          <p:cNvSpPr>
            <a:spLocks noChangeArrowheads="1"/>
          </p:cNvSpPr>
          <p:nvPr/>
        </p:nvSpPr>
        <p:spPr bwMode="auto">
          <a:xfrm>
            <a:off x="7315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2338" name="Rectangle 115"/>
          <p:cNvSpPr>
            <a:spLocks noChangeArrowheads="1"/>
          </p:cNvSpPr>
          <p:nvPr/>
        </p:nvSpPr>
        <p:spPr bwMode="auto">
          <a:xfrm>
            <a:off x="4191000" y="5105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52339" name="Rectangle 116"/>
          <p:cNvSpPr>
            <a:spLocks noChangeArrowheads="1"/>
          </p:cNvSpPr>
          <p:nvPr/>
        </p:nvSpPr>
        <p:spPr bwMode="auto">
          <a:xfrm>
            <a:off x="4191000" y="2438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52340" name="Rectangle 117"/>
          <p:cNvSpPr>
            <a:spLocks noChangeArrowheads="1"/>
          </p:cNvSpPr>
          <p:nvPr/>
        </p:nvSpPr>
        <p:spPr bwMode="auto">
          <a:xfrm>
            <a:off x="4191000" y="2819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52341" name="Rectangle 118"/>
          <p:cNvSpPr>
            <a:spLocks noChangeArrowheads="1"/>
          </p:cNvSpPr>
          <p:nvPr/>
        </p:nvSpPr>
        <p:spPr bwMode="auto">
          <a:xfrm>
            <a:off x="4191000" y="3200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52342" name="Rectangle 119"/>
          <p:cNvSpPr>
            <a:spLocks noChangeArrowheads="1"/>
          </p:cNvSpPr>
          <p:nvPr/>
        </p:nvSpPr>
        <p:spPr bwMode="auto">
          <a:xfrm>
            <a:off x="4191000" y="3581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52343" name="Rectangle 120"/>
          <p:cNvSpPr>
            <a:spLocks noChangeArrowheads="1"/>
          </p:cNvSpPr>
          <p:nvPr/>
        </p:nvSpPr>
        <p:spPr bwMode="auto">
          <a:xfrm>
            <a:off x="4191000" y="3962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52344" name="Rectangle 121"/>
          <p:cNvSpPr>
            <a:spLocks noChangeArrowheads="1"/>
          </p:cNvSpPr>
          <p:nvPr/>
        </p:nvSpPr>
        <p:spPr bwMode="auto">
          <a:xfrm>
            <a:off x="4191000" y="4343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52345" name="Rectangle 122"/>
          <p:cNvSpPr>
            <a:spLocks noChangeArrowheads="1"/>
          </p:cNvSpPr>
          <p:nvPr/>
        </p:nvSpPr>
        <p:spPr bwMode="auto">
          <a:xfrm>
            <a:off x="4191000" y="4724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52346" name="Rectangle 123"/>
          <p:cNvSpPr>
            <a:spLocks noChangeArrowheads="1"/>
          </p:cNvSpPr>
          <p:nvPr/>
        </p:nvSpPr>
        <p:spPr bwMode="auto">
          <a:xfrm>
            <a:off x="4191000" y="5486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2347" name="Rectangle 124"/>
          <p:cNvSpPr>
            <a:spLocks noChangeArrowheads="1"/>
          </p:cNvSpPr>
          <p:nvPr/>
        </p:nvSpPr>
        <p:spPr bwMode="auto">
          <a:xfrm>
            <a:off x="4648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2348" name="Rectangle 125"/>
          <p:cNvSpPr>
            <a:spLocks noChangeArrowheads="1"/>
          </p:cNvSpPr>
          <p:nvPr/>
        </p:nvSpPr>
        <p:spPr bwMode="auto">
          <a:xfrm>
            <a:off x="8077200" y="16002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52349" name="Rectangle 126"/>
          <p:cNvSpPr>
            <a:spLocks noChangeArrowheads="1"/>
          </p:cNvSpPr>
          <p:nvPr/>
        </p:nvSpPr>
        <p:spPr bwMode="auto">
          <a:xfrm>
            <a:off x="4191000" y="20574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52350" name="Rectangle 127"/>
          <p:cNvSpPr>
            <a:spLocks noChangeArrowheads="1"/>
          </p:cNvSpPr>
          <p:nvPr/>
        </p:nvSpPr>
        <p:spPr bwMode="auto">
          <a:xfrm>
            <a:off x="6938963" y="3192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b="1">
                <a:latin typeface="Times New Roman" panose="02020603050405020304" pitchFamily="18" charset="0"/>
                <a:sym typeface="Times New Roman" panose="02020603050405020304" pitchFamily="18" charset="0"/>
              </a:rPr>
              <a:t>9</a:t>
            </a:r>
            <a:endParaRPr lang="en-US" altLang="zh-CN"/>
          </a:p>
        </p:txBody>
      </p:sp>
      <p:sp>
        <p:nvSpPr>
          <p:cNvPr id="59520" name="Line 128"/>
          <p:cNvSpPr>
            <a:spLocks noChangeShapeType="1"/>
          </p:cNvSpPr>
          <p:nvPr/>
        </p:nvSpPr>
        <p:spPr bwMode="auto">
          <a:xfrm>
            <a:off x="7069139" y="3357564"/>
            <a:ext cx="827087"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1" name="Line 129"/>
          <p:cNvSpPr>
            <a:spLocks noChangeShapeType="1"/>
          </p:cNvSpPr>
          <p:nvPr/>
        </p:nvSpPr>
        <p:spPr bwMode="auto">
          <a:xfrm>
            <a:off x="7896225" y="2565401"/>
            <a:ext cx="0" cy="777875"/>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2" name="Line 130"/>
          <p:cNvSpPr>
            <a:spLocks noChangeShapeType="1"/>
          </p:cNvSpPr>
          <p:nvPr/>
        </p:nvSpPr>
        <p:spPr bwMode="auto">
          <a:xfrm>
            <a:off x="7104064" y="2976563"/>
            <a:ext cx="1587"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3" name="Line 131"/>
          <p:cNvSpPr>
            <a:spLocks noChangeShapeType="1"/>
          </p:cNvSpPr>
          <p:nvPr/>
        </p:nvSpPr>
        <p:spPr bwMode="auto">
          <a:xfrm>
            <a:off x="6311901" y="2997200"/>
            <a:ext cx="792163" cy="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4" name="Line 132"/>
          <p:cNvSpPr>
            <a:spLocks noChangeShapeType="1"/>
          </p:cNvSpPr>
          <p:nvPr/>
        </p:nvSpPr>
        <p:spPr bwMode="auto">
          <a:xfrm>
            <a:off x="6311900" y="2997200"/>
            <a:ext cx="0"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5" name="Line 133"/>
          <p:cNvSpPr>
            <a:spLocks noChangeShapeType="1"/>
          </p:cNvSpPr>
          <p:nvPr/>
        </p:nvSpPr>
        <p:spPr bwMode="auto">
          <a:xfrm>
            <a:off x="5178426" y="3357564"/>
            <a:ext cx="1133475"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59526" name="Line 134"/>
          <p:cNvSpPr>
            <a:spLocks noChangeShapeType="1"/>
          </p:cNvSpPr>
          <p:nvPr/>
        </p:nvSpPr>
        <p:spPr bwMode="auto">
          <a:xfrm>
            <a:off x="5159375" y="2622551"/>
            <a:ext cx="0" cy="741363"/>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13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r>
              <a:rPr lang="en-US" altLang="zh-CN" sz="3200" b="1" dirty="0">
                <a:solidFill>
                  <a:srgbClr val="C00000"/>
                </a:solidFill>
                <a:latin typeface="微软雅黑" panose="020B0503020204020204" pitchFamily="34" charset="-122"/>
                <a:ea typeface="微软雅黑" panose="020B0503020204020204" pitchFamily="34" charset="-122"/>
              </a:rPr>
              <a:t>-BFS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3" name="椭圆 2"/>
          <p:cNvSpPr/>
          <p:nvPr/>
        </p:nvSpPr>
        <p:spPr>
          <a:xfrm>
            <a:off x="5086350" y="2500630"/>
            <a:ext cx="266700" cy="257175"/>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椭圆 4"/>
          <p:cNvSpPr/>
          <p:nvPr/>
        </p:nvSpPr>
        <p:spPr>
          <a:xfrm>
            <a:off x="7753350" y="2500630"/>
            <a:ext cx="266700" cy="257175"/>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9521"/>
                                        </p:tgtEl>
                                        <p:attrNameLst>
                                          <p:attrName>style.visibility</p:attrName>
                                        </p:attrNameLst>
                                      </p:cBhvr>
                                      <p:to>
                                        <p:strVal val="visible"/>
                                      </p:to>
                                    </p:set>
                                    <p:animEffect filter="wipe(up)">
                                      <p:cBhvr>
                                        <p:cTn id="7" dur="500"/>
                                        <p:tgtEl>
                                          <p:spTgt spid="595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9520"/>
                                        </p:tgtEl>
                                        <p:attrNameLst>
                                          <p:attrName>style.visibility</p:attrName>
                                        </p:attrNameLst>
                                      </p:cBhvr>
                                      <p:to>
                                        <p:strVal val="visible"/>
                                      </p:to>
                                    </p:set>
                                    <p:animEffect filter="wipe(right)">
                                      <p:cBhvr>
                                        <p:cTn id="12" dur="500"/>
                                        <p:tgtEl>
                                          <p:spTgt spid="595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59522"/>
                                        </p:tgtEl>
                                        <p:attrNameLst>
                                          <p:attrName>style.visibility</p:attrName>
                                        </p:attrNameLst>
                                      </p:cBhvr>
                                      <p:to>
                                        <p:strVal val="visible"/>
                                      </p:to>
                                    </p:set>
                                    <p:animEffect filter="wipe(down)">
                                      <p:cBhvr>
                                        <p:cTn id="17" dur="500"/>
                                        <p:tgtEl>
                                          <p:spTgt spid="5952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59523"/>
                                        </p:tgtEl>
                                        <p:attrNameLst>
                                          <p:attrName>style.visibility</p:attrName>
                                        </p:attrNameLst>
                                      </p:cBhvr>
                                      <p:to>
                                        <p:strVal val="visible"/>
                                      </p:to>
                                    </p:set>
                                    <p:animEffect filter="wipe(right)">
                                      <p:cBhvr>
                                        <p:cTn id="22" dur="500"/>
                                        <p:tgtEl>
                                          <p:spTgt spid="5952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59524"/>
                                        </p:tgtEl>
                                        <p:attrNameLst>
                                          <p:attrName>style.visibility</p:attrName>
                                        </p:attrNameLst>
                                      </p:cBhvr>
                                      <p:to>
                                        <p:strVal val="visible"/>
                                      </p:to>
                                    </p:set>
                                    <p:animEffect filter="wipe(up)">
                                      <p:cBhvr>
                                        <p:cTn id="27" dur="500"/>
                                        <p:tgtEl>
                                          <p:spTgt spid="5952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nodeType="clickEffect">
                                  <p:stCondLst>
                                    <p:cond delay="0"/>
                                  </p:stCondLst>
                                  <p:childTnLst>
                                    <p:set>
                                      <p:cBhvr>
                                        <p:cTn id="31" dur="1" fill="hold">
                                          <p:stCondLst>
                                            <p:cond delay="0"/>
                                          </p:stCondLst>
                                        </p:cTn>
                                        <p:tgtEl>
                                          <p:spTgt spid="59525"/>
                                        </p:tgtEl>
                                        <p:attrNameLst>
                                          <p:attrName>style.visibility</p:attrName>
                                        </p:attrNameLst>
                                      </p:cBhvr>
                                      <p:to>
                                        <p:strVal val="visible"/>
                                      </p:to>
                                    </p:set>
                                    <p:animEffect filter="wipe(right)">
                                      <p:cBhvr>
                                        <p:cTn id="32" dur="500"/>
                                        <p:tgtEl>
                                          <p:spTgt spid="5952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59526"/>
                                        </p:tgtEl>
                                        <p:attrNameLst>
                                          <p:attrName>style.visibility</p:attrName>
                                        </p:attrNameLst>
                                      </p:cBhvr>
                                      <p:to>
                                        <p:strVal val="visible"/>
                                      </p:to>
                                    </p:set>
                                    <p:animEffect filter="wipe(down)">
                                      <p:cBhvr>
                                        <p:cTn id="37" dur="500"/>
                                        <p:tgtEl>
                                          <p:spTgt spid="59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9" name="内容占位符 2"/>
          <p:cNvSpPr>
            <a:spLocks noGrp="1"/>
          </p:cNvSpPr>
          <p:nvPr>
            <p:ph idx="4294967295"/>
          </p:nvPr>
        </p:nvSpPr>
        <p:spPr>
          <a:xfrm>
            <a:off x="159798" y="1177555"/>
            <a:ext cx="11684480" cy="4351338"/>
          </a:xfrm>
        </p:spPr>
        <p:txBody>
          <a:bodyPr vert="horz" wrap="square" anchor="t">
            <a:normAutofit/>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路径的保存：有时候除了要找到一个目标状态，还需要保存从初始结点到它的路径。路径可以随状态保存，也可以用链表穿起来。如果保存的所有结点或者路径长度不定，推荐使用链表。</a:t>
            </a:r>
            <a:endParaRPr lang="en-US" altLang="zh-CN" b="1" kern="100" noProof="1">
              <a:solidFill>
                <a:srgbClr val="014B88"/>
              </a:solidFill>
              <a:latin typeface="仿宋_GB2312"/>
              <a:cs typeface="Times New Roman" panose="02020603050405020304" pitchFamily="18" charset="0"/>
            </a:endParaRPr>
          </a:p>
          <a:p>
            <a:pPr lvl="1">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判重：新扩展出的节点如果和以前扩展出的节点相同，则这个新节点就不必再考虑。设定判重的方法的时候需要注意时间和空间的代价。</a:t>
            </a:r>
            <a:endParaRPr lang="zh-CN" altLang="en-US" b="1" kern="100" noProof="1">
              <a:solidFill>
                <a:srgbClr val="014B88"/>
              </a:solidFill>
              <a:latin typeface="仿宋_GB2312"/>
              <a:cs typeface="Times New Roman" panose="02020603050405020304" pitchFamily="18" charset="0"/>
            </a:endParaRPr>
          </a:p>
        </p:txBody>
      </p:sp>
      <p:sp>
        <p:nvSpPr>
          <p:cNvPr id="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其他</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0419">
                                            <p:txEl>
                                              <p:pRg st="0" end="0"/>
                                            </p:txEl>
                                          </p:spTgt>
                                        </p:tgtEl>
                                        <p:attrNameLst>
                                          <p:attrName>style.visibility</p:attrName>
                                        </p:attrNameLst>
                                      </p:cBhvr>
                                      <p:to>
                                        <p:strVal val="visible"/>
                                      </p:to>
                                    </p:set>
                                    <p:animEffect transition="in" filter="wipe(down)">
                                      <p:cBhvr>
                                        <p:cTn id="7" dur="500"/>
                                        <p:tgtEl>
                                          <p:spTgt spid="6041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60419">
                                            <p:txEl>
                                              <p:pRg st="1" end="1"/>
                                            </p:txEl>
                                          </p:spTgt>
                                        </p:tgtEl>
                                        <p:attrNameLst>
                                          <p:attrName>style.visibility</p:attrName>
                                        </p:attrNameLst>
                                      </p:cBhvr>
                                      <p:to>
                                        <p:strVal val="visible"/>
                                      </p:to>
                                    </p:set>
                                    <p:animEffect transition="in" filter="wipe(down)">
                                      <p:cBhvr>
                                        <p:cTn id="12" dur="500"/>
                                        <p:tgtEl>
                                          <p:spTgt spid="6041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9"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838200" y="1253331"/>
            <a:ext cx="10515600" cy="4351337"/>
          </a:xfrm>
        </p:spPr>
        <p:txBody>
          <a:bodyPr>
            <a:normAutofit/>
          </a:bodyPr>
          <a:lstStyle/>
          <a:p>
            <a:pPr marL="0" indent="0">
              <a:buNone/>
            </a:pPr>
            <a:r>
              <a:rPr lang="en-US" altLang="zh-CN" b="1" dirty="0">
                <a:solidFill>
                  <a:srgbClr val="014B88"/>
                </a:solidFill>
                <a:latin typeface="Consolas" panose="020B0609020204030204" pitchFamily="49" charset="0"/>
              </a:rPr>
              <a:t>#include &lt;queue&gt;				//</a:t>
            </a:r>
            <a:r>
              <a:rPr lang="zh-CN" altLang="en-US" b="1" dirty="0">
                <a:solidFill>
                  <a:srgbClr val="014B88"/>
                </a:solidFill>
                <a:latin typeface="Consolas" panose="020B0609020204030204" pitchFamily="49" charset="0"/>
              </a:rPr>
              <a:t>头文件</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std</a:t>
            </a:r>
            <a:r>
              <a:rPr lang="en-US" altLang="zh-CN" b="1" dirty="0">
                <a:solidFill>
                  <a:srgbClr val="014B88"/>
                </a:solidFill>
                <a:latin typeface="Consolas" panose="020B0609020204030204" pitchFamily="49" charset="0"/>
              </a:rPr>
              <a:t>::queue&lt;</a:t>
            </a:r>
            <a:r>
              <a:rPr lang="en-US" altLang="zh-CN" b="1" dirty="0" err="1">
                <a:solidFill>
                  <a:srgbClr val="014B88"/>
                </a:solidFill>
                <a:latin typeface="Consolas" panose="020B0609020204030204" pitchFamily="49" charset="0"/>
              </a:rPr>
              <a:t>int</a:t>
            </a:r>
            <a:r>
              <a:rPr lang="en-US" altLang="zh-CN" b="1" dirty="0">
                <a:solidFill>
                  <a:srgbClr val="014B88"/>
                </a:solidFill>
                <a:latin typeface="Consolas" panose="020B0609020204030204" pitchFamily="49" charset="0"/>
              </a:rPr>
              <a:t>&gt; </a:t>
            </a:r>
            <a:r>
              <a:rPr lang="en-US" altLang="zh-CN" b="1" dirty="0" err="1">
                <a:solidFill>
                  <a:srgbClr val="014B88"/>
                </a:solidFill>
                <a:latin typeface="Consolas" panose="020B0609020204030204" pitchFamily="49" charset="0"/>
              </a:rPr>
              <a:t>myqueue</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定义</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myqueue.empty</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判断队列是否为空</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myqueue.size</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队列大小</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myqueue.push</a:t>
            </a:r>
            <a:r>
              <a:rPr lang="en-US" altLang="zh-CN" b="1" dirty="0">
                <a:solidFill>
                  <a:srgbClr val="014B88"/>
                </a:solidFill>
                <a:latin typeface="Consolas" panose="020B0609020204030204" pitchFamily="49" charset="0"/>
              </a:rPr>
              <a:t>(10);			//</a:t>
            </a:r>
            <a:r>
              <a:rPr lang="zh-CN" altLang="en-US" b="1" dirty="0">
                <a:solidFill>
                  <a:srgbClr val="014B88"/>
                </a:solidFill>
                <a:latin typeface="Consolas" panose="020B0609020204030204" pitchFamily="49" charset="0"/>
              </a:rPr>
              <a:t>元素进队</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myqueue.front</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获得队首元素</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myqueue.back</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获得队尾元素</a:t>
            </a:r>
            <a:endParaRPr lang="en-US" altLang="zh-CN" b="1" dirty="0">
              <a:solidFill>
                <a:srgbClr val="014B88"/>
              </a:solidFill>
              <a:latin typeface="Consolas" panose="020B0609020204030204" pitchFamily="49" charset="0"/>
            </a:endParaRPr>
          </a:p>
          <a:p>
            <a:pPr marL="0" indent="0">
              <a:buNone/>
            </a:pPr>
            <a:r>
              <a:rPr lang="en-US" altLang="zh-CN" b="1" dirty="0" err="1">
                <a:solidFill>
                  <a:srgbClr val="014B88"/>
                </a:solidFill>
                <a:latin typeface="Consolas" panose="020B0609020204030204" pitchFamily="49" charset="0"/>
              </a:rPr>
              <a:t>myqueue.pop</a:t>
            </a:r>
            <a:r>
              <a:rPr lang="en-US" altLang="zh-CN" b="1" dirty="0">
                <a:solidFill>
                  <a:srgbClr val="014B88"/>
                </a:solidFill>
                <a:latin typeface="Consolas" panose="020B0609020204030204" pitchFamily="49" charset="0"/>
              </a:rPr>
              <a:t>();				//</a:t>
            </a:r>
            <a:r>
              <a:rPr lang="zh-CN" altLang="en-US" b="1" dirty="0">
                <a:solidFill>
                  <a:srgbClr val="014B88"/>
                </a:solidFill>
                <a:latin typeface="Consolas" panose="020B0609020204030204" pitchFamily="49" charset="0"/>
              </a:rPr>
              <a:t>队首出队</a:t>
            </a:r>
            <a:endParaRPr lang="en-US" altLang="zh-CN" b="1" dirty="0">
              <a:solidFill>
                <a:srgbClr val="014B88"/>
              </a:solidFill>
              <a:latin typeface="Consolas" panose="020B0609020204030204" pitchFamily="49" charset="0"/>
            </a:endParaRPr>
          </a:p>
          <a:p>
            <a:pPr marL="0" indent="0">
              <a:buNone/>
            </a:pPr>
            <a:endParaRPr lang="zh-CN" altLang="en-US" dirty="0"/>
          </a:p>
        </p:txBody>
      </p:sp>
      <p:sp>
        <p:nvSpPr>
          <p:cNvPr id="4" name="TextBox 36"/>
          <p:cNvSpPr txBox="1"/>
          <p:nvPr/>
        </p:nvSpPr>
        <p:spPr>
          <a:xfrm>
            <a:off x="334800" y="320400"/>
            <a:ext cx="9008823"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 STL</a:t>
            </a:r>
            <a:r>
              <a:rPr lang="zh-CN" altLang="en-US" sz="3200" b="1" dirty="0">
                <a:solidFill>
                  <a:srgbClr val="C00000"/>
                </a:solidFill>
                <a:latin typeface="微软雅黑" panose="020B0503020204020204" pitchFamily="34" charset="-122"/>
                <a:ea typeface="微软雅黑" panose="020B0503020204020204" pitchFamily="34" charset="-122"/>
              </a:rPr>
              <a:t>的应用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队列</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内容占位符 2"/>
          <p:cNvSpPr>
            <a:spLocks noGrp="1"/>
          </p:cNvSpPr>
          <p:nvPr>
            <p:ph idx="4294967295"/>
          </p:nvPr>
        </p:nvSpPr>
        <p:spPr>
          <a:xfrm>
            <a:off x="5395126" y="1318768"/>
            <a:ext cx="6021558" cy="5183187"/>
          </a:xfrm>
        </p:spPr>
        <p:txBody>
          <a:bodyPr>
            <a:normAutofit/>
          </a:bodyPr>
          <a:lstStyle/>
          <a:p>
            <a:pPr eaLnBrk="1" hangingPunct="1">
              <a:lnSpc>
                <a:spcPct val="150000"/>
              </a:lnSpc>
            </a:pPr>
            <a:r>
              <a:rPr lang="zh-CN" altLang="en-US" sz="2400" b="1" kern="100" dirty="0">
                <a:solidFill>
                  <a:srgbClr val="014B88"/>
                </a:solidFill>
                <a:latin typeface="仿宋_GB2312"/>
                <a:cs typeface="Times New Roman" panose="02020603050405020304" pitchFamily="18" charset="0"/>
              </a:rPr>
              <a:t>机器人走迷宫，</a:t>
            </a:r>
            <a:r>
              <a:rPr lang="en-US" altLang="zh-CN" sz="2400" b="1" kern="100" dirty="0">
                <a:solidFill>
                  <a:srgbClr val="014B88"/>
                </a:solidFill>
                <a:latin typeface="仿宋_GB2312"/>
                <a:cs typeface="Times New Roman" panose="02020603050405020304" pitchFamily="18" charset="0"/>
              </a:rPr>
              <a:t>S</a:t>
            </a:r>
            <a:r>
              <a:rPr lang="zh-CN" altLang="en-US" sz="2400" b="1" kern="100" dirty="0">
                <a:solidFill>
                  <a:srgbClr val="014B88"/>
                </a:solidFill>
                <a:latin typeface="仿宋_GB2312"/>
                <a:cs typeface="Times New Roman" panose="02020603050405020304" pitchFamily="18" charset="0"/>
              </a:rPr>
              <a:t>是出发点，</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是目标点。</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不能走，</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能走</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pPr>
            <a:r>
              <a:rPr lang="zh-CN" altLang="en-US" sz="2400" b="1" kern="100" dirty="0">
                <a:solidFill>
                  <a:srgbClr val="014B88"/>
                </a:solidFill>
                <a:latin typeface="仿宋_GB2312"/>
                <a:cs typeface="Times New Roman" panose="02020603050405020304" pitchFamily="18" charset="0"/>
              </a:rPr>
              <a:t>问最少多少步可以从</a:t>
            </a:r>
            <a:r>
              <a:rPr lang="en-US" altLang="zh-CN" sz="2400" b="1" kern="100" dirty="0">
                <a:solidFill>
                  <a:srgbClr val="014B88"/>
                </a:solidFill>
                <a:latin typeface="仿宋_GB2312"/>
                <a:cs typeface="Times New Roman" panose="02020603050405020304" pitchFamily="18" charset="0"/>
              </a:rPr>
              <a:t>S</a:t>
            </a:r>
            <a:r>
              <a:rPr lang="zh-CN" altLang="en-US" sz="2400" b="1" kern="100" dirty="0">
                <a:solidFill>
                  <a:srgbClr val="014B88"/>
                </a:solidFill>
                <a:latin typeface="仿宋_GB2312"/>
                <a:cs typeface="Times New Roman" panose="02020603050405020304" pitchFamily="18" charset="0"/>
              </a:rPr>
              <a:t>走到 </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，不能走到输出</a:t>
            </a:r>
            <a:r>
              <a:rPr lang="en-US" altLang="zh-CN" sz="2400" b="1" kern="100" dirty="0">
                <a:solidFill>
                  <a:srgbClr val="014B88"/>
                </a:solidFill>
                <a:latin typeface="仿宋_GB2312"/>
                <a:cs typeface="Times New Roman" panose="02020603050405020304" pitchFamily="18" charset="0"/>
              </a:rPr>
              <a:t> -1</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pPr>
            <a:r>
              <a:rPr lang="zh-CN" altLang="en-US" sz="2400" b="1" kern="100" dirty="0">
                <a:solidFill>
                  <a:srgbClr val="014B88"/>
                </a:solidFill>
                <a:latin typeface="仿宋_GB2312"/>
                <a:cs typeface="Times New Roman" panose="02020603050405020304" pitchFamily="18" charset="0"/>
              </a:rPr>
              <a:t>由</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的思想，当第一次访问到某个点时，必然是经过最少的步数到达的该点</a:t>
            </a:r>
            <a:endParaRPr lang="zh-CN" altLang="en-US" sz="2400" b="1" kern="100" dirty="0">
              <a:solidFill>
                <a:srgbClr val="014B88"/>
              </a:solidFill>
              <a:latin typeface="仿宋_GB2312"/>
              <a:cs typeface="Times New Roman" panose="02020603050405020304" pitchFamily="18" charset="0"/>
            </a:endParaRPr>
          </a:p>
        </p:txBody>
      </p:sp>
      <p:sp>
        <p:nvSpPr>
          <p:cNvPr id="4" name="Text Box 6"/>
          <p:cNvSpPr txBox="1">
            <a:spLocks noChangeArrowheads="1"/>
          </p:cNvSpPr>
          <p:nvPr/>
        </p:nvSpPr>
        <p:spPr bwMode="auto">
          <a:xfrm>
            <a:off x="474231" y="1318768"/>
            <a:ext cx="1295400" cy="393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Input：</a:t>
            </a:r>
            <a:endParaRPr lang="zh-CN" altLang="zh-CN" dirty="0">
              <a:ea typeface="宋体" panose="02010600030101010101" pitchFamily="2" charset="-122"/>
            </a:endParaRPr>
          </a:p>
          <a:p>
            <a:pPr eaLnBrk="1" hangingPunct="1"/>
            <a:endParaRPr lang="zh-CN" altLang="zh-CN" dirty="0">
              <a:ea typeface="宋体" panose="02010600030101010101" pitchFamily="2" charset="-122"/>
            </a:endParaRPr>
          </a:p>
          <a:p>
            <a:pPr eaLnBrk="1" hangingPunct="1"/>
            <a:r>
              <a:rPr lang="zh-CN" altLang="zh-CN" dirty="0">
                <a:ea typeface="宋体" panose="02010600030101010101" pitchFamily="2" charset="-122"/>
              </a:rPr>
              <a:t>2</a:t>
            </a:r>
            <a:endParaRPr lang="zh-CN" altLang="zh-CN" dirty="0">
              <a:ea typeface="宋体" panose="02010600030101010101" pitchFamily="2" charset="-122"/>
            </a:endParaRPr>
          </a:p>
          <a:p>
            <a:pPr eaLnBrk="1" hangingPunct="1"/>
            <a:r>
              <a:rPr lang="zh-CN" altLang="zh-CN" dirty="0">
                <a:ea typeface="宋体" panose="02010600030101010101" pitchFamily="2" charset="-122"/>
              </a:rPr>
              <a:t>5 5</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a:p>
            <a:pPr eaLnBrk="1" hangingPunct="1"/>
            <a:r>
              <a:rPr lang="zh-CN" altLang="zh-CN" dirty="0">
                <a:ea typeface="宋体" panose="02010600030101010101" pitchFamily="2" charset="-122"/>
              </a:rPr>
              <a:t># . . . #</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#S#T#</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a:p>
            <a:pPr eaLnBrk="1" hangingPunct="1"/>
            <a:r>
              <a:rPr lang="zh-CN" altLang="zh-CN" dirty="0">
                <a:ea typeface="宋体" panose="02010600030101010101" pitchFamily="2" charset="-122"/>
              </a:rPr>
              <a:t>4 5</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#S#T#</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p:txBody>
      </p:sp>
      <p:sp>
        <p:nvSpPr>
          <p:cNvPr id="5" name="Text Box 7"/>
          <p:cNvSpPr txBox="1">
            <a:spLocks noChangeArrowheads="1"/>
          </p:cNvSpPr>
          <p:nvPr/>
        </p:nvSpPr>
        <p:spPr bwMode="auto">
          <a:xfrm>
            <a:off x="2763561" y="1341396"/>
            <a:ext cx="1295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Output：</a:t>
            </a:r>
            <a:endParaRPr lang="zh-CN" altLang="zh-CN" dirty="0">
              <a:ea typeface="宋体" panose="02010600030101010101" pitchFamily="2" charset="-122"/>
            </a:endParaRPr>
          </a:p>
          <a:p>
            <a:pPr eaLnBrk="1" hangingPunct="1"/>
            <a:endParaRPr lang="zh-CN" altLang="zh-CN" dirty="0">
              <a:ea typeface="宋体" panose="02010600030101010101" pitchFamily="2" charset="-122"/>
            </a:endParaRPr>
          </a:p>
          <a:p>
            <a:pPr eaLnBrk="1" hangingPunct="1"/>
            <a:r>
              <a:rPr lang="en-US" altLang="zh-CN" dirty="0">
                <a:ea typeface="宋体" panose="02010600030101010101" pitchFamily="2" charset="-122"/>
              </a:rPr>
              <a:t>6</a:t>
            </a:r>
            <a:endParaRPr lang="zh-CN" altLang="zh-CN" dirty="0">
              <a:ea typeface="宋体" panose="02010600030101010101" pitchFamily="2" charset="-122"/>
            </a:endParaRPr>
          </a:p>
          <a:p>
            <a:pPr eaLnBrk="1" hangingPunct="1"/>
            <a:r>
              <a:rPr lang="zh-CN" altLang="zh-CN" dirty="0">
                <a:ea typeface="宋体" panose="02010600030101010101" pitchFamily="2" charset="-122"/>
              </a:rPr>
              <a:t>-1</a:t>
            </a:r>
            <a:endParaRPr lang="zh-CN" altLang="zh-CN" dirty="0">
              <a:ea typeface="宋体" panose="02010600030101010101" pitchFamily="2" charset="-122"/>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3315">
                                            <p:txEl>
                                              <p:pRg st="0" end="0"/>
                                            </p:txEl>
                                          </p:spTgt>
                                        </p:tgtEl>
                                        <p:attrNameLst>
                                          <p:attrName>style.visibility</p:attrName>
                                        </p:attrNameLst>
                                      </p:cBhvr>
                                      <p:to>
                                        <p:strVal val="visible"/>
                                      </p:to>
                                    </p:set>
                                    <p:anim calcmode="lin" valueType="num">
                                      <p:cBhvr additive="base">
                                        <p:cTn id="19" dur="500" fill="hold"/>
                                        <p:tgtEl>
                                          <p:spTgt spid="13315">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3315">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3315">
                                            <p:txEl>
                                              <p:pRg st="1" end="1"/>
                                            </p:txEl>
                                          </p:spTgt>
                                        </p:tgtEl>
                                        <p:attrNameLst>
                                          <p:attrName>style.visibility</p:attrName>
                                        </p:attrNameLst>
                                      </p:cBhvr>
                                      <p:to>
                                        <p:strVal val="visible"/>
                                      </p:to>
                                    </p:set>
                                    <p:anim calcmode="lin" valueType="num">
                                      <p:cBhvr additive="base">
                                        <p:cTn id="23" dur="500" fill="hold"/>
                                        <p:tgtEl>
                                          <p:spTgt spid="13315">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331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3315">
                                            <p:txEl>
                                              <p:pRg st="2" end="2"/>
                                            </p:txEl>
                                          </p:spTgt>
                                        </p:tgtEl>
                                        <p:attrNameLst>
                                          <p:attrName>style.visibility</p:attrName>
                                        </p:attrNameLst>
                                      </p:cBhvr>
                                      <p:to>
                                        <p:strVal val="visible"/>
                                      </p:to>
                                    </p:set>
                                    <p:animEffect transition="in" filter="fade">
                                      <p:cBhvr>
                                        <p:cTn id="29" dur="500"/>
                                        <p:tgtEl>
                                          <p:spTgt spid="133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utoUpdateAnimBg="0"/>
      <p:bldP spid="5"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834501" y="972053"/>
            <a:ext cx="11114843" cy="5355312"/>
          </a:xfrm>
          <a:prstGeom prst="rect">
            <a:avLst/>
          </a:prstGeom>
          <a:noFill/>
        </p:spPr>
        <p:txBody>
          <a:bodyPr wrap="square" rtlCol="0">
            <a:spAutoFit/>
          </a:bodyPr>
          <a:lstStyle/>
          <a:p>
            <a:pPr marL="342900" indent="-342900">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 使用三元组（</a:t>
            </a:r>
            <a:r>
              <a:rPr lang="en-US" altLang="zh-CN" sz="2400" b="1" kern="100" dirty="0">
                <a:solidFill>
                  <a:srgbClr val="014B88"/>
                </a:solidFill>
                <a:latin typeface="仿宋_GB2312"/>
                <a:cs typeface="Times New Roman" panose="02020603050405020304" pitchFamily="18" charset="0"/>
              </a:rPr>
              <a:t>X,Y,STEP</a:t>
            </a:r>
            <a:r>
              <a:rPr lang="zh-CN" altLang="en-US" sz="2400" b="1" kern="100" dirty="0">
                <a:solidFill>
                  <a:srgbClr val="014B88"/>
                </a:solidFill>
                <a:latin typeface="仿宋_GB2312"/>
                <a:cs typeface="Times New Roman" panose="02020603050405020304" pitchFamily="18" charset="0"/>
              </a:rPr>
              <a:t>）记录状态。（</a:t>
            </a:r>
            <a:r>
              <a:rPr lang="en-US" altLang="zh-CN" sz="2400" b="1" kern="100" dirty="0">
                <a:solidFill>
                  <a:srgbClr val="014B88"/>
                </a:solidFill>
                <a:latin typeface="仿宋_GB2312"/>
                <a:cs typeface="Times New Roman" panose="02020603050405020304" pitchFamily="18" charset="0"/>
              </a:rPr>
              <a:t>X,Y</a:t>
            </a:r>
            <a:r>
              <a:rPr lang="zh-CN" altLang="en-US" sz="2400" b="1" kern="100" dirty="0">
                <a:solidFill>
                  <a:srgbClr val="014B88"/>
                </a:solidFill>
                <a:latin typeface="仿宋_GB2312"/>
                <a:cs typeface="Times New Roman" panose="02020603050405020304" pitchFamily="18" charset="0"/>
              </a:rPr>
              <a:t>）表示当前机器人的位置，</a:t>
            </a:r>
            <a:r>
              <a:rPr lang="en-US" altLang="zh-CN" sz="2400" b="1" kern="100" dirty="0">
                <a:solidFill>
                  <a:srgbClr val="014B88"/>
                </a:solidFill>
                <a:latin typeface="仿宋_GB2312"/>
                <a:cs typeface="Times New Roman" panose="02020603050405020304" pitchFamily="18" charset="0"/>
              </a:rPr>
              <a:t>STEP</a:t>
            </a:r>
            <a:r>
              <a:rPr lang="zh-CN" altLang="en-US" sz="2400" b="1" kern="100" dirty="0">
                <a:solidFill>
                  <a:srgbClr val="014B88"/>
                </a:solidFill>
                <a:latin typeface="仿宋_GB2312"/>
                <a:cs typeface="Times New Roman" panose="02020603050405020304" pitchFamily="18" charset="0"/>
              </a:rPr>
              <a:t>表示当前已经走过的步数</a:t>
            </a:r>
            <a:endParaRPr lang="zh-CN" altLang="en-US" sz="2400" b="1" kern="100" dirty="0">
              <a:solidFill>
                <a:srgbClr val="014B88"/>
              </a:solidFill>
              <a:latin typeface="仿宋_GB2312"/>
              <a:cs typeface="Times New Roman" panose="02020603050405020304" pitchFamily="18" charset="0"/>
            </a:endParaRPr>
          </a:p>
          <a:p>
            <a:pPr marL="342900" indent="-342900">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状态转移： </a:t>
            </a:r>
            <a:endParaRPr lang="zh-CN" altLang="en-US" sz="2400" b="1" kern="100" dirty="0">
              <a:solidFill>
                <a:srgbClr val="014B88"/>
              </a:solidFill>
              <a:latin typeface="仿宋_GB2312"/>
              <a:cs typeface="Times New Roman" panose="02020603050405020304" pitchFamily="18" charset="0"/>
            </a:endParaRPr>
          </a:p>
          <a:p>
            <a:pPr>
              <a:lnSpc>
                <a:spcPct val="150000"/>
              </a:lnSpc>
            </a:pPr>
            <a:r>
              <a:rPr lang="zh-CN" altLang="en-US" sz="2400" b="1" kern="100" dirty="0">
                <a:solidFill>
                  <a:srgbClr val="014B88"/>
                </a:solidFill>
                <a:latin typeface="仿宋_GB2312"/>
                <a:cs typeface="Times New Roman" panose="02020603050405020304" pitchFamily="18" charset="0"/>
              </a:rPr>
              <a:t>     </a:t>
            </a:r>
            <a:r>
              <a:rPr lang="en-US" altLang="zh-CN" sz="2400" b="1" kern="100" dirty="0">
                <a:solidFill>
                  <a:srgbClr val="014B88"/>
                </a:solidFill>
                <a:latin typeface="仿宋_GB2312"/>
                <a:cs typeface="Times New Roman" panose="02020603050405020304" pitchFamily="18" charset="0"/>
              </a:rPr>
              <a:t>(X-1,Y,STEP+1)(X,Y-1,STEP+1)(X+1,Y,STEP+1)(X,Y+1,STEP+1)</a:t>
            </a:r>
            <a:endParaRPr lang="en-US" altLang="zh-CN" sz="2400" b="1" kern="100" dirty="0">
              <a:solidFill>
                <a:srgbClr val="014B88"/>
              </a:solidFill>
              <a:latin typeface="仿宋_GB2312"/>
              <a:cs typeface="Times New Roman" panose="02020603050405020304" pitchFamily="18" charset="0"/>
            </a:endParaRPr>
          </a:p>
          <a:p>
            <a:pPr marL="342900" indent="-342900">
              <a:lnSpc>
                <a:spcPct val="150000"/>
              </a:lnSpc>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过程：</a:t>
            </a:r>
            <a:endParaRPr lang="zh-CN" altLang="en-US"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BFS ( ) </a:t>
            </a:r>
            <a:endParaRPr lang="en-US" altLang="zh-CN"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	S</a:t>
            </a:r>
            <a:r>
              <a:rPr lang="zh-CN" altLang="en-US" sz="2400" b="1" kern="100" dirty="0">
                <a:solidFill>
                  <a:srgbClr val="014B88"/>
                </a:solidFill>
                <a:latin typeface="仿宋_GB2312"/>
                <a:cs typeface="Times New Roman" panose="02020603050405020304" pitchFamily="18" charset="0"/>
              </a:rPr>
              <a:t>入队</a:t>
            </a:r>
            <a:endParaRPr lang="zh-CN" altLang="en-US"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如果队列非空</a:t>
            </a:r>
            <a:endParaRPr lang="zh-CN" altLang="en-US"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取出队头元素，如果该元素为终点</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，返回</a:t>
            </a:r>
            <a:r>
              <a:rPr lang="en-US" altLang="zh-CN" sz="2400" b="1" kern="100" dirty="0">
                <a:solidFill>
                  <a:srgbClr val="014B88"/>
                </a:solidFill>
                <a:latin typeface="仿宋_GB2312"/>
                <a:cs typeface="Times New Roman" panose="02020603050405020304" pitchFamily="18" charset="0"/>
              </a:rPr>
              <a:t>step</a:t>
            </a:r>
            <a:endParaRPr lang="en-US" altLang="zh-CN"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对该结点的每种转移状态</a:t>
            </a:r>
            <a:endParaRPr lang="zh-CN" altLang="en-US" sz="2400" b="1" kern="100" dirty="0">
              <a:solidFill>
                <a:srgbClr val="014B88"/>
              </a:solidFill>
              <a:latin typeface="仿宋_GB2312"/>
              <a:cs typeface="Times New Roman" panose="02020603050405020304" pitchFamily="18" charset="0"/>
            </a:endParaRPr>
          </a:p>
          <a:p>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如果没有被访问过，加入队列</a:t>
            </a:r>
            <a:endParaRPr lang="zh-CN" altLang="en-US" sz="2400" b="1" kern="100" dirty="0">
              <a:solidFill>
                <a:srgbClr val="014B88"/>
              </a:solidFill>
              <a:latin typeface="仿宋_GB2312"/>
              <a:cs typeface="Times New Roman" panose="02020603050405020304" pitchFamily="18" charset="0"/>
            </a:endParaRPr>
          </a:p>
          <a:p>
            <a:endParaRPr lang="zh-CN" altLang="en-US" dirty="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40310" y="1401205"/>
            <a:ext cx="5755690" cy="4801314"/>
          </a:xfrm>
          <a:prstGeom prst="rect">
            <a:avLst/>
          </a:prstGeom>
          <a:solidFill>
            <a:schemeClr val="tx1"/>
          </a:solidFill>
        </p:spPr>
        <p:txBody>
          <a:bodyPr wrap="square">
            <a:spAutoFit/>
          </a:bodyPr>
          <a:lstStyle/>
          <a:p>
            <a:r>
              <a:rPr lang="en-US" altLang="zh-CN" dirty="0">
                <a:solidFill>
                  <a:srgbClr val="C586C0"/>
                </a:solidFill>
                <a:latin typeface="Consolas" panose="020B0609020204030204" pitchFamily="49" charset="0"/>
              </a:rPr>
              <a:t>#include</a:t>
            </a:r>
            <a:r>
              <a:rPr lang="en-US" altLang="zh-CN" dirty="0">
                <a:solidFill>
                  <a:srgbClr val="569CD6"/>
                </a:solidFill>
                <a:latin typeface="Consolas" panose="020B0609020204030204" pitchFamily="49" charset="0"/>
              </a:rPr>
              <a:t> </a:t>
            </a:r>
            <a:r>
              <a:rPr lang="en-US" altLang="zh-CN" dirty="0">
                <a:solidFill>
                  <a:srgbClr val="CE9178"/>
                </a:solidFill>
                <a:latin typeface="Consolas" panose="020B0609020204030204" pitchFamily="49" charset="0"/>
              </a:rPr>
              <a:t>&lt;bits/</a:t>
            </a:r>
            <a:r>
              <a:rPr lang="en-US" altLang="zh-CN" dirty="0" err="1">
                <a:solidFill>
                  <a:srgbClr val="CE9178"/>
                </a:solidFill>
                <a:latin typeface="Consolas" panose="020B0609020204030204" pitchFamily="49" charset="0"/>
              </a:rPr>
              <a:t>stdc</a:t>
            </a:r>
            <a:r>
              <a:rPr lang="en-US" altLang="zh-CN" dirty="0">
                <a:solidFill>
                  <a:srgbClr val="CE9178"/>
                </a:solidFill>
                <a:latin typeface="Consolas" panose="020B0609020204030204" pitchFamily="49" charset="0"/>
              </a:rPr>
              <a:t>++.h&gt;</a:t>
            </a:r>
            <a:endParaRPr lang="en-US" altLang="zh-CN" dirty="0">
              <a:solidFill>
                <a:srgbClr val="D4D4D4"/>
              </a:solidFill>
              <a:latin typeface="Consolas" panose="020B0609020204030204" pitchFamily="49" charset="0"/>
            </a:endParaRPr>
          </a:p>
          <a:p>
            <a:r>
              <a:rPr lang="en-US" altLang="zh-CN" dirty="0">
                <a:solidFill>
                  <a:srgbClr val="C586C0"/>
                </a:solidFill>
                <a:latin typeface="Consolas" panose="020B0609020204030204" pitchFamily="49" charset="0"/>
              </a:rPr>
              <a:t>using</a:t>
            </a:r>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namespace</a:t>
            </a:r>
            <a:r>
              <a:rPr lang="en-US" altLang="zh-CN" dirty="0">
                <a:solidFill>
                  <a:srgbClr val="D4D4D4"/>
                </a:solidFill>
                <a:latin typeface="Consolas" panose="020B0609020204030204" pitchFamily="49" charset="0"/>
              </a:rPr>
              <a:t> </a:t>
            </a:r>
            <a:r>
              <a:rPr lang="en-US" altLang="zh-CN" dirty="0">
                <a:solidFill>
                  <a:srgbClr val="4EC9B0"/>
                </a:solidFill>
                <a:latin typeface="Consolas" panose="020B0609020204030204" pitchFamily="49" charset="0"/>
              </a:rPr>
              <a:t>std</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br>
              <a:rPr lang="en-US" altLang="zh-CN" dirty="0">
                <a:solidFill>
                  <a:srgbClr val="D4D4D4"/>
                </a:solidFill>
                <a:latin typeface="Consolas" panose="020B0609020204030204" pitchFamily="49" charset="0"/>
              </a:rPr>
            </a:br>
            <a:r>
              <a:rPr lang="en-US" altLang="zh-CN" dirty="0">
                <a:solidFill>
                  <a:srgbClr val="569CD6"/>
                </a:solidFill>
                <a:latin typeface="Consolas" panose="020B0609020204030204" pitchFamily="49" charset="0"/>
              </a:rPr>
              <a:t>struct</a:t>
            </a:r>
            <a:r>
              <a:rPr lang="en-US" altLang="zh-CN" dirty="0">
                <a:solidFill>
                  <a:srgbClr val="D4D4D4"/>
                </a:solidFill>
                <a:latin typeface="Consolas" panose="020B0609020204030204" pitchFamily="49" charset="0"/>
              </a:rPr>
              <a:t> </a:t>
            </a:r>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Node</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Node</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xx</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yy</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ss</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xx</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yy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ss</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4EC9B0"/>
                </a:solidFill>
                <a:latin typeface="Consolas" panose="020B0609020204030204" pitchFamily="49" charset="0"/>
              </a:rPr>
              <a:t>queue</a:t>
            </a:r>
            <a:r>
              <a:rPr lang="en-US" altLang="zh-CN" dirty="0">
                <a:solidFill>
                  <a:srgbClr val="D4D4D4"/>
                </a:solidFill>
                <a:latin typeface="Consolas" panose="020B0609020204030204" pitchFamily="49" charset="0"/>
              </a:rPr>
              <a:t> &lt;</a:t>
            </a:r>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&gt; </a:t>
            </a:r>
            <a:r>
              <a:rPr lang="en-US" altLang="zh-CN" dirty="0">
                <a:solidFill>
                  <a:srgbClr val="9CDCFE"/>
                </a:solidFill>
                <a:latin typeface="Consolas" panose="020B0609020204030204" pitchFamily="49" charset="0"/>
              </a:rPr>
              <a:t>Q</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dir</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4</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2</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p:txBody>
      </p:sp>
      <p:sp>
        <p:nvSpPr>
          <p:cNvPr id="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4" name="矩形 3"/>
          <p:cNvSpPr/>
          <p:nvPr/>
        </p:nvSpPr>
        <p:spPr>
          <a:xfrm>
            <a:off x="6145220" y="58846"/>
            <a:ext cx="5874060" cy="6740307"/>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main</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char</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1000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T</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memset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sizeof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empty</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pop</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cin</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&gt;&gt;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ex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if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CE9178"/>
                </a:solidFill>
                <a:latin typeface="Consolas" panose="020B0609020204030204" pitchFamily="49" charset="0"/>
              </a:rPr>
              <a:t>'S'</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if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 == </a:t>
            </a:r>
            <a:r>
              <a:rPr lang="en-US" altLang="zh-CN" dirty="0">
                <a:solidFill>
                  <a:srgbClr val="CE9178"/>
                </a:solidFill>
                <a:latin typeface="Consolas" panose="020B0609020204030204" pitchFamily="49" charset="0"/>
              </a:rPr>
              <a:t>'T'</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ex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j</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77554" y="2078301"/>
            <a:ext cx="2459114" cy="2308324"/>
          </a:xfrm>
          <a:prstGeom prst="rect">
            <a:avLst/>
          </a:prstGeom>
          <a:solidFill>
            <a:schemeClr val="tx1"/>
          </a:solidFill>
        </p:spPr>
        <p:txBody>
          <a:bodyPr wrap="square">
            <a:spAutoFit/>
          </a:bodyPr>
          <a:lstStyle/>
          <a:p>
            <a:r>
              <a:rPr lang="en-US" altLang="zh-CN" dirty="0">
                <a:solidFill>
                  <a:srgbClr val="4EC9B0"/>
                </a:solidFill>
                <a:latin typeface="Consolas" panose="020B0609020204030204" pitchFamily="49" charset="0"/>
              </a:rPr>
              <a:t>Node</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start</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err="1">
                <a:solidFill>
                  <a:srgbClr val="9CDCFE"/>
                </a:solidFill>
                <a:latin typeface="Consolas" panose="020B0609020204030204" pitchFamily="49" charset="0"/>
              </a:rPr>
              <a:t>start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step</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br>
              <a:rPr lang="en-US" altLang="zh-CN" dirty="0">
                <a:solidFill>
                  <a:srgbClr val="D4D4D4"/>
                </a:solidFill>
                <a:latin typeface="Consolas" panose="020B0609020204030204" pitchFamily="49" charset="0"/>
              </a:rPr>
            </a:br>
            <a:r>
              <a:rPr lang="en-US" altLang="zh-CN" dirty="0" err="1">
                <a:solidFill>
                  <a:srgbClr val="9CDCFE"/>
                </a:solidFill>
                <a:latin typeface="Consolas" panose="020B0609020204030204" pitchFamily="49" charset="0"/>
              </a:rPr>
              <a:t>Q</a:t>
            </a:r>
            <a:r>
              <a:rPr lang="en-US" altLang="zh-CN" dirty="0" err="1">
                <a:solidFill>
                  <a:srgbClr val="D4D4D4"/>
                </a:solidFill>
                <a:latin typeface="Consolas" panose="020B0609020204030204" pitchFamily="49" charset="0"/>
              </a:rPr>
              <a:t>.</a:t>
            </a:r>
            <a:r>
              <a:rPr lang="en-US" altLang="zh-CN" dirty="0" err="1">
                <a:solidFill>
                  <a:srgbClr val="DCDCAA"/>
                </a:solidFill>
                <a:latin typeface="Consolas" panose="020B0609020204030204" pitchFamily="49" charset="0"/>
              </a:rPr>
              <a:t>push</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start</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9CDCFE"/>
                </a:solidFill>
                <a:latin typeface="Consolas" panose="020B0609020204030204" pitchFamily="49" charset="0"/>
              </a:rPr>
              <a:t>visit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sx</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sy</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p:txBody>
      </p:sp>
      <p:sp>
        <p:nvSpPr>
          <p:cNvPr id="3" name="矩形 2"/>
          <p:cNvSpPr/>
          <p:nvPr/>
        </p:nvSpPr>
        <p:spPr>
          <a:xfrm>
            <a:off x="2710649" y="166568"/>
            <a:ext cx="9481351" cy="6524863"/>
          </a:xfrm>
          <a:prstGeom prst="rect">
            <a:avLst/>
          </a:prstGeom>
          <a:solidFill>
            <a:schemeClr val="tx1"/>
          </a:solidFill>
        </p:spPr>
        <p:txBody>
          <a:bodyPr wrap="square">
            <a:spAutoFit/>
          </a:bodyPr>
          <a:lstStyle/>
          <a:p>
            <a:r>
              <a:rPr lang="en-US" altLang="zh-CN"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while</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empty</a:t>
            </a:r>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Node</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head</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front</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pop</a:t>
            </a:r>
            <a:r>
              <a:rPr lang="en-US" altLang="zh-CN" sz="1600" dirty="0">
                <a:solidFill>
                  <a:srgbClr val="D4D4D4"/>
                </a:solidFill>
                <a:latin typeface="Consolas" panose="020B0609020204030204" pitchFamily="49" charset="0"/>
              </a:rPr>
              <a:t>();</a:t>
            </a:r>
            <a:br>
              <a:rPr lang="en-US" altLang="zh-CN" sz="1600" dirty="0">
                <a:solidFill>
                  <a:srgbClr val="D4D4D4"/>
                </a:solidFill>
                <a:latin typeface="Consolas" panose="020B0609020204030204" pitchFamily="49" charset="0"/>
              </a:rPr>
            </a:b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'T'</a:t>
            </a:r>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ans</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break</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for</a:t>
            </a:r>
            <a:r>
              <a:rPr lang="en-US" altLang="zh-CN" sz="1600" dirty="0">
                <a:solidFill>
                  <a:srgbClr val="D4D4D4"/>
                </a:solidFill>
                <a:latin typeface="Consolas" panose="020B0609020204030204" pitchFamily="49" charset="0"/>
              </a:rPr>
              <a:t>(</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4</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nx</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dir</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dir</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 &gt;= </a:t>
            </a:r>
            <a:r>
              <a:rPr lang="en-US" altLang="zh-CN" sz="1600" dirty="0">
                <a:solidFill>
                  <a:srgbClr val="9CDCFE"/>
                </a:solidFill>
                <a:latin typeface="Consolas" panose="020B0609020204030204" pitchFamily="49" charset="0"/>
              </a:rPr>
              <a:t>N</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&lt;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&gt;=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a:solidFill>
                  <a:srgbClr val="C586C0"/>
                </a:solidFill>
                <a:latin typeface="Consolas" panose="020B0609020204030204" pitchFamily="49" charset="0"/>
              </a:rPr>
              <a:t>continue</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visit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C586C0"/>
                </a:solidFill>
                <a:latin typeface="Consolas" panose="020B0609020204030204" pitchFamily="49" charset="0"/>
              </a:rPr>
              <a:t>continue</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CE9178"/>
                </a:solidFill>
                <a:latin typeface="Consolas" panose="020B0609020204030204" pitchFamily="49" charset="0"/>
              </a:rPr>
              <a:t>'S'</a:t>
            </a:r>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visit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Node</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nnode</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step</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foot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x</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foot</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nx</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ny</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head</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y</a:t>
            </a:r>
            <a:r>
              <a:rPr lang="en-US" altLang="zh-CN" sz="1600" dirty="0">
                <a:solidFill>
                  <a:srgbClr val="D4D4D4"/>
                </a:solidFill>
                <a:latin typeface="Consolas" panose="020B0609020204030204" pitchFamily="49" charset="0"/>
              </a:rPr>
              <a:t>;</a:t>
            </a:r>
            <a:br>
              <a:rPr lang="en-US" altLang="zh-CN" sz="1600" dirty="0">
                <a:solidFill>
                  <a:srgbClr val="D4D4D4"/>
                </a:solidFill>
                <a:latin typeface="Consolas" panose="020B0609020204030204" pitchFamily="49" charset="0"/>
              </a:rPr>
            </a:b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Q</a:t>
            </a:r>
            <a:r>
              <a:rPr lang="en-US" altLang="zh-CN" sz="1600" dirty="0" err="1">
                <a:solidFill>
                  <a:srgbClr val="D4D4D4"/>
                </a:solidFill>
                <a:latin typeface="Consolas" panose="020B0609020204030204" pitchFamily="49" charset="0"/>
              </a:rPr>
              <a:t>.</a:t>
            </a:r>
            <a:r>
              <a:rPr lang="en-US" altLang="zh-CN" sz="1600" dirty="0" err="1">
                <a:solidFill>
                  <a:srgbClr val="DCDCAA"/>
                </a:solidFill>
                <a:latin typeface="Consolas" panose="020B0609020204030204" pitchFamily="49" charset="0"/>
              </a:rPr>
              <a:t>push</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nnode</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endParaRPr lang="en-US" altLang="zh-CN" sz="1600" dirty="0">
              <a:solidFill>
                <a:srgbClr val="D4D4D4"/>
              </a:solidFill>
              <a:latin typeface="Consolas" panose="020B0609020204030204" pitchFamily="49"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923277" y="1264496"/>
            <a:ext cx="10670958" cy="4524315"/>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        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ex</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ey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cout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CE9178"/>
                </a:solidFill>
                <a:latin typeface="Consolas" panose="020B0609020204030204" pitchFamily="49" charset="0"/>
              </a:rPr>
              <a:t>' '</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endl</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tx</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x</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ty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foot</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prex</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tx</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prey</a:t>
            </a:r>
            <a:r>
              <a:rPr lang="en-US" altLang="zh-CN" dirty="0">
                <a:solidFill>
                  <a:srgbClr val="D4D4D4"/>
                </a:solidFill>
                <a:latin typeface="Consolas" panose="020B0609020204030204" pitchFamily="49" charset="0"/>
              </a:rPr>
              <a:t> = </a:t>
            </a:r>
            <a:r>
              <a:rPr lang="en-US" altLang="zh-CN" dirty="0">
                <a:solidFill>
                  <a:srgbClr val="9CDCFE"/>
                </a:solidFill>
                <a:latin typeface="Consolas" panose="020B0609020204030204" pitchFamily="49" charset="0"/>
              </a:rPr>
              <a:t>ty</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cout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ans</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&lt;&lt;</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endl</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br>
              <a:rPr lang="en-US" altLang="zh-CN" dirty="0">
                <a:solidFill>
                  <a:srgbClr val="D4D4D4"/>
                </a:solidFill>
                <a:latin typeface="Consolas" panose="020B0609020204030204" pitchFamily="49" charset="0"/>
              </a:rPr>
            </a:br>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br>
              <a:rPr lang="en-US" altLang="zh-CN" dirty="0">
                <a:solidFill>
                  <a:srgbClr val="D4D4D4"/>
                </a:solidFill>
                <a:latin typeface="Consolas" panose="020B0609020204030204" pitchFamily="49" charset="0"/>
              </a:rPr>
            </a:br>
            <a:r>
              <a:rPr lang="en-US" altLang="zh-CN" dirty="0">
                <a:solidFill>
                  <a:srgbClr val="D4D4D4"/>
                </a:solidFill>
                <a:latin typeface="Consolas" panose="020B0609020204030204" pitchFamily="49" charset="0"/>
              </a:rPr>
              <a:t>}</a:t>
            </a:r>
            <a:endParaRPr lang="en-US" altLang="zh-CN" b="0" dirty="0">
              <a:solidFill>
                <a:srgbClr val="D4D4D4"/>
              </a:solidFill>
              <a:effectLst/>
              <a:latin typeface="Consolas" panose="020B0609020204030204" pitchFamily="49"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RobotA</a:t>
            </a:r>
            <a:r>
              <a:rPr lang="en-US" altLang="zh-CN" sz="3200" b="1" dirty="0">
                <a:solidFill>
                  <a:srgbClr val="C00000"/>
                </a:solidFill>
                <a:latin typeface="微软雅黑" panose="020B0503020204020204" pitchFamily="34" charset="-122"/>
                <a:ea typeface="微软雅黑" panose="020B0503020204020204" pitchFamily="34" charset="-122"/>
              </a:rPr>
              <a:t> in Maze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477522" y="1125538"/>
            <a:ext cx="6312023" cy="5183187"/>
          </a:xfrm>
        </p:spPr>
        <p:txBody>
          <a:bodyPr>
            <a:normAutofit/>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机器人必须转向某个方向才能向某个方向走，转向算一步</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依然</a:t>
            </a:r>
            <a:r>
              <a:rPr lang="en-US" altLang="zh-CN" sz="2400" b="1" kern="100" dirty="0">
                <a:solidFill>
                  <a:srgbClr val="014B88"/>
                </a:solidFill>
                <a:latin typeface="仿宋_GB2312"/>
                <a:cs typeface="Times New Roman" panose="02020603050405020304" pitchFamily="18" charset="0"/>
              </a:rPr>
              <a:t>BFS</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状态 ？状态转移 ？</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状态中加一个方向</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Y</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STEP</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DI</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转移：向左转，向右转，当前方向向前走一步</a:t>
            </a:r>
            <a:endParaRPr lang="en-US" altLang="zh-CN" sz="2400" b="1" kern="100" dirty="0">
              <a:solidFill>
                <a:srgbClr val="014B88"/>
              </a:solidFill>
              <a:latin typeface="仿宋_GB2312"/>
              <a:cs typeface="Times New Roman" panose="02020603050405020304" pitchFamily="18" charset="0"/>
            </a:endParaRPr>
          </a:p>
        </p:txBody>
      </p:sp>
      <p:sp>
        <p:nvSpPr>
          <p:cNvPr id="4" name="Text Box 6"/>
          <p:cNvSpPr txBox="1">
            <a:spLocks noChangeArrowheads="1"/>
          </p:cNvSpPr>
          <p:nvPr/>
        </p:nvSpPr>
        <p:spPr bwMode="auto">
          <a:xfrm>
            <a:off x="758317" y="1298576"/>
            <a:ext cx="1295400" cy="393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Input：</a:t>
            </a:r>
            <a:endParaRPr lang="zh-CN" altLang="zh-CN" dirty="0">
              <a:ea typeface="宋体" panose="02010600030101010101" pitchFamily="2" charset="-122"/>
            </a:endParaRPr>
          </a:p>
          <a:p>
            <a:pPr eaLnBrk="1" hangingPunct="1"/>
            <a:endParaRPr lang="zh-CN" altLang="zh-CN" dirty="0">
              <a:ea typeface="宋体" panose="02010600030101010101" pitchFamily="2" charset="-122"/>
            </a:endParaRPr>
          </a:p>
          <a:p>
            <a:pPr eaLnBrk="1" hangingPunct="1"/>
            <a:r>
              <a:rPr lang="zh-CN" altLang="zh-CN" dirty="0">
                <a:ea typeface="宋体" panose="02010600030101010101" pitchFamily="2" charset="-122"/>
              </a:rPr>
              <a:t>2</a:t>
            </a:r>
            <a:endParaRPr lang="zh-CN" altLang="zh-CN" dirty="0">
              <a:ea typeface="宋体" panose="02010600030101010101" pitchFamily="2" charset="-122"/>
            </a:endParaRPr>
          </a:p>
          <a:p>
            <a:pPr eaLnBrk="1" hangingPunct="1"/>
            <a:r>
              <a:rPr lang="zh-CN" altLang="zh-CN" dirty="0">
                <a:ea typeface="宋体" panose="02010600030101010101" pitchFamily="2" charset="-122"/>
              </a:rPr>
              <a:t>5 5</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a:p>
            <a:pPr eaLnBrk="1" hangingPunct="1"/>
            <a:r>
              <a:rPr lang="zh-CN" altLang="zh-CN" dirty="0">
                <a:ea typeface="宋体" panose="02010600030101010101" pitchFamily="2" charset="-122"/>
              </a:rPr>
              <a:t># . . . #</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#S#T#</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a:p>
            <a:pPr eaLnBrk="1" hangingPunct="1"/>
            <a:r>
              <a:rPr lang="zh-CN" altLang="zh-CN" dirty="0">
                <a:ea typeface="宋体" panose="02010600030101010101" pitchFamily="2" charset="-122"/>
              </a:rPr>
              <a:t>4 5</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 .# . #</a:t>
            </a:r>
            <a:endParaRPr lang="zh-CN" altLang="zh-CN" dirty="0">
              <a:ea typeface="宋体" panose="02010600030101010101" pitchFamily="2" charset="-122"/>
            </a:endParaRPr>
          </a:p>
          <a:p>
            <a:pPr eaLnBrk="1" hangingPunct="1"/>
            <a:r>
              <a:rPr lang="zh-CN" altLang="zh-CN" dirty="0">
                <a:ea typeface="宋体" panose="02010600030101010101" pitchFamily="2" charset="-122"/>
              </a:rPr>
              <a:t>#S#T#</a:t>
            </a:r>
            <a:endParaRPr lang="zh-CN" altLang="zh-CN" dirty="0">
              <a:ea typeface="宋体" panose="02010600030101010101" pitchFamily="2" charset="-122"/>
            </a:endParaRPr>
          </a:p>
          <a:p>
            <a:pPr eaLnBrk="1" hangingPunct="1"/>
            <a:r>
              <a:rPr lang="zh-CN" altLang="zh-CN" dirty="0">
                <a:ea typeface="宋体" panose="02010600030101010101" pitchFamily="2" charset="-122"/>
              </a:rPr>
              <a:t>#####</a:t>
            </a:r>
            <a:endParaRPr lang="zh-CN" altLang="zh-CN" dirty="0">
              <a:ea typeface="宋体" panose="02010600030101010101" pitchFamily="2" charset="-122"/>
            </a:endParaRPr>
          </a:p>
        </p:txBody>
      </p:sp>
      <p:sp>
        <p:nvSpPr>
          <p:cNvPr id="5" name="Text Box 7"/>
          <p:cNvSpPr txBox="1">
            <a:spLocks noChangeArrowheads="1"/>
          </p:cNvSpPr>
          <p:nvPr/>
        </p:nvSpPr>
        <p:spPr bwMode="auto">
          <a:xfrm>
            <a:off x="3038768" y="1298576"/>
            <a:ext cx="1295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zh-CN" dirty="0">
                <a:ea typeface="宋体" panose="02010600030101010101" pitchFamily="2" charset="-122"/>
              </a:rPr>
              <a:t>Output：</a:t>
            </a:r>
            <a:endParaRPr lang="zh-CN" altLang="zh-CN" dirty="0">
              <a:ea typeface="宋体" panose="02010600030101010101" pitchFamily="2" charset="-122"/>
            </a:endParaRPr>
          </a:p>
          <a:p>
            <a:pPr eaLnBrk="1" hangingPunct="1"/>
            <a:endParaRPr lang="zh-CN" altLang="zh-CN" dirty="0">
              <a:ea typeface="宋体" panose="02010600030101010101" pitchFamily="2" charset="-122"/>
            </a:endParaRPr>
          </a:p>
          <a:p>
            <a:pPr eaLnBrk="1" hangingPunct="1"/>
            <a:r>
              <a:rPr lang="en-US" altLang="zh-CN" dirty="0">
                <a:ea typeface="宋体" panose="02010600030101010101" pitchFamily="2" charset="-122"/>
              </a:rPr>
              <a:t>8</a:t>
            </a:r>
            <a:endParaRPr lang="zh-CN" altLang="zh-CN" dirty="0">
              <a:ea typeface="宋体" panose="02010600030101010101" pitchFamily="2" charset="-122"/>
            </a:endParaRPr>
          </a:p>
          <a:p>
            <a:pPr eaLnBrk="1" hangingPunct="1"/>
            <a:r>
              <a:rPr lang="zh-CN" altLang="zh-CN" dirty="0">
                <a:ea typeface="宋体" panose="02010600030101010101" pitchFamily="2" charset="-122"/>
              </a:rPr>
              <a:t>-1</a:t>
            </a:r>
            <a:endParaRPr lang="zh-CN" altLang="zh-CN" dirty="0">
              <a:ea typeface="宋体" panose="02010600030101010101" pitchFamily="2" charset="-122"/>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err="1">
                <a:solidFill>
                  <a:srgbClr val="C00000"/>
                </a:solidFill>
                <a:latin typeface="微软雅黑" panose="020B0503020204020204" pitchFamily="34" charset="-122"/>
                <a:ea typeface="微软雅黑" panose="020B0503020204020204" pitchFamily="34" charset="-122"/>
              </a:rPr>
              <a:t>RobotB</a:t>
            </a:r>
            <a:r>
              <a:rPr lang="en-US" altLang="zh-CN" sz="3200" b="1" dirty="0">
                <a:solidFill>
                  <a:srgbClr val="C00000"/>
                </a:solidFill>
                <a:latin typeface="微软雅黑" panose="020B0503020204020204" pitchFamily="34" charset="-122"/>
                <a:ea typeface="微软雅黑" panose="020B0503020204020204" pitchFamily="34" charset="-122"/>
              </a:rPr>
              <a:t> in Maze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500"/>
                                        <p:tgtEl>
                                          <p:spTgt spid="3">
                                            <p:txEl>
                                              <p:pRg st="0" end="0"/>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1" end="1"/>
                                            </p:txEl>
                                          </p:spTgt>
                                        </p:tgtEl>
                                        <p:attrNameLst>
                                          <p:attrName>style.visibility</p:attrName>
                                        </p:attrNameLst>
                                      </p:cBhvr>
                                      <p:to>
                                        <p:strVal val="visible"/>
                                      </p:to>
                                    </p:set>
                                    <p:animEffect transition="in" filter="fade">
                                      <p:cBhvr>
                                        <p:cTn id="22" dur="500"/>
                                        <p:tgtEl>
                                          <p:spTgt spid="3">
                                            <p:txEl>
                                              <p:pRg st="1" end="1"/>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Effect transition="in" filter="fade">
                                      <p:cBhvr>
                                        <p:cTn id="25" dur="500"/>
                                        <p:tgtEl>
                                          <p:spTgt spid="3">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3">
                                            <p:txEl>
                                              <p:pRg st="3" end="3"/>
                                            </p:txEl>
                                          </p:spTgt>
                                        </p:tgtEl>
                                        <p:attrNameLst>
                                          <p:attrName>style.visibility</p:attrName>
                                        </p:attrNameLst>
                                      </p:cBhvr>
                                      <p:to>
                                        <p:strVal val="visible"/>
                                      </p:to>
                                    </p:set>
                                    <p:animEffect transition="in" filter="fade">
                                      <p:cBhvr>
                                        <p:cTn id="30" dur="1000"/>
                                        <p:tgtEl>
                                          <p:spTgt spid="3">
                                            <p:txEl>
                                              <p:pRg st="3" end="3"/>
                                            </p:txEl>
                                          </p:spTgt>
                                        </p:tgtEl>
                                      </p:cBhvr>
                                    </p:animEffect>
                                    <p:anim calcmode="lin" valueType="num">
                                      <p:cBhvr>
                                        <p:cTn id="31"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2" dur="1000" fill="hold"/>
                                        <p:tgtEl>
                                          <p:spTgt spid="3">
                                            <p:txEl>
                                              <p:pRg st="3" end="3"/>
                                            </p:txEl>
                                          </p:spTgt>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3">
                                            <p:txEl>
                                              <p:pRg st="5" end="5"/>
                                            </p:txEl>
                                          </p:spTgt>
                                        </p:tgtEl>
                                        <p:attrNameLst>
                                          <p:attrName>style.visibility</p:attrName>
                                        </p:attrNameLst>
                                      </p:cBhvr>
                                      <p:to>
                                        <p:strVal val="visible"/>
                                      </p:to>
                                    </p:set>
                                    <p:animEffect transition="in" filter="fade">
                                      <p:cBhvr>
                                        <p:cTn id="40" dur="1000"/>
                                        <p:tgtEl>
                                          <p:spTgt spid="3">
                                            <p:txEl>
                                              <p:pRg st="5" end="5"/>
                                            </p:txEl>
                                          </p:spTgt>
                                        </p:tgtEl>
                                      </p:cBhvr>
                                    </p:animEffect>
                                    <p:anim calcmode="lin" valueType="num">
                                      <p:cBhvr>
                                        <p:cTn id="41"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42"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utoUpdateAnimBg="0"/>
      <p:bldP spid="5"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257452" y="972053"/>
            <a:ext cx="10515600" cy="4351337"/>
          </a:xfrm>
        </p:spPr>
        <p:txBody>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问题描述：输入</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为矩形的大小，</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为炸弹的个数，然后给出</a:t>
            </a:r>
            <a:r>
              <a:rPr lang="en-US" altLang="zh-CN" sz="2400" b="1" kern="100" dirty="0">
                <a:solidFill>
                  <a:srgbClr val="014B88"/>
                </a:solidFill>
                <a:latin typeface="仿宋_GB2312"/>
                <a:cs typeface="Times New Roman" panose="02020603050405020304" pitchFamily="18" charset="0"/>
              </a:rPr>
              <a:t>M</a:t>
            </a:r>
            <a:r>
              <a:rPr lang="zh-CN" altLang="en-US" sz="2400" b="1" kern="100" dirty="0">
                <a:solidFill>
                  <a:srgbClr val="014B88"/>
                </a:solidFill>
                <a:latin typeface="仿宋_GB2312"/>
                <a:cs typeface="Times New Roman" panose="02020603050405020304" pitchFamily="18" charset="0"/>
              </a:rPr>
              <a:t>个炸弹的位置，最后给出点击的位置，输出点击以后的状态。</a:t>
            </a:r>
            <a:endParaRPr lang="en-US" altLang="zh-CN" sz="2400" b="1" kern="100" dirty="0">
              <a:solidFill>
                <a:srgbClr val="014B88"/>
              </a:solidFill>
              <a:latin typeface="仿宋_GB2312"/>
              <a:cs typeface="Times New Roman" panose="02020603050405020304" pitchFamily="18" charset="0"/>
            </a:endParaRPr>
          </a:p>
          <a:p>
            <a:pPr marL="0" indent="0" eaLnBrk="1" hangingPunct="1">
              <a:buNone/>
              <a:defRPr/>
            </a:pPr>
            <a:r>
              <a:rPr lang="en-US" altLang="zh-CN" dirty="0"/>
              <a:t>                                     OUTPUT</a:t>
            </a:r>
            <a:endParaRPr lang="en-US" altLang="zh-CN" dirty="0"/>
          </a:p>
          <a:p>
            <a:pPr eaLnBrk="1" hangingPunct="1">
              <a:defRPr/>
            </a:pPr>
            <a:endParaRPr lang="en-US" altLang="zh-CN" dirty="0"/>
          </a:p>
          <a:p>
            <a:pPr marL="0" indent="0">
              <a:buNone/>
              <a:defRPr/>
            </a:pPr>
            <a:r>
              <a:rPr lang="en-US" altLang="zh-CN" dirty="0"/>
              <a:t>                                                   </a:t>
            </a:r>
            <a:endParaRPr lang="en-US" altLang="zh-CN" dirty="0"/>
          </a:p>
          <a:p>
            <a:pPr eaLnBrk="1" hangingPunct="1">
              <a:defRPr/>
            </a:pPr>
            <a:endParaRPr lang="zh-CN" altLang="en-US" dirty="0"/>
          </a:p>
        </p:txBody>
      </p:sp>
      <p:pic>
        <p:nvPicPr>
          <p:cNvPr id="16388" name="Picture 2"/>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6292619" y="2193923"/>
            <a:ext cx="1562100" cy="197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8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07851" y="2205038"/>
            <a:ext cx="1562100" cy="197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90" name="矩形 5"/>
          <p:cNvSpPr>
            <a:spLocks noChangeArrowheads="1"/>
          </p:cNvSpPr>
          <p:nvPr/>
        </p:nvSpPr>
        <p:spPr bwMode="auto">
          <a:xfrm>
            <a:off x="717550" y="2232026"/>
            <a:ext cx="1728787" cy="3889375"/>
          </a:xfrm>
          <a:prstGeom prst="rect">
            <a:avLst/>
          </a:prstGeom>
          <a:solidFill>
            <a:schemeClr val="accent1"/>
          </a:solidFill>
          <a:ln w="9525"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en-US" altLang="zh-CN" i="0" dirty="0"/>
              <a:t>INPUT</a:t>
            </a:r>
            <a:endParaRPr lang="en-US" altLang="zh-CN" i="0" dirty="0"/>
          </a:p>
          <a:p>
            <a:pPr eaLnBrk="1" hangingPunct="1"/>
            <a:r>
              <a:rPr lang="en-US" altLang="zh-CN" i="0" dirty="0"/>
              <a:t>9 10 </a:t>
            </a:r>
            <a:endParaRPr lang="en-US" altLang="zh-CN" i="0" dirty="0"/>
          </a:p>
          <a:p>
            <a:pPr eaLnBrk="1" hangingPunct="1"/>
            <a:r>
              <a:rPr lang="en-US" altLang="zh-CN" i="0" dirty="0"/>
              <a:t>1 5 </a:t>
            </a:r>
            <a:endParaRPr lang="en-US" altLang="zh-CN" i="0" dirty="0"/>
          </a:p>
          <a:p>
            <a:pPr eaLnBrk="1" hangingPunct="1"/>
            <a:r>
              <a:rPr lang="en-US" altLang="zh-CN" i="0" dirty="0"/>
              <a:t>1 7</a:t>
            </a:r>
            <a:endParaRPr lang="en-US" altLang="zh-CN" i="0" dirty="0"/>
          </a:p>
          <a:p>
            <a:pPr eaLnBrk="1" hangingPunct="1"/>
            <a:r>
              <a:rPr lang="en-US" altLang="zh-CN" i="0" dirty="0"/>
              <a:t>2 3 </a:t>
            </a:r>
            <a:endParaRPr lang="en-US" altLang="zh-CN" i="0" dirty="0"/>
          </a:p>
          <a:p>
            <a:pPr eaLnBrk="1" hangingPunct="1"/>
            <a:r>
              <a:rPr lang="en-US" altLang="zh-CN" i="0" dirty="0"/>
              <a:t>2 5 </a:t>
            </a:r>
            <a:endParaRPr lang="en-US" altLang="zh-CN" i="0" dirty="0"/>
          </a:p>
          <a:p>
            <a:pPr eaLnBrk="1" hangingPunct="1"/>
            <a:r>
              <a:rPr lang="en-US" altLang="zh-CN" i="0" dirty="0"/>
              <a:t>4 8 </a:t>
            </a:r>
            <a:endParaRPr lang="en-US" altLang="zh-CN" i="0" dirty="0"/>
          </a:p>
          <a:p>
            <a:pPr eaLnBrk="1" hangingPunct="1"/>
            <a:r>
              <a:rPr lang="en-US" altLang="zh-CN" i="0" dirty="0"/>
              <a:t>5 2 </a:t>
            </a:r>
            <a:endParaRPr lang="en-US" altLang="zh-CN" i="0" dirty="0"/>
          </a:p>
          <a:p>
            <a:pPr eaLnBrk="1" hangingPunct="1"/>
            <a:r>
              <a:rPr lang="en-US" altLang="zh-CN" i="0" dirty="0"/>
              <a:t>7 7 </a:t>
            </a:r>
            <a:endParaRPr lang="en-US" altLang="zh-CN" i="0" dirty="0"/>
          </a:p>
          <a:p>
            <a:pPr eaLnBrk="1" hangingPunct="1"/>
            <a:r>
              <a:rPr lang="en-US" altLang="zh-CN" i="0" dirty="0"/>
              <a:t>7 9 </a:t>
            </a:r>
            <a:endParaRPr lang="en-US" altLang="zh-CN" i="0" dirty="0"/>
          </a:p>
          <a:p>
            <a:pPr eaLnBrk="1" hangingPunct="1"/>
            <a:r>
              <a:rPr lang="en-US" altLang="zh-CN" i="0" dirty="0"/>
              <a:t>8 6 </a:t>
            </a:r>
            <a:endParaRPr lang="en-US" altLang="zh-CN" i="0" dirty="0"/>
          </a:p>
          <a:p>
            <a:pPr eaLnBrk="1" hangingPunct="1"/>
            <a:r>
              <a:rPr lang="en-US" altLang="zh-CN" i="0" dirty="0"/>
              <a:t>9 2</a:t>
            </a:r>
            <a:endParaRPr lang="en-US" altLang="zh-CN" i="0" dirty="0"/>
          </a:p>
          <a:p>
            <a:pPr eaLnBrk="1" hangingPunct="1"/>
            <a:r>
              <a:rPr lang="en-US" altLang="zh-CN" i="0" dirty="0"/>
              <a:t> </a:t>
            </a:r>
            <a:endParaRPr lang="en-US" altLang="zh-CN" i="0" dirty="0"/>
          </a:p>
          <a:p>
            <a:pPr eaLnBrk="1" hangingPunct="1"/>
            <a:r>
              <a:rPr lang="en-US" altLang="zh-CN" i="0" dirty="0"/>
              <a:t>5 5</a:t>
            </a:r>
            <a:endParaRPr lang="zh-CN" altLang="en-US" i="0" dirty="0"/>
          </a:p>
        </p:txBody>
      </p:sp>
      <p:pic>
        <p:nvPicPr>
          <p:cNvPr id="1639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5005" y="2918870"/>
            <a:ext cx="1887537" cy="280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Mine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内容占位符 2"/>
          <p:cNvSpPr>
            <a:spLocks noGrp="1"/>
          </p:cNvSpPr>
          <p:nvPr>
            <p:ph idx="4294967295"/>
          </p:nvPr>
        </p:nvSpPr>
        <p:spPr>
          <a:xfrm>
            <a:off x="541538" y="1253331"/>
            <a:ext cx="10515600" cy="4351337"/>
          </a:xfrm>
        </p:spPr>
        <p:txBody>
          <a:bodyPr>
            <a:noAutofit/>
          </a:bodyPr>
          <a:lstStyle/>
          <a:p>
            <a:pPr>
              <a:lnSpc>
                <a:spcPct val="150000"/>
              </a:lnSpc>
              <a:defRPr/>
            </a:pPr>
            <a:r>
              <a:rPr lang="zh-CN" altLang="en-US" sz="2400" b="1" kern="100" dirty="0">
                <a:solidFill>
                  <a:srgbClr val="014B88"/>
                </a:solidFill>
                <a:latin typeface="仿宋_GB2312"/>
                <a:cs typeface="Times New Roman" panose="02020603050405020304" pitchFamily="18" charset="0"/>
              </a:rPr>
              <a:t>问题描述：对一个数 </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，可以进行如下操作：</a:t>
            </a:r>
            <a:r>
              <a:rPr lang="en-US" altLang="zh-CN" sz="2400" b="1" kern="100" dirty="0">
                <a:solidFill>
                  <a:srgbClr val="014B88"/>
                </a:solidFill>
                <a:latin typeface="仿宋_GB2312"/>
                <a:cs typeface="Times New Roman" panose="02020603050405020304" pitchFamily="18" charset="0"/>
              </a:rPr>
              <a:t>X+1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X-1 </a:t>
            </a:r>
            <a:r>
              <a:rPr lang="zh-CN" altLang="en-US" sz="2400" b="1" kern="100" dirty="0">
                <a:solidFill>
                  <a:srgbClr val="014B88"/>
                </a:solidFill>
                <a:latin typeface="仿宋_GB2312"/>
                <a:cs typeface="Times New Roman" panose="02020603050405020304" pitchFamily="18" charset="0"/>
              </a:rPr>
              <a:t>和 </a:t>
            </a:r>
            <a:r>
              <a:rPr lang="en-US" altLang="zh-CN" sz="2400" b="1" kern="100" dirty="0">
                <a:solidFill>
                  <a:srgbClr val="014B88"/>
                </a:solidFill>
                <a:latin typeface="仿宋_GB2312"/>
                <a:cs typeface="Times New Roman" panose="02020603050405020304" pitchFamily="18" charset="0"/>
              </a:rPr>
              <a:t>2</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，给两个数</a:t>
            </a:r>
            <a:r>
              <a:rPr lang="en-US" altLang="zh-CN" sz="2400" b="1" kern="100" dirty="0">
                <a:solidFill>
                  <a:srgbClr val="014B88"/>
                </a:solidFill>
                <a:latin typeface="仿宋_GB2312"/>
                <a:cs typeface="Times New Roman" panose="02020603050405020304" pitchFamily="18" charset="0"/>
              </a:rPr>
              <a:t> N</a:t>
            </a:r>
            <a:r>
              <a:rPr lang="zh-CN" altLang="en-US" sz="2400" b="1" kern="100" dirty="0">
                <a:solidFill>
                  <a:srgbClr val="014B88"/>
                </a:solidFill>
                <a:latin typeface="仿宋_GB2312"/>
                <a:cs typeface="Times New Roman" panose="02020603050405020304" pitchFamily="18" charset="0"/>
              </a:rPr>
              <a:t>和</a:t>
            </a:r>
            <a:r>
              <a:rPr lang="en-US" altLang="zh-CN" sz="2400" b="1" kern="100" dirty="0">
                <a:solidFill>
                  <a:srgbClr val="014B88"/>
                </a:solidFill>
                <a:latin typeface="仿宋_GB2312"/>
                <a:cs typeface="Times New Roman" panose="02020603050405020304" pitchFamily="18" charset="0"/>
              </a:rPr>
              <a:t> K</a:t>
            </a:r>
            <a:r>
              <a:rPr lang="zh-CN" altLang="en-US" sz="2400" b="1" kern="100" dirty="0">
                <a:solidFill>
                  <a:srgbClr val="014B88"/>
                </a:solidFill>
                <a:latin typeface="仿宋_GB2312"/>
                <a:cs typeface="Times New Roman" panose="02020603050405020304" pitchFamily="18" charset="0"/>
              </a:rPr>
              <a:t>，问从</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到</a:t>
            </a:r>
            <a:r>
              <a:rPr lang="en-US" altLang="zh-CN" sz="2400" b="1" kern="100" dirty="0">
                <a:solidFill>
                  <a:srgbClr val="014B88"/>
                </a:solidFill>
                <a:latin typeface="仿宋_GB2312"/>
                <a:cs typeface="Times New Roman" panose="02020603050405020304" pitchFamily="18" charset="0"/>
              </a:rPr>
              <a:t>K</a:t>
            </a:r>
            <a:r>
              <a:rPr lang="zh-CN" altLang="en-US" sz="2400" b="1" kern="100" dirty="0">
                <a:solidFill>
                  <a:srgbClr val="014B88"/>
                </a:solidFill>
                <a:latin typeface="仿宋_GB2312"/>
                <a:cs typeface="Times New Roman" panose="02020603050405020304" pitchFamily="18" charset="0"/>
              </a:rPr>
              <a:t>最少需要几步？ 如</a:t>
            </a:r>
            <a:r>
              <a:rPr lang="en-US" altLang="zh-CN" sz="2400" b="1" kern="100" dirty="0">
                <a:solidFill>
                  <a:srgbClr val="014B88"/>
                </a:solidFill>
                <a:latin typeface="仿宋_GB2312"/>
                <a:cs typeface="Times New Roman" panose="02020603050405020304" pitchFamily="18" charset="0"/>
              </a:rPr>
              <a:t>  N=5 K= 17</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怎样进行</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，状态怎么表示，怎样转移？</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状态：中间计算值</a:t>
            </a:r>
            <a:r>
              <a:rPr lang="en-US" altLang="zh-CN" sz="2400" b="1" kern="100" dirty="0">
                <a:solidFill>
                  <a:srgbClr val="014B88"/>
                </a:solidFill>
                <a:latin typeface="仿宋_GB2312"/>
                <a:cs typeface="Times New Roman" panose="02020603050405020304" pitchFamily="18" charset="0"/>
              </a:rPr>
              <a:t>T</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初始状态：</a:t>
            </a:r>
            <a:r>
              <a:rPr lang="en-US" altLang="zh-CN" sz="2400" b="1" kern="100" dirty="0">
                <a:solidFill>
                  <a:srgbClr val="014B88"/>
                </a:solidFill>
                <a:latin typeface="仿宋_GB2312"/>
                <a:cs typeface="Times New Roman" panose="02020603050405020304" pitchFamily="18" charset="0"/>
              </a:rPr>
              <a:t>N</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目标状态：</a:t>
            </a:r>
            <a:r>
              <a:rPr lang="en-US" altLang="zh-CN" sz="2400" b="1" kern="100" dirty="0">
                <a:solidFill>
                  <a:srgbClr val="014B88"/>
                </a:solidFill>
                <a:latin typeface="仿宋_GB2312"/>
                <a:cs typeface="Times New Roman" panose="02020603050405020304" pitchFamily="18" charset="0"/>
              </a:rPr>
              <a:t>K</a:t>
            </a:r>
            <a:endParaRPr lang="en-US" altLang="zh-CN" sz="2400" b="1" kern="100" dirty="0">
              <a:solidFill>
                <a:srgbClr val="014B88"/>
              </a:solidFill>
              <a:latin typeface="仿宋_GB2312"/>
              <a:cs typeface="Times New Roman" panose="02020603050405020304" pitchFamily="18" charset="0"/>
            </a:endParaRPr>
          </a:p>
          <a:p>
            <a:pPr>
              <a:lnSpc>
                <a:spcPct val="150000"/>
              </a:lnSpc>
              <a:defRPr/>
            </a:pPr>
            <a:r>
              <a:rPr lang="zh-CN" altLang="en-US" sz="2400" b="1" kern="100" dirty="0">
                <a:solidFill>
                  <a:srgbClr val="014B88"/>
                </a:solidFill>
                <a:latin typeface="仿宋_GB2312"/>
                <a:cs typeface="Times New Roman" panose="02020603050405020304" pitchFamily="18" charset="0"/>
              </a:rPr>
              <a:t>转移：</a:t>
            </a:r>
            <a:r>
              <a:rPr lang="en-US" altLang="zh-CN" sz="2400" b="1" kern="100" dirty="0">
                <a:solidFill>
                  <a:srgbClr val="014B88"/>
                </a:solidFill>
                <a:latin typeface="仿宋_GB2312"/>
                <a:cs typeface="Times New Roman" panose="02020603050405020304" pitchFamily="18" charset="0"/>
              </a:rPr>
              <a:t>T+1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T-1, 2</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T</a:t>
            </a:r>
            <a:endParaRPr lang="en-US" altLang="zh-CN" sz="2400" b="1" kern="100" dirty="0">
              <a:solidFill>
                <a:srgbClr val="014B88"/>
              </a:solidFill>
              <a:latin typeface="仿宋_GB2312"/>
              <a:cs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Catch that cow</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411">
                                            <p:txEl>
                                              <p:pRg st="3" end="3"/>
                                            </p:txEl>
                                          </p:spTgt>
                                        </p:tgtEl>
                                        <p:attrNameLst>
                                          <p:attrName>style.visibility</p:attrName>
                                        </p:attrNameLst>
                                      </p:cBhvr>
                                      <p:to>
                                        <p:strVal val="visible"/>
                                      </p:to>
                                    </p:set>
                                    <p:animEffect transition="in" filter="fade">
                                      <p:cBhvr>
                                        <p:cTn id="7" dur="500"/>
                                        <p:tgtEl>
                                          <p:spTgt spid="17411">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7411">
                                            <p:txEl>
                                              <p:pRg st="4" end="4"/>
                                            </p:txEl>
                                          </p:spTgt>
                                        </p:tgtEl>
                                        <p:attrNameLst>
                                          <p:attrName>style.visibility</p:attrName>
                                        </p:attrNameLst>
                                      </p:cBhvr>
                                      <p:to>
                                        <p:strVal val="visible"/>
                                      </p:to>
                                    </p:set>
                                    <p:animEffect transition="in" filter="fade">
                                      <p:cBhvr>
                                        <p:cTn id="10" dur="500"/>
                                        <p:tgtEl>
                                          <p:spTgt spid="17411">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7411">
                                            <p:txEl>
                                              <p:pRg st="5" end="5"/>
                                            </p:txEl>
                                          </p:spTgt>
                                        </p:tgtEl>
                                        <p:attrNameLst>
                                          <p:attrName>style.visibility</p:attrName>
                                        </p:attrNameLst>
                                      </p:cBhvr>
                                      <p:to>
                                        <p:strVal val="visible"/>
                                      </p:to>
                                    </p:set>
                                    <p:animEffect transition="in" filter="fade">
                                      <p:cBhvr>
                                        <p:cTn id="13" dur="500"/>
                                        <p:tgtEl>
                                          <p:spTgt spid="17411">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17411">
                                            <p:txEl>
                                              <p:pRg st="6" end="6"/>
                                            </p:txEl>
                                          </p:spTgt>
                                        </p:tgtEl>
                                        <p:attrNameLst>
                                          <p:attrName>style.visibility</p:attrName>
                                        </p:attrNameLst>
                                      </p:cBhvr>
                                      <p:to>
                                        <p:strVal val="visible"/>
                                      </p:to>
                                    </p:set>
                                    <p:anim calcmode="lin" valueType="num">
                                      <p:cBhvr additive="base">
                                        <p:cTn id="18" dur="500" fill="hold"/>
                                        <p:tgtEl>
                                          <p:spTgt spid="17411">
                                            <p:txEl>
                                              <p:pRg st="6" end="6"/>
                                            </p:txEl>
                                          </p:spTgt>
                                        </p:tgtEl>
                                        <p:attrNameLst>
                                          <p:attrName>ppt_x</p:attrName>
                                        </p:attrNameLst>
                                      </p:cBhvr>
                                      <p:tavLst>
                                        <p:tav tm="0">
                                          <p:val>
                                            <p:strVal val="#ppt_x"/>
                                          </p:val>
                                        </p:tav>
                                        <p:tav tm="100000">
                                          <p:val>
                                            <p:strVal val="#ppt_x"/>
                                          </p:val>
                                        </p:tav>
                                      </p:tavLst>
                                    </p:anim>
                                    <p:anim calcmode="lin" valueType="num">
                                      <p:cBhvr additive="base">
                                        <p:cTn id="19" dur="500" fill="hold"/>
                                        <p:tgtEl>
                                          <p:spTgt spid="17411">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内容占位符 2"/>
          <p:cNvSpPr>
            <a:spLocks noGrp="1"/>
          </p:cNvSpPr>
          <p:nvPr>
            <p:ph idx="4294967295"/>
          </p:nvPr>
        </p:nvSpPr>
        <p:spPr>
          <a:xfrm>
            <a:off x="532660" y="1253331"/>
            <a:ext cx="10515600" cy="4351337"/>
          </a:xfrm>
        </p:spPr>
        <p:txBody>
          <a:bodyPr/>
          <a:lstStyle/>
          <a:p>
            <a:pPr eaLnBrk="1" hangingPunct="1">
              <a:lnSpc>
                <a:spcPct val="150000"/>
              </a:lnSpc>
            </a:pPr>
            <a:r>
              <a:rPr lang="zh-CN" altLang="en-US" sz="2400" b="1" kern="100" dirty="0">
                <a:solidFill>
                  <a:srgbClr val="014B88"/>
                </a:solidFill>
                <a:latin typeface="仿宋_GB2312"/>
                <a:cs typeface="Times New Roman" panose="02020603050405020304" pitchFamily="18" charset="0"/>
              </a:rPr>
              <a:t>问题描述：一个</a:t>
            </a:r>
            <a:r>
              <a:rPr lang="en-US" altLang="zh-CN" sz="2400" b="1" kern="100" dirty="0">
                <a:solidFill>
                  <a:srgbClr val="014B88"/>
                </a:solidFill>
                <a:latin typeface="仿宋_GB2312"/>
                <a:cs typeface="Times New Roman" panose="02020603050405020304" pitchFamily="18" charset="0"/>
              </a:rPr>
              <a:t>4×4</a:t>
            </a:r>
            <a:r>
              <a:rPr lang="zh-CN" altLang="en-US" sz="2400" b="1" kern="100" dirty="0">
                <a:solidFill>
                  <a:srgbClr val="014B88"/>
                </a:solidFill>
                <a:latin typeface="仿宋_GB2312"/>
                <a:cs typeface="Times New Roman" panose="02020603050405020304" pitchFamily="18" charset="0"/>
              </a:rPr>
              <a:t>的棋盘，上面有黑子白子，每次可以选择一个子将该子与该子周围的所有子翻面（黑变白，白变黑），给出初始状态，问最少多少步可以将所有的子全部变为同一种颜色？</a:t>
            </a:r>
            <a:endParaRPr lang="zh-CN" altLang="en-US" sz="2400" b="1" kern="100" dirty="0">
              <a:solidFill>
                <a:srgbClr val="014B88"/>
              </a:solidFill>
              <a:latin typeface="仿宋_GB2312"/>
              <a:cs typeface="Times New Roman" panose="02020603050405020304" pitchFamily="18" charset="0"/>
            </a:endParaRPr>
          </a:p>
        </p:txBody>
      </p:sp>
      <p:pic>
        <p:nvPicPr>
          <p:cNvPr id="18436" name="Picture 2"/>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124076" y="3506849"/>
            <a:ext cx="3048000" cy="270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437" name="矩形 3"/>
          <p:cNvSpPr>
            <a:spLocks noChangeArrowheads="1"/>
          </p:cNvSpPr>
          <p:nvPr/>
        </p:nvSpPr>
        <p:spPr bwMode="auto">
          <a:xfrm>
            <a:off x="7030668" y="3506849"/>
            <a:ext cx="2159000" cy="2792412"/>
          </a:xfrm>
          <a:prstGeom prst="rect">
            <a:avLst/>
          </a:prstGeom>
          <a:solidFill>
            <a:schemeClr val="accent1"/>
          </a:solidFill>
          <a:ln w="9525"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zh-CN" altLang="en-US" i="0" dirty="0"/>
              <a:t>输入：</a:t>
            </a:r>
            <a:endParaRPr lang="en-US" altLang="zh-CN" i="0" dirty="0"/>
          </a:p>
          <a:p>
            <a:pPr eaLnBrk="1" hangingPunct="1"/>
            <a:endParaRPr lang="en-US" altLang="zh-CN" i="0" dirty="0"/>
          </a:p>
          <a:p>
            <a:pPr eaLnBrk="1" hangingPunct="1"/>
            <a:r>
              <a:rPr lang="en-US" altLang="zh-CN" i="0" dirty="0" err="1"/>
              <a:t>bwwb</a:t>
            </a:r>
            <a:r>
              <a:rPr lang="en-US" altLang="zh-CN" i="0" dirty="0"/>
              <a:t> </a:t>
            </a:r>
            <a:endParaRPr lang="en-US" altLang="zh-CN" i="0" dirty="0"/>
          </a:p>
          <a:p>
            <a:pPr eaLnBrk="1" hangingPunct="1"/>
            <a:r>
              <a:rPr lang="en-US" altLang="zh-CN" i="0" dirty="0" err="1"/>
              <a:t>bbwb</a:t>
            </a:r>
            <a:r>
              <a:rPr lang="en-US" altLang="zh-CN" i="0" dirty="0"/>
              <a:t> </a:t>
            </a:r>
            <a:endParaRPr lang="en-US" altLang="zh-CN" i="0" dirty="0"/>
          </a:p>
          <a:p>
            <a:pPr eaLnBrk="1" hangingPunct="1"/>
            <a:r>
              <a:rPr lang="en-US" altLang="zh-CN" i="0" dirty="0" err="1"/>
              <a:t>bwwb</a:t>
            </a:r>
            <a:r>
              <a:rPr lang="en-US" altLang="zh-CN" i="0" dirty="0"/>
              <a:t> </a:t>
            </a:r>
            <a:endParaRPr lang="en-US" altLang="zh-CN" i="0" dirty="0"/>
          </a:p>
          <a:p>
            <a:pPr eaLnBrk="1" hangingPunct="1"/>
            <a:r>
              <a:rPr lang="en-US" altLang="zh-CN" i="0" dirty="0" err="1"/>
              <a:t>bwww</a:t>
            </a:r>
            <a:endParaRPr lang="en-US" altLang="zh-CN" i="0" dirty="0"/>
          </a:p>
          <a:p>
            <a:pPr eaLnBrk="1" hangingPunct="1"/>
            <a:endParaRPr lang="en-US" altLang="zh-CN" i="0" dirty="0"/>
          </a:p>
          <a:p>
            <a:pPr eaLnBrk="1" hangingPunct="1"/>
            <a:r>
              <a:rPr lang="zh-CN" altLang="en-US" i="0" dirty="0"/>
              <a:t>输出</a:t>
            </a:r>
            <a:endParaRPr lang="en-US" altLang="zh-CN" i="0" dirty="0"/>
          </a:p>
          <a:p>
            <a:pPr eaLnBrk="1" hangingPunct="1"/>
            <a:endParaRPr lang="en-US" altLang="zh-CN" i="0" dirty="0"/>
          </a:p>
          <a:p>
            <a:pPr eaLnBrk="1" hangingPunct="1"/>
            <a:r>
              <a:rPr lang="en-US" altLang="zh-CN" i="0" dirty="0"/>
              <a:t>4</a:t>
            </a:r>
            <a:endParaRPr lang="zh-CN" altLang="en-US" i="0" dirty="0"/>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Flip Game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68171" y="1529557"/>
            <a:ext cx="10515600" cy="4351337"/>
          </a:xfrm>
        </p:spPr>
        <p:txBody>
          <a:bodyPr>
            <a:normAutofit lnSpcReduction="10000"/>
          </a:bodyPr>
          <a:lstStyle/>
          <a:p>
            <a:pPr eaLnBrk="1" hangingPunct="1">
              <a:lnSpc>
                <a:spcPct val="150000"/>
              </a:lnSpc>
              <a:defRPr/>
            </a:pPr>
            <a:r>
              <a:rPr lang="en-US" altLang="zh-CN" sz="2400" b="1" kern="100" dirty="0">
                <a:solidFill>
                  <a:srgbClr val="014B88"/>
                </a:solidFill>
                <a:latin typeface="仿宋_GB2312"/>
                <a:cs typeface="Times New Roman" panose="02020603050405020304" pitchFamily="18" charset="0"/>
              </a:rPr>
              <a:t>BFS</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状态怎么表示？</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en-US" altLang="zh-CN" sz="2400" b="1" kern="100" dirty="0">
                <a:solidFill>
                  <a:srgbClr val="014B88"/>
                </a:solidFill>
                <a:latin typeface="仿宋_GB2312"/>
                <a:cs typeface="Times New Roman" panose="02020603050405020304" pitchFamily="18" charset="0"/>
              </a:rPr>
              <a:t>16</a:t>
            </a:r>
            <a:r>
              <a:rPr lang="zh-CN" altLang="en-US" sz="2400" b="1" kern="100" dirty="0">
                <a:solidFill>
                  <a:srgbClr val="014B88"/>
                </a:solidFill>
                <a:latin typeface="仿宋_GB2312"/>
                <a:cs typeface="Times New Roman" panose="02020603050405020304" pitchFamily="18" charset="0"/>
              </a:rPr>
              <a:t>个子的棋盘上面只有黑白两种子</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使用二进制表示棋盘，白子为 </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，黑子为 </a:t>
            </a: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，则该棋盘可以表示为（</a:t>
            </a:r>
            <a:r>
              <a:rPr lang="en-US" altLang="zh-CN" sz="2400" b="1" kern="100" dirty="0">
                <a:solidFill>
                  <a:srgbClr val="014B88"/>
                </a:solidFill>
                <a:latin typeface="仿宋_GB2312"/>
                <a:cs typeface="Times New Roman" panose="02020603050405020304" pitchFamily="18" charset="0"/>
              </a:rPr>
              <a:t>1010    0000    1101    1001</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rPr>
              <a:t>B  </a:t>
            </a:r>
            <a:r>
              <a:rPr lang="zh-CN" altLang="en-US" sz="2400" b="1" kern="100" dirty="0">
                <a:solidFill>
                  <a:srgbClr val="014B88"/>
                </a:solidFill>
                <a:latin typeface="仿宋_GB2312"/>
                <a:cs typeface="Times New Roman" panose="02020603050405020304" pitchFamily="18" charset="0"/>
              </a:rPr>
              <a:t>即 </a:t>
            </a:r>
            <a:r>
              <a:rPr lang="en-US" altLang="zh-CN" sz="2400" b="1" kern="100" dirty="0">
                <a:solidFill>
                  <a:srgbClr val="014B88"/>
                </a:solidFill>
                <a:latin typeface="仿宋_GB2312"/>
                <a:cs typeface="Times New Roman" panose="02020603050405020304" pitchFamily="18" charset="0"/>
              </a:rPr>
              <a:t>41177 D</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初始状态：输入</a:t>
            </a:r>
            <a:endParaRPr lang="en-US" altLang="zh-CN" sz="2400" b="1" kern="100" dirty="0">
              <a:solidFill>
                <a:srgbClr val="014B88"/>
              </a:solidFill>
              <a:latin typeface="仿宋_GB2312"/>
              <a:cs typeface="Times New Roman" panose="02020603050405020304" pitchFamily="18" charset="0"/>
            </a:endParaRPr>
          </a:p>
          <a:p>
            <a:pPr eaLnBrk="1" hangingPunct="1">
              <a:lnSpc>
                <a:spcPct val="150000"/>
              </a:lnSpc>
              <a:defRPr/>
            </a:pPr>
            <a:r>
              <a:rPr lang="zh-CN" altLang="en-US" sz="2400" b="1" kern="100" dirty="0">
                <a:solidFill>
                  <a:srgbClr val="014B88"/>
                </a:solidFill>
                <a:latin typeface="仿宋_GB2312"/>
                <a:cs typeface="Times New Roman" panose="02020603050405020304" pitchFamily="18" charset="0"/>
              </a:rPr>
              <a:t>目标状态：</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或者</a:t>
            </a:r>
            <a:r>
              <a:rPr lang="en-US" altLang="zh-CN" sz="2400" b="1" kern="100" dirty="0">
                <a:solidFill>
                  <a:srgbClr val="014B88"/>
                </a:solidFill>
                <a:latin typeface="仿宋_GB2312"/>
                <a:cs typeface="Times New Roman" panose="02020603050405020304" pitchFamily="18" charset="0"/>
              </a:rPr>
              <a:t>2^16-1</a:t>
            </a:r>
            <a:endParaRPr lang="en-US" altLang="zh-CN" sz="2400" b="1" kern="100" dirty="0">
              <a:solidFill>
                <a:srgbClr val="014B88"/>
              </a:solidFill>
              <a:latin typeface="仿宋_GB2312"/>
              <a:cs typeface="Times New Roman" panose="02020603050405020304" pitchFamily="18" charset="0"/>
            </a:endParaRPr>
          </a:p>
          <a:p>
            <a:pPr marL="0" indent="0">
              <a:buNone/>
              <a:defRPr/>
            </a:pPr>
            <a:endParaRPr lang="en-US" altLang="zh-CN" dirty="0"/>
          </a:p>
          <a:p>
            <a:pPr eaLnBrk="1" hangingPunct="1">
              <a:defRPr/>
            </a:pPr>
            <a:endParaRPr lang="zh-CN" altLang="en-US" dirty="0"/>
          </a:p>
        </p:txBody>
      </p:sp>
      <p:pic>
        <p:nvPicPr>
          <p:cNvPr id="19460"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040689" y="620714"/>
            <a:ext cx="2016125" cy="1817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Flip Game</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fade">
                                      <p:cBhvr>
                                        <p:cTn id="7" dur="500"/>
                                        <p:tgtEl>
                                          <p:spTgt spid="3">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3" end="3"/>
                                            </p:txEl>
                                          </p:spTgt>
                                        </p:tgtEl>
                                        <p:attrNameLst>
                                          <p:attrName>style.visibility</p:attrName>
                                        </p:attrNameLst>
                                      </p:cBhvr>
                                      <p:to>
                                        <p:strVal val="visible"/>
                                      </p:to>
                                    </p:set>
                                    <p:animEffect transition="in" filter="fade">
                                      <p:cBhvr>
                                        <p:cTn id="10" dur="500"/>
                                        <p:tgtEl>
                                          <p:spTgt spid="3">
                                            <p:txEl>
                                              <p:pRg st="3" end="3"/>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Effect transition="in" filter="fade">
                                      <p:cBhvr>
                                        <p:cTn id="13" dur="500"/>
                                        <p:tgtEl>
                                          <p:spTgt spid="3">
                                            <p:txEl>
                                              <p:pRg st="4" end="4"/>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fade">
                                      <p:cBhvr>
                                        <p:cTn id="16"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1" name="内容占位符 2"/>
          <p:cNvSpPr>
            <a:spLocks noGrp="1"/>
          </p:cNvSpPr>
          <p:nvPr>
            <p:ph idx="4294967295"/>
          </p:nvPr>
        </p:nvSpPr>
        <p:spPr>
          <a:xfrm>
            <a:off x="507520" y="1113870"/>
            <a:ext cx="11299781" cy="4498975"/>
          </a:xfrm>
        </p:spPr>
        <p:txBody>
          <a:bodyPr vert="horz" wrap="square" lIns="91440" tIns="45720" rIns="91440" bIns="45720" numCol="1" rtlCol="0" anchor="t" anchorCtr="0" compatLnSpc="1">
            <a:normAutofit/>
          </a:bodyPr>
          <a:lstStyle/>
          <a:p>
            <a:pPr marL="228600" indent="-228600">
              <a:lnSpc>
                <a:spcPct val="150000"/>
              </a:lnSpc>
              <a:buNone/>
            </a:pPr>
            <a:r>
              <a:rPr lang="en-US" altLang="zh-CN" sz="2400" b="1" kern="100" dirty="0">
                <a:solidFill>
                  <a:srgbClr val="014B88"/>
                </a:solidFill>
                <a:latin typeface="仿宋_GB2312"/>
                <a:cs typeface="Times New Roman" panose="02020603050405020304" pitchFamily="18" charset="0"/>
              </a:rPr>
              <a:t>	</a:t>
            </a:r>
            <a:r>
              <a:rPr lang="zh-CN" altLang="en-US" sz="2400" b="1" kern="100" dirty="0">
                <a:solidFill>
                  <a:srgbClr val="014B88"/>
                </a:solidFill>
                <a:latin typeface="仿宋_GB2312"/>
                <a:cs typeface="Times New Roman" panose="02020603050405020304" pitchFamily="18" charset="0"/>
              </a:rPr>
              <a:t>有一个</a:t>
            </a:r>
            <a:r>
              <a:rPr lang="en-US" altLang="zh-CN" sz="2400" b="1" kern="100" dirty="0">
                <a:solidFill>
                  <a:srgbClr val="014B88"/>
                </a:solidFill>
                <a:latin typeface="仿宋_GB2312"/>
                <a:cs typeface="Times New Roman" panose="02020603050405020304" pitchFamily="18" charset="0"/>
              </a:rPr>
              <a:t>3*3</a:t>
            </a:r>
            <a:r>
              <a:rPr lang="zh-CN" altLang="en-US" sz="2400" b="1" kern="100" dirty="0">
                <a:solidFill>
                  <a:srgbClr val="014B88"/>
                </a:solidFill>
                <a:latin typeface="仿宋_GB2312"/>
                <a:cs typeface="Times New Roman" panose="02020603050405020304" pitchFamily="18" charset="0"/>
              </a:rPr>
              <a:t>的棋盘，其中有</a:t>
            </a:r>
            <a:r>
              <a:rPr lang="en-US" altLang="zh-CN" sz="2400" b="1" kern="100" dirty="0">
                <a:solidFill>
                  <a:srgbClr val="014B88"/>
                </a:solidFill>
                <a:latin typeface="仿宋_GB2312"/>
                <a:cs typeface="Times New Roman" panose="02020603050405020304" pitchFamily="18" charset="0"/>
              </a:rPr>
              <a:t>0-8</a:t>
            </a:r>
            <a:r>
              <a:rPr lang="zh-CN" altLang="en-US" sz="2400" b="1" kern="100" dirty="0">
                <a:solidFill>
                  <a:srgbClr val="014B88"/>
                </a:solidFill>
                <a:latin typeface="仿宋_GB2312"/>
                <a:cs typeface="Times New Roman" panose="02020603050405020304" pitchFamily="18" charset="0"/>
              </a:rPr>
              <a:t>共</a:t>
            </a:r>
            <a:r>
              <a:rPr lang="en-US" altLang="zh-CN" sz="2400" b="1" kern="100" dirty="0">
                <a:solidFill>
                  <a:srgbClr val="014B88"/>
                </a:solidFill>
                <a:latin typeface="仿宋_GB2312"/>
                <a:cs typeface="Times New Roman" panose="02020603050405020304" pitchFamily="18" charset="0"/>
              </a:rPr>
              <a:t>9</a:t>
            </a:r>
            <a:r>
              <a:rPr lang="zh-CN" altLang="en-US" sz="2400" b="1" kern="100" dirty="0">
                <a:solidFill>
                  <a:srgbClr val="014B88"/>
                </a:solidFill>
                <a:latin typeface="仿宋_GB2312"/>
                <a:cs typeface="Times New Roman" panose="02020603050405020304" pitchFamily="18" charset="0"/>
              </a:rPr>
              <a:t>个数字，</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表示空格，其他的数字可以和</a:t>
            </a:r>
            <a:r>
              <a:rPr lang="en-US" altLang="zh-CN" sz="2400" b="1" kern="100" dirty="0">
                <a:solidFill>
                  <a:srgbClr val="014B88"/>
                </a:solidFill>
                <a:latin typeface="仿宋_GB2312"/>
                <a:cs typeface="Times New Roman" panose="02020603050405020304" pitchFamily="18" charset="0"/>
              </a:rPr>
              <a:t>0</a:t>
            </a:r>
            <a:r>
              <a:rPr lang="zh-CN" altLang="en-US" sz="2400" b="1" kern="100" dirty="0">
                <a:solidFill>
                  <a:srgbClr val="014B88"/>
                </a:solidFill>
                <a:latin typeface="仿宋_GB2312"/>
                <a:cs typeface="Times New Roman" panose="02020603050405020304" pitchFamily="18" charset="0"/>
              </a:rPr>
              <a:t>交换位置。求由初始状态到达目标状态的步数最少的解？</a:t>
            </a:r>
            <a:br>
              <a:rPr lang="zh-CN" altLang="en-US" dirty="0">
                <a:effectLst/>
              </a:rPr>
            </a:br>
            <a:r>
              <a:rPr lang="zh-CN" altLang="en-US" dirty="0">
                <a:effectLst/>
              </a:rPr>
              <a:t>　　</a:t>
            </a:r>
            <a:r>
              <a:rPr lang="en-US" altLang="zh-CN" dirty="0">
                <a:effectLst/>
              </a:rPr>
              <a:t>1 2 3</a:t>
            </a:r>
            <a:br>
              <a:rPr lang="en-US" altLang="zh-CN" dirty="0">
                <a:effectLst/>
              </a:rPr>
            </a:br>
            <a:r>
              <a:rPr lang="zh-CN" altLang="en-US" dirty="0">
                <a:effectLst/>
              </a:rPr>
              <a:t>　　</a:t>
            </a:r>
            <a:r>
              <a:rPr lang="en-US" altLang="zh-CN" dirty="0">
                <a:effectLst/>
              </a:rPr>
              <a:t>4 5 6</a:t>
            </a:r>
            <a:br>
              <a:rPr lang="en-US" altLang="zh-CN" dirty="0">
                <a:effectLst/>
              </a:rPr>
            </a:br>
            <a:r>
              <a:rPr lang="zh-CN" altLang="en-US" dirty="0">
                <a:effectLst/>
              </a:rPr>
              <a:t>　　</a:t>
            </a:r>
            <a:r>
              <a:rPr lang="en-US" altLang="zh-CN" dirty="0">
                <a:effectLst/>
              </a:rPr>
              <a:t>7 8 0</a:t>
            </a:r>
            <a:br>
              <a:rPr lang="en-US" altLang="zh-CN" dirty="0">
                <a:effectLst/>
              </a:rPr>
            </a:br>
            <a:endParaRPr lang="en-US" altLang="zh-CN" dirty="0">
              <a:effectLst/>
            </a:endParaRPr>
          </a:p>
        </p:txBody>
      </p:sp>
      <p:grpSp>
        <p:nvGrpSpPr>
          <p:cNvPr id="64515" name="组合 6"/>
          <p:cNvGrpSpPr/>
          <p:nvPr/>
        </p:nvGrpSpPr>
        <p:grpSpPr bwMode="auto">
          <a:xfrm>
            <a:off x="5808664" y="4581526"/>
            <a:ext cx="3406775" cy="1484313"/>
            <a:chOff x="0" y="0"/>
            <a:chExt cx="4543425" cy="1484313"/>
          </a:xfrm>
        </p:grpSpPr>
        <p:pic>
          <p:nvPicPr>
            <p:cNvPr id="64516" name="table"/>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165475" y="20637"/>
              <a:ext cx="1377950" cy="1463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17" name="tab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377950" cy="1463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8" name="Line 40"/>
            <p:cNvSpPr>
              <a:spLocks noChangeShapeType="1"/>
            </p:cNvSpPr>
            <p:nvPr/>
          </p:nvSpPr>
          <p:spPr bwMode="auto">
            <a:xfrm flipV="1">
              <a:off x="1536700" y="758825"/>
              <a:ext cx="1444625" cy="12700"/>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sp>
        <p:nvSpPr>
          <p:cNvPr id="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5" name="Rectangle 3"/>
          <p:cNvSpPr>
            <a:spLocks noGrp="1"/>
          </p:cNvSpPr>
          <p:nvPr>
            <p:ph idx="4294967295"/>
          </p:nvPr>
        </p:nvSpPr>
        <p:spPr>
          <a:xfrm>
            <a:off x="1298667" y="1566631"/>
            <a:ext cx="8540750" cy="4498975"/>
          </a:xfrm>
        </p:spPr>
        <p:txBody>
          <a:bodyPr vert="horz" wrap="square" anchor="t"/>
          <a:lstStyle/>
          <a:p>
            <a:pPr lvl="1" algn="just">
              <a:buFont typeface="Wingdings" panose="05000000000000000000" pitchFamily="2" charset="2"/>
              <a:buNone/>
            </a:pPr>
            <a:r>
              <a:rPr lang="zh-CN" altLang="en-US" noProof="1">
                <a:solidFill>
                  <a:srgbClr val="FF0000"/>
                </a:solidFill>
              </a:rPr>
              <a:t>优先扩展浅层节点</a:t>
            </a:r>
            <a:r>
              <a:rPr lang="zh-CN" altLang="en-US" noProof="1"/>
              <a:t>，逐渐深入</a:t>
            </a:r>
            <a:endParaRPr lang="zh-CN" altLang="en-US" noProof="1"/>
          </a:p>
        </p:txBody>
      </p:sp>
      <p:sp>
        <p:nvSpPr>
          <p:cNvPr id="65539" name="页脚占位符 4"/>
          <p:cNvSpPr txBox="1">
            <a:spLocks noGrp="1" noChangeArrowheads="1"/>
          </p:cNvSpPr>
          <p:nvPr/>
        </p:nvSpPr>
        <p:spPr bwMode="auto">
          <a:xfrm>
            <a:off x="2152650" y="6356351"/>
            <a:ext cx="2057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fld id="{C3685648-F2F6-4775-B8F8-FA007D9BAA37}" type="slidenum">
              <a:rPr lang="zh-CN" altLang="en-US" sz="1200">
                <a:latin typeface="Verdana" panose="020B0604030504040204" pitchFamily="34" charset="0"/>
              </a:rPr>
            </a:fld>
            <a:endParaRPr lang="zh-CN" altLang="en-US" sz="1200">
              <a:latin typeface="Verdana" panose="020B0604030504040204" pitchFamily="34" charset="0"/>
            </a:endParaRPr>
          </a:p>
        </p:txBody>
      </p:sp>
      <p:sp>
        <p:nvSpPr>
          <p:cNvPr id="65540" name="Text Box 4"/>
          <p:cNvSpPr txBox="1">
            <a:spLocks noChangeArrowheads="1"/>
          </p:cNvSpPr>
          <p:nvPr/>
        </p:nvSpPr>
        <p:spPr bwMode="auto">
          <a:xfrm>
            <a:off x="4948099" y="2740381"/>
            <a:ext cx="685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第一层</a:t>
            </a:r>
            <a:endParaRPr lang="zh-CN" altLang="en-US">
              <a:latin typeface="Book Antiqua" panose="02040602050305030304" pitchFamily="18" charset="0"/>
              <a:ea typeface="黑体" panose="02010609060101010101" pitchFamily="49" charset="-122"/>
            </a:endParaRPr>
          </a:p>
        </p:txBody>
      </p:sp>
      <p:sp>
        <p:nvSpPr>
          <p:cNvPr id="65541" name="Text Box 5"/>
          <p:cNvSpPr txBox="1">
            <a:spLocks noChangeArrowheads="1"/>
          </p:cNvSpPr>
          <p:nvPr/>
        </p:nvSpPr>
        <p:spPr bwMode="auto">
          <a:xfrm>
            <a:off x="4441687" y="3680181"/>
            <a:ext cx="685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第二层</a:t>
            </a:r>
            <a:endParaRPr lang="zh-CN" altLang="en-US">
              <a:latin typeface="Book Antiqua" panose="02040602050305030304" pitchFamily="18" charset="0"/>
              <a:ea typeface="黑体" panose="02010609060101010101" pitchFamily="49" charset="-122"/>
            </a:endParaRPr>
          </a:p>
        </p:txBody>
      </p:sp>
      <p:sp>
        <p:nvSpPr>
          <p:cNvPr id="65542" name="Text Box 6"/>
          <p:cNvSpPr txBox="1">
            <a:spLocks noChangeArrowheads="1"/>
          </p:cNvSpPr>
          <p:nvPr/>
        </p:nvSpPr>
        <p:spPr bwMode="auto">
          <a:xfrm>
            <a:off x="3549512" y="4886681"/>
            <a:ext cx="7350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a:latin typeface="Book Antiqua" panose="02040602050305030304" pitchFamily="18" charset="0"/>
                <a:ea typeface="黑体" panose="02010609060101010101" pitchFamily="49" charset="-122"/>
              </a:rPr>
              <a:t>第三层</a:t>
            </a:r>
            <a:endParaRPr lang="zh-CN" altLang="en-US">
              <a:latin typeface="Book Antiqua" panose="02040602050305030304" pitchFamily="18" charset="0"/>
              <a:ea typeface="黑体" panose="02010609060101010101" pitchFamily="49" charset="-122"/>
            </a:endParaRPr>
          </a:p>
        </p:txBody>
      </p:sp>
      <p:graphicFrame>
        <p:nvGraphicFramePr>
          <p:cNvPr id="64520" name="表格 64519"/>
          <p:cNvGraphicFramePr/>
          <p:nvPr/>
        </p:nvGraphicFramePr>
        <p:xfrm>
          <a:off x="5678349" y="2551468"/>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4538" name="表格 64537"/>
          <p:cNvGraphicFramePr/>
          <p:nvPr/>
        </p:nvGraphicFramePr>
        <p:xfrm>
          <a:off x="5222737" y="3545243"/>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4556" name="表格 64555"/>
          <p:cNvGraphicFramePr/>
          <p:nvPr/>
        </p:nvGraphicFramePr>
        <p:xfrm>
          <a:off x="6075224" y="3548418"/>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4574" name="表格 64573"/>
          <p:cNvGraphicFramePr/>
          <p:nvPr/>
        </p:nvGraphicFramePr>
        <p:xfrm>
          <a:off x="6132374" y="4766031"/>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4592" name="表格 64591"/>
          <p:cNvGraphicFramePr/>
          <p:nvPr/>
        </p:nvGraphicFramePr>
        <p:xfrm>
          <a:off x="5221149" y="4764443"/>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4610" name="表格 64609"/>
          <p:cNvGraphicFramePr/>
          <p:nvPr/>
        </p:nvGraphicFramePr>
        <p:xfrm>
          <a:off x="4316274" y="4712055"/>
          <a:ext cx="558492" cy="735012"/>
        </p:xfrm>
        <a:graphic>
          <a:graphicData uri="http://schemas.openxmlformats.org/drawingml/2006/table">
            <a:tbl>
              <a:tblPr/>
              <a:tblGrid>
                <a:gridCol w="186164"/>
                <a:gridCol w="186164"/>
                <a:gridCol w="186164"/>
              </a:tblGrid>
              <a:tr h="246275">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6">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59" marB="45759">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59" marB="45759">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65651" name="Line 115"/>
          <p:cNvSpPr>
            <a:spLocks noChangeShapeType="1"/>
          </p:cNvSpPr>
          <p:nvPr/>
        </p:nvSpPr>
        <p:spPr bwMode="auto">
          <a:xfrm flipH="1">
            <a:off x="5452924" y="3257905"/>
            <a:ext cx="477838" cy="27781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2" name="Line 116"/>
          <p:cNvSpPr>
            <a:spLocks noChangeShapeType="1"/>
          </p:cNvSpPr>
          <p:nvPr/>
        </p:nvSpPr>
        <p:spPr bwMode="auto">
          <a:xfrm>
            <a:off x="5930763" y="3257905"/>
            <a:ext cx="427037" cy="290512"/>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3" name="Line 117"/>
          <p:cNvSpPr>
            <a:spLocks noChangeShapeType="1"/>
          </p:cNvSpPr>
          <p:nvPr/>
        </p:nvSpPr>
        <p:spPr bwMode="auto">
          <a:xfrm flipH="1">
            <a:off x="4638537" y="4224692"/>
            <a:ext cx="825500" cy="47783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4" name="Line 118"/>
          <p:cNvSpPr>
            <a:spLocks noChangeShapeType="1"/>
          </p:cNvSpPr>
          <p:nvPr/>
        </p:nvSpPr>
        <p:spPr bwMode="auto">
          <a:xfrm>
            <a:off x="5443399" y="4224693"/>
            <a:ext cx="0" cy="517525"/>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5" name="Line 119"/>
          <p:cNvSpPr>
            <a:spLocks noChangeShapeType="1"/>
          </p:cNvSpPr>
          <p:nvPr/>
        </p:nvSpPr>
        <p:spPr bwMode="auto">
          <a:xfrm>
            <a:off x="5443399" y="4237392"/>
            <a:ext cx="1004888" cy="515938"/>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56" name="Line 120"/>
          <p:cNvSpPr>
            <a:spLocks noChangeShapeType="1"/>
          </p:cNvSpPr>
          <p:nvPr/>
        </p:nvSpPr>
        <p:spPr bwMode="auto">
          <a:xfrm>
            <a:off x="6327638" y="4237393"/>
            <a:ext cx="1163637" cy="569913"/>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2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Rectangle 3"/>
          <p:cNvSpPr>
            <a:spLocks noGrp="1"/>
          </p:cNvSpPr>
          <p:nvPr>
            <p:ph idx="4294967295"/>
          </p:nvPr>
        </p:nvSpPr>
        <p:spPr>
          <a:xfrm>
            <a:off x="1552267" y="1488282"/>
            <a:ext cx="8540750" cy="4498975"/>
          </a:xfrm>
        </p:spPr>
        <p:txBody>
          <a:bodyPr vert="horz" wrap="square" anchor="t"/>
          <a:lstStyle/>
          <a:p>
            <a:pPr lvl="1" algn="just">
              <a:buFont typeface="Wingdings" panose="05000000000000000000" pitchFamily="2" charset="2"/>
              <a:buNone/>
            </a:pPr>
            <a:r>
              <a:rPr lang="en-US" altLang="zh-CN" noProof="1"/>
              <a:t>	</a:t>
            </a:r>
            <a:r>
              <a:rPr lang="zh-CN" altLang="en-US" noProof="1"/>
              <a:t>用</a:t>
            </a:r>
            <a:r>
              <a:rPr lang="zh-CN" altLang="en-US" noProof="1">
                <a:solidFill>
                  <a:srgbClr val="FF0000"/>
                </a:solidFill>
              </a:rPr>
              <a:t>队列</a:t>
            </a:r>
            <a:r>
              <a:rPr lang="zh-CN" altLang="en-US" noProof="1"/>
              <a:t>保存待扩展的节点，从队首队取出节点，扩展出的新节点放入队尾，直到找到目标节点（问题的解）</a:t>
            </a:r>
            <a:endParaRPr lang="zh-CN" altLang="en-US" noProof="1"/>
          </a:p>
        </p:txBody>
      </p:sp>
      <p:graphicFrame>
        <p:nvGraphicFramePr>
          <p:cNvPr id="65540" name="表格 65539"/>
          <p:cNvGraphicFramePr/>
          <p:nvPr/>
        </p:nvGraphicFramePr>
        <p:xfrm>
          <a:off x="3836988" y="3643314"/>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66581" name="Rectangle 22"/>
          <p:cNvSpPr>
            <a:spLocks noChangeArrowheads="1"/>
          </p:cNvSpPr>
          <p:nvPr/>
        </p:nvSpPr>
        <p:spPr bwMode="auto">
          <a:xfrm>
            <a:off x="3690938" y="3549650"/>
            <a:ext cx="3568700" cy="9144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sz="2800">
              <a:latin typeface="宋体" panose="02010600030101010101" pitchFamily="2" charset="-122"/>
            </a:endParaRPr>
          </a:p>
        </p:txBody>
      </p:sp>
      <p:sp>
        <p:nvSpPr>
          <p:cNvPr id="66582" name="Line 23"/>
          <p:cNvSpPr>
            <a:spLocks noChangeShapeType="1"/>
          </p:cNvSpPr>
          <p:nvPr/>
        </p:nvSpPr>
        <p:spPr bwMode="auto">
          <a:xfrm flipH="1">
            <a:off x="2846389" y="3549650"/>
            <a:ext cx="854075"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83" name="Line 24"/>
          <p:cNvSpPr>
            <a:spLocks noChangeShapeType="1"/>
          </p:cNvSpPr>
          <p:nvPr/>
        </p:nvSpPr>
        <p:spPr bwMode="auto">
          <a:xfrm flipH="1">
            <a:off x="2884489" y="4452938"/>
            <a:ext cx="84613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584" name="Line 25"/>
          <p:cNvSpPr>
            <a:spLocks noChangeShapeType="1"/>
          </p:cNvSpPr>
          <p:nvPr/>
        </p:nvSpPr>
        <p:spPr bwMode="auto">
          <a:xfrm>
            <a:off x="4437063" y="3536950"/>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562" name="表格 65561"/>
          <p:cNvGraphicFramePr/>
          <p:nvPr/>
        </p:nvGraphicFramePr>
        <p:xfrm>
          <a:off x="4548188" y="3651251"/>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66603" name="Line 44"/>
          <p:cNvSpPr>
            <a:spLocks noChangeShapeType="1"/>
          </p:cNvSpPr>
          <p:nvPr/>
        </p:nvSpPr>
        <p:spPr bwMode="auto">
          <a:xfrm>
            <a:off x="5146675" y="3544888"/>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581" name="表格 65580"/>
          <p:cNvGraphicFramePr/>
          <p:nvPr/>
        </p:nvGraphicFramePr>
        <p:xfrm>
          <a:off x="5264150" y="3636964"/>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66622" name="Line 63"/>
          <p:cNvSpPr>
            <a:spLocks noChangeShapeType="1"/>
          </p:cNvSpPr>
          <p:nvPr/>
        </p:nvSpPr>
        <p:spPr bwMode="auto">
          <a:xfrm>
            <a:off x="5862638" y="3530600"/>
            <a:ext cx="0" cy="91440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5600" name="Line 64"/>
          <p:cNvSpPr>
            <a:spLocks noChangeShapeType="1"/>
          </p:cNvSpPr>
          <p:nvPr/>
        </p:nvSpPr>
        <p:spPr bwMode="auto">
          <a:xfrm>
            <a:off x="4078288" y="3059114"/>
            <a:ext cx="0" cy="384175"/>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graphicFrame>
        <p:nvGraphicFramePr>
          <p:cNvPr id="65601" name="表格 65600"/>
          <p:cNvGraphicFramePr/>
          <p:nvPr/>
        </p:nvGraphicFramePr>
        <p:xfrm>
          <a:off x="3309938" y="4886326"/>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graphicFrame>
        <p:nvGraphicFramePr>
          <p:cNvPr id="65619" name="表格 65618"/>
          <p:cNvGraphicFramePr/>
          <p:nvPr/>
        </p:nvGraphicFramePr>
        <p:xfrm>
          <a:off x="4065588" y="4884739"/>
          <a:ext cx="558492" cy="733425"/>
        </p:xfrm>
        <a:graphic>
          <a:graphicData uri="http://schemas.openxmlformats.org/drawingml/2006/table">
            <a:tbl>
              <a:tblPr/>
              <a:tblGrid>
                <a:gridCol w="186164"/>
                <a:gridCol w="186164"/>
                <a:gridCol w="186164"/>
              </a:tblGrid>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8</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2</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3</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051">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4</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1</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6</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244687">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5</a:t>
                      </a:r>
                      <a:endParaRPr lang="zh-CN" altLang="en-US" sz="1000">
                        <a:latin typeface="Arial" panose="020B0604020202020204" pitchFamily="34" charset="0"/>
                      </a:endParaRPr>
                    </a:p>
                  </a:txBody>
                  <a:tcPr marL="80382" marR="80382" marT="45760" marB="4576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000" dirty="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000">
                          <a:latin typeface="Arial" panose="020B0604020202020204" pitchFamily="34" charset="0"/>
                        </a:rPr>
                        <a:t>7</a:t>
                      </a:r>
                      <a:endParaRPr lang="zh-CN" altLang="en-US" sz="1000">
                        <a:latin typeface="Arial" panose="020B0604020202020204" pitchFamily="34" charset="0"/>
                      </a:endParaRPr>
                    </a:p>
                  </a:txBody>
                  <a:tcPr marL="80382" marR="80382" marT="45760" marB="4576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65637" name="Line 101"/>
          <p:cNvSpPr>
            <a:spLocks noChangeShapeType="1"/>
          </p:cNvSpPr>
          <p:nvPr/>
        </p:nvSpPr>
        <p:spPr bwMode="auto">
          <a:xfrm flipH="1">
            <a:off x="3611563" y="4357689"/>
            <a:ext cx="436562" cy="477837"/>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38" name="Line 102"/>
          <p:cNvSpPr>
            <a:spLocks noChangeShapeType="1"/>
          </p:cNvSpPr>
          <p:nvPr/>
        </p:nvSpPr>
        <p:spPr bwMode="auto">
          <a:xfrm>
            <a:off x="4078288" y="4357688"/>
            <a:ext cx="258762" cy="450850"/>
          </a:xfrm>
          <a:prstGeom prst="line">
            <a:avLst/>
          </a:prstGeom>
          <a:noFill/>
          <a:ln w="952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39" name="Line 103"/>
          <p:cNvSpPr>
            <a:spLocks noChangeShapeType="1"/>
          </p:cNvSpPr>
          <p:nvPr/>
        </p:nvSpPr>
        <p:spPr bwMode="auto">
          <a:xfrm flipV="1">
            <a:off x="4724401" y="4556126"/>
            <a:ext cx="1401763" cy="703263"/>
          </a:xfrm>
          <a:prstGeom prst="line">
            <a:avLst/>
          </a:prstGeom>
          <a:noFill/>
          <a:ln w="9525">
            <a:solidFill>
              <a:schemeClr val="tx1"/>
            </a:solidFill>
            <a:prstDash val="dash"/>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5640" name="Line 104"/>
          <p:cNvSpPr>
            <a:spLocks noChangeShapeType="1"/>
          </p:cNvSpPr>
          <p:nvPr/>
        </p:nvSpPr>
        <p:spPr bwMode="auto">
          <a:xfrm>
            <a:off x="6180138" y="3067051"/>
            <a:ext cx="0" cy="384175"/>
          </a:xfrm>
          <a:prstGeom prst="line">
            <a:avLst/>
          </a:prstGeom>
          <a:noFill/>
          <a:ln w="28575">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p>
        </p:txBody>
      </p:sp>
      <p:sp>
        <p:nvSpPr>
          <p:cNvPr id="66664" name="Line 105"/>
          <p:cNvSpPr>
            <a:spLocks noChangeShapeType="1"/>
          </p:cNvSpPr>
          <p:nvPr/>
        </p:nvSpPr>
        <p:spPr bwMode="auto">
          <a:xfrm>
            <a:off x="7250113" y="3549650"/>
            <a:ext cx="214471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665" name="Line 106"/>
          <p:cNvSpPr>
            <a:spLocks noChangeShapeType="1"/>
          </p:cNvSpPr>
          <p:nvPr/>
        </p:nvSpPr>
        <p:spPr bwMode="auto">
          <a:xfrm>
            <a:off x="7210425" y="4451350"/>
            <a:ext cx="218440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66666" name="页脚占位符 4"/>
          <p:cNvSpPr txBox="1">
            <a:spLocks noGrp="1" noChangeArrowheads="1"/>
          </p:cNvSpPr>
          <p:nvPr/>
        </p:nvSpPr>
        <p:spPr bwMode="auto">
          <a:xfrm>
            <a:off x="2152650" y="6356351"/>
            <a:ext cx="2057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fld id="{7D3D1D8C-13EA-4B4A-8E6E-38C71ECDF9FB}" type="slidenum">
              <a:rPr lang="zh-CN" altLang="en-US" sz="1200">
                <a:latin typeface="Verdana" panose="020B0604030504040204" pitchFamily="34" charset="0"/>
              </a:rPr>
            </a:fld>
            <a:endParaRPr lang="zh-CN" altLang="en-US" sz="1200">
              <a:latin typeface="Verdana" panose="020B0604030504040204" pitchFamily="34" charset="0"/>
            </a:endParaRPr>
          </a:p>
        </p:txBody>
      </p:sp>
      <p:sp>
        <p:nvSpPr>
          <p:cNvPr id="2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5601"/>
                                        </p:tgtEl>
                                        <p:attrNameLst>
                                          <p:attrName>style.visibility</p:attrName>
                                        </p:attrNameLst>
                                      </p:cBhvr>
                                      <p:to>
                                        <p:strVal val="visible"/>
                                      </p:to>
                                    </p:set>
                                    <p:animEffect transition="in" filter="blinds(horizontal)">
                                      <p:cBhvr>
                                        <p:cTn id="7" dur="500"/>
                                        <p:tgtEl>
                                          <p:spTgt spid="65601"/>
                                        </p:tgtEl>
                                      </p:cBhvr>
                                    </p:animEffect>
                                  </p:childTnLst>
                                </p:cTn>
                              </p:par>
                              <p:par>
                                <p:cTn id="8" presetID="3" presetClass="entr" presetSubtype="10" fill="hold" nodeType="withEffect">
                                  <p:stCondLst>
                                    <p:cond delay="0"/>
                                  </p:stCondLst>
                                  <p:childTnLst>
                                    <p:set>
                                      <p:cBhvr>
                                        <p:cTn id="9" dur="1" fill="hold">
                                          <p:stCondLst>
                                            <p:cond delay="0"/>
                                          </p:stCondLst>
                                        </p:cTn>
                                        <p:tgtEl>
                                          <p:spTgt spid="65619"/>
                                        </p:tgtEl>
                                        <p:attrNameLst>
                                          <p:attrName>style.visibility</p:attrName>
                                        </p:attrNameLst>
                                      </p:cBhvr>
                                      <p:to>
                                        <p:strVal val="visible"/>
                                      </p:to>
                                    </p:set>
                                    <p:animEffect transition="in" filter="blinds(horizontal)">
                                      <p:cBhvr>
                                        <p:cTn id="10" dur="500"/>
                                        <p:tgtEl>
                                          <p:spTgt spid="65619"/>
                                        </p:tgtEl>
                                      </p:cBhvr>
                                    </p:animEffect>
                                  </p:childTnLst>
                                </p:cTn>
                              </p:par>
                              <p:par>
                                <p:cTn id="11" presetID="3" presetClass="entr" presetSubtype="10" fill="hold" nodeType="withEffect">
                                  <p:stCondLst>
                                    <p:cond delay="0"/>
                                  </p:stCondLst>
                                  <p:childTnLst>
                                    <p:set>
                                      <p:cBhvr>
                                        <p:cTn id="12" dur="1" fill="hold">
                                          <p:stCondLst>
                                            <p:cond delay="0"/>
                                          </p:stCondLst>
                                        </p:cTn>
                                        <p:tgtEl>
                                          <p:spTgt spid="65637"/>
                                        </p:tgtEl>
                                        <p:attrNameLst>
                                          <p:attrName>style.visibility</p:attrName>
                                        </p:attrNameLst>
                                      </p:cBhvr>
                                      <p:to>
                                        <p:strVal val="visible"/>
                                      </p:to>
                                    </p:set>
                                    <p:animEffect transition="in" filter="blinds(horizontal)">
                                      <p:cBhvr>
                                        <p:cTn id="13" dur="500"/>
                                        <p:tgtEl>
                                          <p:spTgt spid="65637"/>
                                        </p:tgtEl>
                                      </p:cBhvr>
                                    </p:animEffect>
                                  </p:childTnLst>
                                </p:cTn>
                              </p:par>
                              <p:par>
                                <p:cTn id="14" presetID="3" presetClass="entr" presetSubtype="10" fill="hold" nodeType="withEffect">
                                  <p:stCondLst>
                                    <p:cond delay="0"/>
                                  </p:stCondLst>
                                  <p:childTnLst>
                                    <p:set>
                                      <p:cBhvr>
                                        <p:cTn id="15" dur="1" fill="hold">
                                          <p:stCondLst>
                                            <p:cond delay="0"/>
                                          </p:stCondLst>
                                        </p:cTn>
                                        <p:tgtEl>
                                          <p:spTgt spid="65638"/>
                                        </p:tgtEl>
                                        <p:attrNameLst>
                                          <p:attrName>style.visibility</p:attrName>
                                        </p:attrNameLst>
                                      </p:cBhvr>
                                      <p:to>
                                        <p:strVal val="visible"/>
                                      </p:to>
                                    </p:set>
                                    <p:animEffect transition="in" filter="blinds(horizontal)">
                                      <p:cBhvr>
                                        <p:cTn id="16" dur="500"/>
                                        <p:tgtEl>
                                          <p:spTgt spid="65638"/>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65639"/>
                                        </p:tgtEl>
                                        <p:attrNameLst>
                                          <p:attrName>style.visibility</p:attrName>
                                        </p:attrNameLst>
                                      </p:cBhvr>
                                      <p:to>
                                        <p:strVal val="visible"/>
                                      </p:to>
                                    </p:set>
                                    <p:animEffect transition="in" filter="blinds(horizontal)">
                                      <p:cBhvr>
                                        <p:cTn id="21" dur="500"/>
                                        <p:tgtEl>
                                          <p:spTgt spid="65639"/>
                                        </p:tgtEl>
                                      </p:cBhvr>
                                    </p:animEffect>
                                  </p:childTnLst>
                                </p:cTn>
                              </p:par>
                            </p:childTnLst>
                          </p:cTn>
                        </p:par>
                      </p:childTnLst>
                    </p:cTn>
                  </p:par>
                  <p:par>
                    <p:cTn id="22" fill="hold">
                      <p:stCondLst>
                        <p:cond delay="indefinite"/>
                      </p:stCondLst>
                      <p:childTnLst>
                        <p:par>
                          <p:cTn id="23" fill="hold">
                            <p:stCondLst>
                              <p:cond delay="0"/>
                            </p:stCondLst>
                            <p:childTnLst>
                              <p:par>
                                <p:cTn id="24" presetID="0" presetClass="path" presetSubtype="0" accel="50000" decel="50000" fill="hold" nodeType="clickEffect">
                                  <p:stCondLst>
                                    <p:cond delay="0"/>
                                  </p:stCondLst>
                                  <p:childTnLst>
                                    <p:animMotion origin="layout" path="M -2.77778E-7 0 L 0.39427 -0.17847 " pathEditMode="relative" rAng="0" ptsTypes="AA">
                                      <p:cBhvr>
                                        <p:cTn id="25" dur="2000" fill="hold"/>
                                        <p:tgtEl>
                                          <p:spTgt spid="65601"/>
                                        </p:tgtEl>
                                        <p:attrNameLst>
                                          <p:attrName>ppt_x</p:attrName>
                                          <p:attrName>ppt_y</p:attrName>
                                        </p:attrNameLst>
                                      </p:cBhvr>
                                      <p:rCtr x="1970500" y="-893400"/>
                                    </p:animMotion>
                                  </p:childTnLst>
                                </p:cTn>
                              </p:par>
                              <p:par>
                                <p:cTn id="26" presetID="0" presetClass="path" presetSubtype="0" accel="50000" decel="50000" fill="hold" nodeType="withEffect">
                                  <p:stCondLst>
                                    <p:cond delay="0"/>
                                  </p:stCondLst>
                                  <p:childTnLst>
                                    <p:animMotion origin="layout" path="M 2.77778E-7 1.48148E-6 L 0.38663 -0.17824 " pathEditMode="relative" rAng="0" ptsTypes="AA">
                                      <p:cBhvr>
                                        <p:cTn id="27" dur="2000" fill="hold"/>
                                        <p:tgtEl>
                                          <p:spTgt spid="65619"/>
                                        </p:tgtEl>
                                        <p:attrNameLst>
                                          <p:attrName>ppt_x</p:attrName>
                                          <p:attrName>ppt_y</p:attrName>
                                        </p:attrNameLst>
                                      </p:cBhvr>
                                      <p:rCtr x="1932300" y="-891100"/>
                                    </p:animMotion>
                                  </p:childTnLst>
                                </p:cTn>
                              </p:par>
                              <p:par>
                                <p:cTn id="28" presetID="3" presetClass="exit" presetSubtype="10" fill="hold" nodeType="withEffect">
                                  <p:stCondLst>
                                    <p:cond delay="0"/>
                                  </p:stCondLst>
                                  <p:childTnLst>
                                    <p:animEffect transition="out" filter="blinds(horizontal)">
                                      <p:cBhvr>
                                        <p:cTn id="29" dur="500"/>
                                        <p:tgtEl>
                                          <p:spTgt spid="65637"/>
                                        </p:tgtEl>
                                      </p:cBhvr>
                                    </p:animEffect>
                                    <p:set>
                                      <p:cBhvr>
                                        <p:cTn id="30" dur="1" fill="hold">
                                          <p:stCondLst>
                                            <p:cond delay="499"/>
                                          </p:stCondLst>
                                        </p:cTn>
                                        <p:tgtEl>
                                          <p:spTgt spid="65637"/>
                                        </p:tgtEl>
                                        <p:attrNameLst>
                                          <p:attrName>style.visibility</p:attrName>
                                        </p:attrNameLst>
                                      </p:cBhvr>
                                      <p:to>
                                        <p:strVal val="hidden"/>
                                      </p:to>
                                    </p:set>
                                  </p:childTnLst>
                                </p:cTn>
                              </p:par>
                              <p:par>
                                <p:cTn id="31" presetID="3" presetClass="exit" presetSubtype="10" fill="hold" nodeType="withEffect">
                                  <p:stCondLst>
                                    <p:cond delay="0"/>
                                  </p:stCondLst>
                                  <p:childTnLst>
                                    <p:animEffect transition="out" filter="blinds(horizontal)">
                                      <p:cBhvr>
                                        <p:cTn id="32" dur="500"/>
                                        <p:tgtEl>
                                          <p:spTgt spid="65638"/>
                                        </p:tgtEl>
                                      </p:cBhvr>
                                    </p:animEffect>
                                    <p:set>
                                      <p:cBhvr>
                                        <p:cTn id="33" dur="1" fill="hold">
                                          <p:stCondLst>
                                            <p:cond delay="499"/>
                                          </p:stCondLst>
                                        </p:cTn>
                                        <p:tgtEl>
                                          <p:spTgt spid="65638"/>
                                        </p:tgtEl>
                                        <p:attrNameLst>
                                          <p:attrName>style.visibility</p:attrName>
                                        </p:attrNameLst>
                                      </p:cBhvr>
                                      <p:to>
                                        <p:strVal val="hidden"/>
                                      </p:to>
                                    </p:set>
                                  </p:childTnLst>
                                </p:cTn>
                              </p:par>
                              <p:par>
                                <p:cTn id="34" presetID="3" presetClass="exit" presetSubtype="10" fill="hold" nodeType="withEffect">
                                  <p:stCondLst>
                                    <p:cond delay="0"/>
                                  </p:stCondLst>
                                  <p:childTnLst>
                                    <p:animEffect transition="out" filter="blinds(horizontal)">
                                      <p:cBhvr>
                                        <p:cTn id="35" dur="500"/>
                                        <p:tgtEl>
                                          <p:spTgt spid="65639"/>
                                        </p:tgtEl>
                                      </p:cBhvr>
                                    </p:animEffect>
                                    <p:set>
                                      <p:cBhvr>
                                        <p:cTn id="36" dur="1" fill="hold">
                                          <p:stCondLst>
                                            <p:cond delay="499"/>
                                          </p:stCondLst>
                                        </p:cTn>
                                        <p:tgtEl>
                                          <p:spTgt spid="6563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0.00365 -0.00671 L 0.18473 -0.00671 " pathEditMode="relative" rAng="0" ptsTypes="AA">
                                      <p:cBhvr>
                                        <p:cTn id="40" dur="2000" fill="hold"/>
                                        <p:tgtEl>
                                          <p:spTgt spid="65640"/>
                                        </p:tgtEl>
                                        <p:attrNameLst>
                                          <p:attrName>ppt_x</p:attrName>
                                          <p:attrName>ppt_y</p:attrName>
                                        </p:attrNameLst>
                                      </p:cBhvr>
                                      <p:rCtr x="0" y="0"/>
                                    </p:animMotion>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0.00295 -0.00555 L 0.10521 -0.00555 " pathEditMode="relative" rAng="0" ptsTypes="AA">
                                      <p:cBhvr>
                                        <p:cTn id="44" dur="2000" fill="hold"/>
                                        <p:tgtEl>
                                          <p:spTgt spid="65600"/>
                                        </p:tgtEl>
                                        <p:attrNameLst>
                                          <p:attrName>ppt_x</p:attrName>
                                          <p:attrName>ppt_y</p:attrName>
                                        </p:attrNameLst>
                                      </p:cBhvr>
                                      <p:rCtr x="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
          <p:cNvSpPr txBox="1"/>
          <p:nvPr/>
        </p:nvSpPr>
        <p:spPr>
          <a:xfrm>
            <a:off x="1522811" y="1905000"/>
            <a:ext cx="9146382" cy="4267200"/>
          </a:xfrm>
          <a:prstGeom prst="rect">
            <a:avLst/>
          </a:prstGeom>
        </p:spPr>
        <p:txBody>
          <a:bodyPr vert="horz" wrap="square" lIns="91440" tIns="45720" rIns="91440" bIns="45720" rtlCol="0" anchor="t">
            <a:normAutofit/>
          </a:bodyPr>
          <a:lstStyle>
            <a:lvl1pPr marL="274320" indent="-274320" algn="l" defTabSz="914400" rtl="0" eaLnBrk="1" latinLnBrk="0" hangingPunct="1">
              <a:lnSpc>
                <a:spcPct val="90000"/>
              </a:lnSpc>
              <a:spcBef>
                <a:spcPts val="1800"/>
              </a:spcBef>
              <a:buSzPct val="80000"/>
              <a:buFont typeface="Wingdings" panose="05000000000000000000" pitchFamily="2" charset="2"/>
              <a:buChar char="§"/>
              <a:defRPr lang="zh-CN" sz="2400" kern="1200">
                <a:solidFill>
                  <a:schemeClr val="tx1"/>
                </a:solidFill>
                <a:latin typeface="微软雅黑" panose="020B0503020204020204" pitchFamily="34" charset="-122"/>
                <a:ea typeface="微软雅黑" panose="020B0503020204020204" pitchFamily="34" charset="-122"/>
                <a:cs typeface="+mn-cs"/>
              </a:defRPr>
            </a:lvl1pPr>
            <a:lvl2pPr marL="575945" indent="-274320" algn="l" defTabSz="914400" rtl="0" eaLnBrk="1" latinLnBrk="0" hangingPunct="1">
              <a:lnSpc>
                <a:spcPct val="90000"/>
              </a:lnSpc>
              <a:spcBef>
                <a:spcPts val="600"/>
              </a:spcBef>
              <a:buSzPct val="100000"/>
              <a:buFont typeface="Consolas" panose="020B0609020204030204" pitchFamily="49" charset="0"/>
              <a:buChar char="–"/>
              <a:defRPr lang="zh-CN" sz="2000" kern="1200">
                <a:solidFill>
                  <a:schemeClr val="tx1"/>
                </a:solidFill>
                <a:latin typeface="微软雅黑" panose="020B0503020204020204" pitchFamily="34" charset="-122"/>
                <a:ea typeface="微软雅黑" panose="020B0503020204020204" pitchFamily="34" charset="-122"/>
                <a:cs typeface="+mn-cs"/>
              </a:defRPr>
            </a:lvl2pPr>
            <a:lvl3pPr marL="804545" indent="-228600" algn="l" defTabSz="914400" rtl="0" eaLnBrk="1" latinLnBrk="0" hangingPunct="1">
              <a:lnSpc>
                <a:spcPct val="90000"/>
              </a:lnSpc>
              <a:spcBef>
                <a:spcPts val="600"/>
              </a:spcBef>
              <a:buSzPct val="80000"/>
              <a:buFont typeface="Wingdings" panose="05000000000000000000" pitchFamily="2" charset="2"/>
              <a:buChar char="§"/>
              <a:defRPr lang="zh-CN" sz="1800" kern="1200">
                <a:solidFill>
                  <a:schemeClr val="tx1"/>
                </a:solidFill>
                <a:latin typeface="微软雅黑" panose="020B0503020204020204" pitchFamily="34" charset="-122"/>
                <a:ea typeface="微软雅黑" panose="020B0503020204020204" pitchFamily="34" charset="-122"/>
                <a:cs typeface="+mn-cs"/>
              </a:defRPr>
            </a:lvl3pPr>
            <a:lvl4pPr marL="10331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微软雅黑" panose="020B0503020204020204" pitchFamily="34" charset="-122"/>
                <a:ea typeface="微软雅黑" panose="020B0503020204020204" pitchFamily="34" charset="-122"/>
                <a:cs typeface="+mn-cs"/>
              </a:defRPr>
            </a:lvl4pPr>
            <a:lvl5pPr marL="12617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微软雅黑" panose="020B0503020204020204" pitchFamily="34" charset="-122"/>
                <a:ea typeface="微软雅黑" panose="020B0503020204020204" pitchFamily="34" charset="-122"/>
                <a:cs typeface="+mn-cs"/>
              </a:defRPr>
            </a:lvl5pPr>
            <a:lvl6pPr marL="14903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mn-lt"/>
                <a:ea typeface="+mn-ea"/>
                <a:cs typeface="+mn-cs"/>
              </a:defRPr>
            </a:lvl6pPr>
            <a:lvl7pPr marL="17189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mn-lt"/>
                <a:ea typeface="+mn-ea"/>
                <a:cs typeface="+mn-cs"/>
              </a:defRPr>
            </a:lvl7pPr>
            <a:lvl8pPr marL="1947545" indent="-228600" algn="l" defTabSz="914400" rtl="0" eaLnBrk="1" latinLnBrk="0" hangingPunct="1">
              <a:lnSpc>
                <a:spcPct val="90000"/>
              </a:lnSpc>
              <a:spcBef>
                <a:spcPts val="600"/>
              </a:spcBef>
              <a:buSzPct val="100000"/>
              <a:buFont typeface="Consolas" panose="020B0609020204030204" pitchFamily="49" charset="0"/>
              <a:buChar char="–"/>
              <a:defRPr lang="zh-CN" sz="1600" kern="1200">
                <a:solidFill>
                  <a:schemeClr val="tx1"/>
                </a:solidFill>
                <a:latin typeface="+mn-lt"/>
                <a:ea typeface="+mn-ea"/>
                <a:cs typeface="+mn-cs"/>
              </a:defRPr>
            </a:lvl8pPr>
            <a:lvl9pPr marL="2176145" indent="-228600" algn="l" defTabSz="914400" rtl="0" eaLnBrk="1" latinLnBrk="0" hangingPunct="1">
              <a:lnSpc>
                <a:spcPct val="90000"/>
              </a:lnSpc>
              <a:spcBef>
                <a:spcPts val="600"/>
              </a:spcBef>
              <a:buSzPct val="80000"/>
              <a:buFont typeface="Wingdings" panose="05000000000000000000" pitchFamily="2" charset="2"/>
              <a:buChar char="§"/>
              <a:defRPr lang="zh-CN" sz="1600" kern="1200">
                <a:solidFill>
                  <a:schemeClr val="tx1"/>
                </a:solidFill>
                <a:latin typeface="+mn-lt"/>
                <a:ea typeface="+mn-ea"/>
                <a:cs typeface="+mn-cs"/>
              </a:defRPr>
            </a:lvl9pPr>
          </a:lstStyle>
          <a:p>
            <a:pPr>
              <a:buFont typeface="Arial" panose="020B0604020202020204" pitchFamily="34" charset="0"/>
              <a:buNone/>
            </a:pPr>
            <a:r>
              <a:rPr lang="zh-CN" altLang="en-US" noProof="1"/>
              <a:t>	合理编码，减小存储代价</a:t>
            </a:r>
            <a:endParaRPr lang="zh-CN" altLang="en-US" noProof="1"/>
          </a:p>
          <a:p>
            <a:pPr lvl="1">
              <a:buFont typeface="Wingdings" panose="05000000000000000000" pitchFamily="2" charset="2"/>
              <a:buNone/>
            </a:pPr>
            <a:r>
              <a:rPr lang="zh-CN" altLang="en-US" noProof="1"/>
              <a:t>不同的编码方式所需要的存储空间会有较大差别</a:t>
            </a:r>
            <a:endParaRPr lang="zh-CN" altLang="en-US" noProof="1"/>
          </a:p>
          <a:p>
            <a:pPr lvl="1"/>
            <a:endParaRPr lang="zh-CN" altLang="en-US" noProof="1"/>
          </a:p>
        </p:txBody>
      </p:sp>
      <p:graphicFrame>
        <p:nvGraphicFramePr>
          <p:cNvPr id="8" name="表格 7"/>
          <p:cNvGraphicFramePr/>
          <p:nvPr/>
        </p:nvGraphicFramePr>
        <p:xfrm>
          <a:off x="2416175" y="3417889"/>
          <a:ext cx="915988" cy="1217613"/>
        </p:xfrm>
        <a:graphic>
          <a:graphicData uri="http://schemas.openxmlformats.org/drawingml/2006/table">
            <a:tbl>
              <a:tblPr/>
              <a:tblGrid>
                <a:gridCol w="292100"/>
                <a:gridCol w="336550"/>
                <a:gridCol w="287338"/>
              </a:tblGrid>
              <a:tr h="406400">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8</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2</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3</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28575"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404813">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4</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dirty="0">
                          <a:latin typeface="Arial" panose="020B0604020202020204" pitchFamily="34" charset="0"/>
                        </a:rPr>
                        <a:t>1</a:t>
                      </a:r>
                      <a:endParaRPr lang="zh-CN" altLang="en-US" sz="1900" dirty="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6</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r>
              <a:tr h="406400">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5</a:t>
                      </a:r>
                      <a:endParaRPr lang="zh-CN" altLang="en-US" sz="1900">
                        <a:latin typeface="Arial" panose="020B0604020202020204" pitchFamily="34" charset="0"/>
                      </a:endParaRPr>
                    </a:p>
                  </a:txBody>
                  <a:tcPr>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r>
                        <a:rPr lang="en-US" altLang="zh-CN" sz="1900">
                          <a:latin typeface="Arial" panose="020B0604020202020204" pitchFamily="34" charset="0"/>
                        </a:rPr>
                        <a:t>7</a:t>
                      </a:r>
                      <a:endParaRPr lang="zh-CN" altLang="en-US" sz="1900">
                        <a:latin typeface="Arial" panose="020B0604020202020204" pitchFamily="34" charset="0"/>
                      </a:endParaRPr>
                    </a:p>
                  </a:txBody>
                  <a:tcPr>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342900" lvl="0" indent="-342900" algn="l" defTabSz="914400" eaLnBrk="1" fontAlgn="base" latinLnBrk="0" hangingPunct="1">
                        <a:lnSpc>
                          <a:spcPct val="100000"/>
                        </a:lnSpc>
                        <a:spcBef>
                          <a:spcPct val="20000"/>
                        </a:spcBef>
                        <a:spcAft>
                          <a:spcPct val="0"/>
                        </a:spcAft>
                        <a:buClr>
                          <a:schemeClr val="hlink"/>
                        </a:buClr>
                        <a:buSzPct val="80000"/>
                        <a:buFont typeface="Arial" panose="020B0604020202020204" pitchFamily="34" charset="0"/>
                        <a:buChar char="►"/>
                        <a:defRPr sz="2800" b="0" i="0" u="none" kern="1200" baseline="0">
                          <a:solidFill>
                            <a:schemeClr val="tx1"/>
                          </a:solidFill>
                          <a:effectLst>
                            <a:outerShdw blurRad="38100" dist="38100" dir="2700000">
                              <a:srgbClr val="C0C0C0"/>
                            </a:outerShdw>
                          </a:effectLst>
                          <a:latin typeface="Tahoma" panose="020B0604030504040204" pitchFamily="34" charset="0"/>
                          <a:ea typeface="宋体" panose="02010600030101010101" pitchFamily="2" charset="-122"/>
                        </a:defRPr>
                      </a:lvl1pPr>
                      <a:lvl2pPr marL="742950" lvl="1" indent="-285750">
                        <a:buClr>
                          <a:schemeClr val="folHlink"/>
                        </a:buClr>
                        <a:buFont typeface="Wingdings" panose="05000000000000000000" pitchFamily="2" charset="2"/>
                        <a:defRPr sz="2400" kern="1200">
                          <a:effectLst>
                            <a:outerShdw blurRad="38100" dist="38100" dir="2700000">
                              <a:srgbClr val="C0C0C0"/>
                            </a:outerShdw>
                          </a:effectLst>
                        </a:defRPr>
                      </a:lvl2pPr>
                      <a:lvl3pPr marL="1143000" lvl="2" indent="-228600">
                        <a:buClr>
                          <a:schemeClr val="hlink"/>
                        </a:buClr>
                        <a:buSzPct val="80000"/>
                        <a:buFont typeface="Arial" panose="020B0604020202020204" pitchFamily="34" charset="0"/>
                        <a:defRPr sz="2000" kern="1200">
                          <a:effectLst>
                            <a:outerShdw blurRad="38100" dist="38100" dir="2700000">
                              <a:srgbClr val="C0C0C0"/>
                            </a:outerShdw>
                          </a:effectLst>
                        </a:defRPr>
                      </a:lvl3pPr>
                      <a:lvl4pPr marL="1600200" lvl="3" indent="-228600">
                        <a:buClr>
                          <a:schemeClr val="folHlink"/>
                        </a:buClr>
                        <a:buFont typeface="Wingdings" panose="05000000000000000000" pitchFamily="2" charset="2"/>
                        <a:defRPr sz="1800" kern="1200">
                          <a:effectLst>
                            <a:outerShdw blurRad="38100" dist="38100" dir="2700000">
                              <a:srgbClr val="C0C0C0"/>
                            </a:outerShdw>
                          </a:effectLst>
                        </a:defRPr>
                      </a:lvl4pPr>
                      <a:lvl5pPr marL="2057400" lvl="4" indent="-228600">
                        <a:buClr>
                          <a:schemeClr val="hlink"/>
                        </a:buClr>
                        <a:buSzPct val="80000"/>
                        <a:buFont typeface="Arial" panose="020B0604020202020204" pitchFamily="34" charset="0"/>
                        <a:defRPr sz="1800" kern="1200">
                          <a:effectLst>
                            <a:outerShdw blurRad="38100" dist="38100" dir="2700000">
                              <a:srgbClr val="C0C0C0"/>
                            </a:outerShdw>
                          </a:effectLst>
                        </a:defRPr>
                      </a:lvl5pPr>
                    </a:lstStyle>
                    <a:p>
                      <a:pPr marL="0" lvl="0" indent="0">
                        <a:buClr>
                          <a:schemeClr val="tx2"/>
                        </a:buClr>
                        <a:buSzPct val="70000"/>
                        <a:buFont typeface="Wingdings" panose="05000000000000000000" pitchFamily="2" charset="2"/>
                        <a:buNone/>
                      </a:pPr>
                      <a:endParaRPr lang="zh-CN" altLang="en-US" sz="1900" dirty="0">
                        <a:latin typeface="Arial" panose="020B0604020202020204" pitchFamily="34" charset="0"/>
                      </a:endParaRPr>
                    </a:p>
                  </a:txBody>
                  <a:tcPr>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r>
            </a:tbl>
          </a:graphicData>
        </a:graphic>
      </p:graphicFrame>
      <p:sp>
        <p:nvSpPr>
          <p:cNvPr id="9" name="Text Box 25"/>
          <p:cNvSpPr txBox="1">
            <a:spLocks noChangeArrowheads="1"/>
          </p:cNvSpPr>
          <p:nvPr/>
        </p:nvSpPr>
        <p:spPr bwMode="auto">
          <a:xfrm>
            <a:off x="3941471" y="3269894"/>
            <a:ext cx="464502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buFont typeface="Wingdings" panose="05000000000000000000" pitchFamily="2" charset="2"/>
              <a:buChar char="Ø"/>
            </a:pPr>
            <a:r>
              <a:rPr lang="zh-CN" altLang="en-US" sz="2000" dirty="0">
                <a:latin typeface="Book Antiqua" panose="02040602050305030304" pitchFamily="18" charset="0"/>
                <a:ea typeface="黑体" panose="02010609060101010101" pitchFamily="49" charset="-122"/>
              </a:rPr>
              <a:t>方案一：每个节点对应于一个九进制数（</a:t>
            </a:r>
            <a:r>
              <a:rPr lang="zh-CN" altLang="en-US" sz="2000" dirty="0">
                <a:latin typeface="Book Antiqua" panose="02040602050305030304" pitchFamily="18" charset="0"/>
              </a:rPr>
              <a:t> </a:t>
            </a:r>
            <a:r>
              <a:rPr lang="en-US" altLang="zh-CN" sz="2000" dirty="0">
                <a:latin typeface="Book Antiqua" panose="02040602050305030304" pitchFamily="18" charset="0"/>
              </a:rPr>
              <a:t>48427562</a:t>
            </a:r>
            <a:r>
              <a:rPr lang="zh-CN" altLang="en-US" sz="2000" dirty="0">
                <a:latin typeface="Book Antiqua" panose="02040602050305030304" pitchFamily="18" charset="0"/>
              </a:rPr>
              <a:t>）</a:t>
            </a:r>
            <a:endParaRPr lang="zh-CN" altLang="en-US" sz="2000" dirty="0">
              <a:latin typeface="Book Antiqua" panose="02040602050305030304" pitchFamily="18" charset="0"/>
              <a:ea typeface="黑体" panose="02010609060101010101" pitchFamily="49" charset="-122"/>
            </a:endParaRPr>
          </a:p>
          <a:p>
            <a:pPr>
              <a:buFont typeface="Wingdings" panose="05000000000000000000" pitchFamily="2" charset="2"/>
              <a:buChar char="Ø"/>
            </a:pPr>
            <a:endParaRPr lang="zh-CN" altLang="en-US" sz="2000" dirty="0">
              <a:latin typeface="Book Antiqua" panose="02040602050305030304" pitchFamily="18" charset="0"/>
              <a:ea typeface="黑体" panose="02010609060101010101" pitchFamily="49" charset="-122"/>
            </a:endParaRPr>
          </a:p>
          <a:p>
            <a:pPr>
              <a:buFont typeface="Wingdings" panose="05000000000000000000" pitchFamily="2" charset="2"/>
              <a:buChar char="Ø"/>
            </a:pPr>
            <a:r>
              <a:rPr lang="zh-CN" altLang="en-US" sz="2000" dirty="0">
                <a:latin typeface="Book Antiqua" panose="02040602050305030304" pitchFamily="18" charset="0"/>
                <a:ea typeface="黑体" panose="02010609060101010101" pitchFamily="49" charset="-122"/>
              </a:rPr>
              <a:t>方案二：为节点编号（</a:t>
            </a:r>
            <a:r>
              <a:rPr lang="zh-CN" altLang="en-US" sz="2000" dirty="0">
                <a:latin typeface="Book Antiqua" panose="02040602050305030304" pitchFamily="18" charset="0"/>
              </a:rPr>
              <a:t> </a:t>
            </a:r>
            <a:r>
              <a:rPr lang="en-US" altLang="zh-CN" sz="2000" dirty="0">
                <a:latin typeface="Book Antiqua" panose="02040602050305030304" pitchFamily="18" charset="0"/>
              </a:rPr>
              <a:t>362880</a:t>
            </a:r>
            <a:r>
              <a:rPr lang="zh-CN" altLang="en-US" sz="2000" dirty="0">
                <a:latin typeface="Book Antiqua" panose="02040602050305030304" pitchFamily="18" charset="0"/>
              </a:rPr>
              <a:t>）</a:t>
            </a:r>
            <a:endParaRPr lang="zh-CN" altLang="en-US" sz="2000" dirty="0">
              <a:latin typeface="Book Antiqua" panose="02040602050305030304" pitchFamily="18" charset="0"/>
              <a:ea typeface="黑体" panose="02010609060101010101" pitchFamily="49" charset="-122"/>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八数码问题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判重</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9">
                                            <p:txEl>
                                              <p:pRg st="2" end="2"/>
                                            </p:txEl>
                                          </p:spTgt>
                                        </p:tgtEl>
                                        <p:attrNameLst>
                                          <p:attrName>style.visibility</p:attrName>
                                        </p:attrNameLst>
                                      </p:cBhvr>
                                      <p:to>
                                        <p:strVal val="visible"/>
                                      </p:to>
                                    </p:set>
                                    <p:animEffect transition="in" filter="fade">
                                      <p:cBhvr>
                                        <p:cTn id="11" dur="500"/>
                                        <p:tgtEl>
                                          <p:spTgt spid="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719091" y="1098905"/>
            <a:ext cx="8207375" cy="1150937"/>
          </a:xfrm>
        </p:spPr>
        <p:txBody>
          <a:bodyPr/>
          <a:lstStyle/>
          <a:p>
            <a:pPr>
              <a:defRPr/>
            </a:pPr>
            <a:r>
              <a:rPr lang="zh-CN" altLang="en-US" sz="2400" b="1" kern="100" dirty="0">
                <a:solidFill>
                  <a:srgbClr val="014B88"/>
                </a:solidFill>
                <a:latin typeface="仿宋_GB2312"/>
                <a:cs typeface="Times New Roman" panose="02020603050405020304" pitchFamily="18" charset="0"/>
              </a:rPr>
              <a:t>一般解决“最快到达”问题</a:t>
            </a:r>
            <a:endParaRPr lang="en-US" altLang="zh-CN" sz="2400" b="1" kern="100" dirty="0">
              <a:solidFill>
                <a:srgbClr val="014B88"/>
              </a:solidFill>
              <a:latin typeface="仿宋_GB2312"/>
              <a:cs typeface="Times New Roman" panose="02020603050405020304" pitchFamily="18" charset="0"/>
            </a:endParaRPr>
          </a:p>
          <a:p>
            <a:pPr>
              <a:defRPr/>
            </a:pPr>
            <a:r>
              <a:rPr lang="zh-CN" altLang="en-US" sz="2400" b="1" kern="100" dirty="0">
                <a:solidFill>
                  <a:srgbClr val="014B88"/>
                </a:solidFill>
                <a:latin typeface="仿宋_GB2312"/>
                <a:cs typeface="Times New Roman" panose="02020603050405020304" pitchFamily="18" charset="0"/>
              </a:rPr>
              <a:t>状态的表示与状态的转移是难点，需要仔细考虑</a:t>
            </a:r>
            <a:endParaRPr lang="en-US" altLang="zh-CN" sz="2400" b="1" kern="100" dirty="0">
              <a:solidFill>
                <a:srgbClr val="014B88"/>
              </a:solidFill>
              <a:latin typeface="仿宋_GB2312"/>
              <a:cs typeface="Times New Roman" panose="02020603050405020304" pitchFamily="18" charset="0"/>
            </a:endParaRPr>
          </a:p>
          <a:p>
            <a:pPr marL="0" indent="0">
              <a:buNone/>
              <a:defRPr/>
            </a:pPr>
            <a:endParaRPr lang="zh-CN" altLang="en-US" dirty="0"/>
          </a:p>
        </p:txBody>
      </p:sp>
      <p:sp>
        <p:nvSpPr>
          <p:cNvPr id="4" name="矩形 3"/>
          <p:cNvSpPr>
            <a:spLocks noChangeArrowheads="1"/>
          </p:cNvSpPr>
          <p:nvPr/>
        </p:nvSpPr>
        <p:spPr bwMode="auto">
          <a:xfrm>
            <a:off x="1114378" y="2376694"/>
            <a:ext cx="1002709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r>
              <a:rPr lang="en-US" altLang="zh-CN" sz="2400" i="0" dirty="0">
                <a:latin typeface="Consolas" panose="020B0609020204030204" pitchFamily="49" charset="0"/>
              </a:rPr>
              <a:t>BFS (  )  {</a:t>
            </a:r>
            <a:endParaRPr lang="en-US" altLang="zh-CN" sz="2400" i="0" dirty="0">
              <a:latin typeface="Consolas" panose="020B0609020204030204" pitchFamily="49" charset="0"/>
            </a:endParaRP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初始点加入队列；</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a:t>
            </a:r>
            <a:r>
              <a:rPr lang="en-US" altLang="zh-CN" sz="2400" i="0" dirty="0">
                <a:latin typeface="Consolas" panose="020B0609020204030204" pitchFamily="49" charset="0"/>
              </a:rPr>
              <a:t>while (</a:t>
            </a:r>
            <a:r>
              <a:rPr lang="zh-CN" altLang="en-US" sz="2400" i="0" dirty="0">
                <a:latin typeface="Consolas" panose="020B0609020204030204" pitchFamily="49" charset="0"/>
              </a:rPr>
              <a:t>队列非空）</a:t>
            </a:r>
            <a:r>
              <a:rPr lang="en-US" altLang="zh-CN" sz="2400" i="0" dirty="0">
                <a:latin typeface="Consolas" panose="020B0609020204030204" pitchFamily="49" charset="0"/>
              </a:rPr>
              <a:t>{</a:t>
            </a:r>
            <a:endParaRPr lang="en-US" altLang="zh-CN" sz="2400" i="0" dirty="0">
              <a:latin typeface="Consolas" panose="020B0609020204030204" pitchFamily="49" charset="0"/>
            </a:endParaRP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取出队头结点</a:t>
            </a:r>
            <a:r>
              <a:rPr lang="en-US" altLang="zh-CN" sz="2400" i="0" dirty="0">
                <a:latin typeface="Consolas" panose="020B0609020204030204" pitchFamily="49" charset="0"/>
              </a:rPr>
              <a:t>;</a:t>
            </a:r>
            <a:r>
              <a:rPr lang="zh-CN" altLang="en-US" sz="2400" i="0" dirty="0">
                <a:latin typeface="Consolas" panose="020B0609020204030204" pitchFamily="49" charset="0"/>
              </a:rPr>
              <a:t>（出队操作）</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如果为目标状态，返回结果</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对该结点的每一种符合转移规则的转移状态</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如果该状态没有被访问过：将其加入队列中</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zh-CN" altLang="en-US" sz="2400" i="0" dirty="0">
                <a:latin typeface="Consolas" panose="020B0609020204030204" pitchFamily="49" charset="0"/>
              </a:rPr>
              <a:t>	</a:t>
            </a:r>
            <a:r>
              <a:rPr lang="en-US" altLang="zh-CN" sz="2400" i="0" dirty="0">
                <a:latin typeface="Consolas" panose="020B0609020204030204" pitchFamily="49" charset="0"/>
              </a:rPr>
              <a:t>}</a:t>
            </a:r>
            <a:endParaRPr lang="en-US" altLang="zh-CN" sz="2400" i="0" dirty="0">
              <a:latin typeface="Consolas" panose="020B0609020204030204" pitchFamily="49" charset="0"/>
            </a:endParaRPr>
          </a:p>
          <a:p>
            <a:pPr eaLnBrk="1" hangingPunct="1"/>
            <a:r>
              <a:rPr lang="en-US" altLang="zh-CN" sz="2400" i="0" dirty="0">
                <a:latin typeface="Consolas" panose="020B0609020204030204" pitchFamily="49" charset="0"/>
              </a:rPr>
              <a:t>	</a:t>
            </a:r>
            <a:r>
              <a:rPr lang="zh-CN" altLang="en-US" sz="2400" i="0" dirty="0">
                <a:latin typeface="Consolas" panose="020B0609020204030204" pitchFamily="49" charset="0"/>
              </a:rPr>
              <a:t>未找到可行解，返回</a:t>
            </a:r>
            <a:r>
              <a:rPr lang="en-US" altLang="zh-CN" sz="2400" i="0" dirty="0">
                <a:latin typeface="Consolas" panose="020B0609020204030204" pitchFamily="49" charset="0"/>
              </a:rPr>
              <a:t>;</a:t>
            </a:r>
            <a:endParaRPr lang="zh-CN" altLang="en-US" sz="2400" i="0" dirty="0">
              <a:latin typeface="Consolas" panose="020B0609020204030204" pitchFamily="49" charset="0"/>
            </a:endParaRPr>
          </a:p>
          <a:p>
            <a:pPr eaLnBrk="1" hangingPunct="1"/>
            <a:r>
              <a:rPr lang="en-US" altLang="zh-CN" sz="2400" i="0" dirty="0">
                <a:latin typeface="Consolas" panose="020B0609020204030204" pitchFamily="49" charset="0"/>
              </a:rPr>
              <a:t>}</a:t>
            </a:r>
            <a:endParaRPr lang="zh-CN" altLang="en-US" sz="2400" i="0" dirty="0">
              <a:latin typeface="Consolas" panose="020B0609020204030204" pitchFamily="49" charset="0"/>
            </a:endParaRPr>
          </a:p>
        </p:txBody>
      </p:sp>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小结</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文本占位符 17410"/>
          <p:cNvSpPr>
            <a:spLocks noGrp="1" noRot="1"/>
          </p:cNvSpPr>
          <p:nvPr>
            <p:ph type="body" sz="half" idx="4294967295"/>
          </p:nvPr>
        </p:nvSpPr>
        <p:spPr>
          <a:xfrm>
            <a:off x="408373" y="1609078"/>
            <a:ext cx="7182035" cy="4408488"/>
          </a:xfrm>
        </p:spPr>
        <p:txBody>
          <a:bodyPr/>
          <a:lstStyle/>
          <a:p>
            <a:pPr>
              <a:buFont typeface="Arial" panose="020B0604020202020204" pitchFamily="34" charset="0"/>
              <a:buNone/>
            </a:pPr>
            <a:r>
              <a:rPr lang="en-US" altLang="zh-CN" noProof="1"/>
              <a:t>   </a:t>
            </a:r>
            <a:r>
              <a:rPr lang="zh-CN" altLang="en-US" sz="2600" b="1" kern="100" noProof="1">
                <a:solidFill>
                  <a:srgbClr val="014B88"/>
                </a:solidFill>
                <a:latin typeface="仿宋_GB2312"/>
                <a:cs typeface="Times New Roman" panose="02020603050405020304" pitchFamily="18" charset="0"/>
              </a:rPr>
              <a:t>算法描述：</a:t>
            </a:r>
            <a:endParaRPr lang="zh-CN" altLang="en-US" sz="2600" b="1" kern="100" noProof="1">
              <a:solidFill>
                <a:srgbClr val="014B88"/>
              </a:solidFill>
              <a:latin typeface="仿宋_GB2312"/>
              <a:cs typeface="Times New Roman" panose="02020603050405020304" pitchFamily="18" charset="0"/>
            </a:endParaRPr>
          </a:p>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按照深度优先的顺序遍历状态空间，通常用递归</a:t>
            </a:r>
            <a:r>
              <a:rPr lang="en-US" altLang="zh-CN" sz="2600" b="1" kern="100" noProof="1">
                <a:solidFill>
                  <a:srgbClr val="014B88"/>
                </a:solidFill>
                <a:latin typeface="仿宋_GB2312"/>
                <a:cs typeface="Times New Roman" panose="02020603050405020304" pitchFamily="18" charset="0"/>
              </a:rPr>
              <a:t>(</a:t>
            </a:r>
            <a:r>
              <a:rPr lang="zh-CN" altLang="en-US" sz="2600" b="1" kern="100" noProof="1">
                <a:solidFill>
                  <a:srgbClr val="014B88"/>
                </a:solidFill>
                <a:latin typeface="仿宋_GB2312"/>
                <a:cs typeface="Times New Roman" panose="02020603050405020304" pitchFamily="18" charset="0"/>
              </a:rPr>
              <a:t>栈</a:t>
            </a:r>
            <a:r>
              <a:rPr lang="en-US" altLang="zh-CN" sz="2600" b="1" kern="100" noProof="1">
                <a:solidFill>
                  <a:srgbClr val="014B88"/>
                </a:solidFill>
                <a:latin typeface="仿宋_GB2312"/>
                <a:cs typeface="Times New Roman" panose="02020603050405020304" pitchFamily="18" charset="0"/>
              </a:rPr>
              <a:t>)</a:t>
            </a:r>
            <a:r>
              <a:rPr lang="zh-CN" altLang="en-US" sz="2600" b="1" kern="100" noProof="1">
                <a:solidFill>
                  <a:srgbClr val="014B88"/>
                </a:solidFill>
                <a:latin typeface="仿宋_GB2312"/>
                <a:cs typeface="Times New Roman" panose="02020603050405020304" pitchFamily="18" charset="0"/>
              </a:rPr>
              <a:t>来实现。</a:t>
            </a:r>
            <a:endParaRPr lang="zh-CN" altLang="en-US" sz="2600" b="1" kern="100" noProof="1">
              <a:solidFill>
                <a:srgbClr val="014B88"/>
              </a:solidFill>
              <a:latin typeface="仿宋_GB2312"/>
              <a:cs typeface="Times New Roman" panose="02020603050405020304" pitchFamily="18" charset="0"/>
            </a:endParaRPr>
          </a:p>
          <a:p>
            <a:pPr>
              <a:lnSpc>
                <a:spcPct val="150000"/>
              </a:lnSpc>
              <a:buFont typeface="Arial" panose="020B0604020202020204" pitchFamily="34" charset="0"/>
              <a:buNone/>
            </a:pPr>
            <a:r>
              <a:rPr lang="zh-CN" altLang="en-US" sz="2600" b="1" kern="100" noProof="1">
                <a:solidFill>
                  <a:srgbClr val="014B88"/>
                </a:solidFill>
                <a:latin typeface="仿宋_GB2312"/>
                <a:cs typeface="Times New Roman" panose="02020603050405020304" pitchFamily="18" charset="0"/>
              </a:rPr>
              <a:t>		显然，深度优先搜索是一个递归的过程。为了判断在遍历过程中每个点是否被访问过，可以设定</a:t>
            </a:r>
            <a:r>
              <a:rPr lang="en-US" altLang="zh-CN" sz="2600" b="1" kern="100" noProof="1">
                <a:solidFill>
                  <a:srgbClr val="014B88"/>
                </a:solidFill>
                <a:latin typeface="仿宋_GB2312"/>
                <a:cs typeface="Times New Roman" panose="02020603050405020304" pitchFamily="18" charset="0"/>
              </a:rPr>
              <a:t>visit[maxn]</a:t>
            </a:r>
            <a:r>
              <a:rPr lang="zh-CN" altLang="en-US" sz="2600" b="1" kern="100" noProof="1">
                <a:solidFill>
                  <a:srgbClr val="014B88"/>
                </a:solidFill>
                <a:latin typeface="仿宋_GB2312"/>
                <a:cs typeface="Times New Roman" panose="02020603050405020304" pitchFamily="18" charset="0"/>
              </a:rPr>
              <a:t>数组来记录该定点是否被访问过。</a:t>
            </a:r>
            <a:endParaRPr lang="zh-CN" altLang="en-US" sz="2600" b="1" kern="100" noProof="1">
              <a:solidFill>
                <a:srgbClr val="014B88"/>
              </a:solidFill>
              <a:latin typeface="仿宋_GB2312"/>
              <a:cs typeface="Times New Roman" panose="02020603050405020304" pitchFamily="18" charset="0"/>
            </a:endParaRPr>
          </a:p>
          <a:p>
            <a:pPr>
              <a:buFont typeface="Arial" panose="020B0604020202020204" pitchFamily="34" charset="0"/>
              <a:buNone/>
            </a:pPr>
            <a:endParaRPr lang="zh-CN" altLang="en-US" noProof="1"/>
          </a:p>
        </p:txBody>
      </p:sp>
      <p:pic>
        <p:nvPicPr>
          <p:cNvPr id="10243" name="内容占位符 3" descr="300px-Depth-first-tree_svg.png"/>
          <p:cNvPicPr>
            <a:picLocks noGrp="1" noChangeAspect="1" noChangeArrowheads="1"/>
          </p:cNvPicPr>
          <p:nvPr>
            <p:ph type="body" sz="half" idx="4294967295"/>
          </p:nvPr>
        </p:nvPicPr>
        <p:blipFill>
          <a:blip r:embed="rId1">
            <a:extLst>
              <a:ext uri="{28A0092B-C50C-407E-A947-70E740481C1C}">
                <a14:useLocalDpi xmlns:a14="http://schemas.microsoft.com/office/drawing/2010/main" val="0"/>
              </a:ext>
            </a:extLst>
          </a:blip>
          <a:srcRect/>
          <a:stretch>
            <a:fillRect/>
          </a:stretch>
        </p:blipFill>
        <p:spPr bwMode="auto">
          <a:xfrm>
            <a:off x="7296850" y="1681995"/>
            <a:ext cx="4695961" cy="3005415"/>
          </a:xfrm>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深度优先搜索（</a:t>
            </a: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文本占位符 18434"/>
          <p:cNvSpPr>
            <a:spLocks noGrp="1" noRot="1"/>
          </p:cNvSpPr>
          <p:nvPr>
            <p:ph type="body" idx="4294967295"/>
          </p:nvPr>
        </p:nvSpPr>
        <p:spPr>
          <a:xfrm>
            <a:off x="838200" y="1367301"/>
            <a:ext cx="11084511" cy="4351337"/>
          </a:xfrm>
        </p:spPr>
        <p:txBody>
          <a:bodyPr>
            <a:normAutofit lnSpcReduction="10000"/>
          </a:bodyPr>
          <a:lstStyle/>
          <a:p>
            <a:pPr>
              <a:lnSpc>
                <a:spcPct val="80000"/>
              </a:lnSpc>
              <a:spcBef>
                <a:spcPts val="1300"/>
              </a:spcBef>
              <a:buFont typeface="Arial" panose="020B0604020202020204" pitchFamily="34" charset="0"/>
              <a:buNone/>
            </a:pPr>
            <a:r>
              <a:rPr lang="en-US" sz="2600" b="1" noProof="1">
                <a:solidFill>
                  <a:srgbClr val="014B88"/>
                </a:solidFill>
                <a:latin typeface="Consolas" panose="020B0609020204030204" pitchFamily="49" charset="0"/>
              </a:rPr>
              <a:t>void DFS(node v)</a:t>
            </a:r>
            <a:r>
              <a:rPr lang="en-US" sz="3500" b="1" noProof="1">
                <a:solidFill>
                  <a:srgbClr val="014B88"/>
                </a:solidFill>
                <a:latin typeface="Consolas" panose="020B0609020204030204" pitchFamily="49" charset="0"/>
              </a:rPr>
              <a:t>{</a:t>
            </a:r>
            <a:endParaRPr lang="en-US" sz="3500"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从第</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个顶点出发递归地深度优先遍历</a:t>
            </a:r>
            <a:endParaRPr lang="zh-CN" altLang="en-US"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visit[v] = true;</a:t>
            </a:r>
            <a:endParaRPr lang="en-US"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具体函数内容</a:t>
            </a:r>
            <a:endParaRPr lang="zh-CN" altLang="en-US"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a:t>
            </a:r>
            <a:r>
              <a:rPr lang="zh-CN" altLang="en-US" b="1" noProof="1">
                <a:solidFill>
                  <a:srgbClr val="014B88"/>
                </a:solidFill>
                <a:latin typeface="Consolas" panose="020B0609020204030204" pitchFamily="49" charset="0"/>
              </a:rPr>
              <a:t>对于每个和</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相邻的点</a:t>
            </a:r>
            <a:r>
              <a:rPr lang="en-US" altLang="zh-CN" b="1" noProof="1">
                <a:solidFill>
                  <a:srgbClr val="014B88"/>
                </a:solidFill>
                <a:latin typeface="Consolas" panose="020B0609020204030204" pitchFamily="49" charset="0"/>
              </a:rPr>
              <a:t>w</a:t>
            </a:r>
            <a:endParaRPr lang="en-US" altLang="zh-CN"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		if(!visit[w])DFS(w);	//</a:t>
            </a:r>
            <a:r>
              <a:rPr lang="zh-CN" altLang="en-US" b="1" noProof="1">
                <a:solidFill>
                  <a:srgbClr val="014B88"/>
                </a:solidFill>
                <a:latin typeface="Consolas" panose="020B0609020204030204" pitchFamily="49" charset="0"/>
              </a:rPr>
              <a:t>对</a:t>
            </a:r>
            <a:r>
              <a:rPr lang="en-US" altLang="zh-CN" b="1" noProof="1">
                <a:solidFill>
                  <a:srgbClr val="014B88"/>
                </a:solidFill>
                <a:latin typeface="Consolas" panose="020B0609020204030204" pitchFamily="49" charset="0"/>
              </a:rPr>
              <a:t>v</a:t>
            </a:r>
            <a:r>
              <a:rPr lang="zh-CN" altLang="en-US" b="1" noProof="1">
                <a:solidFill>
                  <a:srgbClr val="014B88"/>
                </a:solidFill>
                <a:latin typeface="Consolas" panose="020B0609020204030204" pitchFamily="49" charset="0"/>
              </a:rPr>
              <a:t>的尚未访问的邻接顶点</a:t>
            </a:r>
            <a:r>
              <a:rPr lang="en-US" altLang="zh-CN" b="1" noProof="1">
                <a:solidFill>
                  <a:srgbClr val="014B88"/>
                </a:solidFill>
                <a:latin typeface="Consolas" panose="020B0609020204030204" pitchFamily="49" charset="0"/>
              </a:rPr>
              <a:t>w</a:t>
            </a:r>
            <a:r>
              <a:rPr lang="zh-CN" altLang="en-US" b="1" noProof="1">
                <a:solidFill>
                  <a:srgbClr val="014B88"/>
                </a:solidFill>
                <a:latin typeface="Consolas" panose="020B0609020204030204" pitchFamily="49" charset="0"/>
              </a:rPr>
              <a:t>递归调用</a:t>
            </a:r>
            <a:endParaRPr lang="zh-CN" altLang="en-US" b="1" noProof="1">
              <a:solidFill>
                <a:srgbClr val="014B88"/>
              </a:solidFill>
              <a:latin typeface="Consolas" panose="020B0609020204030204" pitchFamily="49" charset="0"/>
            </a:endParaRPr>
          </a:p>
          <a:p>
            <a:pPr>
              <a:lnSpc>
                <a:spcPct val="80000"/>
              </a:lnSpc>
              <a:spcBef>
                <a:spcPts val="1300"/>
              </a:spcBef>
              <a:buFont typeface="Arial" panose="020B0604020202020204" pitchFamily="34" charset="0"/>
              <a:buNone/>
            </a:pPr>
            <a:r>
              <a:rPr lang="en-US" b="1" noProof="1">
                <a:solidFill>
                  <a:srgbClr val="014B88"/>
                </a:solidFill>
                <a:latin typeface="Consolas" panose="020B0609020204030204" pitchFamily="49" charset="0"/>
              </a:rPr>
              <a:t>}</a:t>
            </a:r>
            <a:endParaRPr lang="en-US" b="1" noProof="1">
              <a:solidFill>
                <a:srgbClr val="014B88"/>
              </a:solidFill>
              <a:latin typeface="Consolas" panose="020B0609020204030204" pitchFamily="49" charset="0"/>
            </a:endParaRPr>
          </a:p>
          <a:p>
            <a:pPr>
              <a:lnSpc>
                <a:spcPct val="80000"/>
              </a:lnSpc>
              <a:buFont typeface="Arial" panose="020B0604020202020204" pitchFamily="34" charset="0"/>
              <a:buNone/>
            </a:pPr>
            <a:r>
              <a:rPr lang="en-US" noProof="1"/>
              <a:t>	</a:t>
            </a:r>
            <a:endParaRPr lang="en-US" noProof="1"/>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深度优先搜索（</a:t>
            </a: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内容占位符 4"/>
          <p:cNvSpPr>
            <a:spLocks noGrp="1"/>
          </p:cNvSpPr>
          <p:nvPr>
            <p:ph idx="4294967295"/>
          </p:nvPr>
        </p:nvSpPr>
        <p:spPr>
          <a:xfrm>
            <a:off x="510127" y="1171991"/>
            <a:ext cx="11333825" cy="4351337"/>
          </a:xfrm>
        </p:spPr>
        <p:txBody>
          <a:bodyPr>
            <a:normAutofit/>
          </a:bodyPr>
          <a:lstStyle/>
          <a:p>
            <a:pPr marL="0" indent="0" eaLnBrk="1" hangingPunct="1">
              <a:lnSpc>
                <a:spcPct val="150000"/>
              </a:lnSpc>
              <a:buNone/>
            </a:pPr>
            <a:r>
              <a:rPr lang="zh-CN" altLang="en-US" sz="2600" b="1" kern="100" dirty="0">
                <a:solidFill>
                  <a:srgbClr val="014B88"/>
                </a:solidFill>
                <a:cs typeface="Times New Roman" panose="02020603050405020304" pitchFamily="18" charset="0"/>
              </a:rPr>
              <a:t>从初始状态</a:t>
            </a:r>
            <a:r>
              <a:rPr lang="en-US" altLang="zh-CN" sz="2600" b="1" kern="100" dirty="0">
                <a:solidFill>
                  <a:srgbClr val="014B88"/>
                </a:solidFill>
                <a:cs typeface="Times New Roman" panose="02020603050405020304" pitchFamily="18" charset="0"/>
              </a:rPr>
              <a:t>S</a:t>
            </a:r>
            <a:r>
              <a:rPr lang="zh-CN" altLang="en-US" sz="2600" b="1" kern="100" dirty="0">
                <a:solidFill>
                  <a:srgbClr val="014B88"/>
                </a:solidFill>
                <a:cs typeface="Times New Roman" panose="02020603050405020304" pitchFamily="18" charset="0"/>
              </a:rPr>
              <a:t>开始，利用规则生成搜索树下一层任一个结点，检查是否出现目标状态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，若未出现，以此状态利用规则生成再下一层任一个结点，再检查是否为目标节点</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若未出现，继续以上操作过程，一直进行到叶节点（即不能再生成新状态节点），当它仍不是目标状态，回溯到上一层结果，取另一可能扩展搜索的分支。生成新状态节点。若仍不是目标状态，就按该分支一直扩展到叶节点，若仍不是目标，采用相同的回溯办法回退到上层节点，扩展可能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时的分支生成新状态，</a:t>
            </a:r>
            <a:r>
              <a:rPr lang="en-US" altLang="zh-CN" sz="2600" b="1" kern="100" dirty="0">
                <a:solidFill>
                  <a:srgbClr val="014B88"/>
                </a:solidFill>
                <a:cs typeface="Times New Roman" panose="02020603050405020304" pitchFamily="18" charset="0"/>
              </a:rPr>
              <a:t>…</a:t>
            </a:r>
            <a:r>
              <a:rPr lang="zh-CN" altLang="en-US" sz="2600" b="1" kern="100" dirty="0">
                <a:solidFill>
                  <a:srgbClr val="014B88"/>
                </a:solidFill>
                <a:cs typeface="Times New Roman" panose="02020603050405020304" pitchFamily="18" charset="0"/>
              </a:rPr>
              <a:t>，一直进行下去，直到找到目标状态</a:t>
            </a:r>
            <a:r>
              <a:rPr lang="en-US" altLang="zh-CN" sz="2600" b="1" kern="100" dirty="0">
                <a:solidFill>
                  <a:srgbClr val="014B88"/>
                </a:solidFill>
                <a:cs typeface="Times New Roman" panose="02020603050405020304" pitchFamily="18" charset="0"/>
              </a:rPr>
              <a:t>G</a:t>
            </a:r>
            <a:r>
              <a:rPr lang="zh-CN" altLang="en-US" sz="2600" b="1" kern="100" dirty="0">
                <a:solidFill>
                  <a:srgbClr val="014B88"/>
                </a:solidFill>
                <a:cs typeface="Times New Roman" panose="02020603050405020304" pitchFamily="18" charset="0"/>
              </a:rPr>
              <a:t>为止。</a:t>
            </a:r>
            <a:endParaRPr lang="zh-CN" altLang="en-US" sz="2600" b="1" kern="100" dirty="0">
              <a:solidFill>
                <a:srgbClr val="014B88"/>
              </a:solidFill>
              <a:cs typeface="Times New Roman" panose="02020603050405020304" pitchFamily="18" charset="0"/>
            </a:endParaRPr>
          </a:p>
          <a:p>
            <a:pPr eaLnBrk="1" hangingPunct="1"/>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算法思想</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124"/>
          <p:cNvSpPr>
            <a:spLocks noGrp="1"/>
          </p:cNvSpPr>
          <p:nvPr>
            <p:ph type="body" idx="4294967295"/>
          </p:nvPr>
        </p:nvSpPr>
        <p:spPr>
          <a:xfrm>
            <a:off x="316876" y="1100931"/>
            <a:ext cx="11875124" cy="827088"/>
          </a:xfrm>
        </p:spPr>
        <p:txBody>
          <a:bodyPr vert="horz" wrap="square" anchor="ctr">
            <a:normAutofit fontScale="90000" lnSpcReduction="10000"/>
          </a:bodyPr>
          <a:lstStyle/>
          <a:p>
            <a:pPr marL="273050" indent="-273050">
              <a:buNone/>
            </a:pPr>
            <a:r>
              <a:rPr lang="zh-CN" altLang="en-US" sz="2600" b="1" kern="100" noProof="1">
                <a:latin typeface="仿宋_GB2312"/>
                <a:cs typeface="Times New Roman" panose="02020603050405020304" pitchFamily="18" charset="0"/>
              </a:rPr>
              <a:t>在寻找出口的过程中，每前进一步，当前位置入栈；每回退一步，栈顶元素出栈</a:t>
            </a:r>
            <a:endParaRPr lang="zh-CN" altLang="en-US" sz="2600" b="1" kern="100" noProof="1">
              <a:latin typeface="仿宋_GB2312"/>
              <a:cs typeface="Times New Roman" panose="02020603050405020304" pitchFamily="18" charset="0"/>
            </a:endParaRPr>
          </a:p>
          <a:p>
            <a:pPr marL="273050" indent="-273050">
              <a:buNone/>
            </a:pPr>
            <a:r>
              <a:rPr lang="zh-CN" altLang="en-US" sz="2600" b="1" kern="100" noProof="1">
                <a:latin typeface="仿宋_GB2312"/>
                <a:cs typeface="Times New Roman" panose="02020603050405020304" pitchFamily="18" charset="0"/>
              </a:rPr>
              <a:t>出口为</a:t>
            </a:r>
            <a:r>
              <a:rPr lang="en-US" altLang="zh-CN" sz="2600" b="1" kern="100" noProof="1">
                <a:latin typeface="仿宋_GB2312"/>
                <a:cs typeface="Times New Roman" panose="02020603050405020304" pitchFamily="18" charset="0"/>
              </a:rPr>
              <a:t>(8,8)</a:t>
            </a:r>
            <a:endParaRPr lang="en-US" altLang="zh-CN" sz="2600" b="1" kern="100" noProof="1">
              <a:latin typeface="仿宋_GB2312"/>
              <a:cs typeface="Times New Roman" panose="02020603050405020304" pitchFamily="18" charset="0"/>
            </a:endParaRPr>
          </a:p>
        </p:txBody>
      </p:sp>
      <p:sp>
        <p:nvSpPr>
          <p:cNvPr id="15362" name="Rectangle 2"/>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3" name="Rectangle 3"/>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4" name="Rectangle 4"/>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5" name="Rectangle 5"/>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6" name="Rectangle 6"/>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7" name="Rectangle 7"/>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8" name="Rectangle 8"/>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69" name="Rectangle 9"/>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0" name="Rectangle 10"/>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1"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2"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3"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4"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5"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6"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7"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8" name="Rectangle 18"/>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79" name="Rectangle 19"/>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0" name="Rectangle 20"/>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1" name="Rectangle 21"/>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2" name="Rectangle 22"/>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3" name="Rectangle 23"/>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4" name="Rectangle 24"/>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5" name="Rectangle 25"/>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6" name="Rectangle 26"/>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7" name="Rectangle 27"/>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8" name="Rectangle 28"/>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89" name="Rectangle 29"/>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0" name="Rectangle 30"/>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1" name="Rectangle 31"/>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2" name="Rectangle 32"/>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3" name="Rectangle 33"/>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4" name="Rectangle 34"/>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5" name="Rectangle 35"/>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6" name="Rectangle 36"/>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7" name="Rectangle 37"/>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8" name="Rectangle 38"/>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399" name="Rectangle 39"/>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0" name="Rectangle 40"/>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1" name="Rectangle 41"/>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2" name="Rectangle 4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3" name="Rectangle 43"/>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4" name="Rectangle 44"/>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5"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6"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7"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8"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09"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0"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1"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2"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3"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4"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5"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6"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7"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8"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19"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0"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1"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2"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3"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4"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5"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26" name="Rectangle 66"/>
          <p:cNvSpPr>
            <a:spLocks noChangeArrowheads="1"/>
          </p:cNvSpPr>
          <p:nvPr/>
        </p:nvSpPr>
        <p:spPr bwMode="auto">
          <a:xfrm>
            <a:off x="8153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5427" name="Rectangle 67"/>
          <p:cNvSpPr>
            <a:spLocks noChangeArrowheads="1"/>
          </p:cNvSpPr>
          <p:nvPr/>
        </p:nvSpPr>
        <p:spPr bwMode="auto">
          <a:xfrm>
            <a:off x="5486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5428" name="Rectangle 68"/>
          <p:cNvSpPr>
            <a:spLocks noChangeArrowheads="1"/>
          </p:cNvSpPr>
          <p:nvPr/>
        </p:nvSpPr>
        <p:spPr bwMode="auto">
          <a:xfrm>
            <a:off x="5867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5429" name="Rectangle 69"/>
          <p:cNvSpPr>
            <a:spLocks noChangeArrowheads="1"/>
          </p:cNvSpPr>
          <p:nvPr/>
        </p:nvSpPr>
        <p:spPr bwMode="auto">
          <a:xfrm>
            <a:off x="6240463" y="191611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5430" name="Rectangle 70"/>
          <p:cNvSpPr>
            <a:spLocks noChangeArrowheads="1"/>
          </p:cNvSpPr>
          <p:nvPr/>
        </p:nvSpPr>
        <p:spPr bwMode="auto">
          <a:xfrm>
            <a:off x="6629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5431" name="Rectangle 71"/>
          <p:cNvSpPr>
            <a:spLocks noChangeArrowheads="1"/>
          </p:cNvSpPr>
          <p:nvPr/>
        </p:nvSpPr>
        <p:spPr bwMode="auto">
          <a:xfrm>
            <a:off x="7010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5432" name="Rectangle 72"/>
          <p:cNvSpPr>
            <a:spLocks noChangeArrowheads="1"/>
          </p:cNvSpPr>
          <p:nvPr/>
        </p:nvSpPr>
        <p:spPr bwMode="auto">
          <a:xfrm>
            <a:off x="7391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5433" name="Rectangle 73"/>
          <p:cNvSpPr>
            <a:spLocks noChangeArrowheads="1"/>
          </p:cNvSpPr>
          <p:nvPr/>
        </p:nvSpPr>
        <p:spPr bwMode="auto">
          <a:xfrm>
            <a:off x="7772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5434" name="Rectangle 7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5435" name="Rectangle 7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5436" name="Rectangle 7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5437" name="Rectangle 7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5438" name="Rectangle 7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5439" name="Rectangle 7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5440" name="Rectangle 8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5441" name="Rectangle 8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5442" name="Rectangle 83"/>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3" name="Rectangle 84"/>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4" name="Rectangle 85"/>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5" name="Rectangle 86"/>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6" name="Rectangle 87"/>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7" name="Rectangle 88"/>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8" name="Rectangle 89"/>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49" name="Rectangle 90"/>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50" name="Rectangle 91"/>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51" name="Rectangle 9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5452" name="Rectangle 93"/>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3" name="Rectangle 94"/>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4" name="Rectangle 95"/>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5" name="Rectangle 96"/>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6" name="Rectangle 97"/>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7" name="Rectangle 98"/>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8" name="Rectangle 99"/>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59" name="Rectangle 100"/>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0" name="Rectangle 101"/>
          <p:cNvSpPr>
            <a:spLocks noChangeArrowheads="1"/>
          </p:cNvSpPr>
          <p:nvPr/>
        </p:nvSpPr>
        <p:spPr bwMode="auto">
          <a:xfrm>
            <a:off x="8543925" y="573405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1" name="Rectangle 102"/>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2" name="Rectangle 103"/>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3" name="Rectangle 104"/>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4" name="Rectangle 105"/>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5" name="Rectangle 106"/>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6" name="Rectangle 107"/>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7" name="Rectangle 108"/>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8" name="Rectangle 109"/>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5469" name="Rectangle 110"/>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0" name="Rectangle 111"/>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1" name="Rectangle 112"/>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2" name="Rectangle 113"/>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3" name="Rectangle 114"/>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4" name="Rectangle 115"/>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5" name="Rectangle 116"/>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6" name="Rectangle 117"/>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7" name="Rectangle 118"/>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8" name="Rectangle 119"/>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5479" name="Rectangle 120"/>
          <p:cNvSpPr>
            <a:spLocks noChangeArrowheads="1"/>
          </p:cNvSpPr>
          <p:nvPr/>
        </p:nvSpPr>
        <p:spPr bwMode="auto">
          <a:xfrm>
            <a:off x="5105400" y="190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5480" name="Rectangle 121"/>
          <p:cNvSpPr>
            <a:spLocks noChangeArrowheads="1"/>
          </p:cNvSpPr>
          <p:nvPr/>
        </p:nvSpPr>
        <p:spPr bwMode="auto">
          <a:xfrm>
            <a:off x="8543925" y="191611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5481" name="Rectangle 122"/>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15482" name="Picture 12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2667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22652" name="Group 124"/>
          <p:cNvGrpSpPr/>
          <p:nvPr/>
        </p:nvGrpSpPr>
        <p:grpSpPr bwMode="auto">
          <a:xfrm>
            <a:off x="1905000" y="2133601"/>
            <a:ext cx="1981200" cy="4054475"/>
            <a:chOff x="0" y="0"/>
            <a:chExt cx="1248" cy="2554"/>
          </a:xfrm>
        </p:grpSpPr>
        <p:grpSp>
          <p:nvGrpSpPr>
            <p:cNvPr id="15484" name="Group 125"/>
            <p:cNvGrpSpPr/>
            <p:nvPr/>
          </p:nvGrpSpPr>
          <p:grpSpPr bwMode="auto">
            <a:xfrm>
              <a:off x="336" y="0"/>
              <a:ext cx="912" cy="2544"/>
              <a:chOff x="0" y="0"/>
              <a:chExt cx="1056" cy="1392"/>
            </a:xfrm>
          </p:grpSpPr>
          <p:sp>
            <p:nvSpPr>
              <p:cNvPr id="15485"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6"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5487"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5488" name="Text Box 130"/>
            <p:cNvSpPr>
              <a:spLocks noChangeArrowheads="1"/>
            </p:cNvSpPr>
            <p:nvPr/>
          </p:nvSpPr>
          <p:spPr bwMode="auto">
            <a:xfrm>
              <a:off x="0" y="2304"/>
              <a:ext cx="24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5489" name="Rectangle 131"/>
            <p:cNvSpPr>
              <a:spLocks noChangeArrowheads="1"/>
            </p:cNvSpPr>
            <p:nvPr/>
          </p:nvSpPr>
          <p:spPr bwMode="auto">
            <a:xfrm>
              <a:off x="336" y="2362"/>
              <a:ext cx="912" cy="18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grpSp>
      <p:sp>
        <p:nvSpPr>
          <p:cNvPr id="13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2652"/>
                                        </p:tgtEl>
                                        <p:attrNameLst>
                                          <p:attrName>style.visibility</p:attrName>
                                        </p:attrNameLst>
                                      </p:cBhvr>
                                      <p:to>
                                        <p:strVal val="visible"/>
                                      </p:to>
                                    </p:set>
                                    <p:animEffect filter="wipe(down)">
                                      <p:cBhvr>
                                        <p:cTn id="7" dur="500"/>
                                        <p:tgtEl>
                                          <p:spTgt spid="22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2668588"/>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556" name="Rectangle 3"/>
          <p:cNvSpPr>
            <a:spLocks noChangeArrowheads="1"/>
          </p:cNvSpPr>
          <p:nvPr/>
        </p:nvSpPr>
        <p:spPr bwMode="auto">
          <a:xfrm>
            <a:off x="5486400" y="2668588"/>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6388" name="Rectangle 4"/>
          <p:cNvSpPr>
            <a:spLocks noChangeArrowheads="1"/>
          </p:cNvSpPr>
          <p:nvPr/>
        </p:nvSpPr>
        <p:spPr bwMode="auto">
          <a:xfrm>
            <a:off x="5867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89" name="Rectangle 5"/>
          <p:cNvSpPr>
            <a:spLocks noChangeArrowheads="1"/>
          </p:cNvSpPr>
          <p:nvPr/>
        </p:nvSpPr>
        <p:spPr bwMode="auto">
          <a:xfrm>
            <a:off x="6248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0" name="Rectangle 6"/>
          <p:cNvSpPr>
            <a:spLocks noChangeArrowheads="1"/>
          </p:cNvSpPr>
          <p:nvPr/>
        </p:nvSpPr>
        <p:spPr bwMode="auto">
          <a:xfrm>
            <a:off x="6629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1" name="Rectangle 7"/>
          <p:cNvSpPr>
            <a:spLocks noChangeArrowheads="1"/>
          </p:cNvSpPr>
          <p:nvPr/>
        </p:nvSpPr>
        <p:spPr bwMode="auto">
          <a:xfrm>
            <a:off x="7010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2" name="Rectangle 8"/>
          <p:cNvSpPr>
            <a:spLocks noChangeArrowheads="1"/>
          </p:cNvSpPr>
          <p:nvPr/>
        </p:nvSpPr>
        <p:spPr bwMode="auto">
          <a:xfrm>
            <a:off x="7391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3" name="Rectangle 9"/>
          <p:cNvSpPr>
            <a:spLocks noChangeArrowheads="1"/>
          </p:cNvSpPr>
          <p:nvPr/>
        </p:nvSpPr>
        <p:spPr bwMode="auto">
          <a:xfrm>
            <a:off x="7772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4" name="Rectangle 10"/>
          <p:cNvSpPr>
            <a:spLocks noChangeArrowheads="1"/>
          </p:cNvSpPr>
          <p:nvPr/>
        </p:nvSpPr>
        <p:spPr bwMode="auto">
          <a:xfrm>
            <a:off x="8153400" y="2668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5" name="Rectangle 11"/>
          <p:cNvSpPr>
            <a:spLocks noChangeArrowheads="1"/>
          </p:cNvSpPr>
          <p:nvPr/>
        </p:nvSpPr>
        <p:spPr bwMode="auto">
          <a:xfrm>
            <a:off x="5486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6" name="Rectangle 12"/>
          <p:cNvSpPr>
            <a:spLocks noChangeArrowheads="1"/>
          </p:cNvSpPr>
          <p:nvPr/>
        </p:nvSpPr>
        <p:spPr bwMode="auto">
          <a:xfrm>
            <a:off x="5867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7" name="Rectangle 13"/>
          <p:cNvSpPr>
            <a:spLocks noChangeArrowheads="1"/>
          </p:cNvSpPr>
          <p:nvPr/>
        </p:nvSpPr>
        <p:spPr bwMode="auto">
          <a:xfrm>
            <a:off x="6248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8" name="Rectangle 14"/>
          <p:cNvSpPr>
            <a:spLocks noChangeArrowheads="1"/>
          </p:cNvSpPr>
          <p:nvPr/>
        </p:nvSpPr>
        <p:spPr bwMode="auto">
          <a:xfrm>
            <a:off x="6629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399" name="Rectangle 15"/>
          <p:cNvSpPr>
            <a:spLocks noChangeArrowheads="1"/>
          </p:cNvSpPr>
          <p:nvPr/>
        </p:nvSpPr>
        <p:spPr bwMode="auto">
          <a:xfrm>
            <a:off x="7010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0" name="Rectangle 16"/>
          <p:cNvSpPr>
            <a:spLocks noChangeArrowheads="1"/>
          </p:cNvSpPr>
          <p:nvPr/>
        </p:nvSpPr>
        <p:spPr bwMode="auto">
          <a:xfrm>
            <a:off x="7391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1" name="Rectangle 17"/>
          <p:cNvSpPr>
            <a:spLocks noChangeArrowheads="1"/>
          </p:cNvSpPr>
          <p:nvPr/>
        </p:nvSpPr>
        <p:spPr bwMode="auto">
          <a:xfrm>
            <a:off x="7772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2" name="Rectangle 18"/>
          <p:cNvSpPr>
            <a:spLocks noChangeArrowheads="1"/>
          </p:cNvSpPr>
          <p:nvPr/>
        </p:nvSpPr>
        <p:spPr bwMode="auto">
          <a:xfrm>
            <a:off x="8153400" y="3049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3" name="Rectangle 19"/>
          <p:cNvSpPr>
            <a:spLocks noChangeArrowheads="1"/>
          </p:cNvSpPr>
          <p:nvPr/>
        </p:nvSpPr>
        <p:spPr bwMode="auto">
          <a:xfrm>
            <a:off x="5486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4" name="Rectangle 20"/>
          <p:cNvSpPr>
            <a:spLocks noChangeArrowheads="1"/>
          </p:cNvSpPr>
          <p:nvPr/>
        </p:nvSpPr>
        <p:spPr bwMode="auto">
          <a:xfrm>
            <a:off x="5867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5" name="Rectangle 21"/>
          <p:cNvSpPr>
            <a:spLocks noChangeArrowheads="1"/>
          </p:cNvSpPr>
          <p:nvPr/>
        </p:nvSpPr>
        <p:spPr bwMode="auto">
          <a:xfrm>
            <a:off x="6248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6" name="Rectangle 22"/>
          <p:cNvSpPr>
            <a:spLocks noChangeArrowheads="1"/>
          </p:cNvSpPr>
          <p:nvPr/>
        </p:nvSpPr>
        <p:spPr bwMode="auto">
          <a:xfrm>
            <a:off x="6629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7" name="Rectangle 23"/>
          <p:cNvSpPr>
            <a:spLocks noChangeArrowheads="1"/>
          </p:cNvSpPr>
          <p:nvPr/>
        </p:nvSpPr>
        <p:spPr bwMode="auto">
          <a:xfrm>
            <a:off x="7010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8" name="Rectangle 24"/>
          <p:cNvSpPr>
            <a:spLocks noChangeArrowheads="1"/>
          </p:cNvSpPr>
          <p:nvPr/>
        </p:nvSpPr>
        <p:spPr bwMode="auto">
          <a:xfrm>
            <a:off x="7391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09" name="Rectangle 25"/>
          <p:cNvSpPr>
            <a:spLocks noChangeArrowheads="1"/>
          </p:cNvSpPr>
          <p:nvPr/>
        </p:nvSpPr>
        <p:spPr bwMode="auto">
          <a:xfrm>
            <a:off x="7772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0" name="Rectangle 26"/>
          <p:cNvSpPr>
            <a:spLocks noChangeArrowheads="1"/>
          </p:cNvSpPr>
          <p:nvPr/>
        </p:nvSpPr>
        <p:spPr bwMode="auto">
          <a:xfrm>
            <a:off x="8153400" y="3430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1" name="Rectangle 27"/>
          <p:cNvSpPr>
            <a:spLocks noChangeArrowheads="1"/>
          </p:cNvSpPr>
          <p:nvPr/>
        </p:nvSpPr>
        <p:spPr bwMode="auto">
          <a:xfrm>
            <a:off x="5486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2" name="Rectangle 28"/>
          <p:cNvSpPr>
            <a:spLocks noChangeArrowheads="1"/>
          </p:cNvSpPr>
          <p:nvPr/>
        </p:nvSpPr>
        <p:spPr bwMode="auto">
          <a:xfrm>
            <a:off x="5867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3" name="Rectangle 29"/>
          <p:cNvSpPr>
            <a:spLocks noChangeArrowheads="1"/>
          </p:cNvSpPr>
          <p:nvPr/>
        </p:nvSpPr>
        <p:spPr bwMode="auto">
          <a:xfrm>
            <a:off x="6248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4" name="Rectangle 30"/>
          <p:cNvSpPr>
            <a:spLocks noChangeArrowheads="1"/>
          </p:cNvSpPr>
          <p:nvPr/>
        </p:nvSpPr>
        <p:spPr bwMode="auto">
          <a:xfrm>
            <a:off x="6629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5" name="Rectangle 31"/>
          <p:cNvSpPr>
            <a:spLocks noChangeArrowheads="1"/>
          </p:cNvSpPr>
          <p:nvPr/>
        </p:nvSpPr>
        <p:spPr bwMode="auto">
          <a:xfrm>
            <a:off x="7010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6" name="Rectangle 32"/>
          <p:cNvSpPr>
            <a:spLocks noChangeArrowheads="1"/>
          </p:cNvSpPr>
          <p:nvPr/>
        </p:nvSpPr>
        <p:spPr bwMode="auto">
          <a:xfrm>
            <a:off x="7391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7" name="Rectangle 33"/>
          <p:cNvSpPr>
            <a:spLocks noChangeArrowheads="1"/>
          </p:cNvSpPr>
          <p:nvPr/>
        </p:nvSpPr>
        <p:spPr bwMode="auto">
          <a:xfrm>
            <a:off x="7772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8" name="Rectangle 34"/>
          <p:cNvSpPr>
            <a:spLocks noChangeArrowheads="1"/>
          </p:cNvSpPr>
          <p:nvPr/>
        </p:nvSpPr>
        <p:spPr bwMode="auto">
          <a:xfrm>
            <a:off x="8153400" y="3811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19" name="Rectangle 35"/>
          <p:cNvSpPr>
            <a:spLocks noChangeArrowheads="1"/>
          </p:cNvSpPr>
          <p:nvPr/>
        </p:nvSpPr>
        <p:spPr bwMode="auto">
          <a:xfrm>
            <a:off x="5486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0" name="Rectangle 36"/>
          <p:cNvSpPr>
            <a:spLocks noChangeArrowheads="1"/>
          </p:cNvSpPr>
          <p:nvPr/>
        </p:nvSpPr>
        <p:spPr bwMode="auto">
          <a:xfrm>
            <a:off x="5867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1" name="Rectangle 37"/>
          <p:cNvSpPr>
            <a:spLocks noChangeArrowheads="1"/>
          </p:cNvSpPr>
          <p:nvPr/>
        </p:nvSpPr>
        <p:spPr bwMode="auto">
          <a:xfrm>
            <a:off x="6248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2" name="Rectangle 38"/>
          <p:cNvSpPr>
            <a:spLocks noChangeArrowheads="1"/>
          </p:cNvSpPr>
          <p:nvPr/>
        </p:nvSpPr>
        <p:spPr bwMode="auto">
          <a:xfrm>
            <a:off x="6629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3" name="Rectangle 39"/>
          <p:cNvSpPr>
            <a:spLocks noChangeArrowheads="1"/>
          </p:cNvSpPr>
          <p:nvPr/>
        </p:nvSpPr>
        <p:spPr bwMode="auto">
          <a:xfrm>
            <a:off x="7010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4" name="Rectangle 40"/>
          <p:cNvSpPr>
            <a:spLocks noChangeArrowheads="1"/>
          </p:cNvSpPr>
          <p:nvPr/>
        </p:nvSpPr>
        <p:spPr bwMode="auto">
          <a:xfrm>
            <a:off x="7391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5" name="Rectangle 41"/>
          <p:cNvSpPr>
            <a:spLocks noChangeArrowheads="1"/>
          </p:cNvSpPr>
          <p:nvPr/>
        </p:nvSpPr>
        <p:spPr bwMode="auto">
          <a:xfrm>
            <a:off x="7772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6" name="Rectangle 42"/>
          <p:cNvSpPr>
            <a:spLocks noChangeArrowheads="1"/>
          </p:cNvSpPr>
          <p:nvPr/>
        </p:nvSpPr>
        <p:spPr bwMode="auto">
          <a:xfrm>
            <a:off x="8153400" y="4192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7" name="Rectangle 43"/>
          <p:cNvSpPr>
            <a:spLocks noChangeArrowheads="1"/>
          </p:cNvSpPr>
          <p:nvPr/>
        </p:nvSpPr>
        <p:spPr bwMode="auto">
          <a:xfrm>
            <a:off x="5486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8" name="Rectangle 44"/>
          <p:cNvSpPr>
            <a:spLocks noChangeArrowheads="1"/>
          </p:cNvSpPr>
          <p:nvPr/>
        </p:nvSpPr>
        <p:spPr bwMode="auto">
          <a:xfrm>
            <a:off x="5867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29" name="Rectangle 45"/>
          <p:cNvSpPr>
            <a:spLocks noChangeArrowheads="1"/>
          </p:cNvSpPr>
          <p:nvPr/>
        </p:nvSpPr>
        <p:spPr bwMode="auto">
          <a:xfrm>
            <a:off x="6248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0" name="Rectangle 46"/>
          <p:cNvSpPr>
            <a:spLocks noChangeArrowheads="1"/>
          </p:cNvSpPr>
          <p:nvPr/>
        </p:nvSpPr>
        <p:spPr bwMode="auto">
          <a:xfrm>
            <a:off x="6629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1" name="Rectangle 47"/>
          <p:cNvSpPr>
            <a:spLocks noChangeArrowheads="1"/>
          </p:cNvSpPr>
          <p:nvPr/>
        </p:nvSpPr>
        <p:spPr bwMode="auto">
          <a:xfrm>
            <a:off x="7010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2" name="Rectangle 48"/>
          <p:cNvSpPr>
            <a:spLocks noChangeArrowheads="1"/>
          </p:cNvSpPr>
          <p:nvPr/>
        </p:nvSpPr>
        <p:spPr bwMode="auto">
          <a:xfrm>
            <a:off x="7391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3" name="Rectangle 49"/>
          <p:cNvSpPr>
            <a:spLocks noChangeArrowheads="1"/>
          </p:cNvSpPr>
          <p:nvPr/>
        </p:nvSpPr>
        <p:spPr bwMode="auto">
          <a:xfrm>
            <a:off x="7772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4" name="Rectangle 50"/>
          <p:cNvSpPr>
            <a:spLocks noChangeArrowheads="1"/>
          </p:cNvSpPr>
          <p:nvPr/>
        </p:nvSpPr>
        <p:spPr bwMode="auto">
          <a:xfrm>
            <a:off x="8153400" y="4573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5" name="Rectangle 51"/>
          <p:cNvSpPr>
            <a:spLocks noChangeArrowheads="1"/>
          </p:cNvSpPr>
          <p:nvPr/>
        </p:nvSpPr>
        <p:spPr bwMode="auto">
          <a:xfrm>
            <a:off x="5486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6" name="Rectangle 52"/>
          <p:cNvSpPr>
            <a:spLocks noChangeArrowheads="1"/>
          </p:cNvSpPr>
          <p:nvPr/>
        </p:nvSpPr>
        <p:spPr bwMode="auto">
          <a:xfrm>
            <a:off x="5867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7" name="Rectangle 53"/>
          <p:cNvSpPr>
            <a:spLocks noChangeArrowheads="1"/>
          </p:cNvSpPr>
          <p:nvPr/>
        </p:nvSpPr>
        <p:spPr bwMode="auto">
          <a:xfrm>
            <a:off x="6248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8" name="Rectangle 54"/>
          <p:cNvSpPr>
            <a:spLocks noChangeArrowheads="1"/>
          </p:cNvSpPr>
          <p:nvPr/>
        </p:nvSpPr>
        <p:spPr bwMode="auto">
          <a:xfrm>
            <a:off x="6629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39" name="Rectangle 55"/>
          <p:cNvSpPr>
            <a:spLocks noChangeArrowheads="1"/>
          </p:cNvSpPr>
          <p:nvPr/>
        </p:nvSpPr>
        <p:spPr bwMode="auto">
          <a:xfrm>
            <a:off x="7010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0" name="Rectangle 56"/>
          <p:cNvSpPr>
            <a:spLocks noChangeArrowheads="1"/>
          </p:cNvSpPr>
          <p:nvPr/>
        </p:nvSpPr>
        <p:spPr bwMode="auto">
          <a:xfrm>
            <a:off x="7391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1" name="Rectangle 57"/>
          <p:cNvSpPr>
            <a:spLocks noChangeArrowheads="1"/>
          </p:cNvSpPr>
          <p:nvPr/>
        </p:nvSpPr>
        <p:spPr bwMode="auto">
          <a:xfrm>
            <a:off x="7772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2" name="Rectangle 58"/>
          <p:cNvSpPr>
            <a:spLocks noChangeArrowheads="1"/>
          </p:cNvSpPr>
          <p:nvPr/>
        </p:nvSpPr>
        <p:spPr bwMode="auto">
          <a:xfrm>
            <a:off x="8153400" y="4954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3" name="Rectangle 59"/>
          <p:cNvSpPr>
            <a:spLocks noChangeArrowheads="1"/>
          </p:cNvSpPr>
          <p:nvPr/>
        </p:nvSpPr>
        <p:spPr bwMode="auto">
          <a:xfrm>
            <a:off x="5486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4" name="Rectangle 60"/>
          <p:cNvSpPr>
            <a:spLocks noChangeArrowheads="1"/>
          </p:cNvSpPr>
          <p:nvPr/>
        </p:nvSpPr>
        <p:spPr bwMode="auto">
          <a:xfrm>
            <a:off x="5867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5" name="Rectangle 61"/>
          <p:cNvSpPr>
            <a:spLocks noChangeArrowheads="1"/>
          </p:cNvSpPr>
          <p:nvPr/>
        </p:nvSpPr>
        <p:spPr bwMode="auto">
          <a:xfrm>
            <a:off x="6248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6" name="Rectangle 62"/>
          <p:cNvSpPr>
            <a:spLocks noChangeArrowheads="1"/>
          </p:cNvSpPr>
          <p:nvPr/>
        </p:nvSpPr>
        <p:spPr bwMode="auto">
          <a:xfrm>
            <a:off x="6629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7" name="Rectangle 63"/>
          <p:cNvSpPr>
            <a:spLocks noChangeArrowheads="1"/>
          </p:cNvSpPr>
          <p:nvPr/>
        </p:nvSpPr>
        <p:spPr bwMode="auto">
          <a:xfrm>
            <a:off x="7010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8" name="Rectangle 64"/>
          <p:cNvSpPr>
            <a:spLocks noChangeArrowheads="1"/>
          </p:cNvSpPr>
          <p:nvPr/>
        </p:nvSpPr>
        <p:spPr bwMode="auto">
          <a:xfrm>
            <a:off x="7391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49" name="Rectangle 65"/>
          <p:cNvSpPr>
            <a:spLocks noChangeArrowheads="1"/>
          </p:cNvSpPr>
          <p:nvPr/>
        </p:nvSpPr>
        <p:spPr bwMode="auto">
          <a:xfrm>
            <a:off x="7772400" y="5335588"/>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50" name="Rectangle 66"/>
          <p:cNvSpPr>
            <a:spLocks noChangeArrowheads="1"/>
          </p:cNvSpPr>
          <p:nvPr/>
        </p:nvSpPr>
        <p:spPr bwMode="auto">
          <a:xfrm>
            <a:off x="8153400" y="5335588"/>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51" name="Rectangle 67"/>
          <p:cNvSpPr>
            <a:spLocks noChangeArrowheads="1"/>
          </p:cNvSpPr>
          <p:nvPr/>
        </p:nvSpPr>
        <p:spPr bwMode="auto">
          <a:xfrm>
            <a:off x="8153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6452" name="Rectangle 68"/>
          <p:cNvSpPr>
            <a:spLocks noChangeArrowheads="1"/>
          </p:cNvSpPr>
          <p:nvPr/>
        </p:nvSpPr>
        <p:spPr bwMode="auto">
          <a:xfrm>
            <a:off x="5486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6453" name="Rectangle 69"/>
          <p:cNvSpPr>
            <a:spLocks noChangeArrowheads="1"/>
          </p:cNvSpPr>
          <p:nvPr/>
        </p:nvSpPr>
        <p:spPr bwMode="auto">
          <a:xfrm>
            <a:off x="5880100"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6454" name="Rectangle 70"/>
          <p:cNvSpPr>
            <a:spLocks noChangeArrowheads="1"/>
          </p:cNvSpPr>
          <p:nvPr/>
        </p:nvSpPr>
        <p:spPr bwMode="auto">
          <a:xfrm>
            <a:off x="6248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6455" name="Rectangle 71"/>
          <p:cNvSpPr>
            <a:spLocks noChangeArrowheads="1"/>
          </p:cNvSpPr>
          <p:nvPr/>
        </p:nvSpPr>
        <p:spPr bwMode="auto">
          <a:xfrm>
            <a:off x="6629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6456" name="Rectangle 72"/>
          <p:cNvSpPr>
            <a:spLocks noChangeArrowheads="1"/>
          </p:cNvSpPr>
          <p:nvPr/>
        </p:nvSpPr>
        <p:spPr bwMode="auto">
          <a:xfrm>
            <a:off x="7010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6457" name="Rectangle 73"/>
          <p:cNvSpPr>
            <a:spLocks noChangeArrowheads="1"/>
          </p:cNvSpPr>
          <p:nvPr/>
        </p:nvSpPr>
        <p:spPr bwMode="auto">
          <a:xfrm>
            <a:off x="7391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6458" name="Rectangle 74"/>
          <p:cNvSpPr>
            <a:spLocks noChangeArrowheads="1"/>
          </p:cNvSpPr>
          <p:nvPr/>
        </p:nvSpPr>
        <p:spPr bwMode="auto">
          <a:xfrm>
            <a:off x="7751763"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6459" name="Rectangle 75"/>
          <p:cNvSpPr>
            <a:spLocks noChangeArrowheads="1"/>
          </p:cNvSpPr>
          <p:nvPr/>
        </p:nvSpPr>
        <p:spPr bwMode="auto">
          <a:xfrm>
            <a:off x="4648200" y="5335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6460" name="Rectangle 76"/>
          <p:cNvSpPr>
            <a:spLocks noChangeArrowheads="1"/>
          </p:cNvSpPr>
          <p:nvPr/>
        </p:nvSpPr>
        <p:spPr bwMode="auto">
          <a:xfrm>
            <a:off x="4648200" y="2668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6461" name="Rectangle 77"/>
          <p:cNvSpPr>
            <a:spLocks noChangeArrowheads="1"/>
          </p:cNvSpPr>
          <p:nvPr/>
        </p:nvSpPr>
        <p:spPr bwMode="auto">
          <a:xfrm>
            <a:off x="4648200" y="3049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6462" name="Rectangle 78"/>
          <p:cNvSpPr>
            <a:spLocks noChangeArrowheads="1"/>
          </p:cNvSpPr>
          <p:nvPr/>
        </p:nvSpPr>
        <p:spPr bwMode="auto">
          <a:xfrm>
            <a:off x="4648200" y="3430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6463" name="Rectangle 79"/>
          <p:cNvSpPr>
            <a:spLocks noChangeArrowheads="1"/>
          </p:cNvSpPr>
          <p:nvPr/>
        </p:nvSpPr>
        <p:spPr bwMode="auto">
          <a:xfrm>
            <a:off x="4648200" y="3811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6464" name="Rectangle 80"/>
          <p:cNvSpPr>
            <a:spLocks noChangeArrowheads="1"/>
          </p:cNvSpPr>
          <p:nvPr/>
        </p:nvSpPr>
        <p:spPr bwMode="auto">
          <a:xfrm>
            <a:off x="4648200" y="4192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6465" name="Rectangle 81"/>
          <p:cNvSpPr>
            <a:spLocks noChangeArrowheads="1"/>
          </p:cNvSpPr>
          <p:nvPr/>
        </p:nvSpPr>
        <p:spPr bwMode="auto">
          <a:xfrm>
            <a:off x="4648200" y="4573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6466" name="Rectangle 82"/>
          <p:cNvSpPr>
            <a:spLocks noChangeArrowheads="1"/>
          </p:cNvSpPr>
          <p:nvPr/>
        </p:nvSpPr>
        <p:spPr bwMode="auto">
          <a:xfrm>
            <a:off x="4648200" y="4954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6467" name="Rectangle 84"/>
          <p:cNvSpPr>
            <a:spLocks noChangeArrowheads="1"/>
          </p:cNvSpPr>
          <p:nvPr/>
        </p:nvSpPr>
        <p:spPr bwMode="auto">
          <a:xfrm>
            <a:off x="5105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68" name="Rectangle 85"/>
          <p:cNvSpPr>
            <a:spLocks noChangeArrowheads="1"/>
          </p:cNvSpPr>
          <p:nvPr/>
        </p:nvSpPr>
        <p:spPr bwMode="auto">
          <a:xfrm>
            <a:off x="5105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69" name="Rectangle 86"/>
          <p:cNvSpPr>
            <a:spLocks noChangeArrowheads="1"/>
          </p:cNvSpPr>
          <p:nvPr/>
        </p:nvSpPr>
        <p:spPr bwMode="auto">
          <a:xfrm>
            <a:off x="5105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0" name="Rectangle 87"/>
          <p:cNvSpPr>
            <a:spLocks noChangeArrowheads="1"/>
          </p:cNvSpPr>
          <p:nvPr/>
        </p:nvSpPr>
        <p:spPr bwMode="auto">
          <a:xfrm>
            <a:off x="5105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1" name="Rectangle 88"/>
          <p:cNvSpPr>
            <a:spLocks noChangeArrowheads="1"/>
          </p:cNvSpPr>
          <p:nvPr/>
        </p:nvSpPr>
        <p:spPr bwMode="auto">
          <a:xfrm>
            <a:off x="5105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2" name="Rectangle 89"/>
          <p:cNvSpPr>
            <a:spLocks noChangeArrowheads="1"/>
          </p:cNvSpPr>
          <p:nvPr/>
        </p:nvSpPr>
        <p:spPr bwMode="auto">
          <a:xfrm>
            <a:off x="5105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3" name="Rectangle 90"/>
          <p:cNvSpPr>
            <a:spLocks noChangeArrowheads="1"/>
          </p:cNvSpPr>
          <p:nvPr/>
        </p:nvSpPr>
        <p:spPr bwMode="auto">
          <a:xfrm>
            <a:off x="5105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4" name="Rectangle 91"/>
          <p:cNvSpPr>
            <a:spLocks noChangeArrowheads="1"/>
          </p:cNvSpPr>
          <p:nvPr/>
        </p:nvSpPr>
        <p:spPr bwMode="auto">
          <a:xfrm>
            <a:off x="5105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5" name="Rectangle 92"/>
          <p:cNvSpPr>
            <a:spLocks noChangeArrowheads="1"/>
          </p:cNvSpPr>
          <p:nvPr/>
        </p:nvSpPr>
        <p:spPr bwMode="auto">
          <a:xfrm>
            <a:off x="5105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76" name="Rectangle 93"/>
          <p:cNvSpPr>
            <a:spLocks noChangeArrowheads="1"/>
          </p:cNvSpPr>
          <p:nvPr/>
        </p:nvSpPr>
        <p:spPr bwMode="auto">
          <a:xfrm>
            <a:off x="4648200" y="5716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6477" name="Rectangle 94"/>
          <p:cNvSpPr>
            <a:spLocks noChangeArrowheads="1"/>
          </p:cNvSpPr>
          <p:nvPr/>
        </p:nvSpPr>
        <p:spPr bwMode="auto">
          <a:xfrm>
            <a:off x="8534400" y="2668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78" name="Rectangle 95"/>
          <p:cNvSpPr>
            <a:spLocks noChangeArrowheads="1"/>
          </p:cNvSpPr>
          <p:nvPr/>
        </p:nvSpPr>
        <p:spPr bwMode="auto">
          <a:xfrm>
            <a:off x="8534400" y="3049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79" name="Rectangle 96"/>
          <p:cNvSpPr>
            <a:spLocks noChangeArrowheads="1"/>
          </p:cNvSpPr>
          <p:nvPr/>
        </p:nvSpPr>
        <p:spPr bwMode="auto">
          <a:xfrm>
            <a:off x="8534400" y="3430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0" name="Rectangle 97"/>
          <p:cNvSpPr>
            <a:spLocks noChangeArrowheads="1"/>
          </p:cNvSpPr>
          <p:nvPr/>
        </p:nvSpPr>
        <p:spPr bwMode="auto">
          <a:xfrm>
            <a:off x="8534400" y="3811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1" name="Rectangle 98"/>
          <p:cNvSpPr>
            <a:spLocks noChangeArrowheads="1"/>
          </p:cNvSpPr>
          <p:nvPr/>
        </p:nvSpPr>
        <p:spPr bwMode="auto">
          <a:xfrm>
            <a:off x="8534400" y="4192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2" name="Rectangle 99"/>
          <p:cNvSpPr>
            <a:spLocks noChangeArrowheads="1"/>
          </p:cNvSpPr>
          <p:nvPr/>
        </p:nvSpPr>
        <p:spPr bwMode="auto">
          <a:xfrm>
            <a:off x="8534400" y="4573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3" name="Rectangle 100"/>
          <p:cNvSpPr>
            <a:spLocks noChangeArrowheads="1"/>
          </p:cNvSpPr>
          <p:nvPr/>
        </p:nvSpPr>
        <p:spPr bwMode="auto">
          <a:xfrm>
            <a:off x="8534400" y="4954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4" name="Rectangle 101"/>
          <p:cNvSpPr>
            <a:spLocks noChangeArrowheads="1"/>
          </p:cNvSpPr>
          <p:nvPr/>
        </p:nvSpPr>
        <p:spPr bwMode="auto">
          <a:xfrm>
            <a:off x="8534400" y="5335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5" name="Rectangle 102"/>
          <p:cNvSpPr>
            <a:spLocks noChangeArrowheads="1"/>
          </p:cNvSpPr>
          <p:nvPr/>
        </p:nvSpPr>
        <p:spPr bwMode="auto">
          <a:xfrm>
            <a:off x="8534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6" name="Rectangle 103"/>
          <p:cNvSpPr>
            <a:spLocks noChangeArrowheads="1"/>
          </p:cNvSpPr>
          <p:nvPr/>
        </p:nvSpPr>
        <p:spPr bwMode="auto">
          <a:xfrm>
            <a:off x="5867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7" name="Rectangle 104"/>
          <p:cNvSpPr>
            <a:spLocks noChangeArrowheads="1"/>
          </p:cNvSpPr>
          <p:nvPr/>
        </p:nvSpPr>
        <p:spPr bwMode="auto">
          <a:xfrm>
            <a:off x="6248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8" name="Rectangle 105"/>
          <p:cNvSpPr>
            <a:spLocks noChangeArrowheads="1"/>
          </p:cNvSpPr>
          <p:nvPr/>
        </p:nvSpPr>
        <p:spPr bwMode="auto">
          <a:xfrm>
            <a:off x="6629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89" name="Rectangle 106"/>
          <p:cNvSpPr>
            <a:spLocks noChangeArrowheads="1"/>
          </p:cNvSpPr>
          <p:nvPr/>
        </p:nvSpPr>
        <p:spPr bwMode="auto">
          <a:xfrm>
            <a:off x="7010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0" name="Rectangle 107"/>
          <p:cNvSpPr>
            <a:spLocks noChangeArrowheads="1"/>
          </p:cNvSpPr>
          <p:nvPr/>
        </p:nvSpPr>
        <p:spPr bwMode="auto">
          <a:xfrm>
            <a:off x="7391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1" name="Rectangle 108"/>
          <p:cNvSpPr>
            <a:spLocks noChangeArrowheads="1"/>
          </p:cNvSpPr>
          <p:nvPr/>
        </p:nvSpPr>
        <p:spPr bwMode="auto">
          <a:xfrm>
            <a:off x="7772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2" name="Rectangle 109"/>
          <p:cNvSpPr>
            <a:spLocks noChangeArrowheads="1"/>
          </p:cNvSpPr>
          <p:nvPr/>
        </p:nvSpPr>
        <p:spPr bwMode="auto">
          <a:xfrm>
            <a:off x="8153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3" name="Rectangle 110"/>
          <p:cNvSpPr>
            <a:spLocks noChangeArrowheads="1"/>
          </p:cNvSpPr>
          <p:nvPr/>
        </p:nvSpPr>
        <p:spPr bwMode="auto">
          <a:xfrm>
            <a:off x="5486400" y="5716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4" name="Rectangle 111"/>
          <p:cNvSpPr>
            <a:spLocks noChangeArrowheads="1"/>
          </p:cNvSpPr>
          <p:nvPr/>
        </p:nvSpPr>
        <p:spPr bwMode="auto">
          <a:xfrm>
            <a:off x="5105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6495" name="Rectangle 112"/>
          <p:cNvSpPr>
            <a:spLocks noChangeArrowheads="1"/>
          </p:cNvSpPr>
          <p:nvPr/>
        </p:nvSpPr>
        <p:spPr bwMode="auto">
          <a:xfrm>
            <a:off x="8534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6" name="Rectangle 113"/>
          <p:cNvSpPr>
            <a:spLocks noChangeArrowheads="1"/>
          </p:cNvSpPr>
          <p:nvPr/>
        </p:nvSpPr>
        <p:spPr bwMode="auto">
          <a:xfrm>
            <a:off x="5867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7" name="Rectangle 114"/>
          <p:cNvSpPr>
            <a:spLocks noChangeArrowheads="1"/>
          </p:cNvSpPr>
          <p:nvPr/>
        </p:nvSpPr>
        <p:spPr bwMode="auto">
          <a:xfrm>
            <a:off x="6248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8" name="Rectangle 115"/>
          <p:cNvSpPr>
            <a:spLocks noChangeArrowheads="1"/>
          </p:cNvSpPr>
          <p:nvPr/>
        </p:nvSpPr>
        <p:spPr bwMode="auto">
          <a:xfrm>
            <a:off x="6629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499" name="Rectangle 116"/>
          <p:cNvSpPr>
            <a:spLocks noChangeArrowheads="1"/>
          </p:cNvSpPr>
          <p:nvPr/>
        </p:nvSpPr>
        <p:spPr bwMode="auto">
          <a:xfrm>
            <a:off x="7010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0" name="Rectangle 117"/>
          <p:cNvSpPr>
            <a:spLocks noChangeArrowheads="1"/>
          </p:cNvSpPr>
          <p:nvPr/>
        </p:nvSpPr>
        <p:spPr bwMode="auto">
          <a:xfrm>
            <a:off x="7391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1" name="Rectangle 118"/>
          <p:cNvSpPr>
            <a:spLocks noChangeArrowheads="1"/>
          </p:cNvSpPr>
          <p:nvPr/>
        </p:nvSpPr>
        <p:spPr bwMode="auto">
          <a:xfrm>
            <a:off x="7772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2" name="Rectangle 119"/>
          <p:cNvSpPr>
            <a:spLocks noChangeArrowheads="1"/>
          </p:cNvSpPr>
          <p:nvPr/>
        </p:nvSpPr>
        <p:spPr bwMode="auto">
          <a:xfrm>
            <a:off x="8153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3" name="Rectangle 120"/>
          <p:cNvSpPr>
            <a:spLocks noChangeArrowheads="1"/>
          </p:cNvSpPr>
          <p:nvPr/>
        </p:nvSpPr>
        <p:spPr bwMode="auto">
          <a:xfrm>
            <a:off x="5486400" y="2287588"/>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6504" name="Rectangle 121"/>
          <p:cNvSpPr>
            <a:spLocks noChangeArrowheads="1"/>
          </p:cNvSpPr>
          <p:nvPr/>
        </p:nvSpPr>
        <p:spPr bwMode="auto">
          <a:xfrm>
            <a:off x="5105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6505" name="Rectangle 122"/>
          <p:cNvSpPr>
            <a:spLocks noChangeArrowheads="1"/>
          </p:cNvSpPr>
          <p:nvPr/>
        </p:nvSpPr>
        <p:spPr bwMode="auto">
          <a:xfrm>
            <a:off x="8534400" y="18303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6506" name="Rectangle 123"/>
          <p:cNvSpPr>
            <a:spLocks noChangeArrowheads="1"/>
          </p:cNvSpPr>
          <p:nvPr/>
        </p:nvSpPr>
        <p:spPr bwMode="auto">
          <a:xfrm>
            <a:off x="4648200" y="228758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23676" name="Picture 12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049588"/>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16508" name="Group 124"/>
          <p:cNvGrpSpPr/>
          <p:nvPr/>
        </p:nvGrpSpPr>
        <p:grpSpPr bwMode="auto">
          <a:xfrm>
            <a:off x="2438400" y="1677988"/>
            <a:ext cx="1447800" cy="4494212"/>
            <a:chOff x="0" y="0"/>
            <a:chExt cx="1056" cy="1392"/>
          </a:xfrm>
        </p:grpSpPr>
        <p:sp>
          <p:nvSpPr>
            <p:cNvPr id="16509"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510"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6511"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6512" name="Text Box 129"/>
          <p:cNvSpPr>
            <a:spLocks noChangeArrowheads="1"/>
          </p:cNvSpPr>
          <p:nvPr/>
        </p:nvSpPr>
        <p:spPr bwMode="auto">
          <a:xfrm>
            <a:off x="1905000" y="5748339"/>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6513" name="Rectangle 130"/>
          <p:cNvSpPr>
            <a:spLocks noChangeArrowheads="1"/>
          </p:cNvSpPr>
          <p:nvPr/>
        </p:nvSpPr>
        <p:spPr bwMode="auto">
          <a:xfrm>
            <a:off x="2438401" y="5849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3683" name="Rectangle 131"/>
          <p:cNvSpPr>
            <a:spLocks noChangeArrowheads="1"/>
          </p:cNvSpPr>
          <p:nvPr/>
        </p:nvSpPr>
        <p:spPr bwMode="auto">
          <a:xfrm>
            <a:off x="2438401" y="5546726"/>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13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4"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3556"/>
                                        </p:tgtEl>
                                        <p:attrNameLst>
                                          <p:attrName>style.visibility</p:attrName>
                                        </p:attrNameLst>
                                      </p:cBhvr>
                                      <p:to>
                                        <p:strVal val="visible"/>
                                      </p:to>
                                    </p:set>
                                    <p:animEffect filter="wipe(up)">
                                      <p:cBhvr>
                                        <p:cTn id="7" dur="500"/>
                                        <p:tgtEl>
                                          <p:spTgt spid="23556"/>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3676"/>
                                        </p:tgtEl>
                                        <p:attrNameLst>
                                          <p:attrName>style.visibility</p:attrName>
                                        </p:attrNameLst>
                                      </p:cBhvr>
                                      <p:to>
                                        <p:strVal val="visible"/>
                                      </p:to>
                                    </p:set>
                                    <p:animEffect filter="slide(fromTop)">
                                      <p:cBhvr>
                                        <p:cTn id="11" dur="500"/>
                                        <p:tgtEl>
                                          <p:spTgt spid="23676"/>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3683"/>
                                        </p:tgtEl>
                                        <p:attrNameLst>
                                          <p:attrName>style.visibility</p:attrName>
                                        </p:attrNameLst>
                                      </p:cBhvr>
                                      <p:to>
                                        <p:strVal val="visible"/>
                                      </p:to>
                                    </p:set>
                                    <p:anim calcmode="lin" valueType="num">
                                      <p:cBhvr>
                                        <p:cTn id="15" dur="500" fill="hold"/>
                                        <p:tgtEl>
                                          <p:spTgt spid="23683"/>
                                        </p:tgtEl>
                                        <p:attrNameLst>
                                          <p:attrName>ppt_x</p:attrName>
                                        </p:attrNameLst>
                                      </p:cBhvr>
                                      <p:tavLst>
                                        <p:tav tm="0">
                                          <p:val>
                                            <p:strVal val="#ppt_x"/>
                                          </p:val>
                                        </p:tav>
                                        <p:tav tm="100000">
                                          <p:val>
                                            <p:strVal val="#ppt_x"/>
                                          </p:val>
                                        </p:tav>
                                      </p:tavLst>
                                    </p:anim>
                                    <p:anim calcmode="lin" valueType="num">
                                      <p:cBhvr>
                                        <p:cTn id="16" dur="500" fill="hold"/>
                                        <p:tgtEl>
                                          <p:spTgt spid="23683"/>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4">
                                            <p:txEl>
                                              <p:pRg st="0" end="0"/>
                                            </p:txEl>
                                          </p:spTgt>
                                        </p:tgtEl>
                                        <p:attrNameLst>
                                          <p:attrName>style.visibility</p:attrName>
                                        </p:attrNameLst>
                                      </p:cBhvr>
                                      <p:to>
                                        <p:strVal val="visible"/>
                                      </p:to>
                                    </p:set>
                                    <p:animEffect filter="wipe(left)">
                                      <p:cBhvr>
                                        <p:cTn id="21" dur="500"/>
                                        <p:tgtEl>
                                          <p:spTgt spid="1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6" grpId="0" bldLvl="0" animBg="1"/>
      <p:bldP spid="23683" grpId="0" bldLvl="0" animBg="1"/>
      <p:bldP spid="134" grpId="0" bldLvl="0" build="p"/>
    </p:bldLst>
  </p:timing>
</p:sld>
</file>

<file path=ppt/slides/slide5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048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41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741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19"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0"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1"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2"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3"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4"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5"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6" name="Rectangle 18"/>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7" name="Rectangle 19"/>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8" name="Rectangle 20"/>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29" name="Rectangle 21"/>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0" name="Rectangle 22"/>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1" name="Rectangle 23"/>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2" name="Rectangle 24"/>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3" name="Rectangle 25"/>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4" name="Rectangle 26"/>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5" name="Rectangle 27"/>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6" name="Rectangle 28"/>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7" name="Rectangle 29"/>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8" name="Rectangle 30"/>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39" name="Rectangle 31"/>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0" name="Rectangle 32"/>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1" name="Rectangle 33"/>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2" name="Rectangle 34"/>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3" name="Rectangle 35"/>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4" name="Rectangle 36"/>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5" name="Rectangle 37"/>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6" name="Rectangle 38"/>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7" name="Rectangle 39"/>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8" name="Rectangle 40"/>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49" name="Rectangle 41"/>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0" name="Rectangle 4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1" name="Rectangle 43"/>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2" name="Rectangle 44"/>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3"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4"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5"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6"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7"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8"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59"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0"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1"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2"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3"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4"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5"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6"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7"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8"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69"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0"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1"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2"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3"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4" name="Rectangle 67"/>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5" name="Rectangle 68"/>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6" name="Rectangle 69"/>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7" name="Rectangle 70"/>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8" name="Rectangle 71"/>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79" name="Rectangle 72"/>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0" name="Rectangle 73"/>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1" name="Rectangle 74"/>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2" name="Rectangle 75"/>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3" name="Rectangle 76"/>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4" name="Rectangle 77"/>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5" name="Rectangle 78"/>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6" name="Rectangle 79"/>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7" name="Rectangle 80"/>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8" name="Rectangle 81"/>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89" name="Rectangle 82"/>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0" name="Rectangle 83"/>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1" name="Rectangle 84"/>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2" name="Rectangle 85"/>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3" name="Rectangle 86"/>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4" name="Rectangle 87"/>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5" name="Rectangle 88"/>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6" name="Rectangle 89"/>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7" name="Rectangle 90"/>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8" name="Rectangle 91"/>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499" name="Rectangle 92"/>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7500" name="Rectangle 93"/>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1" name="Rectangle 94"/>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2" name="Rectangle 95"/>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3" name="Rectangle 96"/>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4" name="Rectangle 97"/>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5" name="Rectangle 98"/>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6" name="Rectangle 99"/>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7" name="Rectangle 100"/>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8" name="Rectangle 101"/>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7509" name="Rectangle 102"/>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4679" name="Picture 10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429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511" name="Rectangle 104"/>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7512" name="Rectangle 105"/>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7513" name="Rectangle 106"/>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7514" name="Rectangle 107"/>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7515" name="Rectangle 108"/>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7516" name="Rectangle 109"/>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7517" name="Rectangle 110"/>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7518" name="Rectangle 111"/>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7519" name="Rectangle 112"/>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7520" name="Rectangle 113"/>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7521" name="Rectangle 114"/>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7522" name="Rectangle 115"/>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7523" name="Rectangle 116"/>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7524" name="Rectangle 117"/>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7525" name="Rectangle 118"/>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7526" name="Rectangle 119"/>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7527" name="Rectangle 120"/>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7528" name="Rectangle 121"/>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7529" name="Rectangle 122"/>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7530" name="Rectangle 123"/>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7531" name="Group 124"/>
          <p:cNvGrpSpPr/>
          <p:nvPr/>
        </p:nvGrpSpPr>
        <p:grpSpPr bwMode="auto">
          <a:xfrm>
            <a:off x="2438400" y="1676401"/>
            <a:ext cx="1447800" cy="4494213"/>
            <a:chOff x="0" y="0"/>
            <a:chExt cx="1056" cy="1392"/>
          </a:xfrm>
        </p:grpSpPr>
        <p:sp>
          <p:nvSpPr>
            <p:cNvPr id="17532" name="Line 125"/>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533" name="Line 126"/>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534" name="Line 127"/>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7535" name="Text Box 128"/>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7536" name="Rectangle 129"/>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7537" name="Rectangle 130"/>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4707" name="Rectangle 131"/>
          <p:cNvSpPr>
            <a:spLocks noChangeArrowheads="1"/>
          </p:cNvSpPr>
          <p:nvPr/>
        </p:nvSpPr>
        <p:spPr bwMode="auto">
          <a:xfrm>
            <a:off x="5486400" y="3048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708" name="Rectangle 132"/>
          <p:cNvSpPr>
            <a:spLocks noChangeArrowheads="1"/>
          </p:cNvSpPr>
          <p:nvPr/>
        </p:nvSpPr>
        <p:spPr bwMode="auto">
          <a:xfrm>
            <a:off x="2438401" y="5240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13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5"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4707"/>
                                        </p:tgtEl>
                                        <p:attrNameLst>
                                          <p:attrName>style.visibility</p:attrName>
                                        </p:attrNameLst>
                                      </p:cBhvr>
                                      <p:to>
                                        <p:strVal val="visible"/>
                                      </p:to>
                                    </p:set>
                                    <p:animEffect filter="wipe(up)">
                                      <p:cBhvr>
                                        <p:cTn id="7" dur="500"/>
                                        <p:tgtEl>
                                          <p:spTgt spid="24707"/>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4679"/>
                                        </p:tgtEl>
                                        <p:attrNameLst>
                                          <p:attrName>style.visibility</p:attrName>
                                        </p:attrNameLst>
                                      </p:cBhvr>
                                      <p:to>
                                        <p:strVal val="visible"/>
                                      </p:to>
                                    </p:set>
                                    <p:animEffect filter="slide(fromTop)">
                                      <p:cBhvr>
                                        <p:cTn id="11" dur="500"/>
                                        <p:tgtEl>
                                          <p:spTgt spid="24679"/>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4708"/>
                                        </p:tgtEl>
                                        <p:attrNameLst>
                                          <p:attrName>style.visibility</p:attrName>
                                        </p:attrNameLst>
                                      </p:cBhvr>
                                      <p:to>
                                        <p:strVal val="visible"/>
                                      </p:to>
                                    </p:set>
                                    <p:anim calcmode="lin" valueType="num">
                                      <p:cBhvr>
                                        <p:cTn id="15" dur="500" fill="hold"/>
                                        <p:tgtEl>
                                          <p:spTgt spid="24708"/>
                                        </p:tgtEl>
                                        <p:attrNameLst>
                                          <p:attrName>ppt_x</p:attrName>
                                        </p:attrNameLst>
                                      </p:cBhvr>
                                      <p:tavLst>
                                        <p:tav tm="0">
                                          <p:val>
                                            <p:strVal val="#ppt_x"/>
                                          </p:val>
                                        </p:tav>
                                        <p:tav tm="100000">
                                          <p:val>
                                            <p:strVal val="#ppt_x"/>
                                          </p:val>
                                        </p:tav>
                                      </p:tavLst>
                                    </p:anim>
                                    <p:anim calcmode="lin" valueType="num">
                                      <p:cBhvr>
                                        <p:cTn id="16" dur="500" fill="hold"/>
                                        <p:tgtEl>
                                          <p:spTgt spid="24708"/>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5">
                                            <p:txEl>
                                              <p:pRg st="0" end="0"/>
                                            </p:txEl>
                                          </p:spTgt>
                                        </p:tgtEl>
                                        <p:attrNameLst>
                                          <p:attrName>style.visibility</p:attrName>
                                        </p:attrNameLst>
                                      </p:cBhvr>
                                      <p:to>
                                        <p:strVal val="visible"/>
                                      </p:to>
                                    </p:set>
                                    <p:animEffect filter="wipe(left)">
                                      <p:cBhvr>
                                        <p:cTn id="21" dur="500"/>
                                        <p:tgtEl>
                                          <p:spTgt spid="1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07" grpId="0" bldLvl="0" animBg="1"/>
      <p:bldP spid="24708" grpId="0" bldLvl="0" animBg="1"/>
      <p:bldP spid="135" grpId="0" bldLvl="0" build="p"/>
    </p:bldLst>
  </p:timing>
</p:sld>
</file>

<file path=ppt/slides/slide5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8435" name="Rectangle 3"/>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6" name="Rectangle 4"/>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7" name="Rectangle 5"/>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8" name="Rectangle 6"/>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39" name="Rectangle 7"/>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0" name="Rectangle 8"/>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1" name="Rectangle 9"/>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2" name="Rectangle 10"/>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8443" name="Rectangle 11"/>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4" name="Rectangle 12"/>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5" name="Rectangle 13"/>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6" name="Rectangle 14"/>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7" name="Rectangle 15"/>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8" name="Rectangle 16"/>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49" name="Rectangle 17"/>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0" name="Rectangle 18"/>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1" name="Rectangle 19"/>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2" name="Rectangle 20"/>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3" name="Rectangle 21"/>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4" name="Rectangle 22"/>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5" name="Rectangle 23"/>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6" name="Rectangle 24"/>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7" name="Rectangle 25"/>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8" name="Rectangle 26"/>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59" name="Rectangle 27"/>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0" name="Rectangle 28"/>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1" name="Rectangle 29"/>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2" name="Rectangle 30"/>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3" name="Rectangle 31"/>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4" name="Rectangle 32"/>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5" name="Rectangle 33"/>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6" name="Rectangle 34"/>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7" name="Rectangle 35"/>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8" name="Rectangle 36"/>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69" name="Rectangle 37"/>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0" name="Rectangle 38"/>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1" name="Rectangle 39"/>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2" name="Rectangle 40"/>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3" name="Rectangle 41"/>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4" name="Rectangle 42"/>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5" name="Rectangle 43"/>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6" name="Rectangle 44"/>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7" name="Rectangle 45"/>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8" name="Rectangle 46"/>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79" name="Rectangle 47"/>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0" name="Rectangle 48"/>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1" name="Rectangle 49"/>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2" name="Rectangle 50"/>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3" name="Rectangle 51"/>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4" name="Rectangle 52"/>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5" name="Rectangle 53"/>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6" name="Rectangle 54"/>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7" name="Rectangle 55"/>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8" name="Rectangle 56"/>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89" name="Rectangle 57"/>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0" name="Rectangle 58"/>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1" name="Rectangle 59"/>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2" name="Rectangle 60"/>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3" name="Rectangle 61"/>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4" name="Rectangle 62"/>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5" name="Rectangle 63"/>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6" name="Rectangle 64"/>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7" name="Rectangle 6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8" name="Rectangle 6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499" name="Rectangle 6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0" name="Rectangle 6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1" name="Rectangle 7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2" name="Rectangle 7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3" name="Rectangle 7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4" name="Rectangle 7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5" name="Rectangle 7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6" name="Rectangle 7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7" name="Rectangle 7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8" name="Rectangle 7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09" name="Rectangle 7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0" name="Rectangle 7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1" name="Rectangle 8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2" name="Rectangle 8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3" name="Rectangle 8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4" name="Rectangle 8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5" name="Rectangle 8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6" name="Rectangle 8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7" name="Rectangle 8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8" name="Rectangle 8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19" name="Rectangle 8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0" name="Rectangle 8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1" name="Rectangle 9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2" name="Rectangle 9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3" name="Rectangle 9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4" name="Rectangle 9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5" name="Rectangle 9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6" name="Rectangle 9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7" name="Rectangle 9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8" name="Rectangle 9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29" name="Rectangle 9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0" name="Rectangle 9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1" name="Rectangle 10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8532" name="Rectangle 10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5702" name="Picture 10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810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8534" name="Rectangle 103"/>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8535" name="Rectangle 104"/>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8536" name="Rectangle 105"/>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8537" name="Rectangle 106"/>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8538" name="Rectangle 107"/>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8539" name="Rectangle 108"/>
          <p:cNvSpPr>
            <a:spLocks noChangeArrowheads="1"/>
          </p:cNvSpPr>
          <p:nvPr/>
        </p:nvSpPr>
        <p:spPr bwMode="auto">
          <a:xfrm>
            <a:off x="7032625" y="1844675"/>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8540" name="Rectangle 109"/>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8541" name="Rectangle 110"/>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8542" name="Rectangle 111"/>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8543" name="Rectangle 112"/>
          <p:cNvSpPr>
            <a:spLocks noChangeArrowheads="1"/>
          </p:cNvSpPr>
          <p:nvPr/>
        </p:nvSpPr>
        <p:spPr bwMode="auto">
          <a:xfrm>
            <a:off x="4656138" y="2636838"/>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8544" name="Rectangle 113"/>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8545" name="Rectangle 114"/>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8546" name="Rectangle 115"/>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8547" name="Rectangle 116"/>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8548" name="Rectangle 117"/>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8549" name="Rectangle 118"/>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8550" name="Rectangle 119"/>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8551" name="Rectangle 120"/>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8552" name="Rectangle 121"/>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8553" name="Rectangle 122"/>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8554" name="Group 123"/>
          <p:cNvGrpSpPr/>
          <p:nvPr/>
        </p:nvGrpSpPr>
        <p:grpSpPr bwMode="auto">
          <a:xfrm>
            <a:off x="2438400" y="1676401"/>
            <a:ext cx="1447800" cy="4494213"/>
            <a:chOff x="0" y="0"/>
            <a:chExt cx="1056" cy="1392"/>
          </a:xfrm>
        </p:grpSpPr>
        <p:sp>
          <p:nvSpPr>
            <p:cNvPr id="18555" name="Line 12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556" name="Line 12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8557" name="Line 12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8558" name="Text Box 127"/>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8559" name="Rectangle 128"/>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8560" name="Rectangle 129"/>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5730" name="Rectangle 130"/>
          <p:cNvSpPr>
            <a:spLocks noChangeArrowheads="1"/>
          </p:cNvSpPr>
          <p:nvPr/>
        </p:nvSpPr>
        <p:spPr bwMode="auto">
          <a:xfrm>
            <a:off x="2438401" y="49355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18562" name="Rectangle 131"/>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pic>
        <p:nvPicPr>
          <p:cNvPr id="18563" name="Picture 13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429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733" name="Rectangle 133"/>
          <p:cNvSpPr>
            <a:spLocks noChangeArrowheads="1"/>
          </p:cNvSpPr>
          <p:nvPr/>
        </p:nvSpPr>
        <p:spPr bwMode="auto">
          <a:xfrm>
            <a:off x="5486400" y="3429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i</a:t>
            </a:r>
            <a:endParaRPr lang="en-US" altLang="zh-CN"/>
          </a:p>
        </p:txBody>
      </p:sp>
      <p:sp>
        <p:nvSpPr>
          <p:cNvPr id="13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6"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5733"/>
                                        </p:tgtEl>
                                        <p:attrNameLst>
                                          <p:attrName>style.visibility</p:attrName>
                                        </p:attrNameLst>
                                      </p:cBhvr>
                                      <p:to>
                                        <p:strVal val="visible"/>
                                      </p:to>
                                    </p:set>
                                    <p:animEffect filter="wipe(up)">
                                      <p:cBhvr>
                                        <p:cTn id="7" dur="500"/>
                                        <p:tgtEl>
                                          <p:spTgt spid="25733"/>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5702"/>
                                        </p:tgtEl>
                                        <p:attrNameLst>
                                          <p:attrName>style.visibility</p:attrName>
                                        </p:attrNameLst>
                                      </p:cBhvr>
                                      <p:to>
                                        <p:strVal val="visible"/>
                                      </p:to>
                                    </p:set>
                                    <p:animEffect filter="slide(fromTop)">
                                      <p:cBhvr>
                                        <p:cTn id="11" dur="500"/>
                                        <p:tgtEl>
                                          <p:spTgt spid="25702"/>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5730"/>
                                        </p:tgtEl>
                                        <p:attrNameLst>
                                          <p:attrName>style.visibility</p:attrName>
                                        </p:attrNameLst>
                                      </p:cBhvr>
                                      <p:to>
                                        <p:strVal val="visible"/>
                                      </p:to>
                                    </p:set>
                                    <p:anim calcmode="lin" valueType="num">
                                      <p:cBhvr>
                                        <p:cTn id="15" dur="500" fill="hold"/>
                                        <p:tgtEl>
                                          <p:spTgt spid="25730"/>
                                        </p:tgtEl>
                                        <p:attrNameLst>
                                          <p:attrName>ppt_x</p:attrName>
                                        </p:attrNameLst>
                                      </p:cBhvr>
                                      <p:tavLst>
                                        <p:tav tm="0">
                                          <p:val>
                                            <p:strVal val="#ppt_x"/>
                                          </p:val>
                                        </p:tav>
                                        <p:tav tm="100000">
                                          <p:val>
                                            <p:strVal val="#ppt_x"/>
                                          </p:val>
                                        </p:tav>
                                      </p:tavLst>
                                    </p:anim>
                                    <p:anim calcmode="lin" valueType="num">
                                      <p:cBhvr>
                                        <p:cTn id="16" dur="500" fill="hold"/>
                                        <p:tgtEl>
                                          <p:spTgt spid="25730"/>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6">
                                            <p:txEl>
                                              <p:pRg st="0" end="0"/>
                                            </p:txEl>
                                          </p:spTgt>
                                        </p:tgtEl>
                                        <p:attrNameLst>
                                          <p:attrName>style.visibility</p:attrName>
                                        </p:attrNameLst>
                                      </p:cBhvr>
                                      <p:to>
                                        <p:strVal val="visible"/>
                                      </p:to>
                                    </p:set>
                                    <p:animEffect filter="wipe(left)">
                                      <p:cBhvr>
                                        <p:cTn id="21" dur="500"/>
                                        <p:tgtEl>
                                          <p:spTgt spid="1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30" grpId="0" bldLvl="0" animBg="1"/>
      <p:bldP spid="25733" grpId="0" bldLvl="0" animBg="1"/>
      <p:bldP spid="136" grpId="0" bldLvl="0" build="p"/>
    </p:bldLst>
  </p:timing>
</p:sld>
</file>

<file path=ppt/slides/slide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458"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3810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9459"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60"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1"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2"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3"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4"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5"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6"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7"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68"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69"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0"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1"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2"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3"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4"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5"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76"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7"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8"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79"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0"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1"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2"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2" name="Rectangle 27"/>
          <p:cNvSpPr>
            <a:spLocks noChangeArrowheads="1"/>
          </p:cNvSpPr>
          <p:nvPr/>
        </p:nvSpPr>
        <p:spPr bwMode="auto">
          <a:xfrm>
            <a:off x="5486400" y="3810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9484"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5"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6"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7"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8"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89"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0"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1"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2"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3"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4"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5"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6"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7"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8"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499"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0"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1"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2"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3"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4"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5"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6"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7"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8"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09"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0"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1"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2"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3"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4"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5"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6"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7"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8"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19"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0"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1"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2"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23"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4"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5"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6"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7"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8"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29"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0"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1"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32"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3"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4"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5"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6"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7"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8"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39"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0"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1"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2"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3"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4"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5"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6"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7"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8"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49"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19550"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1"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2"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3"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4"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5"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6"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7"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19558"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6728"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9560"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9561"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9562"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9563"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9564"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9565"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9566"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9567"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9568"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19569"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19570"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19571"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19572"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19573"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19574"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19575"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19576"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9577"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19578"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19579"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19580" name="Group 125"/>
          <p:cNvGrpSpPr/>
          <p:nvPr/>
        </p:nvGrpSpPr>
        <p:grpSpPr bwMode="auto">
          <a:xfrm>
            <a:off x="2438400" y="1676401"/>
            <a:ext cx="1447800" cy="4494213"/>
            <a:chOff x="0" y="0"/>
            <a:chExt cx="1056" cy="1392"/>
          </a:xfrm>
        </p:grpSpPr>
        <p:sp>
          <p:nvSpPr>
            <p:cNvPr id="19581"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9582"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19583"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19584"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19585"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19586"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6756" name="Rectangle 132"/>
          <p:cNvSpPr>
            <a:spLocks noChangeArrowheads="1"/>
          </p:cNvSpPr>
          <p:nvPr/>
        </p:nvSpPr>
        <p:spPr bwMode="auto">
          <a:xfrm>
            <a:off x="2438401" y="46307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19588"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19589"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13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7"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6652"/>
                                        </p:tgtEl>
                                        <p:attrNameLst>
                                          <p:attrName>style.visibility</p:attrName>
                                        </p:attrNameLst>
                                      </p:cBhvr>
                                      <p:to>
                                        <p:strVal val="visible"/>
                                      </p:to>
                                    </p:set>
                                    <p:animEffect filter="wipe(up)">
                                      <p:cBhvr>
                                        <p:cTn id="7" dur="500"/>
                                        <p:tgtEl>
                                          <p:spTgt spid="26652"/>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6728"/>
                                        </p:tgtEl>
                                        <p:attrNameLst>
                                          <p:attrName>style.visibility</p:attrName>
                                        </p:attrNameLst>
                                      </p:cBhvr>
                                      <p:to>
                                        <p:strVal val="visible"/>
                                      </p:to>
                                    </p:set>
                                    <p:animEffect filter="slide(fromTop)">
                                      <p:cBhvr>
                                        <p:cTn id="11" dur="500"/>
                                        <p:tgtEl>
                                          <p:spTgt spid="26728"/>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6756"/>
                                        </p:tgtEl>
                                        <p:attrNameLst>
                                          <p:attrName>style.visibility</p:attrName>
                                        </p:attrNameLst>
                                      </p:cBhvr>
                                      <p:to>
                                        <p:strVal val="visible"/>
                                      </p:to>
                                    </p:set>
                                    <p:anim calcmode="lin" valueType="num">
                                      <p:cBhvr>
                                        <p:cTn id="15" dur="500" fill="hold"/>
                                        <p:tgtEl>
                                          <p:spTgt spid="26756"/>
                                        </p:tgtEl>
                                        <p:attrNameLst>
                                          <p:attrName>ppt_x</p:attrName>
                                        </p:attrNameLst>
                                      </p:cBhvr>
                                      <p:tavLst>
                                        <p:tav tm="0">
                                          <p:val>
                                            <p:strVal val="#ppt_x"/>
                                          </p:val>
                                        </p:tav>
                                        <p:tav tm="100000">
                                          <p:val>
                                            <p:strVal val="#ppt_x"/>
                                          </p:val>
                                        </p:tav>
                                      </p:tavLst>
                                    </p:anim>
                                    <p:anim calcmode="lin" valueType="num">
                                      <p:cBhvr>
                                        <p:cTn id="16" dur="500" fill="hold"/>
                                        <p:tgtEl>
                                          <p:spTgt spid="26756"/>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7">
                                            <p:txEl>
                                              <p:pRg st="0" end="0"/>
                                            </p:txEl>
                                          </p:spTgt>
                                        </p:tgtEl>
                                        <p:attrNameLst>
                                          <p:attrName>style.visibility</p:attrName>
                                        </p:attrNameLst>
                                      </p:cBhvr>
                                      <p:to>
                                        <p:strVal val="visible"/>
                                      </p:to>
                                    </p:set>
                                    <p:animEffect filter="wipe(left)">
                                      <p:cBhvr>
                                        <p:cTn id="21" dur="500"/>
                                        <p:tgtEl>
                                          <p:spTgt spid="1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52" grpId="0" bldLvl="0" animBg="1"/>
      <p:bldP spid="26756" grpId="0" bldLvl="0" animBg="1"/>
      <p:bldP spid="137" grpId="0" bldLvl="0" build="p"/>
    </p:bld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1" name="Rectangle 136"/>
          <p:cNvSpPr>
            <a:spLocks noGrp="1"/>
          </p:cNvSpPr>
          <p:nvPr>
            <p:ph type="body" idx="4294967295"/>
          </p:nvPr>
        </p:nvSpPr>
        <p:spPr>
          <a:xfrm>
            <a:off x="5410876" y="1254125"/>
            <a:ext cx="3199047" cy="574675"/>
          </a:xfrm>
        </p:spPr>
        <p:txBody>
          <a:bodyPr vert="horz" wrap="square" anchor="ctr"/>
          <a:lstStyle/>
          <a:p>
            <a:pPr lvl="1">
              <a:buFont typeface="Wingdings" panose="05000000000000000000" pitchFamily="2" charset="2"/>
              <a:buNone/>
            </a:pPr>
            <a:r>
              <a:rPr lang="zh-CN" altLang="en-US" b="1" noProof="1"/>
              <a:t>向下方前进一步</a:t>
            </a:r>
            <a:endParaRPr lang="zh-CN" altLang="en-US" noProof="1"/>
          </a:p>
        </p:txBody>
      </p:sp>
      <p:pic>
        <p:nvPicPr>
          <p:cNvPr id="20483"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0484"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485"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6"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7"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8"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89"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0"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1"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2"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493"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4"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5"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6"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7"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8"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499"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0"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01"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2"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3"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4"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5"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6"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7"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08"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09"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0"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1"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2"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3"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4"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5"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5" name="Rectangle 35"/>
          <p:cNvSpPr>
            <a:spLocks noChangeArrowheads="1"/>
          </p:cNvSpPr>
          <p:nvPr/>
        </p:nvSpPr>
        <p:spPr bwMode="auto">
          <a:xfrm>
            <a:off x="5486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0517"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8"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19"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0"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1"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2"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3"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4"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5"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6"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7"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8"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29"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0"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1"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2"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3"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4"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5"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6"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7"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8"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39"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0"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1"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2"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3"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4"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5"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6"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7"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48"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49"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0"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1"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2"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3"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4"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5"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6"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57"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58"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59"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0"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1"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2"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3"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4"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5"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6"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7"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8"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69"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0"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1"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2"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3"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4"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0575"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6"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7"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8"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79"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0"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1"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2"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0583"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7753"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0585"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0586"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0587"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0588"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0589"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0590"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0591"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0592"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0593"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0594"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0595"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0596"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0597"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0598"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0599"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0600"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0601"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0602"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0603"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0604"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0605" name="Group 125"/>
          <p:cNvGrpSpPr/>
          <p:nvPr/>
        </p:nvGrpSpPr>
        <p:grpSpPr bwMode="auto">
          <a:xfrm>
            <a:off x="2438400" y="1676401"/>
            <a:ext cx="1447800" cy="4494213"/>
            <a:chOff x="0" y="0"/>
            <a:chExt cx="1056" cy="1392"/>
          </a:xfrm>
        </p:grpSpPr>
        <p:sp>
          <p:nvSpPr>
            <p:cNvPr id="20606"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607"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0608"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0609"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0610"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0611"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7781" name="Rectangle 132"/>
          <p:cNvSpPr>
            <a:spLocks noChangeArrowheads="1"/>
          </p:cNvSpPr>
          <p:nvPr/>
        </p:nvSpPr>
        <p:spPr bwMode="auto">
          <a:xfrm>
            <a:off x="2438401" y="4325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0613"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0614"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0615"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13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651">
                                            <p:txEl>
                                              <p:pRg st="0" end="0"/>
                                            </p:txEl>
                                          </p:spTgt>
                                        </p:tgtEl>
                                        <p:attrNameLst>
                                          <p:attrName>style.visibility</p:attrName>
                                        </p:attrNameLst>
                                      </p:cBhvr>
                                      <p:to>
                                        <p:strVal val="visible"/>
                                      </p:to>
                                    </p:set>
                                    <p:animEffect filter="wipe(left)">
                                      <p:cBhvr>
                                        <p:cTn id="7" dur="500"/>
                                        <p:tgtEl>
                                          <p:spTgt spid="27651">
                                            <p:txEl>
                                              <p:pRg st="0" end="0"/>
                                            </p:txEl>
                                          </p:spTgt>
                                        </p:tgtEl>
                                      </p:cBhvr>
                                    </p:animEffect>
                                  </p:childTnLst>
                                </p:cTn>
                              </p:par>
                            </p:childTnLst>
                          </p:cTn>
                        </p:par>
                        <p:par>
                          <p:cTn id="8" fill="hold">
                            <p:stCondLst>
                              <p:cond delay="500"/>
                            </p:stCondLst>
                            <p:childTnLst>
                              <p:par>
                                <p:cTn id="9" presetID="22" presetClass="entr" presetSubtype="1" fill="hold" grpId="0" nodeType="afterEffect">
                                  <p:stCondLst>
                                    <p:cond delay="1000"/>
                                  </p:stCondLst>
                                  <p:childTnLst>
                                    <p:set>
                                      <p:cBhvr>
                                        <p:cTn id="10" dur="1" fill="hold">
                                          <p:stCondLst>
                                            <p:cond delay="0"/>
                                          </p:stCondLst>
                                        </p:cTn>
                                        <p:tgtEl>
                                          <p:spTgt spid="27685"/>
                                        </p:tgtEl>
                                        <p:attrNameLst>
                                          <p:attrName>style.visibility</p:attrName>
                                        </p:attrNameLst>
                                      </p:cBhvr>
                                      <p:to>
                                        <p:strVal val="visible"/>
                                      </p:to>
                                    </p:set>
                                    <p:animEffect filter="wipe(up)">
                                      <p:cBhvr>
                                        <p:cTn id="11" dur="500"/>
                                        <p:tgtEl>
                                          <p:spTgt spid="27685"/>
                                        </p:tgtEl>
                                      </p:cBhvr>
                                    </p:animEffect>
                                  </p:childTnLst>
                                </p:cTn>
                              </p:par>
                            </p:childTnLst>
                          </p:cTn>
                        </p:par>
                        <p:par>
                          <p:cTn id="12" fill="hold">
                            <p:stCondLst>
                              <p:cond delay="2000"/>
                            </p:stCondLst>
                            <p:childTnLst>
                              <p:par>
                                <p:cTn id="13" presetID="12" presetClass="entr" presetSubtype="1" fill="hold" nodeType="afterEffect">
                                  <p:stCondLst>
                                    <p:cond delay="0"/>
                                  </p:stCondLst>
                                  <p:childTnLst>
                                    <p:set>
                                      <p:cBhvr>
                                        <p:cTn id="14" dur="1" fill="hold">
                                          <p:stCondLst>
                                            <p:cond delay="0"/>
                                          </p:stCondLst>
                                        </p:cTn>
                                        <p:tgtEl>
                                          <p:spTgt spid="27753"/>
                                        </p:tgtEl>
                                        <p:attrNameLst>
                                          <p:attrName>style.visibility</p:attrName>
                                        </p:attrNameLst>
                                      </p:cBhvr>
                                      <p:to>
                                        <p:strVal val="visible"/>
                                      </p:to>
                                    </p:set>
                                    <p:animEffect filter="slide(fromTop)">
                                      <p:cBhvr>
                                        <p:cTn id="15" dur="500"/>
                                        <p:tgtEl>
                                          <p:spTgt spid="27753"/>
                                        </p:tgtEl>
                                      </p:cBhvr>
                                    </p:animEffect>
                                  </p:childTnLst>
                                </p:cTn>
                              </p:par>
                            </p:childTnLst>
                          </p:cTn>
                        </p:par>
                        <p:par>
                          <p:cTn id="16" fill="hold">
                            <p:stCondLst>
                              <p:cond delay="2500"/>
                            </p:stCondLst>
                            <p:childTnLst>
                              <p:par>
                                <p:cTn id="17" presetID="2" presetClass="entr" presetSubtype="1" fill="hold" grpId="0" nodeType="afterEffect">
                                  <p:stCondLst>
                                    <p:cond delay="2000"/>
                                  </p:stCondLst>
                                  <p:childTnLst>
                                    <p:set>
                                      <p:cBhvr>
                                        <p:cTn id="18" dur="1" fill="hold">
                                          <p:stCondLst>
                                            <p:cond delay="0"/>
                                          </p:stCondLst>
                                        </p:cTn>
                                        <p:tgtEl>
                                          <p:spTgt spid="27781"/>
                                        </p:tgtEl>
                                        <p:attrNameLst>
                                          <p:attrName>style.visibility</p:attrName>
                                        </p:attrNameLst>
                                      </p:cBhvr>
                                      <p:to>
                                        <p:strVal val="visible"/>
                                      </p:to>
                                    </p:set>
                                    <p:anim calcmode="lin" valueType="num">
                                      <p:cBhvr>
                                        <p:cTn id="19" dur="500" fill="hold"/>
                                        <p:tgtEl>
                                          <p:spTgt spid="27781"/>
                                        </p:tgtEl>
                                        <p:attrNameLst>
                                          <p:attrName>ppt_x</p:attrName>
                                        </p:attrNameLst>
                                      </p:cBhvr>
                                      <p:tavLst>
                                        <p:tav tm="0">
                                          <p:val>
                                            <p:strVal val="#ppt_x"/>
                                          </p:val>
                                        </p:tav>
                                        <p:tav tm="100000">
                                          <p:val>
                                            <p:strVal val="#ppt_x"/>
                                          </p:val>
                                        </p:tav>
                                      </p:tavLst>
                                    </p:anim>
                                    <p:anim calcmode="lin" valueType="num">
                                      <p:cBhvr>
                                        <p:cTn id="20" dur="500" fill="hold"/>
                                        <p:tgtEl>
                                          <p:spTgt spid="2778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1" grpId="0" bldLvl="0" build="p"/>
      <p:bldP spid="27685" grpId="0" bldLvl="0" animBg="1"/>
      <p:bldP spid="27781" grpId="0" bldLvl="0" animBg="1"/>
    </p:bldLst>
  </p:timing>
</p:sld>
</file>

<file path=ppt/slides/slide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21506"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1507"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08"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09"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0"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1"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2"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3"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4"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5"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16"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7"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8"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19"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0"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1"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2"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3"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24"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5"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6"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7"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8"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29"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0"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1"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32"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3"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4"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5"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6"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7"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8"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39"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40"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1"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2"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3"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4"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5"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6"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6" name="Rectangle 43"/>
          <p:cNvSpPr>
            <a:spLocks noChangeArrowheads="1"/>
          </p:cNvSpPr>
          <p:nvPr/>
        </p:nvSpPr>
        <p:spPr bwMode="auto">
          <a:xfrm>
            <a:off x="5486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1548"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49"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0"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1"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2"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3"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4"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5"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6"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7"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8"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59"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0"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1"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2"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3"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4"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5"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6"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7"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8"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69"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70"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71"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2"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3"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4"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5"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6"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7"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8"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79"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80"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1"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2"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3"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4"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5"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6"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7"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8"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89"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0"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1"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2"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3"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4"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5"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6"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1597"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98"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599"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0"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1"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2"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3"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4"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5"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1606"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28776"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1608"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1609"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1610"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1611"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1612"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1613"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1614"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1615"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1616"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1617"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1618"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1619"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1620"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1621"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1622"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1623"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1624"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1625"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1626"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1627"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1628" name="Group 125"/>
          <p:cNvGrpSpPr/>
          <p:nvPr/>
        </p:nvGrpSpPr>
        <p:grpSpPr bwMode="auto">
          <a:xfrm>
            <a:off x="2438400" y="1676401"/>
            <a:ext cx="1447800" cy="4494213"/>
            <a:chOff x="0" y="0"/>
            <a:chExt cx="1056" cy="1392"/>
          </a:xfrm>
        </p:grpSpPr>
        <p:sp>
          <p:nvSpPr>
            <p:cNvPr id="21629"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630"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631"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1632"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1633"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1634"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8804" name="Rectangle 132"/>
          <p:cNvSpPr>
            <a:spLocks noChangeArrowheads="1"/>
          </p:cNvSpPr>
          <p:nvPr/>
        </p:nvSpPr>
        <p:spPr bwMode="auto">
          <a:xfrm>
            <a:off x="2438401" y="4021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(7,1)</a:t>
            </a:r>
            <a:endParaRPr lang="en-US" altLang="zh-CN"/>
          </a:p>
        </p:txBody>
      </p:sp>
      <p:sp>
        <p:nvSpPr>
          <p:cNvPr id="21636"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1637"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1638"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1639"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13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139" name="Rectangle 136"/>
          <p:cNvSpPr txBox="1"/>
          <p:nvPr/>
        </p:nvSpPr>
        <p:spPr>
          <a:xfrm>
            <a:off x="5410876" y="1254125"/>
            <a:ext cx="3199047" cy="574675"/>
          </a:xfrm>
          <a:prstGeom prst="rect">
            <a:avLst/>
          </a:prstGeom>
        </p:spPr>
        <p:txBody>
          <a:bodyPr vert="horz" wrap="square" lIns="91440" tIns="45720" rIns="91440" bIns="45720" rtlCol="0" anchor="ct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buFont typeface="Wingdings" panose="05000000000000000000" pitchFamily="2" charset="2"/>
              <a:buNone/>
            </a:pPr>
            <a:r>
              <a:rPr lang="zh-CN" altLang="en-US" b="1" noProof="1"/>
              <a:t>向下方前进一步</a:t>
            </a:r>
            <a:endParaRPr lang="zh-CN" altLang="en-US" noProof="1"/>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1000"/>
                                  </p:stCondLst>
                                  <p:childTnLst>
                                    <p:set>
                                      <p:cBhvr>
                                        <p:cTn id="6" dur="1" fill="hold">
                                          <p:stCondLst>
                                            <p:cond delay="0"/>
                                          </p:stCondLst>
                                        </p:cTn>
                                        <p:tgtEl>
                                          <p:spTgt spid="28716"/>
                                        </p:tgtEl>
                                        <p:attrNameLst>
                                          <p:attrName>style.visibility</p:attrName>
                                        </p:attrNameLst>
                                      </p:cBhvr>
                                      <p:to>
                                        <p:strVal val="visible"/>
                                      </p:to>
                                    </p:set>
                                    <p:animEffect filter="wipe(up)">
                                      <p:cBhvr>
                                        <p:cTn id="7" dur="500"/>
                                        <p:tgtEl>
                                          <p:spTgt spid="28716"/>
                                        </p:tgtEl>
                                      </p:cBhvr>
                                    </p:animEffect>
                                  </p:childTnLst>
                                </p:cTn>
                              </p:par>
                            </p:childTnLst>
                          </p:cTn>
                        </p:par>
                        <p:par>
                          <p:cTn id="8" fill="hold">
                            <p:stCondLst>
                              <p:cond delay="1500"/>
                            </p:stCondLst>
                            <p:childTnLst>
                              <p:par>
                                <p:cTn id="9" presetID="12" presetClass="entr" presetSubtype="1" fill="hold" nodeType="afterEffect">
                                  <p:stCondLst>
                                    <p:cond delay="0"/>
                                  </p:stCondLst>
                                  <p:childTnLst>
                                    <p:set>
                                      <p:cBhvr>
                                        <p:cTn id="10" dur="1" fill="hold">
                                          <p:stCondLst>
                                            <p:cond delay="0"/>
                                          </p:stCondLst>
                                        </p:cTn>
                                        <p:tgtEl>
                                          <p:spTgt spid="28776"/>
                                        </p:tgtEl>
                                        <p:attrNameLst>
                                          <p:attrName>style.visibility</p:attrName>
                                        </p:attrNameLst>
                                      </p:cBhvr>
                                      <p:to>
                                        <p:strVal val="visible"/>
                                      </p:to>
                                    </p:set>
                                    <p:animEffect filter="slide(fromTop)">
                                      <p:cBhvr>
                                        <p:cTn id="11" dur="500"/>
                                        <p:tgtEl>
                                          <p:spTgt spid="28776"/>
                                        </p:tgtEl>
                                      </p:cBhvr>
                                    </p:animEffect>
                                  </p:childTnLst>
                                </p:cTn>
                              </p:par>
                            </p:childTnLst>
                          </p:cTn>
                        </p:par>
                        <p:par>
                          <p:cTn id="12" fill="hold">
                            <p:stCondLst>
                              <p:cond delay="2000"/>
                            </p:stCondLst>
                            <p:childTnLst>
                              <p:par>
                                <p:cTn id="13" presetID="2" presetClass="entr" presetSubtype="1" fill="hold" grpId="0" nodeType="afterEffect">
                                  <p:stCondLst>
                                    <p:cond delay="2000"/>
                                  </p:stCondLst>
                                  <p:childTnLst>
                                    <p:set>
                                      <p:cBhvr>
                                        <p:cTn id="14" dur="1" fill="hold">
                                          <p:stCondLst>
                                            <p:cond delay="0"/>
                                          </p:stCondLst>
                                        </p:cTn>
                                        <p:tgtEl>
                                          <p:spTgt spid="28804"/>
                                        </p:tgtEl>
                                        <p:attrNameLst>
                                          <p:attrName>style.visibility</p:attrName>
                                        </p:attrNameLst>
                                      </p:cBhvr>
                                      <p:to>
                                        <p:strVal val="visible"/>
                                      </p:to>
                                    </p:set>
                                    <p:anim calcmode="lin" valueType="num">
                                      <p:cBhvr>
                                        <p:cTn id="15" dur="500" fill="hold"/>
                                        <p:tgtEl>
                                          <p:spTgt spid="28804"/>
                                        </p:tgtEl>
                                        <p:attrNameLst>
                                          <p:attrName>ppt_x</p:attrName>
                                        </p:attrNameLst>
                                      </p:cBhvr>
                                      <p:tavLst>
                                        <p:tav tm="0">
                                          <p:val>
                                            <p:strVal val="#ppt_x"/>
                                          </p:val>
                                        </p:tav>
                                        <p:tav tm="100000">
                                          <p:val>
                                            <p:strVal val="#ppt_x"/>
                                          </p:val>
                                        </p:tav>
                                      </p:tavLst>
                                    </p:anim>
                                    <p:anim calcmode="lin" valueType="num">
                                      <p:cBhvr>
                                        <p:cTn id="16" dur="500" fill="hold"/>
                                        <p:tgtEl>
                                          <p:spTgt spid="28804"/>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39">
                                            <p:txEl>
                                              <p:pRg st="0" end="0"/>
                                            </p:txEl>
                                          </p:spTgt>
                                        </p:tgtEl>
                                        <p:attrNameLst>
                                          <p:attrName>style.visibility</p:attrName>
                                        </p:attrNameLst>
                                      </p:cBhvr>
                                      <p:to>
                                        <p:strVal val="visible"/>
                                      </p:to>
                                    </p:set>
                                    <p:animEffect filter="wipe(left)">
                                      <p:cBhvr>
                                        <p:cTn id="21" dur="500"/>
                                        <p:tgtEl>
                                          <p:spTgt spid="13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16" grpId="0" bldLvl="0" animBg="1"/>
      <p:bldP spid="28804" grpId="0" bldLvl="0" animBg="1"/>
      <p:bldP spid="139" grpId="0" bldLvl="0" build="p"/>
    </p:bldLst>
  </p:timing>
</p:sld>
</file>

<file path=ppt/slides/slide5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9698" name="Rectangle 68"/>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29699" name="Rectangle 126"/>
          <p:cNvSpPr>
            <a:spLocks noGrp="1"/>
          </p:cNvSpPr>
          <p:nvPr>
            <p:ph type="body" idx="4294967295"/>
          </p:nvPr>
        </p:nvSpPr>
        <p:spPr>
          <a:xfrm>
            <a:off x="3314700" y="1160211"/>
            <a:ext cx="8153400" cy="609600"/>
          </a:xfrm>
        </p:spPr>
        <p:txBody>
          <a:bodyPr vert="horz" wrap="square" anchor="ctr">
            <a:normAutofit fontScale="92500"/>
          </a:bodyPr>
          <a:lstStyle/>
          <a:p>
            <a:pPr marL="273050" indent="-273050">
              <a:buNone/>
            </a:pPr>
            <a:r>
              <a:rPr lang="en-US" altLang="zh-CN" sz="2000" noProof="1"/>
              <a:t>		</a:t>
            </a:r>
            <a:r>
              <a:rPr lang="zh-CN" altLang="en-US" sz="2400" b="1" noProof="1"/>
              <a:t>向下方 、右方、左方均不能前进，上方是来路，则后退</a:t>
            </a:r>
            <a:endParaRPr lang="zh-CN" altLang="en-US" sz="2400" b="1" noProof="1"/>
          </a:p>
        </p:txBody>
      </p:sp>
      <p:sp>
        <p:nvSpPr>
          <p:cNvPr id="22531" name="Rectangle 2"/>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pic>
        <p:nvPicPr>
          <p:cNvPr id="22532" name="Picture 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2533"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34"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5"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6"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7"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8"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39"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0"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1"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42"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3"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4"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5"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6"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7"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8"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49"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50"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1"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2"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3"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4"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5"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6"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7"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58"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59"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0"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1"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2"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3"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4"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5"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2566" name="Rectangle 37"/>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7" name="Rectangle 38"/>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8" name="Rectangle 39"/>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69" name="Rectangle 40"/>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0" name="Rectangle 41"/>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1" name="Rectangle 42"/>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2" name="Rectangle 43"/>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3" name="Rectangle 44"/>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ahoma" panose="020B0604030504040204" pitchFamily="34" charset="0"/>
              <a:sym typeface="Tahoma" panose="020B0604030504040204" pitchFamily="34" charset="0"/>
            </a:endParaRPr>
          </a:p>
        </p:txBody>
      </p:sp>
      <p:sp>
        <p:nvSpPr>
          <p:cNvPr id="22574" name="Rectangle 45"/>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5" name="Rectangle 46"/>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6" name="Rectangle 47"/>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7" name="Rectangle 48"/>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8" name="Rectangle 49"/>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79" name="Rectangle 50"/>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0" name="Rectangle 51"/>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0" name="Rectangle 52"/>
          <p:cNvSpPr>
            <a:spLocks noChangeArrowheads="1"/>
          </p:cNvSpPr>
          <p:nvPr/>
        </p:nvSpPr>
        <p:spPr bwMode="auto">
          <a:xfrm>
            <a:off x="5486400" y="4953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2582" name="Rectangle 53"/>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3" name="Rectangle 54"/>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4" name="Rectangle 55"/>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5" name="Rectangle 56"/>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6" name="Rectangle 57"/>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7" name="Rectangle 58"/>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8" name="Rectangle 59"/>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89" name="Rectangle 60"/>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0" name="Rectangle 61"/>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1" name="Rectangle 62"/>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2" name="Rectangle 63"/>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3" name="Rectangle 64"/>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4" name="Rectangle 65"/>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5" name="Rectangle 66"/>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6" name="Rectangle 67"/>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7" name="Rectangle 69"/>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8" name="Rectangle 70"/>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599" name="Rectangle 71"/>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0" name="Rectangle 72"/>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1" name="Rectangle 73"/>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2" name="Rectangle 74"/>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3" name="Rectangle 75"/>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4" name="Rectangle 76"/>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5" name="Rectangle 77"/>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6" name="Rectangle 78"/>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7" name="Rectangle 79"/>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8" name="Rectangle 80"/>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09" name="Rectangle 81"/>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0" name="Rectangle 82"/>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1" name="Rectangle 83"/>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2" name="Rectangle 84"/>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3" name="Rectangle 85"/>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4" name="Rectangle 86"/>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5" name="Rectangle 87"/>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6" name="Rectangle 88"/>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7" name="Rectangle 89"/>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8" name="Rectangle 90"/>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19" name="Rectangle 91"/>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0" name="Rectangle 92"/>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1" name="Rectangle 93"/>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2" name="Rectangle 94"/>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3" name="Rectangle 95"/>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4" name="Rectangle 96"/>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5" name="Rectangle 97"/>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6" name="Rectangle 98"/>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7" name="Rectangle 99"/>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8" name="Rectangle 100"/>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29" name="Rectangle 101"/>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0" name="Rectangle 102"/>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1" name="Rectangle 103"/>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2632" name="Rectangle 104"/>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29802" name="Picture 105"/>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2634" name="Rectangle 106"/>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2635" name="Rectangle 107"/>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2636" name="Rectangle 108"/>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2637" name="Rectangle 109"/>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2638" name="Rectangle 110"/>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2639" name="Rectangle 111"/>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2640" name="Rectangle 112"/>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2641" name="Rectangle 113"/>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2642" name="Rectangle 11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2643" name="Rectangle 11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2644" name="Rectangle 11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2645" name="Rectangle 11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2646" name="Rectangle 11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2647" name="Rectangle 11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2648" name="Rectangle 12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2649" name="Rectangle 12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2650" name="Rectangle 12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2651" name="Rectangle 123"/>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2652" name="Rectangle 124"/>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2653" name="Rectangle 125"/>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2654" name="Group 127"/>
          <p:cNvGrpSpPr/>
          <p:nvPr/>
        </p:nvGrpSpPr>
        <p:grpSpPr bwMode="auto">
          <a:xfrm>
            <a:off x="2438400" y="1676401"/>
            <a:ext cx="1447800" cy="4494213"/>
            <a:chOff x="0" y="0"/>
            <a:chExt cx="1056" cy="1392"/>
          </a:xfrm>
        </p:grpSpPr>
        <p:sp>
          <p:nvSpPr>
            <p:cNvPr id="22655" name="Line 128"/>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656" name="Line 129"/>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2657" name="Line 130"/>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2658" name="Text Box 131"/>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2659" name="Rectangle 132"/>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2660" name="Rectangle 133"/>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2661" name="Rectangle 134"/>
          <p:cNvSpPr>
            <a:spLocks noChangeArrowheads="1"/>
          </p:cNvSpPr>
          <p:nvPr/>
        </p:nvSpPr>
        <p:spPr bwMode="auto">
          <a:xfrm>
            <a:off x="2452689" y="4021138"/>
            <a:ext cx="1425575"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(7,1)</a:t>
            </a:r>
            <a:endParaRPr lang="en-US" altLang="zh-CN"/>
          </a:p>
        </p:txBody>
      </p:sp>
      <p:sp>
        <p:nvSpPr>
          <p:cNvPr id="22662" name="Rectangle 135"/>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2663" name="Rectangle 136"/>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2664" name="Rectangle 137"/>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2665" name="Rectangle 138"/>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9835" name="Rectangle 139"/>
          <p:cNvSpPr>
            <a:spLocks noChangeArrowheads="1"/>
          </p:cNvSpPr>
          <p:nvPr/>
        </p:nvSpPr>
        <p:spPr bwMode="auto">
          <a:xfrm>
            <a:off x="2452688" y="4021138"/>
            <a:ext cx="1414462" cy="322262"/>
          </a:xfrm>
          <a:prstGeom prst="rect">
            <a:avLst/>
          </a:prstGeom>
          <a:solidFill>
            <a:schemeClr val="bg1"/>
          </a:solidFill>
          <a:ln w="9525">
            <a:solidFill>
              <a:schemeClr val="bg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2000" b="1">
              <a:solidFill>
                <a:srgbClr val="000000"/>
              </a:solidFill>
              <a:latin typeface="楷体_GB2312" pitchFamily="1" charset="-122"/>
              <a:sym typeface="楷体_GB2312" pitchFamily="1" charset="-122"/>
            </a:endParaRPr>
          </a:p>
        </p:txBody>
      </p:sp>
      <p:sp>
        <p:nvSpPr>
          <p:cNvPr id="141"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699">
                                            <p:txEl>
                                              <p:pRg st="0" end="0"/>
                                            </p:txEl>
                                          </p:spTgt>
                                        </p:tgtEl>
                                        <p:attrNameLst>
                                          <p:attrName>style.visibility</p:attrName>
                                        </p:attrNameLst>
                                      </p:cBhvr>
                                      <p:to>
                                        <p:strVal val="visible"/>
                                      </p:to>
                                    </p:set>
                                    <p:animEffect filter="wipe(left)">
                                      <p:cBhvr>
                                        <p:cTn id="7" dur="500"/>
                                        <p:tgtEl>
                                          <p:spTgt spid="2969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9750"/>
                                        </p:tgtEl>
                                        <p:attrNameLst>
                                          <p:attrName>style.visibility</p:attrName>
                                        </p:attrNameLst>
                                      </p:cBhvr>
                                      <p:to>
                                        <p:strVal val="visible"/>
                                      </p:to>
                                    </p:set>
                                    <p:animEffect filter="wipe(down)">
                                      <p:cBhvr>
                                        <p:cTn id="12" dur="500"/>
                                        <p:tgtEl>
                                          <p:spTgt spid="29750"/>
                                        </p:tgtEl>
                                      </p:cBhvr>
                                    </p:animEffect>
                                  </p:childTnLst>
                                </p:cTn>
                              </p:par>
                            </p:childTnLst>
                          </p:cTn>
                        </p:par>
                        <p:par>
                          <p:cTn id="13" fill="hold">
                            <p:stCondLst>
                              <p:cond delay="500"/>
                            </p:stCondLst>
                            <p:childTnLst>
                              <p:par>
                                <p:cTn id="14" presetID="12" presetClass="entr" presetSubtype="4" fill="hold" nodeType="afterEffect">
                                  <p:stCondLst>
                                    <p:cond delay="0"/>
                                  </p:stCondLst>
                                  <p:childTnLst>
                                    <p:set>
                                      <p:cBhvr>
                                        <p:cTn id="15" dur="1" fill="hold">
                                          <p:stCondLst>
                                            <p:cond delay="0"/>
                                          </p:stCondLst>
                                        </p:cTn>
                                        <p:tgtEl>
                                          <p:spTgt spid="29802"/>
                                        </p:tgtEl>
                                        <p:attrNameLst>
                                          <p:attrName>style.visibility</p:attrName>
                                        </p:attrNameLst>
                                      </p:cBhvr>
                                      <p:to>
                                        <p:strVal val="visible"/>
                                      </p:to>
                                    </p:set>
                                    <p:animEffect filter="slide(fromBottom)">
                                      <p:cBhvr>
                                        <p:cTn id="16" dur="500"/>
                                        <p:tgtEl>
                                          <p:spTgt spid="29802"/>
                                        </p:tgtEl>
                                      </p:cBhvr>
                                    </p:animEffect>
                                  </p:childTnLst>
                                </p:cTn>
                              </p:par>
                            </p:childTnLst>
                          </p:cTn>
                        </p:par>
                        <p:par>
                          <p:cTn id="17" fill="hold">
                            <p:stCondLst>
                              <p:cond delay="1000"/>
                            </p:stCondLst>
                            <p:childTnLst>
                              <p:par>
                                <p:cTn id="18" presetID="22" presetClass="entr" presetSubtype="4" fill="hold" grpId="0" nodeType="afterEffect">
                                  <p:stCondLst>
                                    <p:cond delay="2000"/>
                                  </p:stCondLst>
                                  <p:childTnLst>
                                    <p:set>
                                      <p:cBhvr>
                                        <p:cTn id="19" dur="1" fill="hold">
                                          <p:stCondLst>
                                            <p:cond delay="0"/>
                                          </p:stCondLst>
                                        </p:cTn>
                                        <p:tgtEl>
                                          <p:spTgt spid="29835"/>
                                        </p:tgtEl>
                                        <p:attrNameLst>
                                          <p:attrName>style.visibility</p:attrName>
                                        </p:attrNameLst>
                                      </p:cBhvr>
                                      <p:to>
                                        <p:strVal val="visible"/>
                                      </p:to>
                                    </p:set>
                                    <p:animEffect filter="wipe(down)">
                                      <p:cBhvr>
                                        <p:cTn id="20" dur="500"/>
                                        <p:tgtEl>
                                          <p:spTgt spid="298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ldLvl="0" build="p"/>
      <p:bldP spid="29750" grpId="0" bldLvl="0" animBg="1"/>
      <p:bldP spid="29835" grpId="0" bldLvl="0" animBg="1"/>
    </p:bldLst>
  </p:timing>
</p:sld>
</file>

<file path=ppt/slides/slide5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22" name="Rectangle 68"/>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0723" name="Rectangle 138"/>
          <p:cNvSpPr>
            <a:spLocks noGrp="1"/>
          </p:cNvSpPr>
          <p:nvPr>
            <p:ph type="body" idx="4294967295"/>
          </p:nvPr>
        </p:nvSpPr>
        <p:spPr>
          <a:xfrm>
            <a:off x="3543300" y="1210470"/>
            <a:ext cx="8077200" cy="609600"/>
          </a:xfrm>
        </p:spPr>
        <p:txBody>
          <a:bodyPr vert="horz" wrap="square" anchor="ctr">
            <a:normAutofit fontScale="92500"/>
          </a:bodyPr>
          <a:lstStyle/>
          <a:p>
            <a:pPr marL="273050" indent="-273050">
              <a:buNone/>
            </a:pPr>
            <a:r>
              <a:rPr lang="en-US" altLang="zh-CN" sz="2000" noProof="1"/>
              <a:t>		</a:t>
            </a:r>
            <a:r>
              <a:rPr lang="zh-CN" altLang="en-US" sz="2200" b="1" noProof="1"/>
              <a:t>向右方、左方均不能前进，下方路不通，上方是来路，则后退</a:t>
            </a:r>
            <a:endParaRPr lang="zh-CN" altLang="en-US" sz="2200" b="1" noProof="1"/>
          </a:p>
        </p:txBody>
      </p:sp>
      <p:sp>
        <p:nvSpPr>
          <p:cNvPr id="23555" name="Rectangle 2"/>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pic>
        <p:nvPicPr>
          <p:cNvPr id="23556" name="Picture 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557"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58"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59"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0"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1"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2"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3"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4"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5"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66"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7"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8"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69"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0"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1"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2"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3"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74"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5"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6"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7"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8"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79"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0"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1"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3582"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3"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4"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5"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6"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7"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8"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89"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latin typeface="Tahoma" panose="020B0604030504040204" pitchFamily="34" charset="0"/>
              <a:sym typeface="Tahoma" panose="020B0604030504040204" pitchFamily="34" charset="0"/>
            </a:endParaRPr>
          </a:p>
        </p:txBody>
      </p:sp>
      <p:sp>
        <p:nvSpPr>
          <p:cNvPr id="23590" name="Rectangle 37"/>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1" name="Rectangle 38"/>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2" name="Rectangle 39"/>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3" name="Rectangle 40"/>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4" name="Rectangle 41"/>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5" name="Rectangle 42"/>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6" name="Rectangle 43"/>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6" name="Rectangle 44"/>
          <p:cNvSpPr>
            <a:spLocks noChangeArrowheads="1"/>
          </p:cNvSpPr>
          <p:nvPr/>
        </p:nvSpPr>
        <p:spPr bwMode="auto">
          <a:xfrm>
            <a:off x="5486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3598" name="Rectangle 45"/>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599" name="Rectangle 46"/>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0" name="Rectangle 47"/>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1" name="Rectangle 48"/>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2" name="Rectangle 49"/>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3" name="Rectangle 50"/>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4" name="Rectangle 51"/>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5" name="Rectangle 52"/>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3606" name="Rectangle 53"/>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7" name="Rectangle 54"/>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8" name="Rectangle 55"/>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09" name="Rectangle 56"/>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0" name="Rectangle 57"/>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1" name="Rectangle 58"/>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2" name="Rectangle 59"/>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3" name="Rectangle 60"/>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4" name="Rectangle 61"/>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5" name="Rectangle 62"/>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6" name="Rectangle 63"/>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7" name="Rectangle 64"/>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8" name="Rectangle 65"/>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19" name="Rectangle 66"/>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0" name="Rectangle 67"/>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1" name="Rectangle 69"/>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2" name="Rectangle 70"/>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3" name="Rectangle 71"/>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4" name="Rectangle 72"/>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5" name="Rectangle 73"/>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6" name="Rectangle 74"/>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7" name="Rectangle 75"/>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8" name="Rectangle 76"/>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29" name="Rectangle 77"/>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0" name="Rectangle 78"/>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1" name="Rectangle 79"/>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2" name="Rectangle 80"/>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3" name="Rectangle 81"/>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4" name="Rectangle 82"/>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5" name="Rectangle 83"/>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6" name="Rectangle 84"/>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7" name="Rectangle 85"/>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8" name="Rectangle 86"/>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39" name="Rectangle 87"/>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0" name="Rectangle 88"/>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1" name="Rectangle 89"/>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2" name="Rectangle 90"/>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3" name="Rectangle 91"/>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4" name="Rectangle 92"/>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5" name="Rectangle 93"/>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6" name="Rectangle 94"/>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3647" name="Rectangle 95"/>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48" name="Rectangle 96"/>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49" name="Rectangle 97"/>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0" name="Rectangle 98"/>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1" name="Rectangle 99"/>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2" name="Rectangle 100"/>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3" name="Rectangle 101"/>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4" name="Rectangle 102"/>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5" name="Rectangle 103"/>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3656" name="Rectangle 104"/>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0826" name="Picture 105"/>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658" name="Rectangle 106"/>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3659" name="Rectangle 107"/>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3660" name="Rectangle 108"/>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3661" name="Rectangle 109"/>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3662" name="Rectangle 110"/>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3663" name="Rectangle 111"/>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3664" name="Rectangle 112"/>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3665" name="Rectangle 113"/>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3666" name="Rectangle 114"/>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3667" name="Rectangle 115"/>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3668" name="Rectangle 116"/>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3669" name="Rectangle 117"/>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3670" name="Rectangle 118"/>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3671" name="Rectangle 119"/>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3672" name="Rectangle 120"/>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3673" name="Rectangle 121"/>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3674" name="Rectangle 122"/>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3675" name="Rectangle 123"/>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3676" name="Rectangle 124"/>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3677" name="Rectangle 125"/>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3678" name="Group 126"/>
          <p:cNvGrpSpPr/>
          <p:nvPr/>
        </p:nvGrpSpPr>
        <p:grpSpPr bwMode="auto">
          <a:xfrm>
            <a:off x="2438400" y="1676401"/>
            <a:ext cx="1447800" cy="4494213"/>
            <a:chOff x="0" y="0"/>
            <a:chExt cx="1056" cy="1392"/>
          </a:xfrm>
        </p:grpSpPr>
        <p:sp>
          <p:nvSpPr>
            <p:cNvPr id="23679"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80"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3681"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3682"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3683"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3684"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3685"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3686"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3687"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23688"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30858" name="Rectangle 137"/>
          <p:cNvSpPr>
            <a:spLocks noChangeArrowheads="1"/>
          </p:cNvSpPr>
          <p:nvPr/>
        </p:nvSpPr>
        <p:spPr bwMode="auto">
          <a:xfrm>
            <a:off x="2452688" y="4325938"/>
            <a:ext cx="1414462" cy="322262"/>
          </a:xfrm>
          <a:prstGeom prst="rect">
            <a:avLst/>
          </a:prstGeom>
          <a:solidFill>
            <a:schemeClr val="bg1"/>
          </a:solidFill>
          <a:ln w="9525">
            <a:solidFill>
              <a:schemeClr val="bg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2000" b="1">
              <a:solidFill>
                <a:srgbClr val="000000"/>
              </a:solidFill>
              <a:latin typeface="楷体_GB2312" pitchFamily="1" charset="-122"/>
              <a:sym typeface="楷体_GB2312" pitchFamily="1" charset="-122"/>
            </a:endParaRPr>
          </a:p>
        </p:txBody>
      </p:sp>
      <p:sp>
        <p:nvSpPr>
          <p:cNvPr id="14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723">
                                            <p:txEl>
                                              <p:pRg st="0" end="0"/>
                                            </p:txEl>
                                          </p:spTgt>
                                        </p:tgtEl>
                                        <p:attrNameLst>
                                          <p:attrName>style.visibility</p:attrName>
                                        </p:attrNameLst>
                                      </p:cBhvr>
                                      <p:to>
                                        <p:strVal val="visible"/>
                                      </p:to>
                                    </p:set>
                                    <p:animEffect filter="wipe(left)">
                                      <p:cBhvr>
                                        <p:cTn id="7" dur="500"/>
                                        <p:tgtEl>
                                          <p:spTgt spid="3072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0766"/>
                                        </p:tgtEl>
                                        <p:attrNameLst>
                                          <p:attrName>style.visibility</p:attrName>
                                        </p:attrNameLst>
                                      </p:cBhvr>
                                      <p:to>
                                        <p:strVal val="visible"/>
                                      </p:to>
                                    </p:set>
                                    <p:animEffect filter="wipe(down)">
                                      <p:cBhvr>
                                        <p:cTn id="12" dur="500"/>
                                        <p:tgtEl>
                                          <p:spTgt spid="30766"/>
                                        </p:tgtEl>
                                      </p:cBhvr>
                                    </p:animEffect>
                                  </p:childTnLst>
                                </p:cTn>
                              </p:par>
                            </p:childTnLst>
                          </p:cTn>
                        </p:par>
                        <p:par>
                          <p:cTn id="13" fill="hold">
                            <p:stCondLst>
                              <p:cond delay="500"/>
                            </p:stCondLst>
                            <p:childTnLst>
                              <p:par>
                                <p:cTn id="14" presetID="12" presetClass="entr" presetSubtype="4" fill="hold" nodeType="afterEffect">
                                  <p:stCondLst>
                                    <p:cond delay="0"/>
                                  </p:stCondLst>
                                  <p:childTnLst>
                                    <p:set>
                                      <p:cBhvr>
                                        <p:cTn id="15" dur="1" fill="hold">
                                          <p:stCondLst>
                                            <p:cond delay="0"/>
                                          </p:stCondLst>
                                        </p:cTn>
                                        <p:tgtEl>
                                          <p:spTgt spid="30826"/>
                                        </p:tgtEl>
                                        <p:attrNameLst>
                                          <p:attrName>style.visibility</p:attrName>
                                        </p:attrNameLst>
                                      </p:cBhvr>
                                      <p:to>
                                        <p:strVal val="visible"/>
                                      </p:to>
                                    </p:set>
                                    <p:animEffect filter="slide(fromBottom)">
                                      <p:cBhvr>
                                        <p:cTn id="16" dur="500"/>
                                        <p:tgtEl>
                                          <p:spTgt spid="30826"/>
                                        </p:tgtEl>
                                      </p:cBhvr>
                                    </p:animEffect>
                                  </p:childTnLst>
                                </p:cTn>
                              </p:par>
                            </p:childTnLst>
                          </p:cTn>
                        </p:par>
                        <p:par>
                          <p:cTn id="17" fill="hold">
                            <p:stCondLst>
                              <p:cond delay="1000"/>
                            </p:stCondLst>
                            <p:childTnLst>
                              <p:par>
                                <p:cTn id="18" presetID="22" presetClass="entr" presetSubtype="4" fill="hold" grpId="0" nodeType="afterEffect">
                                  <p:stCondLst>
                                    <p:cond delay="2000"/>
                                  </p:stCondLst>
                                  <p:childTnLst>
                                    <p:set>
                                      <p:cBhvr>
                                        <p:cTn id="19" dur="1" fill="hold">
                                          <p:stCondLst>
                                            <p:cond delay="0"/>
                                          </p:stCondLst>
                                        </p:cTn>
                                        <p:tgtEl>
                                          <p:spTgt spid="30858"/>
                                        </p:tgtEl>
                                        <p:attrNameLst>
                                          <p:attrName>style.visibility</p:attrName>
                                        </p:attrNameLst>
                                      </p:cBhvr>
                                      <p:to>
                                        <p:strVal val="visible"/>
                                      </p:to>
                                    </p:set>
                                    <p:animEffect filter="wipe(down)">
                                      <p:cBhvr>
                                        <p:cTn id="20" dur="500"/>
                                        <p:tgtEl>
                                          <p:spTgt spid="308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3" grpId="0" bldLvl="0" build="p"/>
      <p:bldP spid="30766" grpId="0" bldLvl="0" animBg="1"/>
      <p:bldP spid="30858" grpId="0" bldLvl="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7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pic>
        <p:nvPicPr>
          <p:cNvPr id="24578"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486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4579"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80"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1"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2"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3"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4"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5"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6"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7"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88"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89"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0"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1"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2"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3"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4"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5"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596"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7"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8"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599"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0"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1"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2"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3"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604"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5"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6"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7"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8"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09"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0"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0" name="Rectangle 35"/>
          <p:cNvSpPr>
            <a:spLocks noChangeArrowheads="1"/>
          </p:cNvSpPr>
          <p:nvPr/>
        </p:nvSpPr>
        <p:spPr bwMode="auto">
          <a:xfrm>
            <a:off x="5486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4612"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3"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4"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5"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6"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7"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8"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19"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4620"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1"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2"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3"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4"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5"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6"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7"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4628"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29"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0"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1"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2"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3"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4"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5"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6"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7"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8"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39"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0"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1"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2"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43"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4644"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4645"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4646"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4647"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4648"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4649"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4650"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4651"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2"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3"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4"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5"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6"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7"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8"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59"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60"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1"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2"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3"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4"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5"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6"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7"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68"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69"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0"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1"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2"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3"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4"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5"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6"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7"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4678"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79"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0"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1"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2"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3"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4"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5"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6"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4687"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4688"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1858" name="Picture 11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867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4690"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4691"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4692"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4693"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4694"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4695"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4696"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4697"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4698"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4699"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4700"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4701"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4702"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4703"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4704"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4705"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4706"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4707"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4708"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4709"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4710" name="Group 135"/>
          <p:cNvGrpSpPr/>
          <p:nvPr/>
        </p:nvGrpSpPr>
        <p:grpSpPr bwMode="auto">
          <a:xfrm>
            <a:off x="2438400" y="1676401"/>
            <a:ext cx="1447800" cy="4494213"/>
            <a:chOff x="0" y="0"/>
            <a:chExt cx="1056" cy="1392"/>
          </a:xfrm>
        </p:grpSpPr>
        <p:sp>
          <p:nvSpPr>
            <p:cNvPr id="24711" name="Line 13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4712" name="Line 13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4713" name="Line 13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4714" name="Text Box 13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4715" name="Rectangle 14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4716" name="Rectangle 14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4717" name="Rectangle 142"/>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4718" name="Rectangle 143"/>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4719" name="Rectangle 144"/>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1889" name="Rectangle 145"/>
          <p:cNvSpPr>
            <a:spLocks noChangeArrowheads="1"/>
          </p:cNvSpPr>
          <p:nvPr/>
        </p:nvSpPr>
        <p:spPr bwMode="auto">
          <a:xfrm>
            <a:off x="2438401" y="4325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1890" name="Rectangle 146"/>
          <p:cNvSpPr/>
          <p:nvPr/>
        </p:nvSpPr>
        <p:spPr>
          <a:xfrm>
            <a:off x="4082250" y="1289050"/>
            <a:ext cx="7772400" cy="609600"/>
          </a:xfrm>
          <a:prstGeom prst="rect">
            <a:avLst/>
          </a:prstGeom>
          <a:noFill/>
          <a:ln w="9525">
            <a:noFill/>
          </a:ln>
        </p:spPr>
        <p:txBody>
          <a:bodyPr/>
          <a:lstStyle/>
          <a:p>
            <a:pPr marL="742950" lvl="1" indent="-285750">
              <a:spcBef>
                <a:spcPct val="20000"/>
              </a:spcBef>
              <a:buClr>
                <a:schemeClr val="folHlink"/>
              </a:buClr>
            </a:pPr>
            <a:r>
              <a:rPr lang="en-US" altLang="zh-CN" b="1" noProof="1">
                <a:effectLst>
                  <a:outerShdw blurRad="38100" dist="38100" dir="2700000">
                    <a:srgbClr val="C0C0C0"/>
                  </a:outerShdw>
                </a:effectLst>
                <a:latin typeface="Tahoma" panose="020B0604030504040204" pitchFamily="34" charset="0"/>
                <a:cs typeface="+mn-ea"/>
              </a:rPr>
              <a:t>			</a:t>
            </a:r>
            <a:r>
              <a:rPr lang="zh-CN" altLang="en-US" sz="2200" b="1" noProof="1"/>
              <a:t>向右方前进一步</a:t>
            </a:r>
            <a:endParaRPr lang="zh-CN" altLang="en-US" sz="2200" b="1" noProof="1"/>
          </a:p>
        </p:txBody>
      </p:sp>
      <p:sp>
        <p:nvSpPr>
          <p:cNvPr id="14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890">
                                            <p:txEl>
                                              <p:pRg st="0" end="0"/>
                                            </p:txEl>
                                          </p:spTgt>
                                        </p:tgtEl>
                                        <p:attrNameLst>
                                          <p:attrName>style.visibility</p:attrName>
                                        </p:attrNameLst>
                                      </p:cBhvr>
                                      <p:to>
                                        <p:strVal val="visible"/>
                                      </p:to>
                                    </p:set>
                                    <p:animEffect filter="wipe(left)">
                                      <p:cBhvr>
                                        <p:cTn id="7" dur="500"/>
                                        <p:tgtEl>
                                          <p:spTgt spid="3189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1780"/>
                                        </p:tgtEl>
                                        <p:attrNameLst>
                                          <p:attrName>style.visibility</p:attrName>
                                        </p:attrNameLst>
                                      </p:cBhvr>
                                      <p:to>
                                        <p:strVal val="visible"/>
                                      </p:to>
                                    </p:set>
                                    <p:animEffect filter="wipe(down)">
                                      <p:cBhvr>
                                        <p:cTn id="12" dur="500"/>
                                        <p:tgtEl>
                                          <p:spTgt spid="31780"/>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1858"/>
                                        </p:tgtEl>
                                        <p:attrNameLst>
                                          <p:attrName>style.visibility</p:attrName>
                                        </p:attrNameLst>
                                      </p:cBhvr>
                                      <p:to>
                                        <p:strVal val="visible"/>
                                      </p:to>
                                    </p:set>
                                    <p:animEffect filter="slide(fromLeft)">
                                      <p:cBhvr>
                                        <p:cTn id="16" dur="500"/>
                                        <p:tgtEl>
                                          <p:spTgt spid="31858"/>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1889"/>
                                        </p:tgtEl>
                                        <p:attrNameLst>
                                          <p:attrName>style.visibility</p:attrName>
                                        </p:attrNameLst>
                                      </p:cBhvr>
                                      <p:to>
                                        <p:strVal val="visible"/>
                                      </p:to>
                                    </p:set>
                                    <p:anim calcmode="lin" valueType="num">
                                      <p:cBhvr>
                                        <p:cTn id="20" dur="500" fill="hold"/>
                                        <p:tgtEl>
                                          <p:spTgt spid="31889"/>
                                        </p:tgtEl>
                                        <p:attrNameLst>
                                          <p:attrName>ppt_x</p:attrName>
                                        </p:attrNameLst>
                                      </p:cBhvr>
                                      <p:tavLst>
                                        <p:tav tm="0">
                                          <p:val>
                                            <p:strVal val="#ppt_x"/>
                                          </p:val>
                                        </p:tav>
                                        <p:tav tm="100000">
                                          <p:val>
                                            <p:strVal val="#ppt_x"/>
                                          </p:val>
                                        </p:tav>
                                      </p:tavLst>
                                    </p:anim>
                                    <p:anim calcmode="lin" valueType="num">
                                      <p:cBhvr>
                                        <p:cTn id="21" dur="500" fill="hold"/>
                                        <p:tgtEl>
                                          <p:spTgt spid="318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80" grpId="0" bldLvl="0" animBg="1"/>
      <p:bldP spid="31889" grpId="0" bldLvl="0" animBg="1"/>
      <p:bldP spid="31890" grpId="0" bldLvl="0" build="p"/>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25602"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867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772" name="Rectangle 3"/>
          <p:cNvSpPr>
            <a:spLocks noChangeArrowheads="1"/>
          </p:cNvSpPr>
          <p:nvPr/>
        </p:nvSpPr>
        <p:spPr bwMode="auto">
          <a:xfrm>
            <a:off x="5867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04" name="Rectangle 4"/>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05" name="Rectangle 5"/>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6" name="Rectangle 6"/>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7" name="Rectangle 7"/>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8" name="Rectangle 8"/>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09" name="Rectangle 9"/>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0" name="Rectangle 10"/>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1" name="Rectangle 11"/>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2" name="Rectangle 12"/>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13" name="Rectangle 13"/>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4" name="Rectangle 14"/>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5" name="Rectangle 15"/>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6" name="Rectangle 16"/>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7" name="Rectangle 17"/>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8" name="Rectangle 18"/>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19" name="Rectangle 19"/>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0" name="Rectangle 20"/>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21" name="Rectangle 21"/>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2" name="Rectangle 22"/>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3" name="Rectangle 23"/>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4" name="Rectangle 24"/>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5" name="Rectangle 25"/>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6" name="Rectangle 26"/>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7" name="Rectangle 27"/>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28" name="Rectangle 28"/>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29" name="Rectangle 29"/>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0" name="Rectangle 30"/>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1" name="Rectangle 31"/>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2" name="Rectangle 32"/>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3" name="Rectangle 33"/>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4" name="Rectangle 34"/>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5" name="Rectangle 35"/>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6" name="Rectangle 36"/>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5637"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8"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39"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0"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1"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2"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3"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5644"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5"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6"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7"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8"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49"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0"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1"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5652"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3"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4"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5"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6"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7"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8"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59"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0"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1"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2"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3"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4"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5"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6"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7"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8"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69"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0"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1"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2"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3"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4"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5"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6"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7"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8"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79"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0"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1"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2"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3"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4"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5"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6"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7"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8"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89"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0"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1"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2"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5693"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4"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5"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6"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7"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8"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699"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0"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1"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5702"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2872"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48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704"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5705"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5706"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5707"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5708"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5709"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5710"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5711"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5712"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5713"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5714"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5715"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5716"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5717"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5718"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5719"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5720"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5721"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5722"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5723"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2893" name="Rectangle 125"/>
          <p:cNvSpPr>
            <a:spLocks noChangeArrowheads="1"/>
          </p:cNvSpPr>
          <p:nvPr/>
        </p:nvSpPr>
        <p:spPr bwMode="auto">
          <a:xfrm>
            <a:off x="2362200" y="1299639"/>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5725" name="Group 126"/>
          <p:cNvGrpSpPr/>
          <p:nvPr/>
        </p:nvGrpSpPr>
        <p:grpSpPr bwMode="auto">
          <a:xfrm>
            <a:off x="2438400" y="1676401"/>
            <a:ext cx="1447800" cy="4494213"/>
            <a:chOff x="0" y="0"/>
            <a:chExt cx="1056" cy="1392"/>
          </a:xfrm>
        </p:grpSpPr>
        <p:sp>
          <p:nvSpPr>
            <p:cNvPr id="25726"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27"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5728"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5729"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5730"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5731"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5732"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5733"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5734"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2904" name="Rectangle 136"/>
          <p:cNvSpPr>
            <a:spLocks noChangeArrowheads="1"/>
          </p:cNvSpPr>
          <p:nvPr/>
        </p:nvSpPr>
        <p:spPr bwMode="auto">
          <a:xfrm>
            <a:off x="2438401" y="4021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5736"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13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893">
                                            <p:txEl>
                                              <p:pRg st="0" end="0"/>
                                            </p:txEl>
                                          </p:spTgt>
                                        </p:tgtEl>
                                        <p:attrNameLst>
                                          <p:attrName>style.visibility</p:attrName>
                                        </p:attrNameLst>
                                      </p:cBhvr>
                                      <p:to>
                                        <p:strVal val="visible"/>
                                      </p:to>
                                    </p:set>
                                    <p:animEffect filter="wipe(left)">
                                      <p:cBhvr>
                                        <p:cTn id="7" dur="500"/>
                                        <p:tgtEl>
                                          <p:spTgt spid="3289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772"/>
                                        </p:tgtEl>
                                        <p:attrNameLst>
                                          <p:attrName>style.visibility</p:attrName>
                                        </p:attrNameLst>
                                      </p:cBhvr>
                                      <p:to>
                                        <p:strVal val="visible"/>
                                      </p:to>
                                    </p:set>
                                    <p:animEffect filter="wipe(left)">
                                      <p:cBhvr>
                                        <p:cTn id="12" dur="500"/>
                                        <p:tgtEl>
                                          <p:spTgt spid="32772"/>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2872"/>
                                        </p:tgtEl>
                                        <p:attrNameLst>
                                          <p:attrName>style.visibility</p:attrName>
                                        </p:attrNameLst>
                                      </p:cBhvr>
                                      <p:to>
                                        <p:strVal val="visible"/>
                                      </p:to>
                                    </p:set>
                                    <p:animEffect filter="slide(fromLeft)">
                                      <p:cBhvr>
                                        <p:cTn id="16" dur="500"/>
                                        <p:tgtEl>
                                          <p:spTgt spid="32872"/>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2904"/>
                                        </p:tgtEl>
                                        <p:attrNameLst>
                                          <p:attrName>style.visibility</p:attrName>
                                        </p:attrNameLst>
                                      </p:cBhvr>
                                      <p:to>
                                        <p:strVal val="visible"/>
                                      </p:to>
                                    </p:set>
                                    <p:anim calcmode="lin" valueType="num">
                                      <p:cBhvr>
                                        <p:cTn id="20" dur="500" fill="hold"/>
                                        <p:tgtEl>
                                          <p:spTgt spid="32904"/>
                                        </p:tgtEl>
                                        <p:attrNameLst>
                                          <p:attrName>ppt_x</p:attrName>
                                        </p:attrNameLst>
                                      </p:cBhvr>
                                      <p:tavLst>
                                        <p:tav tm="0">
                                          <p:val>
                                            <p:strVal val="#ppt_x"/>
                                          </p:val>
                                        </p:tav>
                                        <p:tav tm="100000">
                                          <p:val>
                                            <p:strVal val="#ppt_x"/>
                                          </p:val>
                                        </p:tav>
                                      </p:tavLst>
                                    </p:anim>
                                    <p:anim calcmode="lin" valueType="num">
                                      <p:cBhvr>
                                        <p:cTn id="21" dur="500" fill="hold"/>
                                        <p:tgtEl>
                                          <p:spTgt spid="3290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2" grpId="0" bldLvl="0" animBg="1"/>
      <p:bldP spid="32893" grpId="0" bldLvl="0" build="p"/>
      <p:bldP spid="32904" grpId="0" bldLvl="0" animBg="1"/>
    </p:bldLst>
  </p:timing>
</p:sld>
</file>

<file path=ppt/slides/slide6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75"/>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sp>
        <p:nvSpPr>
          <p:cNvPr id="33795" name="Rectangle 135"/>
          <p:cNvSpPr>
            <a:spLocks noGrp="1"/>
          </p:cNvSpPr>
          <p:nvPr>
            <p:ph type="body" idx="4294967295"/>
          </p:nvPr>
        </p:nvSpPr>
        <p:spPr>
          <a:xfrm>
            <a:off x="4114800" y="1216025"/>
            <a:ext cx="7700962" cy="574675"/>
          </a:xfrm>
        </p:spPr>
        <p:txBody>
          <a:bodyPr vert="horz" wrap="square" anchor="ctr"/>
          <a:lstStyle/>
          <a:p>
            <a:pPr lvl="1">
              <a:buFont typeface="Wingdings" panose="05000000000000000000" pitchFamily="2" charset="2"/>
              <a:buNone/>
            </a:pPr>
            <a:r>
              <a:rPr lang="en-US" altLang="zh-CN" noProof="1"/>
              <a:t>			</a:t>
            </a:r>
            <a:r>
              <a:rPr lang="zh-CN" altLang="en-US" sz="2200" b="1" noProof="1"/>
              <a:t>向下方前进一步</a:t>
            </a:r>
            <a:endParaRPr lang="zh-CN" altLang="en-US" sz="2200" b="1" noProof="1"/>
          </a:p>
        </p:txBody>
      </p:sp>
      <p:pic>
        <p:nvPicPr>
          <p:cNvPr id="26627"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48400" y="4191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6628"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29"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0"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1"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2"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3"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4"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5"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6"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37"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8"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39"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0"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1"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2"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3"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4"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45"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6"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7"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8"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49"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0"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1"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2"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53"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4"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5"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6"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7"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8"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59"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0"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61"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1" name="Rectangle 37"/>
          <p:cNvSpPr>
            <a:spLocks noChangeArrowheads="1"/>
          </p:cNvSpPr>
          <p:nvPr/>
        </p:nvSpPr>
        <p:spPr bwMode="auto">
          <a:xfrm>
            <a:off x="6248400" y="4191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6663"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4"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5"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6"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7"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68"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6669"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0"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1"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2"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3"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4"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5"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6"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6677"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8"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79"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0"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1"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2"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3"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4"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5"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6"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7"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8"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89"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0"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1"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692"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6693"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6694"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6695"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6696"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6697"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6698"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6699"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6700"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1"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2"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3"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4"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5"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6"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7"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8"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09"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0"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1"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2"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3"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4"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5"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6"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7"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8"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19"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0"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1"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2"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3"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4"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5"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6"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6727"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8"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29"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0"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1"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2"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3"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4"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5"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6736"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6737"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3907" name="Picture 11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48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6739"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6740"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6741"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6742"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6743"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6744"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6745"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6746"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6747"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6748"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6749"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6750"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6751"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6752"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6753"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6754"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6755"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6756"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6757"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6758"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6759" name="Group 136"/>
          <p:cNvGrpSpPr/>
          <p:nvPr/>
        </p:nvGrpSpPr>
        <p:grpSpPr bwMode="auto">
          <a:xfrm>
            <a:off x="2438400" y="1676401"/>
            <a:ext cx="1447800" cy="4494213"/>
            <a:chOff x="0" y="0"/>
            <a:chExt cx="1056" cy="1392"/>
          </a:xfrm>
        </p:grpSpPr>
        <p:sp>
          <p:nvSpPr>
            <p:cNvPr id="26760" name="Line 13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6761" name="Line 13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6762" name="Line 13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6763" name="Text Box 14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6764" name="Rectangle 14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6765" name="Rectangle 14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6766" name="Rectangle 14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6767" name="Rectangle 14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6768" name="Rectangle 14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3938" name="Rectangle 146"/>
          <p:cNvSpPr>
            <a:spLocks noChangeArrowheads="1"/>
          </p:cNvSpPr>
          <p:nvPr/>
        </p:nvSpPr>
        <p:spPr bwMode="auto">
          <a:xfrm>
            <a:off x="2438401" y="3716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(6,1)</a:t>
            </a:r>
            <a:endParaRPr lang="en-US" altLang="zh-CN"/>
          </a:p>
        </p:txBody>
      </p:sp>
      <p:sp>
        <p:nvSpPr>
          <p:cNvPr id="26770" name="Rectangle 14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6771" name="Rectangle 14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15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795">
                                            <p:txEl>
                                              <p:pRg st="0" end="0"/>
                                            </p:txEl>
                                          </p:spTgt>
                                        </p:tgtEl>
                                        <p:attrNameLst>
                                          <p:attrName>style.visibility</p:attrName>
                                        </p:attrNameLst>
                                      </p:cBhvr>
                                      <p:to>
                                        <p:strVal val="visible"/>
                                      </p:to>
                                    </p:set>
                                    <p:animEffect filter="wipe(left)">
                                      <p:cBhvr>
                                        <p:cTn id="7" dur="500"/>
                                        <p:tgtEl>
                                          <p:spTgt spid="3379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831"/>
                                        </p:tgtEl>
                                        <p:attrNameLst>
                                          <p:attrName>style.visibility</p:attrName>
                                        </p:attrNameLst>
                                      </p:cBhvr>
                                      <p:to>
                                        <p:strVal val="visible"/>
                                      </p:to>
                                    </p:set>
                                    <p:animEffect filter="wipe(up)">
                                      <p:cBhvr>
                                        <p:cTn id="12" dur="500"/>
                                        <p:tgtEl>
                                          <p:spTgt spid="33831"/>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3907"/>
                                        </p:tgtEl>
                                        <p:attrNameLst>
                                          <p:attrName>style.visibility</p:attrName>
                                        </p:attrNameLst>
                                      </p:cBhvr>
                                      <p:to>
                                        <p:strVal val="visible"/>
                                      </p:to>
                                    </p:set>
                                    <p:animEffect filter="slide(fromTop)">
                                      <p:cBhvr>
                                        <p:cTn id="16" dur="500"/>
                                        <p:tgtEl>
                                          <p:spTgt spid="33907"/>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3938"/>
                                        </p:tgtEl>
                                        <p:attrNameLst>
                                          <p:attrName>style.visibility</p:attrName>
                                        </p:attrNameLst>
                                      </p:cBhvr>
                                      <p:to>
                                        <p:strVal val="visible"/>
                                      </p:to>
                                    </p:set>
                                    <p:anim calcmode="lin" valueType="num">
                                      <p:cBhvr>
                                        <p:cTn id="20" dur="500" fill="hold"/>
                                        <p:tgtEl>
                                          <p:spTgt spid="33938"/>
                                        </p:tgtEl>
                                        <p:attrNameLst>
                                          <p:attrName>ppt_x</p:attrName>
                                        </p:attrNameLst>
                                      </p:cBhvr>
                                      <p:tavLst>
                                        <p:tav tm="0">
                                          <p:val>
                                            <p:strVal val="#ppt_x"/>
                                          </p:val>
                                        </p:tav>
                                        <p:tav tm="100000">
                                          <p:val>
                                            <p:strVal val="#ppt_x"/>
                                          </p:val>
                                        </p:tav>
                                      </p:tavLst>
                                    </p:anim>
                                    <p:anim calcmode="lin" valueType="num">
                                      <p:cBhvr>
                                        <p:cTn id="21" dur="500" fill="hold"/>
                                        <p:tgtEl>
                                          <p:spTgt spid="339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5" grpId="0" bldLvl="0" build="p"/>
      <p:bldP spid="33831" grpId="0" bldLvl="0" animBg="1"/>
      <p:bldP spid="33938" grpId="0" bldLvl="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66"/>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pic>
        <p:nvPicPr>
          <p:cNvPr id="27650"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248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765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5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59"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60"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1"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2"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3"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4"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5"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6"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7"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68"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69"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0"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1"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2"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3"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4"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5"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76"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7"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8"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79"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0"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1"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2"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3"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4"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5"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7686"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7"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8"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89"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0"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1"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7692"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3" name="Rectangle 45"/>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4" name="Rectangle 46"/>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5" name="Rectangle 47"/>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6" name="Rectangle 48"/>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7" name="Rectangle 49"/>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698" name="Rectangle 50"/>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7699" name="Rectangle 51"/>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0" name="Rectangle 52"/>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1" name="Rectangle 53"/>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2" name="Rectangle 54"/>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3" name="Rectangle 55"/>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4" name="Rectangle 56"/>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5" name="Rectangle 57"/>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6" name="Rectangle 58"/>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7" name="Rectangle 59"/>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8" name="Rectangle 60"/>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09" name="Rectangle 61"/>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0" name="Rectangle 62"/>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1" name="Rectangle 63"/>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2" name="Rectangle 64"/>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3" name="Rectangle 65"/>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4" name="Rectangle 67"/>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5" name="Rectangle 68"/>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6" name="Rectangle 69"/>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7" name="Rectangle 70"/>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8" name="Rectangle 71"/>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19" name="Rectangle 72"/>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0" name="Rectangle 73"/>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1" name="Rectangle 74"/>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2" name="Rectangle 75"/>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3" name="Rectangle 76"/>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4" name="Rectangle 77"/>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5" name="Rectangle 78"/>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6" name="Rectangle 79"/>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7" name="Rectangle 80"/>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8" name="Rectangle 81"/>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29" name="Rectangle 82"/>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0" name="Rectangle 83"/>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1" name="Rectangle 84"/>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2" name="Rectangle 85"/>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3" name="Rectangle 86"/>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4" name="Rectangle 87"/>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5" name="Rectangle 88"/>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6" name="Rectangle 89"/>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7" name="Rectangle 90"/>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8" name="Rectangle 91"/>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39" name="Rectangle 92"/>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7740" name="Rectangle 93"/>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1" name="Rectangle 94"/>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2" name="Rectangle 95"/>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3" name="Rectangle 96"/>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4" name="Rectangle 97"/>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5" name="Rectangle 98"/>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6" name="Rectangle 99"/>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7" name="Rectangle 100"/>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8" name="Rectangle 101"/>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7749" name="Rectangle 102"/>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4919" name="Picture 103"/>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629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7751" name="Rectangle 104"/>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7752" name="Rectangle 105"/>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7753" name="Rectangle 106"/>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7754" name="Rectangle 107"/>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7755" name="Rectangle 108"/>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7756" name="Rectangle 109"/>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7757" name="Rectangle 110"/>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7758" name="Rectangle 111"/>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7759" name="Rectangle 112"/>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7760" name="Rectangle 113"/>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7761" name="Rectangle 114"/>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7762" name="Rectangle 115"/>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7763" name="Rectangle 116"/>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7764" name="Rectangle 117"/>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7765" name="Rectangle 118"/>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7766" name="Rectangle 119"/>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7767" name="Rectangle 120"/>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7768" name="Rectangle 121"/>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7769" name="Rectangle 122"/>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7770" name="Rectangle 123"/>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4940" name="Rectangle 124"/>
          <p:cNvSpPr>
            <a:spLocks noChangeArrowheads="1"/>
          </p:cNvSpPr>
          <p:nvPr/>
        </p:nvSpPr>
        <p:spPr bwMode="auto">
          <a:xfrm>
            <a:off x="3237390" y="1286920"/>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7772" name="Group 125"/>
          <p:cNvGrpSpPr/>
          <p:nvPr/>
        </p:nvGrpSpPr>
        <p:grpSpPr bwMode="auto">
          <a:xfrm>
            <a:off x="2438400" y="1676401"/>
            <a:ext cx="1447800" cy="4494213"/>
            <a:chOff x="0" y="0"/>
            <a:chExt cx="1056" cy="1392"/>
          </a:xfrm>
        </p:grpSpPr>
        <p:sp>
          <p:nvSpPr>
            <p:cNvPr id="27773" name="Line 126"/>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7774" name="Line 127"/>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7775" name="Line 128"/>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7776" name="Text Box 129"/>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7777" name="Rectangle 130"/>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7778" name="Rectangle 131"/>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7779" name="Rectangle 132"/>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7780" name="Rectangle 133"/>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7781" name="Rectangle 134"/>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4951" name="Rectangle 135"/>
          <p:cNvSpPr>
            <a:spLocks noChangeArrowheads="1"/>
          </p:cNvSpPr>
          <p:nvPr/>
        </p:nvSpPr>
        <p:spPr bwMode="auto">
          <a:xfrm>
            <a:off x="2438401" y="34115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27783" name="Rectangle 136"/>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7784" name="Rectangle 137"/>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7785" name="Rectangle 138"/>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4955" name="Rectangle 139"/>
          <p:cNvSpPr>
            <a:spLocks noChangeArrowheads="1"/>
          </p:cNvSpPr>
          <p:nvPr/>
        </p:nvSpPr>
        <p:spPr bwMode="auto">
          <a:xfrm>
            <a:off x="6248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141"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940">
                                            <p:txEl>
                                              <p:pRg st="0" end="0"/>
                                            </p:txEl>
                                          </p:spTgt>
                                        </p:tgtEl>
                                        <p:attrNameLst>
                                          <p:attrName>style.visibility</p:attrName>
                                        </p:attrNameLst>
                                      </p:cBhvr>
                                      <p:to>
                                        <p:strVal val="visible"/>
                                      </p:to>
                                    </p:set>
                                    <p:animEffect filter="wipe(left)">
                                      <p:cBhvr>
                                        <p:cTn id="7" dur="500"/>
                                        <p:tgtEl>
                                          <p:spTgt spid="3494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4955"/>
                                        </p:tgtEl>
                                        <p:attrNameLst>
                                          <p:attrName>style.visibility</p:attrName>
                                        </p:attrNameLst>
                                      </p:cBhvr>
                                      <p:to>
                                        <p:strVal val="visible"/>
                                      </p:to>
                                    </p:set>
                                    <p:animEffect filter="wipe(left)">
                                      <p:cBhvr>
                                        <p:cTn id="12" dur="500"/>
                                        <p:tgtEl>
                                          <p:spTgt spid="34955"/>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4919"/>
                                        </p:tgtEl>
                                        <p:attrNameLst>
                                          <p:attrName>style.visibility</p:attrName>
                                        </p:attrNameLst>
                                      </p:cBhvr>
                                      <p:to>
                                        <p:strVal val="visible"/>
                                      </p:to>
                                    </p:set>
                                    <p:animEffect filter="slide(fromLeft)">
                                      <p:cBhvr>
                                        <p:cTn id="16" dur="500"/>
                                        <p:tgtEl>
                                          <p:spTgt spid="34919"/>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4951"/>
                                        </p:tgtEl>
                                        <p:attrNameLst>
                                          <p:attrName>style.visibility</p:attrName>
                                        </p:attrNameLst>
                                      </p:cBhvr>
                                      <p:to>
                                        <p:strVal val="visible"/>
                                      </p:to>
                                    </p:set>
                                    <p:anim calcmode="lin" valueType="num">
                                      <p:cBhvr>
                                        <p:cTn id="20" dur="500" fill="hold"/>
                                        <p:tgtEl>
                                          <p:spTgt spid="34951"/>
                                        </p:tgtEl>
                                        <p:attrNameLst>
                                          <p:attrName>ppt_x</p:attrName>
                                        </p:attrNameLst>
                                      </p:cBhvr>
                                      <p:tavLst>
                                        <p:tav tm="0">
                                          <p:val>
                                            <p:strVal val="#ppt_x"/>
                                          </p:val>
                                        </p:tav>
                                        <p:tav tm="100000">
                                          <p:val>
                                            <p:strVal val="#ppt_x"/>
                                          </p:val>
                                        </p:tav>
                                      </p:tavLst>
                                    </p:anim>
                                    <p:anim calcmode="lin" valueType="num">
                                      <p:cBhvr>
                                        <p:cTn id="21" dur="500" fill="hold"/>
                                        <p:tgtEl>
                                          <p:spTgt spid="3495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40" grpId="0" bldLvl="0" build="p"/>
      <p:bldP spid="34951" grpId="0" bldLvl="0" animBg="1"/>
      <p:bldP spid="34955" grpId="0" bldLvl="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28674"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629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8675"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76"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7"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8"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79"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0"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1"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2"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3"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84"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5"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6"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7"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8"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89"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0"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1"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692"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3"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4"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5"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6"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7"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8"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699"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0"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1"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2"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3"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4"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5"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6"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07"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8"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09"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10"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1"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2"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3"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4"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5"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8716"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17"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5887" name="Rectangle 46"/>
          <p:cNvSpPr>
            <a:spLocks noChangeArrowheads="1"/>
          </p:cNvSpPr>
          <p:nvPr/>
        </p:nvSpPr>
        <p:spPr bwMode="auto">
          <a:xfrm>
            <a:off x="6629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8719"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0"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1"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2"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3"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8724"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5"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6"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7"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8"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29"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0"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1"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2"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3"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4"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5"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6"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7"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8"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39"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0"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1"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2"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3"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4"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5"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6"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7"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8"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49"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0"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1"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2"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3"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4"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5"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6"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7"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8"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59"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0"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1"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2"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3"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4"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5"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6"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7"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8"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69"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0"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1"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2"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3"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8774"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35944"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8776"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8777"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8778"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8779"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8780"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8781"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8782"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8783"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8784"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8785"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8786"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8787"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8788"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8789"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8790"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8791"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8792"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8793"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8794"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8795"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5965" name="Rectangle 125"/>
          <p:cNvSpPr>
            <a:spLocks noChangeArrowheads="1"/>
          </p:cNvSpPr>
          <p:nvPr/>
        </p:nvSpPr>
        <p:spPr bwMode="auto">
          <a:xfrm>
            <a:off x="3314700" y="1247399"/>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28797" name="Group 126"/>
          <p:cNvGrpSpPr/>
          <p:nvPr/>
        </p:nvGrpSpPr>
        <p:grpSpPr bwMode="auto">
          <a:xfrm>
            <a:off x="2438400" y="1676401"/>
            <a:ext cx="1447800" cy="4494213"/>
            <a:chOff x="0" y="0"/>
            <a:chExt cx="1056" cy="1392"/>
          </a:xfrm>
        </p:grpSpPr>
        <p:sp>
          <p:nvSpPr>
            <p:cNvPr id="28798"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799"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8800"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8801"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8802"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8803"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8804"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8805"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8806"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5976" name="Rectangle 136"/>
          <p:cNvSpPr>
            <a:spLocks noChangeArrowheads="1"/>
          </p:cNvSpPr>
          <p:nvPr/>
        </p:nvSpPr>
        <p:spPr bwMode="auto">
          <a:xfrm>
            <a:off x="2438401" y="31067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28808"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8809"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8810"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28811"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142"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5965">
                                            <p:txEl>
                                              <p:pRg st="0" end="0"/>
                                            </p:txEl>
                                          </p:spTgt>
                                        </p:tgtEl>
                                        <p:attrNameLst>
                                          <p:attrName>style.visibility</p:attrName>
                                        </p:attrNameLst>
                                      </p:cBhvr>
                                      <p:to>
                                        <p:strVal val="visible"/>
                                      </p:to>
                                    </p:set>
                                    <p:animEffect filter="wipe(left)">
                                      <p:cBhvr>
                                        <p:cTn id="7" dur="500"/>
                                        <p:tgtEl>
                                          <p:spTgt spid="3596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5887"/>
                                        </p:tgtEl>
                                        <p:attrNameLst>
                                          <p:attrName>style.visibility</p:attrName>
                                        </p:attrNameLst>
                                      </p:cBhvr>
                                      <p:to>
                                        <p:strVal val="visible"/>
                                      </p:to>
                                    </p:set>
                                    <p:animEffect filter="wipe(left)">
                                      <p:cBhvr>
                                        <p:cTn id="12" dur="500"/>
                                        <p:tgtEl>
                                          <p:spTgt spid="35887"/>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5944"/>
                                        </p:tgtEl>
                                        <p:attrNameLst>
                                          <p:attrName>style.visibility</p:attrName>
                                        </p:attrNameLst>
                                      </p:cBhvr>
                                      <p:to>
                                        <p:strVal val="visible"/>
                                      </p:to>
                                    </p:set>
                                    <p:animEffect filter="slide(fromLeft)">
                                      <p:cBhvr>
                                        <p:cTn id="16" dur="500"/>
                                        <p:tgtEl>
                                          <p:spTgt spid="35944"/>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5976"/>
                                        </p:tgtEl>
                                        <p:attrNameLst>
                                          <p:attrName>style.visibility</p:attrName>
                                        </p:attrNameLst>
                                      </p:cBhvr>
                                      <p:to>
                                        <p:strVal val="visible"/>
                                      </p:to>
                                    </p:set>
                                    <p:anim calcmode="lin" valueType="num">
                                      <p:cBhvr>
                                        <p:cTn id="20" dur="500" fill="hold"/>
                                        <p:tgtEl>
                                          <p:spTgt spid="35976"/>
                                        </p:tgtEl>
                                        <p:attrNameLst>
                                          <p:attrName>ppt_x</p:attrName>
                                        </p:attrNameLst>
                                      </p:cBhvr>
                                      <p:tavLst>
                                        <p:tav tm="0">
                                          <p:val>
                                            <p:strVal val="#ppt_x"/>
                                          </p:val>
                                        </p:tav>
                                        <p:tav tm="100000">
                                          <p:val>
                                            <p:strVal val="#ppt_x"/>
                                          </p:val>
                                        </p:tav>
                                      </p:tavLst>
                                    </p:anim>
                                    <p:anim calcmode="lin" valueType="num">
                                      <p:cBhvr>
                                        <p:cTn id="21" dur="500" fill="hold"/>
                                        <p:tgtEl>
                                          <p:spTgt spid="359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87" grpId="0" bldLvl="0" animBg="1"/>
      <p:bldP spid="35965" grpId="0" bldLvl="0" build="p"/>
      <p:bldP spid="35976" grpId="0" bldLvl="0" animBg="1"/>
    </p:bldLst>
  </p:timing>
</p:sld>
</file>

<file path=ppt/slides/slide6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866" name="Rectangle 75"/>
          <p:cNvSpPr>
            <a:spLocks noGrp="1"/>
          </p:cNvSpPr>
          <p:nvPr>
            <p:ph type="title" idx="4294967295"/>
          </p:nvPr>
        </p:nvSpPr>
        <p:spPr>
          <a:xfrm>
            <a:off x="3962400" y="260350"/>
            <a:ext cx="8229600" cy="1143000"/>
          </a:xfrm>
        </p:spPr>
        <p:txBody>
          <a:bodyPr vert="horz" wrap="square" anchor="b"/>
          <a:lstStyle/>
          <a:p>
            <a:r>
              <a:rPr lang="en-US" altLang="zh-CN" b="1" noProof="1"/>
              <a:t> </a:t>
            </a:r>
            <a:endParaRPr lang="en-US" altLang="zh-CN" noProof="1"/>
          </a:p>
        </p:txBody>
      </p:sp>
      <p:sp>
        <p:nvSpPr>
          <p:cNvPr id="36867" name="Rectangle 135"/>
          <p:cNvSpPr>
            <a:spLocks noGrp="1"/>
          </p:cNvSpPr>
          <p:nvPr>
            <p:ph type="body" idx="4294967295"/>
          </p:nvPr>
        </p:nvSpPr>
        <p:spPr>
          <a:xfrm>
            <a:off x="4112419" y="1269999"/>
            <a:ext cx="7700962" cy="574675"/>
          </a:xfrm>
        </p:spPr>
        <p:txBody>
          <a:bodyPr vert="horz" wrap="square" anchor="ctr"/>
          <a:lstStyle/>
          <a:p>
            <a:pPr marL="273050" indent="-273050">
              <a:buNone/>
            </a:pPr>
            <a:r>
              <a:rPr lang="en-US" altLang="zh-CN" sz="2000" noProof="1"/>
              <a:t>			</a:t>
            </a:r>
            <a:r>
              <a:rPr lang="zh-CN" altLang="en-US" sz="2200" b="1" noProof="1"/>
              <a:t>向下方前进一步</a:t>
            </a:r>
            <a:endParaRPr lang="zh-CN" altLang="en-US" sz="2200" b="1" noProof="1"/>
          </a:p>
        </p:txBody>
      </p:sp>
      <p:pic>
        <p:nvPicPr>
          <p:cNvPr id="29699"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4572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700"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01"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2"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3"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4"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5"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6"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7"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08"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09"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0"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1"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2"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3"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4"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5"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6"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17"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8"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19"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0"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1"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2"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3"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4"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25"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6"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7"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8"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29"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0"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1"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2"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3"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4"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35"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6"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7"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8"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39"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0"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9741"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2"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43"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6913" name="Rectangle 47"/>
          <p:cNvSpPr>
            <a:spLocks noChangeArrowheads="1"/>
          </p:cNvSpPr>
          <p:nvPr/>
        </p:nvSpPr>
        <p:spPr bwMode="auto">
          <a:xfrm>
            <a:off x="7010400" y="4572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29745"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6"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7"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48"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29749"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0"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1"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2"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3"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4"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5"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6"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7"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8"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59"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0"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1"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2"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3"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64" name="Rectangle 67"/>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8</a:t>
            </a:r>
            <a:endParaRPr lang="en-US" altLang="zh-CN"/>
          </a:p>
        </p:txBody>
      </p:sp>
      <p:sp>
        <p:nvSpPr>
          <p:cNvPr id="29765" name="Rectangle 68"/>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1</a:t>
            </a:r>
            <a:endParaRPr lang="en-US" altLang="zh-CN"/>
          </a:p>
        </p:txBody>
      </p:sp>
      <p:sp>
        <p:nvSpPr>
          <p:cNvPr id="29766" name="Rectangle 69"/>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2</a:t>
            </a:r>
            <a:endParaRPr lang="en-US" altLang="zh-CN"/>
          </a:p>
        </p:txBody>
      </p:sp>
      <p:sp>
        <p:nvSpPr>
          <p:cNvPr id="29767" name="Rectangle 70"/>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3</a:t>
            </a:r>
            <a:endParaRPr lang="en-US" altLang="zh-CN"/>
          </a:p>
        </p:txBody>
      </p:sp>
      <p:sp>
        <p:nvSpPr>
          <p:cNvPr id="29768" name="Rectangle 71"/>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4</a:t>
            </a:r>
            <a:endParaRPr lang="en-US" altLang="zh-CN"/>
          </a:p>
        </p:txBody>
      </p:sp>
      <p:sp>
        <p:nvSpPr>
          <p:cNvPr id="29769" name="Rectangle 72"/>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5</a:t>
            </a:r>
            <a:endParaRPr lang="en-US" altLang="zh-CN"/>
          </a:p>
        </p:txBody>
      </p:sp>
      <p:sp>
        <p:nvSpPr>
          <p:cNvPr id="29770" name="Rectangle 73"/>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6</a:t>
            </a:r>
            <a:endParaRPr lang="en-US" altLang="zh-CN"/>
          </a:p>
        </p:txBody>
      </p:sp>
      <p:sp>
        <p:nvSpPr>
          <p:cNvPr id="29771" name="Rectangle 74"/>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7</a:t>
            </a:r>
            <a:endParaRPr lang="en-US" altLang="zh-CN"/>
          </a:p>
        </p:txBody>
      </p:sp>
      <p:sp>
        <p:nvSpPr>
          <p:cNvPr id="29772" name="Rectangle 76"/>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3" name="Rectangle 77"/>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4" name="Rectangle 78"/>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5" name="Rectangle 79"/>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6" name="Rectangle 80"/>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7" name="Rectangle 81"/>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8" name="Rectangle 82"/>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79" name="Rectangle 83"/>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80" name="Rectangle 84"/>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81" name="Rectangle 85"/>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2" name="Rectangle 86"/>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3" name="Rectangle 87"/>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4" name="Rectangle 88"/>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5" name="Rectangle 89"/>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6" name="Rectangle 90"/>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7" name="Rectangle 91"/>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8" name="Rectangle 92"/>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89" name="Rectangle 93"/>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0" name="Rectangle 94"/>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1" name="Rectangle 95"/>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2" name="Rectangle 96"/>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3" name="Rectangle 97"/>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4" name="Rectangle 98"/>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5" name="Rectangle 99"/>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6" name="Rectangle 100"/>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7" name="Rectangle 101"/>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798" name="Rectangle 102"/>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29799" name="Rectangle 103"/>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0" name="Rectangle 104"/>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1" name="Rectangle 105"/>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2" name="Rectangle 106"/>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3" name="Rectangle 107"/>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4" name="Rectangle 108"/>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5" name="Rectangle 109"/>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6" name="Rectangle 110"/>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7" name="Rectangle 111"/>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29808" name="Rectangle 11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0</a:t>
            </a:r>
            <a:endParaRPr lang="en-US" altLang="zh-CN"/>
          </a:p>
        </p:txBody>
      </p:sp>
      <p:sp>
        <p:nvSpPr>
          <p:cNvPr id="29809" name="Rectangle 11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rgbClr val="000000"/>
                </a:solidFill>
                <a:latin typeface="Tahoma" panose="020B0604030504040204" pitchFamily="34" charset="0"/>
                <a:sym typeface="Tahoma" panose="020B0604030504040204" pitchFamily="34" charset="0"/>
              </a:rPr>
              <a:t>9</a:t>
            </a:r>
            <a:endParaRPr lang="en-US" altLang="zh-CN"/>
          </a:p>
        </p:txBody>
      </p:sp>
      <p:pic>
        <p:nvPicPr>
          <p:cNvPr id="36979" name="Picture 11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811" name="Rectangle 11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9812" name="Rectangle 11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9813" name="Rectangle 11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9814" name="Rectangle 11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9815" name="Rectangle 11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9816" name="Rectangle 12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9817" name="Rectangle 12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9818" name="Rectangle 12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9819" name="Rectangle 12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29820" name="Rectangle 12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29821" name="Rectangle 12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29822" name="Rectangle 12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29823" name="Rectangle 12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29824" name="Rectangle 12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29825" name="Rectangle 12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29826" name="Rectangle 13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29827" name="Rectangle 13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9828" name="Rectangle 13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29829" name="Rectangle 13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29830" name="Rectangle 13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29831" name="Group 136"/>
          <p:cNvGrpSpPr/>
          <p:nvPr/>
        </p:nvGrpSpPr>
        <p:grpSpPr bwMode="auto">
          <a:xfrm>
            <a:off x="2438400" y="1676401"/>
            <a:ext cx="1447800" cy="4494213"/>
            <a:chOff x="0" y="0"/>
            <a:chExt cx="1056" cy="1392"/>
          </a:xfrm>
        </p:grpSpPr>
        <p:sp>
          <p:nvSpPr>
            <p:cNvPr id="29832" name="Line 13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9833" name="Line 13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29834" name="Line 13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29835" name="Text Box 14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29836" name="Rectangle 14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29837" name="Rectangle 14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29838" name="Rectangle 14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29839" name="Rectangle 14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29840" name="Rectangle 14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7010" name="Rectangle 146"/>
          <p:cNvSpPr>
            <a:spLocks noChangeArrowheads="1"/>
          </p:cNvSpPr>
          <p:nvPr/>
        </p:nvSpPr>
        <p:spPr bwMode="auto">
          <a:xfrm>
            <a:off x="2438401" y="28019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29842" name="Rectangle 14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29843" name="Rectangle 14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29844" name="Rectangle 14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29845" name="Rectangle 15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29846" name="Rectangle 15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15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867">
                                            <p:txEl>
                                              <p:pRg st="0" end="0"/>
                                            </p:txEl>
                                          </p:spTgt>
                                        </p:tgtEl>
                                        <p:attrNameLst>
                                          <p:attrName>style.visibility</p:attrName>
                                        </p:attrNameLst>
                                      </p:cBhvr>
                                      <p:to>
                                        <p:strVal val="visible"/>
                                      </p:to>
                                    </p:set>
                                    <p:animEffect filter="wipe(left)">
                                      <p:cBhvr>
                                        <p:cTn id="7" dur="500"/>
                                        <p:tgtEl>
                                          <p:spTgt spid="3686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6913"/>
                                        </p:tgtEl>
                                        <p:attrNameLst>
                                          <p:attrName>style.visibility</p:attrName>
                                        </p:attrNameLst>
                                      </p:cBhvr>
                                      <p:to>
                                        <p:strVal val="visible"/>
                                      </p:to>
                                    </p:set>
                                    <p:animEffect filter="wipe(up)">
                                      <p:cBhvr>
                                        <p:cTn id="12" dur="500"/>
                                        <p:tgtEl>
                                          <p:spTgt spid="36913"/>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6979"/>
                                        </p:tgtEl>
                                        <p:attrNameLst>
                                          <p:attrName>style.visibility</p:attrName>
                                        </p:attrNameLst>
                                      </p:cBhvr>
                                      <p:to>
                                        <p:strVal val="visible"/>
                                      </p:to>
                                    </p:set>
                                    <p:animEffect filter="slide(fromTop)">
                                      <p:cBhvr>
                                        <p:cTn id="16" dur="500"/>
                                        <p:tgtEl>
                                          <p:spTgt spid="36979"/>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7010"/>
                                        </p:tgtEl>
                                        <p:attrNameLst>
                                          <p:attrName>style.visibility</p:attrName>
                                        </p:attrNameLst>
                                      </p:cBhvr>
                                      <p:to>
                                        <p:strVal val="visible"/>
                                      </p:to>
                                    </p:set>
                                    <p:anim calcmode="lin" valueType="num">
                                      <p:cBhvr>
                                        <p:cTn id="20" dur="500" fill="hold"/>
                                        <p:tgtEl>
                                          <p:spTgt spid="37010"/>
                                        </p:tgtEl>
                                        <p:attrNameLst>
                                          <p:attrName>ppt_x</p:attrName>
                                        </p:attrNameLst>
                                      </p:cBhvr>
                                      <p:tavLst>
                                        <p:tav tm="0">
                                          <p:val>
                                            <p:strVal val="#ppt_x"/>
                                          </p:val>
                                        </p:tav>
                                        <p:tav tm="100000">
                                          <p:val>
                                            <p:strVal val="#ppt_x"/>
                                          </p:val>
                                        </p:tav>
                                      </p:tavLst>
                                    </p:anim>
                                    <p:anim calcmode="lin" valueType="num">
                                      <p:cBhvr>
                                        <p:cTn id="21" dur="500" fill="hold"/>
                                        <p:tgtEl>
                                          <p:spTgt spid="3701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7" grpId="0" bldLvl="0" build="p"/>
      <p:bldP spid="36913" grpId="0" bldLvl="0" animBg="1"/>
      <p:bldP spid="37010" grpId="0" bldLvl="0" animBg="1"/>
    </p:bldLst>
  </p:timing>
</p:sld>
</file>

<file path=ppt/slides/slide6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890" name="Rectangle 67"/>
          <p:cNvSpPr>
            <a:spLocks noGrp="1"/>
          </p:cNvSpPr>
          <p:nvPr>
            <p:ph type="title" idx="4294967295"/>
          </p:nvPr>
        </p:nvSpPr>
        <p:spPr>
          <a:xfrm>
            <a:off x="0" y="0"/>
            <a:ext cx="8229600" cy="1143000"/>
          </a:xfrm>
        </p:spPr>
        <p:txBody>
          <a:bodyPr vert="horz" wrap="square" anchor="b"/>
          <a:lstStyle/>
          <a:p>
            <a:r>
              <a:rPr lang="en-US" altLang="zh-CN" b="1" noProof="1"/>
              <a:t> </a:t>
            </a:r>
            <a:endParaRPr lang="en-US" altLang="zh-CN" noProof="1"/>
          </a:p>
        </p:txBody>
      </p:sp>
      <p:sp>
        <p:nvSpPr>
          <p:cNvPr id="37891" name="Rectangle 125"/>
          <p:cNvSpPr>
            <a:spLocks noGrp="1"/>
          </p:cNvSpPr>
          <p:nvPr>
            <p:ph type="body" idx="4294967295"/>
          </p:nvPr>
        </p:nvSpPr>
        <p:spPr>
          <a:xfrm>
            <a:off x="4067452" y="1254125"/>
            <a:ext cx="7700962" cy="574675"/>
          </a:xfrm>
        </p:spPr>
        <p:txBody>
          <a:bodyPr vert="horz" wrap="square" anchor="ctr"/>
          <a:lstStyle/>
          <a:p>
            <a:pPr marL="273050" indent="-273050">
              <a:buNone/>
            </a:pPr>
            <a:r>
              <a:rPr lang="en-US" altLang="zh-CN" sz="2000" noProof="1"/>
              <a:t>			</a:t>
            </a:r>
            <a:r>
              <a:rPr lang="zh-CN" altLang="en-US" sz="2200" b="1" noProof="1"/>
              <a:t>向下方前进一步</a:t>
            </a:r>
            <a:endParaRPr lang="zh-CN" altLang="en-US" sz="2200" b="1" noProof="1"/>
          </a:p>
        </p:txBody>
      </p:sp>
      <p:pic>
        <p:nvPicPr>
          <p:cNvPr id="30723"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4953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724"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25"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6"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7"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8"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29"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0"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1"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2"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33"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4"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5"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6"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7"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8"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39"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0"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41"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2"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3"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4"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5"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6"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7"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48"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49"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0"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1"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2"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3"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4"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5"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56"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7"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8"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59"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0"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1"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2"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3"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4"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0765"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66"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7"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8"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69"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0"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1"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2"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0773"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4"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5"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7945" name="Rectangle 55"/>
          <p:cNvSpPr>
            <a:spLocks noChangeArrowheads="1"/>
          </p:cNvSpPr>
          <p:nvPr/>
        </p:nvSpPr>
        <p:spPr bwMode="auto">
          <a:xfrm>
            <a:off x="7010400" y="4953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0777"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8"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79"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0"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1"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2"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3"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4"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5"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6"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7"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88"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89"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0"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1"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2"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3"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4"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5"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6"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797"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98"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799"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0"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1"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2"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3"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4"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5"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6"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7"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8"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09"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0"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1"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2"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3"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0814"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5"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6"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7"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8"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19"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0"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1"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2"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0823"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pic>
        <p:nvPicPr>
          <p:cNvPr id="37993"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825"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0826"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0827"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0828"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0829"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0830"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0831"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0832"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0833"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0834"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0835"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0836"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0837"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0838"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0839"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0840"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0841"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0842"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0843"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0844"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grpSp>
        <p:nvGrpSpPr>
          <p:cNvPr id="30845" name="Group 126"/>
          <p:cNvGrpSpPr/>
          <p:nvPr/>
        </p:nvGrpSpPr>
        <p:grpSpPr bwMode="auto">
          <a:xfrm>
            <a:off x="2438400" y="1676401"/>
            <a:ext cx="1447800" cy="4494213"/>
            <a:chOff x="0" y="0"/>
            <a:chExt cx="1056" cy="1392"/>
          </a:xfrm>
        </p:grpSpPr>
        <p:sp>
          <p:nvSpPr>
            <p:cNvPr id="30846"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0847"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0848"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0849"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0850"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0851"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0852"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0853"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0854"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8024" name="Rectangle 136"/>
          <p:cNvSpPr>
            <a:spLocks noChangeArrowheads="1"/>
          </p:cNvSpPr>
          <p:nvPr/>
        </p:nvSpPr>
        <p:spPr bwMode="auto">
          <a:xfrm>
            <a:off x="2438401" y="24971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0856"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0857"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0858"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0859"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0860"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0861"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14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7891">
                                            <p:txEl>
                                              <p:pRg st="0" end="0"/>
                                            </p:txEl>
                                          </p:spTgt>
                                        </p:tgtEl>
                                        <p:attrNameLst>
                                          <p:attrName>style.visibility</p:attrName>
                                        </p:attrNameLst>
                                      </p:cBhvr>
                                      <p:to>
                                        <p:strVal val="visible"/>
                                      </p:to>
                                    </p:set>
                                    <p:animEffect filter="wipe(left)">
                                      <p:cBhvr>
                                        <p:cTn id="7" dur="500"/>
                                        <p:tgtEl>
                                          <p:spTgt spid="3789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945"/>
                                        </p:tgtEl>
                                        <p:attrNameLst>
                                          <p:attrName>style.visibility</p:attrName>
                                        </p:attrNameLst>
                                      </p:cBhvr>
                                      <p:to>
                                        <p:strVal val="visible"/>
                                      </p:to>
                                    </p:set>
                                    <p:animEffect filter="wipe(up)">
                                      <p:cBhvr>
                                        <p:cTn id="12" dur="500"/>
                                        <p:tgtEl>
                                          <p:spTgt spid="37945"/>
                                        </p:tgtEl>
                                      </p:cBhvr>
                                    </p:animEffect>
                                  </p:childTnLst>
                                </p:cTn>
                              </p:par>
                            </p:childTnLst>
                          </p:cTn>
                        </p:par>
                        <p:par>
                          <p:cTn id="13" fill="hold">
                            <p:stCondLst>
                              <p:cond delay="500"/>
                            </p:stCondLst>
                            <p:childTnLst>
                              <p:par>
                                <p:cTn id="14" presetID="12" presetClass="entr" presetSubtype="1" fill="hold" nodeType="afterEffect">
                                  <p:stCondLst>
                                    <p:cond delay="0"/>
                                  </p:stCondLst>
                                  <p:childTnLst>
                                    <p:set>
                                      <p:cBhvr>
                                        <p:cTn id="15" dur="1" fill="hold">
                                          <p:stCondLst>
                                            <p:cond delay="0"/>
                                          </p:stCondLst>
                                        </p:cTn>
                                        <p:tgtEl>
                                          <p:spTgt spid="37993"/>
                                        </p:tgtEl>
                                        <p:attrNameLst>
                                          <p:attrName>style.visibility</p:attrName>
                                        </p:attrNameLst>
                                      </p:cBhvr>
                                      <p:to>
                                        <p:strVal val="visible"/>
                                      </p:to>
                                    </p:set>
                                    <p:animEffect filter="slide(fromTop)">
                                      <p:cBhvr>
                                        <p:cTn id="16" dur="500"/>
                                        <p:tgtEl>
                                          <p:spTgt spid="37993"/>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8024"/>
                                        </p:tgtEl>
                                        <p:attrNameLst>
                                          <p:attrName>style.visibility</p:attrName>
                                        </p:attrNameLst>
                                      </p:cBhvr>
                                      <p:to>
                                        <p:strVal val="visible"/>
                                      </p:to>
                                    </p:set>
                                    <p:anim calcmode="lin" valueType="num">
                                      <p:cBhvr>
                                        <p:cTn id="20" dur="500" fill="hold"/>
                                        <p:tgtEl>
                                          <p:spTgt spid="38024"/>
                                        </p:tgtEl>
                                        <p:attrNameLst>
                                          <p:attrName>ppt_x</p:attrName>
                                        </p:attrNameLst>
                                      </p:cBhvr>
                                      <p:tavLst>
                                        <p:tav tm="0">
                                          <p:val>
                                            <p:strVal val="#ppt_x"/>
                                          </p:val>
                                        </p:tav>
                                        <p:tav tm="100000">
                                          <p:val>
                                            <p:strVal val="#ppt_x"/>
                                          </p:val>
                                        </p:tav>
                                      </p:tavLst>
                                    </p:anim>
                                    <p:anim calcmode="lin" valueType="num">
                                      <p:cBhvr>
                                        <p:cTn id="21" dur="500" fill="hold"/>
                                        <p:tgtEl>
                                          <p:spTgt spid="380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1" grpId="0" bldLvl="0" build="p"/>
      <p:bldP spid="37945" grpId="0" bldLvl="0" animBg="1"/>
      <p:bldP spid="38024" grpId="0" bldLvl="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31746"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10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747"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48"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49"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0"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1"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2"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3"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4"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5"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56"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7"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8"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59"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0"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1"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2"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3"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64"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5"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6"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7"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8"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69"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0"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1"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72"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3"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4"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5"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6"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7"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8"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79"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0"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1"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82"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3"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4"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5"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6"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7"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1788"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89"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0"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1"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792"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3"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4"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5"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1796"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7"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8"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799"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800"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1"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2"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3"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4"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5"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6"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8976" name="Rectangle 63"/>
          <p:cNvSpPr>
            <a:spLocks noChangeArrowheads="1"/>
          </p:cNvSpPr>
          <p:nvPr/>
        </p:nvSpPr>
        <p:spPr bwMode="auto">
          <a:xfrm>
            <a:off x="7010400" y="5334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1808" name="Rectangle 64"/>
          <p:cNvSpPr>
            <a:spLocks noChangeArrowheads="1"/>
          </p:cNvSpPr>
          <p:nvPr/>
        </p:nvSpPr>
        <p:spPr bwMode="auto">
          <a:xfrm>
            <a:off x="7391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09"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0"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1"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2"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3"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4"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5"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6"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7"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8"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19"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0"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1"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2"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3"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4"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5"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6"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7"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8"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29"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0"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1"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2"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3"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4"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5"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6"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7"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8"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39"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0"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1"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2"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3"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4"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5"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1846"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39016"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391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848"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1849"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1850"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1851"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1852"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1853"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1854"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1855"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1856"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8</a:t>
            </a:r>
            <a:endParaRPr lang="en-US" altLang="zh-CN">
              <a:solidFill>
                <a:schemeClr val="tx2"/>
              </a:solidFill>
            </a:endParaRPr>
          </a:p>
        </p:txBody>
      </p:sp>
      <p:sp>
        <p:nvSpPr>
          <p:cNvPr id="31857"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1</a:t>
            </a:r>
            <a:endParaRPr lang="en-US" altLang="zh-CN">
              <a:solidFill>
                <a:schemeClr val="tx2"/>
              </a:solidFill>
            </a:endParaRPr>
          </a:p>
        </p:txBody>
      </p:sp>
      <p:sp>
        <p:nvSpPr>
          <p:cNvPr id="31858"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2</a:t>
            </a:r>
            <a:endParaRPr lang="en-US" altLang="zh-CN">
              <a:solidFill>
                <a:schemeClr val="tx2"/>
              </a:solidFill>
            </a:endParaRPr>
          </a:p>
        </p:txBody>
      </p:sp>
      <p:sp>
        <p:nvSpPr>
          <p:cNvPr id="31859"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3</a:t>
            </a:r>
            <a:endParaRPr lang="en-US" altLang="zh-CN">
              <a:solidFill>
                <a:schemeClr val="tx2"/>
              </a:solidFill>
            </a:endParaRPr>
          </a:p>
        </p:txBody>
      </p:sp>
      <p:sp>
        <p:nvSpPr>
          <p:cNvPr id="31860"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4</a:t>
            </a:r>
            <a:endParaRPr lang="en-US" altLang="zh-CN">
              <a:solidFill>
                <a:schemeClr val="tx2"/>
              </a:solidFill>
            </a:endParaRPr>
          </a:p>
        </p:txBody>
      </p:sp>
      <p:sp>
        <p:nvSpPr>
          <p:cNvPr id="31861"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5</a:t>
            </a:r>
            <a:endParaRPr lang="en-US" altLang="zh-CN">
              <a:solidFill>
                <a:schemeClr val="tx2"/>
              </a:solidFill>
            </a:endParaRPr>
          </a:p>
        </p:txBody>
      </p:sp>
      <p:sp>
        <p:nvSpPr>
          <p:cNvPr id="31862"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6</a:t>
            </a:r>
            <a:endParaRPr lang="en-US" altLang="zh-CN">
              <a:solidFill>
                <a:schemeClr val="tx2"/>
              </a:solidFill>
            </a:endParaRPr>
          </a:p>
        </p:txBody>
      </p:sp>
      <p:sp>
        <p:nvSpPr>
          <p:cNvPr id="31863"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7</a:t>
            </a:r>
            <a:endParaRPr lang="en-US" altLang="zh-CN">
              <a:solidFill>
                <a:schemeClr val="tx2"/>
              </a:solidFill>
            </a:endParaRPr>
          </a:p>
        </p:txBody>
      </p:sp>
      <p:sp>
        <p:nvSpPr>
          <p:cNvPr id="31864"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9</a:t>
            </a:r>
            <a:endParaRPr lang="en-US" altLang="zh-CN">
              <a:solidFill>
                <a:schemeClr val="tx2"/>
              </a:solidFill>
            </a:endParaRPr>
          </a:p>
        </p:txBody>
      </p:sp>
      <p:sp>
        <p:nvSpPr>
          <p:cNvPr id="31865"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1866"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1867"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tx2"/>
                </a:solidFill>
                <a:latin typeface="Tahoma" panose="020B0604030504040204" pitchFamily="34" charset="0"/>
                <a:sym typeface="Tahoma" panose="020B0604030504040204" pitchFamily="34" charset="0"/>
              </a:rPr>
              <a:t>0</a:t>
            </a:r>
            <a:endParaRPr lang="en-US" altLang="zh-CN">
              <a:solidFill>
                <a:schemeClr val="tx2"/>
              </a:solidFill>
            </a:endParaRPr>
          </a:p>
        </p:txBody>
      </p:sp>
      <p:sp>
        <p:nvSpPr>
          <p:cNvPr id="39037" name="Rectangle 125"/>
          <p:cNvSpPr>
            <a:spLocks noChangeArrowheads="1"/>
          </p:cNvSpPr>
          <p:nvPr/>
        </p:nvSpPr>
        <p:spPr bwMode="auto">
          <a:xfrm>
            <a:off x="3314700" y="1255714"/>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31869" name="Group 126"/>
          <p:cNvGrpSpPr/>
          <p:nvPr/>
        </p:nvGrpSpPr>
        <p:grpSpPr bwMode="auto">
          <a:xfrm>
            <a:off x="2438400" y="1676401"/>
            <a:ext cx="1447800" cy="4494213"/>
            <a:chOff x="0" y="0"/>
            <a:chExt cx="1056" cy="1392"/>
          </a:xfrm>
        </p:grpSpPr>
        <p:sp>
          <p:nvSpPr>
            <p:cNvPr id="31870"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871"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872"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1873"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1874"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1875"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1876"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1877"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1878"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39048" name="Rectangle 136"/>
          <p:cNvSpPr>
            <a:spLocks noChangeArrowheads="1"/>
          </p:cNvSpPr>
          <p:nvPr/>
        </p:nvSpPr>
        <p:spPr bwMode="auto">
          <a:xfrm>
            <a:off x="2438401" y="2192338"/>
            <a:ext cx="1439863" cy="322262"/>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31880"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1881"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1882"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1883"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1884"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1885"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1886" name="Rectangle 143"/>
          <p:cNvSpPr>
            <a:spLocks noChangeArrowheads="1"/>
          </p:cNvSpPr>
          <p:nvPr/>
        </p:nvSpPr>
        <p:spPr bwMode="auto">
          <a:xfrm>
            <a:off x="2438401" y="2497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14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9037">
                                            <p:txEl>
                                              <p:pRg st="0" end="0"/>
                                            </p:txEl>
                                          </p:spTgt>
                                        </p:tgtEl>
                                        <p:attrNameLst>
                                          <p:attrName>style.visibility</p:attrName>
                                        </p:attrNameLst>
                                      </p:cBhvr>
                                      <p:to>
                                        <p:strVal val="visible"/>
                                      </p:to>
                                    </p:set>
                                    <p:animEffect filter="wipe(left)">
                                      <p:cBhvr>
                                        <p:cTn id="7" dur="500"/>
                                        <p:tgtEl>
                                          <p:spTgt spid="3903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8976"/>
                                        </p:tgtEl>
                                        <p:attrNameLst>
                                          <p:attrName>style.visibility</p:attrName>
                                        </p:attrNameLst>
                                      </p:cBhvr>
                                      <p:to>
                                        <p:strVal val="visible"/>
                                      </p:to>
                                    </p:set>
                                    <p:animEffect filter="wipe(up)">
                                      <p:cBhvr>
                                        <p:cTn id="12" dur="500"/>
                                        <p:tgtEl>
                                          <p:spTgt spid="38976"/>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39016"/>
                                        </p:tgtEl>
                                        <p:attrNameLst>
                                          <p:attrName>style.visibility</p:attrName>
                                        </p:attrNameLst>
                                      </p:cBhvr>
                                      <p:to>
                                        <p:strVal val="visible"/>
                                      </p:to>
                                    </p:set>
                                    <p:animEffect filter="slide(fromLeft)">
                                      <p:cBhvr>
                                        <p:cTn id="16" dur="500"/>
                                        <p:tgtEl>
                                          <p:spTgt spid="39016"/>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39048"/>
                                        </p:tgtEl>
                                        <p:attrNameLst>
                                          <p:attrName>style.visibility</p:attrName>
                                        </p:attrNameLst>
                                      </p:cBhvr>
                                      <p:to>
                                        <p:strVal val="visible"/>
                                      </p:to>
                                    </p:set>
                                    <p:anim calcmode="lin" valueType="num">
                                      <p:cBhvr>
                                        <p:cTn id="20" dur="500" fill="hold"/>
                                        <p:tgtEl>
                                          <p:spTgt spid="39048"/>
                                        </p:tgtEl>
                                        <p:attrNameLst>
                                          <p:attrName>ppt_x</p:attrName>
                                        </p:attrNameLst>
                                      </p:cBhvr>
                                      <p:tavLst>
                                        <p:tav tm="0">
                                          <p:val>
                                            <p:strVal val="#ppt_x"/>
                                          </p:val>
                                        </p:tav>
                                        <p:tav tm="100000">
                                          <p:val>
                                            <p:strVal val="#ppt_x"/>
                                          </p:val>
                                        </p:tav>
                                      </p:tavLst>
                                    </p:anim>
                                    <p:anim calcmode="lin" valueType="num">
                                      <p:cBhvr>
                                        <p:cTn id="21" dur="500" fill="hold"/>
                                        <p:tgtEl>
                                          <p:spTgt spid="3904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76" grpId="0" bldLvl="0" animBg="1"/>
      <p:bldP spid="39037" grpId="0" bldLvl="0" build="p"/>
      <p:bldP spid="39048" grpId="0" bldLvl="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67"/>
          <p:cNvSpPr>
            <a:spLocks noGrp="1"/>
          </p:cNvSpPr>
          <p:nvPr>
            <p:ph type="title" idx="4294967295"/>
          </p:nvPr>
        </p:nvSpPr>
        <p:spPr>
          <a:xfrm>
            <a:off x="0" y="274638"/>
            <a:ext cx="8229600" cy="1143000"/>
          </a:xfrm>
        </p:spPr>
        <p:txBody>
          <a:bodyPr vert="horz" wrap="square" anchor="b"/>
          <a:lstStyle/>
          <a:p>
            <a:r>
              <a:rPr lang="en-US" altLang="zh-CN" b="1" noProof="1"/>
              <a:t> </a:t>
            </a:r>
            <a:endParaRPr lang="en-US" altLang="zh-CN" noProof="1"/>
          </a:p>
        </p:txBody>
      </p:sp>
      <p:pic>
        <p:nvPicPr>
          <p:cNvPr id="32770"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391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771" name="Rectangle 3"/>
          <p:cNvSpPr>
            <a:spLocks noChangeArrowheads="1"/>
          </p:cNvSpPr>
          <p:nvPr/>
        </p:nvSpPr>
        <p:spPr bwMode="auto">
          <a:xfrm>
            <a:off x="5486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72" name="Rectangle 4"/>
          <p:cNvSpPr>
            <a:spLocks noChangeArrowheads="1"/>
          </p:cNvSpPr>
          <p:nvPr/>
        </p:nvSpPr>
        <p:spPr bwMode="auto">
          <a:xfrm>
            <a:off x="5867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3" name="Rectangle 5"/>
          <p:cNvSpPr>
            <a:spLocks noChangeArrowheads="1"/>
          </p:cNvSpPr>
          <p:nvPr/>
        </p:nvSpPr>
        <p:spPr bwMode="auto">
          <a:xfrm>
            <a:off x="6248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4" name="Rectangle 6"/>
          <p:cNvSpPr>
            <a:spLocks noChangeArrowheads="1"/>
          </p:cNvSpPr>
          <p:nvPr/>
        </p:nvSpPr>
        <p:spPr bwMode="auto">
          <a:xfrm>
            <a:off x="6629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5" name="Rectangle 7"/>
          <p:cNvSpPr>
            <a:spLocks noChangeArrowheads="1"/>
          </p:cNvSpPr>
          <p:nvPr/>
        </p:nvSpPr>
        <p:spPr bwMode="auto">
          <a:xfrm>
            <a:off x="7010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6" name="Rectangle 8"/>
          <p:cNvSpPr>
            <a:spLocks noChangeArrowheads="1"/>
          </p:cNvSpPr>
          <p:nvPr/>
        </p:nvSpPr>
        <p:spPr bwMode="auto">
          <a:xfrm>
            <a:off x="7391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7" name="Rectangle 9"/>
          <p:cNvSpPr>
            <a:spLocks noChangeArrowheads="1"/>
          </p:cNvSpPr>
          <p:nvPr/>
        </p:nvSpPr>
        <p:spPr bwMode="auto">
          <a:xfrm>
            <a:off x="7772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8" name="Rectangle 10"/>
          <p:cNvSpPr>
            <a:spLocks noChangeArrowheads="1"/>
          </p:cNvSpPr>
          <p:nvPr/>
        </p:nvSpPr>
        <p:spPr bwMode="auto">
          <a:xfrm>
            <a:off x="8153400" y="2667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79" name="Rectangle 11"/>
          <p:cNvSpPr>
            <a:spLocks noChangeArrowheads="1"/>
          </p:cNvSpPr>
          <p:nvPr/>
        </p:nvSpPr>
        <p:spPr bwMode="auto">
          <a:xfrm>
            <a:off x="5486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80" name="Rectangle 12"/>
          <p:cNvSpPr>
            <a:spLocks noChangeArrowheads="1"/>
          </p:cNvSpPr>
          <p:nvPr/>
        </p:nvSpPr>
        <p:spPr bwMode="auto">
          <a:xfrm>
            <a:off x="5867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1" name="Rectangle 13"/>
          <p:cNvSpPr>
            <a:spLocks noChangeArrowheads="1"/>
          </p:cNvSpPr>
          <p:nvPr/>
        </p:nvSpPr>
        <p:spPr bwMode="auto">
          <a:xfrm>
            <a:off x="6248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2" name="Rectangle 14"/>
          <p:cNvSpPr>
            <a:spLocks noChangeArrowheads="1"/>
          </p:cNvSpPr>
          <p:nvPr/>
        </p:nvSpPr>
        <p:spPr bwMode="auto">
          <a:xfrm>
            <a:off x="6629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3" name="Rectangle 15"/>
          <p:cNvSpPr>
            <a:spLocks noChangeArrowheads="1"/>
          </p:cNvSpPr>
          <p:nvPr/>
        </p:nvSpPr>
        <p:spPr bwMode="auto">
          <a:xfrm>
            <a:off x="7010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4" name="Rectangle 16"/>
          <p:cNvSpPr>
            <a:spLocks noChangeArrowheads="1"/>
          </p:cNvSpPr>
          <p:nvPr/>
        </p:nvSpPr>
        <p:spPr bwMode="auto">
          <a:xfrm>
            <a:off x="7391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5" name="Rectangle 17"/>
          <p:cNvSpPr>
            <a:spLocks noChangeArrowheads="1"/>
          </p:cNvSpPr>
          <p:nvPr/>
        </p:nvSpPr>
        <p:spPr bwMode="auto">
          <a:xfrm>
            <a:off x="7772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6" name="Rectangle 18"/>
          <p:cNvSpPr>
            <a:spLocks noChangeArrowheads="1"/>
          </p:cNvSpPr>
          <p:nvPr/>
        </p:nvSpPr>
        <p:spPr bwMode="auto">
          <a:xfrm>
            <a:off x="8153400" y="3048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7" name="Rectangle 19"/>
          <p:cNvSpPr>
            <a:spLocks noChangeArrowheads="1"/>
          </p:cNvSpPr>
          <p:nvPr/>
        </p:nvSpPr>
        <p:spPr bwMode="auto">
          <a:xfrm>
            <a:off x="5486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88" name="Rectangle 20"/>
          <p:cNvSpPr>
            <a:spLocks noChangeArrowheads="1"/>
          </p:cNvSpPr>
          <p:nvPr/>
        </p:nvSpPr>
        <p:spPr bwMode="auto">
          <a:xfrm>
            <a:off x="5867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89" name="Rectangle 21"/>
          <p:cNvSpPr>
            <a:spLocks noChangeArrowheads="1"/>
          </p:cNvSpPr>
          <p:nvPr/>
        </p:nvSpPr>
        <p:spPr bwMode="auto">
          <a:xfrm>
            <a:off x="6248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0" name="Rectangle 22"/>
          <p:cNvSpPr>
            <a:spLocks noChangeArrowheads="1"/>
          </p:cNvSpPr>
          <p:nvPr/>
        </p:nvSpPr>
        <p:spPr bwMode="auto">
          <a:xfrm>
            <a:off x="6629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1" name="Rectangle 23"/>
          <p:cNvSpPr>
            <a:spLocks noChangeArrowheads="1"/>
          </p:cNvSpPr>
          <p:nvPr/>
        </p:nvSpPr>
        <p:spPr bwMode="auto">
          <a:xfrm>
            <a:off x="7010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2" name="Rectangle 24"/>
          <p:cNvSpPr>
            <a:spLocks noChangeArrowheads="1"/>
          </p:cNvSpPr>
          <p:nvPr/>
        </p:nvSpPr>
        <p:spPr bwMode="auto">
          <a:xfrm>
            <a:off x="7391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3" name="Rectangle 25"/>
          <p:cNvSpPr>
            <a:spLocks noChangeArrowheads="1"/>
          </p:cNvSpPr>
          <p:nvPr/>
        </p:nvSpPr>
        <p:spPr bwMode="auto">
          <a:xfrm>
            <a:off x="7772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4" name="Rectangle 26"/>
          <p:cNvSpPr>
            <a:spLocks noChangeArrowheads="1"/>
          </p:cNvSpPr>
          <p:nvPr/>
        </p:nvSpPr>
        <p:spPr bwMode="auto">
          <a:xfrm>
            <a:off x="8153400" y="3429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5" name="Rectangle 27"/>
          <p:cNvSpPr>
            <a:spLocks noChangeArrowheads="1"/>
          </p:cNvSpPr>
          <p:nvPr/>
        </p:nvSpPr>
        <p:spPr bwMode="auto">
          <a:xfrm>
            <a:off x="5486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796" name="Rectangle 28"/>
          <p:cNvSpPr>
            <a:spLocks noChangeArrowheads="1"/>
          </p:cNvSpPr>
          <p:nvPr/>
        </p:nvSpPr>
        <p:spPr bwMode="auto">
          <a:xfrm>
            <a:off x="5867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7" name="Rectangle 29"/>
          <p:cNvSpPr>
            <a:spLocks noChangeArrowheads="1"/>
          </p:cNvSpPr>
          <p:nvPr/>
        </p:nvSpPr>
        <p:spPr bwMode="auto">
          <a:xfrm>
            <a:off x="6248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8" name="Rectangle 30"/>
          <p:cNvSpPr>
            <a:spLocks noChangeArrowheads="1"/>
          </p:cNvSpPr>
          <p:nvPr/>
        </p:nvSpPr>
        <p:spPr bwMode="auto">
          <a:xfrm>
            <a:off x="6629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799" name="Rectangle 31"/>
          <p:cNvSpPr>
            <a:spLocks noChangeArrowheads="1"/>
          </p:cNvSpPr>
          <p:nvPr/>
        </p:nvSpPr>
        <p:spPr bwMode="auto">
          <a:xfrm>
            <a:off x="7010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0" name="Rectangle 32"/>
          <p:cNvSpPr>
            <a:spLocks noChangeArrowheads="1"/>
          </p:cNvSpPr>
          <p:nvPr/>
        </p:nvSpPr>
        <p:spPr bwMode="auto">
          <a:xfrm>
            <a:off x="7391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1" name="Rectangle 33"/>
          <p:cNvSpPr>
            <a:spLocks noChangeArrowheads="1"/>
          </p:cNvSpPr>
          <p:nvPr/>
        </p:nvSpPr>
        <p:spPr bwMode="auto">
          <a:xfrm>
            <a:off x="7772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2" name="Rectangle 34"/>
          <p:cNvSpPr>
            <a:spLocks noChangeArrowheads="1"/>
          </p:cNvSpPr>
          <p:nvPr/>
        </p:nvSpPr>
        <p:spPr bwMode="auto">
          <a:xfrm>
            <a:off x="8153400" y="3810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3" name="Rectangle 35"/>
          <p:cNvSpPr>
            <a:spLocks noChangeArrowheads="1"/>
          </p:cNvSpPr>
          <p:nvPr/>
        </p:nvSpPr>
        <p:spPr bwMode="auto">
          <a:xfrm>
            <a:off x="5486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4" name="Rectangle 36"/>
          <p:cNvSpPr>
            <a:spLocks noChangeArrowheads="1"/>
          </p:cNvSpPr>
          <p:nvPr/>
        </p:nvSpPr>
        <p:spPr bwMode="auto">
          <a:xfrm>
            <a:off x="5867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5" name="Rectangle 37"/>
          <p:cNvSpPr>
            <a:spLocks noChangeArrowheads="1"/>
          </p:cNvSpPr>
          <p:nvPr/>
        </p:nvSpPr>
        <p:spPr bwMode="auto">
          <a:xfrm>
            <a:off x="6248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06" name="Rectangle 38"/>
          <p:cNvSpPr>
            <a:spLocks noChangeArrowheads="1"/>
          </p:cNvSpPr>
          <p:nvPr/>
        </p:nvSpPr>
        <p:spPr bwMode="auto">
          <a:xfrm>
            <a:off x="6629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7" name="Rectangle 39"/>
          <p:cNvSpPr>
            <a:spLocks noChangeArrowheads="1"/>
          </p:cNvSpPr>
          <p:nvPr/>
        </p:nvSpPr>
        <p:spPr bwMode="auto">
          <a:xfrm>
            <a:off x="7010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8" name="Rectangle 40"/>
          <p:cNvSpPr>
            <a:spLocks noChangeArrowheads="1"/>
          </p:cNvSpPr>
          <p:nvPr/>
        </p:nvSpPr>
        <p:spPr bwMode="auto">
          <a:xfrm>
            <a:off x="7391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09" name="Rectangle 41"/>
          <p:cNvSpPr>
            <a:spLocks noChangeArrowheads="1"/>
          </p:cNvSpPr>
          <p:nvPr/>
        </p:nvSpPr>
        <p:spPr bwMode="auto">
          <a:xfrm>
            <a:off x="7772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0" name="Rectangle 42"/>
          <p:cNvSpPr>
            <a:spLocks noChangeArrowheads="1"/>
          </p:cNvSpPr>
          <p:nvPr/>
        </p:nvSpPr>
        <p:spPr bwMode="auto">
          <a:xfrm>
            <a:off x="8153400" y="4191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1" name="Rectangle 43"/>
          <p:cNvSpPr>
            <a:spLocks noChangeArrowheads="1"/>
          </p:cNvSpPr>
          <p:nvPr/>
        </p:nvSpPr>
        <p:spPr bwMode="auto">
          <a:xfrm>
            <a:off x="5486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2812" name="Rectangle 44"/>
          <p:cNvSpPr>
            <a:spLocks noChangeArrowheads="1"/>
          </p:cNvSpPr>
          <p:nvPr/>
        </p:nvSpPr>
        <p:spPr bwMode="auto">
          <a:xfrm>
            <a:off x="5867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3" name="Rectangle 45"/>
          <p:cNvSpPr>
            <a:spLocks noChangeArrowheads="1"/>
          </p:cNvSpPr>
          <p:nvPr/>
        </p:nvSpPr>
        <p:spPr bwMode="auto">
          <a:xfrm>
            <a:off x="6248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4" name="Rectangle 46"/>
          <p:cNvSpPr>
            <a:spLocks noChangeArrowheads="1"/>
          </p:cNvSpPr>
          <p:nvPr/>
        </p:nvSpPr>
        <p:spPr bwMode="auto">
          <a:xfrm>
            <a:off x="6629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5" name="Rectangle 47"/>
          <p:cNvSpPr>
            <a:spLocks noChangeArrowheads="1"/>
          </p:cNvSpPr>
          <p:nvPr/>
        </p:nvSpPr>
        <p:spPr bwMode="auto">
          <a:xfrm>
            <a:off x="7010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16" name="Rectangle 48"/>
          <p:cNvSpPr>
            <a:spLocks noChangeArrowheads="1"/>
          </p:cNvSpPr>
          <p:nvPr/>
        </p:nvSpPr>
        <p:spPr bwMode="auto">
          <a:xfrm>
            <a:off x="7391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7" name="Rectangle 49"/>
          <p:cNvSpPr>
            <a:spLocks noChangeArrowheads="1"/>
          </p:cNvSpPr>
          <p:nvPr/>
        </p:nvSpPr>
        <p:spPr bwMode="auto">
          <a:xfrm>
            <a:off x="7772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8" name="Rectangle 50"/>
          <p:cNvSpPr>
            <a:spLocks noChangeArrowheads="1"/>
          </p:cNvSpPr>
          <p:nvPr/>
        </p:nvSpPr>
        <p:spPr bwMode="auto">
          <a:xfrm>
            <a:off x="8153400" y="4572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19" name="Rectangle 51"/>
          <p:cNvSpPr>
            <a:spLocks noChangeArrowheads="1"/>
          </p:cNvSpPr>
          <p:nvPr/>
        </p:nvSpPr>
        <p:spPr bwMode="auto">
          <a:xfrm>
            <a:off x="5486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2820" name="Rectangle 52"/>
          <p:cNvSpPr>
            <a:spLocks noChangeArrowheads="1"/>
          </p:cNvSpPr>
          <p:nvPr/>
        </p:nvSpPr>
        <p:spPr bwMode="auto">
          <a:xfrm>
            <a:off x="5867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1" name="Rectangle 53"/>
          <p:cNvSpPr>
            <a:spLocks noChangeArrowheads="1"/>
          </p:cNvSpPr>
          <p:nvPr/>
        </p:nvSpPr>
        <p:spPr bwMode="auto">
          <a:xfrm>
            <a:off x="6248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2" name="Rectangle 54"/>
          <p:cNvSpPr>
            <a:spLocks noChangeArrowheads="1"/>
          </p:cNvSpPr>
          <p:nvPr/>
        </p:nvSpPr>
        <p:spPr bwMode="auto">
          <a:xfrm>
            <a:off x="6629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3" name="Rectangle 55"/>
          <p:cNvSpPr>
            <a:spLocks noChangeArrowheads="1"/>
          </p:cNvSpPr>
          <p:nvPr/>
        </p:nvSpPr>
        <p:spPr bwMode="auto">
          <a:xfrm>
            <a:off x="7010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24" name="Rectangle 56"/>
          <p:cNvSpPr>
            <a:spLocks noChangeArrowheads="1"/>
          </p:cNvSpPr>
          <p:nvPr/>
        </p:nvSpPr>
        <p:spPr bwMode="auto">
          <a:xfrm>
            <a:off x="7391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5" name="Rectangle 57"/>
          <p:cNvSpPr>
            <a:spLocks noChangeArrowheads="1"/>
          </p:cNvSpPr>
          <p:nvPr/>
        </p:nvSpPr>
        <p:spPr bwMode="auto">
          <a:xfrm>
            <a:off x="7772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6" name="Rectangle 58"/>
          <p:cNvSpPr>
            <a:spLocks noChangeArrowheads="1"/>
          </p:cNvSpPr>
          <p:nvPr/>
        </p:nvSpPr>
        <p:spPr bwMode="auto">
          <a:xfrm>
            <a:off x="8153400" y="4953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7" name="Rectangle 59"/>
          <p:cNvSpPr>
            <a:spLocks noChangeArrowheads="1"/>
          </p:cNvSpPr>
          <p:nvPr/>
        </p:nvSpPr>
        <p:spPr bwMode="auto">
          <a:xfrm>
            <a:off x="5486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8" name="Rectangle 60"/>
          <p:cNvSpPr>
            <a:spLocks noChangeArrowheads="1"/>
          </p:cNvSpPr>
          <p:nvPr/>
        </p:nvSpPr>
        <p:spPr bwMode="auto">
          <a:xfrm>
            <a:off x="5867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29" name="Rectangle 61"/>
          <p:cNvSpPr>
            <a:spLocks noChangeArrowheads="1"/>
          </p:cNvSpPr>
          <p:nvPr/>
        </p:nvSpPr>
        <p:spPr bwMode="auto">
          <a:xfrm>
            <a:off x="6248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0" name="Rectangle 62"/>
          <p:cNvSpPr>
            <a:spLocks noChangeArrowheads="1"/>
          </p:cNvSpPr>
          <p:nvPr/>
        </p:nvSpPr>
        <p:spPr bwMode="auto">
          <a:xfrm>
            <a:off x="6629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1" name="Rectangle 63"/>
          <p:cNvSpPr>
            <a:spLocks noChangeArrowheads="1"/>
          </p:cNvSpPr>
          <p:nvPr/>
        </p:nvSpPr>
        <p:spPr bwMode="auto">
          <a:xfrm>
            <a:off x="7010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40001" name="Rectangle 64"/>
          <p:cNvSpPr>
            <a:spLocks noChangeArrowheads="1"/>
          </p:cNvSpPr>
          <p:nvPr/>
        </p:nvSpPr>
        <p:spPr bwMode="auto">
          <a:xfrm>
            <a:off x="7391400" y="5334000"/>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2833" name="Rectangle 65"/>
          <p:cNvSpPr>
            <a:spLocks noChangeArrowheads="1"/>
          </p:cNvSpPr>
          <p:nvPr/>
        </p:nvSpPr>
        <p:spPr bwMode="auto">
          <a:xfrm>
            <a:off x="7772400" y="5334000"/>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4" name="Rectangle 66"/>
          <p:cNvSpPr>
            <a:spLocks noChangeArrowheads="1"/>
          </p:cNvSpPr>
          <p:nvPr/>
        </p:nvSpPr>
        <p:spPr bwMode="auto">
          <a:xfrm>
            <a:off x="8153400" y="5334000"/>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5" name="Rectangle 68"/>
          <p:cNvSpPr>
            <a:spLocks noChangeArrowheads="1"/>
          </p:cNvSpPr>
          <p:nvPr/>
        </p:nvSpPr>
        <p:spPr bwMode="auto">
          <a:xfrm>
            <a:off x="5105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6" name="Rectangle 69"/>
          <p:cNvSpPr>
            <a:spLocks noChangeArrowheads="1"/>
          </p:cNvSpPr>
          <p:nvPr/>
        </p:nvSpPr>
        <p:spPr bwMode="auto">
          <a:xfrm>
            <a:off x="5105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7" name="Rectangle 70"/>
          <p:cNvSpPr>
            <a:spLocks noChangeArrowheads="1"/>
          </p:cNvSpPr>
          <p:nvPr/>
        </p:nvSpPr>
        <p:spPr bwMode="auto">
          <a:xfrm>
            <a:off x="5105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8" name="Rectangle 71"/>
          <p:cNvSpPr>
            <a:spLocks noChangeArrowheads="1"/>
          </p:cNvSpPr>
          <p:nvPr/>
        </p:nvSpPr>
        <p:spPr bwMode="auto">
          <a:xfrm>
            <a:off x="5105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39" name="Rectangle 72"/>
          <p:cNvSpPr>
            <a:spLocks noChangeArrowheads="1"/>
          </p:cNvSpPr>
          <p:nvPr/>
        </p:nvSpPr>
        <p:spPr bwMode="auto">
          <a:xfrm>
            <a:off x="5105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0" name="Rectangle 73"/>
          <p:cNvSpPr>
            <a:spLocks noChangeArrowheads="1"/>
          </p:cNvSpPr>
          <p:nvPr/>
        </p:nvSpPr>
        <p:spPr bwMode="auto">
          <a:xfrm>
            <a:off x="5105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1" name="Rectangle 74"/>
          <p:cNvSpPr>
            <a:spLocks noChangeArrowheads="1"/>
          </p:cNvSpPr>
          <p:nvPr/>
        </p:nvSpPr>
        <p:spPr bwMode="auto">
          <a:xfrm>
            <a:off x="5105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2" name="Rectangle 75"/>
          <p:cNvSpPr>
            <a:spLocks noChangeArrowheads="1"/>
          </p:cNvSpPr>
          <p:nvPr/>
        </p:nvSpPr>
        <p:spPr bwMode="auto">
          <a:xfrm>
            <a:off x="5105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3" name="Rectangle 76"/>
          <p:cNvSpPr>
            <a:spLocks noChangeArrowheads="1"/>
          </p:cNvSpPr>
          <p:nvPr/>
        </p:nvSpPr>
        <p:spPr bwMode="auto">
          <a:xfrm>
            <a:off x="5105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44" name="Rectangle 77"/>
          <p:cNvSpPr>
            <a:spLocks noChangeArrowheads="1"/>
          </p:cNvSpPr>
          <p:nvPr/>
        </p:nvSpPr>
        <p:spPr bwMode="auto">
          <a:xfrm>
            <a:off x="8534400" y="2667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5" name="Rectangle 78"/>
          <p:cNvSpPr>
            <a:spLocks noChangeArrowheads="1"/>
          </p:cNvSpPr>
          <p:nvPr/>
        </p:nvSpPr>
        <p:spPr bwMode="auto">
          <a:xfrm>
            <a:off x="8534400" y="3048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6" name="Rectangle 79"/>
          <p:cNvSpPr>
            <a:spLocks noChangeArrowheads="1"/>
          </p:cNvSpPr>
          <p:nvPr/>
        </p:nvSpPr>
        <p:spPr bwMode="auto">
          <a:xfrm>
            <a:off x="8534400" y="3429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7" name="Rectangle 80"/>
          <p:cNvSpPr>
            <a:spLocks noChangeArrowheads="1"/>
          </p:cNvSpPr>
          <p:nvPr/>
        </p:nvSpPr>
        <p:spPr bwMode="auto">
          <a:xfrm>
            <a:off x="8534400" y="3810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8" name="Rectangle 81"/>
          <p:cNvSpPr>
            <a:spLocks noChangeArrowheads="1"/>
          </p:cNvSpPr>
          <p:nvPr/>
        </p:nvSpPr>
        <p:spPr bwMode="auto">
          <a:xfrm>
            <a:off x="8534400" y="4191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49" name="Rectangle 82"/>
          <p:cNvSpPr>
            <a:spLocks noChangeArrowheads="1"/>
          </p:cNvSpPr>
          <p:nvPr/>
        </p:nvSpPr>
        <p:spPr bwMode="auto">
          <a:xfrm>
            <a:off x="8534400" y="4572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0" name="Rectangle 83"/>
          <p:cNvSpPr>
            <a:spLocks noChangeArrowheads="1"/>
          </p:cNvSpPr>
          <p:nvPr/>
        </p:nvSpPr>
        <p:spPr bwMode="auto">
          <a:xfrm>
            <a:off x="8534400" y="4953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1" name="Rectangle 84"/>
          <p:cNvSpPr>
            <a:spLocks noChangeArrowheads="1"/>
          </p:cNvSpPr>
          <p:nvPr/>
        </p:nvSpPr>
        <p:spPr bwMode="auto">
          <a:xfrm>
            <a:off x="8534400" y="5334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52" name="Rectangle 85"/>
          <p:cNvSpPr>
            <a:spLocks noChangeArrowheads="1"/>
          </p:cNvSpPr>
          <p:nvPr/>
        </p:nvSpPr>
        <p:spPr bwMode="auto">
          <a:xfrm>
            <a:off x="8534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3" name="Rectangle 86"/>
          <p:cNvSpPr>
            <a:spLocks noChangeArrowheads="1"/>
          </p:cNvSpPr>
          <p:nvPr/>
        </p:nvSpPr>
        <p:spPr bwMode="auto">
          <a:xfrm>
            <a:off x="5867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4" name="Rectangle 87"/>
          <p:cNvSpPr>
            <a:spLocks noChangeArrowheads="1"/>
          </p:cNvSpPr>
          <p:nvPr/>
        </p:nvSpPr>
        <p:spPr bwMode="auto">
          <a:xfrm>
            <a:off x="6248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5" name="Rectangle 88"/>
          <p:cNvSpPr>
            <a:spLocks noChangeArrowheads="1"/>
          </p:cNvSpPr>
          <p:nvPr/>
        </p:nvSpPr>
        <p:spPr bwMode="auto">
          <a:xfrm>
            <a:off x="6629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6" name="Rectangle 89"/>
          <p:cNvSpPr>
            <a:spLocks noChangeArrowheads="1"/>
          </p:cNvSpPr>
          <p:nvPr/>
        </p:nvSpPr>
        <p:spPr bwMode="auto">
          <a:xfrm>
            <a:off x="7010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7" name="Rectangle 90"/>
          <p:cNvSpPr>
            <a:spLocks noChangeArrowheads="1"/>
          </p:cNvSpPr>
          <p:nvPr/>
        </p:nvSpPr>
        <p:spPr bwMode="auto">
          <a:xfrm>
            <a:off x="7391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8" name="Rectangle 91"/>
          <p:cNvSpPr>
            <a:spLocks noChangeArrowheads="1"/>
          </p:cNvSpPr>
          <p:nvPr/>
        </p:nvSpPr>
        <p:spPr bwMode="auto">
          <a:xfrm>
            <a:off x="7772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59" name="Rectangle 92"/>
          <p:cNvSpPr>
            <a:spLocks noChangeArrowheads="1"/>
          </p:cNvSpPr>
          <p:nvPr/>
        </p:nvSpPr>
        <p:spPr bwMode="auto">
          <a:xfrm>
            <a:off x="8153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60" name="Rectangle 93"/>
          <p:cNvSpPr>
            <a:spLocks noChangeArrowheads="1"/>
          </p:cNvSpPr>
          <p:nvPr/>
        </p:nvSpPr>
        <p:spPr bwMode="auto">
          <a:xfrm>
            <a:off x="5486400" y="5715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2861" name="Rectangle 94"/>
          <p:cNvSpPr>
            <a:spLocks noChangeArrowheads="1"/>
          </p:cNvSpPr>
          <p:nvPr/>
        </p:nvSpPr>
        <p:spPr bwMode="auto">
          <a:xfrm>
            <a:off x="5105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2" name="Rectangle 95"/>
          <p:cNvSpPr>
            <a:spLocks noChangeArrowheads="1"/>
          </p:cNvSpPr>
          <p:nvPr/>
        </p:nvSpPr>
        <p:spPr bwMode="auto">
          <a:xfrm>
            <a:off x="8534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3" name="Rectangle 96"/>
          <p:cNvSpPr>
            <a:spLocks noChangeArrowheads="1"/>
          </p:cNvSpPr>
          <p:nvPr/>
        </p:nvSpPr>
        <p:spPr bwMode="auto">
          <a:xfrm>
            <a:off x="5867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4" name="Rectangle 97"/>
          <p:cNvSpPr>
            <a:spLocks noChangeArrowheads="1"/>
          </p:cNvSpPr>
          <p:nvPr/>
        </p:nvSpPr>
        <p:spPr bwMode="auto">
          <a:xfrm>
            <a:off x="6248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5" name="Rectangle 98"/>
          <p:cNvSpPr>
            <a:spLocks noChangeArrowheads="1"/>
          </p:cNvSpPr>
          <p:nvPr/>
        </p:nvSpPr>
        <p:spPr bwMode="auto">
          <a:xfrm>
            <a:off x="6629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6" name="Rectangle 99"/>
          <p:cNvSpPr>
            <a:spLocks noChangeArrowheads="1"/>
          </p:cNvSpPr>
          <p:nvPr/>
        </p:nvSpPr>
        <p:spPr bwMode="auto">
          <a:xfrm>
            <a:off x="7010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7" name="Rectangle 100"/>
          <p:cNvSpPr>
            <a:spLocks noChangeArrowheads="1"/>
          </p:cNvSpPr>
          <p:nvPr/>
        </p:nvSpPr>
        <p:spPr bwMode="auto">
          <a:xfrm>
            <a:off x="7391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8" name="Rectangle 101"/>
          <p:cNvSpPr>
            <a:spLocks noChangeArrowheads="1"/>
          </p:cNvSpPr>
          <p:nvPr/>
        </p:nvSpPr>
        <p:spPr bwMode="auto">
          <a:xfrm>
            <a:off x="7772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69" name="Rectangle 102"/>
          <p:cNvSpPr>
            <a:spLocks noChangeArrowheads="1"/>
          </p:cNvSpPr>
          <p:nvPr/>
        </p:nvSpPr>
        <p:spPr bwMode="auto">
          <a:xfrm>
            <a:off x="8153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2870" name="Rectangle 103"/>
          <p:cNvSpPr>
            <a:spLocks noChangeArrowheads="1"/>
          </p:cNvSpPr>
          <p:nvPr/>
        </p:nvSpPr>
        <p:spPr bwMode="auto">
          <a:xfrm>
            <a:off x="5486400" y="2286000"/>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pic>
        <p:nvPicPr>
          <p:cNvPr id="40040" name="Picture 10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772400" y="5334000"/>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872" name="Rectangle 105"/>
          <p:cNvSpPr>
            <a:spLocks noChangeArrowheads="1"/>
          </p:cNvSpPr>
          <p:nvPr/>
        </p:nvSpPr>
        <p:spPr bwMode="auto">
          <a:xfrm>
            <a:off x="8153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2873" name="Rectangle 106"/>
          <p:cNvSpPr>
            <a:spLocks noChangeArrowheads="1"/>
          </p:cNvSpPr>
          <p:nvPr/>
        </p:nvSpPr>
        <p:spPr bwMode="auto">
          <a:xfrm>
            <a:off x="5486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2874" name="Rectangle 107"/>
          <p:cNvSpPr>
            <a:spLocks noChangeArrowheads="1"/>
          </p:cNvSpPr>
          <p:nvPr/>
        </p:nvSpPr>
        <p:spPr bwMode="auto">
          <a:xfrm>
            <a:off x="5867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2875" name="Rectangle 108"/>
          <p:cNvSpPr>
            <a:spLocks noChangeArrowheads="1"/>
          </p:cNvSpPr>
          <p:nvPr/>
        </p:nvSpPr>
        <p:spPr bwMode="auto">
          <a:xfrm>
            <a:off x="6248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2876" name="Rectangle 109"/>
          <p:cNvSpPr>
            <a:spLocks noChangeArrowheads="1"/>
          </p:cNvSpPr>
          <p:nvPr/>
        </p:nvSpPr>
        <p:spPr bwMode="auto">
          <a:xfrm>
            <a:off x="6629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2877" name="Rectangle 110"/>
          <p:cNvSpPr>
            <a:spLocks noChangeArrowheads="1"/>
          </p:cNvSpPr>
          <p:nvPr/>
        </p:nvSpPr>
        <p:spPr bwMode="auto">
          <a:xfrm>
            <a:off x="7010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2878" name="Rectangle 111"/>
          <p:cNvSpPr>
            <a:spLocks noChangeArrowheads="1"/>
          </p:cNvSpPr>
          <p:nvPr/>
        </p:nvSpPr>
        <p:spPr bwMode="auto">
          <a:xfrm>
            <a:off x="7391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2879" name="Rectangle 112"/>
          <p:cNvSpPr>
            <a:spLocks noChangeArrowheads="1"/>
          </p:cNvSpPr>
          <p:nvPr/>
        </p:nvSpPr>
        <p:spPr bwMode="auto">
          <a:xfrm>
            <a:off x="7772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2880" name="Rectangle 113"/>
          <p:cNvSpPr>
            <a:spLocks noChangeArrowheads="1"/>
          </p:cNvSpPr>
          <p:nvPr/>
        </p:nvSpPr>
        <p:spPr bwMode="auto">
          <a:xfrm>
            <a:off x="4648200" y="5334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2881" name="Rectangle 114"/>
          <p:cNvSpPr>
            <a:spLocks noChangeArrowheads="1"/>
          </p:cNvSpPr>
          <p:nvPr/>
        </p:nvSpPr>
        <p:spPr bwMode="auto">
          <a:xfrm>
            <a:off x="4648200" y="2667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2882" name="Rectangle 115"/>
          <p:cNvSpPr>
            <a:spLocks noChangeArrowheads="1"/>
          </p:cNvSpPr>
          <p:nvPr/>
        </p:nvSpPr>
        <p:spPr bwMode="auto">
          <a:xfrm>
            <a:off x="4648200" y="3048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2883" name="Rectangle 116"/>
          <p:cNvSpPr>
            <a:spLocks noChangeArrowheads="1"/>
          </p:cNvSpPr>
          <p:nvPr/>
        </p:nvSpPr>
        <p:spPr bwMode="auto">
          <a:xfrm>
            <a:off x="4648200" y="3429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2884" name="Rectangle 117"/>
          <p:cNvSpPr>
            <a:spLocks noChangeArrowheads="1"/>
          </p:cNvSpPr>
          <p:nvPr/>
        </p:nvSpPr>
        <p:spPr bwMode="auto">
          <a:xfrm>
            <a:off x="4648200" y="3810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2885" name="Rectangle 118"/>
          <p:cNvSpPr>
            <a:spLocks noChangeArrowheads="1"/>
          </p:cNvSpPr>
          <p:nvPr/>
        </p:nvSpPr>
        <p:spPr bwMode="auto">
          <a:xfrm>
            <a:off x="4648200" y="4191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2886" name="Rectangle 119"/>
          <p:cNvSpPr>
            <a:spLocks noChangeArrowheads="1"/>
          </p:cNvSpPr>
          <p:nvPr/>
        </p:nvSpPr>
        <p:spPr bwMode="auto">
          <a:xfrm>
            <a:off x="4648200" y="4572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2887" name="Rectangle 120"/>
          <p:cNvSpPr>
            <a:spLocks noChangeArrowheads="1"/>
          </p:cNvSpPr>
          <p:nvPr/>
        </p:nvSpPr>
        <p:spPr bwMode="auto">
          <a:xfrm>
            <a:off x="4648200" y="4953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2888" name="Rectangle 121"/>
          <p:cNvSpPr>
            <a:spLocks noChangeArrowheads="1"/>
          </p:cNvSpPr>
          <p:nvPr/>
        </p:nvSpPr>
        <p:spPr bwMode="auto">
          <a:xfrm>
            <a:off x="4648200" y="5715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2889" name="Rectangle 122"/>
          <p:cNvSpPr>
            <a:spLocks noChangeArrowheads="1"/>
          </p:cNvSpPr>
          <p:nvPr/>
        </p:nvSpPr>
        <p:spPr bwMode="auto">
          <a:xfrm>
            <a:off x="5105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2890" name="Rectangle 123"/>
          <p:cNvSpPr>
            <a:spLocks noChangeArrowheads="1"/>
          </p:cNvSpPr>
          <p:nvPr/>
        </p:nvSpPr>
        <p:spPr bwMode="auto">
          <a:xfrm>
            <a:off x="8534400" y="18288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2891" name="Rectangle 124"/>
          <p:cNvSpPr>
            <a:spLocks noChangeArrowheads="1"/>
          </p:cNvSpPr>
          <p:nvPr/>
        </p:nvSpPr>
        <p:spPr bwMode="auto">
          <a:xfrm>
            <a:off x="4648200" y="228600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0061" name="Rectangle 125"/>
          <p:cNvSpPr>
            <a:spLocks noChangeArrowheads="1"/>
          </p:cNvSpPr>
          <p:nvPr/>
        </p:nvSpPr>
        <p:spPr bwMode="auto">
          <a:xfrm>
            <a:off x="3249737" y="1230816"/>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a:t>
            </a:r>
            <a:endParaRPr lang="zh-CN" altLang="en-US" sz="2200" b="1" dirty="0">
              <a:latin typeface="+mn-lt"/>
              <a:ea typeface="+mn-ea"/>
            </a:endParaRPr>
          </a:p>
        </p:txBody>
      </p:sp>
      <p:grpSp>
        <p:nvGrpSpPr>
          <p:cNvPr id="32893" name="Group 126"/>
          <p:cNvGrpSpPr/>
          <p:nvPr/>
        </p:nvGrpSpPr>
        <p:grpSpPr bwMode="auto">
          <a:xfrm>
            <a:off x="2438400" y="1676401"/>
            <a:ext cx="1447800" cy="4494213"/>
            <a:chOff x="0" y="0"/>
            <a:chExt cx="1056" cy="1392"/>
          </a:xfrm>
        </p:grpSpPr>
        <p:sp>
          <p:nvSpPr>
            <p:cNvPr id="32894" name="Line 127"/>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95" name="Line 128"/>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2896" name="Line 129"/>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2897" name="Text Box 130"/>
          <p:cNvSpPr>
            <a:spLocks noChangeArrowheads="1"/>
          </p:cNvSpPr>
          <p:nvPr/>
        </p:nvSpPr>
        <p:spPr bwMode="auto">
          <a:xfrm>
            <a:off x="1905000" y="5746751"/>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2898" name="Rectangle 131"/>
          <p:cNvSpPr>
            <a:spLocks noChangeArrowheads="1"/>
          </p:cNvSpPr>
          <p:nvPr/>
        </p:nvSpPr>
        <p:spPr bwMode="auto">
          <a:xfrm>
            <a:off x="2438401" y="584835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2899" name="Rectangle 132"/>
          <p:cNvSpPr>
            <a:spLocks noChangeArrowheads="1"/>
          </p:cNvSpPr>
          <p:nvPr/>
        </p:nvSpPr>
        <p:spPr bwMode="auto">
          <a:xfrm>
            <a:off x="2438401" y="5545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2900" name="Rectangle 133"/>
          <p:cNvSpPr>
            <a:spLocks noChangeArrowheads="1"/>
          </p:cNvSpPr>
          <p:nvPr/>
        </p:nvSpPr>
        <p:spPr bwMode="auto">
          <a:xfrm>
            <a:off x="2438401" y="5240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2901" name="Rectangle 134"/>
          <p:cNvSpPr>
            <a:spLocks noChangeArrowheads="1"/>
          </p:cNvSpPr>
          <p:nvPr/>
        </p:nvSpPr>
        <p:spPr bwMode="auto">
          <a:xfrm>
            <a:off x="2438401" y="4935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2902" name="Rectangle 135"/>
          <p:cNvSpPr>
            <a:spLocks noChangeArrowheads="1"/>
          </p:cNvSpPr>
          <p:nvPr/>
        </p:nvSpPr>
        <p:spPr bwMode="auto">
          <a:xfrm>
            <a:off x="2438401" y="4630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0072" name="Rectangle 136"/>
          <p:cNvSpPr>
            <a:spLocks noChangeArrowheads="1"/>
          </p:cNvSpPr>
          <p:nvPr/>
        </p:nvSpPr>
        <p:spPr bwMode="auto">
          <a:xfrm>
            <a:off x="2438401" y="1905001"/>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32904" name="Rectangle 137"/>
          <p:cNvSpPr>
            <a:spLocks noChangeArrowheads="1"/>
          </p:cNvSpPr>
          <p:nvPr/>
        </p:nvSpPr>
        <p:spPr bwMode="auto">
          <a:xfrm>
            <a:off x="2438401" y="4325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2905" name="Rectangle 138"/>
          <p:cNvSpPr>
            <a:spLocks noChangeArrowheads="1"/>
          </p:cNvSpPr>
          <p:nvPr/>
        </p:nvSpPr>
        <p:spPr bwMode="auto">
          <a:xfrm>
            <a:off x="2438401" y="4021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2906" name="Rectangle 139"/>
          <p:cNvSpPr>
            <a:spLocks noChangeArrowheads="1"/>
          </p:cNvSpPr>
          <p:nvPr/>
        </p:nvSpPr>
        <p:spPr bwMode="auto">
          <a:xfrm>
            <a:off x="2438401" y="37163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2907" name="Rectangle 140"/>
          <p:cNvSpPr>
            <a:spLocks noChangeArrowheads="1"/>
          </p:cNvSpPr>
          <p:nvPr/>
        </p:nvSpPr>
        <p:spPr bwMode="auto">
          <a:xfrm>
            <a:off x="2438401" y="34115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2908" name="Rectangle 141"/>
          <p:cNvSpPr>
            <a:spLocks noChangeArrowheads="1"/>
          </p:cNvSpPr>
          <p:nvPr/>
        </p:nvSpPr>
        <p:spPr bwMode="auto">
          <a:xfrm>
            <a:off x="2438401" y="31067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2909" name="Rectangle 142"/>
          <p:cNvSpPr>
            <a:spLocks noChangeArrowheads="1"/>
          </p:cNvSpPr>
          <p:nvPr/>
        </p:nvSpPr>
        <p:spPr bwMode="auto">
          <a:xfrm>
            <a:off x="2438401" y="28019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2910" name="Rectangle 143"/>
          <p:cNvSpPr>
            <a:spLocks noChangeArrowheads="1"/>
          </p:cNvSpPr>
          <p:nvPr/>
        </p:nvSpPr>
        <p:spPr bwMode="auto">
          <a:xfrm>
            <a:off x="2438401" y="2497138"/>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2911" name="Rectangle 144"/>
          <p:cNvSpPr>
            <a:spLocks noChangeArrowheads="1"/>
          </p:cNvSpPr>
          <p:nvPr/>
        </p:nvSpPr>
        <p:spPr bwMode="auto">
          <a:xfrm>
            <a:off x="2438401" y="2209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14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0061">
                                            <p:txEl>
                                              <p:pRg st="0" end="0"/>
                                            </p:txEl>
                                          </p:spTgt>
                                        </p:tgtEl>
                                        <p:attrNameLst>
                                          <p:attrName>style.visibility</p:attrName>
                                        </p:attrNameLst>
                                      </p:cBhvr>
                                      <p:to>
                                        <p:strVal val="visible"/>
                                      </p:to>
                                    </p:set>
                                    <p:animEffect filter="wipe(left)">
                                      <p:cBhvr>
                                        <p:cTn id="7" dur="500"/>
                                        <p:tgtEl>
                                          <p:spTgt spid="4006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0001"/>
                                        </p:tgtEl>
                                        <p:attrNameLst>
                                          <p:attrName>style.visibility</p:attrName>
                                        </p:attrNameLst>
                                      </p:cBhvr>
                                      <p:to>
                                        <p:strVal val="visible"/>
                                      </p:to>
                                    </p:set>
                                    <p:animEffect filter="wipe(left)">
                                      <p:cBhvr>
                                        <p:cTn id="12" dur="500"/>
                                        <p:tgtEl>
                                          <p:spTgt spid="40001"/>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40040"/>
                                        </p:tgtEl>
                                        <p:attrNameLst>
                                          <p:attrName>style.visibility</p:attrName>
                                        </p:attrNameLst>
                                      </p:cBhvr>
                                      <p:to>
                                        <p:strVal val="visible"/>
                                      </p:to>
                                    </p:set>
                                    <p:animEffect filter="slide(fromLeft)">
                                      <p:cBhvr>
                                        <p:cTn id="16" dur="500"/>
                                        <p:tgtEl>
                                          <p:spTgt spid="40040"/>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40072"/>
                                        </p:tgtEl>
                                        <p:attrNameLst>
                                          <p:attrName>style.visibility</p:attrName>
                                        </p:attrNameLst>
                                      </p:cBhvr>
                                      <p:to>
                                        <p:strVal val="visible"/>
                                      </p:to>
                                    </p:set>
                                    <p:anim calcmode="lin" valueType="num">
                                      <p:cBhvr>
                                        <p:cTn id="20" dur="500" fill="hold"/>
                                        <p:tgtEl>
                                          <p:spTgt spid="40072"/>
                                        </p:tgtEl>
                                        <p:attrNameLst>
                                          <p:attrName>ppt_x</p:attrName>
                                        </p:attrNameLst>
                                      </p:cBhvr>
                                      <p:tavLst>
                                        <p:tav tm="0">
                                          <p:val>
                                            <p:strVal val="#ppt_x"/>
                                          </p:val>
                                        </p:tav>
                                        <p:tav tm="100000">
                                          <p:val>
                                            <p:strVal val="#ppt_x"/>
                                          </p:val>
                                        </p:tav>
                                      </p:tavLst>
                                    </p:anim>
                                    <p:anim calcmode="lin" valueType="num">
                                      <p:cBhvr>
                                        <p:cTn id="21" dur="500" fill="hold"/>
                                        <p:tgtEl>
                                          <p:spTgt spid="4007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01" grpId="0" bldLvl="0" animBg="1"/>
      <p:bldP spid="40061" grpId="0" bldLvl="0" build="p"/>
      <p:bldP spid="40072" grpId="0" bldLvl="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65"/>
          <p:cNvSpPr>
            <a:spLocks noGrp="1"/>
          </p:cNvSpPr>
          <p:nvPr>
            <p:ph type="title" idx="4294967295"/>
          </p:nvPr>
        </p:nvSpPr>
        <p:spPr>
          <a:xfrm>
            <a:off x="3962400" y="115888"/>
            <a:ext cx="8229600" cy="1143000"/>
          </a:xfrm>
        </p:spPr>
        <p:txBody>
          <a:bodyPr vert="horz" wrap="square" anchor="b"/>
          <a:lstStyle/>
          <a:p>
            <a:r>
              <a:rPr lang="en-US" altLang="zh-CN" b="1" noProof="1"/>
              <a:t> </a:t>
            </a:r>
            <a:endParaRPr lang="en-US" altLang="zh-CN" noProof="1"/>
          </a:p>
        </p:txBody>
      </p:sp>
      <p:pic>
        <p:nvPicPr>
          <p:cNvPr id="33794" name="Picture 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772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3795" name="Rectangle 3"/>
          <p:cNvSpPr>
            <a:spLocks noChangeArrowheads="1"/>
          </p:cNvSpPr>
          <p:nvPr/>
        </p:nvSpPr>
        <p:spPr bwMode="auto">
          <a:xfrm>
            <a:off x="5486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796" name="Rectangle 4"/>
          <p:cNvSpPr>
            <a:spLocks noChangeArrowheads="1"/>
          </p:cNvSpPr>
          <p:nvPr/>
        </p:nvSpPr>
        <p:spPr bwMode="auto">
          <a:xfrm>
            <a:off x="5867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7" name="Rectangle 5"/>
          <p:cNvSpPr>
            <a:spLocks noChangeArrowheads="1"/>
          </p:cNvSpPr>
          <p:nvPr/>
        </p:nvSpPr>
        <p:spPr bwMode="auto">
          <a:xfrm>
            <a:off x="6248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8" name="Rectangle 6"/>
          <p:cNvSpPr>
            <a:spLocks noChangeArrowheads="1"/>
          </p:cNvSpPr>
          <p:nvPr/>
        </p:nvSpPr>
        <p:spPr bwMode="auto">
          <a:xfrm>
            <a:off x="6629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799" name="Rectangle 7"/>
          <p:cNvSpPr>
            <a:spLocks noChangeArrowheads="1"/>
          </p:cNvSpPr>
          <p:nvPr/>
        </p:nvSpPr>
        <p:spPr bwMode="auto">
          <a:xfrm>
            <a:off x="7010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0" name="Rectangle 8"/>
          <p:cNvSpPr>
            <a:spLocks noChangeArrowheads="1"/>
          </p:cNvSpPr>
          <p:nvPr/>
        </p:nvSpPr>
        <p:spPr bwMode="auto">
          <a:xfrm>
            <a:off x="7391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1" name="Rectangle 9"/>
          <p:cNvSpPr>
            <a:spLocks noChangeArrowheads="1"/>
          </p:cNvSpPr>
          <p:nvPr/>
        </p:nvSpPr>
        <p:spPr bwMode="auto">
          <a:xfrm>
            <a:off x="7772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2" name="Rectangle 10"/>
          <p:cNvSpPr>
            <a:spLocks noChangeArrowheads="1"/>
          </p:cNvSpPr>
          <p:nvPr/>
        </p:nvSpPr>
        <p:spPr bwMode="auto">
          <a:xfrm>
            <a:off x="8153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3" name="Rectangle 11"/>
          <p:cNvSpPr>
            <a:spLocks noChangeArrowheads="1"/>
          </p:cNvSpPr>
          <p:nvPr/>
        </p:nvSpPr>
        <p:spPr bwMode="auto">
          <a:xfrm>
            <a:off x="5486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04" name="Rectangle 12"/>
          <p:cNvSpPr>
            <a:spLocks noChangeArrowheads="1"/>
          </p:cNvSpPr>
          <p:nvPr/>
        </p:nvSpPr>
        <p:spPr bwMode="auto">
          <a:xfrm>
            <a:off x="5867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5" name="Rectangle 13"/>
          <p:cNvSpPr>
            <a:spLocks noChangeArrowheads="1"/>
          </p:cNvSpPr>
          <p:nvPr/>
        </p:nvSpPr>
        <p:spPr bwMode="auto">
          <a:xfrm>
            <a:off x="6248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6" name="Rectangle 14"/>
          <p:cNvSpPr>
            <a:spLocks noChangeArrowheads="1"/>
          </p:cNvSpPr>
          <p:nvPr/>
        </p:nvSpPr>
        <p:spPr bwMode="auto">
          <a:xfrm>
            <a:off x="6629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7" name="Rectangle 15"/>
          <p:cNvSpPr>
            <a:spLocks noChangeArrowheads="1"/>
          </p:cNvSpPr>
          <p:nvPr/>
        </p:nvSpPr>
        <p:spPr bwMode="auto">
          <a:xfrm>
            <a:off x="7010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8" name="Rectangle 16"/>
          <p:cNvSpPr>
            <a:spLocks noChangeArrowheads="1"/>
          </p:cNvSpPr>
          <p:nvPr/>
        </p:nvSpPr>
        <p:spPr bwMode="auto">
          <a:xfrm>
            <a:off x="7391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09" name="Rectangle 17"/>
          <p:cNvSpPr>
            <a:spLocks noChangeArrowheads="1"/>
          </p:cNvSpPr>
          <p:nvPr/>
        </p:nvSpPr>
        <p:spPr bwMode="auto">
          <a:xfrm>
            <a:off x="7772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0" name="Rectangle 18"/>
          <p:cNvSpPr>
            <a:spLocks noChangeArrowheads="1"/>
          </p:cNvSpPr>
          <p:nvPr/>
        </p:nvSpPr>
        <p:spPr bwMode="auto">
          <a:xfrm>
            <a:off x="8153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1" name="Rectangle 19"/>
          <p:cNvSpPr>
            <a:spLocks noChangeArrowheads="1"/>
          </p:cNvSpPr>
          <p:nvPr/>
        </p:nvSpPr>
        <p:spPr bwMode="auto">
          <a:xfrm>
            <a:off x="5486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12" name="Rectangle 20"/>
          <p:cNvSpPr>
            <a:spLocks noChangeArrowheads="1"/>
          </p:cNvSpPr>
          <p:nvPr/>
        </p:nvSpPr>
        <p:spPr bwMode="auto">
          <a:xfrm>
            <a:off x="5867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3" name="Rectangle 21"/>
          <p:cNvSpPr>
            <a:spLocks noChangeArrowheads="1"/>
          </p:cNvSpPr>
          <p:nvPr/>
        </p:nvSpPr>
        <p:spPr bwMode="auto">
          <a:xfrm>
            <a:off x="6248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4" name="Rectangle 22"/>
          <p:cNvSpPr>
            <a:spLocks noChangeArrowheads="1"/>
          </p:cNvSpPr>
          <p:nvPr/>
        </p:nvSpPr>
        <p:spPr bwMode="auto">
          <a:xfrm>
            <a:off x="6629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5" name="Rectangle 23"/>
          <p:cNvSpPr>
            <a:spLocks noChangeArrowheads="1"/>
          </p:cNvSpPr>
          <p:nvPr/>
        </p:nvSpPr>
        <p:spPr bwMode="auto">
          <a:xfrm>
            <a:off x="7010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6" name="Rectangle 24"/>
          <p:cNvSpPr>
            <a:spLocks noChangeArrowheads="1"/>
          </p:cNvSpPr>
          <p:nvPr/>
        </p:nvSpPr>
        <p:spPr bwMode="auto">
          <a:xfrm>
            <a:off x="7391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7" name="Rectangle 25"/>
          <p:cNvSpPr>
            <a:spLocks noChangeArrowheads="1"/>
          </p:cNvSpPr>
          <p:nvPr/>
        </p:nvSpPr>
        <p:spPr bwMode="auto">
          <a:xfrm>
            <a:off x="7772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8" name="Rectangle 26"/>
          <p:cNvSpPr>
            <a:spLocks noChangeArrowheads="1"/>
          </p:cNvSpPr>
          <p:nvPr/>
        </p:nvSpPr>
        <p:spPr bwMode="auto">
          <a:xfrm>
            <a:off x="8153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19" name="Rectangle 27"/>
          <p:cNvSpPr>
            <a:spLocks noChangeArrowheads="1"/>
          </p:cNvSpPr>
          <p:nvPr/>
        </p:nvSpPr>
        <p:spPr bwMode="auto">
          <a:xfrm>
            <a:off x="5486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0" name="Rectangle 28"/>
          <p:cNvSpPr>
            <a:spLocks noChangeArrowheads="1"/>
          </p:cNvSpPr>
          <p:nvPr/>
        </p:nvSpPr>
        <p:spPr bwMode="auto">
          <a:xfrm>
            <a:off x="5867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1" name="Rectangle 29"/>
          <p:cNvSpPr>
            <a:spLocks noChangeArrowheads="1"/>
          </p:cNvSpPr>
          <p:nvPr/>
        </p:nvSpPr>
        <p:spPr bwMode="auto">
          <a:xfrm>
            <a:off x="6248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2" name="Rectangle 30"/>
          <p:cNvSpPr>
            <a:spLocks noChangeArrowheads="1"/>
          </p:cNvSpPr>
          <p:nvPr/>
        </p:nvSpPr>
        <p:spPr bwMode="auto">
          <a:xfrm>
            <a:off x="6629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3" name="Rectangle 31"/>
          <p:cNvSpPr>
            <a:spLocks noChangeArrowheads="1"/>
          </p:cNvSpPr>
          <p:nvPr/>
        </p:nvSpPr>
        <p:spPr bwMode="auto">
          <a:xfrm>
            <a:off x="7010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4" name="Rectangle 32"/>
          <p:cNvSpPr>
            <a:spLocks noChangeArrowheads="1"/>
          </p:cNvSpPr>
          <p:nvPr/>
        </p:nvSpPr>
        <p:spPr bwMode="auto">
          <a:xfrm>
            <a:off x="7391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5" name="Rectangle 33"/>
          <p:cNvSpPr>
            <a:spLocks noChangeArrowheads="1"/>
          </p:cNvSpPr>
          <p:nvPr/>
        </p:nvSpPr>
        <p:spPr bwMode="auto">
          <a:xfrm>
            <a:off x="7772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6" name="Rectangle 34"/>
          <p:cNvSpPr>
            <a:spLocks noChangeArrowheads="1"/>
          </p:cNvSpPr>
          <p:nvPr/>
        </p:nvSpPr>
        <p:spPr bwMode="auto">
          <a:xfrm>
            <a:off x="8153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27" name="Rectangle 35"/>
          <p:cNvSpPr>
            <a:spLocks noChangeArrowheads="1"/>
          </p:cNvSpPr>
          <p:nvPr/>
        </p:nvSpPr>
        <p:spPr bwMode="auto">
          <a:xfrm>
            <a:off x="5486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8" name="Rectangle 36"/>
          <p:cNvSpPr>
            <a:spLocks noChangeArrowheads="1"/>
          </p:cNvSpPr>
          <p:nvPr/>
        </p:nvSpPr>
        <p:spPr bwMode="auto">
          <a:xfrm>
            <a:off x="5867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29" name="Rectangle 37"/>
          <p:cNvSpPr>
            <a:spLocks noChangeArrowheads="1"/>
          </p:cNvSpPr>
          <p:nvPr/>
        </p:nvSpPr>
        <p:spPr bwMode="auto">
          <a:xfrm>
            <a:off x="6248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0" name="Rectangle 38"/>
          <p:cNvSpPr>
            <a:spLocks noChangeArrowheads="1"/>
          </p:cNvSpPr>
          <p:nvPr/>
        </p:nvSpPr>
        <p:spPr bwMode="auto">
          <a:xfrm>
            <a:off x="6629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1" name="Rectangle 39"/>
          <p:cNvSpPr>
            <a:spLocks noChangeArrowheads="1"/>
          </p:cNvSpPr>
          <p:nvPr/>
        </p:nvSpPr>
        <p:spPr bwMode="auto">
          <a:xfrm>
            <a:off x="7010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2" name="Rectangle 40"/>
          <p:cNvSpPr>
            <a:spLocks noChangeArrowheads="1"/>
          </p:cNvSpPr>
          <p:nvPr/>
        </p:nvSpPr>
        <p:spPr bwMode="auto">
          <a:xfrm>
            <a:off x="7391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3" name="Rectangle 41"/>
          <p:cNvSpPr>
            <a:spLocks noChangeArrowheads="1"/>
          </p:cNvSpPr>
          <p:nvPr/>
        </p:nvSpPr>
        <p:spPr bwMode="auto">
          <a:xfrm>
            <a:off x="7772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4" name="Rectangle 42"/>
          <p:cNvSpPr>
            <a:spLocks noChangeArrowheads="1"/>
          </p:cNvSpPr>
          <p:nvPr/>
        </p:nvSpPr>
        <p:spPr bwMode="auto">
          <a:xfrm>
            <a:off x="8153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5" name="Rectangle 43"/>
          <p:cNvSpPr>
            <a:spLocks noChangeArrowheads="1"/>
          </p:cNvSpPr>
          <p:nvPr/>
        </p:nvSpPr>
        <p:spPr bwMode="auto">
          <a:xfrm>
            <a:off x="5486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3836" name="Rectangle 44"/>
          <p:cNvSpPr>
            <a:spLocks noChangeArrowheads="1"/>
          </p:cNvSpPr>
          <p:nvPr/>
        </p:nvSpPr>
        <p:spPr bwMode="auto">
          <a:xfrm>
            <a:off x="5867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37" name="Rectangle 45"/>
          <p:cNvSpPr>
            <a:spLocks noChangeArrowheads="1"/>
          </p:cNvSpPr>
          <p:nvPr/>
        </p:nvSpPr>
        <p:spPr bwMode="auto">
          <a:xfrm>
            <a:off x="6248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8" name="Rectangle 46"/>
          <p:cNvSpPr>
            <a:spLocks noChangeArrowheads="1"/>
          </p:cNvSpPr>
          <p:nvPr/>
        </p:nvSpPr>
        <p:spPr bwMode="auto">
          <a:xfrm>
            <a:off x="6629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39" name="Rectangle 47"/>
          <p:cNvSpPr>
            <a:spLocks noChangeArrowheads="1"/>
          </p:cNvSpPr>
          <p:nvPr/>
        </p:nvSpPr>
        <p:spPr bwMode="auto">
          <a:xfrm>
            <a:off x="7010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40" name="Rectangle 48"/>
          <p:cNvSpPr>
            <a:spLocks noChangeArrowheads="1"/>
          </p:cNvSpPr>
          <p:nvPr/>
        </p:nvSpPr>
        <p:spPr bwMode="auto">
          <a:xfrm>
            <a:off x="7391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1" name="Rectangle 49"/>
          <p:cNvSpPr>
            <a:spLocks noChangeArrowheads="1"/>
          </p:cNvSpPr>
          <p:nvPr/>
        </p:nvSpPr>
        <p:spPr bwMode="auto">
          <a:xfrm>
            <a:off x="7772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2" name="Rectangle 50"/>
          <p:cNvSpPr>
            <a:spLocks noChangeArrowheads="1"/>
          </p:cNvSpPr>
          <p:nvPr/>
        </p:nvSpPr>
        <p:spPr bwMode="auto">
          <a:xfrm>
            <a:off x="8153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3" name="Rectangle 51"/>
          <p:cNvSpPr>
            <a:spLocks noChangeArrowheads="1"/>
          </p:cNvSpPr>
          <p:nvPr/>
        </p:nvSpPr>
        <p:spPr bwMode="auto">
          <a:xfrm>
            <a:off x="5486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3844" name="Rectangle 52"/>
          <p:cNvSpPr>
            <a:spLocks noChangeArrowheads="1"/>
          </p:cNvSpPr>
          <p:nvPr/>
        </p:nvSpPr>
        <p:spPr bwMode="auto">
          <a:xfrm>
            <a:off x="5867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5" name="Rectangle 53"/>
          <p:cNvSpPr>
            <a:spLocks noChangeArrowheads="1"/>
          </p:cNvSpPr>
          <p:nvPr/>
        </p:nvSpPr>
        <p:spPr bwMode="auto">
          <a:xfrm>
            <a:off x="6248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6" name="Rectangle 54"/>
          <p:cNvSpPr>
            <a:spLocks noChangeArrowheads="1"/>
          </p:cNvSpPr>
          <p:nvPr/>
        </p:nvSpPr>
        <p:spPr bwMode="auto">
          <a:xfrm>
            <a:off x="6629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7" name="Rectangle 55"/>
          <p:cNvSpPr>
            <a:spLocks noChangeArrowheads="1"/>
          </p:cNvSpPr>
          <p:nvPr/>
        </p:nvSpPr>
        <p:spPr bwMode="auto">
          <a:xfrm>
            <a:off x="7010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48" name="Rectangle 56"/>
          <p:cNvSpPr>
            <a:spLocks noChangeArrowheads="1"/>
          </p:cNvSpPr>
          <p:nvPr/>
        </p:nvSpPr>
        <p:spPr bwMode="auto">
          <a:xfrm>
            <a:off x="7391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49" name="Rectangle 57"/>
          <p:cNvSpPr>
            <a:spLocks noChangeArrowheads="1"/>
          </p:cNvSpPr>
          <p:nvPr/>
        </p:nvSpPr>
        <p:spPr bwMode="auto">
          <a:xfrm>
            <a:off x="7772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0" name="Rectangle 58"/>
          <p:cNvSpPr>
            <a:spLocks noChangeArrowheads="1"/>
          </p:cNvSpPr>
          <p:nvPr/>
        </p:nvSpPr>
        <p:spPr bwMode="auto">
          <a:xfrm>
            <a:off x="8153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1" name="Rectangle 59"/>
          <p:cNvSpPr>
            <a:spLocks noChangeArrowheads="1"/>
          </p:cNvSpPr>
          <p:nvPr/>
        </p:nvSpPr>
        <p:spPr bwMode="auto">
          <a:xfrm>
            <a:off x="5486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2" name="Rectangle 60"/>
          <p:cNvSpPr>
            <a:spLocks noChangeArrowheads="1"/>
          </p:cNvSpPr>
          <p:nvPr/>
        </p:nvSpPr>
        <p:spPr bwMode="auto">
          <a:xfrm>
            <a:off x="5867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3" name="Rectangle 61"/>
          <p:cNvSpPr>
            <a:spLocks noChangeArrowheads="1"/>
          </p:cNvSpPr>
          <p:nvPr/>
        </p:nvSpPr>
        <p:spPr bwMode="auto">
          <a:xfrm>
            <a:off x="6248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4" name="Rectangle 62"/>
          <p:cNvSpPr>
            <a:spLocks noChangeArrowheads="1"/>
          </p:cNvSpPr>
          <p:nvPr/>
        </p:nvSpPr>
        <p:spPr bwMode="auto">
          <a:xfrm>
            <a:off x="6629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5" name="Rectangle 63"/>
          <p:cNvSpPr>
            <a:spLocks noChangeArrowheads="1"/>
          </p:cNvSpPr>
          <p:nvPr/>
        </p:nvSpPr>
        <p:spPr bwMode="auto">
          <a:xfrm>
            <a:off x="7010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856" name="Rectangle 64"/>
          <p:cNvSpPr>
            <a:spLocks noChangeArrowheads="1"/>
          </p:cNvSpPr>
          <p:nvPr/>
        </p:nvSpPr>
        <p:spPr bwMode="auto">
          <a:xfrm>
            <a:off x="8153400" y="5351463"/>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7" name="Rectangle 66"/>
          <p:cNvSpPr>
            <a:spLocks noChangeArrowheads="1"/>
          </p:cNvSpPr>
          <p:nvPr/>
        </p:nvSpPr>
        <p:spPr bwMode="auto">
          <a:xfrm>
            <a:off x="5105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8" name="Rectangle 67"/>
          <p:cNvSpPr>
            <a:spLocks noChangeArrowheads="1"/>
          </p:cNvSpPr>
          <p:nvPr/>
        </p:nvSpPr>
        <p:spPr bwMode="auto">
          <a:xfrm>
            <a:off x="5105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59" name="Rectangle 68"/>
          <p:cNvSpPr>
            <a:spLocks noChangeArrowheads="1"/>
          </p:cNvSpPr>
          <p:nvPr/>
        </p:nvSpPr>
        <p:spPr bwMode="auto">
          <a:xfrm>
            <a:off x="5105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0" name="Rectangle 69"/>
          <p:cNvSpPr>
            <a:spLocks noChangeArrowheads="1"/>
          </p:cNvSpPr>
          <p:nvPr/>
        </p:nvSpPr>
        <p:spPr bwMode="auto">
          <a:xfrm>
            <a:off x="5105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1" name="Rectangle 70"/>
          <p:cNvSpPr>
            <a:spLocks noChangeArrowheads="1"/>
          </p:cNvSpPr>
          <p:nvPr/>
        </p:nvSpPr>
        <p:spPr bwMode="auto">
          <a:xfrm>
            <a:off x="5105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2" name="Rectangle 71"/>
          <p:cNvSpPr>
            <a:spLocks noChangeArrowheads="1"/>
          </p:cNvSpPr>
          <p:nvPr/>
        </p:nvSpPr>
        <p:spPr bwMode="auto">
          <a:xfrm>
            <a:off x="5105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3" name="Rectangle 72"/>
          <p:cNvSpPr>
            <a:spLocks noChangeArrowheads="1"/>
          </p:cNvSpPr>
          <p:nvPr/>
        </p:nvSpPr>
        <p:spPr bwMode="auto">
          <a:xfrm>
            <a:off x="5105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4" name="Rectangle 73"/>
          <p:cNvSpPr>
            <a:spLocks noChangeArrowheads="1"/>
          </p:cNvSpPr>
          <p:nvPr/>
        </p:nvSpPr>
        <p:spPr bwMode="auto">
          <a:xfrm>
            <a:off x="5105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5" name="Rectangle 74"/>
          <p:cNvSpPr>
            <a:spLocks noChangeArrowheads="1"/>
          </p:cNvSpPr>
          <p:nvPr/>
        </p:nvSpPr>
        <p:spPr bwMode="auto">
          <a:xfrm>
            <a:off x="5105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66" name="Rectangle 75"/>
          <p:cNvSpPr>
            <a:spLocks noChangeArrowheads="1"/>
          </p:cNvSpPr>
          <p:nvPr/>
        </p:nvSpPr>
        <p:spPr bwMode="auto">
          <a:xfrm>
            <a:off x="8534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7" name="Rectangle 76"/>
          <p:cNvSpPr>
            <a:spLocks noChangeArrowheads="1"/>
          </p:cNvSpPr>
          <p:nvPr/>
        </p:nvSpPr>
        <p:spPr bwMode="auto">
          <a:xfrm>
            <a:off x="8534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8" name="Rectangle 77"/>
          <p:cNvSpPr>
            <a:spLocks noChangeArrowheads="1"/>
          </p:cNvSpPr>
          <p:nvPr/>
        </p:nvSpPr>
        <p:spPr bwMode="auto">
          <a:xfrm>
            <a:off x="8534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69" name="Rectangle 78"/>
          <p:cNvSpPr>
            <a:spLocks noChangeArrowheads="1"/>
          </p:cNvSpPr>
          <p:nvPr/>
        </p:nvSpPr>
        <p:spPr bwMode="auto">
          <a:xfrm>
            <a:off x="8534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0" name="Rectangle 79"/>
          <p:cNvSpPr>
            <a:spLocks noChangeArrowheads="1"/>
          </p:cNvSpPr>
          <p:nvPr/>
        </p:nvSpPr>
        <p:spPr bwMode="auto">
          <a:xfrm>
            <a:off x="8534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1" name="Rectangle 80"/>
          <p:cNvSpPr>
            <a:spLocks noChangeArrowheads="1"/>
          </p:cNvSpPr>
          <p:nvPr/>
        </p:nvSpPr>
        <p:spPr bwMode="auto">
          <a:xfrm>
            <a:off x="8534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2" name="Rectangle 81"/>
          <p:cNvSpPr>
            <a:spLocks noChangeArrowheads="1"/>
          </p:cNvSpPr>
          <p:nvPr/>
        </p:nvSpPr>
        <p:spPr bwMode="auto">
          <a:xfrm>
            <a:off x="8534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3" name="Rectangle 82"/>
          <p:cNvSpPr>
            <a:spLocks noChangeArrowheads="1"/>
          </p:cNvSpPr>
          <p:nvPr/>
        </p:nvSpPr>
        <p:spPr bwMode="auto">
          <a:xfrm>
            <a:off x="8534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74" name="Rectangle 83"/>
          <p:cNvSpPr>
            <a:spLocks noChangeArrowheads="1"/>
          </p:cNvSpPr>
          <p:nvPr/>
        </p:nvSpPr>
        <p:spPr bwMode="auto">
          <a:xfrm>
            <a:off x="8534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5" name="Rectangle 84"/>
          <p:cNvSpPr>
            <a:spLocks noChangeArrowheads="1"/>
          </p:cNvSpPr>
          <p:nvPr/>
        </p:nvSpPr>
        <p:spPr bwMode="auto">
          <a:xfrm>
            <a:off x="5867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6" name="Rectangle 85"/>
          <p:cNvSpPr>
            <a:spLocks noChangeArrowheads="1"/>
          </p:cNvSpPr>
          <p:nvPr/>
        </p:nvSpPr>
        <p:spPr bwMode="auto">
          <a:xfrm>
            <a:off x="6248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7" name="Rectangle 86"/>
          <p:cNvSpPr>
            <a:spLocks noChangeArrowheads="1"/>
          </p:cNvSpPr>
          <p:nvPr/>
        </p:nvSpPr>
        <p:spPr bwMode="auto">
          <a:xfrm>
            <a:off x="6629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8" name="Rectangle 87"/>
          <p:cNvSpPr>
            <a:spLocks noChangeArrowheads="1"/>
          </p:cNvSpPr>
          <p:nvPr/>
        </p:nvSpPr>
        <p:spPr bwMode="auto">
          <a:xfrm>
            <a:off x="7010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79" name="Rectangle 88"/>
          <p:cNvSpPr>
            <a:spLocks noChangeArrowheads="1"/>
          </p:cNvSpPr>
          <p:nvPr/>
        </p:nvSpPr>
        <p:spPr bwMode="auto">
          <a:xfrm>
            <a:off x="7391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0" name="Rectangle 89"/>
          <p:cNvSpPr>
            <a:spLocks noChangeArrowheads="1"/>
          </p:cNvSpPr>
          <p:nvPr/>
        </p:nvSpPr>
        <p:spPr bwMode="auto">
          <a:xfrm>
            <a:off x="7772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1" name="Rectangle 90"/>
          <p:cNvSpPr>
            <a:spLocks noChangeArrowheads="1"/>
          </p:cNvSpPr>
          <p:nvPr/>
        </p:nvSpPr>
        <p:spPr bwMode="auto">
          <a:xfrm>
            <a:off x="8153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2" name="Rectangle 91"/>
          <p:cNvSpPr>
            <a:spLocks noChangeArrowheads="1"/>
          </p:cNvSpPr>
          <p:nvPr/>
        </p:nvSpPr>
        <p:spPr bwMode="auto">
          <a:xfrm>
            <a:off x="5486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solidFill>
                <a:srgbClr val="000000"/>
              </a:solidFill>
              <a:latin typeface="Calibri" panose="020F0502020204030204" pitchFamily="34" charset="0"/>
              <a:sym typeface="宋体" panose="02010600030101010101" pitchFamily="2" charset="-122"/>
            </a:endParaRPr>
          </a:p>
        </p:txBody>
      </p:sp>
      <p:sp>
        <p:nvSpPr>
          <p:cNvPr id="33883" name="Rectangle 92"/>
          <p:cNvSpPr>
            <a:spLocks noChangeArrowheads="1"/>
          </p:cNvSpPr>
          <p:nvPr/>
        </p:nvSpPr>
        <p:spPr bwMode="auto">
          <a:xfrm>
            <a:off x="5105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4" name="Rectangle 93"/>
          <p:cNvSpPr>
            <a:spLocks noChangeArrowheads="1"/>
          </p:cNvSpPr>
          <p:nvPr/>
        </p:nvSpPr>
        <p:spPr bwMode="auto">
          <a:xfrm>
            <a:off x="8534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5" name="Rectangle 94"/>
          <p:cNvSpPr>
            <a:spLocks noChangeArrowheads="1"/>
          </p:cNvSpPr>
          <p:nvPr/>
        </p:nvSpPr>
        <p:spPr bwMode="auto">
          <a:xfrm>
            <a:off x="5867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6" name="Rectangle 95"/>
          <p:cNvSpPr>
            <a:spLocks noChangeArrowheads="1"/>
          </p:cNvSpPr>
          <p:nvPr/>
        </p:nvSpPr>
        <p:spPr bwMode="auto">
          <a:xfrm>
            <a:off x="6248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7" name="Rectangle 96"/>
          <p:cNvSpPr>
            <a:spLocks noChangeArrowheads="1"/>
          </p:cNvSpPr>
          <p:nvPr/>
        </p:nvSpPr>
        <p:spPr bwMode="auto">
          <a:xfrm>
            <a:off x="6629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8" name="Rectangle 97"/>
          <p:cNvSpPr>
            <a:spLocks noChangeArrowheads="1"/>
          </p:cNvSpPr>
          <p:nvPr/>
        </p:nvSpPr>
        <p:spPr bwMode="auto">
          <a:xfrm>
            <a:off x="7010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89" name="Rectangle 98"/>
          <p:cNvSpPr>
            <a:spLocks noChangeArrowheads="1"/>
          </p:cNvSpPr>
          <p:nvPr/>
        </p:nvSpPr>
        <p:spPr bwMode="auto">
          <a:xfrm>
            <a:off x="7391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0" name="Rectangle 99"/>
          <p:cNvSpPr>
            <a:spLocks noChangeArrowheads="1"/>
          </p:cNvSpPr>
          <p:nvPr/>
        </p:nvSpPr>
        <p:spPr bwMode="auto">
          <a:xfrm>
            <a:off x="7772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1" name="Rectangle 100"/>
          <p:cNvSpPr>
            <a:spLocks noChangeArrowheads="1"/>
          </p:cNvSpPr>
          <p:nvPr/>
        </p:nvSpPr>
        <p:spPr bwMode="auto">
          <a:xfrm>
            <a:off x="8153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2" name="Rectangle 101"/>
          <p:cNvSpPr>
            <a:spLocks noChangeArrowheads="1"/>
          </p:cNvSpPr>
          <p:nvPr/>
        </p:nvSpPr>
        <p:spPr bwMode="auto">
          <a:xfrm>
            <a:off x="5486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3893" name="Rectangle 102"/>
          <p:cNvSpPr>
            <a:spLocks noChangeArrowheads="1"/>
          </p:cNvSpPr>
          <p:nvPr/>
        </p:nvSpPr>
        <p:spPr bwMode="auto">
          <a:xfrm>
            <a:off x="8153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3894" name="Rectangle 103"/>
          <p:cNvSpPr>
            <a:spLocks noChangeArrowheads="1"/>
          </p:cNvSpPr>
          <p:nvPr/>
        </p:nvSpPr>
        <p:spPr bwMode="auto">
          <a:xfrm>
            <a:off x="5486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3895" name="Rectangle 104"/>
          <p:cNvSpPr>
            <a:spLocks noChangeArrowheads="1"/>
          </p:cNvSpPr>
          <p:nvPr/>
        </p:nvSpPr>
        <p:spPr bwMode="auto">
          <a:xfrm>
            <a:off x="5867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3896" name="Rectangle 105"/>
          <p:cNvSpPr>
            <a:spLocks noChangeArrowheads="1"/>
          </p:cNvSpPr>
          <p:nvPr/>
        </p:nvSpPr>
        <p:spPr bwMode="auto">
          <a:xfrm>
            <a:off x="6248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3897" name="Rectangle 106"/>
          <p:cNvSpPr>
            <a:spLocks noChangeArrowheads="1"/>
          </p:cNvSpPr>
          <p:nvPr/>
        </p:nvSpPr>
        <p:spPr bwMode="auto">
          <a:xfrm>
            <a:off x="6629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3898" name="Rectangle 107"/>
          <p:cNvSpPr>
            <a:spLocks noChangeArrowheads="1"/>
          </p:cNvSpPr>
          <p:nvPr/>
        </p:nvSpPr>
        <p:spPr bwMode="auto">
          <a:xfrm>
            <a:off x="7010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3899" name="Rectangle 108"/>
          <p:cNvSpPr>
            <a:spLocks noChangeArrowheads="1"/>
          </p:cNvSpPr>
          <p:nvPr/>
        </p:nvSpPr>
        <p:spPr bwMode="auto">
          <a:xfrm>
            <a:off x="7391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3900" name="Rectangle 109"/>
          <p:cNvSpPr>
            <a:spLocks noChangeArrowheads="1"/>
          </p:cNvSpPr>
          <p:nvPr/>
        </p:nvSpPr>
        <p:spPr bwMode="auto">
          <a:xfrm>
            <a:off x="7772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3901" name="Rectangle 110"/>
          <p:cNvSpPr>
            <a:spLocks noChangeArrowheads="1"/>
          </p:cNvSpPr>
          <p:nvPr/>
        </p:nvSpPr>
        <p:spPr bwMode="auto">
          <a:xfrm>
            <a:off x="4648200" y="5351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3902" name="Rectangle 111"/>
          <p:cNvSpPr>
            <a:spLocks noChangeArrowheads="1"/>
          </p:cNvSpPr>
          <p:nvPr/>
        </p:nvSpPr>
        <p:spPr bwMode="auto">
          <a:xfrm>
            <a:off x="4648200" y="2684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3903" name="Rectangle 112"/>
          <p:cNvSpPr>
            <a:spLocks noChangeArrowheads="1"/>
          </p:cNvSpPr>
          <p:nvPr/>
        </p:nvSpPr>
        <p:spPr bwMode="auto">
          <a:xfrm>
            <a:off x="4648200" y="3065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3904" name="Rectangle 113"/>
          <p:cNvSpPr>
            <a:spLocks noChangeArrowheads="1"/>
          </p:cNvSpPr>
          <p:nvPr/>
        </p:nvSpPr>
        <p:spPr bwMode="auto">
          <a:xfrm>
            <a:off x="4648200" y="3446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3905" name="Rectangle 114"/>
          <p:cNvSpPr>
            <a:spLocks noChangeArrowheads="1"/>
          </p:cNvSpPr>
          <p:nvPr/>
        </p:nvSpPr>
        <p:spPr bwMode="auto">
          <a:xfrm>
            <a:off x="4648200" y="3827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3906" name="Rectangle 115"/>
          <p:cNvSpPr>
            <a:spLocks noChangeArrowheads="1"/>
          </p:cNvSpPr>
          <p:nvPr/>
        </p:nvSpPr>
        <p:spPr bwMode="auto">
          <a:xfrm>
            <a:off x="4648200" y="4208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3907" name="Rectangle 116"/>
          <p:cNvSpPr>
            <a:spLocks noChangeArrowheads="1"/>
          </p:cNvSpPr>
          <p:nvPr/>
        </p:nvSpPr>
        <p:spPr bwMode="auto">
          <a:xfrm>
            <a:off x="4648200" y="4589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3908" name="Rectangle 117"/>
          <p:cNvSpPr>
            <a:spLocks noChangeArrowheads="1"/>
          </p:cNvSpPr>
          <p:nvPr/>
        </p:nvSpPr>
        <p:spPr bwMode="auto">
          <a:xfrm>
            <a:off x="4648200" y="4970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3909" name="Rectangle 118"/>
          <p:cNvSpPr>
            <a:spLocks noChangeArrowheads="1"/>
          </p:cNvSpPr>
          <p:nvPr/>
        </p:nvSpPr>
        <p:spPr bwMode="auto">
          <a:xfrm>
            <a:off x="4648200" y="5732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3910" name="Rectangle 119"/>
          <p:cNvSpPr>
            <a:spLocks noChangeArrowheads="1"/>
          </p:cNvSpPr>
          <p:nvPr/>
        </p:nvSpPr>
        <p:spPr bwMode="auto">
          <a:xfrm>
            <a:off x="5105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3911" name="Rectangle 120"/>
          <p:cNvSpPr>
            <a:spLocks noChangeArrowheads="1"/>
          </p:cNvSpPr>
          <p:nvPr/>
        </p:nvSpPr>
        <p:spPr bwMode="auto">
          <a:xfrm>
            <a:off x="8534400" y="18462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3912" name="Rectangle 121"/>
          <p:cNvSpPr>
            <a:spLocks noChangeArrowheads="1"/>
          </p:cNvSpPr>
          <p:nvPr/>
        </p:nvSpPr>
        <p:spPr bwMode="auto">
          <a:xfrm>
            <a:off x="4648200" y="2303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41082" name="Rectangle 122"/>
          <p:cNvSpPr>
            <a:spLocks noChangeArrowheads="1"/>
          </p:cNvSpPr>
          <p:nvPr/>
        </p:nvSpPr>
        <p:spPr bwMode="auto">
          <a:xfrm>
            <a:off x="2552700" y="1275264"/>
            <a:ext cx="7772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20000"/>
              </a:spcBef>
              <a:buClr>
                <a:schemeClr val="folHlink"/>
              </a:buClr>
              <a:buSzPct val="60000"/>
              <a:buFont typeface="Wingdings" panose="05000000000000000000" pitchFamily="2" charset="2"/>
              <a:buNone/>
            </a:pPr>
            <a:r>
              <a:rPr lang="en-US" altLang="zh-CN" sz="2000" b="1" dirty="0">
                <a:solidFill>
                  <a:srgbClr val="000000"/>
                </a:solidFill>
                <a:latin typeface="Tahoma" panose="020B0604030504040204" pitchFamily="34" charset="0"/>
                <a:sym typeface="Tahoma" panose="020B0604030504040204" pitchFamily="34" charset="0"/>
              </a:rPr>
              <a:t>			</a:t>
            </a:r>
            <a:r>
              <a:rPr lang="zh-CN" altLang="en-US" sz="2200" b="1" dirty="0">
                <a:latin typeface="+mn-lt"/>
                <a:ea typeface="+mn-ea"/>
                <a:sym typeface="Tahoma" panose="020B0604030504040204" pitchFamily="34" charset="0"/>
              </a:rPr>
              <a:t>下方路不通，向右方前进一步，到达出口</a:t>
            </a:r>
            <a:endParaRPr lang="zh-CN" altLang="en-US" sz="2200" b="1" dirty="0">
              <a:latin typeface="+mn-lt"/>
              <a:ea typeface="+mn-ea"/>
            </a:endParaRPr>
          </a:p>
        </p:txBody>
      </p:sp>
      <p:grpSp>
        <p:nvGrpSpPr>
          <p:cNvPr id="33914" name="Group 123"/>
          <p:cNvGrpSpPr/>
          <p:nvPr/>
        </p:nvGrpSpPr>
        <p:grpSpPr bwMode="auto">
          <a:xfrm>
            <a:off x="2438400" y="1693863"/>
            <a:ext cx="1447800" cy="4494212"/>
            <a:chOff x="0" y="0"/>
            <a:chExt cx="1056" cy="1392"/>
          </a:xfrm>
        </p:grpSpPr>
        <p:sp>
          <p:nvSpPr>
            <p:cNvPr id="33915" name="Line 12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3916" name="Line 12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3917" name="Line 12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3918" name="Text Box 127"/>
          <p:cNvSpPr>
            <a:spLocks noChangeArrowheads="1"/>
          </p:cNvSpPr>
          <p:nvPr/>
        </p:nvSpPr>
        <p:spPr bwMode="auto">
          <a:xfrm>
            <a:off x="1905000" y="5764214"/>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33919" name="Rectangle 128"/>
          <p:cNvSpPr>
            <a:spLocks noChangeArrowheads="1"/>
          </p:cNvSpPr>
          <p:nvPr/>
        </p:nvSpPr>
        <p:spPr bwMode="auto">
          <a:xfrm>
            <a:off x="2438401" y="586581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33920" name="Rectangle 129"/>
          <p:cNvSpPr>
            <a:spLocks noChangeArrowheads="1"/>
          </p:cNvSpPr>
          <p:nvPr/>
        </p:nvSpPr>
        <p:spPr bwMode="auto">
          <a:xfrm>
            <a:off x="2438401" y="5562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33921" name="Rectangle 130"/>
          <p:cNvSpPr>
            <a:spLocks noChangeArrowheads="1"/>
          </p:cNvSpPr>
          <p:nvPr/>
        </p:nvSpPr>
        <p:spPr bwMode="auto">
          <a:xfrm>
            <a:off x="2438401" y="5257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33922" name="Rectangle 131"/>
          <p:cNvSpPr>
            <a:spLocks noChangeArrowheads="1"/>
          </p:cNvSpPr>
          <p:nvPr/>
        </p:nvSpPr>
        <p:spPr bwMode="auto">
          <a:xfrm>
            <a:off x="2438401" y="4953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33923" name="Rectangle 132"/>
          <p:cNvSpPr>
            <a:spLocks noChangeArrowheads="1"/>
          </p:cNvSpPr>
          <p:nvPr/>
        </p:nvSpPr>
        <p:spPr bwMode="auto">
          <a:xfrm>
            <a:off x="2438401" y="4648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1093" name="Rectangle 133"/>
          <p:cNvSpPr>
            <a:spLocks noChangeArrowheads="1"/>
          </p:cNvSpPr>
          <p:nvPr/>
        </p:nvSpPr>
        <p:spPr bwMode="auto">
          <a:xfrm>
            <a:off x="2438401" y="1600201"/>
            <a:ext cx="1439863" cy="322263"/>
          </a:xfrm>
          <a:prstGeom prst="rect">
            <a:avLst/>
          </a:prstGeom>
          <a:solidFill>
            <a:srgbClr val="FFCC99"/>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(8,8)</a:t>
            </a:r>
            <a:endParaRPr lang="en-US" altLang="zh-CN"/>
          </a:p>
        </p:txBody>
      </p:sp>
      <p:sp>
        <p:nvSpPr>
          <p:cNvPr id="33925" name="Rectangle 134"/>
          <p:cNvSpPr>
            <a:spLocks noChangeArrowheads="1"/>
          </p:cNvSpPr>
          <p:nvPr/>
        </p:nvSpPr>
        <p:spPr bwMode="auto">
          <a:xfrm>
            <a:off x="2438401" y="4343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33926" name="Rectangle 135"/>
          <p:cNvSpPr>
            <a:spLocks noChangeArrowheads="1"/>
          </p:cNvSpPr>
          <p:nvPr/>
        </p:nvSpPr>
        <p:spPr bwMode="auto">
          <a:xfrm>
            <a:off x="2438401" y="4038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33927" name="Rectangle 136"/>
          <p:cNvSpPr>
            <a:spLocks noChangeArrowheads="1"/>
          </p:cNvSpPr>
          <p:nvPr/>
        </p:nvSpPr>
        <p:spPr bwMode="auto">
          <a:xfrm>
            <a:off x="2438401" y="3733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33928" name="Rectangle 137"/>
          <p:cNvSpPr>
            <a:spLocks noChangeArrowheads="1"/>
          </p:cNvSpPr>
          <p:nvPr/>
        </p:nvSpPr>
        <p:spPr bwMode="auto">
          <a:xfrm>
            <a:off x="2438401" y="3429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33929" name="Rectangle 138"/>
          <p:cNvSpPr>
            <a:spLocks noChangeArrowheads="1"/>
          </p:cNvSpPr>
          <p:nvPr/>
        </p:nvSpPr>
        <p:spPr bwMode="auto">
          <a:xfrm>
            <a:off x="2438401" y="3124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33930" name="Rectangle 139"/>
          <p:cNvSpPr>
            <a:spLocks noChangeArrowheads="1"/>
          </p:cNvSpPr>
          <p:nvPr/>
        </p:nvSpPr>
        <p:spPr bwMode="auto">
          <a:xfrm>
            <a:off x="2438401" y="2819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33931" name="Rectangle 140"/>
          <p:cNvSpPr>
            <a:spLocks noChangeArrowheads="1"/>
          </p:cNvSpPr>
          <p:nvPr/>
        </p:nvSpPr>
        <p:spPr bwMode="auto">
          <a:xfrm>
            <a:off x="2438401" y="2514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33932" name="Rectangle 141"/>
          <p:cNvSpPr>
            <a:spLocks noChangeArrowheads="1"/>
          </p:cNvSpPr>
          <p:nvPr/>
        </p:nvSpPr>
        <p:spPr bwMode="auto">
          <a:xfrm>
            <a:off x="2438401" y="222726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pic>
        <p:nvPicPr>
          <p:cNvPr id="41102" name="Picture 142"/>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153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3934" name="Rectangle 143"/>
          <p:cNvSpPr>
            <a:spLocks noChangeArrowheads="1"/>
          </p:cNvSpPr>
          <p:nvPr/>
        </p:nvSpPr>
        <p:spPr bwMode="auto">
          <a:xfrm>
            <a:off x="7391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41104" name="Rectangle 144"/>
          <p:cNvSpPr>
            <a:spLocks noChangeArrowheads="1"/>
          </p:cNvSpPr>
          <p:nvPr/>
        </p:nvSpPr>
        <p:spPr bwMode="auto">
          <a:xfrm>
            <a:off x="7772400" y="5351463"/>
            <a:ext cx="381000" cy="381000"/>
          </a:xfrm>
          <a:prstGeom prst="rect">
            <a:avLst/>
          </a:prstGeom>
          <a:solidFill>
            <a:schemeClr val="bg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3936" name="Rectangle 145"/>
          <p:cNvSpPr>
            <a:spLocks noChangeArrowheads="1"/>
          </p:cNvSpPr>
          <p:nvPr/>
        </p:nvSpPr>
        <p:spPr bwMode="auto">
          <a:xfrm>
            <a:off x="2438401" y="1905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14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1082">
                                            <p:txEl>
                                              <p:pRg st="0" end="0"/>
                                            </p:txEl>
                                          </p:spTgt>
                                        </p:tgtEl>
                                        <p:attrNameLst>
                                          <p:attrName>style.visibility</p:attrName>
                                        </p:attrNameLst>
                                      </p:cBhvr>
                                      <p:to>
                                        <p:strVal val="visible"/>
                                      </p:to>
                                    </p:set>
                                    <p:animEffect filter="wipe(left)">
                                      <p:cBhvr>
                                        <p:cTn id="7" dur="500"/>
                                        <p:tgtEl>
                                          <p:spTgt spid="4108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1104"/>
                                        </p:tgtEl>
                                        <p:attrNameLst>
                                          <p:attrName>style.visibility</p:attrName>
                                        </p:attrNameLst>
                                      </p:cBhvr>
                                      <p:to>
                                        <p:strVal val="visible"/>
                                      </p:to>
                                    </p:set>
                                    <p:animEffect filter="wipe(left)">
                                      <p:cBhvr>
                                        <p:cTn id="12" dur="500"/>
                                        <p:tgtEl>
                                          <p:spTgt spid="41104"/>
                                        </p:tgtEl>
                                      </p:cBhvr>
                                    </p:animEffect>
                                  </p:childTnLst>
                                </p:cTn>
                              </p:par>
                            </p:childTnLst>
                          </p:cTn>
                        </p:par>
                        <p:par>
                          <p:cTn id="13" fill="hold">
                            <p:stCondLst>
                              <p:cond delay="500"/>
                            </p:stCondLst>
                            <p:childTnLst>
                              <p:par>
                                <p:cTn id="14" presetID="12" presetClass="entr" presetSubtype="8" fill="hold" nodeType="afterEffect">
                                  <p:stCondLst>
                                    <p:cond delay="0"/>
                                  </p:stCondLst>
                                  <p:childTnLst>
                                    <p:set>
                                      <p:cBhvr>
                                        <p:cTn id="15" dur="1" fill="hold">
                                          <p:stCondLst>
                                            <p:cond delay="0"/>
                                          </p:stCondLst>
                                        </p:cTn>
                                        <p:tgtEl>
                                          <p:spTgt spid="41102"/>
                                        </p:tgtEl>
                                        <p:attrNameLst>
                                          <p:attrName>style.visibility</p:attrName>
                                        </p:attrNameLst>
                                      </p:cBhvr>
                                      <p:to>
                                        <p:strVal val="visible"/>
                                      </p:to>
                                    </p:set>
                                    <p:animEffect filter="slide(fromLeft)">
                                      <p:cBhvr>
                                        <p:cTn id="16" dur="500"/>
                                        <p:tgtEl>
                                          <p:spTgt spid="41102"/>
                                        </p:tgtEl>
                                      </p:cBhvr>
                                    </p:animEffect>
                                  </p:childTnLst>
                                </p:cTn>
                              </p:par>
                            </p:childTnLst>
                          </p:cTn>
                        </p:par>
                        <p:par>
                          <p:cTn id="17" fill="hold">
                            <p:stCondLst>
                              <p:cond delay="1000"/>
                            </p:stCondLst>
                            <p:childTnLst>
                              <p:par>
                                <p:cTn id="18" presetID="2" presetClass="entr" presetSubtype="1" fill="hold" grpId="0" nodeType="afterEffect">
                                  <p:stCondLst>
                                    <p:cond delay="2000"/>
                                  </p:stCondLst>
                                  <p:childTnLst>
                                    <p:set>
                                      <p:cBhvr>
                                        <p:cTn id="19" dur="1" fill="hold">
                                          <p:stCondLst>
                                            <p:cond delay="0"/>
                                          </p:stCondLst>
                                        </p:cTn>
                                        <p:tgtEl>
                                          <p:spTgt spid="41093"/>
                                        </p:tgtEl>
                                        <p:attrNameLst>
                                          <p:attrName>style.visibility</p:attrName>
                                        </p:attrNameLst>
                                      </p:cBhvr>
                                      <p:to>
                                        <p:strVal val="visible"/>
                                      </p:to>
                                    </p:set>
                                    <p:anim calcmode="lin" valueType="num">
                                      <p:cBhvr>
                                        <p:cTn id="20" dur="500" fill="hold"/>
                                        <p:tgtEl>
                                          <p:spTgt spid="41093"/>
                                        </p:tgtEl>
                                        <p:attrNameLst>
                                          <p:attrName>ppt_x</p:attrName>
                                        </p:attrNameLst>
                                      </p:cBhvr>
                                      <p:tavLst>
                                        <p:tav tm="0">
                                          <p:val>
                                            <p:strVal val="#ppt_x"/>
                                          </p:val>
                                        </p:tav>
                                        <p:tav tm="100000">
                                          <p:val>
                                            <p:strVal val="#ppt_x"/>
                                          </p:val>
                                        </p:tav>
                                      </p:tavLst>
                                    </p:anim>
                                    <p:anim calcmode="lin" valueType="num">
                                      <p:cBhvr>
                                        <p:cTn id="21" dur="500" fill="hold"/>
                                        <p:tgtEl>
                                          <p:spTgt spid="4109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82" grpId="0" bldLvl="0" build="p"/>
      <p:bldP spid="41093" grpId="0" bldLvl="0" animBg="1"/>
      <p:bldP spid="41104" grpId="0" bldLvl="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4"/>
          <p:cNvSpPr>
            <a:spLocks noGrp="1"/>
          </p:cNvSpPr>
          <p:nvPr>
            <p:ph type="title" idx="4294967295"/>
          </p:nvPr>
        </p:nvSpPr>
        <p:spPr>
          <a:xfrm>
            <a:off x="0" y="274638"/>
            <a:ext cx="8229600" cy="1143000"/>
          </a:xfrm>
        </p:spPr>
        <p:txBody>
          <a:bodyPr vert="horz" wrap="square" anchor="b"/>
          <a:lstStyle/>
          <a:p>
            <a:r>
              <a:rPr lang="en-US" altLang="zh-CN" noProof="1"/>
              <a:t> </a:t>
            </a:r>
            <a:endParaRPr lang="en-US" altLang="zh-CN" noProof="1"/>
          </a:p>
        </p:txBody>
      </p:sp>
      <p:sp>
        <p:nvSpPr>
          <p:cNvPr id="41987" name="Rectangle 132"/>
          <p:cNvSpPr>
            <a:spLocks noGrp="1"/>
          </p:cNvSpPr>
          <p:nvPr>
            <p:ph type="body" idx="4294967295"/>
          </p:nvPr>
        </p:nvSpPr>
        <p:spPr>
          <a:xfrm>
            <a:off x="5813394" y="1211895"/>
            <a:ext cx="2244006" cy="533400"/>
          </a:xfrm>
        </p:spPr>
        <p:txBody>
          <a:bodyPr vert="horz" wrap="square" anchor="ctr"/>
          <a:lstStyle/>
          <a:p>
            <a:pPr marL="609600" indent="-609600">
              <a:buNone/>
            </a:pPr>
            <a:r>
              <a:rPr lang="zh-CN" altLang="en-US" sz="2200" b="1" noProof="1"/>
              <a:t>用栈保存了路径</a:t>
            </a:r>
            <a:endParaRPr lang="zh-CN" altLang="en-US" sz="2200" b="1" noProof="1"/>
          </a:p>
        </p:txBody>
      </p:sp>
      <p:sp>
        <p:nvSpPr>
          <p:cNvPr id="34819" name="Rectangle 2"/>
          <p:cNvSpPr>
            <a:spLocks noChangeArrowheads="1"/>
          </p:cNvSpPr>
          <p:nvPr/>
        </p:nvSpPr>
        <p:spPr bwMode="auto">
          <a:xfrm>
            <a:off x="5486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20" name="Rectangle 3"/>
          <p:cNvSpPr>
            <a:spLocks noChangeArrowheads="1"/>
          </p:cNvSpPr>
          <p:nvPr/>
        </p:nvSpPr>
        <p:spPr bwMode="auto">
          <a:xfrm>
            <a:off x="5867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1" name="Rectangle 4"/>
          <p:cNvSpPr>
            <a:spLocks noChangeArrowheads="1"/>
          </p:cNvSpPr>
          <p:nvPr/>
        </p:nvSpPr>
        <p:spPr bwMode="auto">
          <a:xfrm>
            <a:off x="6248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2" name="Rectangle 5"/>
          <p:cNvSpPr>
            <a:spLocks noChangeArrowheads="1"/>
          </p:cNvSpPr>
          <p:nvPr/>
        </p:nvSpPr>
        <p:spPr bwMode="auto">
          <a:xfrm>
            <a:off x="6629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3" name="Rectangle 6"/>
          <p:cNvSpPr>
            <a:spLocks noChangeArrowheads="1"/>
          </p:cNvSpPr>
          <p:nvPr/>
        </p:nvSpPr>
        <p:spPr bwMode="auto">
          <a:xfrm>
            <a:off x="7010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4" name="Rectangle 7"/>
          <p:cNvSpPr>
            <a:spLocks noChangeArrowheads="1"/>
          </p:cNvSpPr>
          <p:nvPr/>
        </p:nvSpPr>
        <p:spPr bwMode="auto">
          <a:xfrm>
            <a:off x="7391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5" name="Rectangle 8"/>
          <p:cNvSpPr>
            <a:spLocks noChangeArrowheads="1"/>
          </p:cNvSpPr>
          <p:nvPr/>
        </p:nvSpPr>
        <p:spPr bwMode="auto">
          <a:xfrm>
            <a:off x="7772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6" name="Rectangle 9"/>
          <p:cNvSpPr>
            <a:spLocks noChangeArrowheads="1"/>
          </p:cNvSpPr>
          <p:nvPr/>
        </p:nvSpPr>
        <p:spPr bwMode="auto">
          <a:xfrm>
            <a:off x="8153400" y="2684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7" name="Rectangle 10"/>
          <p:cNvSpPr>
            <a:spLocks noChangeArrowheads="1"/>
          </p:cNvSpPr>
          <p:nvPr/>
        </p:nvSpPr>
        <p:spPr bwMode="auto">
          <a:xfrm>
            <a:off x="5486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28" name="Rectangle 11"/>
          <p:cNvSpPr>
            <a:spLocks noChangeArrowheads="1"/>
          </p:cNvSpPr>
          <p:nvPr/>
        </p:nvSpPr>
        <p:spPr bwMode="auto">
          <a:xfrm>
            <a:off x="5867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29" name="Rectangle 12"/>
          <p:cNvSpPr>
            <a:spLocks noChangeArrowheads="1"/>
          </p:cNvSpPr>
          <p:nvPr/>
        </p:nvSpPr>
        <p:spPr bwMode="auto">
          <a:xfrm>
            <a:off x="6248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0" name="Rectangle 13"/>
          <p:cNvSpPr>
            <a:spLocks noChangeArrowheads="1"/>
          </p:cNvSpPr>
          <p:nvPr/>
        </p:nvSpPr>
        <p:spPr bwMode="auto">
          <a:xfrm>
            <a:off x="6629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1" name="Rectangle 14"/>
          <p:cNvSpPr>
            <a:spLocks noChangeArrowheads="1"/>
          </p:cNvSpPr>
          <p:nvPr/>
        </p:nvSpPr>
        <p:spPr bwMode="auto">
          <a:xfrm>
            <a:off x="7010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2" name="Rectangle 15"/>
          <p:cNvSpPr>
            <a:spLocks noChangeArrowheads="1"/>
          </p:cNvSpPr>
          <p:nvPr/>
        </p:nvSpPr>
        <p:spPr bwMode="auto">
          <a:xfrm>
            <a:off x="7391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3" name="Rectangle 16"/>
          <p:cNvSpPr>
            <a:spLocks noChangeArrowheads="1"/>
          </p:cNvSpPr>
          <p:nvPr/>
        </p:nvSpPr>
        <p:spPr bwMode="auto">
          <a:xfrm>
            <a:off x="7772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4" name="Rectangle 17"/>
          <p:cNvSpPr>
            <a:spLocks noChangeArrowheads="1"/>
          </p:cNvSpPr>
          <p:nvPr/>
        </p:nvSpPr>
        <p:spPr bwMode="auto">
          <a:xfrm>
            <a:off x="8153400" y="3065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5" name="Rectangle 18"/>
          <p:cNvSpPr>
            <a:spLocks noChangeArrowheads="1"/>
          </p:cNvSpPr>
          <p:nvPr/>
        </p:nvSpPr>
        <p:spPr bwMode="auto">
          <a:xfrm>
            <a:off x="5486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36" name="Rectangle 19"/>
          <p:cNvSpPr>
            <a:spLocks noChangeArrowheads="1"/>
          </p:cNvSpPr>
          <p:nvPr/>
        </p:nvSpPr>
        <p:spPr bwMode="auto">
          <a:xfrm>
            <a:off x="5867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7" name="Rectangle 20"/>
          <p:cNvSpPr>
            <a:spLocks noChangeArrowheads="1"/>
          </p:cNvSpPr>
          <p:nvPr/>
        </p:nvSpPr>
        <p:spPr bwMode="auto">
          <a:xfrm>
            <a:off x="6248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8" name="Rectangle 21"/>
          <p:cNvSpPr>
            <a:spLocks noChangeArrowheads="1"/>
          </p:cNvSpPr>
          <p:nvPr/>
        </p:nvSpPr>
        <p:spPr bwMode="auto">
          <a:xfrm>
            <a:off x="6629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39" name="Rectangle 22"/>
          <p:cNvSpPr>
            <a:spLocks noChangeArrowheads="1"/>
          </p:cNvSpPr>
          <p:nvPr/>
        </p:nvSpPr>
        <p:spPr bwMode="auto">
          <a:xfrm>
            <a:off x="7010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0" name="Rectangle 23"/>
          <p:cNvSpPr>
            <a:spLocks noChangeArrowheads="1"/>
          </p:cNvSpPr>
          <p:nvPr/>
        </p:nvSpPr>
        <p:spPr bwMode="auto">
          <a:xfrm>
            <a:off x="7391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1" name="Rectangle 24"/>
          <p:cNvSpPr>
            <a:spLocks noChangeArrowheads="1"/>
          </p:cNvSpPr>
          <p:nvPr/>
        </p:nvSpPr>
        <p:spPr bwMode="auto">
          <a:xfrm>
            <a:off x="7772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2" name="Rectangle 25"/>
          <p:cNvSpPr>
            <a:spLocks noChangeArrowheads="1"/>
          </p:cNvSpPr>
          <p:nvPr/>
        </p:nvSpPr>
        <p:spPr bwMode="auto">
          <a:xfrm>
            <a:off x="8153400" y="3446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3" name="Rectangle 26"/>
          <p:cNvSpPr>
            <a:spLocks noChangeArrowheads="1"/>
          </p:cNvSpPr>
          <p:nvPr/>
        </p:nvSpPr>
        <p:spPr bwMode="auto">
          <a:xfrm>
            <a:off x="5486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44" name="Rectangle 27"/>
          <p:cNvSpPr>
            <a:spLocks noChangeArrowheads="1"/>
          </p:cNvSpPr>
          <p:nvPr/>
        </p:nvSpPr>
        <p:spPr bwMode="auto">
          <a:xfrm>
            <a:off x="5867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5" name="Rectangle 28"/>
          <p:cNvSpPr>
            <a:spLocks noChangeArrowheads="1"/>
          </p:cNvSpPr>
          <p:nvPr/>
        </p:nvSpPr>
        <p:spPr bwMode="auto">
          <a:xfrm>
            <a:off x="6248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6" name="Rectangle 29"/>
          <p:cNvSpPr>
            <a:spLocks noChangeArrowheads="1"/>
          </p:cNvSpPr>
          <p:nvPr/>
        </p:nvSpPr>
        <p:spPr bwMode="auto">
          <a:xfrm>
            <a:off x="6629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7" name="Rectangle 30"/>
          <p:cNvSpPr>
            <a:spLocks noChangeArrowheads="1"/>
          </p:cNvSpPr>
          <p:nvPr/>
        </p:nvSpPr>
        <p:spPr bwMode="auto">
          <a:xfrm>
            <a:off x="7010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8" name="Rectangle 31"/>
          <p:cNvSpPr>
            <a:spLocks noChangeArrowheads="1"/>
          </p:cNvSpPr>
          <p:nvPr/>
        </p:nvSpPr>
        <p:spPr bwMode="auto">
          <a:xfrm>
            <a:off x="7391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49" name="Rectangle 32"/>
          <p:cNvSpPr>
            <a:spLocks noChangeArrowheads="1"/>
          </p:cNvSpPr>
          <p:nvPr/>
        </p:nvSpPr>
        <p:spPr bwMode="auto">
          <a:xfrm>
            <a:off x="7772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0" name="Rectangle 33"/>
          <p:cNvSpPr>
            <a:spLocks noChangeArrowheads="1"/>
          </p:cNvSpPr>
          <p:nvPr/>
        </p:nvSpPr>
        <p:spPr bwMode="auto">
          <a:xfrm>
            <a:off x="8153400" y="3827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1" name="Rectangle 34"/>
          <p:cNvSpPr>
            <a:spLocks noChangeArrowheads="1"/>
          </p:cNvSpPr>
          <p:nvPr/>
        </p:nvSpPr>
        <p:spPr bwMode="auto">
          <a:xfrm>
            <a:off x="5486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2" name="Rectangle 35"/>
          <p:cNvSpPr>
            <a:spLocks noChangeArrowheads="1"/>
          </p:cNvSpPr>
          <p:nvPr/>
        </p:nvSpPr>
        <p:spPr bwMode="auto">
          <a:xfrm>
            <a:off x="5867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3" name="Rectangle 36"/>
          <p:cNvSpPr>
            <a:spLocks noChangeArrowheads="1"/>
          </p:cNvSpPr>
          <p:nvPr/>
        </p:nvSpPr>
        <p:spPr bwMode="auto">
          <a:xfrm>
            <a:off x="6248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54" name="Rectangle 37"/>
          <p:cNvSpPr>
            <a:spLocks noChangeArrowheads="1"/>
          </p:cNvSpPr>
          <p:nvPr/>
        </p:nvSpPr>
        <p:spPr bwMode="auto">
          <a:xfrm>
            <a:off x="6629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5" name="Rectangle 38"/>
          <p:cNvSpPr>
            <a:spLocks noChangeArrowheads="1"/>
          </p:cNvSpPr>
          <p:nvPr/>
        </p:nvSpPr>
        <p:spPr bwMode="auto">
          <a:xfrm>
            <a:off x="7010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6" name="Rectangle 39"/>
          <p:cNvSpPr>
            <a:spLocks noChangeArrowheads="1"/>
          </p:cNvSpPr>
          <p:nvPr/>
        </p:nvSpPr>
        <p:spPr bwMode="auto">
          <a:xfrm>
            <a:off x="7391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7" name="Rectangle 40"/>
          <p:cNvSpPr>
            <a:spLocks noChangeArrowheads="1"/>
          </p:cNvSpPr>
          <p:nvPr/>
        </p:nvSpPr>
        <p:spPr bwMode="auto">
          <a:xfrm>
            <a:off x="7772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8" name="Rectangle 41"/>
          <p:cNvSpPr>
            <a:spLocks noChangeArrowheads="1"/>
          </p:cNvSpPr>
          <p:nvPr/>
        </p:nvSpPr>
        <p:spPr bwMode="auto">
          <a:xfrm>
            <a:off x="8153400" y="4208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59" name="Rectangle 42"/>
          <p:cNvSpPr>
            <a:spLocks noChangeArrowheads="1"/>
          </p:cNvSpPr>
          <p:nvPr/>
        </p:nvSpPr>
        <p:spPr bwMode="auto">
          <a:xfrm>
            <a:off x="5486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4860" name="Rectangle 43"/>
          <p:cNvSpPr>
            <a:spLocks noChangeArrowheads="1"/>
          </p:cNvSpPr>
          <p:nvPr/>
        </p:nvSpPr>
        <p:spPr bwMode="auto">
          <a:xfrm>
            <a:off x="5867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1" name="Rectangle 44"/>
          <p:cNvSpPr>
            <a:spLocks noChangeArrowheads="1"/>
          </p:cNvSpPr>
          <p:nvPr/>
        </p:nvSpPr>
        <p:spPr bwMode="auto">
          <a:xfrm>
            <a:off x="6248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2" name="Rectangle 45"/>
          <p:cNvSpPr>
            <a:spLocks noChangeArrowheads="1"/>
          </p:cNvSpPr>
          <p:nvPr/>
        </p:nvSpPr>
        <p:spPr bwMode="auto">
          <a:xfrm>
            <a:off x="6629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3" name="Rectangle 46"/>
          <p:cNvSpPr>
            <a:spLocks noChangeArrowheads="1"/>
          </p:cNvSpPr>
          <p:nvPr/>
        </p:nvSpPr>
        <p:spPr bwMode="auto">
          <a:xfrm>
            <a:off x="7010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64" name="Rectangle 47"/>
          <p:cNvSpPr>
            <a:spLocks noChangeArrowheads="1"/>
          </p:cNvSpPr>
          <p:nvPr/>
        </p:nvSpPr>
        <p:spPr bwMode="auto">
          <a:xfrm>
            <a:off x="7391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5" name="Rectangle 48"/>
          <p:cNvSpPr>
            <a:spLocks noChangeArrowheads="1"/>
          </p:cNvSpPr>
          <p:nvPr/>
        </p:nvSpPr>
        <p:spPr bwMode="auto">
          <a:xfrm>
            <a:off x="7772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6" name="Rectangle 49"/>
          <p:cNvSpPr>
            <a:spLocks noChangeArrowheads="1"/>
          </p:cNvSpPr>
          <p:nvPr/>
        </p:nvSpPr>
        <p:spPr bwMode="auto">
          <a:xfrm>
            <a:off x="8153400" y="4589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7" name="Rectangle 50"/>
          <p:cNvSpPr>
            <a:spLocks noChangeArrowheads="1"/>
          </p:cNvSpPr>
          <p:nvPr/>
        </p:nvSpPr>
        <p:spPr bwMode="auto">
          <a:xfrm>
            <a:off x="5486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a:t>
            </a:r>
            <a:endParaRPr lang="en-US" altLang="zh-CN"/>
          </a:p>
        </p:txBody>
      </p:sp>
      <p:sp>
        <p:nvSpPr>
          <p:cNvPr id="34868" name="Rectangle 51"/>
          <p:cNvSpPr>
            <a:spLocks noChangeArrowheads="1"/>
          </p:cNvSpPr>
          <p:nvPr/>
        </p:nvSpPr>
        <p:spPr bwMode="auto">
          <a:xfrm>
            <a:off x="5867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69" name="Rectangle 52"/>
          <p:cNvSpPr>
            <a:spLocks noChangeArrowheads="1"/>
          </p:cNvSpPr>
          <p:nvPr/>
        </p:nvSpPr>
        <p:spPr bwMode="auto">
          <a:xfrm>
            <a:off x="6248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0" name="Rectangle 53"/>
          <p:cNvSpPr>
            <a:spLocks noChangeArrowheads="1"/>
          </p:cNvSpPr>
          <p:nvPr/>
        </p:nvSpPr>
        <p:spPr bwMode="auto">
          <a:xfrm>
            <a:off x="6629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1" name="Rectangle 54"/>
          <p:cNvSpPr>
            <a:spLocks noChangeArrowheads="1"/>
          </p:cNvSpPr>
          <p:nvPr/>
        </p:nvSpPr>
        <p:spPr bwMode="auto">
          <a:xfrm>
            <a:off x="7010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72" name="Rectangle 55"/>
          <p:cNvSpPr>
            <a:spLocks noChangeArrowheads="1"/>
          </p:cNvSpPr>
          <p:nvPr/>
        </p:nvSpPr>
        <p:spPr bwMode="auto">
          <a:xfrm>
            <a:off x="7391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3" name="Rectangle 56"/>
          <p:cNvSpPr>
            <a:spLocks noChangeArrowheads="1"/>
          </p:cNvSpPr>
          <p:nvPr/>
        </p:nvSpPr>
        <p:spPr bwMode="auto">
          <a:xfrm>
            <a:off x="7772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4" name="Rectangle 57"/>
          <p:cNvSpPr>
            <a:spLocks noChangeArrowheads="1"/>
          </p:cNvSpPr>
          <p:nvPr/>
        </p:nvSpPr>
        <p:spPr bwMode="auto">
          <a:xfrm>
            <a:off x="8153400" y="4970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5" name="Rectangle 58"/>
          <p:cNvSpPr>
            <a:spLocks noChangeArrowheads="1"/>
          </p:cNvSpPr>
          <p:nvPr/>
        </p:nvSpPr>
        <p:spPr bwMode="auto">
          <a:xfrm>
            <a:off x="5486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6" name="Rectangle 59"/>
          <p:cNvSpPr>
            <a:spLocks noChangeArrowheads="1"/>
          </p:cNvSpPr>
          <p:nvPr/>
        </p:nvSpPr>
        <p:spPr bwMode="auto">
          <a:xfrm>
            <a:off x="5867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7" name="Rectangle 60"/>
          <p:cNvSpPr>
            <a:spLocks noChangeArrowheads="1"/>
          </p:cNvSpPr>
          <p:nvPr/>
        </p:nvSpPr>
        <p:spPr bwMode="auto">
          <a:xfrm>
            <a:off x="6248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8" name="Rectangle 61"/>
          <p:cNvSpPr>
            <a:spLocks noChangeArrowheads="1"/>
          </p:cNvSpPr>
          <p:nvPr/>
        </p:nvSpPr>
        <p:spPr bwMode="auto">
          <a:xfrm>
            <a:off x="6629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79" name="Rectangle 62"/>
          <p:cNvSpPr>
            <a:spLocks noChangeArrowheads="1"/>
          </p:cNvSpPr>
          <p:nvPr/>
        </p:nvSpPr>
        <p:spPr bwMode="auto">
          <a:xfrm>
            <a:off x="7010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0" name="Rectangle 63"/>
          <p:cNvSpPr>
            <a:spLocks noChangeArrowheads="1"/>
          </p:cNvSpPr>
          <p:nvPr/>
        </p:nvSpPr>
        <p:spPr bwMode="auto">
          <a:xfrm>
            <a:off x="7391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1" name="Rectangle 64"/>
          <p:cNvSpPr>
            <a:spLocks noChangeArrowheads="1"/>
          </p:cNvSpPr>
          <p:nvPr/>
        </p:nvSpPr>
        <p:spPr bwMode="auto">
          <a:xfrm>
            <a:off x="7772400" y="5351463"/>
            <a:ext cx="381000" cy="381000"/>
          </a:xfrm>
          <a:prstGeom prst="rect">
            <a:avLst/>
          </a:prstGeom>
          <a:noFill/>
          <a:ln w="9525">
            <a:solidFill>
              <a:schemeClr val="tx1"/>
            </a:solidFill>
            <a:miter lim="800000"/>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latin typeface="Tahoma" panose="020B0604030504040204" pitchFamily="34" charset="0"/>
                <a:sym typeface="Tahoma" panose="020B0604030504040204" pitchFamily="34" charset="0"/>
              </a:rPr>
              <a:t>i</a:t>
            </a:r>
            <a:endParaRPr lang="en-US" altLang="zh-CN"/>
          </a:p>
        </p:txBody>
      </p:sp>
      <p:sp>
        <p:nvSpPr>
          <p:cNvPr id="34882" name="Rectangle 65"/>
          <p:cNvSpPr>
            <a:spLocks noChangeArrowheads="1"/>
          </p:cNvSpPr>
          <p:nvPr/>
        </p:nvSpPr>
        <p:spPr bwMode="auto">
          <a:xfrm>
            <a:off x="8153400" y="5351463"/>
            <a:ext cx="381000" cy="381000"/>
          </a:xfrm>
          <a:prstGeom prst="rect">
            <a:avLst/>
          </a:prstGeom>
          <a:solidFill>
            <a:srgbClr val="FF000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83" name="Rectangle 66"/>
          <p:cNvSpPr>
            <a:spLocks noChangeArrowheads="1"/>
          </p:cNvSpPr>
          <p:nvPr/>
        </p:nvSpPr>
        <p:spPr bwMode="auto">
          <a:xfrm>
            <a:off x="4648200" y="5351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4884" name="Rectangle 67"/>
          <p:cNvSpPr>
            <a:spLocks noChangeArrowheads="1"/>
          </p:cNvSpPr>
          <p:nvPr/>
        </p:nvSpPr>
        <p:spPr bwMode="auto">
          <a:xfrm>
            <a:off x="4648200" y="2684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4885" name="Rectangle 68"/>
          <p:cNvSpPr>
            <a:spLocks noChangeArrowheads="1"/>
          </p:cNvSpPr>
          <p:nvPr/>
        </p:nvSpPr>
        <p:spPr bwMode="auto">
          <a:xfrm>
            <a:off x="4648200" y="3065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4886" name="Rectangle 69"/>
          <p:cNvSpPr>
            <a:spLocks noChangeArrowheads="1"/>
          </p:cNvSpPr>
          <p:nvPr/>
        </p:nvSpPr>
        <p:spPr bwMode="auto">
          <a:xfrm>
            <a:off x="4648200" y="3446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4887" name="Rectangle 70"/>
          <p:cNvSpPr>
            <a:spLocks noChangeArrowheads="1"/>
          </p:cNvSpPr>
          <p:nvPr/>
        </p:nvSpPr>
        <p:spPr bwMode="auto">
          <a:xfrm>
            <a:off x="4648200" y="3827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4888" name="Rectangle 71"/>
          <p:cNvSpPr>
            <a:spLocks noChangeArrowheads="1"/>
          </p:cNvSpPr>
          <p:nvPr/>
        </p:nvSpPr>
        <p:spPr bwMode="auto">
          <a:xfrm>
            <a:off x="4648200" y="4208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4889" name="Rectangle 72"/>
          <p:cNvSpPr>
            <a:spLocks noChangeArrowheads="1"/>
          </p:cNvSpPr>
          <p:nvPr/>
        </p:nvSpPr>
        <p:spPr bwMode="auto">
          <a:xfrm>
            <a:off x="4648200" y="4589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4890" name="Rectangle 73"/>
          <p:cNvSpPr>
            <a:spLocks noChangeArrowheads="1"/>
          </p:cNvSpPr>
          <p:nvPr/>
        </p:nvSpPr>
        <p:spPr bwMode="auto">
          <a:xfrm>
            <a:off x="4648200" y="4970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4891" name="Rectangle 75"/>
          <p:cNvSpPr>
            <a:spLocks noChangeArrowheads="1"/>
          </p:cNvSpPr>
          <p:nvPr/>
        </p:nvSpPr>
        <p:spPr bwMode="auto">
          <a:xfrm>
            <a:off x="5105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2" name="Rectangle 76"/>
          <p:cNvSpPr>
            <a:spLocks noChangeArrowheads="1"/>
          </p:cNvSpPr>
          <p:nvPr/>
        </p:nvSpPr>
        <p:spPr bwMode="auto">
          <a:xfrm>
            <a:off x="5105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3" name="Rectangle 77"/>
          <p:cNvSpPr>
            <a:spLocks noChangeArrowheads="1"/>
          </p:cNvSpPr>
          <p:nvPr/>
        </p:nvSpPr>
        <p:spPr bwMode="auto">
          <a:xfrm>
            <a:off x="5105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4" name="Rectangle 78"/>
          <p:cNvSpPr>
            <a:spLocks noChangeArrowheads="1"/>
          </p:cNvSpPr>
          <p:nvPr/>
        </p:nvSpPr>
        <p:spPr bwMode="auto">
          <a:xfrm>
            <a:off x="5105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5" name="Rectangle 79"/>
          <p:cNvSpPr>
            <a:spLocks noChangeArrowheads="1"/>
          </p:cNvSpPr>
          <p:nvPr/>
        </p:nvSpPr>
        <p:spPr bwMode="auto">
          <a:xfrm>
            <a:off x="5105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6" name="Rectangle 80"/>
          <p:cNvSpPr>
            <a:spLocks noChangeArrowheads="1"/>
          </p:cNvSpPr>
          <p:nvPr/>
        </p:nvSpPr>
        <p:spPr bwMode="auto">
          <a:xfrm>
            <a:off x="5105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7" name="Rectangle 81"/>
          <p:cNvSpPr>
            <a:spLocks noChangeArrowheads="1"/>
          </p:cNvSpPr>
          <p:nvPr/>
        </p:nvSpPr>
        <p:spPr bwMode="auto">
          <a:xfrm>
            <a:off x="5105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8" name="Rectangle 82"/>
          <p:cNvSpPr>
            <a:spLocks noChangeArrowheads="1"/>
          </p:cNvSpPr>
          <p:nvPr/>
        </p:nvSpPr>
        <p:spPr bwMode="auto">
          <a:xfrm>
            <a:off x="5105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899" name="Rectangle 83"/>
          <p:cNvSpPr>
            <a:spLocks noChangeArrowheads="1"/>
          </p:cNvSpPr>
          <p:nvPr/>
        </p:nvSpPr>
        <p:spPr bwMode="auto">
          <a:xfrm>
            <a:off x="5105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0" name="Rectangle 84"/>
          <p:cNvSpPr>
            <a:spLocks noChangeArrowheads="1"/>
          </p:cNvSpPr>
          <p:nvPr/>
        </p:nvSpPr>
        <p:spPr bwMode="auto">
          <a:xfrm>
            <a:off x="4648200" y="5732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sp>
        <p:nvSpPr>
          <p:cNvPr id="34901" name="Rectangle 85"/>
          <p:cNvSpPr>
            <a:spLocks noChangeArrowheads="1"/>
          </p:cNvSpPr>
          <p:nvPr/>
        </p:nvSpPr>
        <p:spPr bwMode="auto">
          <a:xfrm>
            <a:off x="8534400" y="2684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2" name="Rectangle 86"/>
          <p:cNvSpPr>
            <a:spLocks noChangeArrowheads="1"/>
          </p:cNvSpPr>
          <p:nvPr/>
        </p:nvSpPr>
        <p:spPr bwMode="auto">
          <a:xfrm>
            <a:off x="8534400" y="3065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3" name="Rectangle 87"/>
          <p:cNvSpPr>
            <a:spLocks noChangeArrowheads="1"/>
          </p:cNvSpPr>
          <p:nvPr/>
        </p:nvSpPr>
        <p:spPr bwMode="auto">
          <a:xfrm>
            <a:off x="8534400" y="3446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4" name="Rectangle 88"/>
          <p:cNvSpPr>
            <a:spLocks noChangeArrowheads="1"/>
          </p:cNvSpPr>
          <p:nvPr/>
        </p:nvSpPr>
        <p:spPr bwMode="auto">
          <a:xfrm>
            <a:off x="8534400" y="3827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5" name="Rectangle 89"/>
          <p:cNvSpPr>
            <a:spLocks noChangeArrowheads="1"/>
          </p:cNvSpPr>
          <p:nvPr/>
        </p:nvSpPr>
        <p:spPr bwMode="auto">
          <a:xfrm>
            <a:off x="8534400" y="4208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6" name="Rectangle 90"/>
          <p:cNvSpPr>
            <a:spLocks noChangeArrowheads="1"/>
          </p:cNvSpPr>
          <p:nvPr/>
        </p:nvSpPr>
        <p:spPr bwMode="auto">
          <a:xfrm>
            <a:off x="8534400" y="4589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7" name="Rectangle 91"/>
          <p:cNvSpPr>
            <a:spLocks noChangeArrowheads="1"/>
          </p:cNvSpPr>
          <p:nvPr/>
        </p:nvSpPr>
        <p:spPr bwMode="auto">
          <a:xfrm>
            <a:off x="8534400" y="4970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8" name="Rectangle 92"/>
          <p:cNvSpPr>
            <a:spLocks noChangeArrowheads="1"/>
          </p:cNvSpPr>
          <p:nvPr/>
        </p:nvSpPr>
        <p:spPr bwMode="auto">
          <a:xfrm>
            <a:off x="8534400" y="5351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09" name="Rectangle 93"/>
          <p:cNvSpPr>
            <a:spLocks noChangeArrowheads="1"/>
          </p:cNvSpPr>
          <p:nvPr/>
        </p:nvSpPr>
        <p:spPr bwMode="auto">
          <a:xfrm>
            <a:off x="8534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0" name="Rectangle 94"/>
          <p:cNvSpPr>
            <a:spLocks noChangeArrowheads="1"/>
          </p:cNvSpPr>
          <p:nvPr/>
        </p:nvSpPr>
        <p:spPr bwMode="auto">
          <a:xfrm>
            <a:off x="5867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1" name="Rectangle 95"/>
          <p:cNvSpPr>
            <a:spLocks noChangeArrowheads="1"/>
          </p:cNvSpPr>
          <p:nvPr/>
        </p:nvSpPr>
        <p:spPr bwMode="auto">
          <a:xfrm>
            <a:off x="6248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2" name="Rectangle 96"/>
          <p:cNvSpPr>
            <a:spLocks noChangeArrowheads="1"/>
          </p:cNvSpPr>
          <p:nvPr/>
        </p:nvSpPr>
        <p:spPr bwMode="auto">
          <a:xfrm>
            <a:off x="6629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3" name="Rectangle 97"/>
          <p:cNvSpPr>
            <a:spLocks noChangeArrowheads="1"/>
          </p:cNvSpPr>
          <p:nvPr/>
        </p:nvSpPr>
        <p:spPr bwMode="auto">
          <a:xfrm>
            <a:off x="7010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4" name="Rectangle 98"/>
          <p:cNvSpPr>
            <a:spLocks noChangeArrowheads="1"/>
          </p:cNvSpPr>
          <p:nvPr/>
        </p:nvSpPr>
        <p:spPr bwMode="auto">
          <a:xfrm>
            <a:off x="7391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5" name="Rectangle 99"/>
          <p:cNvSpPr>
            <a:spLocks noChangeArrowheads="1"/>
          </p:cNvSpPr>
          <p:nvPr/>
        </p:nvSpPr>
        <p:spPr bwMode="auto">
          <a:xfrm>
            <a:off x="7772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6" name="Rectangle 100"/>
          <p:cNvSpPr>
            <a:spLocks noChangeArrowheads="1"/>
          </p:cNvSpPr>
          <p:nvPr/>
        </p:nvSpPr>
        <p:spPr bwMode="auto">
          <a:xfrm>
            <a:off x="8153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7" name="Rectangle 101"/>
          <p:cNvSpPr>
            <a:spLocks noChangeArrowheads="1"/>
          </p:cNvSpPr>
          <p:nvPr/>
        </p:nvSpPr>
        <p:spPr bwMode="auto">
          <a:xfrm>
            <a:off x="5486400" y="5732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8" name="Rectangle 102"/>
          <p:cNvSpPr>
            <a:spLocks noChangeArrowheads="1"/>
          </p:cNvSpPr>
          <p:nvPr/>
        </p:nvSpPr>
        <p:spPr bwMode="auto">
          <a:xfrm>
            <a:off x="5105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19" name="Rectangle 103"/>
          <p:cNvSpPr>
            <a:spLocks noChangeArrowheads="1"/>
          </p:cNvSpPr>
          <p:nvPr/>
        </p:nvSpPr>
        <p:spPr bwMode="auto">
          <a:xfrm>
            <a:off x="8534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0" name="Rectangle 104"/>
          <p:cNvSpPr>
            <a:spLocks noChangeArrowheads="1"/>
          </p:cNvSpPr>
          <p:nvPr/>
        </p:nvSpPr>
        <p:spPr bwMode="auto">
          <a:xfrm>
            <a:off x="5867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1" name="Rectangle 105"/>
          <p:cNvSpPr>
            <a:spLocks noChangeArrowheads="1"/>
          </p:cNvSpPr>
          <p:nvPr/>
        </p:nvSpPr>
        <p:spPr bwMode="auto">
          <a:xfrm>
            <a:off x="6248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2" name="Rectangle 106"/>
          <p:cNvSpPr>
            <a:spLocks noChangeArrowheads="1"/>
          </p:cNvSpPr>
          <p:nvPr/>
        </p:nvSpPr>
        <p:spPr bwMode="auto">
          <a:xfrm>
            <a:off x="6629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3" name="Rectangle 107"/>
          <p:cNvSpPr>
            <a:spLocks noChangeArrowheads="1"/>
          </p:cNvSpPr>
          <p:nvPr/>
        </p:nvSpPr>
        <p:spPr bwMode="auto">
          <a:xfrm>
            <a:off x="7010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4" name="Rectangle 108"/>
          <p:cNvSpPr>
            <a:spLocks noChangeArrowheads="1"/>
          </p:cNvSpPr>
          <p:nvPr/>
        </p:nvSpPr>
        <p:spPr bwMode="auto">
          <a:xfrm>
            <a:off x="7391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5" name="Rectangle 109"/>
          <p:cNvSpPr>
            <a:spLocks noChangeArrowheads="1"/>
          </p:cNvSpPr>
          <p:nvPr/>
        </p:nvSpPr>
        <p:spPr bwMode="auto">
          <a:xfrm>
            <a:off x="7772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6" name="Rectangle 110"/>
          <p:cNvSpPr>
            <a:spLocks noChangeArrowheads="1"/>
          </p:cNvSpPr>
          <p:nvPr/>
        </p:nvSpPr>
        <p:spPr bwMode="auto">
          <a:xfrm>
            <a:off x="8153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sp>
        <p:nvSpPr>
          <p:cNvPr id="34927" name="Rectangle 111"/>
          <p:cNvSpPr>
            <a:spLocks noChangeArrowheads="1"/>
          </p:cNvSpPr>
          <p:nvPr/>
        </p:nvSpPr>
        <p:spPr bwMode="auto">
          <a:xfrm>
            <a:off x="5486400" y="2303463"/>
            <a:ext cx="381000" cy="381000"/>
          </a:xfrm>
          <a:prstGeom prst="rect">
            <a:avLst/>
          </a:prstGeom>
          <a:solidFill>
            <a:schemeClr val="accent1"/>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endParaRPr lang="zh-CN" altLang="en-US">
              <a:latin typeface="Calibri" panose="020F0502020204030204" pitchFamily="34" charset="0"/>
              <a:sym typeface="宋体" panose="02010600030101010101" pitchFamily="2" charset="-122"/>
            </a:endParaRPr>
          </a:p>
        </p:txBody>
      </p:sp>
      <p:grpSp>
        <p:nvGrpSpPr>
          <p:cNvPr id="34928" name="Group 112"/>
          <p:cNvGrpSpPr/>
          <p:nvPr/>
        </p:nvGrpSpPr>
        <p:grpSpPr bwMode="auto">
          <a:xfrm>
            <a:off x="5105400" y="1846263"/>
            <a:ext cx="3810000" cy="381000"/>
            <a:chOff x="0" y="0"/>
            <a:chExt cx="2400" cy="240"/>
          </a:xfrm>
        </p:grpSpPr>
        <p:sp>
          <p:nvSpPr>
            <p:cNvPr id="34929" name="Rectangle 113"/>
            <p:cNvSpPr>
              <a:spLocks noChangeArrowheads="1"/>
            </p:cNvSpPr>
            <p:nvPr/>
          </p:nvSpPr>
          <p:spPr bwMode="auto">
            <a:xfrm>
              <a:off x="19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8</a:t>
              </a:r>
              <a:endParaRPr lang="en-US" altLang="zh-CN"/>
            </a:p>
          </p:txBody>
        </p:sp>
        <p:sp>
          <p:nvSpPr>
            <p:cNvPr id="34930" name="Rectangle 114"/>
            <p:cNvSpPr>
              <a:spLocks noChangeArrowheads="1"/>
            </p:cNvSpPr>
            <p:nvPr/>
          </p:nvSpPr>
          <p:spPr bwMode="auto">
            <a:xfrm>
              <a:off x="2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1</a:t>
              </a:r>
              <a:endParaRPr lang="en-US" altLang="zh-CN"/>
            </a:p>
          </p:txBody>
        </p:sp>
        <p:sp>
          <p:nvSpPr>
            <p:cNvPr id="34931" name="Rectangle 115"/>
            <p:cNvSpPr>
              <a:spLocks noChangeArrowheads="1"/>
            </p:cNvSpPr>
            <p:nvPr/>
          </p:nvSpPr>
          <p:spPr bwMode="auto">
            <a:xfrm>
              <a:off x="4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2</a:t>
              </a:r>
              <a:endParaRPr lang="en-US" altLang="zh-CN"/>
            </a:p>
          </p:txBody>
        </p:sp>
        <p:sp>
          <p:nvSpPr>
            <p:cNvPr id="34932" name="Rectangle 116"/>
            <p:cNvSpPr>
              <a:spLocks noChangeArrowheads="1"/>
            </p:cNvSpPr>
            <p:nvPr/>
          </p:nvSpPr>
          <p:spPr bwMode="auto">
            <a:xfrm>
              <a:off x="72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3</a:t>
              </a:r>
              <a:endParaRPr lang="en-US" altLang="zh-CN"/>
            </a:p>
          </p:txBody>
        </p:sp>
        <p:sp>
          <p:nvSpPr>
            <p:cNvPr id="34933" name="Rectangle 117"/>
            <p:cNvSpPr>
              <a:spLocks noChangeArrowheads="1"/>
            </p:cNvSpPr>
            <p:nvPr/>
          </p:nvSpPr>
          <p:spPr bwMode="auto">
            <a:xfrm>
              <a:off x="9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4</a:t>
              </a:r>
              <a:endParaRPr lang="en-US" altLang="zh-CN"/>
            </a:p>
          </p:txBody>
        </p:sp>
        <p:sp>
          <p:nvSpPr>
            <p:cNvPr id="34934" name="Rectangle 118"/>
            <p:cNvSpPr>
              <a:spLocks noChangeArrowheads="1"/>
            </p:cNvSpPr>
            <p:nvPr/>
          </p:nvSpPr>
          <p:spPr bwMode="auto">
            <a:xfrm>
              <a:off x="120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5</a:t>
              </a:r>
              <a:endParaRPr lang="en-US" altLang="zh-CN"/>
            </a:p>
          </p:txBody>
        </p:sp>
        <p:sp>
          <p:nvSpPr>
            <p:cNvPr id="34935" name="Rectangle 119"/>
            <p:cNvSpPr>
              <a:spLocks noChangeArrowheads="1"/>
            </p:cNvSpPr>
            <p:nvPr/>
          </p:nvSpPr>
          <p:spPr bwMode="auto">
            <a:xfrm>
              <a:off x="144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6</a:t>
              </a:r>
              <a:endParaRPr lang="en-US" altLang="zh-CN"/>
            </a:p>
          </p:txBody>
        </p:sp>
        <p:sp>
          <p:nvSpPr>
            <p:cNvPr id="34936" name="Rectangle 120"/>
            <p:cNvSpPr>
              <a:spLocks noChangeArrowheads="1"/>
            </p:cNvSpPr>
            <p:nvPr/>
          </p:nvSpPr>
          <p:spPr bwMode="auto">
            <a:xfrm>
              <a:off x="168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7</a:t>
              </a:r>
              <a:endParaRPr lang="en-US" altLang="zh-CN"/>
            </a:p>
          </p:txBody>
        </p:sp>
        <p:sp>
          <p:nvSpPr>
            <p:cNvPr id="34937" name="Rectangle 121"/>
            <p:cNvSpPr>
              <a:spLocks noChangeArrowheads="1"/>
            </p:cNvSpPr>
            <p:nvPr/>
          </p:nvSpPr>
          <p:spPr bwMode="auto">
            <a:xfrm>
              <a:off x="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sp>
          <p:nvSpPr>
            <p:cNvPr id="34938" name="Rectangle 122"/>
            <p:cNvSpPr>
              <a:spLocks noChangeArrowheads="1"/>
            </p:cNvSpPr>
            <p:nvPr/>
          </p:nvSpPr>
          <p:spPr bwMode="auto">
            <a:xfrm>
              <a:off x="2160" y="0"/>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9</a:t>
              </a:r>
              <a:endParaRPr lang="en-US" altLang="zh-CN"/>
            </a:p>
          </p:txBody>
        </p:sp>
      </p:grpSp>
      <p:sp>
        <p:nvSpPr>
          <p:cNvPr id="34939" name="Rectangle 123"/>
          <p:cNvSpPr>
            <a:spLocks noChangeArrowheads="1"/>
          </p:cNvSpPr>
          <p:nvPr/>
        </p:nvSpPr>
        <p:spPr bwMode="auto">
          <a:xfrm>
            <a:off x="4648200" y="2303463"/>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a:solidFill>
                  <a:schemeClr val="folHlink"/>
                </a:solidFill>
                <a:latin typeface="Tahoma" panose="020B0604030504040204" pitchFamily="34" charset="0"/>
                <a:sym typeface="Tahoma" panose="020B0604030504040204" pitchFamily="34" charset="0"/>
              </a:rPr>
              <a:t>0</a:t>
            </a:r>
            <a:endParaRPr lang="en-US" altLang="zh-CN"/>
          </a:p>
        </p:txBody>
      </p:sp>
      <p:pic>
        <p:nvPicPr>
          <p:cNvPr id="34940" name="Picture 124"/>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153400" y="5351463"/>
            <a:ext cx="381000" cy="381000"/>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2110" name="Line 125"/>
          <p:cNvSpPr>
            <a:spLocks noChangeShapeType="1"/>
          </p:cNvSpPr>
          <p:nvPr/>
        </p:nvSpPr>
        <p:spPr bwMode="auto">
          <a:xfrm>
            <a:off x="5562600" y="2913064"/>
            <a:ext cx="1524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1" name="Line 126"/>
          <p:cNvSpPr>
            <a:spLocks noChangeShapeType="1"/>
          </p:cNvSpPr>
          <p:nvPr/>
        </p:nvSpPr>
        <p:spPr bwMode="auto">
          <a:xfrm>
            <a:off x="5715000" y="2913063"/>
            <a:ext cx="0" cy="1524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2" name="Line 127"/>
          <p:cNvSpPr>
            <a:spLocks noChangeShapeType="1"/>
          </p:cNvSpPr>
          <p:nvPr/>
        </p:nvSpPr>
        <p:spPr bwMode="auto">
          <a:xfrm>
            <a:off x="5715000" y="4437064"/>
            <a:ext cx="7620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3" name="Line 128"/>
          <p:cNvSpPr>
            <a:spLocks noChangeShapeType="1"/>
          </p:cNvSpPr>
          <p:nvPr/>
        </p:nvSpPr>
        <p:spPr bwMode="auto">
          <a:xfrm>
            <a:off x="6477000" y="4437063"/>
            <a:ext cx="0" cy="381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4" name="Line 129"/>
          <p:cNvSpPr>
            <a:spLocks noChangeShapeType="1"/>
          </p:cNvSpPr>
          <p:nvPr/>
        </p:nvSpPr>
        <p:spPr bwMode="auto">
          <a:xfrm>
            <a:off x="6477000" y="4818064"/>
            <a:ext cx="7620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5" name="Line 130"/>
          <p:cNvSpPr>
            <a:spLocks noChangeShapeType="1"/>
          </p:cNvSpPr>
          <p:nvPr/>
        </p:nvSpPr>
        <p:spPr bwMode="auto">
          <a:xfrm>
            <a:off x="7239000" y="4818063"/>
            <a:ext cx="0" cy="762000"/>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sp>
        <p:nvSpPr>
          <p:cNvPr id="42116" name="Line 131"/>
          <p:cNvSpPr>
            <a:spLocks noChangeShapeType="1"/>
          </p:cNvSpPr>
          <p:nvPr/>
        </p:nvSpPr>
        <p:spPr bwMode="auto">
          <a:xfrm>
            <a:off x="7239000" y="5580064"/>
            <a:ext cx="914400" cy="1587"/>
          </a:xfrm>
          <a:prstGeom prst="line">
            <a:avLst/>
          </a:prstGeom>
          <a:noFill/>
          <a:ln w="38100">
            <a:solidFill>
              <a:schemeClr val="hlink"/>
            </a:solidFill>
            <a:round/>
          </a:ln>
          <a:extLst>
            <a:ext uri="{909E8E84-426E-40DD-AFC4-6F175D3DCCD1}">
              <a14:hiddenFill xmlns:a14="http://schemas.microsoft.com/office/drawing/2010/main">
                <a:noFill/>
              </a14:hiddenFill>
            </a:ext>
          </a:extLst>
        </p:spPr>
        <p:txBody>
          <a:bodyPr/>
          <a:lstStyle/>
          <a:p>
            <a:endParaRPr lang="zh-CN" altLang="en-US"/>
          </a:p>
        </p:txBody>
      </p:sp>
      <p:grpSp>
        <p:nvGrpSpPr>
          <p:cNvPr id="34948" name="Group 133"/>
          <p:cNvGrpSpPr/>
          <p:nvPr/>
        </p:nvGrpSpPr>
        <p:grpSpPr bwMode="auto">
          <a:xfrm>
            <a:off x="2438400" y="1693863"/>
            <a:ext cx="1447800" cy="4494212"/>
            <a:chOff x="0" y="0"/>
            <a:chExt cx="1056" cy="1392"/>
          </a:xfrm>
        </p:grpSpPr>
        <p:sp>
          <p:nvSpPr>
            <p:cNvPr id="34949" name="Line 134"/>
            <p:cNvSpPr>
              <a:spLocks noChangeShapeType="1"/>
            </p:cNvSpPr>
            <p:nvPr/>
          </p:nvSpPr>
          <p:spPr bwMode="auto">
            <a:xfrm>
              <a:off x="0"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4950" name="Line 135"/>
            <p:cNvSpPr>
              <a:spLocks noChangeShapeType="1"/>
            </p:cNvSpPr>
            <p:nvPr/>
          </p:nvSpPr>
          <p:spPr bwMode="auto">
            <a:xfrm>
              <a:off x="1056" y="0"/>
              <a:ext cx="1" cy="139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sp>
          <p:nvSpPr>
            <p:cNvPr id="34951" name="Line 136"/>
            <p:cNvSpPr>
              <a:spLocks noChangeShapeType="1"/>
            </p:cNvSpPr>
            <p:nvPr/>
          </p:nvSpPr>
          <p:spPr bwMode="auto">
            <a:xfrm>
              <a:off x="0" y="1392"/>
              <a:ext cx="1056" cy="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lstStyle/>
            <a:p>
              <a:endParaRPr lang="zh-CN" altLang="en-US"/>
            </a:p>
          </p:txBody>
        </p:sp>
      </p:grpSp>
      <p:sp>
        <p:nvSpPr>
          <p:cNvPr id="34952" name="Text Box 137"/>
          <p:cNvSpPr>
            <a:spLocks noChangeArrowheads="1"/>
          </p:cNvSpPr>
          <p:nvPr/>
        </p:nvSpPr>
        <p:spPr bwMode="auto">
          <a:xfrm>
            <a:off x="1905000" y="5764214"/>
            <a:ext cx="381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spcBef>
                <a:spcPct val="50000"/>
              </a:spcBef>
            </a:pPr>
            <a:r>
              <a:rPr lang="zh-CN" altLang="en-US" sz="2000" b="1">
                <a:solidFill>
                  <a:schemeClr val="bg2"/>
                </a:solidFill>
                <a:latin typeface="Tahoma" panose="020B0604030504040204" pitchFamily="34" charset="0"/>
                <a:sym typeface="Tahoma" panose="020B0604030504040204" pitchFamily="34" charset="0"/>
              </a:rPr>
              <a:t>栈</a:t>
            </a:r>
            <a:endParaRPr lang="zh-CN" altLang="en-US"/>
          </a:p>
        </p:txBody>
      </p:sp>
      <p:sp>
        <p:nvSpPr>
          <p:cNvPr id="42122" name="Rectangle 138"/>
          <p:cNvSpPr>
            <a:spLocks noChangeArrowheads="1"/>
          </p:cNvSpPr>
          <p:nvPr/>
        </p:nvSpPr>
        <p:spPr bwMode="auto">
          <a:xfrm>
            <a:off x="2438401" y="586581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(1,1)</a:t>
            </a:r>
            <a:endParaRPr lang="en-US" altLang="zh-CN"/>
          </a:p>
        </p:txBody>
      </p:sp>
      <p:sp>
        <p:nvSpPr>
          <p:cNvPr id="42123" name="Rectangle 139"/>
          <p:cNvSpPr>
            <a:spLocks noChangeArrowheads="1"/>
          </p:cNvSpPr>
          <p:nvPr/>
        </p:nvSpPr>
        <p:spPr bwMode="auto">
          <a:xfrm>
            <a:off x="2438401" y="5562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(2,1)</a:t>
            </a:r>
            <a:endParaRPr lang="en-US" altLang="zh-CN"/>
          </a:p>
        </p:txBody>
      </p:sp>
      <p:sp>
        <p:nvSpPr>
          <p:cNvPr id="42124" name="Rectangle 140"/>
          <p:cNvSpPr>
            <a:spLocks noChangeArrowheads="1"/>
          </p:cNvSpPr>
          <p:nvPr/>
        </p:nvSpPr>
        <p:spPr bwMode="auto">
          <a:xfrm>
            <a:off x="2438401" y="5257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(3,1)</a:t>
            </a:r>
            <a:endParaRPr lang="en-US" altLang="zh-CN"/>
          </a:p>
        </p:txBody>
      </p:sp>
      <p:sp>
        <p:nvSpPr>
          <p:cNvPr id="42125" name="Rectangle 141"/>
          <p:cNvSpPr>
            <a:spLocks noChangeArrowheads="1"/>
          </p:cNvSpPr>
          <p:nvPr/>
        </p:nvSpPr>
        <p:spPr bwMode="auto">
          <a:xfrm>
            <a:off x="2438401" y="4953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(4,1)</a:t>
            </a:r>
            <a:endParaRPr lang="en-US" altLang="zh-CN"/>
          </a:p>
        </p:txBody>
      </p:sp>
      <p:sp>
        <p:nvSpPr>
          <p:cNvPr id="42126" name="Rectangle 142"/>
          <p:cNvSpPr>
            <a:spLocks noChangeArrowheads="1"/>
          </p:cNvSpPr>
          <p:nvPr/>
        </p:nvSpPr>
        <p:spPr bwMode="auto">
          <a:xfrm>
            <a:off x="2438401" y="4648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(5,1)</a:t>
            </a:r>
            <a:endParaRPr lang="en-US" altLang="zh-CN"/>
          </a:p>
        </p:txBody>
      </p:sp>
      <p:sp>
        <p:nvSpPr>
          <p:cNvPr id="42127" name="Rectangle 143"/>
          <p:cNvSpPr>
            <a:spLocks noChangeArrowheads="1"/>
          </p:cNvSpPr>
          <p:nvPr/>
        </p:nvSpPr>
        <p:spPr bwMode="auto">
          <a:xfrm>
            <a:off x="2438401" y="1600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(8,8)</a:t>
            </a:r>
            <a:endParaRPr lang="en-US" altLang="zh-CN"/>
          </a:p>
        </p:txBody>
      </p:sp>
      <p:sp>
        <p:nvSpPr>
          <p:cNvPr id="42128" name="Rectangle 144"/>
          <p:cNvSpPr>
            <a:spLocks noChangeArrowheads="1"/>
          </p:cNvSpPr>
          <p:nvPr/>
        </p:nvSpPr>
        <p:spPr bwMode="auto">
          <a:xfrm>
            <a:off x="2438401" y="4343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(5,2)</a:t>
            </a:r>
            <a:endParaRPr lang="en-US" altLang="zh-CN"/>
          </a:p>
        </p:txBody>
      </p:sp>
      <p:sp>
        <p:nvSpPr>
          <p:cNvPr id="42129" name="Rectangle 145"/>
          <p:cNvSpPr>
            <a:spLocks noChangeArrowheads="1"/>
          </p:cNvSpPr>
          <p:nvPr/>
        </p:nvSpPr>
        <p:spPr bwMode="auto">
          <a:xfrm>
            <a:off x="2438401" y="4038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(5,3)</a:t>
            </a:r>
            <a:endParaRPr lang="en-US" altLang="zh-CN"/>
          </a:p>
        </p:txBody>
      </p:sp>
      <p:sp>
        <p:nvSpPr>
          <p:cNvPr id="42130" name="Rectangle 146"/>
          <p:cNvSpPr>
            <a:spLocks noChangeArrowheads="1"/>
          </p:cNvSpPr>
          <p:nvPr/>
        </p:nvSpPr>
        <p:spPr bwMode="auto">
          <a:xfrm>
            <a:off x="2438401" y="37338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(6,3)</a:t>
            </a:r>
            <a:endParaRPr lang="en-US" altLang="zh-CN"/>
          </a:p>
        </p:txBody>
      </p:sp>
      <p:sp>
        <p:nvSpPr>
          <p:cNvPr id="42131" name="Rectangle 147"/>
          <p:cNvSpPr>
            <a:spLocks noChangeArrowheads="1"/>
          </p:cNvSpPr>
          <p:nvPr/>
        </p:nvSpPr>
        <p:spPr bwMode="auto">
          <a:xfrm>
            <a:off x="2438401" y="3429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(6,4)</a:t>
            </a:r>
            <a:endParaRPr lang="en-US" altLang="zh-CN"/>
          </a:p>
        </p:txBody>
      </p:sp>
      <p:sp>
        <p:nvSpPr>
          <p:cNvPr id="42132" name="Rectangle 148"/>
          <p:cNvSpPr>
            <a:spLocks noChangeArrowheads="1"/>
          </p:cNvSpPr>
          <p:nvPr/>
        </p:nvSpPr>
        <p:spPr bwMode="auto">
          <a:xfrm>
            <a:off x="2438401" y="31242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(6,5)</a:t>
            </a:r>
            <a:endParaRPr lang="en-US" altLang="zh-CN"/>
          </a:p>
        </p:txBody>
      </p:sp>
      <p:sp>
        <p:nvSpPr>
          <p:cNvPr id="42133" name="Rectangle 149"/>
          <p:cNvSpPr>
            <a:spLocks noChangeArrowheads="1"/>
          </p:cNvSpPr>
          <p:nvPr/>
        </p:nvSpPr>
        <p:spPr bwMode="auto">
          <a:xfrm>
            <a:off x="2438401" y="28194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(7,5)</a:t>
            </a:r>
            <a:endParaRPr lang="en-US" altLang="zh-CN"/>
          </a:p>
        </p:txBody>
      </p:sp>
      <p:sp>
        <p:nvSpPr>
          <p:cNvPr id="42134" name="Rectangle 150"/>
          <p:cNvSpPr>
            <a:spLocks noChangeArrowheads="1"/>
          </p:cNvSpPr>
          <p:nvPr/>
        </p:nvSpPr>
        <p:spPr bwMode="auto">
          <a:xfrm>
            <a:off x="2438401" y="25146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(8,5)</a:t>
            </a:r>
            <a:endParaRPr lang="en-US" altLang="zh-CN"/>
          </a:p>
        </p:txBody>
      </p:sp>
      <p:sp>
        <p:nvSpPr>
          <p:cNvPr id="42135" name="Rectangle 151"/>
          <p:cNvSpPr>
            <a:spLocks noChangeArrowheads="1"/>
          </p:cNvSpPr>
          <p:nvPr/>
        </p:nvSpPr>
        <p:spPr bwMode="auto">
          <a:xfrm>
            <a:off x="2438401" y="2227263"/>
            <a:ext cx="1439863" cy="322262"/>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(8,6)</a:t>
            </a:r>
            <a:endParaRPr lang="en-US" altLang="zh-CN"/>
          </a:p>
        </p:txBody>
      </p:sp>
      <p:sp>
        <p:nvSpPr>
          <p:cNvPr id="42136" name="Rectangle 152"/>
          <p:cNvSpPr>
            <a:spLocks noChangeArrowheads="1"/>
          </p:cNvSpPr>
          <p:nvPr/>
        </p:nvSpPr>
        <p:spPr bwMode="auto">
          <a:xfrm>
            <a:off x="2438401" y="1905001"/>
            <a:ext cx="1439863" cy="322263"/>
          </a:xfrm>
          <a:prstGeom prst="rect">
            <a:avLst/>
          </a:prstGeom>
          <a:solidFill>
            <a:srgbClr val="C0C0C0"/>
          </a:solidFill>
          <a:ln w="9525">
            <a:solidFill>
              <a:schemeClr val="tx1"/>
            </a:solidFill>
            <a:miter lim="800000"/>
          </a:ln>
        </p:spPr>
        <p:txBody>
          <a:bodyPr wrap="none"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r>
              <a:rPr lang="en-US" altLang="zh-CN" sz="2000" b="1">
                <a:solidFill>
                  <a:srgbClr val="000000"/>
                </a:solidFill>
                <a:latin typeface="楷体_GB2312" pitchFamily="1" charset="-122"/>
                <a:sym typeface="楷体_GB2312" pitchFamily="1" charset="-122"/>
              </a:rPr>
              <a:t>(8,7)</a:t>
            </a:r>
            <a:endParaRPr lang="en-US" altLang="zh-CN"/>
          </a:p>
        </p:txBody>
      </p:sp>
      <p:sp>
        <p:nvSpPr>
          <p:cNvPr id="15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迷宫问题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2110"/>
                                        </p:tgtEl>
                                        <p:attrNameLst>
                                          <p:attrName>style.visibility</p:attrName>
                                        </p:attrNameLst>
                                      </p:cBhvr>
                                      <p:to>
                                        <p:strVal val="visible"/>
                                      </p:to>
                                    </p:set>
                                    <p:animEffect filter="wipe(left)">
                                      <p:cBhvr>
                                        <p:cTn id="7" dur="500"/>
                                        <p:tgtEl>
                                          <p:spTgt spid="42110"/>
                                        </p:tgtEl>
                                      </p:cBhvr>
                                    </p:animEffect>
                                  </p:childTnLst>
                                </p:cTn>
                              </p:par>
                            </p:childTnLst>
                          </p:cTn>
                        </p:par>
                        <p:par>
                          <p:cTn id="8" fill="hold">
                            <p:stCondLst>
                              <p:cond delay="500"/>
                            </p:stCondLst>
                            <p:childTnLst>
                              <p:par>
                                <p:cTn id="9" presetID="22" presetClass="entr" presetSubtype="1" fill="hold" nodeType="afterEffect">
                                  <p:stCondLst>
                                    <p:cond delay="1000"/>
                                  </p:stCondLst>
                                  <p:childTnLst>
                                    <p:set>
                                      <p:cBhvr>
                                        <p:cTn id="10" dur="1" fill="hold">
                                          <p:stCondLst>
                                            <p:cond delay="0"/>
                                          </p:stCondLst>
                                        </p:cTn>
                                        <p:tgtEl>
                                          <p:spTgt spid="42111"/>
                                        </p:tgtEl>
                                        <p:attrNameLst>
                                          <p:attrName>style.visibility</p:attrName>
                                        </p:attrNameLst>
                                      </p:cBhvr>
                                      <p:to>
                                        <p:strVal val="visible"/>
                                      </p:to>
                                    </p:set>
                                    <p:animEffect filter="wipe(up)">
                                      <p:cBhvr>
                                        <p:cTn id="11" dur="500"/>
                                        <p:tgtEl>
                                          <p:spTgt spid="42111"/>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42112"/>
                                        </p:tgtEl>
                                        <p:attrNameLst>
                                          <p:attrName>style.visibility</p:attrName>
                                        </p:attrNameLst>
                                      </p:cBhvr>
                                      <p:to>
                                        <p:strVal val="visible"/>
                                      </p:to>
                                    </p:set>
                                    <p:animEffect filter="wipe(left)">
                                      <p:cBhvr>
                                        <p:cTn id="15" dur="500"/>
                                        <p:tgtEl>
                                          <p:spTgt spid="42112"/>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42113"/>
                                        </p:tgtEl>
                                        <p:attrNameLst>
                                          <p:attrName>style.visibility</p:attrName>
                                        </p:attrNameLst>
                                      </p:cBhvr>
                                      <p:to>
                                        <p:strVal val="visible"/>
                                      </p:to>
                                    </p:set>
                                    <p:animEffect filter="wipe(up)">
                                      <p:cBhvr>
                                        <p:cTn id="19" dur="500"/>
                                        <p:tgtEl>
                                          <p:spTgt spid="42113"/>
                                        </p:tgtEl>
                                      </p:cBhvr>
                                    </p:animEffect>
                                  </p:childTnLst>
                                </p:cTn>
                              </p:par>
                            </p:childTnLst>
                          </p:cTn>
                        </p:par>
                        <p:par>
                          <p:cTn id="20" fill="hold">
                            <p:stCondLst>
                              <p:cond delay="3000"/>
                            </p:stCondLst>
                            <p:childTnLst>
                              <p:par>
                                <p:cTn id="21" presetID="22" presetClass="entr" presetSubtype="8" fill="hold" nodeType="afterEffect">
                                  <p:stCondLst>
                                    <p:cond delay="0"/>
                                  </p:stCondLst>
                                  <p:childTnLst>
                                    <p:set>
                                      <p:cBhvr>
                                        <p:cTn id="22" dur="1" fill="hold">
                                          <p:stCondLst>
                                            <p:cond delay="0"/>
                                          </p:stCondLst>
                                        </p:cTn>
                                        <p:tgtEl>
                                          <p:spTgt spid="42114"/>
                                        </p:tgtEl>
                                        <p:attrNameLst>
                                          <p:attrName>style.visibility</p:attrName>
                                        </p:attrNameLst>
                                      </p:cBhvr>
                                      <p:to>
                                        <p:strVal val="visible"/>
                                      </p:to>
                                    </p:set>
                                    <p:animEffect filter="wipe(left)">
                                      <p:cBhvr>
                                        <p:cTn id="23" dur="500"/>
                                        <p:tgtEl>
                                          <p:spTgt spid="42114"/>
                                        </p:tgtEl>
                                      </p:cBhvr>
                                    </p:animEffect>
                                  </p:childTnLst>
                                </p:cTn>
                              </p:par>
                            </p:childTnLst>
                          </p:cTn>
                        </p:par>
                        <p:par>
                          <p:cTn id="24" fill="hold">
                            <p:stCondLst>
                              <p:cond delay="3500"/>
                            </p:stCondLst>
                            <p:childTnLst>
                              <p:par>
                                <p:cTn id="25" presetID="22" presetClass="entr" presetSubtype="1" fill="hold" nodeType="afterEffect">
                                  <p:stCondLst>
                                    <p:cond delay="0"/>
                                  </p:stCondLst>
                                  <p:childTnLst>
                                    <p:set>
                                      <p:cBhvr>
                                        <p:cTn id="26" dur="1" fill="hold">
                                          <p:stCondLst>
                                            <p:cond delay="0"/>
                                          </p:stCondLst>
                                        </p:cTn>
                                        <p:tgtEl>
                                          <p:spTgt spid="42115"/>
                                        </p:tgtEl>
                                        <p:attrNameLst>
                                          <p:attrName>style.visibility</p:attrName>
                                        </p:attrNameLst>
                                      </p:cBhvr>
                                      <p:to>
                                        <p:strVal val="visible"/>
                                      </p:to>
                                    </p:set>
                                    <p:animEffect filter="wipe(up)">
                                      <p:cBhvr>
                                        <p:cTn id="27" dur="500"/>
                                        <p:tgtEl>
                                          <p:spTgt spid="42115"/>
                                        </p:tgtEl>
                                      </p:cBhvr>
                                    </p:animEffect>
                                  </p:childTnLst>
                                </p:cTn>
                              </p:par>
                            </p:childTnLst>
                          </p:cTn>
                        </p:par>
                        <p:par>
                          <p:cTn id="28" fill="hold">
                            <p:stCondLst>
                              <p:cond delay="4000"/>
                            </p:stCondLst>
                            <p:childTnLst>
                              <p:par>
                                <p:cTn id="29" presetID="22" presetClass="entr" presetSubtype="8" fill="hold" nodeType="afterEffect">
                                  <p:stCondLst>
                                    <p:cond delay="0"/>
                                  </p:stCondLst>
                                  <p:childTnLst>
                                    <p:set>
                                      <p:cBhvr>
                                        <p:cTn id="30" dur="1" fill="hold">
                                          <p:stCondLst>
                                            <p:cond delay="0"/>
                                          </p:stCondLst>
                                        </p:cTn>
                                        <p:tgtEl>
                                          <p:spTgt spid="42116"/>
                                        </p:tgtEl>
                                        <p:attrNameLst>
                                          <p:attrName>style.visibility</p:attrName>
                                        </p:attrNameLst>
                                      </p:cBhvr>
                                      <p:to>
                                        <p:strVal val="visible"/>
                                      </p:to>
                                    </p:set>
                                    <p:animEffect filter="wipe(left)">
                                      <p:cBhvr>
                                        <p:cTn id="31" dur="500"/>
                                        <p:tgtEl>
                                          <p:spTgt spid="42116"/>
                                        </p:tgtEl>
                                      </p:cBhvr>
                                    </p:animEffect>
                                  </p:childTnLst>
                                </p:cTn>
                              </p:par>
                            </p:childTnLst>
                          </p:cTn>
                        </p:par>
                        <p:par>
                          <p:cTn id="32" fill="hold">
                            <p:stCondLst>
                              <p:cond delay="4500"/>
                            </p:stCondLst>
                            <p:childTnLst>
                              <p:par>
                                <p:cTn id="33" presetID="22" presetClass="entr" presetSubtype="4" fill="hold" grpId="0" nodeType="afterEffect">
                                  <p:stCondLst>
                                    <p:cond delay="0"/>
                                  </p:stCondLst>
                                  <p:childTnLst>
                                    <p:set>
                                      <p:cBhvr>
                                        <p:cTn id="34" dur="1" fill="hold">
                                          <p:stCondLst>
                                            <p:cond delay="0"/>
                                          </p:stCondLst>
                                        </p:cTn>
                                        <p:tgtEl>
                                          <p:spTgt spid="42122"/>
                                        </p:tgtEl>
                                        <p:attrNameLst>
                                          <p:attrName>style.visibility</p:attrName>
                                        </p:attrNameLst>
                                      </p:cBhvr>
                                      <p:to>
                                        <p:strVal val="visible"/>
                                      </p:to>
                                    </p:set>
                                    <p:animEffect filter="wipe(down)">
                                      <p:cBhvr>
                                        <p:cTn id="35" dur="500"/>
                                        <p:tgtEl>
                                          <p:spTgt spid="42122"/>
                                        </p:tgtEl>
                                      </p:cBhvr>
                                    </p:animEffect>
                                  </p:childTnLst>
                                </p:cTn>
                              </p:par>
                            </p:childTnLst>
                          </p:cTn>
                        </p:par>
                        <p:par>
                          <p:cTn id="36" fill="hold">
                            <p:stCondLst>
                              <p:cond delay="5000"/>
                            </p:stCondLst>
                            <p:childTnLst>
                              <p:par>
                                <p:cTn id="37" presetID="22" presetClass="entr" presetSubtype="4" fill="hold" grpId="0" nodeType="afterEffect">
                                  <p:stCondLst>
                                    <p:cond delay="0"/>
                                  </p:stCondLst>
                                  <p:childTnLst>
                                    <p:set>
                                      <p:cBhvr>
                                        <p:cTn id="38" dur="1" fill="hold">
                                          <p:stCondLst>
                                            <p:cond delay="0"/>
                                          </p:stCondLst>
                                        </p:cTn>
                                        <p:tgtEl>
                                          <p:spTgt spid="42123"/>
                                        </p:tgtEl>
                                        <p:attrNameLst>
                                          <p:attrName>style.visibility</p:attrName>
                                        </p:attrNameLst>
                                      </p:cBhvr>
                                      <p:to>
                                        <p:strVal val="visible"/>
                                      </p:to>
                                    </p:set>
                                    <p:animEffect filter="wipe(down)">
                                      <p:cBhvr>
                                        <p:cTn id="39" dur="500"/>
                                        <p:tgtEl>
                                          <p:spTgt spid="42123"/>
                                        </p:tgtEl>
                                      </p:cBhvr>
                                    </p:animEffect>
                                  </p:childTnLst>
                                </p:cTn>
                              </p:par>
                            </p:childTnLst>
                          </p:cTn>
                        </p:par>
                        <p:par>
                          <p:cTn id="40" fill="hold">
                            <p:stCondLst>
                              <p:cond delay="5500"/>
                            </p:stCondLst>
                            <p:childTnLst>
                              <p:par>
                                <p:cTn id="41" presetID="22" presetClass="entr" presetSubtype="4" fill="hold" grpId="0" nodeType="afterEffect">
                                  <p:stCondLst>
                                    <p:cond delay="0"/>
                                  </p:stCondLst>
                                  <p:childTnLst>
                                    <p:set>
                                      <p:cBhvr>
                                        <p:cTn id="42" dur="1" fill="hold">
                                          <p:stCondLst>
                                            <p:cond delay="0"/>
                                          </p:stCondLst>
                                        </p:cTn>
                                        <p:tgtEl>
                                          <p:spTgt spid="42124"/>
                                        </p:tgtEl>
                                        <p:attrNameLst>
                                          <p:attrName>style.visibility</p:attrName>
                                        </p:attrNameLst>
                                      </p:cBhvr>
                                      <p:to>
                                        <p:strVal val="visible"/>
                                      </p:to>
                                    </p:set>
                                    <p:animEffect filter="wipe(down)">
                                      <p:cBhvr>
                                        <p:cTn id="43" dur="500"/>
                                        <p:tgtEl>
                                          <p:spTgt spid="42124"/>
                                        </p:tgtEl>
                                      </p:cBhvr>
                                    </p:animEffect>
                                  </p:childTnLst>
                                </p:cTn>
                              </p:par>
                            </p:childTnLst>
                          </p:cTn>
                        </p:par>
                        <p:par>
                          <p:cTn id="44" fill="hold">
                            <p:stCondLst>
                              <p:cond delay="6000"/>
                            </p:stCondLst>
                            <p:childTnLst>
                              <p:par>
                                <p:cTn id="45" presetID="22" presetClass="entr" presetSubtype="4" fill="hold" grpId="0" nodeType="afterEffect">
                                  <p:stCondLst>
                                    <p:cond delay="0"/>
                                  </p:stCondLst>
                                  <p:childTnLst>
                                    <p:set>
                                      <p:cBhvr>
                                        <p:cTn id="46" dur="1" fill="hold">
                                          <p:stCondLst>
                                            <p:cond delay="0"/>
                                          </p:stCondLst>
                                        </p:cTn>
                                        <p:tgtEl>
                                          <p:spTgt spid="42125"/>
                                        </p:tgtEl>
                                        <p:attrNameLst>
                                          <p:attrName>style.visibility</p:attrName>
                                        </p:attrNameLst>
                                      </p:cBhvr>
                                      <p:to>
                                        <p:strVal val="visible"/>
                                      </p:to>
                                    </p:set>
                                    <p:animEffect filter="wipe(down)">
                                      <p:cBhvr>
                                        <p:cTn id="47" dur="500"/>
                                        <p:tgtEl>
                                          <p:spTgt spid="42125"/>
                                        </p:tgtEl>
                                      </p:cBhvr>
                                    </p:animEffect>
                                  </p:childTnLst>
                                </p:cTn>
                              </p:par>
                            </p:childTnLst>
                          </p:cTn>
                        </p:par>
                        <p:par>
                          <p:cTn id="48" fill="hold">
                            <p:stCondLst>
                              <p:cond delay="6500"/>
                            </p:stCondLst>
                            <p:childTnLst>
                              <p:par>
                                <p:cTn id="49" presetID="22" presetClass="entr" presetSubtype="4" fill="hold" grpId="0" nodeType="afterEffect">
                                  <p:stCondLst>
                                    <p:cond delay="0"/>
                                  </p:stCondLst>
                                  <p:childTnLst>
                                    <p:set>
                                      <p:cBhvr>
                                        <p:cTn id="50" dur="1" fill="hold">
                                          <p:stCondLst>
                                            <p:cond delay="0"/>
                                          </p:stCondLst>
                                        </p:cTn>
                                        <p:tgtEl>
                                          <p:spTgt spid="42126"/>
                                        </p:tgtEl>
                                        <p:attrNameLst>
                                          <p:attrName>style.visibility</p:attrName>
                                        </p:attrNameLst>
                                      </p:cBhvr>
                                      <p:to>
                                        <p:strVal val="visible"/>
                                      </p:to>
                                    </p:set>
                                    <p:animEffect filter="wipe(down)">
                                      <p:cBhvr>
                                        <p:cTn id="51" dur="500"/>
                                        <p:tgtEl>
                                          <p:spTgt spid="42126"/>
                                        </p:tgtEl>
                                      </p:cBhvr>
                                    </p:animEffect>
                                  </p:childTnLst>
                                </p:cTn>
                              </p:par>
                            </p:childTnLst>
                          </p:cTn>
                        </p:par>
                        <p:par>
                          <p:cTn id="52" fill="hold">
                            <p:stCondLst>
                              <p:cond delay="7000"/>
                            </p:stCondLst>
                            <p:childTnLst>
                              <p:par>
                                <p:cTn id="53" presetID="22" presetClass="entr" presetSubtype="4" fill="hold" grpId="0" nodeType="afterEffect">
                                  <p:stCondLst>
                                    <p:cond delay="0"/>
                                  </p:stCondLst>
                                  <p:childTnLst>
                                    <p:set>
                                      <p:cBhvr>
                                        <p:cTn id="54" dur="1" fill="hold">
                                          <p:stCondLst>
                                            <p:cond delay="0"/>
                                          </p:stCondLst>
                                        </p:cTn>
                                        <p:tgtEl>
                                          <p:spTgt spid="42128"/>
                                        </p:tgtEl>
                                        <p:attrNameLst>
                                          <p:attrName>style.visibility</p:attrName>
                                        </p:attrNameLst>
                                      </p:cBhvr>
                                      <p:to>
                                        <p:strVal val="visible"/>
                                      </p:to>
                                    </p:set>
                                    <p:animEffect filter="wipe(down)">
                                      <p:cBhvr>
                                        <p:cTn id="55" dur="500"/>
                                        <p:tgtEl>
                                          <p:spTgt spid="42128"/>
                                        </p:tgtEl>
                                      </p:cBhvr>
                                    </p:animEffect>
                                  </p:childTnLst>
                                </p:cTn>
                              </p:par>
                            </p:childTnLst>
                          </p:cTn>
                        </p:par>
                        <p:par>
                          <p:cTn id="56" fill="hold">
                            <p:stCondLst>
                              <p:cond delay="7500"/>
                            </p:stCondLst>
                            <p:childTnLst>
                              <p:par>
                                <p:cTn id="57" presetID="22" presetClass="entr" presetSubtype="4" fill="hold" grpId="0" nodeType="afterEffect">
                                  <p:stCondLst>
                                    <p:cond delay="0"/>
                                  </p:stCondLst>
                                  <p:childTnLst>
                                    <p:set>
                                      <p:cBhvr>
                                        <p:cTn id="58" dur="1" fill="hold">
                                          <p:stCondLst>
                                            <p:cond delay="0"/>
                                          </p:stCondLst>
                                        </p:cTn>
                                        <p:tgtEl>
                                          <p:spTgt spid="42129"/>
                                        </p:tgtEl>
                                        <p:attrNameLst>
                                          <p:attrName>style.visibility</p:attrName>
                                        </p:attrNameLst>
                                      </p:cBhvr>
                                      <p:to>
                                        <p:strVal val="visible"/>
                                      </p:to>
                                    </p:set>
                                    <p:animEffect filter="wipe(down)">
                                      <p:cBhvr>
                                        <p:cTn id="59" dur="500"/>
                                        <p:tgtEl>
                                          <p:spTgt spid="42129"/>
                                        </p:tgtEl>
                                      </p:cBhvr>
                                    </p:animEffect>
                                  </p:childTnLst>
                                </p:cTn>
                              </p:par>
                            </p:childTnLst>
                          </p:cTn>
                        </p:par>
                        <p:par>
                          <p:cTn id="60" fill="hold">
                            <p:stCondLst>
                              <p:cond delay="8000"/>
                            </p:stCondLst>
                            <p:childTnLst>
                              <p:par>
                                <p:cTn id="61" presetID="22" presetClass="entr" presetSubtype="4" fill="hold" grpId="0" nodeType="afterEffect">
                                  <p:stCondLst>
                                    <p:cond delay="0"/>
                                  </p:stCondLst>
                                  <p:childTnLst>
                                    <p:set>
                                      <p:cBhvr>
                                        <p:cTn id="62" dur="1" fill="hold">
                                          <p:stCondLst>
                                            <p:cond delay="0"/>
                                          </p:stCondLst>
                                        </p:cTn>
                                        <p:tgtEl>
                                          <p:spTgt spid="42130"/>
                                        </p:tgtEl>
                                        <p:attrNameLst>
                                          <p:attrName>style.visibility</p:attrName>
                                        </p:attrNameLst>
                                      </p:cBhvr>
                                      <p:to>
                                        <p:strVal val="visible"/>
                                      </p:to>
                                    </p:set>
                                    <p:animEffect filter="wipe(down)">
                                      <p:cBhvr>
                                        <p:cTn id="63" dur="500"/>
                                        <p:tgtEl>
                                          <p:spTgt spid="42130"/>
                                        </p:tgtEl>
                                      </p:cBhvr>
                                    </p:animEffect>
                                  </p:childTnLst>
                                </p:cTn>
                              </p:par>
                            </p:childTnLst>
                          </p:cTn>
                        </p:par>
                        <p:par>
                          <p:cTn id="64" fill="hold">
                            <p:stCondLst>
                              <p:cond delay="8500"/>
                            </p:stCondLst>
                            <p:childTnLst>
                              <p:par>
                                <p:cTn id="65" presetID="22" presetClass="entr" presetSubtype="4" fill="hold" grpId="0" nodeType="afterEffect">
                                  <p:stCondLst>
                                    <p:cond delay="0"/>
                                  </p:stCondLst>
                                  <p:childTnLst>
                                    <p:set>
                                      <p:cBhvr>
                                        <p:cTn id="66" dur="1" fill="hold">
                                          <p:stCondLst>
                                            <p:cond delay="0"/>
                                          </p:stCondLst>
                                        </p:cTn>
                                        <p:tgtEl>
                                          <p:spTgt spid="42131"/>
                                        </p:tgtEl>
                                        <p:attrNameLst>
                                          <p:attrName>style.visibility</p:attrName>
                                        </p:attrNameLst>
                                      </p:cBhvr>
                                      <p:to>
                                        <p:strVal val="visible"/>
                                      </p:to>
                                    </p:set>
                                    <p:animEffect filter="wipe(down)">
                                      <p:cBhvr>
                                        <p:cTn id="67" dur="500"/>
                                        <p:tgtEl>
                                          <p:spTgt spid="42131"/>
                                        </p:tgtEl>
                                      </p:cBhvr>
                                    </p:animEffect>
                                  </p:childTnLst>
                                </p:cTn>
                              </p:par>
                            </p:childTnLst>
                          </p:cTn>
                        </p:par>
                        <p:par>
                          <p:cTn id="68" fill="hold">
                            <p:stCondLst>
                              <p:cond delay="9000"/>
                            </p:stCondLst>
                            <p:childTnLst>
                              <p:par>
                                <p:cTn id="69" presetID="22" presetClass="entr" presetSubtype="4" fill="hold" grpId="0" nodeType="afterEffect">
                                  <p:stCondLst>
                                    <p:cond delay="0"/>
                                  </p:stCondLst>
                                  <p:childTnLst>
                                    <p:set>
                                      <p:cBhvr>
                                        <p:cTn id="70" dur="1" fill="hold">
                                          <p:stCondLst>
                                            <p:cond delay="0"/>
                                          </p:stCondLst>
                                        </p:cTn>
                                        <p:tgtEl>
                                          <p:spTgt spid="42132"/>
                                        </p:tgtEl>
                                        <p:attrNameLst>
                                          <p:attrName>style.visibility</p:attrName>
                                        </p:attrNameLst>
                                      </p:cBhvr>
                                      <p:to>
                                        <p:strVal val="visible"/>
                                      </p:to>
                                    </p:set>
                                    <p:animEffect filter="wipe(down)">
                                      <p:cBhvr>
                                        <p:cTn id="71" dur="500"/>
                                        <p:tgtEl>
                                          <p:spTgt spid="42132"/>
                                        </p:tgtEl>
                                      </p:cBhvr>
                                    </p:animEffect>
                                  </p:childTnLst>
                                </p:cTn>
                              </p:par>
                            </p:childTnLst>
                          </p:cTn>
                        </p:par>
                        <p:par>
                          <p:cTn id="72" fill="hold">
                            <p:stCondLst>
                              <p:cond delay="9500"/>
                            </p:stCondLst>
                            <p:childTnLst>
                              <p:par>
                                <p:cTn id="73" presetID="22" presetClass="entr" presetSubtype="4" fill="hold" grpId="0" nodeType="afterEffect">
                                  <p:stCondLst>
                                    <p:cond delay="0"/>
                                  </p:stCondLst>
                                  <p:childTnLst>
                                    <p:set>
                                      <p:cBhvr>
                                        <p:cTn id="74" dur="1" fill="hold">
                                          <p:stCondLst>
                                            <p:cond delay="0"/>
                                          </p:stCondLst>
                                        </p:cTn>
                                        <p:tgtEl>
                                          <p:spTgt spid="42133"/>
                                        </p:tgtEl>
                                        <p:attrNameLst>
                                          <p:attrName>style.visibility</p:attrName>
                                        </p:attrNameLst>
                                      </p:cBhvr>
                                      <p:to>
                                        <p:strVal val="visible"/>
                                      </p:to>
                                    </p:set>
                                    <p:animEffect filter="wipe(down)">
                                      <p:cBhvr>
                                        <p:cTn id="75" dur="500"/>
                                        <p:tgtEl>
                                          <p:spTgt spid="42133"/>
                                        </p:tgtEl>
                                      </p:cBhvr>
                                    </p:animEffect>
                                  </p:childTnLst>
                                </p:cTn>
                              </p:par>
                            </p:childTnLst>
                          </p:cTn>
                        </p:par>
                        <p:par>
                          <p:cTn id="76" fill="hold">
                            <p:stCondLst>
                              <p:cond delay="10000"/>
                            </p:stCondLst>
                            <p:childTnLst>
                              <p:par>
                                <p:cTn id="77" presetID="22" presetClass="entr" presetSubtype="4" fill="hold" grpId="0" nodeType="afterEffect">
                                  <p:stCondLst>
                                    <p:cond delay="0"/>
                                  </p:stCondLst>
                                  <p:childTnLst>
                                    <p:set>
                                      <p:cBhvr>
                                        <p:cTn id="78" dur="1" fill="hold">
                                          <p:stCondLst>
                                            <p:cond delay="0"/>
                                          </p:stCondLst>
                                        </p:cTn>
                                        <p:tgtEl>
                                          <p:spTgt spid="42134"/>
                                        </p:tgtEl>
                                        <p:attrNameLst>
                                          <p:attrName>style.visibility</p:attrName>
                                        </p:attrNameLst>
                                      </p:cBhvr>
                                      <p:to>
                                        <p:strVal val="visible"/>
                                      </p:to>
                                    </p:set>
                                    <p:animEffect filter="wipe(down)">
                                      <p:cBhvr>
                                        <p:cTn id="79" dur="500"/>
                                        <p:tgtEl>
                                          <p:spTgt spid="42134"/>
                                        </p:tgtEl>
                                      </p:cBhvr>
                                    </p:animEffect>
                                  </p:childTnLst>
                                </p:cTn>
                              </p:par>
                            </p:childTnLst>
                          </p:cTn>
                        </p:par>
                        <p:par>
                          <p:cTn id="80" fill="hold">
                            <p:stCondLst>
                              <p:cond delay="10500"/>
                            </p:stCondLst>
                            <p:childTnLst>
                              <p:par>
                                <p:cTn id="81" presetID="22" presetClass="entr" presetSubtype="4" fill="hold" grpId="0" nodeType="afterEffect">
                                  <p:stCondLst>
                                    <p:cond delay="0"/>
                                  </p:stCondLst>
                                  <p:childTnLst>
                                    <p:set>
                                      <p:cBhvr>
                                        <p:cTn id="82" dur="1" fill="hold">
                                          <p:stCondLst>
                                            <p:cond delay="0"/>
                                          </p:stCondLst>
                                        </p:cTn>
                                        <p:tgtEl>
                                          <p:spTgt spid="42135"/>
                                        </p:tgtEl>
                                        <p:attrNameLst>
                                          <p:attrName>style.visibility</p:attrName>
                                        </p:attrNameLst>
                                      </p:cBhvr>
                                      <p:to>
                                        <p:strVal val="visible"/>
                                      </p:to>
                                    </p:set>
                                    <p:animEffect filter="wipe(down)">
                                      <p:cBhvr>
                                        <p:cTn id="83" dur="500"/>
                                        <p:tgtEl>
                                          <p:spTgt spid="42135"/>
                                        </p:tgtEl>
                                      </p:cBhvr>
                                    </p:animEffect>
                                  </p:childTnLst>
                                </p:cTn>
                              </p:par>
                            </p:childTnLst>
                          </p:cTn>
                        </p:par>
                        <p:par>
                          <p:cTn id="84" fill="hold">
                            <p:stCondLst>
                              <p:cond delay="11000"/>
                            </p:stCondLst>
                            <p:childTnLst>
                              <p:par>
                                <p:cTn id="85" presetID="22" presetClass="entr" presetSubtype="4" fill="hold" grpId="0" nodeType="afterEffect">
                                  <p:stCondLst>
                                    <p:cond delay="0"/>
                                  </p:stCondLst>
                                  <p:childTnLst>
                                    <p:set>
                                      <p:cBhvr>
                                        <p:cTn id="86" dur="1" fill="hold">
                                          <p:stCondLst>
                                            <p:cond delay="0"/>
                                          </p:stCondLst>
                                        </p:cTn>
                                        <p:tgtEl>
                                          <p:spTgt spid="42136"/>
                                        </p:tgtEl>
                                        <p:attrNameLst>
                                          <p:attrName>style.visibility</p:attrName>
                                        </p:attrNameLst>
                                      </p:cBhvr>
                                      <p:to>
                                        <p:strVal val="visible"/>
                                      </p:to>
                                    </p:set>
                                    <p:animEffect filter="wipe(down)">
                                      <p:cBhvr>
                                        <p:cTn id="87" dur="500"/>
                                        <p:tgtEl>
                                          <p:spTgt spid="42136"/>
                                        </p:tgtEl>
                                      </p:cBhvr>
                                    </p:animEffect>
                                  </p:childTnLst>
                                </p:cTn>
                              </p:par>
                            </p:childTnLst>
                          </p:cTn>
                        </p:par>
                        <p:par>
                          <p:cTn id="88" fill="hold">
                            <p:stCondLst>
                              <p:cond delay="11500"/>
                            </p:stCondLst>
                            <p:childTnLst>
                              <p:par>
                                <p:cTn id="89" presetID="22" presetClass="entr" presetSubtype="4" fill="hold" grpId="0" nodeType="afterEffect">
                                  <p:stCondLst>
                                    <p:cond delay="0"/>
                                  </p:stCondLst>
                                  <p:childTnLst>
                                    <p:set>
                                      <p:cBhvr>
                                        <p:cTn id="90" dur="1" fill="hold">
                                          <p:stCondLst>
                                            <p:cond delay="0"/>
                                          </p:stCondLst>
                                        </p:cTn>
                                        <p:tgtEl>
                                          <p:spTgt spid="42127"/>
                                        </p:tgtEl>
                                        <p:attrNameLst>
                                          <p:attrName>style.visibility</p:attrName>
                                        </p:attrNameLst>
                                      </p:cBhvr>
                                      <p:to>
                                        <p:strVal val="visible"/>
                                      </p:to>
                                    </p:set>
                                    <p:animEffect filter="wipe(down)">
                                      <p:cBhvr>
                                        <p:cTn id="91" dur="500"/>
                                        <p:tgtEl>
                                          <p:spTgt spid="42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22" grpId="0" bldLvl="0" animBg="1"/>
      <p:bldP spid="42123" grpId="0" bldLvl="0" animBg="1"/>
      <p:bldP spid="42124" grpId="0" bldLvl="0" animBg="1"/>
      <p:bldP spid="42125" grpId="0" bldLvl="0" animBg="1"/>
      <p:bldP spid="42126" grpId="0" bldLvl="0" animBg="1"/>
      <p:bldP spid="42127" grpId="0" bldLvl="0" animBg="1"/>
      <p:bldP spid="42128" grpId="0" bldLvl="0" animBg="1"/>
      <p:bldP spid="42129" grpId="0" bldLvl="0" animBg="1"/>
      <p:bldP spid="42130" grpId="0" bldLvl="0" animBg="1"/>
      <p:bldP spid="42131" grpId="0" bldLvl="0" animBg="1"/>
      <p:bldP spid="42132" grpId="0" bldLvl="0" animBg="1"/>
      <p:bldP spid="42133" grpId="0" bldLvl="0" animBg="1"/>
      <p:bldP spid="42134" grpId="0" bldLvl="0" animBg="1"/>
      <p:bldP spid="42135" grpId="0" bldLvl="0" animBg="1"/>
      <p:bldP spid="42136" grpId="0" bldLvl="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488271" y="1074338"/>
            <a:ext cx="11256886" cy="4351337"/>
          </a:xfrm>
        </p:spPr>
        <p:txBody>
          <a:bodyPr>
            <a:normAutofit fontScale="85000" lnSpcReduction="20000"/>
          </a:bodyPr>
          <a:lstStyle/>
          <a:p>
            <a:pPr marL="0" indent="0" eaLnBrk="1" hangingPunct="1">
              <a:lnSpc>
                <a:spcPct val="160000"/>
              </a:lnSpc>
              <a:buNone/>
              <a:defRPr/>
            </a:pPr>
            <a:r>
              <a:rPr lang="zh-CN" altLang="en-US" b="1" kern="100" dirty="0">
                <a:solidFill>
                  <a:srgbClr val="014B88"/>
                </a:solidFill>
                <a:cs typeface="Times New Roman" panose="02020603050405020304" pitchFamily="18" charset="0"/>
              </a:rPr>
              <a:t>在</a:t>
            </a:r>
            <a:r>
              <a:rPr lang="en-US" altLang="zh-CN" b="1" kern="100" dirty="0" err="1">
                <a:solidFill>
                  <a:srgbClr val="014B88"/>
                </a:solidFill>
                <a:cs typeface="Times New Roman" panose="02020603050405020304" pitchFamily="18" charset="0"/>
              </a:rPr>
              <a:t>n×n</a:t>
            </a:r>
            <a:r>
              <a:rPr lang="en-US" altLang="zh-CN" b="1" kern="100" dirty="0">
                <a:solidFill>
                  <a:srgbClr val="014B88"/>
                </a:solidFill>
                <a:cs typeface="Times New Roman" panose="02020603050405020304" pitchFamily="18" charset="0"/>
              </a:rPr>
              <a:t> </a:t>
            </a:r>
            <a:r>
              <a:rPr lang="zh-CN" altLang="en-US" b="1" kern="100" dirty="0">
                <a:solidFill>
                  <a:srgbClr val="014B88"/>
                </a:solidFill>
                <a:cs typeface="Times New Roman" panose="02020603050405020304" pitchFamily="18" charset="0"/>
              </a:rPr>
              <a:t>格的棋盘上放置彼此不受攻击的</a:t>
            </a:r>
            <a:r>
              <a:rPr lang="en-US" altLang="zh-CN" b="1" kern="100" dirty="0">
                <a:solidFill>
                  <a:srgbClr val="014B88"/>
                </a:solidFill>
                <a:cs typeface="Times New Roman" panose="02020603050405020304" pitchFamily="18" charset="0"/>
              </a:rPr>
              <a:t>n </a:t>
            </a:r>
            <a:r>
              <a:rPr lang="zh-CN" altLang="en-US" b="1" kern="100" dirty="0">
                <a:solidFill>
                  <a:srgbClr val="014B88"/>
                </a:solidFill>
                <a:cs typeface="Times New Roman" panose="02020603050405020304" pitchFamily="18" charset="0"/>
              </a:rPr>
              <a:t>个皇后。按照国际象棋的规则，皇后可以攻击与之处在同一行或同一列或同一斜线上的棋子。</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后问题等价于在</a:t>
            </a:r>
            <a:r>
              <a:rPr lang="en-US" altLang="zh-CN" b="1" kern="100" dirty="0" err="1">
                <a:solidFill>
                  <a:srgbClr val="014B88"/>
                </a:solidFill>
                <a:cs typeface="Times New Roman" panose="02020603050405020304" pitchFamily="18" charset="0"/>
              </a:rPr>
              <a:t>n×n</a:t>
            </a:r>
            <a:r>
              <a:rPr lang="zh-CN" altLang="en-US" b="1" kern="100" dirty="0">
                <a:solidFill>
                  <a:srgbClr val="014B88"/>
                </a:solidFill>
                <a:cs typeface="Times New Roman" panose="02020603050405020304" pitchFamily="18" charset="0"/>
              </a:rPr>
              <a:t>格的棋盘上放置</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个皇后，任何</a:t>
            </a:r>
            <a:r>
              <a:rPr lang="en-US" altLang="zh-CN" b="1" kern="100" dirty="0">
                <a:solidFill>
                  <a:srgbClr val="014B88"/>
                </a:solidFill>
                <a:cs typeface="Times New Roman" panose="02020603050405020304" pitchFamily="18" charset="0"/>
              </a:rPr>
              <a:t>2 </a:t>
            </a:r>
            <a:r>
              <a:rPr lang="zh-CN" altLang="en-US" b="1" kern="100" dirty="0">
                <a:solidFill>
                  <a:srgbClr val="014B88"/>
                </a:solidFill>
                <a:cs typeface="Times New Roman" panose="02020603050405020304" pitchFamily="18" charset="0"/>
              </a:rPr>
              <a:t>个皇后不放在同一行或同一列或同一斜线上。输入</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，计算出的彼此不受攻击的</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个皇后的一个放置方案输出。第</a:t>
            </a:r>
            <a:r>
              <a:rPr lang="en-US" altLang="zh-CN" b="1" kern="100" dirty="0">
                <a:solidFill>
                  <a:srgbClr val="014B88"/>
                </a:solidFill>
                <a:cs typeface="Times New Roman" panose="02020603050405020304" pitchFamily="18" charset="0"/>
              </a:rPr>
              <a:t>1</a:t>
            </a:r>
            <a:r>
              <a:rPr lang="zh-CN" altLang="en-US" b="1" kern="100" dirty="0">
                <a:solidFill>
                  <a:srgbClr val="014B88"/>
                </a:solidFill>
                <a:cs typeface="Times New Roman" panose="02020603050405020304" pitchFamily="18" charset="0"/>
              </a:rPr>
              <a:t>行是</a:t>
            </a:r>
            <a:r>
              <a:rPr lang="en-US" altLang="zh-CN" b="1" kern="100" dirty="0">
                <a:solidFill>
                  <a:srgbClr val="014B88"/>
                </a:solidFill>
                <a:cs typeface="Times New Roman" panose="02020603050405020304" pitchFamily="18" charset="0"/>
              </a:rPr>
              <a:t>n</a:t>
            </a:r>
            <a:r>
              <a:rPr lang="zh-CN" altLang="en-US" b="1" kern="100" dirty="0">
                <a:solidFill>
                  <a:srgbClr val="014B88"/>
                </a:solidFill>
                <a:cs typeface="Times New Roman" panose="02020603050405020304" pitchFamily="18" charset="0"/>
              </a:rPr>
              <a:t>个皇后的放置方案。</a:t>
            </a:r>
            <a:endParaRPr lang="en-US" altLang="zh-CN" b="1" kern="100" dirty="0">
              <a:solidFill>
                <a:srgbClr val="014B88"/>
              </a:solidFill>
              <a:cs typeface="Times New Roman" panose="02020603050405020304" pitchFamily="18" charset="0"/>
            </a:endParaRPr>
          </a:p>
          <a:p>
            <a:pPr eaLnBrk="1" hangingPunct="1">
              <a:defRPr/>
            </a:pPr>
            <a:endParaRPr lang="zh-CN" altLang="en-US" b="1" kern="100" dirty="0">
              <a:solidFill>
                <a:srgbClr val="014B88"/>
              </a:solidFill>
              <a:cs typeface="Times New Roman" panose="02020603050405020304" pitchFamily="18" charset="0"/>
            </a:endParaRPr>
          </a:p>
          <a:p>
            <a:pPr marL="0" indent="0" eaLnBrk="1" hangingPunct="1">
              <a:lnSpc>
                <a:spcPct val="80000"/>
              </a:lnSpc>
              <a:buNone/>
              <a:defRPr/>
            </a:pPr>
            <a:r>
              <a:rPr lang="en-US" altLang="zh-CN" b="1" kern="100" dirty="0">
                <a:solidFill>
                  <a:srgbClr val="014B88"/>
                </a:solidFill>
                <a:cs typeface="Times New Roman" panose="02020603050405020304" pitchFamily="18" charset="0"/>
              </a:rPr>
              <a:t>Input </a:t>
            </a:r>
            <a:endParaRPr lang="en-US" altLang="zh-CN" b="1" kern="100" dirty="0">
              <a:solidFill>
                <a:srgbClr val="014B88"/>
              </a:solidFill>
              <a:cs typeface="Times New Roman" panose="02020603050405020304" pitchFamily="18" charset="0"/>
            </a:endParaRPr>
          </a:p>
          <a:p>
            <a:pPr marL="0" indent="0">
              <a:lnSpc>
                <a:spcPct val="80000"/>
              </a:lnSpc>
              <a:buNone/>
              <a:defRPr/>
            </a:pPr>
            <a:r>
              <a:rPr lang="en-US" altLang="zh-CN" b="1" kern="100" dirty="0">
                <a:solidFill>
                  <a:srgbClr val="014B88"/>
                </a:solidFill>
                <a:cs typeface="Times New Roman" panose="02020603050405020304" pitchFamily="18" charset="0"/>
              </a:rPr>
              <a:t>     5 </a:t>
            </a:r>
            <a:endParaRPr lang="en-US" altLang="zh-CN" b="1" kern="100" dirty="0">
              <a:solidFill>
                <a:srgbClr val="014B88"/>
              </a:solidFill>
              <a:cs typeface="Times New Roman" panose="02020603050405020304" pitchFamily="18" charset="0"/>
            </a:endParaRPr>
          </a:p>
          <a:p>
            <a:pPr marL="0" indent="0">
              <a:lnSpc>
                <a:spcPct val="80000"/>
              </a:lnSpc>
              <a:buNone/>
              <a:defRPr/>
            </a:pPr>
            <a:endParaRPr lang="en-US" altLang="zh-CN" b="1" kern="100" dirty="0">
              <a:solidFill>
                <a:srgbClr val="014B88"/>
              </a:solidFill>
              <a:cs typeface="Times New Roman" panose="02020603050405020304" pitchFamily="18" charset="0"/>
            </a:endParaRPr>
          </a:p>
          <a:p>
            <a:pPr marL="0" indent="0" eaLnBrk="1" hangingPunct="1">
              <a:lnSpc>
                <a:spcPct val="80000"/>
              </a:lnSpc>
              <a:buNone/>
              <a:defRPr/>
            </a:pPr>
            <a:r>
              <a:rPr lang="en-US" altLang="zh-CN" b="1" kern="100" dirty="0">
                <a:solidFill>
                  <a:srgbClr val="014B88"/>
                </a:solidFill>
                <a:cs typeface="Times New Roman" panose="02020603050405020304" pitchFamily="18" charset="0"/>
              </a:rPr>
              <a:t>Output </a:t>
            </a:r>
            <a:endParaRPr lang="en-US" altLang="zh-CN" b="1" kern="100" dirty="0">
              <a:solidFill>
                <a:srgbClr val="014B88"/>
              </a:solidFill>
              <a:cs typeface="Times New Roman" panose="02020603050405020304" pitchFamily="18" charset="0"/>
            </a:endParaRPr>
          </a:p>
          <a:p>
            <a:pPr marL="0" indent="0">
              <a:lnSpc>
                <a:spcPct val="80000"/>
              </a:lnSpc>
              <a:buNone/>
              <a:defRPr/>
            </a:pPr>
            <a:r>
              <a:rPr lang="en-US" altLang="zh-CN" b="1" kern="100" dirty="0">
                <a:solidFill>
                  <a:srgbClr val="014B88"/>
                </a:solidFill>
                <a:cs typeface="Times New Roman" panose="02020603050405020304" pitchFamily="18" charset="0"/>
              </a:rPr>
              <a:t>     1 3 5 2 4 </a:t>
            </a:r>
            <a:endParaRPr lang="en-US" altLang="zh-CN" b="1" kern="100" dirty="0">
              <a:solidFill>
                <a:srgbClr val="014B88"/>
              </a:solidFill>
              <a:cs typeface="Times New Roman" panose="02020603050405020304" pitchFamily="18" charset="0"/>
            </a:endParaRPr>
          </a:p>
          <a:p>
            <a:pPr eaLnBrk="1" hangingPunct="1">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矩形: 圆角 1"/>
          <p:cNvSpPr/>
          <p:nvPr/>
        </p:nvSpPr>
        <p:spPr>
          <a:xfrm>
            <a:off x="6177040" y="-4523"/>
            <a:ext cx="6022020" cy="6858000"/>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7107" name="Rectangle 3"/>
          <p:cNvSpPr>
            <a:spLocks noGrp="1" noChangeArrowheads="1"/>
          </p:cNvSpPr>
          <p:nvPr>
            <p:ph type="body" idx="4294967295"/>
          </p:nvPr>
        </p:nvSpPr>
        <p:spPr>
          <a:xfrm>
            <a:off x="756404" y="1775618"/>
            <a:ext cx="3373515" cy="4525963"/>
          </a:xfrm>
        </p:spPr>
        <p:txBody>
          <a:bodyPr/>
          <a:lstStyle/>
          <a:p>
            <a:pPr eaLnBrk="1" hangingPunct="1"/>
            <a:r>
              <a:rPr lang="en-US" altLang="zh-CN" sz="2400" b="1" kern="100" dirty="0">
                <a:solidFill>
                  <a:srgbClr val="014B88"/>
                </a:solidFill>
                <a:cs typeface="Times New Roman" panose="02020603050405020304" pitchFamily="18" charset="0"/>
              </a:rPr>
              <a:t>Sample Input </a:t>
            </a:r>
            <a:endParaRPr lang="en-US" altLang="zh-CN" sz="2400" b="1" kern="100" dirty="0">
              <a:solidFill>
                <a:srgbClr val="014B88"/>
              </a:solidFill>
              <a:cs typeface="Times New Roman" panose="02020603050405020304" pitchFamily="18" charset="0"/>
            </a:endParaRPr>
          </a:p>
          <a:p>
            <a:pPr eaLnBrk="1" hangingPunct="1"/>
            <a:r>
              <a:rPr lang="en-US" altLang="zh-CN" sz="2400" b="1" kern="100" dirty="0">
                <a:solidFill>
                  <a:srgbClr val="014B88"/>
                </a:solidFill>
                <a:cs typeface="Times New Roman" panose="02020603050405020304" pitchFamily="18" charset="0"/>
              </a:rPr>
              <a:t>4 </a:t>
            </a:r>
            <a:endParaRPr lang="en-US" altLang="zh-CN" sz="2400" b="1" kern="100" dirty="0">
              <a:solidFill>
                <a:srgbClr val="014B88"/>
              </a:solidFill>
              <a:cs typeface="Times New Roman" panose="02020603050405020304" pitchFamily="18" charset="0"/>
            </a:endParaRPr>
          </a:p>
          <a:p>
            <a:pPr eaLnBrk="1" hangingPunct="1"/>
            <a:r>
              <a:rPr lang="en-US" altLang="zh-CN" sz="2400" b="1" kern="100" dirty="0">
                <a:solidFill>
                  <a:srgbClr val="014B88"/>
                </a:solidFill>
                <a:cs typeface="Times New Roman" panose="02020603050405020304" pitchFamily="18" charset="0"/>
              </a:rPr>
              <a:t>Sample Output </a:t>
            </a:r>
            <a:endParaRPr lang="en-US" altLang="zh-CN" sz="2400" b="1" kern="100" dirty="0">
              <a:solidFill>
                <a:srgbClr val="014B88"/>
              </a:solidFill>
              <a:cs typeface="Times New Roman" panose="02020603050405020304" pitchFamily="18" charset="0"/>
            </a:endParaRPr>
          </a:p>
          <a:p>
            <a:pPr eaLnBrk="1" hangingPunct="1"/>
            <a:r>
              <a:rPr lang="en-US" altLang="zh-CN" sz="2400" b="1" kern="100" dirty="0">
                <a:solidFill>
                  <a:srgbClr val="014B88"/>
                </a:solidFill>
                <a:cs typeface="Times New Roman" panose="02020603050405020304" pitchFamily="18" charset="0"/>
              </a:rPr>
              <a:t>2 4 1 3</a:t>
            </a:r>
            <a:endParaRPr lang="en-US" altLang="zh-CN" sz="2400" b="1" kern="100" dirty="0">
              <a:solidFill>
                <a:srgbClr val="014B88"/>
              </a:solidFill>
              <a:cs typeface="Times New Roman" panose="02020603050405020304" pitchFamily="18" charset="0"/>
            </a:endParaRPr>
          </a:p>
          <a:p>
            <a:pPr eaLnBrk="1" hangingPunct="1"/>
            <a:endParaRPr lang="en-US" altLang="zh-CN" dirty="0"/>
          </a:p>
        </p:txBody>
      </p:sp>
      <p:graphicFrame>
        <p:nvGraphicFramePr>
          <p:cNvPr id="47108" name="Object 4"/>
          <p:cNvGraphicFramePr>
            <a:graphicFrameLocks noChangeAspect="1"/>
          </p:cNvGraphicFramePr>
          <p:nvPr/>
        </p:nvGraphicFramePr>
        <p:xfrm>
          <a:off x="7207928" y="1889380"/>
          <a:ext cx="3881438" cy="3352800"/>
        </p:xfrm>
        <a:graphic>
          <a:graphicData uri="http://schemas.openxmlformats.org/presentationml/2006/ole">
            <mc:AlternateContent xmlns:mc="http://schemas.openxmlformats.org/markup-compatibility/2006">
              <mc:Choice xmlns:v="urn:schemas-microsoft-com:vml" Requires="v">
                <p:oleObj spid="_x0000_s1040" name="Document" r:id="rId1" imgW="6941820" imgH="4222750" progId="Word.Document.8">
                  <p:embed/>
                </p:oleObj>
              </mc:Choice>
              <mc:Fallback>
                <p:oleObj name="Document" r:id="rId1" imgW="6941820" imgH="4222750" progId="Word.Document.8">
                  <p:embed/>
                  <p:pic>
                    <p:nvPicPr>
                      <p:cNvPr id="0" name="Object 4"/>
                      <p:cNvPicPr>
                        <a:picLocks noChangeAspect="1" noChangeArrowheads="1"/>
                      </p:cNvPicPr>
                      <p:nvPr/>
                    </p:nvPicPr>
                    <p:blipFill>
                      <a:blip r:embed="rId2"/>
                      <a:srcRect/>
                      <a:stretch>
                        <a:fillRect/>
                      </a:stretch>
                    </p:blipFill>
                    <p:spPr bwMode="auto">
                      <a:xfrm>
                        <a:off x="7207928" y="1889380"/>
                        <a:ext cx="3881438" cy="3352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圆角 5"/>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560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2064"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60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dirty="0">
                <a:latin typeface="Times New Roman" panose="02020603050405020304" pitchFamily="18" charset="0"/>
              </a:rPr>
              <a:t>( )</a:t>
            </a:r>
            <a:endParaRPr kumimoji="1" lang="en-US" altLang="zh-CN" sz="2400" dirty="0">
              <a:latin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圆角 8"/>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662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3088"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662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26628"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6629"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a:t>
            </a:r>
            <a:endParaRPr kumimoji="1" lang="en-US" altLang="zh-CN" sz="2400">
              <a:latin typeface="Times New Roman" panose="02020603050405020304" pitchFamily="18" charset="0"/>
            </a:endParaRPr>
          </a:p>
        </p:txBody>
      </p:sp>
      <p:sp>
        <p:nvSpPr>
          <p:cNvPr id="26630" name="Line 6"/>
          <p:cNvSpPr>
            <a:spLocks noChangeShapeType="1"/>
          </p:cNvSpPr>
          <p:nvPr/>
        </p:nvSpPr>
        <p:spPr bwMode="auto">
          <a:xfrm flipH="1">
            <a:off x="2362200" y="1295400"/>
            <a:ext cx="685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765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4112"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65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27652"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7653" name="Text Box 5"/>
          <p:cNvSpPr txBox="1">
            <a:spLocks noChangeArrowheads="1"/>
          </p:cNvSpPr>
          <p:nvPr/>
        </p:nvSpPr>
        <p:spPr bwMode="auto">
          <a:xfrm>
            <a:off x="78486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7654"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27655"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656"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(2,3))</a:t>
            </a:r>
            <a:endParaRPr kumimoji="1" lang="en-US" altLang="zh-CN" sz="2400">
              <a:latin typeface="Times New Roman" panose="02020603050405020304" pitchFamily="18" charset="0"/>
            </a:endParaRPr>
          </a:p>
        </p:txBody>
      </p:sp>
      <p:sp>
        <p:nvSpPr>
          <p:cNvPr id="27657"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11"/>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8674"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5136"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8675"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28676"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8677"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28678" name="Line 6"/>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79" name="Text Box 7"/>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28680" name="Line 8"/>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81" name="Line 9"/>
          <p:cNvSpPr>
            <a:spLocks noChangeShapeType="1"/>
          </p:cNvSpPr>
          <p:nvPr/>
        </p:nvSpPr>
        <p:spPr bwMode="auto">
          <a:xfrm flipV="1">
            <a:off x="2362200" y="2209800"/>
            <a:ext cx="0" cy="685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圆角 14"/>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29698"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6160"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699"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29700"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9701"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29702"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29703"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4"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29705"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6"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707"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(2,4))</a:t>
            </a:r>
            <a:endParaRPr kumimoji="1" lang="en-US" altLang="zh-CN" sz="2400">
              <a:latin typeface="Times New Roman" panose="02020603050405020304" pitchFamily="18" charset="0"/>
            </a:endParaRPr>
          </a:p>
        </p:txBody>
      </p:sp>
      <p:sp>
        <p:nvSpPr>
          <p:cNvPr id="29708"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圆角 1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072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7184"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72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0724"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25"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26"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0727"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28"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0729"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0"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1"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0732"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733" name="Text Box 13"/>
          <p:cNvSpPr txBox="1">
            <a:spLocks noChangeArrowheads="1"/>
          </p:cNvSpPr>
          <p:nvPr/>
        </p:nvSpPr>
        <p:spPr bwMode="auto">
          <a:xfrm>
            <a:off x="72390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0734" name="Text Box 14"/>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0735" name="Line 15"/>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圆角 17"/>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174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8208"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74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1748"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1749" name="Text Box 5"/>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1750" name="Text Box 6"/>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1751" name="Line 7"/>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2" name="Text Box 8"/>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1753" name="Line 9"/>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4" name="Line 10"/>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5" name="Text Box 11"/>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1756" name="Line 12"/>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7" name="Text Box 13"/>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1758" name="Line 14"/>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759" name="Line 15"/>
          <p:cNvSpPr>
            <a:spLocks noChangeShapeType="1"/>
          </p:cNvSpPr>
          <p:nvPr/>
        </p:nvSpPr>
        <p:spPr bwMode="auto">
          <a:xfrm flipV="1">
            <a:off x="3276600" y="3657600"/>
            <a:ext cx="990600" cy="5334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矩形: 圆角 1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277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9232"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2772" name="Text Box 4"/>
          <p:cNvSpPr txBox="1">
            <a:spLocks noChangeArrowheads="1"/>
          </p:cNvSpPr>
          <p:nvPr/>
        </p:nvSpPr>
        <p:spPr bwMode="auto">
          <a:xfrm>
            <a:off x="66294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2773" name="Text Box 5"/>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2774" name="Line 6"/>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5" name="Text Box 7"/>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2776" name="Line 8"/>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7" name="Line 9"/>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78" name="Text Box 10"/>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2779" name="Line 11"/>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0" name="Text Box 12"/>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2781" name="Line 13"/>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2" name="Line 14"/>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783" name="Line 15"/>
          <p:cNvSpPr>
            <a:spLocks noChangeShapeType="1"/>
          </p:cNvSpPr>
          <p:nvPr/>
        </p:nvSpPr>
        <p:spPr bwMode="auto">
          <a:xfrm flipH="1" flipV="1">
            <a:off x="2819400" y="2133600"/>
            <a:ext cx="1219200" cy="685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圆角 17"/>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3794"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0256"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795"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3796"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3797"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798"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3799"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0"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1"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3802"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3"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3804"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5"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6"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3807" name="Line 15"/>
          <p:cNvSpPr>
            <a:spLocks noChangeShapeType="1"/>
          </p:cNvSpPr>
          <p:nvPr/>
        </p:nvSpPr>
        <p:spPr bwMode="auto">
          <a:xfrm flipV="1">
            <a:off x="2667000" y="1447800"/>
            <a:ext cx="457200" cy="304800"/>
          </a:xfrm>
          <a:prstGeom prst="line">
            <a:avLst/>
          </a:prstGeom>
          <a:noFill/>
          <a:ln w="9525">
            <a:solidFill>
              <a:schemeClr val="tx2"/>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圆角 20"/>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4818"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1280"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4819"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4820"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4821"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2"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4823"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4"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5"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4826"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7"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4828"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29"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0"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1"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4832"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4833"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a:t>
            </a:r>
            <a:endParaRPr kumimoji="1" lang="en-US" altLang="zh-CN" sz="2400">
              <a:latin typeface="Times New Roman" panose="02020603050405020304" pitchFamily="18" charset="0"/>
            </a:endParaRPr>
          </a:p>
        </p:txBody>
      </p:sp>
      <p:sp>
        <p:nvSpPr>
          <p:cNvPr id="34834"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矩形: 圆角 22"/>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5842"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2304"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843"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5844"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5845"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6"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5847"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8"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49"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5850"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1"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5852"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3"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4"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5"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6"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5857"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endParaRPr kumimoji="1" lang="en-US" altLang="zh-CN" sz="2400">
              <a:latin typeface="Times New Roman" panose="02020603050405020304" pitchFamily="18" charset="0"/>
            </a:endParaRPr>
          </a:p>
        </p:txBody>
      </p:sp>
      <p:sp>
        <p:nvSpPr>
          <p:cNvPr id="35858"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859"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5860"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a:t>
            </a:r>
            <a:endParaRPr kumimoji="1" lang="en-US" altLang="zh-CN" sz="2400">
              <a:latin typeface="Times New Roman" panose="02020603050405020304" pitchFamily="18" charset="0"/>
            </a:endParaRPr>
          </a:p>
        </p:txBody>
      </p:sp>
      <p:sp>
        <p:nvSpPr>
          <p:cNvPr id="35861"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圆角 26"/>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6866"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3328"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6867"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6868"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6869"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0"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6871"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2"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3"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6874"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5"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6876"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7"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8"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79"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0"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1"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endParaRPr kumimoji="1" lang="en-US" altLang="zh-CN" sz="2400">
              <a:latin typeface="Times New Roman" panose="02020603050405020304" pitchFamily="18" charset="0"/>
            </a:endParaRPr>
          </a:p>
        </p:txBody>
      </p:sp>
      <p:sp>
        <p:nvSpPr>
          <p:cNvPr id="36882"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3"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4"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a:t>
            </a:r>
            <a:endParaRPr kumimoji="1" lang="en-US" altLang="zh-CN" sz="2400">
              <a:latin typeface="Times New Roman" panose="02020603050405020304" pitchFamily="18" charset="0"/>
            </a:endParaRPr>
          </a:p>
        </p:txBody>
      </p:sp>
      <p:sp>
        <p:nvSpPr>
          <p:cNvPr id="36885"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886" name="Text Box 22"/>
          <p:cNvSpPr txBox="1">
            <a:spLocks noChangeArrowheads="1"/>
          </p:cNvSpPr>
          <p:nvPr/>
        </p:nvSpPr>
        <p:spPr bwMode="auto">
          <a:xfrm>
            <a:off x="66294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6887" name="Text Box 23"/>
          <p:cNvSpPr txBox="1">
            <a:spLocks noChangeArrowheads="1"/>
          </p:cNvSpPr>
          <p:nvPr/>
        </p:nvSpPr>
        <p:spPr bwMode="auto">
          <a:xfrm>
            <a:off x="5308600" y="42672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 (3,1))</a:t>
            </a:r>
            <a:endParaRPr kumimoji="1" lang="en-US" altLang="zh-CN" sz="2400">
              <a:latin typeface="Times New Roman" panose="02020603050405020304" pitchFamily="18" charset="0"/>
            </a:endParaRPr>
          </a:p>
        </p:txBody>
      </p:sp>
      <p:sp>
        <p:nvSpPr>
          <p:cNvPr id="36888" name="Line 24"/>
          <p:cNvSpPr>
            <a:spLocks noChangeShapeType="1"/>
          </p:cNvSpPr>
          <p:nvPr/>
        </p:nvSpPr>
        <p:spPr bwMode="auto">
          <a:xfrm>
            <a:off x="6477000" y="3733800"/>
            <a:ext cx="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矩形: 圆角 28"/>
          <p:cNvSpPr/>
          <p:nvPr/>
        </p:nvSpPr>
        <p:spPr>
          <a:xfrm>
            <a:off x="6177040" y="-4523"/>
            <a:ext cx="3195560" cy="2747723"/>
          </a:xfrm>
          <a:prstGeom prst="roundRect">
            <a:avLst>
              <a:gd name="adj" fmla="val 0"/>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aphicFrame>
        <p:nvGraphicFramePr>
          <p:cNvPr id="37890" name="Object 2"/>
          <p:cNvGraphicFramePr>
            <a:graphicFrameLocks noChangeAspect="1"/>
          </p:cNvGraphicFramePr>
          <p:nvPr/>
        </p:nvGraphicFramePr>
        <p:xfrm>
          <a:off x="6480176" y="300038"/>
          <a:ext cx="2874963" cy="2595562"/>
        </p:xfrm>
        <a:graphic>
          <a:graphicData uri="http://schemas.openxmlformats.org/presentationml/2006/ole">
            <mc:AlternateContent xmlns:mc="http://schemas.openxmlformats.org/markup-compatibility/2006">
              <mc:Choice xmlns:v="urn:schemas-microsoft-com:vml" Requires="v">
                <p:oleObj spid="_x0000_s14352" name="文档" r:id="rId1" imgW="7092950" imgH="4625340" progId="Word.Document.8">
                  <p:embed/>
                </p:oleObj>
              </mc:Choice>
              <mc:Fallback>
                <p:oleObj name="文档" r:id="rId1" imgW="7092950" imgH="4625340" progId="Word.Document.8">
                  <p:embed/>
                  <p:pic>
                    <p:nvPicPr>
                      <p:cNvPr id="0" name="Object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80176" y="300038"/>
                        <a:ext cx="2874963" cy="2595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7891" name="Text Box 3"/>
          <p:cNvSpPr txBox="1">
            <a:spLocks noChangeArrowheads="1"/>
          </p:cNvSpPr>
          <p:nvPr/>
        </p:nvSpPr>
        <p:spPr bwMode="auto">
          <a:xfrm>
            <a:off x="3006725" y="876300"/>
            <a:ext cx="463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 )</a:t>
            </a:r>
            <a:endParaRPr kumimoji="1" lang="en-US" altLang="zh-CN" sz="2400">
              <a:latin typeface="Times New Roman" panose="02020603050405020304" pitchFamily="18" charset="0"/>
            </a:endParaRPr>
          </a:p>
        </p:txBody>
      </p:sp>
      <p:sp>
        <p:nvSpPr>
          <p:cNvPr id="37892" name="Text Box 4"/>
          <p:cNvSpPr txBox="1">
            <a:spLocks noChangeArrowheads="1"/>
          </p:cNvSpPr>
          <p:nvPr/>
        </p:nvSpPr>
        <p:spPr bwMode="auto">
          <a:xfrm>
            <a:off x="1739900" y="17526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a:t>
            </a:r>
            <a:endParaRPr kumimoji="1" lang="en-US" altLang="zh-CN" sz="2400">
              <a:latin typeface="Times New Roman" panose="02020603050405020304" pitchFamily="18" charset="0"/>
            </a:endParaRPr>
          </a:p>
        </p:txBody>
      </p:sp>
      <p:sp>
        <p:nvSpPr>
          <p:cNvPr id="37893" name="Line 5"/>
          <p:cNvSpPr>
            <a:spLocks noChangeShapeType="1"/>
          </p:cNvSpPr>
          <p:nvPr/>
        </p:nvSpPr>
        <p:spPr bwMode="auto">
          <a:xfrm flipH="1">
            <a:off x="2286000" y="1295400"/>
            <a:ext cx="7620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4" name="Text Box 6"/>
          <p:cNvSpPr txBox="1">
            <a:spLocks noChangeArrowheads="1"/>
          </p:cNvSpPr>
          <p:nvPr/>
        </p:nvSpPr>
        <p:spPr bwMode="auto">
          <a:xfrm>
            <a:off x="1524000" y="29718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(2,3))</a:t>
            </a:r>
            <a:endParaRPr kumimoji="1" lang="en-US" altLang="zh-CN" sz="2400">
              <a:latin typeface="Times New Roman" panose="02020603050405020304" pitchFamily="18" charset="0"/>
            </a:endParaRPr>
          </a:p>
        </p:txBody>
      </p:sp>
      <p:sp>
        <p:nvSpPr>
          <p:cNvPr id="37895" name="Line 7"/>
          <p:cNvSpPr>
            <a:spLocks noChangeShapeType="1"/>
          </p:cNvSpPr>
          <p:nvPr/>
        </p:nvSpPr>
        <p:spPr bwMode="auto">
          <a:xfrm>
            <a:off x="2133600" y="2286000"/>
            <a:ext cx="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6" name="Line 8"/>
          <p:cNvSpPr>
            <a:spLocks noChangeShapeType="1"/>
          </p:cNvSpPr>
          <p:nvPr/>
        </p:nvSpPr>
        <p:spPr bwMode="auto">
          <a:xfrm flipV="1">
            <a:off x="2362200" y="2209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7" name="Text Box 9"/>
          <p:cNvSpPr txBox="1">
            <a:spLocks noChangeArrowheads="1"/>
          </p:cNvSpPr>
          <p:nvPr/>
        </p:nvSpPr>
        <p:spPr bwMode="auto">
          <a:xfrm>
            <a:off x="3505200" y="30480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a:t>
            </a:r>
            <a:endParaRPr kumimoji="1" lang="en-US" altLang="zh-CN" sz="2400">
              <a:latin typeface="Times New Roman" panose="02020603050405020304" pitchFamily="18" charset="0"/>
            </a:endParaRPr>
          </a:p>
        </p:txBody>
      </p:sp>
      <p:sp>
        <p:nvSpPr>
          <p:cNvPr id="37898" name="Line 10"/>
          <p:cNvSpPr>
            <a:spLocks noChangeShapeType="1"/>
          </p:cNvSpPr>
          <p:nvPr/>
        </p:nvSpPr>
        <p:spPr bwMode="auto">
          <a:xfrm>
            <a:off x="2590800" y="2209800"/>
            <a:ext cx="12954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9" name="Text Box 11"/>
          <p:cNvSpPr txBox="1">
            <a:spLocks noChangeArrowheads="1"/>
          </p:cNvSpPr>
          <p:nvPr/>
        </p:nvSpPr>
        <p:spPr bwMode="auto">
          <a:xfrm>
            <a:off x="1600200" y="41910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((1,1) (2,4) (3.2))</a:t>
            </a:r>
            <a:endParaRPr kumimoji="1" lang="en-US" altLang="zh-CN" sz="2400">
              <a:latin typeface="Times New Roman" panose="02020603050405020304" pitchFamily="18" charset="0"/>
            </a:endParaRPr>
          </a:p>
        </p:txBody>
      </p:sp>
      <p:sp>
        <p:nvSpPr>
          <p:cNvPr id="37900" name="Line 12"/>
          <p:cNvSpPr>
            <a:spLocks noChangeShapeType="1"/>
          </p:cNvSpPr>
          <p:nvPr/>
        </p:nvSpPr>
        <p:spPr bwMode="auto">
          <a:xfrm flipH="1">
            <a:off x="2667000" y="3581400"/>
            <a:ext cx="1295400" cy="6096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1" name="Line 13"/>
          <p:cNvSpPr>
            <a:spLocks noChangeShapeType="1"/>
          </p:cNvSpPr>
          <p:nvPr/>
        </p:nvSpPr>
        <p:spPr bwMode="auto">
          <a:xfrm flipV="1">
            <a:off x="3276600" y="3657600"/>
            <a:ext cx="99060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2" name="Line 14"/>
          <p:cNvSpPr>
            <a:spLocks noChangeShapeType="1"/>
          </p:cNvSpPr>
          <p:nvPr/>
        </p:nvSpPr>
        <p:spPr bwMode="auto">
          <a:xfrm flipH="1" flipV="1">
            <a:off x="2819400" y="2133600"/>
            <a:ext cx="121920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3" name="Line 15"/>
          <p:cNvSpPr>
            <a:spLocks noChangeShapeType="1"/>
          </p:cNvSpPr>
          <p:nvPr/>
        </p:nvSpPr>
        <p:spPr bwMode="auto">
          <a:xfrm flipV="1">
            <a:off x="2667000" y="1447800"/>
            <a:ext cx="457200" cy="304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4" name="Text Box 16"/>
          <p:cNvSpPr txBox="1">
            <a:spLocks noChangeArrowheads="1"/>
          </p:cNvSpPr>
          <p:nvPr/>
        </p:nvSpPr>
        <p:spPr bwMode="auto">
          <a:xfrm>
            <a:off x="7239000" y="3048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05" name="Text Box 17"/>
          <p:cNvSpPr txBox="1">
            <a:spLocks noChangeArrowheads="1"/>
          </p:cNvSpPr>
          <p:nvPr/>
        </p:nvSpPr>
        <p:spPr bwMode="auto">
          <a:xfrm>
            <a:off x="4800600" y="1828800"/>
            <a:ext cx="9715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a:t>
            </a:r>
            <a:endParaRPr kumimoji="1" lang="en-US" altLang="zh-CN" sz="2400">
              <a:latin typeface="Times New Roman" panose="02020603050405020304" pitchFamily="18" charset="0"/>
            </a:endParaRPr>
          </a:p>
        </p:txBody>
      </p:sp>
      <p:sp>
        <p:nvSpPr>
          <p:cNvPr id="37906" name="Line 18"/>
          <p:cNvSpPr>
            <a:spLocks noChangeShapeType="1"/>
          </p:cNvSpPr>
          <p:nvPr/>
        </p:nvSpPr>
        <p:spPr bwMode="auto">
          <a:xfrm>
            <a:off x="3505200" y="1371600"/>
            <a:ext cx="1447800" cy="457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07" name="Text Box 19"/>
          <p:cNvSpPr txBox="1">
            <a:spLocks noChangeArrowheads="1"/>
          </p:cNvSpPr>
          <p:nvPr/>
        </p:nvSpPr>
        <p:spPr bwMode="auto">
          <a:xfrm>
            <a:off x="8458200" y="8382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08" name="Text Box 20"/>
          <p:cNvSpPr txBox="1">
            <a:spLocks noChangeArrowheads="1"/>
          </p:cNvSpPr>
          <p:nvPr/>
        </p:nvSpPr>
        <p:spPr bwMode="auto">
          <a:xfrm>
            <a:off x="5638800" y="3200400"/>
            <a:ext cx="1631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a:t>
            </a:r>
            <a:endParaRPr kumimoji="1" lang="en-US" altLang="zh-CN" sz="2400">
              <a:latin typeface="Times New Roman" panose="02020603050405020304" pitchFamily="18" charset="0"/>
            </a:endParaRPr>
          </a:p>
        </p:txBody>
      </p:sp>
      <p:sp>
        <p:nvSpPr>
          <p:cNvPr id="37909" name="Line 21"/>
          <p:cNvSpPr>
            <a:spLocks noChangeShapeType="1"/>
          </p:cNvSpPr>
          <p:nvPr/>
        </p:nvSpPr>
        <p:spPr bwMode="auto">
          <a:xfrm>
            <a:off x="5486400" y="2362200"/>
            <a:ext cx="990600" cy="8382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0" name="Text Box 22"/>
          <p:cNvSpPr txBox="1">
            <a:spLocks noChangeArrowheads="1"/>
          </p:cNvSpPr>
          <p:nvPr/>
        </p:nvSpPr>
        <p:spPr bwMode="auto">
          <a:xfrm>
            <a:off x="6629400" y="13716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11" name="Text Box 23"/>
          <p:cNvSpPr txBox="1">
            <a:spLocks noChangeArrowheads="1"/>
          </p:cNvSpPr>
          <p:nvPr/>
        </p:nvSpPr>
        <p:spPr bwMode="auto">
          <a:xfrm>
            <a:off x="5308600" y="4267200"/>
            <a:ext cx="22923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latin typeface="Times New Roman" panose="02020603050405020304" pitchFamily="18" charset="0"/>
              </a:rPr>
              <a:t>((1,2) (2,4) (3,1))</a:t>
            </a:r>
            <a:endParaRPr kumimoji="1" lang="en-US" altLang="zh-CN" sz="2400">
              <a:latin typeface="Times New Roman" panose="02020603050405020304" pitchFamily="18" charset="0"/>
            </a:endParaRPr>
          </a:p>
        </p:txBody>
      </p:sp>
      <p:sp>
        <p:nvSpPr>
          <p:cNvPr id="37912" name="Line 24"/>
          <p:cNvSpPr>
            <a:spLocks noChangeShapeType="1"/>
          </p:cNvSpPr>
          <p:nvPr/>
        </p:nvSpPr>
        <p:spPr bwMode="auto">
          <a:xfrm>
            <a:off x="6477000" y="3733800"/>
            <a:ext cx="0" cy="5334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913" name="Text Box 25"/>
          <p:cNvSpPr txBox="1">
            <a:spLocks noChangeArrowheads="1"/>
          </p:cNvSpPr>
          <p:nvPr/>
        </p:nvSpPr>
        <p:spPr bwMode="auto">
          <a:xfrm>
            <a:off x="7848600" y="1905000"/>
            <a:ext cx="4381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rgbClr val="FF0000"/>
                </a:solidFill>
                <a:latin typeface="Arial Black" panose="020B0A04020102020204" pitchFamily="34" charset="0"/>
              </a:rPr>
              <a:t>Q</a:t>
            </a:r>
            <a:endParaRPr kumimoji="1" lang="en-US" altLang="zh-CN" sz="2400">
              <a:latin typeface="Times New Roman" panose="02020603050405020304" pitchFamily="18" charset="0"/>
            </a:endParaRPr>
          </a:p>
        </p:txBody>
      </p:sp>
      <p:sp>
        <p:nvSpPr>
          <p:cNvPr id="37914" name="Text Box 26"/>
          <p:cNvSpPr txBox="1">
            <a:spLocks noChangeArrowheads="1"/>
          </p:cNvSpPr>
          <p:nvPr/>
        </p:nvSpPr>
        <p:spPr bwMode="auto">
          <a:xfrm>
            <a:off x="5003800" y="5486400"/>
            <a:ext cx="29527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spcBef>
                <a:spcPct val="50000"/>
              </a:spcBef>
            </a:pPr>
            <a:r>
              <a:rPr kumimoji="1" lang="en-US" altLang="zh-CN" sz="2400">
                <a:solidFill>
                  <a:schemeClr val="tx2"/>
                </a:solidFill>
                <a:latin typeface="Times New Roman" panose="02020603050405020304" pitchFamily="18" charset="0"/>
              </a:rPr>
              <a:t>((1,2) (2,4) (3,1) (4,3))</a:t>
            </a:r>
            <a:endParaRPr kumimoji="1" lang="en-US" altLang="zh-CN" sz="2400">
              <a:latin typeface="Times New Roman" panose="02020603050405020304" pitchFamily="18" charset="0"/>
            </a:endParaRPr>
          </a:p>
        </p:txBody>
      </p:sp>
      <p:sp>
        <p:nvSpPr>
          <p:cNvPr id="37915" name="Line 27"/>
          <p:cNvSpPr>
            <a:spLocks noChangeShapeType="1"/>
          </p:cNvSpPr>
          <p:nvPr/>
        </p:nvSpPr>
        <p:spPr bwMode="auto">
          <a:xfrm>
            <a:off x="6477000" y="4876800"/>
            <a:ext cx="0" cy="685800"/>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N</a:t>
            </a:r>
            <a:r>
              <a:rPr lang="zh-CN" altLang="en-US" sz="3200" b="1" dirty="0">
                <a:solidFill>
                  <a:srgbClr val="C00000"/>
                </a:solidFill>
                <a:latin typeface="微软雅黑" panose="020B0503020204020204" pitchFamily="34" charset="-122"/>
                <a:ea typeface="微软雅黑" panose="020B0503020204020204" pitchFamily="34" charset="-122"/>
              </a:rPr>
              <a:t>皇后问题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754602" y="1162235"/>
            <a:ext cx="10582182" cy="4267200"/>
          </a:xfrm>
        </p:spPr>
        <p:txBody>
          <a:bodyPr/>
          <a:lstStyle/>
          <a:p>
            <a:pPr marL="0" indent="0">
              <a:lnSpc>
                <a:spcPct val="150000"/>
              </a:lnSpc>
              <a:buNone/>
            </a:pPr>
            <a:r>
              <a:rPr lang="zh-CN" altLang="en-US" sz="2400" b="1" kern="100" noProof="1">
                <a:solidFill>
                  <a:srgbClr val="014B88"/>
                </a:solidFill>
                <a:latin typeface="仿宋_GB2312"/>
                <a:cs typeface="Times New Roman" panose="02020603050405020304" pitchFamily="18" charset="0"/>
              </a:rPr>
              <a:t>输入一个</a:t>
            </a:r>
            <a:r>
              <a:rPr lang="en-US" altLang="zh-CN" sz="2400" b="1" kern="100" noProof="1">
                <a:solidFill>
                  <a:srgbClr val="014B88"/>
                </a:solidFill>
                <a:latin typeface="仿宋_GB2312"/>
                <a:cs typeface="Times New Roman" panose="02020603050405020304" pitchFamily="18" charset="0"/>
              </a:rPr>
              <a:t>m</a:t>
            </a:r>
            <a:r>
              <a:rPr lang="zh-CN" altLang="en-US" sz="2400" b="1" kern="100" noProof="1">
                <a:solidFill>
                  <a:srgbClr val="014B88"/>
                </a:solidFill>
                <a:latin typeface="仿宋_GB2312"/>
                <a:cs typeface="Times New Roman" panose="02020603050405020304" pitchFamily="18" charset="0"/>
              </a:rPr>
              <a:t>行</a:t>
            </a:r>
            <a:r>
              <a:rPr lang="en-US" altLang="zh-CN" sz="2400" b="1" kern="100" noProof="1">
                <a:solidFill>
                  <a:srgbClr val="014B88"/>
                </a:solidFill>
                <a:latin typeface="仿宋_GB2312"/>
                <a:cs typeface="Times New Roman" panose="02020603050405020304" pitchFamily="18" charset="0"/>
              </a:rPr>
              <a:t>n</a:t>
            </a:r>
            <a:r>
              <a:rPr lang="zh-CN" altLang="en-US" sz="2400" b="1" kern="100" noProof="1">
                <a:solidFill>
                  <a:srgbClr val="014B88"/>
                </a:solidFill>
                <a:latin typeface="仿宋_GB2312"/>
                <a:cs typeface="Times New Roman" panose="02020603050405020304" pitchFamily="18" charset="0"/>
              </a:rPr>
              <a:t>列的字符矩阵，统计字符</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组成多少个八连块。如果两个字符</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所在的格子相邻（横，竖，或者对角线方向），就说它们属于同一个八连块。</a:t>
            </a:r>
            <a:endParaRPr lang="zh-CN" altLang="en-US" sz="2400" b="1" kern="100" noProof="1">
              <a:solidFill>
                <a:srgbClr val="014B88"/>
              </a:solidFill>
              <a:latin typeface="仿宋_GB2312"/>
              <a:cs typeface="Times New Roman" panose="02020603050405020304" pitchFamily="18" charset="0"/>
            </a:endParaRPr>
          </a:p>
          <a:p>
            <a:pPr marL="0" indent="0">
              <a:buNone/>
            </a:pPr>
            <a:r>
              <a:rPr lang="en-US" altLang="zh-CN" noProof="1"/>
              <a:t>			* *  *  * @</a:t>
            </a:r>
            <a:endParaRPr lang="en-US" altLang="zh-CN" noProof="1"/>
          </a:p>
          <a:p>
            <a:pPr marL="0" indent="0">
              <a:buNone/>
            </a:pPr>
            <a:r>
              <a:rPr lang="en-US" altLang="zh-CN" noProof="1"/>
              <a:t>			* @ @ * @</a:t>
            </a:r>
            <a:endParaRPr lang="en-US" altLang="zh-CN" noProof="1"/>
          </a:p>
          <a:p>
            <a:pPr marL="0" indent="0">
              <a:buNone/>
            </a:pPr>
            <a:r>
              <a:rPr lang="en-US" altLang="zh-CN" noProof="1"/>
              <a:t>			* @ *  * @</a:t>
            </a:r>
            <a:endParaRPr lang="en-US" altLang="zh-CN" noProof="1"/>
          </a:p>
          <a:p>
            <a:pPr marL="0" indent="0">
              <a:buNone/>
            </a:pPr>
            <a:r>
              <a:rPr lang="en-US" altLang="zh-CN" noProof="1"/>
              <a:t>			@ @@ * @</a:t>
            </a:r>
            <a:endParaRPr lang="en-US" altLang="zh-CN" noProof="1"/>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油田问题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639192" y="972053"/>
            <a:ext cx="11034944" cy="5243009"/>
          </a:xfrm>
        </p:spPr>
        <p:txBody>
          <a:bodyPr/>
          <a:lstStyle/>
          <a:p>
            <a:pPr marL="0" indent="0">
              <a:lnSpc>
                <a:spcPct val="150000"/>
              </a:lnSpc>
              <a:buFont typeface="Wingdings" panose="05000000000000000000" pitchFamily="2" charset="2"/>
              <a:buNone/>
            </a:pPr>
            <a:r>
              <a:rPr lang="zh-CN" altLang="en-US" sz="2400" b="1" kern="100" noProof="1">
                <a:solidFill>
                  <a:srgbClr val="014B88"/>
                </a:solidFill>
                <a:latin typeface="仿宋_GB2312"/>
                <a:cs typeface="Times New Roman" panose="02020603050405020304" pitchFamily="18" charset="0"/>
              </a:rPr>
              <a:t>此题也可以</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和</a:t>
            </a:r>
            <a:r>
              <a:rPr lang="en-US" altLang="zh-CN" sz="2400" b="1" kern="100" noProof="1">
                <a:solidFill>
                  <a:srgbClr val="014B88"/>
                </a:solidFill>
                <a:latin typeface="仿宋_GB2312"/>
                <a:cs typeface="Times New Roman" panose="02020603050405020304" pitchFamily="18" charset="0"/>
              </a:rPr>
              <a:t>BFS</a:t>
            </a:r>
            <a:r>
              <a:rPr lang="zh-CN" altLang="en-US" sz="2400" b="1" kern="100" noProof="1">
                <a:solidFill>
                  <a:srgbClr val="014B88"/>
                </a:solidFill>
                <a:latin typeface="仿宋_GB2312"/>
                <a:cs typeface="Times New Roman" panose="02020603050405020304" pitchFamily="18" charset="0"/>
              </a:rPr>
              <a:t>遍历。</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更容易编写，一般用</a:t>
            </a:r>
            <a:r>
              <a:rPr lang="en-US" altLang="zh-CN" sz="2400" b="1" kern="100" noProof="1">
                <a:solidFill>
                  <a:srgbClr val="014B88"/>
                </a:solidFill>
                <a:latin typeface="仿宋_GB2312"/>
                <a:cs typeface="Times New Roman" panose="02020603050405020304" pitchFamily="18" charset="0"/>
              </a:rPr>
              <a:t>DFS</a:t>
            </a:r>
            <a:r>
              <a:rPr lang="zh-CN" altLang="en-US" sz="2400" b="1" kern="100" noProof="1">
                <a:solidFill>
                  <a:srgbClr val="014B88"/>
                </a:solidFill>
                <a:latin typeface="仿宋_GB2312"/>
                <a:cs typeface="Times New Roman" panose="02020603050405020304" pitchFamily="18" charset="0"/>
              </a:rPr>
              <a:t>找连通块：从每个</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出发，递归遍历它周围的</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格子。每次访问一个格子时就给他写上一个</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连通分量编号</a:t>
            </a:r>
            <a:r>
              <a:rPr lang="en-US" altLang="zh-CN" sz="2400" b="1" kern="100" noProof="1">
                <a:solidFill>
                  <a:srgbClr val="014B88"/>
                </a:solidFill>
                <a:latin typeface="仿宋_GB2312"/>
                <a:cs typeface="Times New Roman" panose="02020603050405020304" pitchFamily="18" charset="0"/>
              </a:rPr>
              <a:t>”</a:t>
            </a:r>
            <a:r>
              <a:rPr lang="zh-CN" altLang="en-US" sz="2400" b="1" kern="100" noProof="1">
                <a:solidFill>
                  <a:srgbClr val="014B88"/>
                </a:solidFill>
                <a:latin typeface="仿宋_GB2312"/>
                <a:cs typeface="Times New Roman" panose="02020603050405020304" pitchFamily="18" charset="0"/>
              </a:rPr>
              <a:t>，这样就可以在访问之前检查它是否已经有了编号，从而避免同一个格子访问多次。</a:t>
            </a:r>
            <a:endParaRPr lang="zh-CN" altLang="en-US" sz="2400" b="1" kern="100" noProof="1">
              <a:solidFill>
                <a:srgbClr val="014B88"/>
              </a:solidFill>
              <a:latin typeface="仿宋_GB2312"/>
              <a:cs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油田问题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1" name="文本占位符 68610"/>
          <p:cNvSpPr>
            <a:spLocks noGrp="1" noRot="1"/>
          </p:cNvSpPr>
          <p:nvPr>
            <p:ph type="body" idx="4294967295"/>
          </p:nvPr>
        </p:nvSpPr>
        <p:spPr>
          <a:xfrm>
            <a:off x="-107617" y="1253331"/>
            <a:ext cx="12126897" cy="651653"/>
          </a:xfrm>
        </p:spPr>
        <p:txBody>
          <a:bodyPr/>
          <a:lstStyle/>
          <a:p>
            <a:pPr>
              <a:buFont typeface="Arial" panose="020B0604020202020204" pitchFamily="34" charset="0"/>
              <a:buNone/>
            </a:pPr>
            <a:r>
              <a:rPr lang="en-US" altLang="zh-CN" noProof="1"/>
              <a:t>		</a:t>
            </a:r>
            <a:r>
              <a:rPr lang="en-US" altLang="zh-CN" sz="2400" b="1" kern="100" noProof="1">
                <a:solidFill>
                  <a:srgbClr val="014B88"/>
                </a:solidFill>
                <a:latin typeface="仿宋_GB2312"/>
                <a:cs typeface="Times New Roman" panose="02020603050405020304" pitchFamily="18" charset="0"/>
              </a:rPr>
              <a:t>  </a:t>
            </a:r>
            <a:r>
              <a:rPr lang="zh-CN" altLang="en-US" sz="2400" b="1" kern="100" noProof="1">
                <a:solidFill>
                  <a:srgbClr val="014B88"/>
                </a:solidFill>
                <a:latin typeface="仿宋_GB2312"/>
                <a:cs typeface="Times New Roman" panose="02020603050405020304" pitchFamily="18" charset="0"/>
              </a:rPr>
              <a:t>给定</a:t>
            </a:r>
            <a:r>
              <a:rPr lang="en-US" altLang="zh-CN" sz="2400" b="1" kern="100" noProof="1">
                <a:solidFill>
                  <a:srgbClr val="014B88"/>
                </a:solidFill>
                <a:latin typeface="仿宋_GB2312"/>
                <a:cs typeface="Times New Roman" panose="02020603050405020304" pitchFamily="18" charset="0"/>
              </a:rPr>
              <a:t>n</a:t>
            </a:r>
            <a:r>
              <a:rPr lang="zh-CN" altLang="en-US" sz="2400" b="1" kern="100" noProof="1">
                <a:solidFill>
                  <a:srgbClr val="014B88"/>
                </a:solidFill>
                <a:latin typeface="仿宋_GB2312"/>
                <a:cs typeface="Times New Roman" panose="02020603050405020304" pitchFamily="18" charset="0"/>
              </a:rPr>
              <a:t>，求一个</a:t>
            </a:r>
            <a:r>
              <a:rPr lang="en-US" altLang="zh-CN" sz="2400" b="1" kern="100" noProof="1">
                <a:solidFill>
                  <a:srgbClr val="014B88"/>
                </a:solidFill>
                <a:latin typeface="仿宋_GB2312"/>
                <a:cs typeface="Times New Roman" panose="02020603050405020304" pitchFamily="18" charset="0"/>
              </a:rPr>
              <a:t>1 ~ n</a:t>
            </a:r>
            <a:r>
              <a:rPr lang="zh-CN" altLang="en-US" sz="2400" b="1" kern="100" noProof="1">
                <a:solidFill>
                  <a:srgbClr val="014B88"/>
                </a:solidFill>
                <a:latin typeface="仿宋_GB2312"/>
                <a:cs typeface="Times New Roman" panose="02020603050405020304" pitchFamily="18" charset="0"/>
              </a:rPr>
              <a:t>的圆环，使得该圆环任意两个相邻的数的和为素数。</a:t>
            </a:r>
            <a:endParaRPr lang="zh-CN" altLang="en-US" sz="2400" b="1" kern="100" noProof="1">
              <a:solidFill>
                <a:srgbClr val="014B88"/>
              </a:solidFill>
              <a:latin typeface="仿宋_GB2312"/>
              <a:cs typeface="Times New Roman" panose="02020603050405020304" pitchFamily="18" charset="0"/>
            </a:endParaRPr>
          </a:p>
        </p:txBody>
      </p:sp>
      <p:pic>
        <p:nvPicPr>
          <p:cNvPr id="56323" name="Picture 4" descr="showim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880467" y="2186262"/>
            <a:ext cx="295275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素数环问题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334800" y="1145358"/>
            <a:ext cx="10515600" cy="4351337"/>
          </a:xfrm>
        </p:spPr>
        <p:txBody>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从</a:t>
            </a:r>
            <a:r>
              <a:rPr lang="en-US" altLang="zh-CN" b="1" kern="100" noProof="1">
                <a:solidFill>
                  <a:srgbClr val="014B88"/>
                </a:solidFill>
                <a:latin typeface="仿宋_GB2312"/>
                <a:cs typeface="Times New Roman" panose="02020603050405020304" pitchFamily="18" charset="0"/>
              </a:rPr>
              <a:t>1</a:t>
            </a:r>
            <a:r>
              <a:rPr lang="zh-CN" altLang="en-US" b="1" kern="100" noProof="1">
                <a:solidFill>
                  <a:srgbClr val="014B88"/>
                </a:solidFill>
                <a:latin typeface="仿宋_GB2312"/>
                <a:cs typeface="Times New Roman" panose="02020603050405020304" pitchFamily="18" charset="0"/>
              </a:rPr>
              <a:t>开始，将</a:t>
            </a:r>
            <a:r>
              <a:rPr lang="en-US" altLang="zh-CN" b="1" kern="100" noProof="1">
                <a:solidFill>
                  <a:srgbClr val="014B88"/>
                </a:solidFill>
                <a:latin typeface="仿宋_GB2312"/>
                <a:cs typeface="Times New Roman" panose="02020603050405020304" pitchFamily="18" charset="0"/>
              </a:rPr>
              <a:t>1</a:t>
            </a:r>
            <a:r>
              <a:rPr lang="zh-CN" altLang="en-US" b="1" kern="100" noProof="1">
                <a:solidFill>
                  <a:srgbClr val="014B88"/>
                </a:solidFill>
                <a:latin typeface="仿宋_GB2312"/>
                <a:cs typeface="Times New Roman" panose="02020603050405020304" pitchFamily="18" charset="0"/>
              </a:rPr>
              <a:t>作为树的根节点，不断向下</a:t>
            </a:r>
            <a:r>
              <a:rPr lang="en-US" altLang="zh-CN" b="1" kern="100" noProof="1">
                <a:solidFill>
                  <a:srgbClr val="014B88"/>
                </a:solidFill>
                <a:latin typeface="仿宋_GB2312"/>
                <a:cs typeface="Times New Roman" panose="02020603050405020304" pitchFamily="18" charset="0"/>
              </a:rPr>
              <a:t>dfs</a:t>
            </a:r>
            <a:r>
              <a:rPr lang="zh-CN" altLang="en-US" b="1" kern="100" noProof="1">
                <a:solidFill>
                  <a:srgbClr val="014B88"/>
                </a:solidFill>
                <a:latin typeface="仿宋_GB2312"/>
                <a:cs typeface="Times New Roman" panose="02020603050405020304" pitchFamily="18" charset="0"/>
              </a:rPr>
              <a:t>搜索可行解。</a:t>
            </a:r>
            <a:endParaRPr lang="zh-CN" altLang="en-US" b="1" kern="100" noProof="1">
              <a:solidFill>
                <a:srgbClr val="014B88"/>
              </a:solidFill>
              <a:latin typeface="仿宋_GB2312"/>
              <a:cs typeface="Times New Roman" panose="02020603050405020304" pitchFamily="18" charset="0"/>
            </a:endParaRP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注意判断解是否可行的函数的使用。</a:t>
            </a:r>
            <a:endParaRPr lang="zh-CN" altLang="en-US" b="1" kern="100" noProof="1">
              <a:solidFill>
                <a:srgbClr val="014B88"/>
              </a:solidFill>
              <a:latin typeface="仿宋_GB2312"/>
              <a:cs typeface="Times New Roman" panose="02020603050405020304" pitchFamily="18" charset="0"/>
            </a:endParaRP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注意终止条件。</a:t>
            </a:r>
            <a:endParaRPr lang="zh-CN" altLang="en-US" noProof="1"/>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素数环问题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一种可行方法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pic>
        <p:nvPicPr>
          <p:cNvPr id="5" name="内容占位符 3" descr="QQ图片20170114145746"/>
          <p:cNvPicPr>
            <a:picLocks noChangeAspect="1" noChangeArrowheads="1"/>
          </p:cNvPicPr>
          <p:nvPr/>
        </p:nvPicPr>
        <p:blipFill rotWithShape="1">
          <a:blip r:embed="rId1">
            <a:extLst>
              <a:ext uri="{28A0092B-C50C-407E-A947-70E740481C1C}">
                <a14:useLocalDpi xmlns:a14="http://schemas.microsoft.com/office/drawing/2010/main" val="0"/>
              </a:ext>
            </a:extLst>
          </a:blip>
          <a:srcRect l="976"/>
          <a:stretch>
            <a:fillRect/>
          </a:stretch>
        </p:blipFill>
        <p:spPr bwMode="auto">
          <a:xfrm>
            <a:off x="6232124" y="2038625"/>
            <a:ext cx="5586891" cy="4498975"/>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9" name="Rectangle 2"/>
          <p:cNvSpPr txBox="1">
            <a:spLocks noChangeArrowheads="1"/>
          </p:cNvSpPr>
          <p:nvPr/>
        </p:nvSpPr>
        <p:spPr bwMode="auto">
          <a:xfrm>
            <a:off x="1752600" y="304800"/>
            <a:ext cx="8686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r" eaLnBrk="1" hangingPunct="1"/>
            <a:endParaRPr lang="zh-CN" altLang="zh-CN" sz="2600">
              <a:ea typeface="宋体" panose="02010600030101010101" pitchFamily="2" charset="-122"/>
            </a:endParaRPr>
          </a:p>
        </p:txBody>
      </p:sp>
      <p:sp>
        <p:nvSpPr>
          <p:cNvPr id="45060" name="Rectangle 2"/>
          <p:cNvSpPr>
            <a:spLocks noGrp="1" noChangeArrowheads="1"/>
          </p:cNvSpPr>
          <p:nvPr/>
        </p:nvSpPr>
        <p:spPr bwMode="auto">
          <a:xfrm>
            <a:off x="1981200" y="476250"/>
            <a:ext cx="82296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algn="ctr" eaLnBrk="1" hangingPunct="1"/>
            <a:r>
              <a:rPr lang="en-US" altLang="zh-CN" sz="4400">
                <a:solidFill>
                  <a:schemeClr val="bg1"/>
                </a:solidFill>
                <a:ea typeface="宋体" panose="02010600030101010101" pitchFamily="2" charset="-122"/>
              </a:rPr>
              <a:t>DFS </a:t>
            </a:r>
            <a:r>
              <a:rPr lang="zh-CN" altLang="en-US" sz="4400">
                <a:solidFill>
                  <a:schemeClr val="bg1"/>
                </a:solidFill>
                <a:ea typeface="宋体" panose="02010600030101010101" pitchFamily="2" charset="-122"/>
              </a:rPr>
              <a:t>对状态的搜索</a:t>
            </a:r>
            <a:endParaRPr lang="en-US" altLang="zh-CN" sz="4400">
              <a:solidFill>
                <a:schemeClr val="bg1"/>
              </a:solidFill>
              <a:ea typeface="宋体" panose="02010600030101010101" pitchFamily="2" charset="-122"/>
            </a:endParaRPr>
          </a:p>
        </p:txBody>
      </p:sp>
      <p:sp>
        <p:nvSpPr>
          <p:cNvPr id="45061" name="Text Box 4"/>
          <p:cNvSpPr txBox="1">
            <a:spLocks noChangeArrowheads="1"/>
          </p:cNvSpPr>
          <p:nvPr/>
        </p:nvSpPr>
        <p:spPr bwMode="auto">
          <a:xfrm>
            <a:off x="689530" y="1204098"/>
            <a:ext cx="8229600" cy="4525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void DFS( int depth ){</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(depth &gt; n){</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a:t>
            </a:r>
            <a:r>
              <a:rPr lang="zh-CN" altLang="en-US" sz="2000" i="0" dirty="0">
                <a:ea typeface="宋体" panose="02010600030101010101" pitchFamily="2" charset="-122"/>
              </a:rPr>
              <a:t>搜索到结果</a:t>
            </a:r>
            <a:r>
              <a:rPr lang="en-US" altLang="zh-CN" sz="2000" i="0" dirty="0">
                <a:ea typeface="宋体" panose="02010600030101010101" pitchFamily="2" charset="-122"/>
              </a:rPr>
              <a:t>)  </a:t>
            </a:r>
            <a:r>
              <a:rPr lang="zh-CN" altLang="en-US" sz="2000" i="0" dirty="0">
                <a:ea typeface="宋体" panose="02010600030101010101" pitchFamily="2" charset="-122"/>
              </a:rPr>
              <a:t>比较并记录</a:t>
            </a:r>
            <a:r>
              <a:rPr lang="en-US" altLang="zh-CN" sz="2000" i="0" dirty="0">
                <a:ea typeface="宋体" panose="02010600030101010101" pitchFamily="2" charset="-122"/>
              </a:rPr>
              <a:t>;</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return;</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else{</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for(</a:t>
            </a:r>
            <a:r>
              <a:rPr lang="zh-CN" altLang="en-US" sz="2000" i="0" dirty="0">
                <a:ea typeface="宋体" panose="02010600030101010101" pitchFamily="2" charset="-122"/>
              </a:rPr>
              <a:t>所有状态</a:t>
            </a:r>
            <a:r>
              <a:rPr lang="en-US" altLang="zh-CN" sz="2000" i="0" dirty="0">
                <a:ea typeface="宋体" panose="02010600030101010101" pitchFamily="2" charset="-122"/>
              </a:rPr>
              <a:t>)</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if (</a:t>
            </a:r>
            <a:r>
              <a:rPr lang="zh-CN" altLang="en-US" sz="2000" i="0" dirty="0">
                <a:ea typeface="宋体" panose="02010600030101010101" pitchFamily="2" charset="-122"/>
              </a:rPr>
              <a:t>符合递归条件</a:t>
            </a:r>
            <a:r>
              <a:rPr lang="en-US" altLang="zh-CN" sz="2000" i="0" dirty="0">
                <a:ea typeface="宋体" panose="02010600030101010101" pitchFamily="2" charset="-122"/>
              </a:rPr>
              <a:t>){</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zh-CN" altLang="en-US" sz="2000" i="0" dirty="0">
                <a:ea typeface="宋体" panose="02010600030101010101" pitchFamily="2" charset="-122"/>
              </a:rPr>
              <a:t>标记状态</a:t>
            </a:r>
            <a:r>
              <a:rPr lang="en-US" altLang="zh-CN" sz="2000" i="0" dirty="0">
                <a:ea typeface="宋体" panose="02010600030101010101" pitchFamily="2" charset="-122"/>
              </a:rPr>
              <a:t>;</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en-US" altLang="zh-CN" sz="2000" i="0" dirty="0" err="1">
                <a:ea typeface="宋体" panose="02010600030101010101" pitchFamily="2" charset="-122"/>
              </a:rPr>
              <a:t>dfs</a:t>
            </a:r>
            <a:r>
              <a:rPr lang="en-US" altLang="zh-CN" sz="2000" i="0" dirty="0">
                <a:ea typeface="宋体" panose="02010600030101010101" pitchFamily="2" charset="-122"/>
              </a:rPr>
              <a:t>( depth + 1 );</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r>
              <a:rPr lang="zh-CN" altLang="en-US" sz="2000" i="0" dirty="0">
                <a:ea typeface="宋体" panose="02010600030101010101" pitchFamily="2" charset="-122"/>
              </a:rPr>
              <a:t>回溯</a:t>
            </a:r>
            <a:r>
              <a:rPr lang="en-US" altLang="zh-CN" sz="2000" i="0" dirty="0">
                <a:ea typeface="宋体" panose="02010600030101010101" pitchFamily="2" charset="-122"/>
              </a:rPr>
              <a:t>;</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    }</a:t>
            </a:r>
            <a:endParaRPr lang="en-US" altLang="zh-CN" sz="2000" i="0" dirty="0">
              <a:ea typeface="宋体" panose="02010600030101010101" pitchFamily="2" charset="-122"/>
            </a:endParaRPr>
          </a:p>
          <a:p>
            <a:pPr eaLnBrk="1" hangingPunct="1">
              <a:lnSpc>
                <a:spcPct val="80000"/>
              </a:lnSpc>
              <a:spcBef>
                <a:spcPct val="20000"/>
              </a:spcBef>
              <a:buFont typeface="Wingdings" panose="05000000000000000000" pitchFamily="2" charset="2"/>
              <a:buNone/>
            </a:pPr>
            <a:r>
              <a:rPr lang="en-US" altLang="zh-CN" sz="2000" i="0" dirty="0">
                <a:ea typeface="宋体" panose="02010600030101010101" pitchFamily="2" charset="-122"/>
              </a:rPr>
              <a:t>}</a:t>
            </a:r>
            <a:endParaRPr lang="en-US" altLang="zh-CN" sz="2000" i="0" dirty="0">
              <a:ea typeface="宋体" panose="02010600030101010101" pitchFamily="2" charset="-122"/>
            </a:endParaRPr>
          </a:p>
        </p:txBody>
      </p:sp>
      <p:sp>
        <p:nvSpPr>
          <p:cNvPr id="45062" name="Text Box 5"/>
          <p:cNvSpPr txBox="1">
            <a:spLocks noChangeArrowheads="1"/>
          </p:cNvSpPr>
          <p:nvPr/>
        </p:nvSpPr>
        <p:spPr bwMode="auto">
          <a:xfrm>
            <a:off x="5334770" y="991334"/>
            <a:ext cx="6025657" cy="4794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1">
            <a:spAutoFit/>
          </a:bodyPr>
          <a:lstStyle>
            <a:lvl1pPr eaLnBrk="0" hangingPunct="0">
              <a:defRPr b="1" i="1">
                <a:solidFill>
                  <a:schemeClr val="tx1"/>
                </a:solidFill>
                <a:latin typeface="Arial" panose="020B0604020202020204" pitchFamily="34" charset="0"/>
                <a:ea typeface="华文细黑" panose="02010600040101010101" pitchFamily="2" charset="-122"/>
              </a:defRPr>
            </a:lvl1pPr>
            <a:lvl2pPr marL="742950" indent="-285750" eaLnBrk="0" hangingPunct="0">
              <a:defRPr b="1" i="1">
                <a:solidFill>
                  <a:schemeClr val="tx1"/>
                </a:solidFill>
                <a:latin typeface="Arial" panose="020B0604020202020204" pitchFamily="34" charset="0"/>
                <a:ea typeface="华文细黑" panose="02010600040101010101" pitchFamily="2" charset="-122"/>
              </a:defRPr>
            </a:lvl2pPr>
            <a:lvl3pPr marL="1143000" indent="-228600" eaLnBrk="0" hangingPunct="0">
              <a:defRPr b="1" i="1">
                <a:solidFill>
                  <a:schemeClr val="tx1"/>
                </a:solidFill>
                <a:latin typeface="Arial" panose="020B0604020202020204" pitchFamily="34" charset="0"/>
                <a:ea typeface="华文细黑" panose="02010600040101010101" pitchFamily="2" charset="-122"/>
              </a:defRPr>
            </a:lvl3pPr>
            <a:lvl4pPr marL="1600200" indent="-228600" eaLnBrk="0" hangingPunct="0">
              <a:defRPr b="1" i="1">
                <a:solidFill>
                  <a:schemeClr val="tx1"/>
                </a:solidFill>
                <a:latin typeface="Arial" panose="020B0604020202020204" pitchFamily="34" charset="0"/>
                <a:ea typeface="华文细黑" panose="02010600040101010101" pitchFamily="2" charset="-122"/>
              </a:defRPr>
            </a:lvl4pPr>
            <a:lvl5pPr marL="2057400" indent="-228600" eaLnBrk="0" hangingPunct="0">
              <a:defRPr b="1" i="1">
                <a:solidFill>
                  <a:schemeClr val="tx1"/>
                </a:solidFill>
                <a:latin typeface="Arial" panose="020B0604020202020204" pitchFamily="34" charset="0"/>
                <a:ea typeface="华文细黑" panose="02010600040101010101" pitchFamily="2" charset="-122"/>
              </a:defRPr>
            </a:lvl5pPr>
            <a:lvl6pPr marL="25146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6pPr>
            <a:lvl7pPr marL="29718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7pPr>
            <a:lvl8pPr marL="34290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8pPr>
            <a:lvl9pPr marL="3886200" indent="-228600" eaLnBrk="0" fontAlgn="base" hangingPunct="0">
              <a:spcBef>
                <a:spcPct val="0"/>
              </a:spcBef>
              <a:spcAft>
                <a:spcPct val="0"/>
              </a:spcAft>
              <a:defRPr b="1" i="1">
                <a:solidFill>
                  <a:schemeClr val="tx1"/>
                </a:solidFill>
                <a:latin typeface="Arial" panose="020B0604020202020204" pitchFamily="34" charset="0"/>
                <a:ea typeface="华文细黑" panose="02010600040101010101" pitchFamily="2" charset="-122"/>
              </a:defRPr>
            </a:lvl9pPr>
          </a:lstStyle>
          <a:p>
            <a:pPr marL="171450" lvl="1" indent="0" algn="just" eaLnBrk="1" hangingPunct="1">
              <a:lnSpc>
                <a:spcPct val="200000"/>
              </a:lnSpc>
              <a:spcBef>
                <a:spcPts val="500"/>
              </a:spcBef>
              <a:buClr>
                <a:srgbClr val="F9F9F9"/>
              </a:buClr>
              <a:buSzPct val="65000"/>
            </a:pPr>
            <a:r>
              <a:rPr lang="zh-CN" altLang="en-US" sz="2400" i="0" kern="100" dirty="0">
                <a:solidFill>
                  <a:srgbClr val="014B88"/>
                </a:solidFill>
                <a:latin typeface="仿宋_GB2312"/>
                <a:ea typeface="+mn-ea"/>
                <a:cs typeface="Times New Roman" panose="02020603050405020304" pitchFamily="18" charset="0"/>
              </a:rPr>
              <a:t>可以看到，这样的搜索，时间复杂度是</a:t>
            </a:r>
            <a:r>
              <a:rPr lang="en-US" altLang="zh-CN" sz="2400" i="0" kern="100" dirty="0">
                <a:solidFill>
                  <a:srgbClr val="014B88"/>
                </a:solidFill>
                <a:latin typeface="仿宋_GB2312"/>
                <a:ea typeface="+mn-ea"/>
                <a:cs typeface="Times New Roman" panose="02020603050405020304" pitchFamily="18" charset="0"/>
              </a:rPr>
              <a:t>(</a:t>
            </a:r>
            <a:r>
              <a:rPr lang="en-US" altLang="zh-CN" sz="2400" i="0" kern="100" dirty="0" err="1">
                <a:solidFill>
                  <a:srgbClr val="014B88"/>
                </a:solidFill>
                <a:latin typeface="仿宋_GB2312"/>
                <a:ea typeface="+mn-ea"/>
                <a:cs typeface="Times New Roman" panose="02020603050405020304" pitchFamily="18" charset="0"/>
              </a:rPr>
              <a:t>a^n</a:t>
            </a:r>
            <a:r>
              <a:rPr lang="en-US" altLang="zh-CN" sz="2400" i="0" kern="100" dirty="0">
                <a:solidFill>
                  <a:srgbClr val="014B88"/>
                </a:solidFill>
                <a:latin typeface="仿宋_GB2312"/>
                <a:ea typeface="+mn-ea"/>
                <a:cs typeface="Times New Roman" panose="02020603050405020304" pitchFamily="18" charset="0"/>
              </a:rPr>
              <a:t>)</a:t>
            </a:r>
            <a:r>
              <a:rPr lang="zh-CN" altLang="en-US" sz="2400" i="0" kern="100" dirty="0">
                <a:solidFill>
                  <a:srgbClr val="014B88"/>
                </a:solidFill>
                <a:latin typeface="仿宋_GB2312"/>
                <a:ea typeface="+mn-ea"/>
                <a:cs typeface="Times New Roman" panose="02020603050405020304" pitchFamily="18" charset="0"/>
              </a:rPr>
              <a:t>的，</a:t>
            </a:r>
            <a:r>
              <a:rPr lang="en-US" altLang="zh-CN" sz="2400" i="0" kern="100" dirty="0">
                <a:solidFill>
                  <a:srgbClr val="014B88"/>
                </a:solidFill>
                <a:latin typeface="仿宋_GB2312"/>
                <a:ea typeface="+mn-ea"/>
                <a:cs typeface="Times New Roman" panose="02020603050405020304" pitchFamily="18" charset="0"/>
              </a:rPr>
              <a:t>a</a:t>
            </a:r>
            <a:r>
              <a:rPr lang="zh-CN" altLang="en-US" sz="2400" i="0" kern="100" dirty="0">
                <a:solidFill>
                  <a:srgbClr val="014B88"/>
                </a:solidFill>
                <a:latin typeface="仿宋_GB2312"/>
                <a:ea typeface="+mn-ea"/>
                <a:cs typeface="Times New Roman" panose="02020603050405020304" pitchFamily="18" charset="0"/>
              </a:rPr>
              <a:t>为每次的状态数，</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为总的递归层数；这个复杂度属于指数复杂度，当</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比较大时，很容易超时，所以，一般在</a:t>
            </a:r>
            <a:r>
              <a:rPr lang="en-US" altLang="zh-CN" sz="2400" i="0" kern="100" dirty="0">
                <a:solidFill>
                  <a:srgbClr val="014B88"/>
                </a:solidFill>
                <a:latin typeface="仿宋_GB2312"/>
                <a:ea typeface="+mn-ea"/>
                <a:cs typeface="Times New Roman" panose="02020603050405020304" pitchFamily="18" charset="0"/>
              </a:rPr>
              <a:t>n</a:t>
            </a:r>
            <a:r>
              <a:rPr lang="zh-CN" altLang="en-US" sz="2400" i="0" kern="100" dirty="0">
                <a:solidFill>
                  <a:srgbClr val="014B88"/>
                </a:solidFill>
                <a:latin typeface="仿宋_GB2312"/>
                <a:ea typeface="+mn-ea"/>
                <a:cs typeface="Times New Roman" panose="02020603050405020304" pitchFamily="18" charset="0"/>
              </a:rPr>
              <a:t>比较小的时候可以考虑</a:t>
            </a:r>
            <a:r>
              <a:rPr lang="en-US" altLang="zh-CN" sz="2400" i="0" kern="100" dirty="0">
                <a:solidFill>
                  <a:srgbClr val="014B88"/>
                </a:solidFill>
                <a:latin typeface="仿宋_GB2312"/>
                <a:ea typeface="+mn-ea"/>
                <a:cs typeface="Times New Roman" panose="02020603050405020304" pitchFamily="18" charset="0"/>
              </a:rPr>
              <a:t>DFS</a:t>
            </a:r>
            <a:endParaRPr lang="en-US" altLang="zh-CN" sz="2400" i="0" kern="100" dirty="0">
              <a:solidFill>
                <a:srgbClr val="014B88"/>
              </a:solidFill>
              <a:latin typeface="仿宋_GB2312"/>
              <a:ea typeface="+mn-ea"/>
              <a:cs typeface="Times New Roman" panose="02020603050405020304" pitchFamily="18" charset="0"/>
            </a:endParaRPr>
          </a:p>
          <a:p>
            <a:pPr marL="171450" lvl="1" indent="0" algn="just" eaLnBrk="1" hangingPunct="1">
              <a:lnSpc>
                <a:spcPct val="200000"/>
              </a:lnSpc>
              <a:spcBef>
                <a:spcPts val="500"/>
              </a:spcBef>
              <a:buClr>
                <a:srgbClr val="F9F9F9"/>
              </a:buClr>
              <a:buSzPct val="65000"/>
            </a:pPr>
            <a:r>
              <a:rPr lang="zh-CN" altLang="en-US" sz="2400" i="0" kern="100" dirty="0">
                <a:solidFill>
                  <a:srgbClr val="014B88"/>
                </a:solidFill>
                <a:latin typeface="仿宋_GB2312"/>
                <a:ea typeface="+mn-ea"/>
                <a:cs typeface="Times New Roman" panose="02020603050405020304" pitchFamily="18" charset="0"/>
              </a:rPr>
              <a:t>很多情况下需要</a:t>
            </a:r>
            <a:r>
              <a:rPr lang="zh-CN" altLang="en-US" sz="3600" i="0" kern="100" dirty="0">
                <a:solidFill>
                  <a:srgbClr val="FF0000"/>
                </a:solidFill>
                <a:latin typeface="仿宋_GB2312"/>
                <a:ea typeface="+mn-ea"/>
                <a:cs typeface="Times New Roman" panose="02020603050405020304" pitchFamily="18" charset="0"/>
              </a:rPr>
              <a:t>剪枝</a:t>
            </a:r>
            <a:r>
              <a:rPr lang="zh-CN" altLang="en-US" sz="3600" i="0" dirty="0">
                <a:solidFill>
                  <a:schemeClr val="bg1"/>
                </a:solidFill>
                <a:ea typeface="宋体" panose="02010600030101010101" pitchFamily="2" charset="-122"/>
              </a:rPr>
              <a:t>。</a:t>
            </a:r>
            <a:endParaRPr lang="zh-CN" altLang="en-US" sz="2400" i="0" dirty="0">
              <a:solidFill>
                <a:schemeClr val="bg1"/>
              </a:solidFill>
              <a:ea typeface="宋体" panose="02010600030101010101" pitchFamily="2" charset="-122"/>
            </a:endParaRPr>
          </a:p>
        </p:txBody>
      </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7" name="内容占位符 2"/>
          <p:cNvSpPr txBox="1">
            <a:spLocks noChangeArrowheads="1"/>
          </p:cNvSpPr>
          <p:nvPr/>
        </p:nvSpPr>
        <p:spPr bwMode="auto">
          <a:xfrm>
            <a:off x="510111" y="1006475"/>
            <a:ext cx="10942083" cy="247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48005" indent="-411480">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lvl="1" algn="just">
              <a:lnSpc>
                <a:spcPct val="200000"/>
              </a:lnSpc>
              <a:spcBef>
                <a:spcPts val="500"/>
              </a:spcBef>
              <a:buClr>
                <a:srgbClr val="F9F9F9"/>
              </a:buClr>
              <a:buSzPct val="65000"/>
            </a:pPr>
            <a:r>
              <a:rPr lang="zh-CN" altLang="en-US" sz="2400" b="1" kern="100" dirty="0">
                <a:solidFill>
                  <a:srgbClr val="014B88"/>
                </a:solidFill>
                <a:latin typeface="仿宋_GB2312"/>
                <a:ea typeface="+mn-ea"/>
                <a:cs typeface="Times New Roman" panose="02020603050405020304" pitchFamily="18" charset="0"/>
              </a:rPr>
              <a:t>因为大量的搜索状态空间可以看成一个树形结构，我们的任务就是探测每个叶子节点来获取信息，如果我们能在某个结点就将其所有子结点的可能性都排除我们就能减少搜索量</a:t>
            </a:r>
            <a:endParaRPr lang="zh-CN" altLang="en-US" sz="2400" b="1" kern="100" dirty="0">
              <a:solidFill>
                <a:srgbClr val="014B88"/>
              </a:solidFill>
              <a:latin typeface="仿宋_GB2312"/>
              <a:ea typeface="+mn-ea"/>
              <a:cs typeface="Times New Roman" panose="02020603050405020304" pitchFamily="18" charset="0"/>
            </a:endParaRPr>
          </a:p>
        </p:txBody>
      </p:sp>
      <p:sp>
        <p:nvSpPr>
          <p:cNvPr id="62468" name="椭圆 5"/>
          <p:cNvSpPr>
            <a:spLocks noChangeArrowheads="1"/>
          </p:cNvSpPr>
          <p:nvPr/>
        </p:nvSpPr>
        <p:spPr bwMode="auto">
          <a:xfrm>
            <a:off x="5667376" y="3857626"/>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69" name="椭圆 6"/>
          <p:cNvSpPr>
            <a:spLocks noChangeArrowheads="1"/>
          </p:cNvSpPr>
          <p:nvPr/>
        </p:nvSpPr>
        <p:spPr bwMode="auto">
          <a:xfrm>
            <a:off x="5095876" y="4357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0" name="椭圆 7"/>
          <p:cNvSpPr>
            <a:spLocks noChangeArrowheads="1"/>
          </p:cNvSpPr>
          <p:nvPr/>
        </p:nvSpPr>
        <p:spPr bwMode="auto">
          <a:xfrm>
            <a:off x="5738813" y="4357688"/>
            <a:ext cx="214312"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1" name="椭圆 8"/>
          <p:cNvSpPr>
            <a:spLocks noChangeArrowheads="1"/>
          </p:cNvSpPr>
          <p:nvPr/>
        </p:nvSpPr>
        <p:spPr bwMode="auto">
          <a:xfrm>
            <a:off x="6238876" y="4357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2" name="椭圆 9"/>
          <p:cNvSpPr>
            <a:spLocks noChangeArrowheads="1"/>
          </p:cNvSpPr>
          <p:nvPr/>
        </p:nvSpPr>
        <p:spPr bwMode="auto">
          <a:xfrm>
            <a:off x="5524501" y="48577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3" name="椭圆 10"/>
          <p:cNvSpPr>
            <a:spLocks noChangeArrowheads="1"/>
          </p:cNvSpPr>
          <p:nvPr/>
        </p:nvSpPr>
        <p:spPr bwMode="auto">
          <a:xfrm>
            <a:off x="4381501" y="550068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4" name="椭圆 11"/>
          <p:cNvSpPr>
            <a:spLocks noChangeArrowheads="1"/>
          </p:cNvSpPr>
          <p:nvPr/>
        </p:nvSpPr>
        <p:spPr bwMode="auto">
          <a:xfrm>
            <a:off x="5095876" y="54292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5" name="椭圆 12"/>
          <p:cNvSpPr>
            <a:spLocks noChangeArrowheads="1"/>
          </p:cNvSpPr>
          <p:nvPr/>
        </p:nvSpPr>
        <p:spPr bwMode="auto">
          <a:xfrm>
            <a:off x="4810126" y="48577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6" name="椭圆 13"/>
          <p:cNvSpPr>
            <a:spLocks noChangeArrowheads="1"/>
          </p:cNvSpPr>
          <p:nvPr/>
        </p:nvSpPr>
        <p:spPr bwMode="auto">
          <a:xfrm>
            <a:off x="6024563" y="4786313"/>
            <a:ext cx="214312"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7" name="椭圆 14"/>
          <p:cNvSpPr>
            <a:spLocks noChangeArrowheads="1"/>
          </p:cNvSpPr>
          <p:nvPr/>
        </p:nvSpPr>
        <p:spPr bwMode="auto">
          <a:xfrm>
            <a:off x="5810251" y="5429251"/>
            <a:ext cx="214313" cy="214313"/>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sp>
        <p:nvSpPr>
          <p:cNvPr id="62478" name="椭圆 15"/>
          <p:cNvSpPr>
            <a:spLocks noChangeArrowheads="1"/>
          </p:cNvSpPr>
          <p:nvPr/>
        </p:nvSpPr>
        <p:spPr bwMode="auto">
          <a:xfrm>
            <a:off x="6096001" y="5786438"/>
            <a:ext cx="214313" cy="214312"/>
          </a:xfrm>
          <a:prstGeom prst="ellipse">
            <a:avLst/>
          </a:prstGeom>
          <a:solidFill>
            <a:schemeClr val="accent1"/>
          </a:solidFill>
          <a:ln w="25400">
            <a:solidFill>
              <a:srgbClr val="978749"/>
            </a:solidFill>
            <a:round/>
          </a:ln>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a:solidFill>
                <a:srgbClr val="FFFFFF"/>
              </a:solidFill>
              <a:latin typeface="Book Antiqua" panose="02040602050305030304" pitchFamily="18" charset="0"/>
            </a:endParaRPr>
          </a:p>
        </p:txBody>
      </p:sp>
      <p:cxnSp>
        <p:nvCxnSpPr>
          <p:cNvPr id="62479" name="直接箭头连接符 16"/>
          <p:cNvCxnSpPr>
            <a:cxnSpLocks noChangeShapeType="1"/>
            <a:stCxn id="62468" idx="3"/>
            <a:endCxn id="62469" idx="7"/>
          </p:cNvCxnSpPr>
          <p:nvPr/>
        </p:nvCxnSpPr>
        <p:spPr bwMode="auto">
          <a:xfrm rot="5400000">
            <a:off x="5314157" y="4004470"/>
            <a:ext cx="349250" cy="42068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0" name="直接箭头连接符 17"/>
          <p:cNvCxnSpPr>
            <a:cxnSpLocks noChangeShapeType="1"/>
            <a:stCxn id="62468" idx="4"/>
            <a:endCxn id="62470" idx="0"/>
          </p:cNvCxnSpPr>
          <p:nvPr/>
        </p:nvCxnSpPr>
        <p:spPr bwMode="auto">
          <a:xfrm rot="16200000" flipH="1">
            <a:off x="5666582" y="4179095"/>
            <a:ext cx="285750" cy="7143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1" name="直接箭头连接符 18"/>
          <p:cNvCxnSpPr>
            <a:cxnSpLocks noChangeShapeType="1"/>
            <a:stCxn id="62468" idx="5"/>
            <a:endCxn id="62471" idx="0"/>
          </p:cNvCxnSpPr>
          <p:nvPr/>
        </p:nvCxnSpPr>
        <p:spPr bwMode="auto">
          <a:xfrm rot="16200000" flipH="1">
            <a:off x="5939632" y="3950495"/>
            <a:ext cx="317500" cy="496887"/>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2" name="直接箭头连接符 19"/>
          <p:cNvCxnSpPr>
            <a:cxnSpLocks noChangeShapeType="1"/>
            <a:stCxn id="62469" idx="4"/>
            <a:endCxn id="62475" idx="7"/>
          </p:cNvCxnSpPr>
          <p:nvPr/>
        </p:nvCxnSpPr>
        <p:spPr bwMode="auto">
          <a:xfrm rot="5400000">
            <a:off x="4938713" y="4625975"/>
            <a:ext cx="317500" cy="2095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3" name="直接箭头连接符 20"/>
          <p:cNvCxnSpPr>
            <a:cxnSpLocks noChangeShapeType="1"/>
            <a:stCxn id="62475" idx="4"/>
            <a:endCxn id="62473" idx="7"/>
          </p:cNvCxnSpPr>
          <p:nvPr/>
        </p:nvCxnSpPr>
        <p:spPr bwMode="auto">
          <a:xfrm rot="5400000">
            <a:off x="4510089" y="5126039"/>
            <a:ext cx="460375" cy="352425"/>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4" name="直接箭头连接符 21"/>
          <p:cNvCxnSpPr>
            <a:cxnSpLocks noChangeShapeType="1"/>
            <a:stCxn id="62475" idx="6"/>
            <a:endCxn id="62474" idx="0"/>
          </p:cNvCxnSpPr>
          <p:nvPr/>
        </p:nvCxnSpPr>
        <p:spPr bwMode="auto">
          <a:xfrm>
            <a:off x="5024438" y="4965700"/>
            <a:ext cx="177800" cy="4635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5" name="直接箭头连接符 22"/>
          <p:cNvCxnSpPr>
            <a:cxnSpLocks noChangeShapeType="1"/>
            <a:stCxn id="62470" idx="4"/>
            <a:endCxn id="62472" idx="7"/>
          </p:cNvCxnSpPr>
          <p:nvPr/>
        </p:nvCxnSpPr>
        <p:spPr bwMode="auto">
          <a:xfrm rot="5400000">
            <a:off x="5615782" y="4660107"/>
            <a:ext cx="317500" cy="138113"/>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6" name="直接箭头连接符 23"/>
          <p:cNvCxnSpPr>
            <a:cxnSpLocks noChangeShapeType="1"/>
            <a:stCxn id="62470" idx="6"/>
            <a:endCxn id="62476" idx="1"/>
          </p:cNvCxnSpPr>
          <p:nvPr/>
        </p:nvCxnSpPr>
        <p:spPr bwMode="auto">
          <a:xfrm>
            <a:off x="5953125" y="4465639"/>
            <a:ext cx="103188" cy="352425"/>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7" name="直接箭头连接符 24"/>
          <p:cNvCxnSpPr>
            <a:cxnSpLocks noChangeShapeType="1"/>
            <a:stCxn id="62476" idx="4"/>
            <a:endCxn id="62477" idx="0"/>
          </p:cNvCxnSpPr>
          <p:nvPr/>
        </p:nvCxnSpPr>
        <p:spPr bwMode="auto">
          <a:xfrm rot="5400000">
            <a:off x="5810251" y="5106988"/>
            <a:ext cx="428625" cy="21590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cxnSp>
        <p:nvCxnSpPr>
          <p:cNvPr id="62488" name="直接箭头连接符 25"/>
          <p:cNvCxnSpPr>
            <a:cxnSpLocks noChangeShapeType="1"/>
            <a:stCxn id="62477" idx="5"/>
            <a:endCxn id="62478" idx="1"/>
          </p:cNvCxnSpPr>
          <p:nvPr/>
        </p:nvCxnSpPr>
        <p:spPr bwMode="auto">
          <a:xfrm rot="16200000" flipH="1">
            <a:off x="5956301" y="5648326"/>
            <a:ext cx="206375" cy="133350"/>
          </a:xfrm>
          <a:prstGeom prst="straightConnector1">
            <a:avLst/>
          </a:prstGeom>
          <a:noFill/>
          <a:ln w="9525">
            <a:solidFill>
              <a:srgbClr val="988744"/>
            </a:solidFill>
            <a:round/>
            <a:tailEnd type="arrow" w="med" len="med"/>
          </a:ln>
          <a:extLst>
            <a:ext uri="{909E8E84-426E-40DD-AFC4-6F175D3DCCD1}">
              <a14:hiddenFill xmlns:a14="http://schemas.microsoft.com/office/drawing/2010/main">
                <a:noFill/>
              </a14:hiddenFill>
            </a:ext>
          </a:extLst>
        </p:spPr>
      </p:cxnSp>
      <p:sp>
        <p:nvSpPr>
          <p:cNvPr id="62489" name="椭圆 26"/>
          <p:cNvSpPr>
            <a:spLocks noChangeArrowheads="1"/>
          </p:cNvSpPr>
          <p:nvPr/>
        </p:nvSpPr>
        <p:spPr bwMode="auto">
          <a:xfrm>
            <a:off x="5310188" y="4286250"/>
            <a:ext cx="1143000" cy="2071688"/>
          </a:xfrm>
          <a:prstGeom prst="ellipse">
            <a:avLst/>
          </a:prstGeom>
          <a:noFill/>
          <a:ln w="25400">
            <a:solidFill>
              <a:srgbClr val="FF0000"/>
            </a:solidFill>
            <a:rou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Arial" panose="020B0604020202020204" pitchFamily="34" charset="0"/>
                <a:ea typeface="宋体" panose="02010600030101010101" pitchFamily="2" charset="-122"/>
              </a:defRPr>
            </a:lvl1pPr>
            <a:lvl2pPr>
              <a:defRPr>
                <a:solidFill>
                  <a:schemeClr val="tx1"/>
                </a:solidFill>
                <a:latin typeface="Arial" panose="020B0604020202020204" pitchFamily="34" charset="0"/>
                <a:ea typeface="宋体" panose="02010600030101010101" pitchFamily="2" charset="-122"/>
              </a:defRPr>
            </a:lvl2pPr>
            <a:lvl3pPr>
              <a:defRPr>
                <a:solidFill>
                  <a:schemeClr val="tx1"/>
                </a:solidFill>
                <a:latin typeface="Arial" panose="020B0604020202020204" pitchFamily="34" charset="0"/>
                <a:ea typeface="宋体" panose="02010600030101010101" pitchFamily="2" charset="-122"/>
              </a:defRPr>
            </a:lvl3pPr>
            <a:lvl4pPr>
              <a:defRPr>
                <a:solidFill>
                  <a:schemeClr val="tx1"/>
                </a:solidFill>
                <a:latin typeface="Arial" panose="020B0604020202020204" pitchFamily="34" charset="0"/>
                <a:ea typeface="宋体" panose="02010600030101010101" pitchFamily="2" charset="-122"/>
              </a:defRPr>
            </a:lvl4pPr>
            <a:lvl5pPr>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a:endParaRPr lang="zh-CN" altLang="en-US" sz="1600">
              <a:solidFill>
                <a:srgbClr val="FFFFFF"/>
              </a:solidFill>
              <a:latin typeface="Book Antiqua" panose="02040602050305030304" pitchFamily="18" charset="0"/>
            </a:endParaRPr>
          </a:p>
        </p:txBody>
      </p:sp>
      <p:sp>
        <p:nvSpPr>
          <p:cNvPr id="2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剪枝</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grpId="0" nodeType="clickEffect">
                                  <p:stCondLst>
                                    <p:cond delay="0"/>
                                  </p:stCondLst>
                                  <p:childTnLst>
                                    <p:set>
                                      <p:cBhvr>
                                        <p:cTn id="6" dur="1" fill="hold">
                                          <p:stCondLst>
                                            <p:cond delay="0"/>
                                          </p:stCondLst>
                                        </p:cTn>
                                        <p:tgtEl>
                                          <p:spTgt spid="62468"/>
                                        </p:tgtEl>
                                        <p:attrNameLst>
                                          <p:attrName>style.visibility</p:attrName>
                                        </p:attrNameLst>
                                      </p:cBhvr>
                                      <p:to>
                                        <p:strVal val="visible"/>
                                      </p:to>
                                    </p:set>
                                    <p:animEffect transition="in" filter="barn(inHorizontal)">
                                      <p:cBhvr>
                                        <p:cTn id="7" dur="500"/>
                                        <p:tgtEl>
                                          <p:spTgt spid="62468"/>
                                        </p:tgtEl>
                                      </p:cBhvr>
                                    </p:animEffect>
                                  </p:childTnLst>
                                </p:cTn>
                              </p:par>
                              <p:par>
                                <p:cTn id="8" presetID="16" presetClass="entr" presetSubtype="26" fill="hold" grpId="0" nodeType="withEffect">
                                  <p:stCondLst>
                                    <p:cond delay="0"/>
                                  </p:stCondLst>
                                  <p:childTnLst>
                                    <p:set>
                                      <p:cBhvr>
                                        <p:cTn id="9" dur="1" fill="hold">
                                          <p:stCondLst>
                                            <p:cond delay="0"/>
                                          </p:stCondLst>
                                        </p:cTn>
                                        <p:tgtEl>
                                          <p:spTgt spid="62469"/>
                                        </p:tgtEl>
                                        <p:attrNameLst>
                                          <p:attrName>style.visibility</p:attrName>
                                        </p:attrNameLst>
                                      </p:cBhvr>
                                      <p:to>
                                        <p:strVal val="visible"/>
                                      </p:to>
                                    </p:set>
                                    <p:animEffect transition="in" filter="barn(inHorizontal)">
                                      <p:cBhvr>
                                        <p:cTn id="10" dur="500"/>
                                        <p:tgtEl>
                                          <p:spTgt spid="62469"/>
                                        </p:tgtEl>
                                      </p:cBhvr>
                                    </p:animEffect>
                                  </p:childTnLst>
                                </p:cTn>
                              </p:par>
                              <p:par>
                                <p:cTn id="11" presetID="16" presetClass="entr" presetSubtype="26" fill="hold" grpId="0" nodeType="withEffect">
                                  <p:stCondLst>
                                    <p:cond delay="0"/>
                                  </p:stCondLst>
                                  <p:childTnLst>
                                    <p:set>
                                      <p:cBhvr>
                                        <p:cTn id="12" dur="1" fill="hold">
                                          <p:stCondLst>
                                            <p:cond delay="0"/>
                                          </p:stCondLst>
                                        </p:cTn>
                                        <p:tgtEl>
                                          <p:spTgt spid="62470"/>
                                        </p:tgtEl>
                                        <p:attrNameLst>
                                          <p:attrName>style.visibility</p:attrName>
                                        </p:attrNameLst>
                                      </p:cBhvr>
                                      <p:to>
                                        <p:strVal val="visible"/>
                                      </p:to>
                                    </p:set>
                                    <p:animEffect transition="in" filter="barn(inHorizontal)">
                                      <p:cBhvr>
                                        <p:cTn id="13" dur="500"/>
                                        <p:tgtEl>
                                          <p:spTgt spid="62470"/>
                                        </p:tgtEl>
                                      </p:cBhvr>
                                    </p:animEffect>
                                  </p:childTnLst>
                                </p:cTn>
                              </p:par>
                              <p:par>
                                <p:cTn id="14" presetID="16" presetClass="entr" presetSubtype="26" fill="hold" grpId="0" nodeType="withEffect">
                                  <p:stCondLst>
                                    <p:cond delay="0"/>
                                  </p:stCondLst>
                                  <p:childTnLst>
                                    <p:set>
                                      <p:cBhvr>
                                        <p:cTn id="15" dur="1" fill="hold">
                                          <p:stCondLst>
                                            <p:cond delay="0"/>
                                          </p:stCondLst>
                                        </p:cTn>
                                        <p:tgtEl>
                                          <p:spTgt spid="62471"/>
                                        </p:tgtEl>
                                        <p:attrNameLst>
                                          <p:attrName>style.visibility</p:attrName>
                                        </p:attrNameLst>
                                      </p:cBhvr>
                                      <p:to>
                                        <p:strVal val="visible"/>
                                      </p:to>
                                    </p:set>
                                    <p:animEffect transition="in" filter="barn(inHorizontal)">
                                      <p:cBhvr>
                                        <p:cTn id="16" dur="500"/>
                                        <p:tgtEl>
                                          <p:spTgt spid="62471"/>
                                        </p:tgtEl>
                                      </p:cBhvr>
                                    </p:animEffect>
                                  </p:childTnLst>
                                </p:cTn>
                              </p:par>
                              <p:par>
                                <p:cTn id="17" presetID="16" presetClass="entr" presetSubtype="26" fill="hold" grpId="0" nodeType="withEffect">
                                  <p:stCondLst>
                                    <p:cond delay="0"/>
                                  </p:stCondLst>
                                  <p:childTnLst>
                                    <p:set>
                                      <p:cBhvr>
                                        <p:cTn id="18" dur="1" fill="hold">
                                          <p:stCondLst>
                                            <p:cond delay="0"/>
                                          </p:stCondLst>
                                        </p:cTn>
                                        <p:tgtEl>
                                          <p:spTgt spid="62472"/>
                                        </p:tgtEl>
                                        <p:attrNameLst>
                                          <p:attrName>style.visibility</p:attrName>
                                        </p:attrNameLst>
                                      </p:cBhvr>
                                      <p:to>
                                        <p:strVal val="visible"/>
                                      </p:to>
                                    </p:set>
                                    <p:animEffect transition="in" filter="barn(inHorizontal)">
                                      <p:cBhvr>
                                        <p:cTn id="19" dur="500"/>
                                        <p:tgtEl>
                                          <p:spTgt spid="62472"/>
                                        </p:tgtEl>
                                      </p:cBhvr>
                                    </p:animEffect>
                                  </p:childTnLst>
                                </p:cTn>
                              </p:par>
                              <p:par>
                                <p:cTn id="20" presetID="16" presetClass="entr" presetSubtype="26" fill="hold" grpId="0" nodeType="withEffect">
                                  <p:stCondLst>
                                    <p:cond delay="0"/>
                                  </p:stCondLst>
                                  <p:childTnLst>
                                    <p:set>
                                      <p:cBhvr>
                                        <p:cTn id="21" dur="1" fill="hold">
                                          <p:stCondLst>
                                            <p:cond delay="0"/>
                                          </p:stCondLst>
                                        </p:cTn>
                                        <p:tgtEl>
                                          <p:spTgt spid="62473"/>
                                        </p:tgtEl>
                                        <p:attrNameLst>
                                          <p:attrName>style.visibility</p:attrName>
                                        </p:attrNameLst>
                                      </p:cBhvr>
                                      <p:to>
                                        <p:strVal val="visible"/>
                                      </p:to>
                                    </p:set>
                                    <p:animEffect transition="in" filter="barn(inHorizontal)">
                                      <p:cBhvr>
                                        <p:cTn id="22" dur="500"/>
                                        <p:tgtEl>
                                          <p:spTgt spid="62473"/>
                                        </p:tgtEl>
                                      </p:cBhvr>
                                    </p:animEffect>
                                  </p:childTnLst>
                                </p:cTn>
                              </p:par>
                              <p:par>
                                <p:cTn id="23" presetID="16" presetClass="entr" presetSubtype="26" fill="hold" grpId="0" nodeType="withEffect">
                                  <p:stCondLst>
                                    <p:cond delay="0"/>
                                  </p:stCondLst>
                                  <p:childTnLst>
                                    <p:set>
                                      <p:cBhvr>
                                        <p:cTn id="24" dur="1" fill="hold">
                                          <p:stCondLst>
                                            <p:cond delay="0"/>
                                          </p:stCondLst>
                                        </p:cTn>
                                        <p:tgtEl>
                                          <p:spTgt spid="62474"/>
                                        </p:tgtEl>
                                        <p:attrNameLst>
                                          <p:attrName>style.visibility</p:attrName>
                                        </p:attrNameLst>
                                      </p:cBhvr>
                                      <p:to>
                                        <p:strVal val="visible"/>
                                      </p:to>
                                    </p:set>
                                    <p:animEffect transition="in" filter="barn(inHorizontal)">
                                      <p:cBhvr>
                                        <p:cTn id="25" dur="500"/>
                                        <p:tgtEl>
                                          <p:spTgt spid="62474"/>
                                        </p:tgtEl>
                                      </p:cBhvr>
                                    </p:animEffect>
                                  </p:childTnLst>
                                </p:cTn>
                              </p:par>
                              <p:par>
                                <p:cTn id="26" presetID="16" presetClass="entr" presetSubtype="26" fill="hold" grpId="0" nodeType="withEffect">
                                  <p:stCondLst>
                                    <p:cond delay="0"/>
                                  </p:stCondLst>
                                  <p:childTnLst>
                                    <p:set>
                                      <p:cBhvr>
                                        <p:cTn id="27" dur="1" fill="hold">
                                          <p:stCondLst>
                                            <p:cond delay="0"/>
                                          </p:stCondLst>
                                        </p:cTn>
                                        <p:tgtEl>
                                          <p:spTgt spid="62475"/>
                                        </p:tgtEl>
                                        <p:attrNameLst>
                                          <p:attrName>style.visibility</p:attrName>
                                        </p:attrNameLst>
                                      </p:cBhvr>
                                      <p:to>
                                        <p:strVal val="visible"/>
                                      </p:to>
                                    </p:set>
                                    <p:animEffect transition="in" filter="barn(inHorizontal)">
                                      <p:cBhvr>
                                        <p:cTn id="28" dur="500"/>
                                        <p:tgtEl>
                                          <p:spTgt spid="62475"/>
                                        </p:tgtEl>
                                      </p:cBhvr>
                                    </p:animEffect>
                                  </p:childTnLst>
                                </p:cTn>
                              </p:par>
                              <p:par>
                                <p:cTn id="29" presetID="16" presetClass="entr" presetSubtype="26" fill="hold" grpId="0" nodeType="withEffect">
                                  <p:stCondLst>
                                    <p:cond delay="0"/>
                                  </p:stCondLst>
                                  <p:childTnLst>
                                    <p:set>
                                      <p:cBhvr>
                                        <p:cTn id="30" dur="1" fill="hold">
                                          <p:stCondLst>
                                            <p:cond delay="0"/>
                                          </p:stCondLst>
                                        </p:cTn>
                                        <p:tgtEl>
                                          <p:spTgt spid="62476"/>
                                        </p:tgtEl>
                                        <p:attrNameLst>
                                          <p:attrName>style.visibility</p:attrName>
                                        </p:attrNameLst>
                                      </p:cBhvr>
                                      <p:to>
                                        <p:strVal val="visible"/>
                                      </p:to>
                                    </p:set>
                                    <p:animEffect transition="in" filter="barn(inHorizontal)">
                                      <p:cBhvr>
                                        <p:cTn id="31" dur="500"/>
                                        <p:tgtEl>
                                          <p:spTgt spid="62476"/>
                                        </p:tgtEl>
                                      </p:cBhvr>
                                    </p:animEffect>
                                  </p:childTnLst>
                                </p:cTn>
                              </p:par>
                              <p:par>
                                <p:cTn id="32" presetID="16" presetClass="entr" presetSubtype="26" fill="hold" grpId="0" nodeType="withEffect">
                                  <p:stCondLst>
                                    <p:cond delay="0"/>
                                  </p:stCondLst>
                                  <p:childTnLst>
                                    <p:set>
                                      <p:cBhvr>
                                        <p:cTn id="33" dur="1" fill="hold">
                                          <p:stCondLst>
                                            <p:cond delay="0"/>
                                          </p:stCondLst>
                                        </p:cTn>
                                        <p:tgtEl>
                                          <p:spTgt spid="62477"/>
                                        </p:tgtEl>
                                        <p:attrNameLst>
                                          <p:attrName>style.visibility</p:attrName>
                                        </p:attrNameLst>
                                      </p:cBhvr>
                                      <p:to>
                                        <p:strVal val="visible"/>
                                      </p:to>
                                    </p:set>
                                    <p:animEffect transition="in" filter="barn(inHorizontal)">
                                      <p:cBhvr>
                                        <p:cTn id="34" dur="500"/>
                                        <p:tgtEl>
                                          <p:spTgt spid="62477"/>
                                        </p:tgtEl>
                                      </p:cBhvr>
                                    </p:animEffect>
                                  </p:childTnLst>
                                </p:cTn>
                              </p:par>
                              <p:par>
                                <p:cTn id="35" presetID="16" presetClass="entr" presetSubtype="26" fill="hold" grpId="0" nodeType="withEffect">
                                  <p:stCondLst>
                                    <p:cond delay="0"/>
                                  </p:stCondLst>
                                  <p:childTnLst>
                                    <p:set>
                                      <p:cBhvr>
                                        <p:cTn id="36" dur="1" fill="hold">
                                          <p:stCondLst>
                                            <p:cond delay="0"/>
                                          </p:stCondLst>
                                        </p:cTn>
                                        <p:tgtEl>
                                          <p:spTgt spid="62478"/>
                                        </p:tgtEl>
                                        <p:attrNameLst>
                                          <p:attrName>style.visibility</p:attrName>
                                        </p:attrNameLst>
                                      </p:cBhvr>
                                      <p:to>
                                        <p:strVal val="visible"/>
                                      </p:to>
                                    </p:set>
                                    <p:animEffect transition="in" filter="barn(inHorizontal)">
                                      <p:cBhvr>
                                        <p:cTn id="37" dur="500"/>
                                        <p:tgtEl>
                                          <p:spTgt spid="62478"/>
                                        </p:tgtEl>
                                      </p:cBhvr>
                                    </p:animEffect>
                                  </p:childTnLst>
                                </p:cTn>
                              </p:par>
                              <p:par>
                                <p:cTn id="38" presetID="16" presetClass="entr" presetSubtype="26" fill="hold" nodeType="withEffect">
                                  <p:stCondLst>
                                    <p:cond delay="0"/>
                                  </p:stCondLst>
                                  <p:childTnLst>
                                    <p:set>
                                      <p:cBhvr>
                                        <p:cTn id="39" dur="1" fill="hold">
                                          <p:stCondLst>
                                            <p:cond delay="0"/>
                                          </p:stCondLst>
                                        </p:cTn>
                                        <p:tgtEl>
                                          <p:spTgt spid="62479"/>
                                        </p:tgtEl>
                                        <p:attrNameLst>
                                          <p:attrName>style.visibility</p:attrName>
                                        </p:attrNameLst>
                                      </p:cBhvr>
                                      <p:to>
                                        <p:strVal val="visible"/>
                                      </p:to>
                                    </p:set>
                                    <p:animEffect transition="in" filter="barn(inHorizontal)">
                                      <p:cBhvr>
                                        <p:cTn id="40" dur="500"/>
                                        <p:tgtEl>
                                          <p:spTgt spid="62479"/>
                                        </p:tgtEl>
                                      </p:cBhvr>
                                    </p:animEffect>
                                  </p:childTnLst>
                                </p:cTn>
                              </p:par>
                              <p:par>
                                <p:cTn id="41" presetID="16" presetClass="entr" presetSubtype="26" fill="hold" nodeType="withEffect">
                                  <p:stCondLst>
                                    <p:cond delay="0"/>
                                  </p:stCondLst>
                                  <p:childTnLst>
                                    <p:set>
                                      <p:cBhvr>
                                        <p:cTn id="42" dur="1" fill="hold">
                                          <p:stCondLst>
                                            <p:cond delay="0"/>
                                          </p:stCondLst>
                                        </p:cTn>
                                        <p:tgtEl>
                                          <p:spTgt spid="62480"/>
                                        </p:tgtEl>
                                        <p:attrNameLst>
                                          <p:attrName>style.visibility</p:attrName>
                                        </p:attrNameLst>
                                      </p:cBhvr>
                                      <p:to>
                                        <p:strVal val="visible"/>
                                      </p:to>
                                    </p:set>
                                    <p:animEffect transition="in" filter="barn(inHorizontal)">
                                      <p:cBhvr>
                                        <p:cTn id="43" dur="500"/>
                                        <p:tgtEl>
                                          <p:spTgt spid="62480"/>
                                        </p:tgtEl>
                                      </p:cBhvr>
                                    </p:animEffect>
                                  </p:childTnLst>
                                </p:cTn>
                              </p:par>
                              <p:par>
                                <p:cTn id="44" presetID="16" presetClass="entr" presetSubtype="26" fill="hold" nodeType="withEffect">
                                  <p:stCondLst>
                                    <p:cond delay="0"/>
                                  </p:stCondLst>
                                  <p:childTnLst>
                                    <p:set>
                                      <p:cBhvr>
                                        <p:cTn id="45" dur="1" fill="hold">
                                          <p:stCondLst>
                                            <p:cond delay="0"/>
                                          </p:stCondLst>
                                        </p:cTn>
                                        <p:tgtEl>
                                          <p:spTgt spid="62481"/>
                                        </p:tgtEl>
                                        <p:attrNameLst>
                                          <p:attrName>style.visibility</p:attrName>
                                        </p:attrNameLst>
                                      </p:cBhvr>
                                      <p:to>
                                        <p:strVal val="visible"/>
                                      </p:to>
                                    </p:set>
                                    <p:animEffect transition="in" filter="barn(inHorizontal)">
                                      <p:cBhvr>
                                        <p:cTn id="46" dur="500"/>
                                        <p:tgtEl>
                                          <p:spTgt spid="62481"/>
                                        </p:tgtEl>
                                      </p:cBhvr>
                                    </p:animEffect>
                                  </p:childTnLst>
                                </p:cTn>
                              </p:par>
                              <p:par>
                                <p:cTn id="47" presetID="16" presetClass="entr" presetSubtype="26" fill="hold" nodeType="withEffect">
                                  <p:stCondLst>
                                    <p:cond delay="0"/>
                                  </p:stCondLst>
                                  <p:childTnLst>
                                    <p:set>
                                      <p:cBhvr>
                                        <p:cTn id="48" dur="1" fill="hold">
                                          <p:stCondLst>
                                            <p:cond delay="0"/>
                                          </p:stCondLst>
                                        </p:cTn>
                                        <p:tgtEl>
                                          <p:spTgt spid="62482"/>
                                        </p:tgtEl>
                                        <p:attrNameLst>
                                          <p:attrName>style.visibility</p:attrName>
                                        </p:attrNameLst>
                                      </p:cBhvr>
                                      <p:to>
                                        <p:strVal val="visible"/>
                                      </p:to>
                                    </p:set>
                                    <p:animEffect transition="in" filter="barn(inHorizontal)">
                                      <p:cBhvr>
                                        <p:cTn id="49" dur="500"/>
                                        <p:tgtEl>
                                          <p:spTgt spid="62482"/>
                                        </p:tgtEl>
                                      </p:cBhvr>
                                    </p:animEffect>
                                  </p:childTnLst>
                                </p:cTn>
                              </p:par>
                              <p:par>
                                <p:cTn id="50" presetID="16" presetClass="entr" presetSubtype="26" fill="hold" nodeType="withEffect">
                                  <p:stCondLst>
                                    <p:cond delay="0"/>
                                  </p:stCondLst>
                                  <p:childTnLst>
                                    <p:set>
                                      <p:cBhvr>
                                        <p:cTn id="51" dur="1" fill="hold">
                                          <p:stCondLst>
                                            <p:cond delay="0"/>
                                          </p:stCondLst>
                                        </p:cTn>
                                        <p:tgtEl>
                                          <p:spTgt spid="62483"/>
                                        </p:tgtEl>
                                        <p:attrNameLst>
                                          <p:attrName>style.visibility</p:attrName>
                                        </p:attrNameLst>
                                      </p:cBhvr>
                                      <p:to>
                                        <p:strVal val="visible"/>
                                      </p:to>
                                    </p:set>
                                    <p:animEffect transition="in" filter="barn(inHorizontal)">
                                      <p:cBhvr>
                                        <p:cTn id="52" dur="500"/>
                                        <p:tgtEl>
                                          <p:spTgt spid="62483"/>
                                        </p:tgtEl>
                                      </p:cBhvr>
                                    </p:animEffect>
                                  </p:childTnLst>
                                </p:cTn>
                              </p:par>
                              <p:par>
                                <p:cTn id="53" presetID="16" presetClass="entr" presetSubtype="26" fill="hold" nodeType="withEffect">
                                  <p:stCondLst>
                                    <p:cond delay="0"/>
                                  </p:stCondLst>
                                  <p:childTnLst>
                                    <p:set>
                                      <p:cBhvr>
                                        <p:cTn id="54" dur="1" fill="hold">
                                          <p:stCondLst>
                                            <p:cond delay="0"/>
                                          </p:stCondLst>
                                        </p:cTn>
                                        <p:tgtEl>
                                          <p:spTgt spid="62484"/>
                                        </p:tgtEl>
                                        <p:attrNameLst>
                                          <p:attrName>style.visibility</p:attrName>
                                        </p:attrNameLst>
                                      </p:cBhvr>
                                      <p:to>
                                        <p:strVal val="visible"/>
                                      </p:to>
                                    </p:set>
                                    <p:animEffect transition="in" filter="barn(inHorizontal)">
                                      <p:cBhvr>
                                        <p:cTn id="55" dur="500"/>
                                        <p:tgtEl>
                                          <p:spTgt spid="62484"/>
                                        </p:tgtEl>
                                      </p:cBhvr>
                                    </p:animEffect>
                                  </p:childTnLst>
                                </p:cTn>
                              </p:par>
                              <p:par>
                                <p:cTn id="56" presetID="16" presetClass="entr" presetSubtype="26" fill="hold" nodeType="withEffect">
                                  <p:stCondLst>
                                    <p:cond delay="0"/>
                                  </p:stCondLst>
                                  <p:childTnLst>
                                    <p:set>
                                      <p:cBhvr>
                                        <p:cTn id="57" dur="1" fill="hold">
                                          <p:stCondLst>
                                            <p:cond delay="0"/>
                                          </p:stCondLst>
                                        </p:cTn>
                                        <p:tgtEl>
                                          <p:spTgt spid="62485"/>
                                        </p:tgtEl>
                                        <p:attrNameLst>
                                          <p:attrName>style.visibility</p:attrName>
                                        </p:attrNameLst>
                                      </p:cBhvr>
                                      <p:to>
                                        <p:strVal val="visible"/>
                                      </p:to>
                                    </p:set>
                                    <p:animEffect transition="in" filter="barn(inHorizontal)">
                                      <p:cBhvr>
                                        <p:cTn id="58" dur="500"/>
                                        <p:tgtEl>
                                          <p:spTgt spid="62485"/>
                                        </p:tgtEl>
                                      </p:cBhvr>
                                    </p:animEffect>
                                  </p:childTnLst>
                                </p:cTn>
                              </p:par>
                              <p:par>
                                <p:cTn id="59" presetID="16" presetClass="entr" presetSubtype="26" fill="hold" nodeType="withEffect">
                                  <p:stCondLst>
                                    <p:cond delay="0"/>
                                  </p:stCondLst>
                                  <p:childTnLst>
                                    <p:set>
                                      <p:cBhvr>
                                        <p:cTn id="60" dur="1" fill="hold">
                                          <p:stCondLst>
                                            <p:cond delay="0"/>
                                          </p:stCondLst>
                                        </p:cTn>
                                        <p:tgtEl>
                                          <p:spTgt spid="62486"/>
                                        </p:tgtEl>
                                        <p:attrNameLst>
                                          <p:attrName>style.visibility</p:attrName>
                                        </p:attrNameLst>
                                      </p:cBhvr>
                                      <p:to>
                                        <p:strVal val="visible"/>
                                      </p:to>
                                    </p:set>
                                    <p:animEffect transition="in" filter="barn(inHorizontal)">
                                      <p:cBhvr>
                                        <p:cTn id="61" dur="500"/>
                                        <p:tgtEl>
                                          <p:spTgt spid="62486"/>
                                        </p:tgtEl>
                                      </p:cBhvr>
                                    </p:animEffect>
                                  </p:childTnLst>
                                </p:cTn>
                              </p:par>
                              <p:par>
                                <p:cTn id="62" presetID="16" presetClass="entr" presetSubtype="26" fill="hold" nodeType="withEffect">
                                  <p:stCondLst>
                                    <p:cond delay="0"/>
                                  </p:stCondLst>
                                  <p:childTnLst>
                                    <p:set>
                                      <p:cBhvr>
                                        <p:cTn id="63" dur="1" fill="hold">
                                          <p:stCondLst>
                                            <p:cond delay="0"/>
                                          </p:stCondLst>
                                        </p:cTn>
                                        <p:tgtEl>
                                          <p:spTgt spid="62487"/>
                                        </p:tgtEl>
                                        <p:attrNameLst>
                                          <p:attrName>style.visibility</p:attrName>
                                        </p:attrNameLst>
                                      </p:cBhvr>
                                      <p:to>
                                        <p:strVal val="visible"/>
                                      </p:to>
                                    </p:set>
                                    <p:animEffect transition="in" filter="barn(inHorizontal)">
                                      <p:cBhvr>
                                        <p:cTn id="64" dur="500"/>
                                        <p:tgtEl>
                                          <p:spTgt spid="62487"/>
                                        </p:tgtEl>
                                      </p:cBhvr>
                                    </p:animEffect>
                                  </p:childTnLst>
                                </p:cTn>
                              </p:par>
                              <p:par>
                                <p:cTn id="65" presetID="16" presetClass="entr" presetSubtype="26" fill="hold" nodeType="withEffect">
                                  <p:stCondLst>
                                    <p:cond delay="0"/>
                                  </p:stCondLst>
                                  <p:childTnLst>
                                    <p:set>
                                      <p:cBhvr>
                                        <p:cTn id="66" dur="1" fill="hold">
                                          <p:stCondLst>
                                            <p:cond delay="0"/>
                                          </p:stCondLst>
                                        </p:cTn>
                                        <p:tgtEl>
                                          <p:spTgt spid="62488"/>
                                        </p:tgtEl>
                                        <p:attrNameLst>
                                          <p:attrName>style.visibility</p:attrName>
                                        </p:attrNameLst>
                                      </p:cBhvr>
                                      <p:to>
                                        <p:strVal val="visible"/>
                                      </p:to>
                                    </p:set>
                                    <p:animEffect transition="in" filter="barn(inHorizontal)">
                                      <p:cBhvr>
                                        <p:cTn id="67" dur="500"/>
                                        <p:tgtEl>
                                          <p:spTgt spid="62488"/>
                                        </p:tgtEl>
                                      </p:cBhvr>
                                    </p:animEffect>
                                  </p:childTnLst>
                                </p:cTn>
                              </p:par>
                            </p:childTnLst>
                          </p:cTn>
                        </p:par>
                      </p:childTnLst>
                    </p:cTn>
                  </p:par>
                  <p:par>
                    <p:cTn id="68" fill="hold">
                      <p:stCondLst>
                        <p:cond delay="indefinite"/>
                      </p:stCondLst>
                      <p:childTnLst>
                        <p:par>
                          <p:cTn id="69" fill="hold">
                            <p:stCondLst>
                              <p:cond delay="0"/>
                            </p:stCondLst>
                            <p:childTnLst>
                              <p:par>
                                <p:cTn id="70" presetID="13" presetClass="entr" presetSubtype="16" fill="hold" grpId="0" nodeType="clickEffect">
                                  <p:stCondLst>
                                    <p:cond delay="0"/>
                                  </p:stCondLst>
                                  <p:childTnLst>
                                    <p:set>
                                      <p:cBhvr>
                                        <p:cTn id="71" dur="1" fill="hold">
                                          <p:stCondLst>
                                            <p:cond delay="0"/>
                                          </p:stCondLst>
                                        </p:cTn>
                                        <p:tgtEl>
                                          <p:spTgt spid="62489"/>
                                        </p:tgtEl>
                                        <p:attrNameLst>
                                          <p:attrName>style.visibility</p:attrName>
                                        </p:attrNameLst>
                                      </p:cBhvr>
                                      <p:to>
                                        <p:strVal val="visible"/>
                                      </p:to>
                                    </p:set>
                                    <p:animEffect transition="in" filter="plus(in)">
                                      <p:cBhvr>
                                        <p:cTn id="72" dur="2000"/>
                                        <p:tgtEl>
                                          <p:spTgt spid="624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8" grpId="0" animBg="1"/>
      <p:bldP spid="62469" grpId="0" animBg="1"/>
      <p:bldP spid="62470" grpId="0" animBg="1"/>
      <p:bldP spid="62471" grpId="0" animBg="1"/>
      <p:bldP spid="62472" grpId="0" animBg="1"/>
      <p:bldP spid="62473" grpId="0" animBg="1"/>
      <p:bldP spid="62474" grpId="0" animBg="1"/>
      <p:bldP spid="62475" grpId="0" animBg="1"/>
      <p:bldP spid="62476" grpId="0" animBg="1"/>
      <p:bldP spid="62477" grpId="0" animBg="1"/>
      <p:bldP spid="62478" grpId="0" animBg="1"/>
      <p:bldP spid="62489"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内容占位符 2"/>
          <p:cNvSpPr>
            <a:spLocks noGrp="1"/>
          </p:cNvSpPr>
          <p:nvPr>
            <p:ph idx="4294967295"/>
          </p:nvPr>
        </p:nvSpPr>
        <p:spPr>
          <a:xfrm>
            <a:off x="488272" y="1100970"/>
            <a:ext cx="10515600" cy="4351337"/>
          </a:xfrm>
        </p:spPr>
        <p:txBody>
          <a:bodyPr/>
          <a:lstStyle/>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经典剪枝</a:t>
            </a:r>
            <a:r>
              <a:rPr lang="en-US" altLang="zh-CN" sz="2400" b="1" kern="100" dirty="0">
                <a:solidFill>
                  <a:srgbClr val="014B88"/>
                </a:solidFill>
                <a:latin typeface="仿宋_GB2312"/>
                <a:cs typeface="Times New Roman" panose="02020603050405020304" pitchFamily="18" charset="0"/>
              </a:rPr>
              <a:t>——Sticks</a:t>
            </a:r>
            <a:r>
              <a:rPr lang="zh-CN" altLang="en-US" sz="2400" b="1" kern="100" dirty="0">
                <a:solidFill>
                  <a:srgbClr val="014B88"/>
                </a:solidFill>
                <a:latin typeface="仿宋_GB2312"/>
                <a:cs typeface="Times New Roman" panose="02020603050405020304" pitchFamily="18" charset="0"/>
              </a:rPr>
              <a:t>（</a:t>
            </a:r>
            <a:r>
              <a:rPr lang="en-US" altLang="zh-CN" sz="2400" b="1" kern="100" dirty="0">
                <a:solidFill>
                  <a:srgbClr val="014B88"/>
                </a:solidFill>
                <a:latin typeface="仿宋_GB2312"/>
                <a:cs typeface="Times New Roman" panose="02020603050405020304" pitchFamily="18" charset="0"/>
                <a:hlinkClick r:id="rId1"/>
              </a:rPr>
              <a:t>POJ1011</a:t>
            </a:r>
            <a:r>
              <a:rPr lang="zh-CN" altLang="en-US" sz="2400" b="1" kern="100" dirty="0">
                <a:solidFill>
                  <a:srgbClr val="014B88"/>
                </a:solidFill>
                <a:latin typeface="仿宋_GB2312"/>
                <a:cs typeface="Times New Roman" panose="02020603050405020304" pitchFamily="18" charset="0"/>
              </a:rPr>
              <a:t>）</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问题描述：乔治有一堆长度相同的木棍，他将这些木棍切成若干（不超过</a:t>
            </a:r>
            <a:r>
              <a:rPr lang="en-US" altLang="zh-CN" sz="2400" b="1" kern="100" dirty="0">
                <a:solidFill>
                  <a:srgbClr val="014B88"/>
                </a:solidFill>
                <a:latin typeface="仿宋_GB2312"/>
                <a:cs typeface="Times New Roman" panose="02020603050405020304" pitchFamily="18" charset="0"/>
              </a:rPr>
              <a:t>64</a:t>
            </a:r>
            <a:r>
              <a:rPr lang="zh-CN" altLang="en-US" sz="2400" b="1" kern="100" dirty="0">
                <a:solidFill>
                  <a:srgbClr val="014B88"/>
                </a:solidFill>
                <a:latin typeface="仿宋_GB2312"/>
                <a:cs typeface="Times New Roman" panose="02020603050405020304" pitchFamily="18" charset="0"/>
              </a:rPr>
              <a:t>根）长度不超过</a:t>
            </a:r>
            <a:r>
              <a:rPr lang="en-US" altLang="zh-CN" sz="2400" b="1" kern="100" dirty="0">
                <a:solidFill>
                  <a:srgbClr val="014B88"/>
                </a:solidFill>
                <a:latin typeface="仿宋_GB2312"/>
                <a:cs typeface="Times New Roman" panose="02020603050405020304" pitchFamily="18" charset="0"/>
              </a:rPr>
              <a:t>50</a:t>
            </a:r>
            <a:r>
              <a:rPr lang="zh-CN" altLang="en-US" sz="2400" b="1" kern="100" dirty="0">
                <a:solidFill>
                  <a:srgbClr val="014B88"/>
                </a:solidFill>
                <a:latin typeface="仿宋_GB2312"/>
                <a:cs typeface="Times New Roman" panose="02020603050405020304" pitchFamily="18" charset="0"/>
              </a:rPr>
              <a:t>的小木棍，问原来的木棍可能的最短长度为多少 ？输入</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，然后给出</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个小木棍的长度，输出结果。（保证有解）</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搜索方法：从小到大枚举可能的长度</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，然后判断是否可行（</a:t>
            </a:r>
            <a:r>
              <a:rPr lang="en-US" altLang="zh-CN" sz="2400" b="1" kern="100" dirty="0">
                <a:solidFill>
                  <a:srgbClr val="014B88"/>
                </a:solidFill>
                <a:latin typeface="仿宋_GB2312"/>
                <a:cs typeface="Times New Roman" panose="02020603050405020304" pitchFamily="18" charset="0"/>
              </a:rPr>
              <a:t>n</a:t>
            </a:r>
            <a:r>
              <a:rPr lang="zh-CN" altLang="en-US" sz="2400" b="1" kern="100" dirty="0">
                <a:solidFill>
                  <a:srgbClr val="014B88"/>
                </a:solidFill>
                <a:latin typeface="仿宋_GB2312"/>
                <a:cs typeface="Times New Roman" panose="02020603050405020304" pitchFamily="18" charset="0"/>
              </a:rPr>
              <a:t>根小木棒能否恰好拼成整数根 </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长的木棒）。</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不加优化纯暴力</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必然超时</a:t>
            </a:r>
            <a:endParaRPr lang="en-US" altLang="zh-CN" sz="2400" b="1" kern="100" dirty="0">
              <a:solidFill>
                <a:srgbClr val="014B88"/>
              </a:solidFill>
              <a:latin typeface="仿宋_GB2312"/>
              <a:cs typeface="Times New Roman" panose="02020603050405020304" pitchFamily="18" charset="0"/>
            </a:endParaRPr>
          </a:p>
          <a:p>
            <a:pPr eaLnBrk="1" hangingPunct="1"/>
            <a:endParaRPr lang="en-US" altLang="zh-CN" dirty="0"/>
          </a:p>
          <a:p>
            <a:pPr eaLnBrk="1" hangingPunct="1"/>
            <a:endParaRPr lang="en-US" altLang="zh-CN"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488271" y="1109848"/>
            <a:ext cx="10515600" cy="4351337"/>
          </a:xfrm>
        </p:spPr>
        <p:txBody>
          <a:bodyPr>
            <a:normAutofit/>
          </a:bodyPr>
          <a:lstStyle/>
          <a:p>
            <a:pPr>
              <a:lnSpc>
                <a:spcPct val="150000"/>
              </a:lnSpc>
              <a:buFont typeface="Wingdings" panose="05000000000000000000" pitchFamily="2" charset="2"/>
              <a:buChar char="l"/>
              <a:defRPr/>
            </a:pPr>
            <a:r>
              <a:rPr lang="zh-CN" altLang="en-US" sz="2400" b="1" kern="100" dirty="0">
                <a:solidFill>
                  <a:srgbClr val="014B88"/>
                </a:solidFill>
                <a:latin typeface="仿宋_GB2312"/>
                <a:cs typeface="Times New Roman" panose="02020603050405020304" pitchFamily="18" charset="0"/>
              </a:rPr>
              <a:t>不可行的情况：当前剩余小木棍不能凑出完整的一根长度为</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的木棍</a:t>
            </a:r>
            <a:endParaRPr lang="en-US" altLang="zh-CN" sz="2400" b="1" kern="100" dirty="0">
              <a:solidFill>
                <a:srgbClr val="014B88"/>
              </a:solidFill>
              <a:latin typeface="仿宋_GB2312"/>
              <a:cs typeface="Times New Roman" panose="02020603050405020304" pitchFamily="18" charset="0"/>
            </a:endParaRPr>
          </a:p>
          <a:p>
            <a:pPr marL="0" indent="0">
              <a:lnSpc>
                <a:spcPct val="150000"/>
              </a:lnSpc>
              <a:buNone/>
              <a:defRPr/>
            </a:pPr>
            <a:r>
              <a:rPr lang="zh-CN" altLang="en-US" sz="2400" b="1" kern="100" dirty="0">
                <a:solidFill>
                  <a:srgbClr val="014B88"/>
                </a:solidFill>
                <a:latin typeface="仿宋_GB2312"/>
                <a:cs typeface="Times New Roman" panose="02020603050405020304" pitchFamily="18" charset="0"/>
              </a:rPr>
              <a:t>优化策略：</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、枚举原始木棍长度时从小木棍的最大长度开始，且枚举的长度</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是所有小木棍总长度的约数，最后一根长木棍不用拼凑</a:t>
            </a:r>
            <a:endParaRPr lang="en-US" altLang="zh-CN" sz="2400" b="1" kern="100" dirty="0">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2</a:t>
            </a:r>
            <a:r>
              <a:rPr lang="zh-CN" altLang="en-US" sz="2400" b="1" kern="100" dirty="0">
                <a:solidFill>
                  <a:srgbClr val="014B88"/>
                </a:solidFill>
                <a:latin typeface="仿宋_GB2312"/>
                <a:cs typeface="Times New Roman" panose="02020603050405020304" pitchFamily="18" charset="0"/>
              </a:rPr>
              <a:t>、将小木棍按照长度降序排列，先凑比较长的木棍，出现不可行的情况时更容易显现</a:t>
            </a:r>
            <a:endParaRPr lang="en-US" altLang="zh-CN" sz="2400" b="1" kern="100" dirty="0">
              <a:solidFill>
                <a:srgbClr val="014B88"/>
              </a:solidFill>
              <a:latin typeface="仿宋_GB2312"/>
              <a:cs typeface="Times New Roman" panose="02020603050405020304" pitchFamily="18" charset="0"/>
            </a:endParaRPr>
          </a:p>
          <a:p>
            <a:pPr marL="457200" indent="-457200">
              <a:buFont typeface="Wingdings" panose="05000000000000000000" pitchFamily="2" charset="2"/>
              <a:buAutoNum type="arabicPeriod"/>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 calcmode="lin" valueType="num">
                                      <p:cBhvr additive="base">
                                        <p:cTn id="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 calcmode="lin" valueType="num">
                                      <p:cBhvr additive="base">
                                        <p:cTn id="13"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4294967295"/>
          </p:nvPr>
        </p:nvSpPr>
        <p:spPr>
          <a:xfrm>
            <a:off x="523783" y="1253331"/>
            <a:ext cx="10515600" cy="4351337"/>
          </a:xfrm>
        </p:spPr>
        <p:txBody>
          <a:bodyPr>
            <a:normAutofit fontScale="85000" lnSpcReduction="10000"/>
          </a:bodyPr>
          <a:lstStyle/>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3</a:t>
            </a:r>
            <a:r>
              <a:rPr lang="zh-CN" altLang="en-US" sz="2400" b="1" kern="100" dirty="0">
                <a:solidFill>
                  <a:srgbClr val="014B88"/>
                </a:solidFill>
                <a:latin typeface="仿宋_GB2312"/>
                <a:cs typeface="Times New Roman" panose="02020603050405020304" pitchFamily="18" charset="0"/>
              </a:rPr>
              <a:t>、如果当前要从头开始拼凑一根长为</a:t>
            </a:r>
            <a:r>
              <a:rPr lang="en-US" altLang="zh-CN" sz="2400" b="1" kern="100" dirty="0">
                <a:solidFill>
                  <a:srgbClr val="014B88"/>
                </a:solidFill>
                <a:latin typeface="仿宋_GB2312"/>
                <a:cs typeface="Times New Roman" panose="02020603050405020304" pitchFamily="18" charset="0"/>
              </a:rPr>
              <a:t>L</a:t>
            </a:r>
            <a:r>
              <a:rPr lang="zh-CN" altLang="en-US" sz="2400" b="1" kern="100" dirty="0">
                <a:solidFill>
                  <a:srgbClr val="014B88"/>
                </a:solidFill>
                <a:latin typeface="仿宋_GB2312"/>
                <a:cs typeface="Times New Roman" panose="02020603050405020304" pitchFamily="18" charset="0"/>
              </a:rPr>
              <a:t>的木棍，尝试一根小木棍，但不可行的话，剪枝（回溯到上一层），因为这根小木棍总要放到一根长木棍里</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4</a:t>
            </a:r>
            <a:r>
              <a:rPr lang="zh-CN" altLang="en-US" sz="2400" b="1" kern="100" dirty="0">
                <a:solidFill>
                  <a:srgbClr val="014B88"/>
                </a:solidFill>
                <a:latin typeface="仿宋_GB2312"/>
                <a:cs typeface="Times New Roman" panose="02020603050405020304" pitchFamily="18" charset="0"/>
              </a:rPr>
              <a:t>、如果当前放上当前小木棍恰好可以凑出一根长木棍的时候，但后面提示失败，剪枝，因为如果当前小木棍不可行，就必须使用后面更短的木棍来代替该小木棍，使得后面更加不可能拼凑成功</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5</a:t>
            </a:r>
            <a:r>
              <a:rPr lang="zh-CN" altLang="en-US" sz="2400" b="1" kern="100" dirty="0">
                <a:solidFill>
                  <a:srgbClr val="014B88"/>
                </a:solidFill>
                <a:latin typeface="仿宋_GB2312"/>
                <a:cs typeface="Times New Roman" panose="02020603050405020304" pitchFamily="18" charset="0"/>
              </a:rPr>
              <a:t>、凑满一根长木棍之前，只需从上一层递归过程试到的小木棍的下一根开始即可，因为前面的都不可行</a:t>
            </a:r>
            <a:endParaRPr lang="en-US" altLang="zh-CN" sz="2400" b="1" kern="100" dirty="0">
              <a:solidFill>
                <a:srgbClr val="014B88"/>
              </a:solidFill>
              <a:latin typeface="仿宋_GB2312"/>
              <a:cs typeface="Times New Roman" panose="02020603050405020304" pitchFamily="18" charset="0"/>
            </a:endParaRPr>
          </a:p>
          <a:p>
            <a:pPr>
              <a:lnSpc>
                <a:spcPct val="160000"/>
              </a:lnSpc>
              <a:buFont typeface="Wingdings" panose="05000000000000000000" pitchFamily="2" charset="2"/>
              <a:buChar char="l"/>
              <a:defRPr/>
            </a:pPr>
            <a:r>
              <a:rPr lang="en-US" altLang="zh-CN" sz="2400" b="1" kern="100" dirty="0">
                <a:solidFill>
                  <a:srgbClr val="014B88"/>
                </a:solidFill>
                <a:latin typeface="仿宋_GB2312"/>
                <a:cs typeface="Times New Roman" panose="02020603050405020304" pitchFamily="18" charset="0"/>
              </a:rPr>
              <a:t>6</a:t>
            </a:r>
            <a:r>
              <a:rPr lang="zh-CN" altLang="en-US" sz="2400" b="1" kern="100" dirty="0">
                <a:solidFill>
                  <a:srgbClr val="014B88"/>
                </a:solidFill>
                <a:latin typeface="仿宋_GB2312"/>
                <a:cs typeface="Times New Roman" panose="02020603050405020304" pitchFamily="18" charset="0"/>
              </a:rPr>
              <a:t>、跳过重复长度的木棍，如果当前木棍不可行，那么和其同样长度的木棍一样不可行</a:t>
            </a:r>
            <a:endParaRPr lang="en-US" altLang="zh-CN" sz="2400" b="1" kern="100" dirty="0">
              <a:solidFill>
                <a:srgbClr val="014B88"/>
              </a:solidFill>
              <a:latin typeface="仿宋_GB2312"/>
              <a:cs typeface="Times New Roman" panose="02020603050405020304" pitchFamily="18" charset="0"/>
            </a:endParaRPr>
          </a:p>
          <a:p>
            <a:pPr marL="457200" indent="-457200">
              <a:buFont typeface="Wingdings" panose="05000000000000000000" pitchFamily="2" charset="2"/>
              <a:buAutoNum type="arabicPeriod" startAt="5"/>
              <a:defRPr/>
            </a:pPr>
            <a:endParaRPr lang="en-US" altLang="zh-CN" dirty="0"/>
          </a:p>
          <a:p>
            <a:pPr eaLnBrk="1" hangingPunct="1">
              <a:defRPr/>
            </a:pPr>
            <a:endParaRPr lang="zh-CN" altLang="en-US" dirty="0"/>
          </a:p>
          <a:p>
            <a:pPr eaLnBrk="1" hangingPunct="1">
              <a:defRPr/>
            </a:pPr>
            <a:endParaRPr lang="zh-CN" altLang="en-US" dirty="0"/>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36"/>
          <p:cNvSpPr txBox="1"/>
          <p:nvPr/>
        </p:nvSpPr>
        <p:spPr>
          <a:xfrm>
            <a:off x="166124" y="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 |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4" name="矩形 3"/>
          <p:cNvSpPr/>
          <p:nvPr/>
        </p:nvSpPr>
        <p:spPr>
          <a:xfrm>
            <a:off x="41429" y="610136"/>
            <a:ext cx="12109141" cy="6247864"/>
          </a:xfrm>
          <a:prstGeom prst="rect">
            <a:avLst/>
          </a:prstGeom>
          <a:solidFill>
            <a:schemeClr val="tx1"/>
          </a:solidFill>
        </p:spPr>
        <p:txBody>
          <a:bodyPr wrap="square">
            <a:spAutoFit/>
          </a:bodyPr>
          <a:lstStyle/>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t>
            </a:r>
            <a:r>
              <a:rPr lang="en-US" altLang="zh-CN" sz="1600" dirty="0" err="1">
                <a:solidFill>
                  <a:srgbClr val="CE9178"/>
                </a:solidFill>
                <a:latin typeface="Consolas" panose="020B0609020204030204" pitchFamily="49" charset="0"/>
              </a:rPr>
              <a:t>cstdio</a:t>
            </a:r>
            <a:r>
              <a:rPr lang="en-US" altLang="zh-CN" sz="1600" dirty="0">
                <a:solidFill>
                  <a:srgbClr val="CE9178"/>
                </a:solidFill>
                <a:latin typeface="Consolas" panose="020B0609020204030204" pitchFamily="49" charset="0"/>
              </a:rPr>
              <a:t>&gt;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t>
            </a:r>
            <a:r>
              <a:rPr lang="en-US" altLang="zh-CN" sz="1600" dirty="0" err="1">
                <a:solidFill>
                  <a:srgbClr val="CE9178"/>
                </a:solidFill>
                <a:latin typeface="Consolas" panose="020B0609020204030204" pitchFamily="49" charset="0"/>
              </a:rPr>
              <a:t>cstring</a:t>
            </a:r>
            <a:r>
              <a:rPr lang="en-US" altLang="zh-CN" sz="1600" dirty="0">
                <a:solidFill>
                  <a:srgbClr val="CE9178"/>
                </a:solidFill>
                <a:latin typeface="Consolas" panose="020B0609020204030204" pitchFamily="49" charset="0"/>
              </a:rPr>
              <a:t>&gt;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#include</a:t>
            </a:r>
            <a:r>
              <a:rPr lang="en-US" altLang="zh-CN" sz="1600" dirty="0">
                <a:solidFill>
                  <a:srgbClr val="569CD6"/>
                </a:solidFill>
                <a:latin typeface="Consolas" panose="020B0609020204030204" pitchFamily="49" charset="0"/>
              </a:rPr>
              <a:t> </a:t>
            </a:r>
            <a:r>
              <a:rPr lang="en-US" altLang="zh-CN" sz="1600" dirty="0">
                <a:solidFill>
                  <a:srgbClr val="CE9178"/>
                </a:solidFill>
                <a:latin typeface="Consolas" panose="020B0609020204030204" pitchFamily="49" charset="0"/>
              </a:rPr>
              <a:t>&lt;algorithm&gt;</a:t>
            </a:r>
            <a:endParaRPr lang="en-US" altLang="zh-CN" sz="1600" dirty="0">
              <a:solidFill>
                <a:srgbClr val="D4D4D4"/>
              </a:solidFill>
              <a:latin typeface="Consolas" panose="020B0609020204030204" pitchFamily="49" charset="0"/>
            </a:endParaRPr>
          </a:p>
          <a:p>
            <a:r>
              <a:rPr lang="en-US" altLang="zh-CN" sz="1600" dirty="0">
                <a:solidFill>
                  <a:srgbClr val="C586C0"/>
                </a:solidFill>
                <a:latin typeface="Consolas" panose="020B0609020204030204" pitchFamily="49" charset="0"/>
              </a:rPr>
              <a:t>using</a:t>
            </a:r>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namespace</a:t>
            </a:r>
            <a:r>
              <a:rPr lang="en-US" altLang="zh-CN" sz="1600" dirty="0">
                <a:solidFill>
                  <a:srgbClr val="D4D4D4"/>
                </a:solidFill>
                <a:latin typeface="Consolas" panose="020B0609020204030204" pitchFamily="49" charset="0"/>
              </a:rPr>
              <a:t> </a:t>
            </a:r>
            <a:r>
              <a:rPr lang="en-US" altLang="zh-CN" sz="1600" dirty="0">
                <a:solidFill>
                  <a:srgbClr val="4EC9B0"/>
                </a:solidFill>
                <a:latin typeface="Consolas" panose="020B0609020204030204" pitchFamily="49" charset="0"/>
              </a:rPr>
              <a:t>std</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100</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100</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sum</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n</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//used</a:t>
            </a:r>
            <a:r>
              <a:rPr lang="zh-CN" altLang="en-US" sz="1600" dirty="0">
                <a:solidFill>
                  <a:srgbClr val="6A9955"/>
                </a:solidFill>
                <a:latin typeface="Consolas" panose="020B0609020204030204" pitchFamily="49" charset="0"/>
              </a:rPr>
              <a:t>数组标记小木棍是否已经被使用，</a:t>
            </a:r>
            <a:r>
              <a:rPr lang="en-US" altLang="zh-CN" sz="1600" dirty="0" err="1">
                <a:solidFill>
                  <a:srgbClr val="6A9955"/>
                </a:solidFill>
                <a:latin typeface="Consolas" panose="020B0609020204030204" pitchFamily="49" charset="0"/>
              </a:rPr>
              <a:t>len</a:t>
            </a:r>
            <a:r>
              <a:rPr lang="zh-CN" altLang="en-US" sz="1600" dirty="0">
                <a:solidFill>
                  <a:srgbClr val="6A9955"/>
                </a:solidFill>
                <a:latin typeface="Consolas" panose="020B0609020204030204" pitchFamily="49" charset="0"/>
              </a:rPr>
              <a:t>存放小木棍的长度，</a:t>
            </a:r>
            <a:r>
              <a:rPr lang="en-US" altLang="zh-CN" sz="1600" dirty="0">
                <a:solidFill>
                  <a:srgbClr val="6A9955"/>
                </a:solidFill>
                <a:latin typeface="Consolas" panose="020B0609020204030204" pitchFamily="49" charset="0"/>
              </a:rPr>
              <a:t>n</a:t>
            </a:r>
            <a:r>
              <a:rPr lang="zh-CN" altLang="en-US" sz="1600" dirty="0">
                <a:solidFill>
                  <a:srgbClr val="6A9955"/>
                </a:solidFill>
                <a:latin typeface="Consolas" panose="020B0609020204030204" pitchFamily="49" charset="0"/>
              </a:rPr>
              <a:t>是小木棍个数，</a:t>
            </a:r>
            <a:r>
              <a:rPr lang="en-US" altLang="zh-CN" sz="1600" dirty="0">
                <a:solidFill>
                  <a:srgbClr val="6A9955"/>
                </a:solidFill>
                <a:latin typeface="Consolas" panose="020B0609020204030204" pitchFamily="49" charset="0"/>
              </a:rPr>
              <a:t>Min</a:t>
            </a:r>
            <a:r>
              <a:rPr lang="zh-CN" altLang="en-US" sz="1600" dirty="0">
                <a:solidFill>
                  <a:srgbClr val="6A9955"/>
                </a:solidFill>
                <a:latin typeface="Consolas" panose="020B0609020204030204" pitchFamily="49" charset="0"/>
              </a:rPr>
              <a:t>是枚举的长木棍的长度</a:t>
            </a:r>
            <a:endParaRPr lang="zh-CN" altLang="en-US" sz="1600" dirty="0">
              <a:solidFill>
                <a:srgbClr val="D4D4D4"/>
              </a:solidFill>
              <a:latin typeface="Consolas" panose="020B0609020204030204" pitchFamily="49" charset="0"/>
            </a:endParaRPr>
          </a:p>
          <a:p>
            <a:r>
              <a:rPr lang="en-US" altLang="zh-CN" sz="1600" dirty="0">
                <a:solidFill>
                  <a:srgbClr val="569CD6"/>
                </a:solidFill>
                <a:latin typeface="Consolas" panose="020B0609020204030204" pitchFamily="49" charset="0"/>
              </a:rPr>
              <a:t>inline</a:t>
            </a:r>
            <a:r>
              <a:rPr lang="en-US" altLang="zh-CN"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p</a:t>
            </a:r>
            <a:r>
              <a:rPr lang="en-US" altLang="zh-CN" sz="1600" dirty="0" err="1">
                <a:solidFill>
                  <a:srgbClr val="D4D4D4"/>
                </a:solidFill>
                <a:latin typeface="Consolas" panose="020B0609020204030204" pitchFamily="49" charset="0"/>
              </a:rPr>
              <a:t>,</a:t>
            </a:r>
            <a:r>
              <a:rPr lang="en-US" altLang="zh-CN" sz="1600" dirty="0" err="1">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rest</a:t>
            </a:r>
            <a:r>
              <a:rPr lang="en-US" altLang="zh-CN" sz="1600" dirty="0" err="1">
                <a:solidFill>
                  <a:srgbClr val="D4D4D4"/>
                </a:solidFill>
                <a:latin typeface="Consolas" panose="020B0609020204030204" pitchFamily="49" charset="0"/>
              </a:rPr>
              <a:t>,</a:t>
            </a:r>
            <a:r>
              <a:rPr lang="en-US" altLang="zh-CN" sz="1600" dirty="0" err="1">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//p</a:t>
            </a:r>
            <a:r>
              <a:rPr lang="zh-CN" altLang="en-US" sz="1600" dirty="0">
                <a:solidFill>
                  <a:srgbClr val="6A9955"/>
                </a:solidFill>
                <a:latin typeface="Consolas" panose="020B0609020204030204" pitchFamily="49" charset="0"/>
              </a:rPr>
              <a:t>为当前搜索到的小木棍标号，</a:t>
            </a:r>
            <a:r>
              <a:rPr lang="en-US" altLang="zh-CN" sz="1600" dirty="0">
                <a:solidFill>
                  <a:srgbClr val="6A9955"/>
                </a:solidFill>
                <a:latin typeface="Consolas" panose="020B0609020204030204" pitchFamily="49" charset="0"/>
              </a:rPr>
              <a:t>rest</a:t>
            </a:r>
            <a:r>
              <a:rPr lang="zh-CN" altLang="en-US" sz="1600" dirty="0">
                <a:solidFill>
                  <a:srgbClr val="6A9955"/>
                </a:solidFill>
                <a:latin typeface="Consolas" panose="020B0609020204030204" pitchFamily="49" charset="0"/>
              </a:rPr>
              <a:t>为正在拼凑的长木棍剩余的长度，</a:t>
            </a:r>
            <a:r>
              <a:rPr lang="en-US" altLang="zh-CN" sz="1600" dirty="0" err="1">
                <a:solidFill>
                  <a:srgbClr val="6A9955"/>
                </a:solidFill>
                <a:latin typeface="Consolas" panose="020B0609020204030204" pitchFamily="49" charset="0"/>
              </a:rPr>
              <a:t>trest</a:t>
            </a:r>
            <a:r>
              <a:rPr lang="zh-CN" altLang="en-US" sz="1600" dirty="0">
                <a:solidFill>
                  <a:srgbClr val="6A9955"/>
                </a:solidFill>
                <a:latin typeface="Consolas" panose="020B0609020204030204" pitchFamily="49" charset="0"/>
              </a:rPr>
              <a:t>为当前剩余的小木棍的总长度</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569CD6"/>
                </a:solidFill>
                <a:latin typeface="Consolas" panose="020B0609020204030204" pitchFamily="49" charset="0"/>
              </a:rPr>
              <a:t>int</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如果剩余小木棍的总长度恰好等于要拼凑的长木棍的长度，直接返回（优化</a:t>
            </a:r>
            <a:r>
              <a:rPr lang="en-US" altLang="zh-CN" sz="1600" dirty="0">
                <a:solidFill>
                  <a:srgbClr val="6A9955"/>
                </a:solidFill>
                <a:latin typeface="Consolas" panose="020B0609020204030204" pitchFamily="49" charset="0"/>
              </a:rPr>
              <a:t>1</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for</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p</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9CDCFE"/>
                </a:solidFill>
                <a:latin typeface="Consolas" panose="020B0609020204030204" pitchFamily="49" charset="0"/>
              </a:rPr>
              <a:t>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&amp;&amp;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&lt;=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如果当前小木棍未被使用并且长度小于正在拼凑的长木棍剩余的长度，将其拼凑进该长木棍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如果当前小木棍长度恰好能够拼凑成当前长木棍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trest</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a:t>
            </a:r>
            <a:r>
              <a:rPr lang="zh-CN" altLang="en-US" sz="1600" dirty="0">
                <a:solidFill>
                  <a:srgbClr val="6A9955"/>
                </a:solidFill>
                <a:latin typeface="Consolas" panose="020B0609020204030204" pitchFamily="49" charset="0"/>
              </a:rPr>
              <a:t>继续拼凑其他长木棍，如果成功，即找到可行解</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else</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DCDCAA"/>
                </a:solidFill>
                <a:latin typeface="Consolas" panose="020B0609020204030204" pitchFamily="49" charset="0"/>
              </a:rPr>
              <a:t>find</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trest</a:t>
            </a:r>
            <a:r>
              <a:rPr lang="en-US" altLang="zh-CN" sz="1600" dirty="0" err="1">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当前小木棍不能恰好拼凑完成当前长木棍，从下一根小木棍开始搜索，继续拼凑当前长木棍（优化</a:t>
            </a:r>
            <a:r>
              <a:rPr lang="en-US" altLang="zh-CN" sz="1600" dirty="0">
                <a:solidFill>
                  <a:srgbClr val="6A9955"/>
                </a:solidFill>
                <a:latin typeface="Consolas" panose="020B0609020204030204" pitchFamily="49" charset="0"/>
              </a:rPr>
              <a:t>5</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used</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如果以上均找不到可行解，回溯，即不使用该小木棍</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if</a:t>
            </a:r>
            <a:r>
              <a:rPr lang="en-US" altLang="zh-CN" sz="1600" dirty="0">
                <a:solidFill>
                  <a:srgbClr val="D4D4D4"/>
                </a:solidFill>
                <a:latin typeface="Consolas" panose="020B0609020204030204" pitchFamily="49" charset="0"/>
              </a:rPr>
              <a:t> (</a:t>
            </a:r>
            <a:r>
              <a:rPr lang="en-US" altLang="zh-CN" sz="1600" dirty="0">
                <a:solidFill>
                  <a:srgbClr val="9CDCFE"/>
                </a:solidFill>
                <a:latin typeface="Consolas" panose="020B0609020204030204" pitchFamily="49" charset="0"/>
              </a:rPr>
              <a:t>rest</a:t>
            </a:r>
            <a:r>
              <a:rPr lang="en-US" altLang="zh-CN" sz="1600" dirty="0">
                <a:solidFill>
                  <a:srgbClr val="D4D4D4"/>
                </a:solidFill>
                <a:latin typeface="Consolas" panose="020B0609020204030204" pitchFamily="49" charset="0"/>
              </a:rPr>
              <a:t> == </a:t>
            </a:r>
            <a:r>
              <a:rPr lang="en-US" altLang="zh-CN" sz="1600" dirty="0">
                <a:solidFill>
                  <a:srgbClr val="9CDCFE"/>
                </a:solidFill>
                <a:latin typeface="Consolas" panose="020B0609020204030204" pitchFamily="49" charset="0"/>
              </a:rPr>
              <a:t>Min</a:t>
            </a:r>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当前拼凑的长木棍为从头开始拼凑的，搜索该小木棍不能找到可行解，剪枝（优化</a:t>
            </a:r>
            <a:r>
              <a:rPr lang="en-US" altLang="zh-CN" sz="1600" dirty="0">
                <a:solidFill>
                  <a:srgbClr val="6A9955"/>
                </a:solidFill>
                <a:latin typeface="Consolas" panose="020B0609020204030204" pitchFamily="49" charset="0"/>
              </a:rPr>
              <a:t>3</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while</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B5CEA8"/>
                </a:solidFill>
                <a:latin typeface="Consolas" panose="020B0609020204030204" pitchFamily="49" charset="0"/>
              </a:rPr>
              <a:t>1</a:t>
            </a:r>
            <a:r>
              <a:rPr lang="en-US" altLang="zh-CN" sz="1600" dirty="0">
                <a:solidFill>
                  <a:srgbClr val="D4D4D4"/>
                </a:solidFill>
                <a:latin typeface="Consolas" panose="020B0609020204030204" pitchFamily="49" charset="0"/>
              </a:rPr>
              <a:t>] == </a:t>
            </a:r>
            <a:r>
              <a:rPr lang="en-US" altLang="zh-CN" sz="1600" dirty="0" err="1">
                <a:solidFill>
                  <a:srgbClr val="9CDCFE"/>
                </a:solidFill>
                <a:latin typeface="Consolas" panose="020B0609020204030204" pitchFamily="49" charset="0"/>
              </a:rPr>
              <a:t>len</a:t>
            </a:r>
            <a:r>
              <a:rPr lang="en-US" altLang="zh-CN" sz="1600" dirty="0">
                <a:solidFill>
                  <a:srgbClr val="D4D4D4"/>
                </a:solidFill>
                <a:latin typeface="Consolas" panose="020B0609020204030204" pitchFamily="49" charset="0"/>
              </a:rPr>
              <a:t>[</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 </a:t>
            </a:r>
            <a:r>
              <a:rPr lang="en-US" altLang="zh-CN" sz="1600" dirty="0" err="1">
                <a:solidFill>
                  <a:srgbClr val="9CDCFE"/>
                </a:solidFill>
                <a:latin typeface="Consolas" panose="020B0609020204030204" pitchFamily="49" charset="0"/>
              </a:rPr>
              <a:t>i</a:t>
            </a:r>
            <a:r>
              <a:rPr lang="en-US" altLang="zh-CN" sz="1600" dirty="0">
                <a:solidFill>
                  <a:srgbClr val="D4D4D4"/>
                </a:solidFill>
                <a:latin typeface="Consolas" panose="020B0609020204030204" pitchFamily="49" charset="0"/>
              </a:rPr>
              <a:t>++;</a:t>
            </a:r>
            <a:r>
              <a:rPr lang="en-US" altLang="zh-CN" sz="1600" dirty="0">
                <a:solidFill>
                  <a:srgbClr val="6A9955"/>
                </a:solidFill>
                <a:latin typeface="Consolas" panose="020B0609020204030204" pitchFamily="49" charset="0"/>
              </a:rPr>
              <a:t> //</a:t>
            </a:r>
            <a:r>
              <a:rPr lang="zh-CN" altLang="en-US" sz="1600" dirty="0">
                <a:solidFill>
                  <a:srgbClr val="6A9955"/>
                </a:solidFill>
                <a:latin typeface="Consolas" panose="020B0609020204030204" pitchFamily="49" charset="0"/>
              </a:rPr>
              <a:t>该长度的小木棍找不到可行解，跳过与其长度相同的小木棍（优化</a:t>
            </a:r>
            <a:r>
              <a:rPr lang="en-US" altLang="zh-CN" sz="1600" dirty="0">
                <a:solidFill>
                  <a:srgbClr val="6A9955"/>
                </a:solidFill>
                <a:latin typeface="Consolas" panose="020B0609020204030204" pitchFamily="49" charset="0"/>
              </a:rPr>
              <a:t>6</a:t>
            </a:r>
            <a:r>
              <a:rPr lang="zh-CN" altLang="en-US" sz="1600" dirty="0">
                <a:solidFill>
                  <a:srgbClr val="6A9955"/>
                </a:solidFill>
                <a:latin typeface="Consolas" panose="020B0609020204030204" pitchFamily="49" charset="0"/>
              </a:rPr>
              <a:t>）</a:t>
            </a:r>
            <a:endParaRPr lang="zh-CN" altLang="en-US" sz="1600" dirty="0">
              <a:solidFill>
                <a:srgbClr val="D4D4D4"/>
              </a:solidFill>
              <a:latin typeface="Consolas" panose="020B0609020204030204" pitchFamily="49" charset="0"/>
            </a:endParaRPr>
          </a:p>
          <a:p>
            <a:r>
              <a:rPr lang="zh-CN" altLang="en-US" sz="1600" dirty="0">
                <a:solidFill>
                  <a:srgbClr val="D4D4D4"/>
                </a:solidFill>
                <a:latin typeface="Consolas" panose="020B0609020204030204" pitchFamily="49" charset="0"/>
              </a:rPr>
              <a:t>       </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    </a:t>
            </a:r>
            <a:r>
              <a:rPr lang="en-US" altLang="zh-CN" sz="1600" dirty="0">
                <a:solidFill>
                  <a:srgbClr val="C586C0"/>
                </a:solidFill>
                <a:latin typeface="Consolas" panose="020B0609020204030204" pitchFamily="49" charset="0"/>
              </a:rPr>
              <a:t>return</a:t>
            </a:r>
            <a:r>
              <a:rPr lang="en-US" altLang="zh-CN" sz="1600" dirty="0">
                <a:solidFill>
                  <a:srgbClr val="D4D4D4"/>
                </a:solidFill>
                <a:latin typeface="Consolas" panose="020B0609020204030204" pitchFamily="49" charset="0"/>
              </a:rPr>
              <a:t> </a:t>
            </a:r>
            <a:r>
              <a:rPr lang="en-US" altLang="zh-CN" sz="1600" dirty="0">
                <a:solidFill>
                  <a:srgbClr val="B5CEA8"/>
                </a:solidFill>
                <a:latin typeface="Consolas" panose="020B0609020204030204" pitchFamily="49" charset="0"/>
              </a:rPr>
              <a:t>0</a:t>
            </a:r>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a:p>
            <a:r>
              <a:rPr lang="en-US" altLang="zh-CN" sz="1600" dirty="0">
                <a:solidFill>
                  <a:srgbClr val="D4D4D4"/>
                </a:solidFill>
                <a:latin typeface="Consolas" panose="020B0609020204030204" pitchFamily="49" charset="0"/>
              </a:rPr>
              <a:t>}</a:t>
            </a:r>
            <a:endParaRPr lang="en-US" altLang="zh-CN" sz="1600" dirty="0">
              <a:solidFill>
                <a:srgbClr val="D4D4D4"/>
              </a:solidFill>
              <a:latin typeface="Consolas" panose="020B0609020204030204" pitchFamily="49" charset="0"/>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7003" y="788608"/>
            <a:ext cx="12154997" cy="5632311"/>
          </a:xfrm>
          <a:prstGeom prst="rect">
            <a:avLst/>
          </a:prstGeom>
          <a:solidFill>
            <a:schemeClr val="tx1"/>
          </a:solidFill>
        </p:spPr>
        <p:txBody>
          <a:bodyPr wrap="square">
            <a:spAutoFit/>
          </a:bodyPr>
          <a:lstStyle/>
          <a:p>
            <a:r>
              <a:rPr lang="en-US" altLang="zh-CN" dirty="0">
                <a:solidFill>
                  <a:srgbClr val="569CD6"/>
                </a:solidFill>
                <a:latin typeface="Consolas" panose="020B0609020204030204" pitchFamily="49" charset="0"/>
              </a:rPr>
              <a:t>bool</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cmp</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a</a:t>
            </a:r>
            <a:r>
              <a:rPr lang="en-US" altLang="zh-CN" dirty="0" err="1">
                <a:solidFill>
                  <a:srgbClr val="D4D4D4"/>
                </a:solidFill>
                <a:latin typeface="Consolas" panose="020B0609020204030204" pitchFamily="49" charset="0"/>
              </a:rPr>
              <a:t>,</a:t>
            </a:r>
            <a:r>
              <a:rPr lang="en-US" altLang="zh-CN" dirty="0" err="1">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b</a:t>
            </a:r>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a</a:t>
            </a:r>
            <a:r>
              <a:rPr lang="en-US" altLang="zh-CN" dirty="0">
                <a:solidFill>
                  <a:srgbClr val="D4D4D4"/>
                </a:solidFill>
                <a:latin typeface="Consolas" panose="020B0609020204030204" pitchFamily="49" charset="0"/>
              </a:rPr>
              <a:t>&gt;</a:t>
            </a:r>
            <a:r>
              <a:rPr lang="en-US" altLang="zh-CN" dirty="0">
                <a:solidFill>
                  <a:srgbClr val="9CDCFE"/>
                </a:solidFill>
                <a:latin typeface="Consolas" panose="020B0609020204030204" pitchFamily="49" charset="0"/>
              </a:rPr>
              <a:t>b</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main</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569CD6"/>
                </a:solidFill>
                <a:latin typeface="Consolas" panose="020B0609020204030204" pitchFamily="49" charset="0"/>
              </a:rPr>
              <a:t>int</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scanf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a:t>
            </a:r>
            <a:r>
              <a:rPr lang="en-US" altLang="zh-CN" dirty="0" err="1">
                <a:solidFill>
                  <a:srgbClr val="9CDCFE"/>
                </a:solidFill>
                <a:latin typeface="Consolas" panose="020B0609020204030204" pitchFamily="49" charset="0"/>
              </a:rPr>
              <a:t>d</a:t>
            </a:r>
            <a:r>
              <a:rPr lang="en-US" altLang="zh-CN" dirty="0" err="1">
                <a:solidFill>
                  <a:srgbClr val="CE9178"/>
                </a:solidFill>
                <a:latin typeface="Consolas" panose="020B0609020204030204" pitchFamily="49" charset="0"/>
              </a:rPr>
              <a:t>"</a:t>
            </a:r>
            <a:r>
              <a:rPr lang="en-US" altLang="zh-CN" dirty="0" err="1">
                <a:solidFill>
                  <a:srgbClr val="D4D4D4"/>
                </a:solidFill>
                <a:latin typeface="Consolas" panose="020B0609020204030204" pitchFamily="49" charset="0"/>
              </a:rPr>
              <a:t>,&amp;</a:t>
            </a:r>
            <a:r>
              <a:rPr lang="en-US" altLang="zh-CN" dirty="0" err="1">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)&amp;&amp;</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&lt;=</a:t>
            </a:r>
            <a:r>
              <a:rPr lang="en-US" altLang="zh-CN" dirty="0" err="1">
                <a:solidFill>
                  <a:srgbClr val="9CDCFE"/>
                </a:solidFill>
                <a:latin typeface="Consolas" panose="020B0609020204030204" pitchFamily="49" charset="0"/>
              </a:rPr>
              <a:t>n</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scanf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%d</a:t>
            </a:r>
            <a:r>
              <a:rPr lang="en-US" altLang="zh-CN" dirty="0">
                <a:solidFill>
                  <a:srgbClr val="CE9178"/>
                </a:solidFill>
                <a:latin typeface="Consolas" panose="020B0609020204030204" pitchFamily="49" charset="0"/>
              </a:rPr>
              <a:t>"</a:t>
            </a:r>
            <a:r>
              <a:rPr lang="en-US" altLang="zh-CN" dirty="0">
                <a:solidFill>
                  <a:srgbClr val="D4D4D4"/>
                </a:solidFill>
                <a:latin typeface="Consolas" panose="020B0609020204030204" pitchFamily="49" charset="0"/>
              </a:rPr>
              <a:t>,&amp;</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memset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used</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r>
              <a:rPr lang="en-US" altLang="zh-CN" dirty="0">
                <a:solidFill>
                  <a:srgbClr val="569CD6"/>
                </a:solidFill>
                <a:latin typeface="Consolas" panose="020B0609020204030204" pitchFamily="49" charset="0"/>
              </a:rPr>
              <a:t>sizeof</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used</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sort</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DCDCAA"/>
                </a:solidFill>
                <a:latin typeface="Consolas" panose="020B0609020204030204" pitchFamily="49" charset="0"/>
              </a:rPr>
              <a:t>cmp</a:t>
            </a:r>
            <a:r>
              <a:rPr lang="en-US" altLang="zh-CN" dirty="0">
                <a:solidFill>
                  <a:srgbClr val="D4D4D4"/>
                </a:solidFill>
                <a:latin typeface="Consolas" panose="020B0609020204030204" pitchFamily="49" charset="0"/>
              </a:rPr>
              <a:t>);</a:t>
            </a:r>
            <a:r>
              <a:rPr lang="en-US" altLang="zh-CN" dirty="0">
                <a:solidFill>
                  <a:srgbClr val="6A9955"/>
                </a:solidFill>
                <a:latin typeface="Consolas" panose="020B0609020204030204" pitchFamily="49" charset="0"/>
              </a:rPr>
              <a:t> //</a:t>
            </a:r>
            <a:r>
              <a:rPr lang="zh-CN" altLang="en-US" dirty="0">
                <a:solidFill>
                  <a:srgbClr val="6A9955"/>
                </a:solidFill>
                <a:latin typeface="Consolas" panose="020B0609020204030204" pitchFamily="49" charset="0"/>
              </a:rPr>
              <a:t>将小木棍按照长度降序排列（优化</a:t>
            </a:r>
            <a:r>
              <a:rPr lang="en-US" altLang="zh-CN" dirty="0">
                <a:solidFill>
                  <a:srgbClr val="6A9955"/>
                </a:solidFill>
                <a:latin typeface="Consolas" panose="020B0609020204030204" pitchFamily="49" charset="0"/>
              </a:rPr>
              <a:t>2</a:t>
            </a:r>
            <a:r>
              <a:rPr lang="zh-CN" altLang="en-US" dirty="0">
                <a:solidFill>
                  <a:srgbClr val="6A9955"/>
                </a:solidFill>
                <a:latin typeface="Consolas" panose="020B0609020204030204" pitchFamily="49" charset="0"/>
              </a:rPr>
              <a:t>）</a:t>
            </a:r>
            <a:endParaRPr lang="zh-CN" altLang="en-US" dirty="0">
              <a:solidFill>
                <a:srgbClr val="D4D4D4"/>
              </a:solidFill>
              <a:latin typeface="Consolas" panose="020B0609020204030204" pitchFamily="49" charset="0"/>
            </a:endParaRPr>
          </a:p>
          <a:p>
            <a:r>
              <a:rPr lang="zh-CN" altLang="en-US"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for</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&lt;= </a:t>
            </a:r>
            <a:r>
              <a:rPr lang="en-US" altLang="zh-CN" dirty="0">
                <a:solidFill>
                  <a:srgbClr val="9CDCFE"/>
                </a:solidFill>
                <a:latin typeface="Consolas" panose="020B0609020204030204" pitchFamily="49" charset="0"/>
              </a:rPr>
              <a:t>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i</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err="1">
                <a:solidFill>
                  <a:srgbClr val="9CDCFE"/>
                </a:solidFill>
                <a:latin typeface="Consolas" panose="020B0609020204030204" pitchFamily="49" charset="0"/>
              </a:rPr>
              <a:t>len</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sum</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a:solidFill>
                  <a:srgbClr val="DCDCAA"/>
                </a:solidFill>
                <a:latin typeface="Consolas" panose="020B0609020204030204" pitchFamily="49" charset="0"/>
              </a:rPr>
              <a:t>find</a:t>
            </a:r>
            <a:r>
              <a:rPr lang="en-US" altLang="zh-CN" dirty="0">
                <a:solidFill>
                  <a:srgbClr val="D4D4D4"/>
                </a:solidFill>
                <a:latin typeface="Consolas" panose="020B0609020204030204" pitchFamily="49" charset="0"/>
              </a:rPr>
              <a:t>(</a:t>
            </a:r>
            <a:r>
              <a:rPr lang="en-US" altLang="zh-CN" dirty="0">
                <a:solidFill>
                  <a:srgbClr val="B5CEA8"/>
                </a:solidFill>
                <a:latin typeface="Consolas" panose="020B0609020204030204" pitchFamily="49" charset="0"/>
              </a:rPr>
              <a:t>1</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r>
              <a:rPr lang="en-US" altLang="zh-CN" dirty="0">
                <a:solidFill>
                  <a:srgbClr val="9CDCFE"/>
                </a:solidFill>
                <a:latin typeface="Consolas" panose="020B0609020204030204" pitchFamily="49" charset="0"/>
              </a:rPr>
              <a:t>sum</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while</a:t>
            </a:r>
            <a:r>
              <a:rPr lang="en-US" altLang="zh-CN" dirty="0">
                <a:solidFill>
                  <a:srgbClr val="D4D4D4"/>
                </a:solidFill>
                <a:latin typeface="Consolas" panose="020B0609020204030204" pitchFamily="49" charset="0"/>
              </a:rPr>
              <a:t> (</a:t>
            </a:r>
            <a:r>
              <a:rPr lang="en-US" altLang="zh-CN" dirty="0" err="1">
                <a:solidFill>
                  <a:srgbClr val="9CDCFE"/>
                </a:solidFill>
                <a:latin typeface="Consolas" panose="020B0609020204030204" pitchFamily="49" charset="0"/>
              </a:rPr>
              <a:t>sum</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 !=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 </a:t>
            </a:r>
            <a:r>
              <a:rPr lang="en-US" altLang="zh-CN" dirty="0">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r>
              <a:rPr lang="en-US" altLang="zh-CN" dirty="0">
                <a:solidFill>
                  <a:srgbClr val="6A9955"/>
                </a:solidFill>
                <a:latin typeface="Consolas" panose="020B0609020204030204" pitchFamily="49" charset="0"/>
              </a:rPr>
              <a:t> //</a:t>
            </a:r>
            <a:r>
              <a:rPr lang="zh-CN" altLang="en-US" dirty="0">
                <a:solidFill>
                  <a:srgbClr val="6A9955"/>
                </a:solidFill>
                <a:latin typeface="Consolas" panose="020B0609020204030204" pitchFamily="49" charset="0"/>
              </a:rPr>
              <a:t>跳过不是小木棍总长度的约数的原木棍长度（优化</a:t>
            </a:r>
            <a:r>
              <a:rPr lang="en-US" altLang="zh-CN" dirty="0">
                <a:solidFill>
                  <a:srgbClr val="6A9955"/>
                </a:solidFill>
                <a:latin typeface="Consolas" panose="020B0609020204030204" pitchFamily="49" charset="0"/>
              </a:rPr>
              <a:t>1</a:t>
            </a:r>
            <a:r>
              <a:rPr lang="zh-CN" altLang="en-US" dirty="0">
                <a:solidFill>
                  <a:srgbClr val="6A9955"/>
                </a:solidFill>
                <a:latin typeface="Consolas" panose="020B0609020204030204" pitchFamily="49" charset="0"/>
              </a:rPr>
              <a:t>）</a:t>
            </a:r>
            <a:endParaRPr lang="zh-CN" altLang="en-US" dirty="0">
              <a:solidFill>
                <a:srgbClr val="D4D4D4"/>
              </a:solidFill>
              <a:latin typeface="Consolas" panose="020B0609020204030204" pitchFamily="49" charset="0"/>
            </a:endParaRPr>
          </a:p>
          <a:p>
            <a:r>
              <a:rPr lang="zh-CN" altLang="en-US" dirty="0">
                <a:solidFill>
                  <a:srgbClr val="D4D4D4"/>
                </a:solidFill>
                <a:latin typeface="Consolas" panose="020B0609020204030204" pitchFamily="49" charset="0"/>
              </a:rPr>
              <a:t>       </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err="1">
                <a:solidFill>
                  <a:srgbClr val="DCDCAA"/>
                </a:solidFill>
                <a:latin typeface="Consolas" panose="020B0609020204030204" pitchFamily="49" charset="0"/>
              </a:rPr>
              <a:t>printf</a:t>
            </a:r>
            <a:r>
              <a:rPr lang="en-US" altLang="zh-CN" dirty="0">
                <a:solidFill>
                  <a:srgbClr val="D4D4D4"/>
                </a:solidFill>
                <a:latin typeface="Consolas" panose="020B0609020204030204" pitchFamily="49" charset="0"/>
              </a:rPr>
              <a:t>(</a:t>
            </a:r>
            <a:r>
              <a:rPr lang="en-US" altLang="zh-CN" dirty="0">
                <a:solidFill>
                  <a:srgbClr val="CE9178"/>
                </a:solidFill>
                <a:latin typeface="Consolas" panose="020B0609020204030204" pitchFamily="49" charset="0"/>
              </a:rPr>
              <a:t>"</a:t>
            </a:r>
            <a:r>
              <a:rPr lang="en-US" altLang="zh-CN" dirty="0">
                <a:solidFill>
                  <a:srgbClr val="9CDCFE"/>
                </a:solidFill>
                <a:latin typeface="Consolas" panose="020B0609020204030204" pitchFamily="49" charset="0"/>
              </a:rPr>
              <a:t>%d</a:t>
            </a:r>
            <a:r>
              <a:rPr lang="en-US" altLang="zh-CN" dirty="0">
                <a:solidFill>
                  <a:srgbClr val="D7BA7D"/>
                </a:solidFill>
                <a:latin typeface="Consolas" panose="020B0609020204030204" pitchFamily="49" charset="0"/>
              </a:rPr>
              <a:t>\</a:t>
            </a:r>
            <a:r>
              <a:rPr lang="en-US" altLang="zh-CN" dirty="0" err="1">
                <a:solidFill>
                  <a:srgbClr val="D7BA7D"/>
                </a:solidFill>
                <a:latin typeface="Consolas" panose="020B0609020204030204" pitchFamily="49" charset="0"/>
              </a:rPr>
              <a:t>n</a:t>
            </a:r>
            <a:r>
              <a:rPr lang="en-US" altLang="zh-CN" dirty="0" err="1">
                <a:solidFill>
                  <a:srgbClr val="CE9178"/>
                </a:solidFill>
                <a:latin typeface="Consolas" panose="020B0609020204030204" pitchFamily="49" charset="0"/>
              </a:rPr>
              <a:t>"</a:t>
            </a:r>
            <a:r>
              <a:rPr lang="en-US" altLang="zh-CN" dirty="0" err="1">
                <a:solidFill>
                  <a:srgbClr val="D4D4D4"/>
                </a:solidFill>
                <a:latin typeface="Consolas" panose="020B0609020204030204" pitchFamily="49" charset="0"/>
              </a:rPr>
              <a:t>,</a:t>
            </a:r>
            <a:r>
              <a:rPr lang="en-US" altLang="zh-CN" dirty="0" err="1">
                <a:solidFill>
                  <a:srgbClr val="9CDCFE"/>
                </a:solidFill>
                <a:latin typeface="Consolas" panose="020B0609020204030204" pitchFamily="49" charset="0"/>
              </a:rPr>
              <a:t>Min</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    </a:t>
            </a:r>
            <a:r>
              <a:rPr lang="en-US" altLang="zh-CN" dirty="0">
                <a:solidFill>
                  <a:srgbClr val="C586C0"/>
                </a:solidFill>
                <a:latin typeface="Consolas" panose="020B0609020204030204" pitchFamily="49" charset="0"/>
              </a:rPr>
              <a:t>return</a:t>
            </a:r>
            <a:r>
              <a:rPr lang="en-US" altLang="zh-CN" dirty="0">
                <a:solidFill>
                  <a:srgbClr val="D4D4D4"/>
                </a:solidFill>
                <a:latin typeface="Consolas" panose="020B0609020204030204" pitchFamily="49" charset="0"/>
              </a:rPr>
              <a:t> </a:t>
            </a:r>
            <a:r>
              <a:rPr lang="en-US" altLang="zh-CN" dirty="0">
                <a:solidFill>
                  <a:srgbClr val="B5CEA8"/>
                </a:solidFill>
                <a:latin typeface="Consolas" panose="020B0609020204030204" pitchFamily="49" charset="0"/>
              </a:rPr>
              <a:t>0</a:t>
            </a:r>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a:p>
            <a:r>
              <a:rPr lang="en-US" altLang="zh-CN" dirty="0">
                <a:solidFill>
                  <a:srgbClr val="D4D4D4"/>
                </a:solidFill>
                <a:latin typeface="Consolas" panose="020B0609020204030204" pitchFamily="49" charset="0"/>
              </a:rPr>
              <a:t>}</a:t>
            </a:r>
            <a:endParaRPr lang="en-US" altLang="zh-CN" dirty="0">
              <a:solidFill>
                <a:srgbClr val="D4D4D4"/>
              </a:solidFill>
              <a:latin typeface="Consolas" panose="020B0609020204030204" pitchFamily="49" charset="0"/>
            </a:endParaRPr>
          </a:p>
        </p:txBody>
      </p:sp>
      <p:sp>
        <p:nvSpPr>
          <p:cNvPr id="3" name="TextBox 36"/>
          <p:cNvSpPr txBox="1"/>
          <p:nvPr/>
        </p:nvSpPr>
        <p:spPr>
          <a:xfrm>
            <a:off x="253759" y="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Sticks | </a:t>
            </a:r>
            <a:r>
              <a:rPr lang="zh-CN" altLang="en-US" sz="3200" b="1" dirty="0">
                <a:solidFill>
                  <a:srgbClr val="C00000"/>
                </a:solidFill>
                <a:latin typeface="微软雅黑" panose="020B0503020204020204" pitchFamily="34" charset="-122"/>
                <a:ea typeface="微软雅黑" panose="020B0503020204020204" pitchFamily="34" charset="-122"/>
              </a:rPr>
              <a:t>代码分析</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3" name="内容占位符 2"/>
          <p:cNvSpPr>
            <a:spLocks noGrp="1"/>
          </p:cNvSpPr>
          <p:nvPr>
            <p:ph type="body" idx="4294967295"/>
          </p:nvPr>
        </p:nvSpPr>
        <p:spPr>
          <a:xfrm>
            <a:off x="96813" y="972053"/>
            <a:ext cx="11760387" cy="5020600"/>
          </a:xfrm>
        </p:spPr>
        <p:txBody>
          <a:bodyPr vert="horz" wrap="square" anchor="t">
            <a:noAutofit/>
          </a:bodyPr>
          <a:lstStyle/>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相同点： 都是对于</a:t>
            </a:r>
            <a:r>
              <a:rPr lang="zh-CN" altLang="en-US" b="1" kern="100" noProof="1">
                <a:solidFill>
                  <a:srgbClr val="FF0000"/>
                </a:solidFill>
                <a:latin typeface="仿宋_GB2312"/>
                <a:cs typeface="Times New Roman" panose="02020603050405020304" pitchFamily="18" charset="0"/>
              </a:rPr>
              <a:t>树状的搜索树</a:t>
            </a:r>
            <a:r>
              <a:rPr lang="zh-CN" altLang="en-US" b="1" kern="100" noProof="1">
                <a:solidFill>
                  <a:srgbClr val="014B88"/>
                </a:solidFill>
                <a:latin typeface="仿宋_GB2312"/>
                <a:cs typeface="Times New Roman" panose="02020603050405020304" pitchFamily="18" charset="0"/>
              </a:rPr>
              <a:t>进行，都可以判定解的存在性和总数。属于粗放型的搜索，接近于暴力解决。</a:t>
            </a:r>
            <a:endParaRPr lang="en-US" altLang="x-none" b="1" kern="100" noProof="1">
              <a:solidFill>
                <a:srgbClr val="014B88"/>
              </a:solidFill>
              <a:latin typeface="仿宋_GB2312"/>
              <a:cs typeface="Times New Roman" panose="02020603050405020304" pitchFamily="18" charset="0"/>
            </a:endParaRPr>
          </a:p>
          <a:p>
            <a:pPr lvl="1"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	不同点：</a:t>
            </a:r>
            <a:endParaRPr lang="en-US" altLang="zh-CN" b="1" kern="100" noProof="1">
              <a:solidFill>
                <a:srgbClr val="014B88"/>
              </a:solidFill>
              <a:latin typeface="仿宋_GB2312"/>
              <a:cs typeface="Times New Roman" panose="02020603050405020304" pitchFamily="18" charset="0"/>
            </a:endParaRPr>
          </a:p>
          <a:p>
            <a:pPr lvl="2"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深度优先搜索：利用</a:t>
            </a:r>
            <a:r>
              <a:rPr lang="zh-CN" altLang="en-US" b="1" kern="100" noProof="1">
                <a:solidFill>
                  <a:srgbClr val="FF0000"/>
                </a:solidFill>
                <a:latin typeface="仿宋_GB2312"/>
                <a:cs typeface="Times New Roman" panose="02020603050405020304" pitchFamily="18" charset="0"/>
              </a:rPr>
              <a:t>栈</a:t>
            </a:r>
            <a:r>
              <a:rPr lang="zh-CN" altLang="en-US" b="1" kern="100" noProof="1">
                <a:solidFill>
                  <a:srgbClr val="014B88"/>
                </a:solidFill>
                <a:latin typeface="仿宋_GB2312"/>
                <a:cs typeface="Times New Roman" panose="02020603050405020304" pitchFamily="18" charset="0"/>
              </a:rPr>
              <a:t>这种数据结构来实现（利用递归便于实现，但是效率较低），找到的解</a:t>
            </a:r>
            <a:r>
              <a:rPr lang="zh-CN" altLang="en-US" b="1" kern="100" noProof="1">
                <a:solidFill>
                  <a:srgbClr val="FF0000"/>
                </a:solidFill>
                <a:latin typeface="仿宋_GB2312"/>
                <a:cs typeface="Times New Roman" panose="02020603050405020304" pitchFamily="18" charset="0"/>
              </a:rPr>
              <a:t>不一定是最优解</a:t>
            </a:r>
            <a:r>
              <a:rPr lang="zh-CN" altLang="en-US" b="1" kern="100" noProof="1">
                <a:solidFill>
                  <a:srgbClr val="014B88"/>
                </a:solidFill>
                <a:latin typeface="仿宋_GB2312"/>
                <a:cs typeface="Times New Roman" panose="02020603050405020304" pitchFamily="18" charset="0"/>
              </a:rPr>
              <a:t>，找到的是</a:t>
            </a:r>
            <a:r>
              <a:rPr lang="zh-CN" altLang="en-US" b="1" kern="100" noProof="1">
                <a:solidFill>
                  <a:srgbClr val="FF0000"/>
                </a:solidFill>
                <a:latin typeface="仿宋_GB2312"/>
                <a:cs typeface="Times New Roman" panose="02020603050405020304" pitchFamily="18" charset="0"/>
              </a:rPr>
              <a:t>先序遍历最早的可行解</a:t>
            </a:r>
            <a:r>
              <a:rPr lang="zh-CN" altLang="en-US" b="1" kern="100" noProof="1">
                <a:solidFill>
                  <a:srgbClr val="014B88"/>
                </a:solidFill>
                <a:latin typeface="仿宋_GB2312"/>
                <a:cs typeface="Times New Roman" panose="02020603050405020304" pitchFamily="18" charset="0"/>
              </a:rPr>
              <a:t>。</a:t>
            </a:r>
            <a:endParaRPr lang="en-US" altLang="zh-CN" b="1" kern="100" noProof="1">
              <a:solidFill>
                <a:srgbClr val="014B88"/>
              </a:solidFill>
              <a:latin typeface="仿宋_GB2312"/>
              <a:cs typeface="Times New Roman" panose="02020603050405020304" pitchFamily="18" charset="0"/>
            </a:endParaRPr>
          </a:p>
          <a:p>
            <a:pPr lvl="2" algn="just">
              <a:lnSpc>
                <a:spcPct val="200000"/>
              </a:lnSpc>
              <a:buFont typeface="Wingdings" panose="05000000000000000000" pitchFamily="2" charset="2"/>
              <a:buChar char="l"/>
            </a:pPr>
            <a:r>
              <a:rPr lang="zh-CN" altLang="en-US" b="1" kern="100" noProof="1">
                <a:solidFill>
                  <a:srgbClr val="014B88"/>
                </a:solidFill>
                <a:latin typeface="仿宋_GB2312"/>
                <a:cs typeface="Times New Roman" panose="02020603050405020304" pitchFamily="18" charset="0"/>
              </a:rPr>
              <a:t>广度优先搜索：利用</a:t>
            </a:r>
            <a:r>
              <a:rPr lang="zh-CN" altLang="en-US" b="1" kern="100" noProof="1">
                <a:solidFill>
                  <a:srgbClr val="FF0000"/>
                </a:solidFill>
                <a:latin typeface="仿宋_GB2312"/>
                <a:cs typeface="Times New Roman" panose="02020603050405020304" pitchFamily="18" charset="0"/>
              </a:rPr>
              <a:t>队列</a:t>
            </a:r>
            <a:r>
              <a:rPr lang="zh-CN" altLang="en-US" b="1" kern="100" noProof="1">
                <a:solidFill>
                  <a:srgbClr val="014B88"/>
                </a:solidFill>
                <a:latin typeface="仿宋_GB2312"/>
                <a:cs typeface="Times New Roman" panose="02020603050405020304" pitchFamily="18" charset="0"/>
              </a:rPr>
              <a:t>这种数据结构来实现，找到的第一个解</a:t>
            </a:r>
            <a:r>
              <a:rPr lang="zh-CN" altLang="en-US" b="1" kern="100" noProof="1">
                <a:solidFill>
                  <a:srgbClr val="FF0000"/>
                </a:solidFill>
                <a:latin typeface="仿宋_GB2312"/>
                <a:cs typeface="Times New Roman" panose="02020603050405020304" pitchFamily="18" charset="0"/>
              </a:rPr>
              <a:t>经常都是最优解</a:t>
            </a:r>
            <a:r>
              <a:rPr lang="zh-CN" altLang="en-US" b="1" kern="100" noProof="1">
                <a:solidFill>
                  <a:srgbClr val="014B88"/>
                </a:solidFill>
                <a:latin typeface="仿宋_GB2312"/>
                <a:cs typeface="Times New Roman" panose="02020603050405020304" pitchFamily="18" charset="0"/>
              </a:rPr>
              <a:t>（如迷宫的最短路径），但是不常用来求所有解（重复的次优解常常都被</a:t>
            </a:r>
            <a:r>
              <a:rPr lang="zh-CN" altLang="en-US" b="1" kern="100" noProof="1">
                <a:solidFill>
                  <a:srgbClr val="FF0000"/>
                </a:solidFill>
                <a:latin typeface="仿宋_GB2312"/>
                <a:cs typeface="Times New Roman" panose="02020603050405020304" pitchFamily="18" charset="0"/>
              </a:rPr>
              <a:t>剪枝</a:t>
            </a:r>
            <a:r>
              <a:rPr lang="zh-CN" altLang="en-US" b="1" kern="100" noProof="1">
                <a:solidFill>
                  <a:srgbClr val="014B88"/>
                </a:solidFill>
                <a:latin typeface="仿宋_GB2312"/>
                <a:cs typeface="Times New Roman" panose="02020603050405020304" pitchFamily="18" charset="0"/>
              </a:rPr>
              <a:t>掉了）。</a:t>
            </a:r>
            <a:endParaRPr lang="zh-CN" altLang="en-US" b="1" kern="100" noProof="1">
              <a:solidFill>
                <a:srgbClr val="014B88"/>
              </a:solidFill>
              <a:latin typeface="仿宋_GB2312"/>
              <a:cs typeface="Times New Roman" panose="02020603050405020304" pitchFamily="18" charset="0"/>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en-US" altLang="zh-CN" sz="3200" b="1" dirty="0">
                <a:solidFill>
                  <a:srgbClr val="C00000"/>
                </a:solidFill>
                <a:latin typeface="微软雅黑" panose="020B0503020204020204" pitchFamily="34" charset="-122"/>
                <a:ea typeface="微软雅黑" panose="020B0503020204020204" pitchFamily="34" charset="-122"/>
              </a:rPr>
              <a:t>DFS</a:t>
            </a:r>
            <a:r>
              <a:rPr lang="zh-CN" altLang="en-US" sz="3200" b="1" dirty="0">
                <a:solidFill>
                  <a:srgbClr val="C00000"/>
                </a:solidFill>
                <a:latin typeface="微软雅黑" panose="020B0503020204020204" pitchFamily="34" charset="-122"/>
                <a:ea typeface="微软雅黑" panose="020B0503020204020204" pitchFamily="34" charset="-122"/>
              </a:rPr>
              <a:t>和</a:t>
            </a:r>
            <a:r>
              <a:rPr lang="en-US" altLang="zh-CN" sz="3200" b="1" dirty="0">
                <a:solidFill>
                  <a:srgbClr val="C00000"/>
                </a:solidFill>
                <a:latin typeface="微软雅黑" panose="020B0503020204020204" pitchFamily="34" charset="-122"/>
                <a:ea typeface="微软雅黑" panose="020B0503020204020204" pitchFamily="34" charset="-122"/>
              </a:rPr>
              <a:t>BFS</a:t>
            </a:r>
            <a:r>
              <a:rPr lang="zh-CN" altLang="en-US" sz="3200" b="1" dirty="0">
                <a:solidFill>
                  <a:srgbClr val="C00000"/>
                </a:solidFill>
                <a:latin typeface="微软雅黑" panose="020B0503020204020204" pitchFamily="34" charset="-122"/>
                <a:ea typeface="微软雅黑" panose="020B0503020204020204" pitchFamily="34" charset="-122"/>
              </a:rPr>
              <a:t>的比较</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1443">
                                            <p:txEl>
                                              <p:pRg st="0" end="0"/>
                                            </p:txEl>
                                          </p:spTgt>
                                        </p:tgtEl>
                                        <p:attrNameLst>
                                          <p:attrName>style.visibility</p:attrName>
                                        </p:attrNameLst>
                                      </p:cBhvr>
                                      <p:to>
                                        <p:strVal val="visible"/>
                                      </p:to>
                                    </p:set>
                                    <p:animEffect transition="in" filter="wipe(down)">
                                      <p:cBhvr>
                                        <p:cTn id="7" dur="500"/>
                                        <p:tgtEl>
                                          <p:spTgt spid="61443">
                                            <p:txEl>
                                              <p:pRg st="0" end="0"/>
                                            </p:txEl>
                                          </p:spTgt>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1443">
                                            <p:txEl>
                                              <p:pRg st="1" end="1"/>
                                            </p:txEl>
                                          </p:spTgt>
                                        </p:tgtEl>
                                        <p:attrNameLst>
                                          <p:attrName>style.visibility</p:attrName>
                                        </p:attrNameLst>
                                      </p:cBhvr>
                                      <p:to>
                                        <p:strVal val="visible"/>
                                      </p:to>
                                    </p:set>
                                    <p:animEffect transition="in" filter="wipe(down)">
                                      <p:cBhvr>
                                        <p:cTn id="10" dur="500"/>
                                        <p:tgtEl>
                                          <p:spTgt spid="61443">
                                            <p:txEl>
                                              <p:pRg st="1" end="1"/>
                                            </p:txEl>
                                          </p:spTgt>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61443">
                                            <p:txEl>
                                              <p:pRg st="2" end="2"/>
                                            </p:txEl>
                                          </p:spTgt>
                                        </p:tgtEl>
                                        <p:attrNameLst>
                                          <p:attrName>style.visibility</p:attrName>
                                        </p:attrNameLst>
                                      </p:cBhvr>
                                      <p:to>
                                        <p:strVal val="visible"/>
                                      </p:to>
                                    </p:set>
                                    <p:animEffect transition="in" filter="wipe(down)">
                                      <p:cBhvr>
                                        <p:cTn id="13" dur="500"/>
                                        <p:tgtEl>
                                          <p:spTgt spid="61443">
                                            <p:txEl>
                                              <p:pRg st="2" end="2"/>
                                            </p:txEl>
                                          </p:spTgt>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61443">
                                            <p:txEl>
                                              <p:pRg st="3" end="3"/>
                                            </p:txEl>
                                          </p:spTgt>
                                        </p:tgtEl>
                                        <p:attrNameLst>
                                          <p:attrName>style.visibility</p:attrName>
                                        </p:attrNameLst>
                                      </p:cBhvr>
                                      <p:to>
                                        <p:strVal val="visible"/>
                                      </p:to>
                                    </p:set>
                                    <p:animEffect transition="in" filter="wipe(down)">
                                      <p:cBhvr>
                                        <p:cTn id="16" dur="500"/>
                                        <p:tgtEl>
                                          <p:spTgt spid="6144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build="p"/>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 name="图片 80"/>
          <p:cNvPicPr/>
          <p:nvPr/>
        </p:nvPicPr>
        <p:blipFill>
          <a:blip r:embed="rId1"/>
          <a:stretch>
            <a:fillRect/>
          </a:stretch>
        </p:blipFill>
        <p:spPr>
          <a:xfrm>
            <a:off x="8193251" y="3227586"/>
            <a:ext cx="2951640" cy="3219480"/>
          </a:xfrm>
          <a:prstGeom prst="rect">
            <a:avLst/>
          </a:prstGeom>
          <a:ln>
            <a:noFill/>
          </a:ln>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7" name="内容占位符 2"/>
          <p:cNvSpPr txBox="1"/>
          <p:nvPr/>
        </p:nvSpPr>
        <p:spPr>
          <a:xfrm>
            <a:off x="659568" y="1204057"/>
            <a:ext cx="11034944" cy="524300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一个简单的寻路问题：在一个方格迷宫中寻找一条从给定的起点到终点的最短路径</a:t>
            </a:r>
            <a:endParaRPr lang="zh-CN" altLang="en-US" sz="2400" b="1" kern="100" noProof="1">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en-US" altLang="zh-CN" sz="2400" b="1" kern="100" noProof="1">
                <a:solidFill>
                  <a:srgbClr val="014B88"/>
                </a:solidFill>
                <a:latin typeface="仿宋_GB2312"/>
                <a:cs typeface="Times New Roman" panose="02020603050405020304" pitchFamily="18" charset="0"/>
              </a:rPr>
              <a:t> BFS: </a:t>
            </a:r>
            <a:r>
              <a:rPr lang="zh-CN" altLang="en-US" sz="2400" b="1" kern="100" noProof="1">
                <a:solidFill>
                  <a:srgbClr val="014B88"/>
                </a:solidFill>
                <a:latin typeface="仿宋_GB2312"/>
                <a:cs typeface="Times New Roman" panose="02020603050405020304" pitchFamily="18" charset="0"/>
              </a:rPr>
              <a:t>以从</a:t>
            </a:r>
            <a:r>
              <a:rPr lang="en-US" altLang="zh-CN" sz="2400" b="1" kern="100" noProof="1">
                <a:solidFill>
                  <a:srgbClr val="014B88"/>
                </a:solidFill>
                <a:latin typeface="仿宋_GB2312"/>
                <a:cs typeface="Times New Roman" panose="02020603050405020304" pitchFamily="18" charset="0"/>
              </a:rPr>
              <a:t>(10,10)</a:t>
            </a:r>
            <a:r>
              <a:rPr lang="zh-CN" altLang="en-US" sz="2400" b="1" kern="100" noProof="1">
                <a:solidFill>
                  <a:srgbClr val="014B88"/>
                </a:solidFill>
                <a:latin typeface="仿宋_GB2312"/>
                <a:cs typeface="Times New Roman" panose="02020603050405020304" pitchFamily="18" charset="0"/>
              </a:rPr>
              <a:t>走到</a:t>
            </a:r>
            <a:r>
              <a:rPr lang="en-US" altLang="zh-CN" sz="2400" b="1" kern="100" noProof="1">
                <a:solidFill>
                  <a:srgbClr val="014B88"/>
                </a:solidFill>
                <a:latin typeface="仿宋_GB2312"/>
                <a:cs typeface="Times New Roman" panose="02020603050405020304" pitchFamily="18" charset="0"/>
              </a:rPr>
              <a:t>(20,10)</a:t>
            </a:r>
            <a:r>
              <a:rPr lang="zh-CN" altLang="en-US" sz="2400" b="1" kern="100" noProof="1">
                <a:solidFill>
                  <a:srgbClr val="014B88"/>
                </a:solidFill>
                <a:latin typeface="仿宋_GB2312"/>
                <a:cs typeface="Times New Roman" panose="02020603050405020304" pitchFamily="18" charset="0"/>
              </a:rPr>
              <a:t>为例，图中</a:t>
            </a:r>
            <a:r>
              <a:rPr lang="en-US" altLang="zh-CN" sz="2400" b="1" kern="100" noProof="1">
                <a:solidFill>
                  <a:srgbClr val="014B88"/>
                </a:solidFill>
                <a:latin typeface="仿宋_GB2312"/>
                <a:cs typeface="Times New Roman" panose="02020603050405020304" pitchFamily="18" charset="0"/>
              </a:rPr>
              <a:t>' X '</a:t>
            </a:r>
            <a:r>
              <a:rPr lang="zh-CN" altLang="en-US" sz="2400" b="1" kern="100" noProof="1">
                <a:solidFill>
                  <a:srgbClr val="014B88"/>
                </a:solidFill>
                <a:latin typeface="仿宋_GB2312"/>
                <a:cs typeface="Times New Roman" panose="02020603050405020304" pitchFamily="18" charset="0"/>
              </a:rPr>
              <a:t>表示已访问的节点，</a:t>
            </a:r>
            <a:r>
              <a:rPr lang="en-US" altLang="zh-CN" sz="2400" b="1" kern="100" noProof="1">
                <a:solidFill>
                  <a:srgbClr val="014B88"/>
                </a:solidFill>
                <a:latin typeface="仿宋_GB2312"/>
                <a:cs typeface="Times New Roman" panose="02020603050405020304" pitchFamily="18" charset="0"/>
              </a:rPr>
              <a:t>' . '</a:t>
            </a:r>
            <a:r>
              <a:rPr lang="zh-CN" altLang="en-US" sz="2400" b="1" kern="100" noProof="1">
                <a:solidFill>
                  <a:srgbClr val="014B88"/>
                </a:solidFill>
                <a:latin typeface="仿宋_GB2312"/>
                <a:cs typeface="Times New Roman" panose="02020603050405020304" pitchFamily="18" charset="0"/>
              </a:rPr>
              <a:t>表示未访问的节点</a:t>
            </a:r>
            <a:endParaRPr lang="zh-CN" altLang="en-US" sz="2400" b="1" kern="100" noProof="1">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问题</a:t>
            </a:r>
            <a:r>
              <a:rPr lang="en-US" altLang="zh-CN" sz="2400" b="1" kern="100" noProof="1">
                <a:solidFill>
                  <a:srgbClr val="014B88"/>
                </a:solidFill>
                <a:latin typeface="仿宋_GB2312"/>
                <a:cs typeface="Times New Roman" panose="02020603050405020304" pitchFamily="18" charset="0"/>
              </a:rPr>
              <a:t>1</a:t>
            </a:r>
            <a:r>
              <a:rPr lang="zh-CN" altLang="en-US" sz="2400" b="1" kern="100" noProof="1">
                <a:solidFill>
                  <a:srgbClr val="014B88"/>
                </a:solidFill>
                <a:latin typeface="仿宋_GB2312"/>
                <a:cs typeface="Times New Roman" panose="02020603050405020304" pitchFamily="18" charset="0"/>
              </a:rPr>
              <a:t>：访问的节点数较多，时间、空间开销大</a:t>
            </a:r>
            <a:endParaRPr lang="zh-CN" altLang="en-US" sz="2400" b="1" kern="100" noProof="1">
              <a:solidFill>
                <a:srgbClr val="014B88"/>
              </a:solidFill>
              <a:latin typeface="仿宋_GB2312"/>
              <a:cs typeface="Times New Roman" panose="02020603050405020304" pitchFamily="18" charset="0"/>
            </a:endParaRPr>
          </a:p>
          <a:p>
            <a:pPr>
              <a:lnSpc>
                <a:spcPct val="150000"/>
              </a:lnSpc>
              <a:buFont typeface="Wingdings" panose="05000000000000000000" pitchFamily="2" charset="2"/>
              <a:buChar char="l"/>
            </a:pPr>
            <a:r>
              <a:rPr lang="zh-CN" altLang="en-US" sz="2400" b="1" kern="100" noProof="1">
                <a:solidFill>
                  <a:srgbClr val="014B88"/>
                </a:solidFill>
                <a:latin typeface="仿宋_GB2312"/>
                <a:cs typeface="Times New Roman" panose="02020603050405020304" pitchFamily="18" charset="0"/>
              </a:rPr>
              <a:t> 问题</a:t>
            </a:r>
            <a:r>
              <a:rPr lang="en-US" altLang="zh-CN" sz="2400" b="1" kern="100" noProof="1">
                <a:solidFill>
                  <a:srgbClr val="014B88"/>
                </a:solidFill>
                <a:latin typeface="仿宋_GB2312"/>
                <a:cs typeface="Times New Roman" panose="02020603050405020304" pitchFamily="18" charset="0"/>
              </a:rPr>
              <a:t>2</a:t>
            </a:r>
            <a:r>
              <a:rPr lang="zh-CN" altLang="en-US" sz="2400" b="1" kern="100" noProof="1">
                <a:solidFill>
                  <a:srgbClr val="014B88"/>
                </a:solidFill>
                <a:latin typeface="仿宋_GB2312"/>
                <a:cs typeface="Times New Roman" panose="02020603050405020304" pitchFamily="18" charset="0"/>
              </a:rPr>
              <a:t>：有很多访问到的节点是背离终点方向的</a:t>
            </a:r>
            <a:endParaRPr lang="zh-CN" altLang="en-US" sz="2400" b="1" kern="100" noProof="1">
              <a:solidFill>
                <a:srgbClr val="014B88"/>
              </a:solidFill>
              <a:latin typeface="仿宋_GB231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CustomShape 2"/>
          <p:cNvSpPr/>
          <p:nvPr/>
        </p:nvSpPr>
        <p:spPr>
          <a:xfrm>
            <a:off x="722670" y="1310040"/>
            <a:ext cx="9752400" cy="435024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marL="228600" indent="-227330">
              <a:lnSpc>
                <a:spcPct val="90000"/>
              </a:lnSpc>
              <a:buClr>
                <a:srgbClr val="000000"/>
              </a:buClr>
              <a:buFont typeface="Arial" panose="020B0604020202020204"/>
              <a:buChar char="•"/>
            </a:pPr>
            <a:endParaRPr lang="en-US" sz="1800" strike="noStrike" spc="-1" dirty="0">
              <a:solidFill>
                <a:srgbClr val="000000"/>
              </a:solidFill>
              <a:uFill>
                <a:solidFill>
                  <a:srgbClr val="FFFFFF"/>
                </a:solidFill>
              </a:uFill>
              <a:latin typeface="Arial" panose="020B0604020202020204"/>
            </a:endParaRPr>
          </a:p>
        </p:txBody>
      </p:sp>
      <p:grpSp>
        <p:nvGrpSpPr>
          <p:cNvPr id="3" name="组合 2"/>
          <p:cNvGrpSpPr/>
          <p:nvPr/>
        </p:nvGrpSpPr>
        <p:grpSpPr>
          <a:xfrm>
            <a:off x="3080987" y="3161819"/>
            <a:ext cx="4751640" cy="2262600"/>
            <a:chOff x="3528000" y="3397680"/>
            <a:chExt cx="4751640" cy="2262600"/>
          </a:xfrm>
        </p:grpSpPr>
        <p:pic>
          <p:nvPicPr>
            <p:cNvPr id="84" name="图片 83"/>
            <p:cNvPicPr/>
            <p:nvPr/>
          </p:nvPicPr>
          <p:blipFill>
            <a:blip r:embed="rId1"/>
            <a:stretch>
              <a:fillRect/>
            </a:stretch>
          </p:blipFill>
          <p:spPr>
            <a:xfrm>
              <a:off x="3816000" y="3397680"/>
              <a:ext cx="4254480" cy="777960"/>
            </a:xfrm>
            <a:prstGeom prst="rect">
              <a:avLst/>
            </a:prstGeom>
            <a:ln>
              <a:noFill/>
            </a:ln>
          </p:spPr>
        </p:pic>
        <p:pic>
          <p:nvPicPr>
            <p:cNvPr id="85" name="图片 84"/>
            <p:cNvPicPr/>
            <p:nvPr/>
          </p:nvPicPr>
          <p:blipFill>
            <a:blip r:embed="rId2"/>
            <a:stretch>
              <a:fillRect/>
            </a:stretch>
          </p:blipFill>
          <p:spPr>
            <a:xfrm>
              <a:off x="3528000" y="4209840"/>
              <a:ext cx="4751640" cy="712080"/>
            </a:xfrm>
            <a:prstGeom prst="rect">
              <a:avLst/>
            </a:prstGeom>
            <a:ln>
              <a:noFill/>
            </a:ln>
          </p:spPr>
        </p:pic>
        <p:pic>
          <p:nvPicPr>
            <p:cNvPr id="86" name="图片 85"/>
            <p:cNvPicPr/>
            <p:nvPr/>
          </p:nvPicPr>
          <p:blipFill>
            <a:blip r:embed="rId3"/>
            <a:stretch>
              <a:fillRect/>
            </a:stretch>
          </p:blipFill>
          <p:spPr>
            <a:xfrm>
              <a:off x="3667680" y="5003280"/>
              <a:ext cx="4463640" cy="657000"/>
            </a:xfrm>
            <a:prstGeom prst="rect">
              <a:avLst/>
            </a:prstGeom>
            <a:ln>
              <a:noFill/>
            </a:ln>
          </p:spPr>
        </p:pic>
      </p:grpSp>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下界函数</a:t>
            </a:r>
            <a:r>
              <a:rPr lang="en-US" altLang="zh-CN" sz="3200" b="1" dirty="0">
                <a:solidFill>
                  <a:srgbClr val="C00000"/>
                </a:solidFill>
                <a:latin typeface="微软雅黑" panose="020B0503020204020204" pitchFamily="34" charset="-122"/>
                <a:ea typeface="微软雅黑" panose="020B0503020204020204" pitchFamily="34" charset="-122"/>
              </a:rPr>
              <a:t>h(x)</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722669" y="1197720"/>
            <a:ext cx="10445439" cy="4001032"/>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h(x)</a:t>
            </a:r>
            <a:r>
              <a:rPr lang="zh-CN" altLang="en-US" sz="2400" b="1" kern="100" dirty="0">
                <a:solidFill>
                  <a:srgbClr val="014B88"/>
                </a:solidFill>
                <a:latin typeface="仿宋_GB2312"/>
                <a:cs typeface="Times New Roman" panose="02020603050405020304" pitchFamily="18" charset="0"/>
              </a:rPr>
              <a:t>为估计出的从当前状态</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到目标状态</a:t>
            </a:r>
            <a:r>
              <a:rPr lang="en-US" altLang="zh-CN" sz="2400" b="1" kern="100" dirty="0">
                <a:solidFill>
                  <a:srgbClr val="014B88"/>
                </a:solidFill>
                <a:latin typeface="仿宋_GB2312"/>
                <a:cs typeface="Times New Roman" panose="02020603050405020304" pitchFamily="18" charset="0"/>
              </a:rPr>
              <a:t>t</a:t>
            </a:r>
            <a:r>
              <a:rPr lang="zh-CN" altLang="en-US" sz="2400" b="1" kern="100" dirty="0">
                <a:solidFill>
                  <a:srgbClr val="014B88"/>
                </a:solidFill>
                <a:latin typeface="仿宋_GB2312"/>
                <a:cs typeface="Times New Roman" panose="02020603050405020304" pitchFamily="18" charset="0"/>
              </a:rPr>
              <a:t>的距离的下界</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即实际距离应大于等于</a:t>
            </a:r>
            <a:r>
              <a:rPr lang="en-US" altLang="zh-CN" sz="2400" b="1" kern="100" dirty="0">
                <a:solidFill>
                  <a:srgbClr val="014B88"/>
                </a:solidFill>
                <a:latin typeface="仿宋_GB2312"/>
                <a:cs typeface="Times New Roman" panose="02020603050405020304" pitchFamily="18" charset="0"/>
              </a:rPr>
              <a:t>h(x)</a:t>
            </a:r>
            <a:endParaRPr lang="en-US" altLang="zh-CN"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对于之前的迷宫问题可以使用的下界函数：</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曼哈顿距离  ：</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欧氏距离    ：</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切比雪夫距离：</a:t>
            </a:r>
            <a:endParaRPr lang="zh-CN" altLang="en-US" sz="2400" b="1" kern="100" dirty="0">
              <a:solidFill>
                <a:srgbClr val="014B88"/>
              </a:solidFill>
              <a:latin typeface="仿宋_GB231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图片 88"/>
          <p:cNvPicPr/>
          <p:nvPr/>
        </p:nvPicPr>
        <p:blipFill>
          <a:blip r:embed="rId1"/>
          <a:stretch>
            <a:fillRect/>
          </a:stretch>
        </p:blipFill>
        <p:spPr>
          <a:xfrm>
            <a:off x="8723093" y="473662"/>
            <a:ext cx="2304360" cy="2094840"/>
          </a:xfrm>
          <a:prstGeom prst="rect">
            <a:avLst/>
          </a:prstGeom>
          <a:ln>
            <a:noFill/>
          </a:ln>
        </p:spPr>
      </p:pic>
      <p:sp>
        <p:nvSpPr>
          <p:cNvPr id="5"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a:t>
            </a:r>
            <a:r>
              <a:rPr lang="zh-CN" altLang="en-US" sz="3200" b="1" dirty="0">
                <a:solidFill>
                  <a:srgbClr val="C00000"/>
                </a:solidFill>
                <a:latin typeface="微软雅黑" panose="020B0503020204020204" pitchFamily="34" charset="-122"/>
                <a:ea typeface="微软雅黑" panose="020B0503020204020204" pitchFamily="34" charset="-122"/>
              </a:rPr>
              <a:t>算法</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600587" y="1048861"/>
            <a:ext cx="11152905" cy="4760278"/>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估价函数</a:t>
            </a:r>
            <a:r>
              <a:rPr lang="en-US" altLang="zh-CN" sz="2400" b="1" kern="100" dirty="0">
                <a:solidFill>
                  <a:srgbClr val="014B88"/>
                </a:solidFill>
                <a:latin typeface="仿宋_GB2312"/>
                <a:cs typeface="Times New Roman" panose="02020603050405020304" pitchFamily="18" charset="0"/>
              </a:rPr>
              <a:t>f(x) = g(x) + h(x)</a:t>
            </a:r>
            <a:endParaRPr lang="en-US" altLang="zh-CN"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g(x)</a:t>
            </a:r>
            <a:r>
              <a:rPr lang="zh-CN" altLang="en-US" sz="2400" b="1" kern="100" dirty="0">
                <a:solidFill>
                  <a:srgbClr val="014B88"/>
                </a:solidFill>
                <a:latin typeface="仿宋_GB2312"/>
                <a:cs typeface="Times New Roman" panose="02020603050405020304" pitchFamily="18" charset="0"/>
              </a:rPr>
              <a:t>为从初始状态转移到</a:t>
            </a:r>
            <a:r>
              <a:rPr lang="en-US" altLang="zh-CN" sz="2400" b="1" kern="100" dirty="0">
                <a:solidFill>
                  <a:srgbClr val="014B88"/>
                </a:solidFill>
                <a:latin typeface="仿宋_GB2312"/>
                <a:cs typeface="Times New Roman" panose="02020603050405020304" pitchFamily="18" charset="0"/>
              </a:rPr>
              <a:t>x</a:t>
            </a:r>
            <a:r>
              <a:rPr lang="zh-CN" altLang="en-US" sz="2400" b="1" kern="100" dirty="0">
                <a:solidFill>
                  <a:srgbClr val="014B88"/>
                </a:solidFill>
                <a:latin typeface="仿宋_GB2312"/>
                <a:cs typeface="Times New Roman" panose="02020603050405020304" pitchFamily="18" charset="0"/>
              </a:rPr>
              <a:t>的代价</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h(x)</a:t>
            </a:r>
            <a:r>
              <a:rPr lang="zh-CN" altLang="en-US" sz="2400" b="1" kern="100" dirty="0">
                <a:solidFill>
                  <a:srgbClr val="014B88"/>
                </a:solidFill>
                <a:latin typeface="仿宋_GB2312"/>
                <a:cs typeface="Times New Roman" panose="02020603050405020304" pitchFamily="18" charset="0"/>
              </a:rPr>
              <a:t>为下界函数</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A*</a:t>
            </a:r>
            <a:r>
              <a:rPr lang="zh-CN" altLang="en-US" sz="2400" b="1" kern="100" dirty="0">
                <a:solidFill>
                  <a:srgbClr val="014B88"/>
                </a:solidFill>
                <a:latin typeface="仿宋_GB2312"/>
                <a:cs typeface="Times New Roman" panose="02020603050405020304" pitchFamily="18" charset="0"/>
              </a:rPr>
              <a:t>算法可看作是对</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的优化，使用</a:t>
            </a:r>
            <a:r>
              <a:rPr lang="zh-CN" altLang="en-US" sz="2400" b="1" kern="100" dirty="0">
                <a:solidFill>
                  <a:srgbClr val="FF0000"/>
                </a:solidFill>
                <a:latin typeface="仿宋_GB2312"/>
                <a:cs typeface="Times New Roman" panose="02020603050405020304" pitchFamily="18" charset="0"/>
              </a:rPr>
              <a:t>优先队列</a:t>
            </a:r>
            <a:r>
              <a:rPr lang="zh-CN" altLang="en-US" sz="2400" b="1" kern="100" dirty="0">
                <a:solidFill>
                  <a:srgbClr val="014B88"/>
                </a:solidFill>
                <a:latin typeface="仿宋_GB2312"/>
                <a:cs typeface="Times New Roman" panose="02020603050405020304" pitchFamily="18" charset="0"/>
              </a:rPr>
              <a:t>保存节点，估价函数值</a:t>
            </a:r>
            <a:r>
              <a:rPr lang="zh-CN" altLang="en-US" sz="2400" b="1" kern="100" dirty="0">
                <a:solidFill>
                  <a:srgbClr val="FF0000"/>
                </a:solidFill>
                <a:latin typeface="仿宋_GB2312"/>
                <a:cs typeface="Times New Roman" panose="02020603050405020304" pitchFamily="18" charset="0"/>
              </a:rPr>
              <a:t>最小的</a:t>
            </a:r>
            <a:r>
              <a:rPr lang="zh-CN" altLang="en-US" sz="2400" b="1" kern="100" dirty="0">
                <a:solidFill>
                  <a:srgbClr val="014B88"/>
                </a:solidFill>
                <a:latin typeface="仿宋_GB2312"/>
                <a:cs typeface="Times New Roman" panose="02020603050405020304" pitchFamily="18" charset="0"/>
              </a:rPr>
              <a:t>先出队，其他过程与</a:t>
            </a:r>
            <a:r>
              <a:rPr lang="en-US" altLang="zh-CN" sz="2400" b="1" kern="100" dirty="0">
                <a:solidFill>
                  <a:srgbClr val="014B88"/>
                </a:solidFill>
                <a:latin typeface="仿宋_GB2312"/>
                <a:cs typeface="Times New Roman" panose="02020603050405020304" pitchFamily="18" charset="0"/>
              </a:rPr>
              <a:t>BFS</a:t>
            </a:r>
            <a:r>
              <a:rPr lang="zh-CN" altLang="en-US" sz="2400" b="1" kern="100" dirty="0">
                <a:solidFill>
                  <a:srgbClr val="014B88"/>
                </a:solidFill>
                <a:latin typeface="仿宋_GB2312"/>
                <a:cs typeface="Times New Roman" panose="02020603050405020304" pitchFamily="18" charset="0"/>
              </a:rPr>
              <a:t>一样</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对于刚刚的寻路问题，可使用以当前状态到终点的曼哈顿距离作为下界函数的</a:t>
            </a:r>
            <a:r>
              <a:rPr lang="en-US" altLang="zh-CN" sz="2400" b="1" kern="100" dirty="0">
                <a:solidFill>
                  <a:srgbClr val="014B88"/>
                </a:solidFill>
                <a:latin typeface="仿宋_GB2312"/>
                <a:cs typeface="Times New Roman" panose="02020603050405020304" pitchFamily="18" charset="0"/>
              </a:rPr>
              <a:t>A*</a:t>
            </a:r>
            <a:r>
              <a:rPr lang="zh-CN" altLang="en-US" sz="2400" b="1" kern="100" dirty="0">
                <a:solidFill>
                  <a:srgbClr val="014B88"/>
                </a:solidFill>
                <a:latin typeface="仿宋_GB2312"/>
                <a:cs typeface="Times New Roman" panose="02020603050405020304" pitchFamily="18" charset="0"/>
              </a:rPr>
              <a:t>算法</a:t>
            </a:r>
            <a:endParaRPr lang="zh-CN" altLang="en-US" sz="2400" b="1" kern="100" dirty="0">
              <a:solidFill>
                <a:srgbClr val="014B88"/>
              </a:solidFill>
              <a:latin typeface="仿宋_GB2312"/>
              <a:cs typeface="Times New Roman" panose="02020603050405020304" pitchFamily="18" charset="0"/>
            </a:endParaRPr>
          </a:p>
          <a:p>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CustomShape 2"/>
          <p:cNvSpPr/>
          <p:nvPr/>
        </p:nvSpPr>
        <p:spPr>
          <a:xfrm>
            <a:off x="838080" y="3025888"/>
            <a:ext cx="10514520" cy="3149911"/>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marL="1270">
              <a:lnSpc>
                <a:spcPct val="90000"/>
              </a:lnSpc>
              <a:buClr>
                <a:srgbClr val="000000"/>
              </a:buClr>
            </a:pPr>
            <a:endParaRPr lang="en-US" sz="1800" strike="noStrike" spc="-1" dirty="0">
              <a:uFill>
                <a:solidFill>
                  <a:srgbClr val="FFFFFF"/>
                </a:solidFill>
              </a:uFill>
              <a:latin typeface="Arial" panose="020B0604020202020204"/>
            </a:endParaRPr>
          </a:p>
        </p:txBody>
      </p:sp>
      <p:pic>
        <p:nvPicPr>
          <p:cNvPr id="92" name="图片 3"/>
          <p:cNvPicPr/>
          <p:nvPr/>
        </p:nvPicPr>
        <p:blipFill>
          <a:blip r:embed="rId1"/>
          <a:stretch>
            <a:fillRect/>
          </a:stretch>
        </p:blipFill>
        <p:spPr>
          <a:xfrm>
            <a:off x="6770520" y="3600000"/>
            <a:ext cx="1077120" cy="1295640"/>
          </a:xfrm>
          <a:prstGeom prst="rect">
            <a:avLst/>
          </a:prstGeom>
          <a:ln>
            <a:noFill/>
          </a:ln>
        </p:spPr>
      </p:pic>
      <p:pic>
        <p:nvPicPr>
          <p:cNvPr id="93" name="图片 6"/>
          <p:cNvPicPr/>
          <p:nvPr/>
        </p:nvPicPr>
        <p:blipFill>
          <a:blip r:embed="rId2"/>
          <a:stretch>
            <a:fillRect/>
          </a:stretch>
        </p:blipFill>
        <p:spPr>
          <a:xfrm>
            <a:off x="3528000" y="3596760"/>
            <a:ext cx="1079640" cy="1298880"/>
          </a:xfrm>
          <a:prstGeom prst="rect">
            <a:avLst/>
          </a:prstGeom>
          <a:ln>
            <a:noFill/>
          </a:ln>
        </p:spPr>
      </p:pic>
      <p:pic>
        <p:nvPicPr>
          <p:cNvPr id="94" name="图片 8"/>
          <p:cNvPicPr/>
          <p:nvPr/>
        </p:nvPicPr>
        <p:blipFill>
          <a:blip r:embed="rId3"/>
          <a:stretch>
            <a:fillRect/>
          </a:stretch>
        </p:blipFill>
        <p:spPr>
          <a:xfrm>
            <a:off x="5040000" y="3985560"/>
            <a:ext cx="1295640" cy="478080"/>
          </a:xfrm>
          <a:prstGeom prst="rect">
            <a:avLst/>
          </a:prstGeom>
          <a:ln>
            <a:noFill/>
          </a:ln>
        </p:spPr>
      </p:pic>
      <p:sp>
        <p:nvSpPr>
          <p:cNvPr id="7"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启发式搜索 </a:t>
            </a:r>
            <a:r>
              <a:rPr lang="en-US" altLang="zh-CN" sz="3200" b="1" dirty="0">
                <a:solidFill>
                  <a:srgbClr val="C00000"/>
                </a:solidFill>
                <a:latin typeface="微软雅黑" panose="020B0503020204020204" pitchFamily="34" charset="-122"/>
                <a:ea typeface="微软雅黑" panose="020B0503020204020204" pitchFamily="34" charset="-122"/>
              </a:rPr>
              <a:t>| A*</a:t>
            </a:r>
            <a:r>
              <a:rPr lang="zh-CN" altLang="en-US" sz="3200" b="1" dirty="0">
                <a:solidFill>
                  <a:srgbClr val="C00000"/>
                </a:solidFill>
                <a:latin typeface="微软雅黑" panose="020B0503020204020204" pitchFamily="34" charset="-122"/>
                <a:ea typeface="微软雅黑" panose="020B0503020204020204" pitchFamily="34" charset="-122"/>
              </a:rPr>
              <a:t>算法 </a:t>
            </a:r>
            <a:r>
              <a:rPr lang="en-US" altLang="zh-CN" sz="3200" b="1" dirty="0">
                <a:solidFill>
                  <a:srgbClr val="C00000"/>
                </a:solidFill>
                <a:latin typeface="微软雅黑" panose="020B0503020204020204" pitchFamily="34" charset="-122"/>
                <a:ea typeface="微软雅黑" panose="020B0503020204020204" pitchFamily="34" charset="-122"/>
              </a:rPr>
              <a:t>| </a:t>
            </a:r>
            <a:r>
              <a:rPr lang="zh-CN" altLang="en-US" sz="3200" b="1" dirty="0">
                <a:solidFill>
                  <a:srgbClr val="C00000"/>
                </a:solidFill>
                <a:latin typeface="微软雅黑" panose="020B0503020204020204" pitchFamily="34" charset="-122"/>
                <a:ea typeface="微软雅黑" panose="020B0503020204020204" pitchFamily="34" charset="-122"/>
              </a:rPr>
              <a:t>八数码问题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772356" y="1138486"/>
            <a:ext cx="10795248" cy="5719514"/>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3*3</a:t>
            </a:r>
            <a:r>
              <a:rPr lang="zh-CN" altLang="en-US" sz="2400" b="1" kern="100" dirty="0">
                <a:solidFill>
                  <a:srgbClr val="014B88"/>
                </a:solidFill>
                <a:latin typeface="仿宋_GB2312"/>
                <a:cs typeface="Times New Roman" panose="02020603050405020304" pitchFamily="18" charset="0"/>
              </a:rPr>
              <a:t>方格，其中</a:t>
            </a:r>
            <a:r>
              <a:rPr lang="en-US" altLang="zh-CN" sz="2400" b="1" kern="100" dirty="0">
                <a:solidFill>
                  <a:srgbClr val="014B88"/>
                </a:solidFill>
                <a:latin typeface="仿宋_GB2312"/>
                <a:cs typeface="Times New Roman" panose="02020603050405020304" pitchFamily="18" charset="0"/>
              </a:rPr>
              <a:t>1</a:t>
            </a:r>
            <a:r>
              <a:rPr lang="zh-CN" altLang="en-US" sz="2400" b="1" kern="100" dirty="0">
                <a:solidFill>
                  <a:srgbClr val="014B88"/>
                </a:solidFill>
                <a:latin typeface="仿宋_GB2312"/>
                <a:cs typeface="Times New Roman" panose="02020603050405020304" pitchFamily="18" charset="0"/>
              </a:rPr>
              <a:t>个为空，其它</a:t>
            </a:r>
            <a:r>
              <a:rPr lang="en-US" altLang="zh-CN" sz="2400" b="1" kern="100" dirty="0">
                <a:solidFill>
                  <a:srgbClr val="014B88"/>
                </a:solidFill>
                <a:latin typeface="仿宋_GB2312"/>
                <a:cs typeface="Times New Roman" panose="02020603050405020304" pitchFamily="18" charset="0"/>
              </a:rPr>
              <a:t>8</a:t>
            </a:r>
            <a:r>
              <a:rPr lang="zh-CN" altLang="en-US" sz="2400" b="1" kern="100" dirty="0">
                <a:solidFill>
                  <a:srgbClr val="014B88"/>
                </a:solidFill>
                <a:latin typeface="仿宋_GB2312"/>
                <a:cs typeface="Times New Roman" panose="02020603050405020304" pitchFamily="18" charset="0"/>
              </a:rPr>
              <a:t>个为</a:t>
            </a:r>
            <a:r>
              <a:rPr lang="en-US" altLang="zh-CN" sz="2400" b="1" kern="100" dirty="0">
                <a:solidFill>
                  <a:srgbClr val="014B88"/>
                </a:solidFill>
                <a:latin typeface="仿宋_GB2312"/>
                <a:cs typeface="Times New Roman" panose="02020603050405020304" pitchFamily="18" charset="0"/>
              </a:rPr>
              <a:t>1-8</a:t>
            </a:r>
            <a:r>
              <a:rPr lang="zh-CN" altLang="en-US" sz="2400" b="1" kern="100" dirty="0">
                <a:solidFill>
                  <a:srgbClr val="014B88"/>
                </a:solidFill>
                <a:latin typeface="仿宋_GB2312"/>
                <a:cs typeface="Times New Roman" panose="02020603050405020304" pitchFamily="18" charset="0"/>
              </a:rPr>
              <a:t>数字。每次可将空白方块与相邻的一个交换</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在最少的步数下还原到终态</a:t>
            </a: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a:lnSpc>
                <a:spcPct val="150000"/>
              </a:lnSpc>
              <a:spcBef>
                <a:spcPts val="1000"/>
              </a:spcBef>
            </a:pPr>
            <a:endParaRPr lang="en-US" altLang="zh-CN"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a:t>
            </a:r>
            <a:r>
              <a:rPr lang="en-US" altLang="zh-CN" sz="2400" b="1" kern="100" dirty="0" err="1">
                <a:solidFill>
                  <a:srgbClr val="014B88"/>
                </a:solidFill>
                <a:latin typeface="仿宋_GB2312"/>
                <a:cs typeface="Times New Roman" panose="02020603050405020304" pitchFamily="18" charset="0"/>
              </a:rPr>
              <a:t>估价函数：从起始状态到当前状态的步数+各个数字当前位置与还原后位置的曼哈顿距离之和</a:t>
            </a:r>
            <a:r>
              <a:rPr lang="zh-CN" altLang="en-US" sz="2400" b="1" kern="100" dirty="0">
                <a:solidFill>
                  <a:srgbClr val="014B88"/>
                </a:solidFill>
                <a:latin typeface="仿宋_GB2312"/>
                <a:cs typeface="Times New Roman" panose="02020603050405020304" pitchFamily="18" charset="0"/>
              </a:rPr>
              <a:t>（下界）</a:t>
            </a:r>
            <a:endParaRPr lang="en-US" altLang="zh-CN" sz="2400" b="1" kern="100" dirty="0">
              <a:solidFill>
                <a:srgbClr val="014B88"/>
              </a:solidFill>
              <a:latin typeface="仿宋_GB2312"/>
              <a:cs typeface="Times New Roman" panose="02020603050405020304" pitchFamily="18" charset="0"/>
            </a:endParaRPr>
          </a:p>
          <a:p>
            <a:endParaRPr lang="zh-CN" altLang="en-US" dirty="0"/>
          </a:p>
          <a:p>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CustomShape 2"/>
          <p:cNvSpPr/>
          <p:nvPr/>
        </p:nvSpPr>
        <p:spPr>
          <a:xfrm>
            <a:off x="838080" y="1825560"/>
            <a:ext cx="10514520" cy="435024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pPr>
              <a:lnSpc>
                <a:spcPct val="90000"/>
              </a:lnSpc>
            </a:pPr>
            <a:endParaRPr lang="en-US" sz="1800" strike="noStrike" spc="-1" dirty="0">
              <a:uFill>
                <a:solidFill>
                  <a:srgbClr val="FFFFFF"/>
                </a:solidFill>
              </a:uFill>
              <a:latin typeface="Arial" panose="020B0604020202020204"/>
            </a:endParaRPr>
          </a:p>
          <a:p>
            <a:pPr>
              <a:lnSpc>
                <a:spcPct val="90000"/>
              </a:lnSpc>
            </a:pPr>
            <a:endParaRPr lang="en-US" sz="1800" strike="noStrike" spc="-1" dirty="0">
              <a:uFill>
                <a:solidFill>
                  <a:srgbClr val="FFFFFF"/>
                </a:solidFill>
              </a:uFill>
              <a:latin typeface="Arial" panose="020B0604020202020204"/>
            </a:endParaRPr>
          </a:p>
        </p:txBody>
      </p:sp>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迭代加深搜索 </a:t>
            </a:r>
            <a:r>
              <a:rPr lang="en-US" altLang="zh-CN" sz="3200" b="1" dirty="0">
                <a:solidFill>
                  <a:srgbClr val="C00000"/>
                </a:solidFill>
                <a:latin typeface="微软雅黑" panose="020B0503020204020204" pitchFamily="34" charset="-122"/>
                <a:ea typeface="微软雅黑" panose="020B0503020204020204" pitchFamily="34" charset="-122"/>
              </a:rPr>
              <a:t>IDDFS</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838080" y="1384917"/>
            <a:ext cx="10818301" cy="3267561"/>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每次</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前，限定一个搜索深度，一旦搜索深度超过该深度就停止，当没搜到解时加深深度限制</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优点：空间开销小；便于通过剪枝优化；时间消耗并不会增加太多，最后一次</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的时间开销与之前所有</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的开销总和同阶</a:t>
            </a:r>
            <a:r>
              <a:rPr lang="en-US" altLang="zh-CN" sz="2400" b="1" kern="100" dirty="0">
                <a:solidFill>
                  <a:srgbClr val="014B88"/>
                </a:solidFill>
                <a:latin typeface="仿宋_GB2312"/>
                <a:cs typeface="Times New Roman" panose="02020603050405020304" pitchFamily="18" charset="0"/>
              </a:rPr>
              <a:t>,</a:t>
            </a:r>
            <a:r>
              <a:rPr lang="zh-CN" altLang="en-US" sz="2400" b="1" kern="100" dirty="0">
                <a:solidFill>
                  <a:srgbClr val="014B88"/>
                </a:solidFill>
                <a:latin typeface="仿宋_GB2312"/>
                <a:cs typeface="Times New Roman" panose="02020603050405020304" pitchFamily="18" charset="0"/>
              </a:rPr>
              <a:t>可以在搜索树没有深度上限，而解有深度上限时搜索解。</a:t>
            </a:r>
            <a:endParaRPr lang="zh-CN" altLang="en-US" sz="2400" b="1" kern="100" dirty="0">
              <a:solidFill>
                <a:srgbClr val="014B88"/>
              </a:solidFill>
              <a:latin typeface="仿宋_GB2312"/>
              <a:cs typeface="Times New Roman" panose="02020603050405020304" pitchFamily="18" charset="0"/>
            </a:endParaRPr>
          </a:p>
          <a:p>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迭代加深搜索 </a:t>
            </a:r>
            <a:r>
              <a:rPr lang="en-US" altLang="zh-CN" sz="3200" b="1" dirty="0">
                <a:solidFill>
                  <a:srgbClr val="C00000"/>
                </a:solidFill>
                <a:latin typeface="微软雅黑" panose="020B0503020204020204" pitchFamily="34" charset="-122"/>
                <a:ea typeface="微软雅黑" panose="020B0503020204020204" pitchFamily="34" charset="-122"/>
              </a:rPr>
              <a:t>IDDFS | </a:t>
            </a:r>
            <a:r>
              <a:rPr lang="zh-CN" altLang="en-US" sz="3200" b="1" dirty="0">
                <a:solidFill>
                  <a:srgbClr val="C00000"/>
                </a:solidFill>
                <a:latin typeface="微软雅黑" panose="020B0503020204020204" pitchFamily="34" charset="-122"/>
                <a:ea typeface="微软雅黑" panose="020B0503020204020204" pitchFamily="34" charset="-122"/>
              </a:rPr>
              <a:t>埃及分数问题</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621437" y="1233996"/>
            <a:ext cx="10679837" cy="3744551"/>
          </a:xfrm>
          <a:prstGeom prst="rect">
            <a:avLst/>
          </a:prstGeom>
          <a:noFill/>
        </p:spPr>
        <p:txBody>
          <a:bodyPr wrap="square" rtlCol="0">
            <a:spAutoFit/>
          </a:bodyPr>
          <a:lstStyle/>
          <a:p>
            <a:pPr marL="228600" indent="-228600">
              <a:lnSpc>
                <a:spcPct val="150000"/>
              </a:lnSpc>
              <a:spcBef>
                <a:spcPts val="1000"/>
              </a:spcBef>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 埃及分数问题：将一个给定的真分数</a:t>
            </a:r>
            <a:r>
              <a:rPr lang="en-US" altLang="zh-CN" sz="2400" b="1" kern="100" dirty="0">
                <a:solidFill>
                  <a:srgbClr val="014B88"/>
                </a:solidFill>
                <a:latin typeface="仿宋_GB2312"/>
                <a:cs typeface="Times New Roman" panose="02020603050405020304" pitchFamily="18" charset="0"/>
              </a:rPr>
              <a:t>a/b</a:t>
            </a:r>
            <a:r>
              <a:rPr lang="zh-CN" altLang="en-US" sz="2400" b="1" kern="100" dirty="0">
                <a:solidFill>
                  <a:srgbClr val="014B88"/>
                </a:solidFill>
                <a:latin typeface="仿宋_GB2312"/>
                <a:cs typeface="Times New Roman" panose="02020603050405020304" pitchFamily="18" charset="0"/>
              </a:rPr>
              <a:t>拆成单位分数</a:t>
            </a:r>
            <a:r>
              <a:rPr lang="en-US" altLang="zh-CN" sz="2400" b="1" kern="100" dirty="0">
                <a:solidFill>
                  <a:srgbClr val="014B88"/>
                </a:solidFill>
                <a:latin typeface="仿宋_GB2312"/>
                <a:cs typeface="Times New Roman" panose="02020603050405020304" pitchFamily="18" charset="0"/>
              </a:rPr>
              <a:t>(1/</a:t>
            </a:r>
            <a:r>
              <a:rPr lang="en-US" altLang="zh-CN" sz="2400" b="1" kern="100" dirty="0" err="1">
                <a:solidFill>
                  <a:srgbClr val="014B88"/>
                </a:solidFill>
                <a:latin typeface="仿宋_GB2312"/>
                <a:cs typeface="Times New Roman" panose="02020603050405020304" pitchFamily="18" charset="0"/>
              </a:rPr>
              <a:t>k,k</a:t>
            </a:r>
            <a:r>
              <a:rPr lang="en-US" altLang="zh-CN" sz="2400" b="1" kern="100" dirty="0">
                <a:solidFill>
                  <a:srgbClr val="014B88"/>
                </a:solidFill>
                <a:latin typeface="仿宋_GB2312"/>
                <a:cs typeface="Times New Roman" panose="02020603050405020304" pitchFamily="18" charset="0"/>
              </a:rPr>
              <a:t>&gt;=2)</a:t>
            </a:r>
            <a:r>
              <a:rPr lang="zh-CN" altLang="en-US" sz="2400" b="1" kern="100" dirty="0">
                <a:solidFill>
                  <a:srgbClr val="014B88"/>
                </a:solidFill>
                <a:latin typeface="仿宋_GB2312"/>
                <a:cs typeface="Times New Roman" panose="02020603050405020304" pitchFamily="18" charset="0"/>
              </a:rPr>
              <a:t>之和形式，要求拆出的分数数量越少越好，数量相同时分母最大的越小越好</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DFS</a:t>
            </a:r>
            <a:r>
              <a:rPr lang="zh-CN" altLang="en-US" sz="2400" b="1" kern="100" dirty="0">
                <a:solidFill>
                  <a:srgbClr val="014B88"/>
                </a:solidFill>
                <a:latin typeface="仿宋_GB2312"/>
                <a:cs typeface="Times New Roman" panose="02020603050405020304" pitchFamily="18" charset="0"/>
              </a:rPr>
              <a:t>：深度无限深</a:t>
            </a:r>
            <a:endParaRPr lang="zh-CN" altLang="en-US"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BFS</a:t>
            </a:r>
            <a:r>
              <a:rPr lang="zh-CN" altLang="en-US" sz="2400" b="1" kern="100" dirty="0">
                <a:solidFill>
                  <a:srgbClr val="014B88"/>
                </a:solidFill>
                <a:latin typeface="仿宋_GB2312"/>
                <a:cs typeface="Times New Roman" panose="02020603050405020304" pitchFamily="18" charset="0"/>
              </a:rPr>
              <a:t>：第一层有无限个节点</a:t>
            </a:r>
            <a:r>
              <a:rPr lang="en-US" altLang="zh-CN" sz="2400" b="1" kern="100" dirty="0">
                <a:solidFill>
                  <a:srgbClr val="014B88"/>
                </a:solidFill>
                <a:latin typeface="仿宋_GB2312"/>
                <a:cs typeface="Times New Roman" panose="02020603050405020304" pitchFamily="18" charset="0"/>
              </a:rPr>
              <a:t>(1/1,1/2,….,1/n,….);</a:t>
            </a:r>
            <a:endParaRPr lang="en-US" altLang="zh-CN" sz="2400" b="1" kern="100" dirty="0">
              <a:solidFill>
                <a:srgbClr val="014B88"/>
              </a:solidFill>
              <a:latin typeface="仿宋_GB2312"/>
              <a:cs typeface="Times New Roman" panose="02020603050405020304" pitchFamily="18" charset="0"/>
            </a:endParaRPr>
          </a:p>
          <a:p>
            <a:pPr marL="228600" indent="-228600">
              <a:lnSpc>
                <a:spcPct val="150000"/>
              </a:lnSpc>
              <a:spcBef>
                <a:spcPts val="1000"/>
              </a:spcBef>
              <a:buFont typeface="Wingdings" panose="05000000000000000000" pitchFamily="2" charset="2"/>
              <a:buChar char="l"/>
            </a:pPr>
            <a:r>
              <a:rPr lang="en-US" altLang="zh-CN" sz="2400" b="1" kern="100" dirty="0">
                <a:solidFill>
                  <a:srgbClr val="014B88"/>
                </a:solidFill>
                <a:latin typeface="仿宋_GB2312"/>
                <a:cs typeface="Times New Roman" panose="02020603050405020304" pitchFamily="18" charset="0"/>
              </a:rPr>
              <a:t> IDDFS</a:t>
            </a:r>
            <a:r>
              <a:rPr lang="zh-CN" altLang="en-US" sz="2400" b="1" kern="100" dirty="0">
                <a:solidFill>
                  <a:srgbClr val="014B88"/>
                </a:solidFill>
                <a:latin typeface="仿宋_GB2312"/>
                <a:cs typeface="Times New Roman" panose="02020603050405020304" pitchFamily="18" charset="0"/>
              </a:rPr>
              <a:t>：通过限制深度，避免了陷入过深的搜索树，通过最大深度和当前深度的差值还可以确定分母的范围</a:t>
            </a:r>
            <a:endParaRPr lang="zh-CN" altLang="en-US" sz="2400" b="1" kern="100" dirty="0">
              <a:solidFill>
                <a:srgbClr val="014B88"/>
              </a:solidFill>
              <a:latin typeface="仿宋_GB231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CustomShape 3"/>
          <p:cNvSpPr/>
          <p:nvPr/>
        </p:nvSpPr>
        <p:spPr>
          <a:xfrm>
            <a:off x="682560" y="2993400"/>
            <a:ext cx="10514520" cy="4350240"/>
          </a:xfrm>
          <a:prstGeom prst="rect">
            <a:avLst/>
          </a:prstGeom>
          <a:noFill/>
          <a:ln>
            <a:noFill/>
          </a:ln>
        </p:spPr>
        <p:style>
          <a:lnRef idx="0">
            <a:scrgbClr r="0" g="0" b="0"/>
          </a:lnRef>
          <a:fillRef idx="0">
            <a:scrgbClr r="0" g="0" b="0"/>
          </a:fillRef>
          <a:effectRef idx="0">
            <a:scrgbClr r="0" g="0" b="0"/>
          </a:effectRef>
          <a:fontRef idx="minor"/>
        </p:style>
      </p:sp>
      <p:sp>
        <p:nvSpPr>
          <p:cNvPr id="106" name="CustomShape 4"/>
          <p:cNvSpPr/>
          <p:nvPr/>
        </p:nvSpPr>
        <p:spPr>
          <a:xfrm>
            <a:off x="936000" y="1584000"/>
            <a:ext cx="10439640" cy="900720"/>
          </a:xfrm>
          <a:prstGeom prst="rect">
            <a:avLst/>
          </a:prstGeom>
          <a:noFill/>
          <a:ln>
            <a:noFill/>
          </a:ln>
        </p:spPr>
        <p:style>
          <a:lnRef idx="0">
            <a:scrgbClr r="0" g="0" b="0"/>
          </a:lnRef>
          <a:fillRef idx="0">
            <a:scrgbClr r="0" g="0" b="0"/>
          </a:fillRef>
          <a:effectRef idx="0">
            <a:scrgbClr r="0" g="0" b="0"/>
          </a:effectRef>
          <a:fontRef idx="minor"/>
        </p:style>
        <p:txBody>
          <a:bodyPr lIns="90000" tIns="45000" rIns="90000" bIns="45000"/>
          <a:lstStyle/>
          <a:p>
            <a:endParaRPr lang="en-US" sz="1800" strike="noStrike" spc="-1" dirty="0">
              <a:uFill>
                <a:solidFill>
                  <a:srgbClr val="FFFFFF"/>
                </a:solidFill>
              </a:uFill>
              <a:latin typeface="Arial" panose="020B0604020202020204"/>
            </a:endParaRPr>
          </a:p>
        </p:txBody>
      </p:sp>
      <p:sp>
        <p:nvSpPr>
          <p:cNvPr id="6" name="TextBox 36"/>
          <p:cNvSpPr txBox="1"/>
          <p:nvPr/>
        </p:nvSpPr>
        <p:spPr>
          <a:xfrm>
            <a:off x="334800" y="320400"/>
            <a:ext cx="11684480" cy="651653"/>
          </a:xfrm>
          <a:prstGeom prst="rect">
            <a:avLst/>
          </a:prstGeom>
          <a:noFill/>
        </p:spPr>
        <p:txBody>
          <a:bodyPr wrap="square" rtlCol="0">
            <a:spAutoFit/>
          </a:bodyPr>
          <a:lstStyle/>
          <a:p>
            <a:pPr marL="457200" indent="-457200">
              <a:lnSpc>
                <a:spcPct val="125000"/>
              </a:lnSpc>
              <a:spcAft>
                <a:spcPts val="1200"/>
              </a:spcAft>
              <a:buFont typeface="Wingdings" panose="05000000000000000000" pitchFamily="2" charset="2"/>
              <a:buChar char="n"/>
            </a:pPr>
            <a:r>
              <a:rPr lang="zh-CN" altLang="en-US" sz="3200" b="1" dirty="0">
                <a:solidFill>
                  <a:srgbClr val="C00000"/>
                </a:solidFill>
                <a:latin typeface="微软雅黑" panose="020B0503020204020204" pitchFamily="34" charset="-122"/>
                <a:ea typeface="微软雅黑" panose="020B0503020204020204" pitchFamily="34" charset="-122"/>
              </a:rPr>
              <a:t>迭代加深启发式搜索 </a:t>
            </a:r>
            <a:r>
              <a:rPr lang="en-US" altLang="zh-CN" sz="3200" b="1" dirty="0">
                <a:solidFill>
                  <a:srgbClr val="C00000"/>
                </a:solidFill>
                <a:latin typeface="微软雅黑" panose="020B0503020204020204" pitchFamily="34" charset="-122"/>
                <a:ea typeface="微软雅黑" panose="020B0503020204020204" pitchFamily="34" charset="-122"/>
              </a:rPr>
              <a:t>| IDA*</a:t>
            </a:r>
            <a:endParaRPr lang="en-US" altLang="zh-CN" sz="3200" b="1" dirty="0">
              <a:solidFill>
                <a:srgbClr val="C00000"/>
              </a:solidFill>
              <a:latin typeface="微软雅黑" panose="020B0503020204020204" pitchFamily="34" charset="-122"/>
              <a:ea typeface="微软雅黑" panose="020B0503020204020204" pitchFamily="34" charset="-122"/>
            </a:endParaRPr>
          </a:p>
        </p:txBody>
      </p:sp>
      <p:sp>
        <p:nvSpPr>
          <p:cNvPr id="2" name="文本框 1"/>
          <p:cNvSpPr txBox="1"/>
          <p:nvPr/>
        </p:nvSpPr>
        <p:spPr>
          <a:xfrm>
            <a:off x="816360" y="1189607"/>
            <a:ext cx="10813002" cy="2492990"/>
          </a:xfrm>
          <a:prstGeom prst="rect">
            <a:avLst/>
          </a:prstGeom>
          <a:noFill/>
        </p:spPr>
        <p:txBody>
          <a:bodyPr wrap="square" rtlCol="0">
            <a:spAutoFit/>
          </a:bodyPr>
          <a:lstStyle/>
          <a:p>
            <a:endParaRPr lang="zh-CN" altLang="en-US" dirty="0"/>
          </a:p>
          <a:p>
            <a:pPr marL="342900" indent="-342900">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利用</a:t>
            </a:r>
            <a:r>
              <a:rPr lang="en-US" altLang="zh-CN" sz="2400" b="1" kern="100" dirty="0">
                <a:solidFill>
                  <a:srgbClr val="014B88"/>
                </a:solidFill>
                <a:latin typeface="仿宋_GB2312"/>
                <a:cs typeface="Times New Roman" panose="02020603050405020304" pitchFamily="18" charset="0"/>
              </a:rPr>
              <a:t>IDDFS</a:t>
            </a:r>
            <a:r>
              <a:rPr lang="zh-CN" altLang="en-US" sz="2400" b="1" kern="100" dirty="0">
                <a:solidFill>
                  <a:srgbClr val="014B88"/>
                </a:solidFill>
                <a:latin typeface="仿宋_GB2312"/>
                <a:cs typeface="Times New Roman" panose="02020603050405020304" pitchFamily="18" charset="0"/>
              </a:rPr>
              <a:t>时有深度上限的特点，评估在</a:t>
            </a:r>
            <a:r>
              <a:rPr lang="en-US" altLang="zh-CN" sz="2400" b="1" kern="100" dirty="0">
                <a:solidFill>
                  <a:srgbClr val="014B88"/>
                </a:solidFill>
                <a:latin typeface="仿宋_GB2312"/>
                <a:cs typeface="Times New Roman" panose="02020603050405020304" pitchFamily="18" charset="0"/>
              </a:rPr>
              <a:t>DFS</a:t>
            </a:r>
            <a:r>
              <a:rPr lang="zh-CN" altLang="en-US" sz="2400" b="1" kern="100" dirty="0">
                <a:solidFill>
                  <a:srgbClr val="014B88"/>
                </a:solidFill>
                <a:latin typeface="仿宋_GB2312"/>
                <a:cs typeface="Times New Roman" panose="02020603050405020304" pitchFamily="18" charset="0"/>
              </a:rPr>
              <a:t>树中一个节点在向下走一定的深度能不能到达解节点，并通过它剪枝</a:t>
            </a:r>
            <a:endParaRPr lang="zh-CN" altLang="en-US" sz="2400" b="1" kern="100" dirty="0">
              <a:solidFill>
                <a:srgbClr val="014B88"/>
              </a:solidFill>
              <a:latin typeface="仿宋_GB2312"/>
              <a:cs typeface="Times New Roman" panose="02020603050405020304" pitchFamily="18" charset="0"/>
            </a:endParaRPr>
          </a:p>
          <a:p>
            <a:endParaRPr lang="zh-CN" altLang="en-US" sz="2400" b="1" kern="100" dirty="0">
              <a:solidFill>
                <a:srgbClr val="014B88"/>
              </a:solidFill>
              <a:latin typeface="仿宋_GB2312"/>
              <a:cs typeface="Times New Roman" panose="02020603050405020304" pitchFamily="18" charset="0"/>
            </a:endParaRPr>
          </a:p>
          <a:p>
            <a:endParaRPr lang="zh-CN" altLang="en-US" sz="2400" b="1" kern="100" dirty="0">
              <a:solidFill>
                <a:srgbClr val="014B88"/>
              </a:solidFill>
              <a:latin typeface="仿宋_GB2312"/>
              <a:cs typeface="Times New Roman" panose="02020603050405020304" pitchFamily="18" charset="0"/>
            </a:endParaRPr>
          </a:p>
          <a:p>
            <a:pPr marL="342900" indent="-342900">
              <a:buFont typeface="Wingdings" panose="05000000000000000000" pitchFamily="2" charset="2"/>
              <a:buChar char="l"/>
            </a:pPr>
            <a:r>
              <a:rPr lang="zh-CN" altLang="en-US" sz="2400" b="1" kern="100" dirty="0">
                <a:solidFill>
                  <a:srgbClr val="014B88"/>
                </a:solidFill>
                <a:latin typeface="仿宋_GB2312"/>
                <a:cs typeface="Times New Roman" panose="02020603050405020304" pitchFamily="18" charset="0"/>
              </a:rPr>
              <a:t>利用启发函数剪枝：对于  </a:t>
            </a:r>
            <a:r>
              <a:rPr lang="en-US" altLang="zh-CN" sz="2400" b="1" kern="100" dirty="0">
                <a:solidFill>
                  <a:srgbClr val="014B88"/>
                </a:solidFill>
                <a:latin typeface="仿宋_GB2312"/>
                <a:cs typeface="Times New Roman" panose="02020603050405020304" pitchFamily="18" charset="0"/>
              </a:rPr>
              <a:t>f(x) &gt; MAXDEEP </a:t>
            </a:r>
            <a:r>
              <a:rPr lang="zh-CN" altLang="en-US" sz="2400" b="1" kern="100" dirty="0">
                <a:solidFill>
                  <a:srgbClr val="014B88"/>
                </a:solidFill>
                <a:latin typeface="仿宋_GB2312"/>
                <a:cs typeface="Times New Roman" panose="02020603050405020304" pitchFamily="18" charset="0"/>
              </a:rPr>
              <a:t>的节点不再扩展</a:t>
            </a:r>
            <a:endParaRPr lang="zh-CN" altLang="en-US" sz="2400" b="1" kern="100" dirty="0">
              <a:solidFill>
                <a:srgbClr val="014B88"/>
              </a:solidFill>
              <a:latin typeface="仿宋_GB2312"/>
              <a:cs typeface="Times New Roman" panose="02020603050405020304" pitchFamily="18" charset="0"/>
            </a:endParaRPr>
          </a:p>
          <a:p>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tags/tag1.xml><?xml version="1.0" encoding="utf-8"?>
<p:tagLst xmlns:p="http://schemas.openxmlformats.org/presentationml/2006/main">
  <p:tag name="TIMING" val="|0.7|1.8|5.2|11.6"/>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14149</Words>
  <Application>WPS 演示</Application>
  <PresentationFormat>宽屏</PresentationFormat>
  <Paragraphs>4052</Paragraphs>
  <Slides>103</Slides>
  <Notes>31</Notes>
  <HiddenSlides>0</HiddenSlides>
  <MMClips>0</MMClips>
  <ScaleCrop>false</ScaleCrop>
  <HeadingPairs>
    <vt:vector size="8" baseType="variant">
      <vt:variant>
        <vt:lpstr>已用的字体</vt:lpstr>
      </vt:variant>
      <vt:variant>
        <vt:i4>28</vt:i4>
      </vt:variant>
      <vt:variant>
        <vt:lpstr>主题</vt:lpstr>
      </vt:variant>
      <vt:variant>
        <vt:i4>2</vt:i4>
      </vt:variant>
      <vt:variant>
        <vt:lpstr>嵌入 OLE 服务器</vt:lpstr>
      </vt:variant>
      <vt:variant>
        <vt:i4>14</vt:i4>
      </vt:variant>
      <vt:variant>
        <vt:lpstr>幻灯片标题</vt:lpstr>
      </vt:variant>
      <vt:variant>
        <vt:i4>103</vt:i4>
      </vt:variant>
    </vt:vector>
  </HeadingPairs>
  <TitlesOfParts>
    <vt:vector size="147" baseType="lpstr">
      <vt:lpstr>Arial</vt:lpstr>
      <vt:lpstr>宋体</vt:lpstr>
      <vt:lpstr>Wingdings</vt:lpstr>
      <vt:lpstr>微软雅黑</vt:lpstr>
      <vt:lpstr>黑体</vt:lpstr>
      <vt:lpstr>华文中宋</vt:lpstr>
      <vt:lpstr>Calibri</vt:lpstr>
      <vt:lpstr>Times New Roman</vt:lpstr>
      <vt:lpstr>仿宋_GB2312</vt:lpstr>
      <vt:lpstr>仿宋</vt:lpstr>
      <vt:lpstr>Calibri</vt:lpstr>
      <vt:lpstr>等线</vt:lpstr>
      <vt:lpstr>Arial Unicode MS</vt:lpstr>
      <vt:lpstr>等线 Light</vt:lpstr>
      <vt:lpstr>华文琥珀</vt:lpstr>
      <vt:lpstr>MS UI Gothic</vt:lpstr>
      <vt:lpstr>Dotum</vt:lpstr>
      <vt:lpstr>Malgun Gothic</vt:lpstr>
      <vt:lpstr>Consolas</vt:lpstr>
      <vt:lpstr>Cambria Math</vt:lpstr>
      <vt:lpstr>Tahoma</vt:lpstr>
      <vt:lpstr>华文细黑</vt:lpstr>
      <vt:lpstr>Verdana</vt:lpstr>
      <vt:lpstr>Book Antiqua</vt:lpstr>
      <vt:lpstr>楷体_GB2312</vt:lpstr>
      <vt:lpstr>新宋体</vt:lpstr>
      <vt:lpstr>Arial Black</vt:lpstr>
      <vt:lpstr>Arial</vt:lpstr>
      <vt:lpstr>Office 主题​​</vt:lpstr>
      <vt:lpstr>2_Office 主题​​</vt:lpstr>
      <vt:lpstr>Word.Document.8</vt:lpstr>
      <vt:lpstr>Word.Document.8</vt:lpstr>
      <vt:lpstr>Word.Document.8</vt:lpstr>
      <vt:lpstr>Word.Document.8</vt:lpstr>
      <vt:lpstr>Word.Document.8</vt:lpstr>
      <vt:lpstr>Word.Document.8</vt:lpstr>
      <vt:lpstr>Word.Document.8</vt:lpstr>
      <vt:lpstr>Word.Document.8</vt:lpstr>
      <vt:lpstr>Word.Document.8</vt:lpstr>
      <vt:lpstr>Word.Document.8</vt:lpstr>
      <vt:lpstr>Word.Document.8</vt:lpstr>
      <vt:lpstr>Word.Document.8</vt:lpstr>
      <vt:lpstr>Word.Document.8</vt:lpstr>
      <vt:lpstr>Word.Document.8</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vt:lpstr>
      <vt:lpstr> </vt:lpstr>
      <vt:lpstr> </vt:lpstr>
      <vt:lpstr> </vt:lpstr>
      <vt:lpstr>PowerPoint 演示文稿</vt:lpstr>
      <vt:lpstr> </vt:lpstr>
      <vt:lpstr> </vt:lpstr>
      <vt:lpstr> </vt:lpstr>
      <vt:lpstr> </vt:lpstr>
      <vt:lpstr> </vt:lpstr>
      <vt:lpstr> </vt:lpstr>
      <vt:lpstr>PowerPoint 演示文稿</vt:lpstr>
      <vt:lpstr>PowerPoint 演示文稿</vt:lpstr>
      <vt:lpstr> </vt:lpstr>
      <vt:lpstr>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 </vt:lpstr>
      <vt:lpstr> </vt:lpstr>
      <vt:lpstr> </vt:lpstr>
      <vt:lpstr> </vt:lpstr>
      <vt:lpstr> </vt:lpstr>
      <vt:lpstr> </vt:lpstr>
      <vt:lpstr> </vt:lpstr>
      <vt:lpstr> </vt:lpstr>
      <vt:lpstr> </vt:lpstr>
      <vt:lpstr> </vt:lpstr>
      <vt:lpstr> </vt:lpstr>
      <vt:lpstr> </vt:lpstr>
      <vt:lpstr>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zmk</dc:creator>
  <cp:lastModifiedBy>赵满坤</cp:lastModifiedBy>
  <cp:revision>65</cp:revision>
  <dcterms:created xsi:type="dcterms:W3CDTF">2023-08-09T12:44:00Z</dcterms:created>
  <dcterms:modified xsi:type="dcterms:W3CDTF">2026-04-24T09:03:45Z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2052-12.1.0.23542</vt:lpwstr>
  </property>
  <property fmtid="{D5CDD505-2E9C-101B-9397-08002B2CF9AE}" pid="3" name="ICV">
    <vt:lpwstr>9C9A9BA14E3C413E97014FBA08E950EF_12</vt:lpwstr>
  </property>
</Properties>
</file>