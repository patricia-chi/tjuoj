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 id="2147483666" r:id="rId2"/>
    <p:sldMasterId id="2147483683" r:id="rId3"/>
  </p:sldMasterIdLst>
  <p:notesMasterIdLst>
    <p:notesMasterId r:id="rId39"/>
  </p:notesMasterIdLst>
  <p:sldIdLst>
    <p:sldId id="514" r:id="rId4"/>
    <p:sldId id="2324" r:id="rId5"/>
    <p:sldId id="2339" r:id="rId6"/>
    <p:sldId id="2342" r:id="rId7"/>
    <p:sldId id="2344" r:id="rId8"/>
    <p:sldId id="2341" r:id="rId9"/>
    <p:sldId id="2372" r:id="rId10"/>
    <p:sldId id="1713" r:id="rId11"/>
    <p:sldId id="1712" r:id="rId12"/>
    <p:sldId id="1714" r:id="rId13"/>
    <p:sldId id="1715" r:id="rId14"/>
    <p:sldId id="2379" r:id="rId15"/>
    <p:sldId id="1716" r:id="rId16"/>
    <p:sldId id="2349" r:id="rId17"/>
    <p:sldId id="2325" r:id="rId18"/>
    <p:sldId id="2340" r:id="rId19"/>
    <p:sldId id="2346" r:id="rId20"/>
    <p:sldId id="2374" r:id="rId21"/>
    <p:sldId id="1701" r:id="rId22"/>
    <p:sldId id="293" r:id="rId23"/>
    <p:sldId id="2375" r:id="rId24"/>
    <p:sldId id="374" r:id="rId25"/>
    <p:sldId id="369" r:id="rId26"/>
    <p:sldId id="327" r:id="rId27"/>
    <p:sldId id="370" r:id="rId28"/>
    <p:sldId id="328" r:id="rId29"/>
    <p:sldId id="329" r:id="rId30"/>
    <p:sldId id="1703" r:id="rId31"/>
    <p:sldId id="1708" r:id="rId32"/>
    <p:sldId id="1706" r:id="rId33"/>
    <p:sldId id="1709" r:id="rId34"/>
    <p:sldId id="1710" r:id="rId35"/>
    <p:sldId id="1711" r:id="rId36"/>
    <p:sldId id="1707" r:id="rId37"/>
    <p:sldId id="2376"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3" d="100"/>
          <a:sy n="113"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notesMaster" Target="notesMasters/notesMaster1.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D226CC-D057-4076-973D-28E1C9E2EB25}" type="datetimeFigureOut">
              <a:rPr lang="zh-CN" altLang="en-US" smtClean="0"/>
              <a:t>2026-04-03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DC9969-7BFD-472B-BE30-5B3FAF9D0D4D}" type="slidenum">
              <a:rPr lang="zh-CN" altLang="en-US" smtClean="0"/>
              <a:t>‹#›</a:t>
            </a:fld>
            <a:endParaRPr lang="zh-CN" altLang="en-US"/>
          </a:p>
        </p:txBody>
      </p:sp>
    </p:spTree>
    <p:extLst>
      <p:ext uri="{BB962C8B-B14F-4D97-AF65-F5344CB8AC3E}">
        <p14:creationId xmlns:p14="http://schemas.microsoft.com/office/powerpoint/2010/main" val="3736091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A718BCC-8E0E-4014-A15C-131A86B0AD65}"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352106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8528151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705223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694761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4791961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2865280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8521782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809024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A718BCC-8E0E-4014-A15C-131A86B0AD65}" type="slidenum">
              <a:rPr lang="zh-CN" altLang="en-US" smtClean="0"/>
              <a:t>35</a:t>
            </a:fld>
            <a:endParaRPr lang="zh-CN" altLang="en-US"/>
          </a:p>
        </p:txBody>
      </p:sp>
    </p:spTree>
    <p:extLst>
      <p:ext uri="{BB962C8B-B14F-4D97-AF65-F5344CB8AC3E}">
        <p14:creationId xmlns:p14="http://schemas.microsoft.com/office/powerpoint/2010/main" val="33681239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3.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956108"/>
            <a:ext cx="9144000" cy="2387600"/>
          </a:xfrm>
        </p:spPr>
        <p:txBody>
          <a:bodyPr anchor="b">
            <a:normAutofit/>
          </a:bodyPr>
          <a:lstStyle>
            <a:lvl1pPr algn="ctr">
              <a:defRPr sz="4400">
                <a:solidFill>
                  <a:schemeClr val="accent5">
                    <a:lumMod val="75000"/>
                  </a:schemeClr>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solidFill>
                  <a:schemeClr val="accent5">
                    <a:lumMod val="75000"/>
                  </a:schemeClr>
                </a:solidFill>
                <a:latin typeface="黑体" panose="02010609060101010101" pitchFamily="49" charset="-122"/>
                <a:ea typeface="黑体" panose="020106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单击以编辑母版副标题样式</a:t>
            </a:r>
          </a:p>
        </p:txBody>
      </p:sp>
      <p:pic>
        <p:nvPicPr>
          <p:cNvPr id="8" name="图片 7">
            <a:extLst>
              <a:ext uri="{FF2B5EF4-FFF2-40B4-BE49-F238E27FC236}">
                <a16:creationId xmlns:a16="http://schemas.microsoft.com/office/drawing/2014/main" id="{4292AA5B-3511-4AA4-AF20-4D87F26197D3}"/>
              </a:ext>
            </a:extLst>
          </p:cNvPr>
          <p:cNvPicPr>
            <a:picLocks noChangeAspect="1"/>
          </p:cNvPicPr>
          <p:nvPr userDrawn="1"/>
        </p:nvPicPr>
        <p:blipFill rotWithShape="1">
          <a:blip r:embed="rId2" cstate="print">
            <a:biLevel thresh="25000"/>
            <a:extLst>
              <a:ext uri="{28A0092B-C50C-407E-A947-70E740481C1C}">
                <a14:useLocalDpi xmlns:a14="http://schemas.microsoft.com/office/drawing/2010/main" val="0"/>
              </a:ext>
            </a:extLst>
          </a:blip>
          <a:srcRect t="55949" b="20928"/>
          <a:stretch>
            <a:fillRect/>
          </a:stretch>
        </p:blipFill>
        <p:spPr>
          <a:xfrm>
            <a:off x="0" y="5272269"/>
            <a:ext cx="12192000" cy="1585731"/>
          </a:xfrm>
          <a:prstGeom prst="rect">
            <a:avLst/>
          </a:prstGeom>
        </p:spPr>
      </p:pic>
    </p:spTree>
    <p:extLst>
      <p:ext uri="{BB962C8B-B14F-4D97-AF65-F5344CB8AC3E}">
        <p14:creationId xmlns:p14="http://schemas.microsoft.com/office/powerpoint/2010/main" val="2791328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930381"/>
            <a:ext cx="10515600" cy="933261"/>
          </a:xfrm>
        </p:spPr>
        <p:txBody>
          <a:bodyPr>
            <a:normAutofit/>
          </a:bodyPr>
          <a:lstStyle>
            <a:lvl1pPr>
              <a:defRPr sz="4000">
                <a:solidFill>
                  <a:schemeClr val="accent5">
                    <a:lumMod val="75000"/>
                  </a:schemeClr>
                </a:solidFill>
                <a:latin typeface="黑体" panose="02010609060101010101" pitchFamily="49" charset="-122"/>
                <a:ea typeface="黑体" panose="02010609060101010101" pitchFamily="49" charset="-122"/>
              </a:defRPr>
            </a:lvl1pPr>
          </a:lstStyle>
          <a:p>
            <a:r>
              <a:rPr lang="zh-CN" altLang="en-US" dirty="0"/>
              <a:t>单击此处编辑母版标题样式</a:t>
            </a:r>
          </a:p>
        </p:txBody>
      </p:sp>
      <p:sp>
        <p:nvSpPr>
          <p:cNvPr id="3" name="内容占位符 2"/>
          <p:cNvSpPr>
            <a:spLocks noGrp="1"/>
          </p:cNvSpPr>
          <p:nvPr>
            <p:ph idx="1" hasCustomPrompt="1"/>
          </p:nvPr>
        </p:nvSpPr>
        <p:spPr>
          <a:xfrm>
            <a:off x="838200" y="2158134"/>
            <a:ext cx="10515600" cy="4351338"/>
          </a:xfr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319649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3752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956108"/>
            <a:ext cx="9144000" cy="2387600"/>
          </a:xfrm>
        </p:spPr>
        <p:txBody>
          <a:bodyPr anchor="b">
            <a:normAutofit/>
          </a:bodyPr>
          <a:lstStyle>
            <a:lvl1pPr algn="ctr">
              <a:defRPr sz="4400">
                <a:solidFill>
                  <a:schemeClr val="accent5">
                    <a:lumMod val="75000"/>
                  </a:schemeClr>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solidFill>
                  <a:schemeClr val="accent5">
                    <a:lumMod val="75000"/>
                  </a:schemeClr>
                </a:solidFill>
                <a:latin typeface="黑体" panose="02010609060101010101" pitchFamily="49" charset="-122"/>
                <a:ea typeface="黑体" panose="020106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单击以编辑母版副标题样式</a:t>
            </a:r>
          </a:p>
        </p:txBody>
      </p:sp>
      <p:pic>
        <p:nvPicPr>
          <p:cNvPr id="7" name="图片 8" descr="WechatIMG2.jpeg">
            <a:extLst>
              <a:ext uri="{FF2B5EF4-FFF2-40B4-BE49-F238E27FC236}">
                <a16:creationId xmlns:a16="http://schemas.microsoft.com/office/drawing/2014/main" id="{D00077EC-4D16-4C91-8618-505DD6F94F6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00277" y="289894"/>
            <a:ext cx="1897862" cy="55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a:extLst>
              <a:ext uri="{FF2B5EF4-FFF2-40B4-BE49-F238E27FC236}">
                <a16:creationId xmlns:a16="http://schemas.microsoft.com/office/drawing/2014/main" id="{4292AA5B-3511-4AA4-AF20-4D87F26197D3}"/>
              </a:ext>
            </a:extLst>
          </p:cNvPr>
          <p:cNvPicPr>
            <a:picLocks noChangeAspect="1"/>
          </p:cNvPicPr>
          <p:nvPr userDrawn="1"/>
        </p:nvPicPr>
        <p:blipFill rotWithShape="1">
          <a:blip r:embed="rId3" cstate="print">
            <a:biLevel thresh="25000"/>
            <a:extLst>
              <a:ext uri="{28A0092B-C50C-407E-A947-70E740481C1C}">
                <a14:useLocalDpi xmlns:a14="http://schemas.microsoft.com/office/drawing/2010/main" val="0"/>
              </a:ext>
            </a:extLst>
          </a:blip>
          <a:srcRect t="55949" b="20928"/>
          <a:stretch>
            <a:fillRect/>
          </a:stretch>
        </p:blipFill>
        <p:spPr>
          <a:xfrm>
            <a:off x="0" y="5272269"/>
            <a:ext cx="12192000" cy="1585731"/>
          </a:xfrm>
          <a:prstGeom prst="rect">
            <a:avLst/>
          </a:prstGeom>
        </p:spPr>
      </p:pic>
      <p:grpSp>
        <p:nvGrpSpPr>
          <p:cNvPr id="12" name="组合 11">
            <a:extLst>
              <a:ext uri="{FF2B5EF4-FFF2-40B4-BE49-F238E27FC236}">
                <a16:creationId xmlns:a16="http://schemas.microsoft.com/office/drawing/2014/main" id="{EA669C68-972E-46B1-8B64-D60D2A871D83}"/>
              </a:ext>
            </a:extLst>
          </p:cNvPr>
          <p:cNvGrpSpPr/>
          <p:nvPr userDrawn="1"/>
        </p:nvGrpSpPr>
        <p:grpSpPr>
          <a:xfrm>
            <a:off x="7293502" y="295897"/>
            <a:ext cx="4593698" cy="523220"/>
            <a:chOff x="2655000" y="288412"/>
            <a:chExt cx="4593698" cy="523220"/>
          </a:xfrm>
        </p:grpSpPr>
        <p:pic>
          <p:nvPicPr>
            <p:cNvPr id="10" name="图片 9">
              <a:extLst>
                <a:ext uri="{FF2B5EF4-FFF2-40B4-BE49-F238E27FC236}">
                  <a16:creationId xmlns:a16="http://schemas.microsoft.com/office/drawing/2014/main" id="{14256995-F5B1-447D-8720-ED6645328CF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655000" y="326376"/>
              <a:ext cx="461666" cy="461666"/>
            </a:xfrm>
            <a:prstGeom prst="rect">
              <a:avLst/>
            </a:prstGeom>
          </p:spPr>
        </p:pic>
        <p:sp>
          <p:nvSpPr>
            <p:cNvPr id="11" name="文本框 10">
              <a:extLst>
                <a:ext uri="{FF2B5EF4-FFF2-40B4-BE49-F238E27FC236}">
                  <a16:creationId xmlns:a16="http://schemas.microsoft.com/office/drawing/2014/main" id="{87D48BFE-4033-498A-83AD-94D4F84AEF8A}"/>
                </a:ext>
              </a:extLst>
            </p:cNvPr>
            <p:cNvSpPr txBox="1"/>
            <p:nvPr userDrawn="1"/>
          </p:nvSpPr>
          <p:spPr>
            <a:xfrm>
              <a:off x="3116666" y="288412"/>
              <a:ext cx="4132032" cy="523220"/>
            </a:xfrm>
            <a:prstGeom prst="rect">
              <a:avLst/>
            </a:prstGeom>
            <a:noFill/>
          </p:spPr>
          <p:txBody>
            <a:bodyPr wrap="square" rtlCol="0">
              <a:spAutoFit/>
            </a:bodyPr>
            <a:lstStyle/>
            <a:p>
              <a:r>
                <a:rPr lang="en-US" altLang="zh-CN" sz="2800" dirty="0">
                  <a:solidFill>
                    <a:schemeClr val="accent5">
                      <a:lumMod val="75000"/>
                    </a:schemeClr>
                  </a:solidFill>
                  <a:latin typeface="Consolas" panose="020B0609020204030204" pitchFamily="49" charset="0"/>
                  <a:ea typeface="隶书" panose="02010509060101010101" pitchFamily="49" charset="-122"/>
                </a:rPr>
                <a:t>IT</a:t>
              </a:r>
              <a:r>
                <a:rPr lang="zh-CN" altLang="en-US" sz="2800" dirty="0">
                  <a:solidFill>
                    <a:schemeClr val="accent5">
                      <a:lumMod val="75000"/>
                    </a:schemeClr>
                  </a:solidFill>
                  <a:latin typeface="隶书" panose="02010509060101010101" pitchFamily="49" charset="-122"/>
                  <a:ea typeface="隶书" panose="02010509060101010101" pitchFamily="49" charset="-122"/>
                </a:rPr>
                <a:t>学科创新创业训练基地</a:t>
              </a:r>
            </a:p>
          </p:txBody>
        </p:sp>
      </p:grpSp>
    </p:spTree>
    <p:extLst>
      <p:ext uri="{BB962C8B-B14F-4D97-AF65-F5344CB8AC3E}">
        <p14:creationId xmlns:p14="http://schemas.microsoft.com/office/powerpoint/2010/main" val="2326852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930381"/>
            <a:ext cx="10515600" cy="933261"/>
          </a:xfrm>
        </p:spPr>
        <p:txBody>
          <a:bodyPr>
            <a:normAutofit/>
          </a:bodyPr>
          <a:lstStyle>
            <a:lvl1pPr>
              <a:defRPr sz="4000">
                <a:solidFill>
                  <a:schemeClr val="accent5">
                    <a:lumMod val="75000"/>
                  </a:schemeClr>
                </a:solidFill>
                <a:latin typeface="黑体" panose="02010609060101010101" pitchFamily="49" charset="-122"/>
                <a:ea typeface="黑体" panose="02010609060101010101" pitchFamily="49" charset="-122"/>
              </a:defRPr>
            </a:lvl1pPr>
          </a:lstStyle>
          <a:p>
            <a:r>
              <a:rPr lang="zh-CN" altLang="en-US" dirty="0"/>
              <a:t>单击此处编辑母版标题样式</a:t>
            </a:r>
          </a:p>
        </p:txBody>
      </p:sp>
      <p:sp>
        <p:nvSpPr>
          <p:cNvPr id="3" name="内容占位符 2"/>
          <p:cNvSpPr>
            <a:spLocks noGrp="1"/>
          </p:cNvSpPr>
          <p:nvPr>
            <p:ph idx="1" hasCustomPrompt="1"/>
          </p:nvPr>
        </p:nvSpPr>
        <p:spPr>
          <a:xfrm>
            <a:off x="838200" y="2158134"/>
            <a:ext cx="10515600" cy="4351338"/>
          </a:xfr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3931503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6274137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956108"/>
            <a:ext cx="9144000" cy="2387600"/>
          </a:xfrm>
        </p:spPr>
        <p:txBody>
          <a:bodyPr anchor="b">
            <a:normAutofit/>
          </a:bodyPr>
          <a:lstStyle>
            <a:lvl1pPr algn="ctr">
              <a:defRPr sz="4400">
                <a:solidFill>
                  <a:schemeClr val="accent5">
                    <a:lumMod val="75000"/>
                  </a:schemeClr>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solidFill>
                  <a:schemeClr val="accent5">
                    <a:lumMod val="75000"/>
                  </a:schemeClr>
                </a:solidFill>
                <a:latin typeface="黑体" panose="02010609060101010101" pitchFamily="49" charset="-122"/>
                <a:ea typeface="黑体" panose="020106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单击以编辑母版副标题样式</a:t>
            </a:r>
          </a:p>
        </p:txBody>
      </p:sp>
      <p:pic>
        <p:nvPicPr>
          <p:cNvPr id="7" name="图片 8" descr="WechatIMG2.jpeg">
            <a:extLst>
              <a:ext uri="{FF2B5EF4-FFF2-40B4-BE49-F238E27FC236}">
                <a16:creationId xmlns:a16="http://schemas.microsoft.com/office/drawing/2014/main" id="{D00077EC-4D16-4C91-8618-505DD6F94F6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00277" y="289894"/>
            <a:ext cx="1897862" cy="55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a:extLst>
              <a:ext uri="{FF2B5EF4-FFF2-40B4-BE49-F238E27FC236}">
                <a16:creationId xmlns:a16="http://schemas.microsoft.com/office/drawing/2014/main" id="{4292AA5B-3511-4AA4-AF20-4D87F26197D3}"/>
              </a:ext>
            </a:extLst>
          </p:cNvPr>
          <p:cNvPicPr>
            <a:picLocks noChangeAspect="1"/>
          </p:cNvPicPr>
          <p:nvPr userDrawn="1"/>
        </p:nvPicPr>
        <p:blipFill rotWithShape="1">
          <a:blip r:embed="rId3" cstate="print">
            <a:biLevel thresh="25000"/>
            <a:extLst>
              <a:ext uri="{28A0092B-C50C-407E-A947-70E740481C1C}">
                <a14:useLocalDpi xmlns:a14="http://schemas.microsoft.com/office/drawing/2010/main" val="0"/>
              </a:ext>
            </a:extLst>
          </a:blip>
          <a:srcRect t="55949" b="20928"/>
          <a:stretch>
            <a:fillRect/>
          </a:stretch>
        </p:blipFill>
        <p:spPr>
          <a:xfrm>
            <a:off x="0" y="5272269"/>
            <a:ext cx="12192000" cy="1585731"/>
          </a:xfrm>
          <a:prstGeom prst="rect">
            <a:avLst/>
          </a:prstGeom>
        </p:spPr>
      </p:pic>
    </p:spTree>
    <p:extLst>
      <p:ext uri="{BB962C8B-B14F-4D97-AF65-F5344CB8AC3E}">
        <p14:creationId xmlns:p14="http://schemas.microsoft.com/office/powerpoint/2010/main" val="1667355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930381"/>
            <a:ext cx="10515600" cy="933261"/>
          </a:xfrm>
        </p:spPr>
        <p:txBody>
          <a:bodyPr>
            <a:normAutofit/>
          </a:bodyPr>
          <a:lstStyle>
            <a:lvl1pPr>
              <a:defRPr sz="4000">
                <a:solidFill>
                  <a:schemeClr val="accent5">
                    <a:lumMod val="75000"/>
                  </a:schemeClr>
                </a:solidFill>
                <a:latin typeface="黑体" panose="02010609060101010101" pitchFamily="49" charset="-122"/>
                <a:ea typeface="黑体" panose="02010609060101010101" pitchFamily="49" charset="-122"/>
              </a:defRPr>
            </a:lvl1pPr>
          </a:lstStyle>
          <a:p>
            <a:r>
              <a:rPr lang="zh-CN" altLang="en-US" dirty="0"/>
              <a:t>单击此处编辑母版标题样式</a:t>
            </a:r>
          </a:p>
        </p:txBody>
      </p:sp>
      <p:sp>
        <p:nvSpPr>
          <p:cNvPr id="3" name="内容占位符 2"/>
          <p:cNvSpPr>
            <a:spLocks noGrp="1"/>
          </p:cNvSpPr>
          <p:nvPr>
            <p:ph idx="1" hasCustomPrompt="1"/>
          </p:nvPr>
        </p:nvSpPr>
        <p:spPr>
          <a:xfrm>
            <a:off x="838200" y="2158134"/>
            <a:ext cx="10515600" cy="4351338"/>
          </a:xfr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10" name="图片 8" descr="WechatIMG2.jpeg">
            <a:extLst>
              <a:ext uri="{FF2B5EF4-FFF2-40B4-BE49-F238E27FC236}">
                <a16:creationId xmlns:a16="http://schemas.microsoft.com/office/drawing/2014/main" id="{2793CBC1-7380-42B9-B3BB-787D603AE42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00277" y="289894"/>
            <a:ext cx="1897862" cy="55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90208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54214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Content_slides">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3847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5" Type="http://schemas.openxmlformats.org/officeDocument/2006/relationships/theme" Target="../theme/theme3.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944290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902132958"/>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43733847"/>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9"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mailto:zmk@tju.edu.c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t="55949" b="20928"/>
          <a:stretch>
            <a:fillRect/>
          </a:stretch>
        </p:blipFill>
        <p:spPr>
          <a:xfrm>
            <a:off x="0" y="5272269"/>
            <a:ext cx="12192000" cy="1585731"/>
          </a:xfrm>
          <a:prstGeom prst="rect">
            <a:avLst/>
          </a:prstGeom>
        </p:spPr>
      </p:pic>
      <p:sp>
        <p:nvSpPr>
          <p:cNvPr id="2" name="灯片编号占位符 1"/>
          <p:cNvSpPr>
            <a:spLocks noGrp="1"/>
          </p:cNvSpPr>
          <p:nvPr>
            <p:ph type="sldNum" sz="quarter" idx="4294967295"/>
          </p:nvPr>
        </p:nvSpPr>
        <p:spPr>
          <a:xfrm>
            <a:off x="9448800" y="6492875"/>
            <a:ext cx="2743200" cy="365125"/>
          </a:xfrm>
          <a:prstGeom prst="rect">
            <a:avLst/>
          </a:prstGeom>
        </p:spPr>
        <p:txBody>
          <a:bodyPr/>
          <a:lstStyle/>
          <a:p>
            <a:fld id="{CFD2B472-FC81-4D56-BB73-EBB478A21F5E}" type="slidenum">
              <a:rPr lang="zh-CN" altLang="en-US" smtClean="0"/>
              <a:t>1</a:t>
            </a:fld>
            <a:endParaRPr lang="zh-CN" altLang="en-US"/>
          </a:p>
        </p:txBody>
      </p:sp>
      <p:sp>
        <p:nvSpPr>
          <p:cNvPr id="5" name="文本框 5">
            <a:extLst>
              <a:ext uri="{FF2B5EF4-FFF2-40B4-BE49-F238E27FC236}">
                <a16:creationId xmlns:a16="http://schemas.microsoft.com/office/drawing/2014/main" id="{084FCB18-6666-4468-AED9-6CAD5EFC1AAB}"/>
              </a:ext>
            </a:extLst>
          </p:cNvPr>
          <p:cNvSpPr txBox="1">
            <a:spLocks noChangeArrowheads="1"/>
          </p:cNvSpPr>
          <p:nvPr/>
        </p:nvSpPr>
        <p:spPr bwMode="auto">
          <a:xfrm>
            <a:off x="1032671" y="2051405"/>
            <a:ext cx="10311215" cy="2343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defTabSz="6858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1pPr>
            <a:lvl2pPr marL="742950" indent="-285750" defTabSz="685800">
              <a:spcBef>
                <a:spcPct val="2000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2pPr>
            <a:lvl3pPr marL="1143000" indent="-228600" defTabSz="6858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685800">
              <a:spcBef>
                <a:spcPct val="20000"/>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4pPr>
            <a:lvl5pPr marL="2057400" indent="-228600" defTabSz="685800">
              <a:spcBef>
                <a:spcPct val="20000"/>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9pPr>
          </a:lstStyle>
          <a:p>
            <a:pPr algn="ctr">
              <a:buNone/>
            </a:pPr>
            <a:r>
              <a:rPr lang="zh-CN" altLang="en-US" sz="36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程序设计综合实践</a:t>
            </a:r>
            <a:endParaRPr lang="en-US" altLang="zh-CN" sz="36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endParaRPr>
          </a:p>
          <a:p>
            <a:pPr algn="ctr">
              <a:buNone/>
            </a:pPr>
            <a:endParaRPr lang="en-US" altLang="zh-CN" sz="36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endParaRPr>
          </a:p>
          <a:p>
            <a:pPr algn="ctr">
              <a:buNone/>
            </a:pPr>
            <a:r>
              <a:rPr lang="en-US" altLang="zh-CN"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hlinkClick r:id="rId4"/>
              </a:rPr>
              <a:t>zmk@tju.edu.cn</a:t>
            </a:r>
            <a:endParaRPr lang="en-US" altLang="zh-CN"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endParaRPr>
          </a:p>
          <a:p>
            <a:pPr algn="ctr">
              <a:buNone/>
            </a:pPr>
            <a:r>
              <a:rPr lang="zh-CN" altLang="en-US"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喻梅，于瑞国，王建荣，李雪威，赵满坤，应翔</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933F0046-4AF9-4D59-A230-E18D5E5DB04F}"/>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基础算法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递推与递归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递推</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EEF67879-F489-43FB-A377-76751D35E67F}"/>
              </a:ext>
            </a:extLst>
          </p:cNvPr>
          <p:cNvSpPr/>
          <p:nvPr/>
        </p:nvSpPr>
        <p:spPr>
          <a:xfrm>
            <a:off x="172720" y="856357"/>
            <a:ext cx="11181820" cy="6001643"/>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基本思路：通过已知条件，利用相邻的数据项间的关系（即：递推关系），得出中间推论，直至得到结果的算法。把一个复杂的庞大的计算过程转化为简单过程的多次重复。</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递推关系：给定一个数的序列H0,H1,…,Hn，若存在整数N0，使当n&gt;N0时,可以用=或&gt;或&lt;将Hn与其前面的某些项Hi(0&lt;i&lt;n)联系起来。</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endPar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122034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933F0046-4AF9-4D59-A230-E18D5E5DB04F}"/>
              </a:ext>
            </a:extLst>
          </p:cNvPr>
          <p:cNvSpPr txBox="1"/>
          <p:nvPr/>
        </p:nvSpPr>
        <p:spPr>
          <a:xfrm>
            <a:off x="334800" y="302645"/>
            <a:ext cx="6208043"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基础算法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递推与递归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递归</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1A0E4485-A687-4626-A85E-3584C89EC016}"/>
              </a:ext>
            </a:extLst>
          </p:cNvPr>
          <p:cNvSpPr/>
          <p:nvPr/>
        </p:nvSpPr>
        <p:spPr>
          <a:xfrm>
            <a:off x="162080" y="1083990"/>
            <a:ext cx="11597529" cy="5687134"/>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俄罗斯套娃、盗梦空间、遇见未来、洋葱</a:t>
            </a:r>
            <a:endPar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基本思想：一种通过重复将问题分解为同类的子问题而解决问题的方法。</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适用问题：解决结构自相似的问题。即：构成原问题的子问题与原问题在结构上相似，可以用类似的方法解决。</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特点：反复执行、结束反复执行的条件</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缺点：占用大量内存，容易爆栈，</a:t>
            </a:r>
            <a:r>
              <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Runtime Error </a:t>
            </a: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优点：代码简洁，容易理解</a:t>
            </a:r>
          </a:p>
          <a:p>
            <a:pPr marL="457200" marR="0" lvl="1" indent="0" algn="just" defTabSz="914400" rtl="0" eaLnBrk="1" fontAlgn="auto" latinLnBrk="0" hangingPunct="1">
              <a:lnSpc>
                <a:spcPct val="200000"/>
              </a:lnSpc>
              <a:spcBef>
                <a:spcPts val="0"/>
              </a:spcBef>
              <a:spcAft>
                <a:spcPts val="0"/>
              </a:spcAft>
              <a:buClrTx/>
              <a:buSzTx/>
              <a:buFontTx/>
              <a:buNone/>
              <a:tabLst/>
              <a:defRPr/>
            </a:pPr>
            <a:r>
              <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 </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endParaRPr kumimoji="0" lang="zh-CN" altLang="en-US" sz="16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4" name="矩形 3">
            <a:extLst>
              <a:ext uri="{FF2B5EF4-FFF2-40B4-BE49-F238E27FC236}">
                <a16:creationId xmlns:a16="http://schemas.microsoft.com/office/drawing/2014/main" id="{7EC38105-C106-4EC3-8187-6F8F720F2AC1}"/>
              </a:ext>
            </a:extLst>
          </p:cNvPr>
          <p:cNvSpPr/>
          <p:nvPr/>
        </p:nvSpPr>
        <p:spPr>
          <a:xfrm>
            <a:off x="6341616" y="3429000"/>
            <a:ext cx="5572218" cy="156966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int f(n)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if(n == 1 || n == 2)return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else return f(n-1) + f(n-2);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p>
        </p:txBody>
      </p:sp>
      <p:sp>
        <p:nvSpPr>
          <p:cNvPr id="5" name="矩形 4">
            <a:extLst>
              <a:ext uri="{FF2B5EF4-FFF2-40B4-BE49-F238E27FC236}">
                <a16:creationId xmlns:a16="http://schemas.microsoft.com/office/drawing/2014/main" id="{A320D3C9-4177-45D9-83A9-726F0F98DDA0}"/>
              </a:ext>
            </a:extLst>
          </p:cNvPr>
          <p:cNvSpPr/>
          <p:nvPr/>
        </p:nvSpPr>
        <p:spPr>
          <a:xfrm>
            <a:off x="755059" y="5684837"/>
            <a:ext cx="11877865" cy="70788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70AD47"/>
                </a:solidFill>
                <a:effectLst/>
                <a:uLnTx/>
                <a:uFillTx/>
                <a:latin typeface="Verdana" panose="020B0604030504040204" pitchFamily="34" charset="0"/>
                <a:ea typeface="等线" panose="02010600030101010101" pitchFamily="2" charset="-122"/>
                <a:cs typeface="+mn-cs"/>
              </a:rPr>
              <a:t>f(</a:t>
            </a:r>
            <a:r>
              <a:rPr kumimoji="0" lang="en-US" altLang="zh-CN" sz="2000" b="0" i="0" u="none" strike="noStrike" kern="1200" cap="none" spc="0" normalizeH="0" baseline="0" noProof="0" dirty="0">
                <a:ln>
                  <a:noFill/>
                </a:ln>
                <a:solidFill>
                  <a:srgbClr val="70AD47"/>
                </a:solidFill>
                <a:effectLst/>
                <a:uLnTx/>
                <a:uFillTx/>
                <a:latin typeface="Verdana" panose="020B0604030504040204" pitchFamily="34" charset="0"/>
                <a:ea typeface="Verdana" panose="020B0604030504040204" pitchFamily="34" charset="0"/>
                <a:cs typeface="+mn-cs"/>
              </a:rPr>
              <a:t>6)</a:t>
            </a:r>
            <a:r>
              <a:rPr kumimoji="0" lang="zh-CN" altLang="en-US" sz="2000" b="0" i="0" u="none" strike="noStrike" kern="1200" cap="none" spc="0" normalizeH="0" baseline="0" noProof="0" dirty="0">
                <a:ln>
                  <a:noFill/>
                </a:ln>
                <a:solidFill>
                  <a:srgbClr val="70AD47"/>
                </a:solidFill>
                <a:effectLst/>
                <a:uLnTx/>
                <a:uFillTx/>
                <a:latin typeface="Verdana" panose="020B0604030504040204" pitchFamily="34" charset="0"/>
                <a:ea typeface="等线" panose="02010600030101010101" pitchFamily="2" charset="-122"/>
                <a:cs typeface="+mn-cs"/>
              </a:rPr>
              <a:t> </a:t>
            </a:r>
            <a:r>
              <a:rPr kumimoji="0" lang="en-US" altLang="zh-CN" sz="2000" b="0" i="0" u="none" strike="noStrike" kern="1200" cap="none" spc="0" normalizeH="0" baseline="0" noProof="0" dirty="0">
                <a:ln>
                  <a:noFill/>
                </a:ln>
                <a:solidFill>
                  <a:srgbClr val="70AD47"/>
                </a:solidFill>
                <a:effectLst/>
                <a:uLnTx/>
                <a:uFillTx/>
                <a:latin typeface="Verdana" panose="020B0604030504040204" pitchFamily="34" charset="0"/>
                <a:ea typeface="Verdana" panose="020B0604030504040204" pitchFamily="34" charset="0"/>
                <a:cs typeface="+mn-cs"/>
              </a:rPr>
              <a:t>&gt;</a:t>
            </a:r>
            <a:r>
              <a:rPr kumimoji="0" lang="zh-CN" altLang="en-US" sz="2000" b="0" i="0" u="none" strike="noStrike" kern="1200" cap="none" spc="0" normalizeH="0" baseline="0" noProof="0" dirty="0">
                <a:ln>
                  <a:noFill/>
                </a:ln>
                <a:solidFill>
                  <a:srgbClr val="70AD47"/>
                </a:solidFill>
                <a:effectLst/>
                <a:uLnTx/>
                <a:uFillTx/>
                <a:latin typeface="Verdana" panose="020B0604030504040204" pitchFamily="34" charset="0"/>
                <a:ea typeface="等线" panose="02010600030101010101" pitchFamily="2" charset="-122"/>
                <a:cs typeface="+mn-cs"/>
              </a:rPr>
              <a:t> </a:t>
            </a:r>
            <a:r>
              <a:rPr kumimoji="0" lang="en-US" altLang="zh-CN" sz="2000" b="0" i="0" u="none" strike="noStrike" kern="1200" cap="none" spc="0" normalizeH="0" baseline="0" noProof="0" dirty="0">
                <a:ln>
                  <a:noFill/>
                </a:ln>
                <a:solidFill>
                  <a:srgbClr val="70AD47"/>
                </a:solidFill>
                <a:effectLst/>
                <a:uLnTx/>
                <a:uFillTx/>
                <a:latin typeface="Verdana" panose="020B0604030504040204" pitchFamily="34" charset="0"/>
                <a:ea typeface="Verdana" panose="020B0604030504040204" pitchFamily="34" charset="0"/>
                <a:cs typeface="+mn-cs"/>
              </a:rPr>
              <a:t>[</a:t>
            </a:r>
            <a:r>
              <a:rPr kumimoji="0" lang="en-US" altLang="zh-CN" sz="2000" b="0" i="0" u="none" strike="noStrike" kern="1200" cap="none" spc="0" normalizeH="0" baseline="0" noProof="0" dirty="0">
                <a:ln>
                  <a:noFill/>
                </a:ln>
                <a:solidFill>
                  <a:srgbClr val="C00000"/>
                </a:solidFill>
                <a:effectLst/>
                <a:uLnTx/>
                <a:uFillTx/>
                <a:latin typeface="Verdana" panose="020B0604030504040204" pitchFamily="34" charset="0"/>
                <a:ea typeface="Verdana" panose="020B0604030504040204" pitchFamily="34" charset="0"/>
                <a:cs typeface="+mn-cs"/>
              </a:rPr>
              <a:t>f(5) &gt; [f(4) &gt; [f(3) &gt; [f(2),f(1)],f(2)],f(3) &gt; [f(2),f(1)]]</a:t>
            </a:r>
            <a:r>
              <a:rPr kumimoji="0" lang="en-US" altLang="zh-CN" sz="2000" b="0" i="0" u="none" strike="noStrike" kern="1200" cap="none" spc="0" normalizeH="0" baseline="0" noProof="0" dirty="0">
                <a:ln>
                  <a:noFill/>
                </a:ln>
                <a:solidFill>
                  <a:srgbClr val="70AD47"/>
                </a:solidFill>
                <a:effectLst/>
                <a:uLnTx/>
                <a:uFillTx/>
                <a:latin typeface="Verdana" panose="020B0604030504040204" pitchFamily="34" charset="0"/>
                <a:ea typeface="Verdana" panose="020B0604030504040204" pitchFamily="34" charset="0"/>
                <a:cs typeface="+mn-cs"/>
              </a:rPr>
              <a:t>, </a:t>
            </a:r>
            <a:r>
              <a:rPr kumimoji="0" lang="en-US" altLang="zh-CN" sz="2000" b="0" i="0" u="none" strike="noStrike" kern="1200" cap="none" spc="0" normalizeH="0" baseline="0" noProof="0" dirty="0">
                <a:ln>
                  <a:noFill/>
                </a:ln>
                <a:solidFill>
                  <a:srgbClr val="C00000"/>
                </a:solidFill>
                <a:effectLst/>
                <a:uLnTx/>
                <a:uFillTx/>
                <a:latin typeface="Verdana" panose="020B0604030504040204" pitchFamily="34" charset="0"/>
                <a:ea typeface="Verdana" panose="020B0604030504040204" pitchFamily="34" charset="0"/>
                <a:cs typeface="+mn-cs"/>
              </a:rPr>
              <a:t>f(4) &gt; [f(3) &gt;  [f(2),f(1)],f(2)]</a:t>
            </a:r>
            <a:r>
              <a:rPr kumimoji="0" lang="en-US" altLang="zh-CN" sz="2000" b="0" i="0" u="none" strike="noStrike" kern="1200" cap="none" spc="0" normalizeH="0" baseline="0" noProof="0" dirty="0">
                <a:ln>
                  <a:noFill/>
                </a:ln>
                <a:solidFill>
                  <a:srgbClr val="70AD47"/>
                </a:solidFill>
                <a:effectLst/>
                <a:uLnTx/>
                <a:uFillTx/>
                <a:latin typeface="Verdana" panose="020B0604030504040204" pitchFamily="34" charset="0"/>
                <a:ea typeface="Verdana" panose="020B0604030504040204" pitchFamily="34" charset="0"/>
                <a:cs typeface="+mn-cs"/>
              </a:rPr>
              <a:t>]</a:t>
            </a:r>
            <a:endParaRPr kumimoji="0" lang="zh-CN" altLang="en-US" sz="2000" b="0" i="0" u="none" strike="noStrike" kern="1200" cap="none" spc="0" normalizeH="0" baseline="0" noProof="0" dirty="0">
              <a:ln>
                <a:noFill/>
              </a:ln>
              <a:solidFill>
                <a:srgbClr val="70AD47"/>
              </a:solidFill>
              <a:effectLst/>
              <a:uLnTx/>
              <a:uFillTx/>
              <a:latin typeface="Verdana" panose="020B0604030504040204" pitchFamily="34" charset="0"/>
              <a:ea typeface="等线" panose="02010600030101010101" pitchFamily="2" charset="-122"/>
              <a:cs typeface="+mn-cs"/>
            </a:endParaRPr>
          </a:p>
        </p:txBody>
      </p:sp>
    </p:spTree>
    <p:extLst>
      <p:ext uri="{BB962C8B-B14F-4D97-AF65-F5344CB8AC3E}">
        <p14:creationId xmlns:p14="http://schemas.microsoft.com/office/powerpoint/2010/main" val="3561602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5E3E762-6033-42F9-8088-A6252B34E739}"/>
              </a:ext>
            </a:extLst>
          </p:cNvPr>
          <p:cNvSpPr/>
          <p:nvPr/>
        </p:nvSpPr>
        <p:spPr>
          <a:xfrm>
            <a:off x="-1085" y="841795"/>
            <a:ext cx="12019280" cy="5896166"/>
          </a:xfrm>
          <a:prstGeom prst="rect">
            <a:avLst/>
          </a:prstGeom>
        </p:spPr>
        <p:txBody>
          <a:bodyPr wrap="square">
            <a:spAutoFit/>
          </a:bodyPr>
          <a:lstStyle/>
          <a:p>
            <a:pPr marL="457200" marR="0" lvl="1" indent="0" algn="just" defTabSz="914400" rtl="0" eaLnBrk="1" fontAlgn="auto" latinLnBrk="0" hangingPunct="1">
              <a:lnSpc>
                <a:spcPct val="200000"/>
              </a:lnSpc>
              <a:spcBef>
                <a:spcPts val="0"/>
              </a:spcBef>
              <a:spcAft>
                <a:spcPts val="0"/>
              </a:spcAft>
              <a:buClrTx/>
              <a:buSzTx/>
              <a:buFontTx/>
              <a:buNone/>
              <a:tabLst/>
              <a:defRPr/>
            </a:pPr>
            <a:r>
              <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两个关键问题</a:t>
            </a:r>
            <a:r>
              <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FF0000"/>
                </a:solidFill>
                <a:effectLst/>
                <a:uLnTx/>
                <a:uFillTx/>
                <a:latin typeface="Consolas" panose="020B0609020204030204" pitchFamily="49" charset="0"/>
                <a:ea typeface="等线" panose="02010600030101010101" pitchFamily="2" charset="-122"/>
                <a:cs typeface="Times New Roman" panose="02020603050405020304" pitchFamily="18" charset="0"/>
              </a:rPr>
              <a:t>递归边界条件（递归终止条件）</a:t>
            </a: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：确定递归到何时终止，或者说，直接有解的情况。</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FF0000"/>
                </a:solidFill>
                <a:effectLst/>
                <a:uLnTx/>
                <a:uFillTx/>
                <a:latin typeface="Consolas" panose="020B0609020204030204" pitchFamily="49" charset="0"/>
                <a:ea typeface="等线" panose="02010600030101010101" pitchFamily="2" charset="-122"/>
                <a:cs typeface="Times New Roman" panose="02020603050405020304" pitchFamily="18" charset="0"/>
              </a:rPr>
              <a:t>递归模式（递归体）</a:t>
            </a: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：大问题是如何分解为小问题的。 </a:t>
            </a:r>
          </a:p>
          <a:p>
            <a:pPr marL="914400" marR="0" lvl="2" indent="0" algn="just" defTabSz="914400" rtl="0" eaLnBrk="1" fontAlgn="auto" latinLnBrk="0" hangingPunct="1">
              <a:lnSpc>
                <a:spcPct val="200000"/>
              </a:lnSpc>
              <a:spcBef>
                <a:spcPts val="0"/>
              </a:spcBef>
              <a:spcAft>
                <a:spcPts val="0"/>
              </a:spcAft>
              <a:buClrTx/>
              <a:buSzTx/>
              <a:buFontTx/>
              <a:buNone/>
              <a:tabLst/>
              <a:defRPr/>
            </a:pPr>
            <a:r>
              <a:rPr kumimoji="0" lang="zh-CN" altLang="en-US" sz="20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注：递归终止条件通常就是得出最小问题的解，并返回给他的调用者。</a:t>
            </a:r>
          </a:p>
          <a:p>
            <a:pPr marL="457200" marR="0" lvl="1" indent="0" algn="just" defTabSz="914400" rtl="0" eaLnBrk="1" fontAlgn="auto" latinLnBrk="0" hangingPunct="1">
              <a:lnSpc>
                <a:spcPct val="200000"/>
              </a:lnSpc>
              <a:spcBef>
                <a:spcPts val="0"/>
              </a:spcBef>
              <a:spcAft>
                <a:spcPts val="0"/>
              </a:spcAft>
              <a:buClrTx/>
              <a:buSzTx/>
              <a:buFontTx/>
              <a:buNone/>
              <a:tabLst/>
              <a:defRPr/>
            </a:pPr>
            <a:r>
              <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间接递归与直接递归</a:t>
            </a:r>
            <a:r>
              <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直接递归调用：就是在函数</a:t>
            </a:r>
            <a:r>
              <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f</a:t>
            </a: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中直接调用函数</a:t>
            </a:r>
            <a:r>
              <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f</a:t>
            </a: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本身</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间接递归调用：就是在函数</a:t>
            </a:r>
            <a:r>
              <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f1</a:t>
            </a: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中调用另外一个函数</a:t>
            </a:r>
            <a:r>
              <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f2</a:t>
            </a: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，而该函数</a:t>
            </a:r>
            <a:r>
              <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f2</a:t>
            </a: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又调用了函数</a:t>
            </a:r>
            <a:r>
              <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f1</a:t>
            </a:r>
          </a:p>
        </p:txBody>
      </p:sp>
      <p:sp>
        <p:nvSpPr>
          <p:cNvPr id="3" name="TextBox 36">
            <a:extLst>
              <a:ext uri="{FF2B5EF4-FFF2-40B4-BE49-F238E27FC236}">
                <a16:creationId xmlns:a16="http://schemas.microsoft.com/office/drawing/2014/main" id="{2C0CAA3A-23B0-4AAA-9394-CF17515E629B}"/>
              </a:ext>
            </a:extLst>
          </p:cNvPr>
          <p:cNvSpPr txBox="1"/>
          <p:nvPr/>
        </p:nvSpPr>
        <p:spPr>
          <a:xfrm>
            <a:off x="334800" y="302645"/>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基础算法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递推与递归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递归</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044834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5E3E762-6033-42F9-8088-A6252B34E739}"/>
              </a:ext>
            </a:extLst>
          </p:cNvPr>
          <p:cNvSpPr/>
          <p:nvPr/>
        </p:nvSpPr>
        <p:spPr>
          <a:xfrm>
            <a:off x="0" y="954298"/>
            <a:ext cx="7603958" cy="4931415"/>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000" b="0" i="0" u="none" strike="noStrike" kern="1200" cap="none" spc="0" normalizeH="0" baseline="0" noProof="0" dirty="0">
                <a:ln>
                  <a:noFill/>
                </a:ln>
                <a:solidFill>
                  <a:srgbClr val="4D4D4D"/>
                </a:solidFill>
                <a:effectLst/>
                <a:uLnTx/>
                <a:uFillTx/>
                <a:latin typeface="等线" panose="02010600030101010101" pitchFamily="2" charset="-122"/>
                <a:ea typeface="等线" panose="02010600030101010101" pitchFamily="2" charset="-122"/>
                <a:cs typeface="+mn-cs"/>
              </a:rPr>
              <a:t>汉诺塔：</a:t>
            </a:r>
            <a:r>
              <a:rPr kumimoji="0" lang="zh-CN" altLang="en-US" sz="2000" b="0" i="0" u="none" strike="noStrike" kern="1200" cap="none" spc="0" normalizeH="0" baseline="0" noProof="0" dirty="0">
                <a:ln>
                  <a:noFill/>
                </a:ln>
                <a:solidFill>
                  <a:srgbClr val="333333"/>
                </a:solidFill>
                <a:effectLst/>
                <a:uLnTx/>
                <a:uFillTx/>
                <a:latin typeface="等线" panose="02010600030101010101" pitchFamily="2" charset="-122"/>
                <a:ea typeface="等线" panose="02010600030101010101" pitchFamily="2" charset="-122"/>
                <a:cs typeface="+mn-cs"/>
              </a:rPr>
              <a:t>汉诺塔</a:t>
            </a:r>
            <a:r>
              <a:rPr kumimoji="0" lang="en-US" altLang="zh-CN" sz="2000" b="0" i="0" u="none" strike="noStrike" kern="1200" cap="none" spc="0" normalizeH="0" baseline="0" noProof="0" dirty="0">
                <a:ln>
                  <a:noFill/>
                </a:ln>
                <a:solidFill>
                  <a:srgbClr val="333333"/>
                </a:solidFill>
                <a:effectLst/>
                <a:uLnTx/>
                <a:uFillTx/>
                <a:latin typeface="等线" panose="02010600030101010101" pitchFamily="2" charset="-122"/>
                <a:ea typeface="等线" panose="02010600030101010101" pitchFamily="2" charset="-122"/>
                <a:cs typeface="+mn-cs"/>
              </a:rPr>
              <a:t>(Tower of Hanoi)</a:t>
            </a:r>
            <a:r>
              <a:rPr kumimoji="0" lang="zh-CN" altLang="en-US" sz="2000" b="0" i="0" u="none" strike="noStrike" kern="1200" cap="none" spc="0" normalizeH="0" baseline="0" noProof="0" dirty="0">
                <a:ln>
                  <a:noFill/>
                </a:ln>
                <a:solidFill>
                  <a:srgbClr val="333333"/>
                </a:solidFill>
                <a:effectLst/>
                <a:uLnTx/>
                <a:uFillTx/>
                <a:latin typeface="等线" panose="02010600030101010101" pitchFamily="2" charset="-122"/>
                <a:ea typeface="等线" panose="02010600030101010101" pitchFamily="2" charset="-122"/>
                <a:cs typeface="+mn-cs"/>
              </a:rPr>
              <a:t>源于印度传说中，大梵天创造世界时造了三根金钢石柱子，其中一根柱子自底向上叠着</a:t>
            </a:r>
            <a:r>
              <a:rPr kumimoji="0" lang="en-US" altLang="zh-CN" sz="2000" b="0" i="0" u="none" strike="noStrike" kern="1200" cap="none" spc="0" normalizeH="0" baseline="0" noProof="0" dirty="0">
                <a:ln>
                  <a:noFill/>
                </a:ln>
                <a:solidFill>
                  <a:srgbClr val="333333"/>
                </a:solidFill>
                <a:effectLst/>
                <a:uLnTx/>
                <a:uFillTx/>
                <a:latin typeface="等线" panose="02010600030101010101" pitchFamily="2" charset="-122"/>
                <a:ea typeface="等线" panose="02010600030101010101" pitchFamily="2" charset="-122"/>
                <a:cs typeface="+mn-cs"/>
              </a:rPr>
              <a:t>64</a:t>
            </a:r>
            <a:r>
              <a:rPr kumimoji="0" lang="zh-CN" altLang="en-US" sz="2000" b="0" i="0" u="none" strike="noStrike" kern="1200" cap="none" spc="0" normalizeH="0" baseline="0" noProof="0" dirty="0">
                <a:ln>
                  <a:noFill/>
                </a:ln>
                <a:solidFill>
                  <a:srgbClr val="333333"/>
                </a:solidFill>
                <a:effectLst/>
                <a:uLnTx/>
                <a:uFillTx/>
                <a:latin typeface="等线" panose="02010600030101010101" pitchFamily="2" charset="-122"/>
                <a:ea typeface="等线" panose="02010600030101010101" pitchFamily="2" charset="-122"/>
                <a:cs typeface="+mn-cs"/>
              </a:rPr>
              <a:t>片黄金圆盘。大梵天命令婆罗门把圆盘从下面开始按大小顺序重新摆放在另一根柱子上。并且规定，在小圆盘上不能放大圆盘，在三根柱子之间一次只能移动一个圆盘。</a:t>
            </a:r>
            <a:endParaRPr kumimoji="0" lang="en-US" altLang="zh-CN" sz="2000" b="0" i="0" u="none" strike="noStrike" kern="1200" cap="none" spc="0" normalizeH="0" baseline="0" noProof="0" dirty="0">
              <a:ln>
                <a:noFill/>
              </a:ln>
              <a:solidFill>
                <a:srgbClr val="333333"/>
              </a:solidFill>
              <a:effectLst/>
              <a:uLnTx/>
              <a:uFillTx/>
              <a:latin typeface="等线" panose="02010600030101010101" pitchFamily="2" charset="-122"/>
              <a:ea typeface="等线" panose="02010600030101010101" pitchFamily="2" charset="-122"/>
              <a:cs typeface="+mn-cs"/>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endParaRPr kumimoji="0" lang="en-US" altLang="zh-CN" sz="2000" b="0" i="0" u="none" strike="noStrike" kern="1200" cap="none" spc="0" normalizeH="0" baseline="0" noProof="0" dirty="0">
              <a:ln>
                <a:noFill/>
              </a:ln>
              <a:solidFill>
                <a:srgbClr val="333333"/>
              </a:solidFill>
              <a:effectLst/>
              <a:uLnTx/>
              <a:uFillTx/>
              <a:latin typeface="等线" panose="02010600030101010101" pitchFamily="2" charset="-122"/>
              <a:ea typeface="等线" panose="02010600030101010101" pitchFamily="2" charset="-122"/>
              <a:cs typeface="+mn-cs"/>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000" b="0" i="0" u="none" strike="noStrike" kern="1200" cap="none" spc="0" normalizeH="0" baseline="0" noProof="0" dirty="0">
                <a:ln>
                  <a:noFill/>
                </a:ln>
                <a:solidFill>
                  <a:srgbClr val="333333"/>
                </a:solidFill>
                <a:effectLst/>
                <a:uLnTx/>
                <a:uFillTx/>
                <a:latin typeface="等线" panose="02010600030101010101" pitchFamily="2" charset="-122"/>
                <a:ea typeface="等线" panose="02010600030101010101" pitchFamily="2" charset="-122"/>
                <a:cs typeface="+mn-cs"/>
              </a:rPr>
              <a:t>问题：已知盘子数量</a:t>
            </a:r>
            <a:r>
              <a:rPr kumimoji="0" lang="en-US" altLang="zh-CN" sz="2000" b="0" i="0" u="none" strike="noStrike" kern="1200" cap="none" spc="0" normalizeH="0" baseline="0" noProof="0" dirty="0">
                <a:ln>
                  <a:noFill/>
                </a:ln>
                <a:solidFill>
                  <a:srgbClr val="333333"/>
                </a:solidFill>
                <a:effectLst/>
                <a:uLnTx/>
                <a:uFillTx/>
                <a:latin typeface="等线" panose="02010600030101010101" pitchFamily="2" charset="-122"/>
                <a:ea typeface="等线" panose="02010600030101010101" pitchFamily="2" charset="-122"/>
                <a:cs typeface="+mn-cs"/>
              </a:rPr>
              <a:t>3</a:t>
            </a:r>
            <a:r>
              <a:rPr kumimoji="0" lang="zh-CN" altLang="en-US" sz="2000" b="0" i="0" u="none" strike="noStrike" kern="1200" cap="none" spc="0" normalizeH="0" baseline="0" noProof="0" dirty="0">
                <a:ln>
                  <a:noFill/>
                </a:ln>
                <a:solidFill>
                  <a:srgbClr val="333333"/>
                </a:solidFill>
                <a:effectLst/>
                <a:uLnTx/>
                <a:uFillTx/>
                <a:latin typeface="等线" panose="02010600030101010101" pitchFamily="2" charset="-122"/>
                <a:ea typeface="等线" panose="02010600030101010101" pitchFamily="2" charset="-122"/>
                <a:cs typeface="+mn-cs"/>
              </a:rPr>
              <a:t>，求最少移动多少次盘子，输出移动步骤。</a:t>
            </a:r>
            <a:endParaRPr kumimoji="0" lang="zh-CN" altLang="en-US" sz="20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3" name="TextBox 36">
            <a:extLst>
              <a:ext uri="{FF2B5EF4-FFF2-40B4-BE49-F238E27FC236}">
                <a16:creationId xmlns:a16="http://schemas.microsoft.com/office/drawing/2014/main" id="{2C0CAA3A-23B0-4AAA-9394-CF17515E629B}"/>
              </a:ext>
            </a:extLst>
          </p:cNvPr>
          <p:cNvSpPr txBox="1"/>
          <p:nvPr/>
        </p:nvSpPr>
        <p:spPr>
          <a:xfrm>
            <a:off x="334800" y="302645"/>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基础算法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递推与递归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汉诺塔问题</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pic>
        <p:nvPicPr>
          <p:cNvPr id="2050" name="Picture 2" descr="https://img-blog.csdn.net/20180526183834681?watermark/2/text/aHR0cHM6Ly9ibG9nLmNzZG4ubmV0L3FxXzM3ODczMzEw/font/5a6L5L2T/fontsize/400/fill/I0JBQkFCMA==/dissolve/70">
            <a:extLst>
              <a:ext uri="{FF2B5EF4-FFF2-40B4-BE49-F238E27FC236}">
                <a16:creationId xmlns:a16="http://schemas.microsoft.com/office/drawing/2014/main" id="{BBC53C10-B312-42D1-8CB0-91A6CA88BB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9887" y="-5500"/>
            <a:ext cx="4202113"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71944584-A0F7-4A37-8716-54DD55BD5AB7}"/>
              </a:ext>
            </a:extLst>
          </p:cNvPr>
          <p:cNvSpPr/>
          <p:nvPr/>
        </p:nvSpPr>
        <p:spPr>
          <a:xfrm>
            <a:off x="2423915" y="5632025"/>
            <a:ext cx="3985386" cy="92333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Coding Time</a:t>
            </a:r>
            <a:endParaRPr kumimoji="0" lang="zh-CN" altLang="en-US"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408346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933F0046-4AF9-4D59-A230-E18D5E5DB04F}"/>
              </a:ext>
            </a:extLst>
          </p:cNvPr>
          <p:cNvSpPr txBox="1"/>
          <p:nvPr/>
        </p:nvSpPr>
        <p:spPr>
          <a:xfrm>
            <a:off x="334800" y="302645"/>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基础算法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递推与递归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递推与递归的比较</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1A0E4485-A687-4626-A85E-3584C89EC016}"/>
              </a:ext>
            </a:extLst>
          </p:cNvPr>
          <p:cNvSpPr/>
          <p:nvPr/>
        </p:nvSpPr>
        <p:spPr>
          <a:xfrm>
            <a:off x="162080" y="1083990"/>
            <a:ext cx="11597529" cy="4421210"/>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递推与递归的比较：相对于递归算法,递推算法免除了数据进出栈的过程，也就是说，不需要函数不断的向边界值靠拢,而直接从边界出发，直到求出函数值。</a:t>
            </a:r>
            <a:endPar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递推：</a:t>
            </a:r>
            <a:r>
              <a:rPr kumimoji="0" lang="zh-CN" altLang="en-US" sz="2400" b="1" i="0" u="none" strike="noStrike" kern="100" cap="none" spc="0" normalizeH="0" baseline="0" noProof="0" dirty="0">
                <a:ln>
                  <a:noFill/>
                </a:ln>
                <a:solidFill>
                  <a:srgbClr val="FF0000"/>
                </a:solidFill>
                <a:effectLst/>
                <a:uLnTx/>
                <a:uFillTx/>
                <a:latin typeface="Consolas" panose="020B0609020204030204" pitchFamily="49" charset="0"/>
                <a:ea typeface="等线" panose="02010600030101010101" pitchFamily="2" charset="-122"/>
                <a:cs typeface="Times New Roman" panose="02020603050405020304" pitchFamily="18" charset="0"/>
              </a:rPr>
              <a:t>从已知到未知</a:t>
            </a:r>
            <a:endParaRPr kumimoji="0" lang="en-US" altLang="zh-CN" sz="2400" b="1" i="0" u="none" strike="noStrike" kern="100" cap="none" spc="0" normalizeH="0" baseline="0" noProof="0" dirty="0">
              <a:ln>
                <a:noFill/>
              </a:ln>
              <a:solidFill>
                <a:srgbClr val="FF0000"/>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递归：递推</a:t>
            </a:r>
            <a:r>
              <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回归，</a:t>
            </a:r>
            <a:r>
              <a:rPr kumimoji="0" lang="zh-CN" altLang="en-US" sz="2400" b="1" i="0" u="none" strike="noStrike" kern="100" cap="none" spc="0" normalizeH="0" baseline="0" noProof="0" dirty="0">
                <a:ln>
                  <a:noFill/>
                </a:ln>
                <a:solidFill>
                  <a:srgbClr val="FF0000"/>
                </a:solidFill>
                <a:effectLst/>
                <a:uLnTx/>
                <a:uFillTx/>
                <a:latin typeface="Consolas" panose="020B0609020204030204" pitchFamily="49" charset="0"/>
                <a:ea typeface="等线" panose="02010600030101010101" pitchFamily="2" charset="-122"/>
                <a:cs typeface="Times New Roman" panose="02020603050405020304" pitchFamily="18" charset="0"/>
              </a:rPr>
              <a:t>从未知到已知</a:t>
            </a:r>
            <a:endParaRPr kumimoji="0" lang="en-US" altLang="zh-CN" sz="2400" b="1" i="0" u="none" strike="noStrike" kern="100" cap="none" spc="0" normalizeH="0" baseline="0" noProof="0" dirty="0">
              <a:ln>
                <a:noFill/>
              </a:ln>
              <a:solidFill>
                <a:srgbClr val="FF0000"/>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递归的非递归实现：所有递归都可以通过非递归的方法实现</a:t>
            </a:r>
            <a:r>
              <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用栈维护存储中间状态。</a:t>
            </a:r>
            <a:endParaRPr kumimoji="0" lang="zh-CN" altLang="en-US" sz="16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76241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3310129" y="3979272"/>
            <a:ext cx="5652000" cy="933907"/>
            <a:chOff x="2363538" y="2160418"/>
            <a:chExt cx="5613852" cy="933907"/>
          </a:xfrm>
        </p:grpSpPr>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63538" y="2160418"/>
              <a:ext cx="715704" cy="933907"/>
            </a:xfrm>
            <a:prstGeom prst="rect">
              <a:avLst/>
            </a:prstGeom>
          </p:spPr>
        </p:pic>
        <p:cxnSp>
          <p:nvCxnSpPr>
            <p:cNvPr id="14" name="直接连接符 13"/>
            <p:cNvCxnSpPr/>
            <p:nvPr/>
          </p:nvCxnSpPr>
          <p:spPr>
            <a:xfrm>
              <a:off x="2721390" y="3079085"/>
              <a:ext cx="5256000" cy="0"/>
            </a:xfrm>
            <a:prstGeom prst="line">
              <a:avLst/>
            </a:prstGeom>
            <a:ln w="19050">
              <a:solidFill>
                <a:srgbClr val="014B88"/>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310129" y="2715571"/>
            <a:ext cx="5649852" cy="933907"/>
            <a:chOff x="2363538" y="2160418"/>
            <a:chExt cx="5649852" cy="933907"/>
          </a:xfrm>
        </p:grpSpPr>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63538" y="2160418"/>
              <a:ext cx="715704" cy="933907"/>
            </a:xfrm>
            <a:prstGeom prst="rect">
              <a:avLst/>
            </a:prstGeom>
          </p:spPr>
        </p:pic>
        <p:cxnSp>
          <p:nvCxnSpPr>
            <p:cNvPr id="9" name="直接连接符 8"/>
            <p:cNvCxnSpPr/>
            <p:nvPr/>
          </p:nvCxnSpPr>
          <p:spPr>
            <a:xfrm>
              <a:off x="2721390" y="3079085"/>
              <a:ext cx="5292000" cy="0"/>
            </a:xfrm>
            <a:prstGeom prst="line">
              <a:avLst/>
            </a:prstGeom>
            <a:ln w="19050">
              <a:solidFill>
                <a:srgbClr val="014B88"/>
              </a:solidFill>
              <a:prstDash val="dash"/>
            </a:ln>
          </p:spPr>
          <p:style>
            <a:lnRef idx="1">
              <a:schemeClr val="accent1"/>
            </a:lnRef>
            <a:fillRef idx="0">
              <a:schemeClr val="accent1"/>
            </a:fillRef>
            <a:effectRef idx="0">
              <a:schemeClr val="accent1"/>
            </a:effectRef>
            <a:fontRef idx="minor">
              <a:schemeClr val="tx1"/>
            </a:fontRef>
          </p:style>
        </p:cxnSp>
      </p:grpSp>
      <p:grpSp>
        <p:nvGrpSpPr>
          <p:cNvPr id="11" name="组合 10"/>
          <p:cNvGrpSpPr/>
          <p:nvPr/>
        </p:nvGrpSpPr>
        <p:grpSpPr>
          <a:xfrm>
            <a:off x="3310129" y="1528540"/>
            <a:ext cx="5649852" cy="933907"/>
            <a:chOff x="2211138" y="2008018"/>
            <a:chExt cx="5649852" cy="933907"/>
          </a:xfrm>
        </p:grpSpPr>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11138" y="2008018"/>
              <a:ext cx="715704" cy="933907"/>
            </a:xfrm>
            <a:prstGeom prst="rect">
              <a:avLst/>
            </a:prstGeom>
          </p:spPr>
        </p:pic>
        <p:cxnSp>
          <p:nvCxnSpPr>
            <p:cNvPr id="6" name="直接连接符 5"/>
            <p:cNvCxnSpPr/>
            <p:nvPr/>
          </p:nvCxnSpPr>
          <p:spPr>
            <a:xfrm>
              <a:off x="2568990" y="2926685"/>
              <a:ext cx="5292000" cy="0"/>
            </a:xfrm>
            <a:prstGeom prst="line">
              <a:avLst/>
            </a:prstGeom>
            <a:ln w="19050">
              <a:solidFill>
                <a:srgbClr val="014B88"/>
              </a:solidFill>
              <a:prstDash val="dash"/>
            </a:ln>
          </p:spPr>
          <p:style>
            <a:lnRef idx="1">
              <a:schemeClr val="accent1"/>
            </a:lnRef>
            <a:fillRef idx="0">
              <a:schemeClr val="accent1"/>
            </a:fillRef>
            <a:effectRef idx="0">
              <a:schemeClr val="accent1"/>
            </a:effectRef>
            <a:fontRef idx="minor">
              <a:schemeClr val="tx1"/>
            </a:fontRef>
          </p:style>
        </p:cxnSp>
      </p:grpSp>
      <p:sp>
        <p:nvSpPr>
          <p:cNvPr id="5" name="内容占位符 2"/>
          <p:cNvSpPr txBox="1"/>
          <p:nvPr/>
        </p:nvSpPr>
        <p:spPr>
          <a:xfrm>
            <a:off x="3346129" y="2490025"/>
            <a:ext cx="1002601" cy="12806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200000"/>
              </a:lnSpc>
              <a:spcBef>
                <a:spcPts val="1000"/>
              </a:spcBef>
              <a:spcAft>
                <a:spcPts val="0"/>
              </a:spcAft>
              <a:buClrTx/>
              <a:buSzTx/>
              <a:buFont typeface="Arial" panose="020B0604020202020204" pitchFamily="34" charset="0"/>
              <a:buNone/>
              <a:tabLst/>
              <a:defRPr/>
            </a:pPr>
            <a:r>
              <a:rPr kumimoji="0" lang="zh-CN" altLang="en-US"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二</a:t>
            </a:r>
            <a:endParaRPr kumimoji="0" lang="zh-CN" alt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文本框 3"/>
          <p:cNvSpPr txBox="1"/>
          <p:nvPr/>
        </p:nvSpPr>
        <p:spPr>
          <a:xfrm>
            <a:off x="5365081" y="636022"/>
            <a:ext cx="175001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目  录</a:t>
            </a:r>
          </a:p>
        </p:txBody>
      </p:sp>
      <p:sp>
        <p:nvSpPr>
          <p:cNvPr id="15" name="内容占位符 2"/>
          <p:cNvSpPr txBox="1"/>
          <p:nvPr/>
        </p:nvSpPr>
        <p:spPr>
          <a:xfrm>
            <a:off x="3346129" y="1343908"/>
            <a:ext cx="739863" cy="1023029"/>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200000"/>
              </a:lnSpc>
              <a:spcBef>
                <a:spcPts val="1000"/>
              </a:spcBef>
              <a:spcAft>
                <a:spcPts val="0"/>
              </a:spcAft>
              <a:buClrTx/>
              <a:buSzTx/>
              <a:buFont typeface="Arial" panose="020B0604020202020204" pitchFamily="34" charset="0"/>
              <a:buNone/>
              <a:tabLst/>
              <a:defRPr/>
            </a:pPr>
            <a:r>
              <a:rPr kumimoji="0" lang="zh-CN" altLang="en-US"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一</a:t>
            </a:r>
            <a:endParaRPr kumimoji="0" lang="en-US" altLang="zh-CN" sz="3600" b="1" i="0" u="none" strike="noStrike" kern="1200" cap="none" spc="0" normalizeH="0" baseline="0" noProof="0" dirty="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内容占位符 2"/>
          <p:cNvSpPr txBox="1"/>
          <p:nvPr/>
        </p:nvSpPr>
        <p:spPr>
          <a:xfrm>
            <a:off x="3338705" y="3724501"/>
            <a:ext cx="948479" cy="12808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200000"/>
              </a:lnSpc>
              <a:spcBef>
                <a:spcPts val="1000"/>
              </a:spcBef>
              <a:spcAft>
                <a:spcPts val="0"/>
              </a:spcAft>
              <a:buClrTx/>
              <a:buSzTx/>
              <a:buFont typeface="Arial" panose="020B0604020202020204" pitchFamily="34" charset="0"/>
              <a:buNone/>
              <a:tabLst/>
              <a:defRPr/>
            </a:pPr>
            <a:r>
              <a:rPr kumimoji="0" lang="zh-CN" altLang="en-US"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三</a:t>
            </a:r>
            <a:endParaRPr kumimoji="0" lang="zh-CN" alt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p:cNvSpPr/>
          <p:nvPr/>
        </p:nvSpPr>
        <p:spPr>
          <a:xfrm>
            <a:off x="4272309" y="1659528"/>
            <a:ext cx="5009022" cy="646331"/>
          </a:xfrm>
          <a:prstGeom prst="rect">
            <a:avLst/>
          </a:prstGeom>
        </p:spPr>
        <p:txBody>
          <a:bodyPr wrap="none"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b="1" dirty="0">
                <a:solidFill>
                  <a:srgbClr val="002060"/>
                </a:solidFill>
                <a:latin typeface="微软雅黑" panose="020B0503020204020204" pitchFamily="34" charset="-122"/>
                <a:ea typeface="微软雅黑" panose="020B0503020204020204" pitchFamily="34" charset="-122"/>
              </a:rPr>
              <a:t>常用技巧</a:t>
            </a:r>
          </a:p>
        </p:txBody>
      </p:sp>
      <p:sp>
        <p:nvSpPr>
          <p:cNvPr id="17" name="矩形 16"/>
          <p:cNvSpPr/>
          <p:nvPr/>
        </p:nvSpPr>
        <p:spPr>
          <a:xfrm>
            <a:off x="4287184" y="2741948"/>
            <a:ext cx="6002124" cy="584776"/>
          </a:xfrm>
          <a:prstGeom prst="rect">
            <a:avLst/>
          </a:prstGeom>
        </p:spPr>
        <p:txBody>
          <a:bodyPr wrap="none"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b="1" dirty="0">
                <a:solidFill>
                  <a:srgbClr val="002060"/>
                </a:solidFill>
                <a:latin typeface="微软雅黑" panose="020B0503020204020204" pitchFamily="34" charset="-122"/>
                <a:ea typeface="微软雅黑" panose="020B0503020204020204" pitchFamily="34" charset="-122"/>
              </a:rPr>
              <a:t>分治思想</a:t>
            </a:r>
            <a:endParaRPr kumimoji="0" lang="zh-CN" altLang="en-US" sz="3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18" name="矩形 17"/>
          <p:cNvSpPr/>
          <p:nvPr/>
        </p:nvSpPr>
        <p:spPr>
          <a:xfrm>
            <a:off x="4318029" y="4131905"/>
            <a:ext cx="6107629" cy="584775"/>
          </a:xfrm>
          <a:prstGeom prst="rect">
            <a:avLst/>
          </a:prstGeom>
        </p:spPr>
        <p:txBody>
          <a:bodyPr wrap="square"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二分思想</a:t>
            </a:r>
          </a:p>
        </p:txBody>
      </p:sp>
      <p:sp>
        <p:nvSpPr>
          <p:cNvPr id="22" name="内容占位符 2"/>
          <p:cNvSpPr txBox="1"/>
          <p:nvPr/>
        </p:nvSpPr>
        <p:spPr>
          <a:xfrm>
            <a:off x="3329265" y="4847941"/>
            <a:ext cx="948479" cy="12808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200000"/>
              </a:lnSpc>
              <a:spcBef>
                <a:spcPts val="1000"/>
              </a:spcBef>
              <a:spcAft>
                <a:spcPts val="0"/>
              </a:spcAft>
              <a:buClrTx/>
              <a:buSzTx/>
              <a:buFont typeface="Arial" panose="020B0604020202020204" pitchFamily="34" charset="0"/>
              <a:buNone/>
              <a:tabLst/>
              <a:defRPr/>
            </a:pPr>
            <a:r>
              <a:rPr kumimoji="0" lang="zh-CN" altLang="en-US"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四</a:t>
            </a:r>
            <a:endParaRPr kumimoji="0" lang="zh-CN" alt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8" name="内容占位符 2"/>
          <p:cNvSpPr txBox="1"/>
          <p:nvPr/>
        </p:nvSpPr>
        <p:spPr>
          <a:xfrm>
            <a:off x="3336557" y="4917357"/>
            <a:ext cx="948479" cy="12808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200000"/>
              </a:lnSpc>
              <a:spcBef>
                <a:spcPts val="1000"/>
              </a:spcBef>
              <a:spcAft>
                <a:spcPts val="0"/>
              </a:spcAft>
              <a:buClrTx/>
              <a:buSzTx/>
              <a:buFont typeface="Arial" panose="020B0604020202020204" pitchFamily="34" charset="0"/>
              <a:buNone/>
              <a:tabLst/>
              <a:defRPr/>
            </a:pPr>
            <a:r>
              <a:rPr kumimoji="0" lang="zh-CN" altLang="en-US"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四</a:t>
            </a:r>
            <a:endParaRPr kumimoji="0" lang="zh-CN" alt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3314587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常用技巧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尺取法</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8322729C-1179-4B4C-843D-272796EB0B0A}"/>
              </a:ext>
            </a:extLst>
          </p:cNvPr>
          <p:cNvSpPr/>
          <p:nvPr/>
        </p:nvSpPr>
        <p:spPr>
          <a:xfrm>
            <a:off x="504001" y="927889"/>
            <a:ext cx="10558347" cy="5898218"/>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问题：给出一个包含</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n</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个正整数的升序序列，找出其中两个数，它们两个数的和为</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m</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（假定一定有解），输出这两个数</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457200" marR="0" lvl="1" indent="0" algn="just" defTabSz="914400" rtl="0" eaLnBrk="1" fontAlgn="auto" latinLnBrk="0" hangingPunct="1">
              <a:lnSpc>
                <a:spcPct val="200000"/>
              </a:lnSpc>
              <a:spcBef>
                <a:spcPts val="0"/>
              </a:spcBef>
              <a:spcAft>
                <a:spcPts val="0"/>
              </a:spcAft>
              <a:buClrTx/>
              <a:buSzTx/>
              <a:buFontTx/>
              <a:buNone/>
              <a:tabLst/>
              <a:defRPr/>
            </a:pP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输入：</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7</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个元素的序列：</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1 3 4 7 10 11 15</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m</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 </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 </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17</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二重循环</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二分查找</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哈希（空间换时间）</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尺取法</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反向扫描</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457200" marR="0" lvl="1" indent="0" algn="just" defTabSz="914400" rtl="0" eaLnBrk="1" fontAlgn="auto" latinLnBrk="0" hangingPunct="1">
              <a:lnSpc>
                <a:spcPct val="200000"/>
              </a:lnSpc>
              <a:spcBef>
                <a:spcPts val="0"/>
              </a:spcBef>
              <a:spcAft>
                <a:spcPts val="0"/>
              </a:spcAft>
              <a:buClrTx/>
              <a:buSzTx/>
              <a:buFontTx/>
              <a:buNone/>
              <a:tabLst/>
              <a:defRPr/>
            </a:pP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902758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a:extLst>
              <a:ext uri="{FF2B5EF4-FFF2-40B4-BE49-F238E27FC236}">
                <a16:creationId xmlns:a16="http://schemas.microsoft.com/office/drawing/2014/main" id="{FE9C1824-E245-4B8D-AF17-A171DFCA4C48}"/>
              </a:ext>
            </a:extLst>
          </p:cNvPr>
          <p:cNvSpPr/>
          <p:nvPr/>
        </p:nvSpPr>
        <p:spPr>
          <a:xfrm>
            <a:off x="4098631" y="5290913"/>
            <a:ext cx="2678549" cy="78373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9" name="TextBox 36"/>
          <p:cNvSpPr txBox="1"/>
          <p:nvPr/>
        </p:nvSpPr>
        <p:spPr>
          <a:xfrm>
            <a:off x="334800" y="320400"/>
            <a:ext cx="11684480" cy="651653"/>
          </a:xfrm>
          <a:prstGeom prst="rect">
            <a:avLst/>
          </a:prstGeom>
          <a:noFill/>
        </p:spPr>
        <p:txBody>
          <a:bodyPr wrap="square" rtlCol="0">
            <a:spAutoFit/>
          </a:bodyPr>
          <a:lstStyle/>
          <a:p>
            <a:pPr marL="457200" lvl="0" indent="-457200">
              <a:lnSpc>
                <a:spcPct val="125000"/>
              </a:lnSpc>
              <a:spcAft>
                <a:spcPts val="1200"/>
              </a:spcAft>
              <a:buFont typeface="Wingdings" panose="05000000000000000000" pitchFamily="2" charset="2"/>
              <a:buChar char="n"/>
            </a:pPr>
            <a:r>
              <a:rPr lang="zh-CN" altLang="en-US" sz="3200" b="1" dirty="0">
                <a:solidFill>
                  <a:srgbClr val="C00000"/>
                </a:solidFill>
                <a:latin typeface="微软雅黑" panose="020B0503020204020204" pitchFamily="34" charset="-122"/>
                <a:ea typeface="微软雅黑" panose="020B0503020204020204" pitchFamily="34" charset="-122"/>
              </a:rPr>
              <a:t>常用技巧 </a:t>
            </a:r>
            <a:r>
              <a:rPr lang="en-US" altLang="zh-CN" sz="3200" b="1" dirty="0">
                <a:solidFill>
                  <a:srgbClr val="C00000"/>
                </a:solidFill>
                <a:latin typeface="微软雅黑" panose="020B0503020204020204" pitchFamily="34" charset="-122"/>
                <a:ea typeface="微软雅黑" panose="020B0503020204020204" pitchFamily="34" charset="-122"/>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尺取法</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8322729C-1179-4B4C-843D-272796EB0B0A}"/>
              </a:ext>
            </a:extLst>
          </p:cNvPr>
          <p:cNvSpPr/>
          <p:nvPr/>
        </p:nvSpPr>
        <p:spPr>
          <a:xfrm>
            <a:off x="504001" y="927889"/>
            <a:ext cx="10558347" cy="3682226"/>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基本思想：在有序序列上设置两个游标，一头一尾或一快一慢，进行反向扫描或同向扫描。</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反向扫描：左指针、右指针同时向中间移动，直到会和</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同向扫描：快指针和慢指针同时向一个方向移动，形成“滑动窗口”</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	</a:t>
            </a:r>
          </a:p>
          <a:p>
            <a:pPr marL="457200" marR="0" lvl="1" indent="0" algn="just" defTabSz="914400" rtl="0" eaLnBrk="1" fontAlgn="auto" latinLnBrk="0" hangingPunct="1">
              <a:lnSpc>
                <a:spcPct val="200000"/>
              </a:lnSpc>
              <a:spcBef>
                <a:spcPts val="0"/>
              </a:spcBef>
              <a:spcAft>
                <a:spcPts val="0"/>
              </a:spcAft>
              <a:buClrTx/>
              <a:buSzTx/>
              <a:buFontTx/>
              <a:buNone/>
              <a:tabLst/>
              <a:defRPr/>
            </a:pP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260535DA-D5AD-4057-8280-FBBEC8520C69}"/>
              </a:ext>
            </a:extLst>
          </p:cNvPr>
          <p:cNvSpPr/>
          <p:nvPr/>
        </p:nvSpPr>
        <p:spPr>
          <a:xfrm>
            <a:off x="3472871" y="4684160"/>
            <a:ext cx="480291" cy="4525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5" name="矩形 4">
            <a:extLst>
              <a:ext uri="{FF2B5EF4-FFF2-40B4-BE49-F238E27FC236}">
                <a16:creationId xmlns:a16="http://schemas.microsoft.com/office/drawing/2014/main" id="{DA595562-6793-43D1-AEC1-CBA1194C808D}"/>
              </a:ext>
            </a:extLst>
          </p:cNvPr>
          <p:cNvSpPr/>
          <p:nvPr/>
        </p:nvSpPr>
        <p:spPr>
          <a:xfrm>
            <a:off x="4142508" y="4684160"/>
            <a:ext cx="480291" cy="4525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6" name="矩形 5">
            <a:extLst>
              <a:ext uri="{FF2B5EF4-FFF2-40B4-BE49-F238E27FC236}">
                <a16:creationId xmlns:a16="http://schemas.microsoft.com/office/drawing/2014/main" id="{5851E61C-1DB9-4298-8BA9-EE36F90152AA}"/>
              </a:ext>
            </a:extLst>
          </p:cNvPr>
          <p:cNvSpPr/>
          <p:nvPr/>
        </p:nvSpPr>
        <p:spPr>
          <a:xfrm>
            <a:off x="4812144" y="4684160"/>
            <a:ext cx="480291" cy="4525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7" name="矩形 6">
            <a:extLst>
              <a:ext uri="{FF2B5EF4-FFF2-40B4-BE49-F238E27FC236}">
                <a16:creationId xmlns:a16="http://schemas.microsoft.com/office/drawing/2014/main" id="{D9BD6972-2D6B-48CA-8F9A-B4E03B345FEE}"/>
              </a:ext>
            </a:extLst>
          </p:cNvPr>
          <p:cNvSpPr/>
          <p:nvPr/>
        </p:nvSpPr>
        <p:spPr>
          <a:xfrm>
            <a:off x="6202216" y="4684160"/>
            <a:ext cx="480291" cy="4525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8" name="矩形 7">
            <a:extLst>
              <a:ext uri="{FF2B5EF4-FFF2-40B4-BE49-F238E27FC236}">
                <a16:creationId xmlns:a16="http://schemas.microsoft.com/office/drawing/2014/main" id="{2A8ECCFD-4773-459D-9320-0A1F0E8C13E5}"/>
              </a:ext>
            </a:extLst>
          </p:cNvPr>
          <p:cNvSpPr/>
          <p:nvPr/>
        </p:nvSpPr>
        <p:spPr>
          <a:xfrm>
            <a:off x="6871853" y="4684160"/>
            <a:ext cx="480291" cy="4525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0" name="矩形 9">
            <a:extLst>
              <a:ext uri="{FF2B5EF4-FFF2-40B4-BE49-F238E27FC236}">
                <a16:creationId xmlns:a16="http://schemas.microsoft.com/office/drawing/2014/main" id="{34E6E7DD-25DE-420D-9A81-5934CED5DCE2}"/>
              </a:ext>
            </a:extLst>
          </p:cNvPr>
          <p:cNvSpPr/>
          <p:nvPr/>
        </p:nvSpPr>
        <p:spPr>
          <a:xfrm>
            <a:off x="7541489" y="4684160"/>
            <a:ext cx="480291" cy="4525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1" name="矩形 10">
            <a:extLst>
              <a:ext uri="{FF2B5EF4-FFF2-40B4-BE49-F238E27FC236}">
                <a16:creationId xmlns:a16="http://schemas.microsoft.com/office/drawing/2014/main" id="{A6F1BE0A-90F3-45EE-9C0E-383A703AE02E}"/>
              </a:ext>
            </a:extLst>
          </p:cNvPr>
          <p:cNvSpPr/>
          <p:nvPr/>
        </p:nvSpPr>
        <p:spPr>
          <a:xfrm>
            <a:off x="3472871" y="5469616"/>
            <a:ext cx="480291" cy="4525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2" name="矩形 11">
            <a:extLst>
              <a:ext uri="{FF2B5EF4-FFF2-40B4-BE49-F238E27FC236}">
                <a16:creationId xmlns:a16="http://schemas.microsoft.com/office/drawing/2014/main" id="{B6458F2D-13E3-4CEE-836C-48CA333D7EFA}"/>
              </a:ext>
            </a:extLst>
          </p:cNvPr>
          <p:cNvSpPr/>
          <p:nvPr/>
        </p:nvSpPr>
        <p:spPr>
          <a:xfrm>
            <a:off x="4142508" y="5469616"/>
            <a:ext cx="480291" cy="4525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3" name="矩形 12">
            <a:extLst>
              <a:ext uri="{FF2B5EF4-FFF2-40B4-BE49-F238E27FC236}">
                <a16:creationId xmlns:a16="http://schemas.microsoft.com/office/drawing/2014/main" id="{111C1A53-A69E-4144-BE92-F994F84CDAE1}"/>
              </a:ext>
            </a:extLst>
          </p:cNvPr>
          <p:cNvSpPr/>
          <p:nvPr/>
        </p:nvSpPr>
        <p:spPr>
          <a:xfrm>
            <a:off x="4812144" y="5469616"/>
            <a:ext cx="480291" cy="4525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4" name="矩形 13">
            <a:extLst>
              <a:ext uri="{FF2B5EF4-FFF2-40B4-BE49-F238E27FC236}">
                <a16:creationId xmlns:a16="http://schemas.microsoft.com/office/drawing/2014/main" id="{8AC7498C-36B5-40F3-83A6-CEF9C2A34A89}"/>
              </a:ext>
            </a:extLst>
          </p:cNvPr>
          <p:cNvSpPr/>
          <p:nvPr/>
        </p:nvSpPr>
        <p:spPr>
          <a:xfrm>
            <a:off x="6202216" y="5469616"/>
            <a:ext cx="480291" cy="4525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5" name="矩形 14">
            <a:extLst>
              <a:ext uri="{FF2B5EF4-FFF2-40B4-BE49-F238E27FC236}">
                <a16:creationId xmlns:a16="http://schemas.microsoft.com/office/drawing/2014/main" id="{8C03699B-925C-4991-8000-414071CC4AF8}"/>
              </a:ext>
            </a:extLst>
          </p:cNvPr>
          <p:cNvSpPr/>
          <p:nvPr/>
        </p:nvSpPr>
        <p:spPr>
          <a:xfrm>
            <a:off x="6871853" y="5469616"/>
            <a:ext cx="480291" cy="4525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6" name="矩形 15">
            <a:extLst>
              <a:ext uri="{FF2B5EF4-FFF2-40B4-BE49-F238E27FC236}">
                <a16:creationId xmlns:a16="http://schemas.microsoft.com/office/drawing/2014/main" id="{05EBBCF1-E196-478F-A1B5-6EEE67FB924F}"/>
              </a:ext>
            </a:extLst>
          </p:cNvPr>
          <p:cNvSpPr/>
          <p:nvPr/>
        </p:nvSpPr>
        <p:spPr>
          <a:xfrm>
            <a:off x="7541489" y="5469616"/>
            <a:ext cx="480291" cy="4525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4" name="矩形 3">
            <a:extLst>
              <a:ext uri="{FF2B5EF4-FFF2-40B4-BE49-F238E27FC236}">
                <a16:creationId xmlns:a16="http://schemas.microsoft.com/office/drawing/2014/main" id="{A46FC07B-3BE2-469A-8BD1-FDA2B30AFE96}"/>
              </a:ext>
            </a:extLst>
          </p:cNvPr>
          <p:cNvSpPr/>
          <p:nvPr/>
        </p:nvSpPr>
        <p:spPr>
          <a:xfrm>
            <a:off x="5326333" y="4436157"/>
            <a:ext cx="841984" cy="923330"/>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a:t>
            </a:r>
            <a:endParaRPr kumimoji="0" lang="zh-CN" altLang="en-US"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endParaRPr>
          </a:p>
        </p:txBody>
      </p:sp>
      <p:cxnSp>
        <p:nvCxnSpPr>
          <p:cNvPr id="18" name="直接箭头连接符 17">
            <a:extLst>
              <a:ext uri="{FF2B5EF4-FFF2-40B4-BE49-F238E27FC236}">
                <a16:creationId xmlns:a16="http://schemas.microsoft.com/office/drawing/2014/main" id="{CD316B0A-01F6-4C11-9C7B-F90803706F2D}"/>
              </a:ext>
            </a:extLst>
          </p:cNvPr>
          <p:cNvCxnSpPr>
            <a:cxnSpLocks/>
          </p:cNvCxnSpPr>
          <p:nvPr/>
        </p:nvCxnSpPr>
        <p:spPr>
          <a:xfrm>
            <a:off x="3713016" y="4296232"/>
            <a:ext cx="0" cy="387928"/>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21" name="直接箭头连接符 20">
            <a:extLst>
              <a:ext uri="{FF2B5EF4-FFF2-40B4-BE49-F238E27FC236}">
                <a16:creationId xmlns:a16="http://schemas.microsoft.com/office/drawing/2014/main" id="{C45D7B3D-4CD0-47B9-9BAE-A5D031C54A7E}"/>
              </a:ext>
            </a:extLst>
          </p:cNvPr>
          <p:cNvCxnSpPr>
            <a:cxnSpLocks/>
          </p:cNvCxnSpPr>
          <p:nvPr/>
        </p:nvCxnSpPr>
        <p:spPr>
          <a:xfrm>
            <a:off x="7800107" y="4296232"/>
            <a:ext cx="0" cy="387928"/>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22" name="箭头: 右 21">
            <a:extLst>
              <a:ext uri="{FF2B5EF4-FFF2-40B4-BE49-F238E27FC236}">
                <a16:creationId xmlns:a16="http://schemas.microsoft.com/office/drawing/2014/main" id="{548AD1CA-0177-494F-8DE5-65D6D414B16D}"/>
              </a:ext>
            </a:extLst>
          </p:cNvPr>
          <p:cNvSpPr/>
          <p:nvPr/>
        </p:nvSpPr>
        <p:spPr>
          <a:xfrm>
            <a:off x="3846345" y="4394114"/>
            <a:ext cx="416235" cy="1660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3" name="箭头: 右 22">
            <a:extLst>
              <a:ext uri="{FF2B5EF4-FFF2-40B4-BE49-F238E27FC236}">
                <a16:creationId xmlns:a16="http://schemas.microsoft.com/office/drawing/2014/main" id="{FB41788C-AFD7-44DE-8A68-F8EF4D1326AE}"/>
              </a:ext>
            </a:extLst>
          </p:cNvPr>
          <p:cNvSpPr/>
          <p:nvPr/>
        </p:nvSpPr>
        <p:spPr>
          <a:xfrm rot="10800000">
            <a:off x="7236689" y="4394113"/>
            <a:ext cx="416235" cy="1660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4" name="矩形 23">
            <a:extLst>
              <a:ext uri="{FF2B5EF4-FFF2-40B4-BE49-F238E27FC236}">
                <a16:creationId xmlns:a16="http://schemas.microsoft.com/office/drawing/2014/main" id="{2580CC7E-A674-454A-A9C4-A8E57E8695A5}"/>
              </a:ext>
            </a:extLst>
          </p:cNvPr>
          <p:cNvSpPr/>
          <p:nvPr/>
        </p:nvSpPr>
        <p:spPr>
          <a:xfrm>
            <a:off x="3173355" y="3850491"/>
            <a:ext cx="1107996" cy="461665"/>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左指针</a:t>
            </a:r>
          </a:p>
        </p:txBody>
      </p:sp>
      <p:sp>
        <p:nvSpPr>
          <p:cNvPr id="25" name="矩形 24">
            <a:extLst>
              <a:ext uri="{FF2B5EF4-FFF2-40B4-BE49-F238E27FC236}">
                <a16:creationId xmlns:a16="http://schemas.microsoft.com/office/drawing/2014/main" id="{FB79851F-1994-4196-A9DF-5D0C016E22B6}"/>
              </a:ext>
            </a:extLst>
          </p:cNvPr>
          <p:cNvSpPr/>
          <p:nvPr/>
        </p:nvSpPr>
        <p:spPr>
          <a:xfrm>
            <a:off x="7236688" y="3843650"/>
            <a:ext cx="1107996" cy="461665"/>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右指针</a:t>
            </a:r>
          </a:p>
        </p:txBody>
      </p:sp>
      <p:cxnSp>
        <p:nvCxnSpPr>
          <p:cNvPr id="26" name="直接箭头连接符 25">
            <a:extLst>
              <a:ext uri="{FF2B5EF4-FFF2-40B4-BE49-F238E27FC236}">
                <a16:creationId xmlns:a16="http://schemas.microsoft.com/office/drawing/2014/main" id="{3BDAA363-8411-4BF7-8AFB-C9EF788AE026}"/>
              </a:ext>
            </a:extLst>
          </p:cNvPr>
          <p:cNvCxnSpPr>
            <a:cxnSpLocks/>
            <a:endCxn id="12" idx="2"/>
          </p:cNvCxnSpPr>
          <p:nvPr/>
        </p:nvCxnSpPr>
        <p:spPr>
          <a:xfrm flipV="1">
            <a:off x="4382653" y="5922198"/>
            <a:ext cx="1" cy="430674"/>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31" name="直接箭头连接符 30">
            <a:extLst>
              <a:ext uri="{FF2B5EF4-FFF2-40B4-BE49-F238E27FC236}">
                <a16:creationId xmlns:a16="http://schemas.microsoft.com/office/drawing/2014/main" id="{63F85F92-60A6-4499-BA1C-4E1AA92D5359}"/>
              </a:ext>
            </a:extLst>
          </p:cNvPr>
          <p:cNvCxnSpPr>
            <a:cxnSpLocks/>
            <a:endCxn id="14" idx="2"/>
          </p:cNvCxnSpPr>
          <p:nvPr/>
        </p:nvCxnSpPr>
        <p:spPr>
          <a:xfrm flipV="1">
            <a:off x="6442362" y="5922198"/>
            <a:ext cx="0" cy="430675"/>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34" name="箭头: 右 33">
            <a:extLst>
              <a:ext uri="{FF2B5EF4-FFF2-40B4-BE49-F238E27FC236}">
                <a16:creationId xmlns:a16="http://schemas.microsoft.com/office/drawing/2014/main" id="{DCB281ED-2C1B-4B2B-B0A3-891352685F79}"/>
              </a:ext>
            </a:extLst>
          </p:cNvPr>
          <p:cNvSpPr/>
          <p:nvPr/>
        </p:nvSpPr>
        <p:spPr>
          <a:xfrm>
            <a:off x="6575690" y="6080816"/>
            <a:ext cx="416235" cy="1660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35" name="箭头: 右 34">
            <a:extLst>
              <a:ext uri="{FF2B5EF4-FFF2-40B4-BE49-F238E27FC236}">
                <a16:creationId xmlns:a16="http://schemas.microsoft.com/office/drawing/2014/main" id="{78F16721-64C1-456A-B5F5-6B90BCD33282}"/>
              </a:ext>
            </a:extLst>
          </p:cNvPr>
          <p:cNvSpPr/>
          <p:nvPr/>
        </p:nvSpPr>
        <p:spPr>
          <a:xfrm>
            <a:off x="4515981" y="6057695"/>
            <a:ext cx="416235" cy="1660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37" name="矩形 36">
            <a:extLst>
              <a:ext uri="{FF2B5EF4-FFF2-40B4-BE49-F238E27FC236}">
                <a16:creationId xmlns:a16="http://schemas.microsoft.com/office/drawing/2014/main" id="{35857A5B-3908-46F9-B2C1-373AA0F8CF18}"/>
              </a:ext>
            </a:extLst>
          </p:cNvPr>
          <p:cNvSpPr/>
          <p:nvPr/>
        </p:nvSpPr>
        <p:spPr>
          <a:xfrm>
            <a:off x="3889660" y="6307384"/>
            <a:ext cx="1107996" cy="461665"/>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慢指针</a:t>
            </a:r>
          </a:p>
        </p:txBody>
      </p:sp>
      <p:sp>
        <p:nvSpPr>
          <p:cNvPr id="38" name="矩形 37">
            <a:extLst>
              <a:ext uri="{FF2B5EF4-FFF2-40B4-BE49-F238E27FC236}">
                <a16:creationId xmlns:a16="http://schemas.microsoft.com/office/drawing/2014/main" id="{D750A3B0-8C35-4E55-A625-F326AA2B4692}"/>
              </a:ext>
            </a:extLst>
          </p:cNvPr>
          <p:cNvSpPr/>
          <p:nvPr/>
        </p:nvSpPr>
        <p:spPr>
          <a:xfrm>
            <a:off x="5912484" y="6330505"/>
            <a:ext cx="1107996" cy="461665"/>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快指针</a:t>
            </a:r>
          </a:p>
        </p:txBody>
      </p:sp>
      <p:sp>
        <p:nvSpPr>
          <p:cNvPr id="39" name="矩形 38">
            <a:extLst>
              <a:ext uri="{FF2B5EF4-FFF2-40B4-BE49-F238E27FC236}">
                <a16:creationId xmlns:a16="http://schemas.microsoft.com/office/drawing/2014/main" id="{D367033B-1E97-4858-B13C-FE8CD6BBA957}"/>
              </a:ext>
            </a:extLst>
          </p:cNvPr>
          <p:cNvSpPr/>
          <p:nvPr/>
        </p:nvSpPr>
        <p:spPr>
          <a:xfrm>
            <a:off x="5343236" y="5201933"/>
            <a:ext cx="841984" cy="923330"/>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a:t>
            </a:r>
            <a:endParaRPr kumimoji="0" lang="zh-CN" altLang="en-US"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endParaRPr>
          </a:p>
        </p:txBody>
      </p:sp>
      <p:cxnSp>
        <p:nvCxnSpPr>
          <p:cNvPr id="42" name="直接箭头连接符 41">
            <a:extLst>
              <a:ext uri="{FF2B5EF4-FFF2-40B4-BE49-F238E27FC236}">
                <a16:creationId xmlns:a16="http://schemas.microsoft.com/office/drawing/2014/main" id="{6F9D1D8A-D858-4E91-B9DD-C057E6D7452C}"/>
              </a:ext>
            </a:extLst>
          </p:cNvPr>
          <p:cNvCxnSpPr>
            <a:cxnSpLocks/>
          </p:cNvCxnSpPr>
          <p:nvPr/>
        </p:nvCxnSpPr>
        <p:spPr>
          <a:xfrm>
            <a:off x="2632364" y="5201933"/>
            <a:ext cx="1510143" cy="11670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矩形 43">
            <a:extLst>
              <a:ext uri="{FF2B5EF4-FFF2-40B4-BE49-F238E27FC236}">
                <a16:creationId xmlns:a16="http://schemas.microsoft.com/office/drawing/2014/main" id="{B9B81F0F-2CEA-4D75-872E-60B97CEF29A0}"/>
              </a:ext>
            </a:extLst>
          </p:cNvPr>
          <p:cNvSpPr/>
          <p:nvPr/>
        </p:nvSpPr>
        <p:spPr>
          <a:xfrm>
            <a:off x="1288388" y="4897822"/>
            <a:ext cx="1415772" cy="461665"/>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滑动窗口</a:t>
            </a:r>
          </a:p>
        </p:txBody>
      </p:sp>
    </p:spTree>
    <p:extLst>
      <p:ext uri="{BB962C8B-B14F-4D97-AF65-F5344CB8AC3E}">
        <p14:creationId xmlns:p14="http://schemas.microsoft.com/office/powerpoint/2010/main" val="1671693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6"/>
          <p:cNvSpPr txBox="1"/>
          <p:nvPr/>
        </p:nvSpPr>
        <p:spPr>
          <a:xfrm>
            <a:off x="334800" y="320400"/>
            <a:ext cx="11684480" cy="651653"/>
          </a:xfrm>
          <a:prstGeom prst="rect">
            <a:avLst/>
          </a:prstGeom>
          <a:noFill/>
        </p:spPr>
        <p:txBody>
          <a:bodyPr wrap="square" rtlCol="0">
            <a:spAutoFit/>
          </a:bodyPr>
          <a:lstStyle/>
          <a:p>
            <a:pPr marL="457200" lvl="0" indent="-457200">
              <a:lnSpc>
                <a:spcPct val="125000"/>
              </a:lnSpc>
              <a:spcAft>
                <a:spcPts val="1200"/>
              </a:spcAft>
              <a:buFont typeface="Wingdings" panose="05000000000000000000" pitchFamily="2" charset="2"/>
              <a:buChar char="n"/>
            </a:pPr>
            <a:r>
              <a:rPr lang="zh-CN" altLang="en-US" sz="3200" b="1" dirty="0">
                <a:solidFill>
                  <a:srgbClr val="C00000"/>
                </a:solidFill>
                <a:latin typeface="微软雅黑" panose="020B0503020204020204" pitchFamily="34" charset="-122"/>
                <a:ea typeface="微软雅黑" panose="020B0503020204020204" pitchFamily="34" charset="-122"/>
              </a:rPr>
              <a:t>常用技巧 </a:t>
            </a:r>
            <a:r>
              <a:rPr lang="en-US" altLang="zh-CN" sz="3200" b="1" dirty="0">
                <a:solidFill>
                  <a:srgbClr val="C00000"/>
                </a:solidFill>
                <a:latin typeface="微软雅黑" panose="020B0503020204020204" pitchFamily="34" charset="-122"/>
                <a:ea typeface="微软雅黑" panose="020B0503020204020204" pitchFamily="34" charset="-122"/>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尺取法</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8322729C-1179-4B4C-843D-272796EB0B0A}"/>
              </a:ext>
            </a:extLst>
          </p:cNvPr>
          <p:cNvSpPr/>
          <p:nvPr/>
        </p:nvSpPr>
        <p:spPr>
          <a:xfrm>
            <a:off x="504001" y="927889"/>
            <a:ext cx="10558347" cy="5159554"/>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问题：给出一个长度为</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n</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的正整数数组</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和一个数</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s</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，在这个数组中找到一个区间，区间的元素和为</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s</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，输出区间的起点和终点位置。</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457200" marR="0" lvl="1" indent="0" algn="just" defTabSz="914400" rtl="0" eaLnBrk="1" fontAlgn="auto" latinLnBrk="0" hangingPunct="1">
              <a:lnSpc>
                <a:spcPct val="200000"/>
              </a:lnSpc>
              <a:spcBef>
                <a:spcPts val="0"/>
              </a:spcBef>
              <a:spcAft>
                <a:spcPts val="0"/>
              </a:spcAft>
              <a:buClrTx/>
              <a:buSzTx/>
              <a:buFontTx/>
              <a:buNone/>
              <a:tabLst/>
              <a:defRPr/>
            </a:pP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输入：</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7</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个元素的序列：</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3 1 15 7 10 4 11</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s</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 </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 </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21</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二重循环</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尺取法</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同向扫描</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符合某个条件时，控制一个游标向着既定方向移动</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457200" marR="0" lvl="1" indent="0" algn="just" defTabSz="914400" rtl="0" eaLnBrk="1" fontAlgn="auto" latinLnBrk="0" hangingPunct="1">
              <a:lnSpc>
                <a:spcPct val="200000"/>
              </a:lnSpc>
              <a:spcBef>
                <a:spcPts val="0"/>
              </a:spcBef>
              <a:spcAft>
                <a:spcPts val="0"/>
              </a:spcAft>
              <a:buClrTx/>
              <a:buSzTx/>
              <a:buFontTx/>
              <a:buNone/>
              <a:tabLst/>
              <a:defRPr/>
            </a:pP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p:txBody>
      </p:sp>
      <p:sp>
        <p:nvSpPr>
          <p:cNvPr id="4" name="矩形 3">
            <a:extLst>
              <a:ext uri="{FF2B5EF4-FFF2-40B4-BE49-F238E27FC236}">
                <a16:creationId xmlns:a16="http://schemas.microsoft.com/office/drawing/2014/main" id="{096975F4-E43C-46DC-881C-35FDE526E395}"/>
              </a:ext>
            </a:extLst>
          </p:cNvPr>
          <p:cNvSpPr/>
          <p:nvPr/>
        </p:nvSpPr>
        <p:spPr>
          <a:xfrm>
            <a:off x="7871814" y="5614270"/>
            <a:ext cx="3985386" cy="92333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Coding Time</a:t>
            </a:r>
            <a:endParaRPr kumimoji="0" lang="zh-CN" altLang="en-US"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074048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1CD7EC41-EE1A-4E90-B462-4574201587F8}"/>
              </a:ext>
            </a:extLst>
          </p:cNvPr>
          <p:cNvSpPr txBox="1"/>
          <p:nvPr/>
        </p:nvSpPr>
        <p:spPr>
          <a:xfrm>
            <a:off x="334800" y="320400"/>
            <a:ext cx="11684480" cy="651653"/>
          </a:xfrm>
          <a:prstGeom prst="rect">
            <a:avLst/>
          </a:prstGeom>
          <a:noFill/>
        </p:spPr>
        <p:txBody>
          <a:bodyPr wrap="square" rtlCol="0">
            <a:spAutoFit/>
          </a:bodyPr>
          <a:lstStyle/>
          <a:p>
            <a:pPr marL="457200" lvl="0" indent="-457200">
              <a:lnSpc>
                <a:spcPct val="125000"/>
              </a:lnSpc>
              <a:spcAft>
                <a:spcPts val="1200"/>
              </a:spcAft>
              <a:buFont typeface="Wingdings" panose="05000000000000000000" pitchFamily="2" charset="2"/>
              <a:buChar char="n"/>
            </a:pPr>
            <a:r>
              <a:rPr lang="zh-CN" altLang="en-US" sz="3200" b="1" dirty="0">
                <a:solidFill>
                  <a:srgbClr val="C00000"/>
                </a:solidFill>
                <a:latin typeface="微软雅黑" panose="020B0503020204020204" pitchFamily="34" charset="-122"/>
                <a:ea typeface="微软雅黑" panose="020B0503020204020204" pitchFamily="34" charset="-122"/>
              </a:rPr>
              <a:t>常用技巧 </a:t>
            </a:r>
            <a:r>
              <a:rPr lang="en-US" altLang="zh-CN" sz="3200" b="1" dirty="0">
                <a:solidFill>
                  <a:srgbClr val="C00000"/>
                </a:solidFill>
                <a:latin typeface="微软雅黑" panose="020B0503020204020204" pitchFamily="34" charset="-122"/>
                <a:ea typeface="微软雅黑" panose="020B0503020204020204" pitchFamily="34" charset="-122"/>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前缀和与差分</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5C6EA4A0-460E-4F0C-8C7E-2A1E343DE8C1}"/>
              </a:ext>
            </a:extLst>
          </p:cNvPr>
          <p:cNvSpPr/>
          <p:nvPr/>
        </p:nvSpPr>
        <p:spPr>
          <a:xfrm>
            <a:off x="504001" y="927889"/>
            <a:ext cx="10558347" cy="5159554"/>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定义：给出一个长度为</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n</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的数组</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a[0]~a[n-1]</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，前缀和</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sum[</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i</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等于</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a[0]</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到</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i</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的和。</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求</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i</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到</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a[j]</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的区间和：</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sum[j] – sum[i-1]</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差分：前缀和的逆操作</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差分数组：</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D[0] = a[0],D[</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i</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 = a[</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i</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 – a[i-1](</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i</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 &gt; 0)</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数组即为</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D</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数组的前缀和</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i</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 = D[0] + D[1] + ……+ D[</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i</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优化区间操作及查询问题</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p:txBody>
      </p:sp>
      <p:sp>
        <p:nvSpPr>
          <p:cNvPr id="4" name="矩形 3">
            <a:extLst>
              <a:ext uri="{FF2B5EF4-FFF2-40B4-BE49-F238E27FC236}">
                <a16:creationId xmlns:a16="http://schemas.microsoft.com/office/drawing/2014/main" id="{9B9F59E2-0DE6-4F4D-9B51-BDCED8724A4B}"/>
              </a:ext>
            </a:extLst>
          </p:cNvPr>
          <p:cNvSpPr/>
          <p:nvPr/>
        </p:nvSpPr>
        <p:spPr>
          <a:xfrm>
            <a:off x="5044225" y="5214161"/>
            <a:ext cx="6282744" cy="132343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华光仿宋一_CNKI" panose="02000500000000000000" pitchFamily="2" charset="-122"/>
                <a:ea typeface="华光仿宋一_CNKI" panose="02000500000000000000" pitchFamily="2" charset="-122"/>
                <a:cs typeface="+mn-cs"/>
              </a:rPr>
              <a:t>数组</a:t>
            </a:r>
            <a:r>
              <a:rPr kumimoji="0" lang="en-US" altLang="zh-CN" sz="1600" b="0" i="0" u="none" strike="noStrike" kern="1200" cap="none" spc="0" normalizeH="0" baseline="0" noProof="0" dirty="0">
                <a:ln>
                  <a:noFill/>
                </a:ln>
                <a:solidFill>
                  <a:prstClr val="black"/>
                </a:solidFill>
                <a:effectLst/>
                <a:uLnTx/>
                <a:uFillTx/>
                <a:latin typeface="华光仿宋一_CNKI" panose="02000500000000000000" pitchFamily="2" charset="-122"/>
                <a:ea typeface="华光仿宋一_CNKI" panose="02000500000000000000" pitchFamily="2" charset="-122"/>
                <a:cs typeface="+mn-cs"/>
              </a:rPr>
              <a:t>a[] = {1, 6, 8 , 5, 10},</a:t>
            </a:r>
            <a:r>
              <a:rPr kumimoji="0" lang="zh-CN" altLang="en-US" sz="1600" b="0" i="0" u="none" strike="noStrike" kern="1200" cap="none" spc="0" normalizeH="0" baseline="0" noProof="0" dirty="0">
                <a:ln>
                  <a:noFill/>
                </a:ln>
                <a:solidFill>
                  <a:prstClr val="black"/>
                </a:solidFill>
                <a:effectLst/>
                <a:uLnTx/>
                <a:uFillTx/>
                <a:latin typeface="华光仿宋一_CNKI" panose="02000500000000000000" pitchFamily="2" charset="-122"/>
                <a:ea typeface="华光仿宋一_CNKI" panose="02000500000000000000" pitchFamily="2" charset="-122"/>
                <a:cs typeface="+mn-cs"/>
              </a:rPr>
              <a:t>则差分数组为</a:t>
            </a:r>
            <a:r>
              <a:rPr kumimoji="0" lang="en-US" altLang="zh-CN" sz="1600" b="0" i="0" u="none" strike="noStrike" kern="1200" cap="none" spc="0" normalizeH="0" baseline="0" noProof="0" dirty="0">
                <a:ln>
                  <a:noFill/>
                </a:ln>
                <a:solidFill>
                  <a:prstClr val="black"/>
                </a:solidFill>
                <a:effectLst/>
                <a:uLnTx/>
                <a:uFillTx/>
                <a:latin typeface="华光仿宋一_CNKI" panose="02000500000000000000" pitchFamily="2" charset="-122"/>
                <a:ea typeface="华光仿宋一_CNKI" panose="02000500000000000000" pitchFamily="2" charset="-122"/>
                <a:cs typeface="+mn-cs"/>
              </a:rPr>
              <a:t>D[] = {1, 5, 2, -3, 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华光仿宋一_CNKI" panose="02000500000000000000" pitchFamily="2" charset="-122"/>
                <a:ea typeface="华光仿宋一_CNKI" panose="02000500000000000000" pitchFamily="2" charset="-122"/>
                <a:cs typeface="+mn-cs"/>
              </a:rPr>
              <a:t>对数组</a:t>
            </a:r>
            <a:r>
              <a:rPr kumimoji="0" lang="en-US" altLang="zh-CN" sz="1600" b="0" i="0" u="none" strike="noStrike" kern="1200" cap="none" spc="0" normalizeH="0" baseline="0" noProof="0" dirty="0">
                <a:ln>
                  <a:noFill/>
                </a:ln>
                <a:solidFill>
                  <a:prstClr val="black"/>
                </a:solidFill>
                <a:effectLst/>
                <a:uLnTx/>
                <a:uFillTx/>
                <a:latin typeface="华光仿宋一_CNKI" panose="02000500000000000000" pitchFamily="2" charset="-122"/>
                <a:ea typeface="华光仿宋一_CNKI" panose="02000500000000000000" pitchFamily="2" charset="-122"/>
                <a:cs typeface="+mn-cs"/>
              </a:rPr>
              <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华光仿宋一_CNKI" panose="02000500000000000000" pitchFamily="2" charset="-122"/>
                <a:ea typeface="华光仿宋一_CNKI" panose="02000500000000000000" pitchFamily="2" charset="-122"/>
                <a:cs typeface="+mn-cs"/>
              </a:rPr>
              <a:t>操作一：将数组</a:t>
            </a:r>
            <a:r>
              <a:rPr kumimoji="0" lang="en-US" altLang="zh-CN" sz="1600" b="0" i="0" u="none" strike="noStrike" kern="1200" cap="none" spc="0" normalizeH="0" baseline="0" noProof="0" dirty="0">
                <a:ln>
                  <a:noFill/>
                </a:ln>
                <a:solidFill>
                  <a:prstClr val="black"/>
                </a:solidFill>
                <a:effectLst/>
                <a:uLnTx/>
                <a:uFillTx/>
                <a:latin typeface="华光仿宋一_CNKI" panose="02000500000000000000" pitchFamily="2" charset="-122"/>
                <a:ea typeface="华光仿宋一_CNKI" panose="02000500000000000000" pitchFamily="2" charset="-122"/>
                <a:cs typeface="+mn-cs"/>
              </a:rPr>
              <a:t>a</a:t>
            </a:r>
            <a:r>
              <a:rPr kumimoji="0" lang="zh-CN" altLang="en-US" sz="1600" b="0" i="0" u="none" strike="noStrike" kern="1200" cap="none" spc="0" normalizeH="0" baseline="0" noProof="0" dirty="0">
                <a:ln>
                  <a:noFill/>
                </a:ln>
                <a:solidFill>
                  <a:prstClr val="black"/>
                </a:solidFill>
                <a:effectLst/>
                <a:uLnTx/>
                <a:uFillTx/>
                <a:latin typeface="华光仿宋一_CNKI" panose="02000500000000000000" pitchFamily="2" charset="-122"/>
                <a:ea typeface="华光仿宋一_CNKI" panose="02000500000000000000" pitchFamily="2" charset="-122"/>
                <a:cs typeface="+mn-cs"/>
              </a:rPr>
              <a:t>中</a:t>
            </a:r>
            <a:r>
              <a:rPr kumimoji="0" lang="en-US" altLang="zh-CN" sz="1600" b="0" i="0" u="none" strike="noStrike" kern="1200" cap="none" spc="0" normalizeH="0" baseline="0" noProof="0" dirty="0">
                <a:ln>
                  <a:noFill/>
                </a:ln>
                <a:solidFill>
                  <a:prstClr val="black"/>
                </a:solidFill>
                <a:effectLst/>
                <a:uLnTx/>
                <a:uFillTx/>
                <a:latin typeface="华光仿宋一_CNKI" panose="02000500000000000000" pitchFamily="2" charset="-122"/>
                <a:ea typeface="华光仿宋一_CNKI" panose="02000500000000000000" pitchFamily="2" charset="-122"/>
                <a:cs typeface="+mn-cs"/>
              </a:rPr>
              <a:t>[L,R]</a:t>
            </a:r>
            <a:r>
              <a:rPr kumimoji="0" lang="zh-CN" altLang="en-US" sz="1600" b="0" i="0" u="none" strike="noStrike" kern="1200" cap="none" spc="0" normalizeH="0" baseline="0" noProof="0" dirty="0">
                <a:ln>
                  <a:noFill/>
                </a:ln>
                <a:solidFill>
                  <a:prstClr val="black"/>
                </a:solidFill>
                <a:effectLst/>
                <a:uLnTx/>
                <a:uFillTx/>
                <a:latin typeface="华光仿宋一_CNKI" panose="02000500000000000000" pitchFamily="2" charset="-122"/>
                <a:ea typeface="华光仿宋一_CNKI" panose="02000500000000000000" pitchFamily="2" charset="-122"/>
                <a:cs typeface="+mn-cs"/>
              </a:rPr>
              <a:t>位置的元素都加上</a:t>
            </a:r>
            <a:r>
              <a:rPr kumimoji="0" lang="en-US" altLang="zh-CN" sz="1600" b="0" i="0" u="none" strike="noStrike" kern="1200" cap="none" spc="0" normalizeH="0" baseline="0" noProof="0" dirty="0">
                <a:ln>
                  <a:noFill/>
                </a:ln>
                <a:solidFill>
                  <a:prstClr val="black"/>
                </a:solidFill>
                <a:effectLst/>
                <a:uLnTx/>
                <a:uFillTx/>
                <a:latin typeface="华光仿宋一_CNKI" panose="02000500000000000000" pitchFamily="2" charset="-122"/>
                <a:ea typeface="华光仿宋一_CNKI" panose="02000500000000000000" pitchFamily="2" charset="-122"/>
                <a:cs typeface="+mn-cs"/>
              </a:rPr>
              <a:t>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华光仿宋一_CNKI" panose="02000500000000000000" pitchFamily="2" charset="-122"/>
                <a:ea typeface="华光仿宋一_CNKI" panose="02000500000000000000" pitchFamily="2" charset="-122"/>
                <a:cs typeface="+mn-cs"/>
              </a:rPr>
              <a:t>操作二：将数组</a:t>
            </a:r>
            <a:r>
              <a:rPr kumimoji="0" lang="en-US" altLang="zh-CN" sz="1600" b="0" i="0" u="none" strike="noStrike" kern="1200" cap="none" spc="0" normalizeH="0" baseline="0" noProof="0" dirty="0">
                <a:ln>
                  <a:noFill/>
                </a:ln>
                <a:solidFill>
                  <a:prstClr val="black"/>
                </a:solidFill>
                <a:effectLst/>
                <a:uLnTx/>
                <a:uFillTx/>
                <a:latin typeface="华光仿宋一_CNKI" panose="02000500000000000000" pitchFamily="2" charset="-122"/>
                <a:ea typeface="华光仿宋一_CNKI" panose="02000500000000000000" pitchFamily="2" charset="-122"/>
                <a:cs typeface="+mn-cs"/>
              </a:rPr>
              <a:t>a</a:t>
            </a:r>
            <a:r>
              <a:rPr kumimoji="0" lang="zh-CN" altLang="en-US" sz="1600" b="0" i="0" u="none" strike="noStrike" kern="1200" cap="none" spc="0" normalizeH="0" baseline="0" noProof="0" dirty="0">
                <a:ln>
                  <a:noFill/>
                </a:ln>
                <a:solidFill>
                  <a:prstClr val="black"/>
                </a:solidFill>
                <a:effectLst/>
                <a:uLnTx/>
                <a:uFillTx/>
                <a:latin typeface="华光仿宋一_CNKI" panose="02000500000000000000" pitchFamily="2" charset="-122"/>
                <a:ea typeface="华光仿宋一_CNKI" panose="02000500000000000000" pitchFamily="2" charset="-122"/>
                <a:cs typeface="+mn-cs"/>
              </a:rPr>
              <a:t>中</a:t>
            </a:r>
            <a:r>
              <a:rPr kumimoji="0" lang="en-US" altLang="zh-CN" sz="1600" b="0" i="0" u="none" strike="noStrike" kern="1200" cap="none" spc="0" normalizeH="0" baseline="0" noProof="0" dirty="0">
                <a:ln>
                  <a:noFill/>
                </a:ln>
                <a:solidFill>
                  <a:prstClr val="black"/>
                </a:solidFill>
                <a:effectLst/>
                <a:uLnTx/>
                <a:uFillTx/>
                <a:latin typeface="华光仿宋一_CNKI" panose="02000500000000000000" pitchFamily="2" charset="-122"/>
                <a:ea typeface="华光仿宋一_CNKI" panose="02000500000000000000" pitchFamily="2" charset="-122"/>
                <a:cs typeface="+mn-cs"/>
              </a:rPr>
              <a:t>[L,R]</a:t>
            </a:r>
            <a:r>
              <a:rPr kumimoji="0" lang="zh-CN" altLang="en-US" sz="1600" b="0" i="0" u="none" strike="noStrike" kern="1200" cap="none" spc="0" normalizeH="0" baseline="0" noProof="0" dirty="0">
                <a:ln>
                  <a:noFill/>
                </a:ln>
                <a:solidFill>
                  <a:prstClr val="black"/>
                </a:solidFill>
                <a:effectLst/>
                <a:uLnTx/>
                <a:uFillTx/>
                <a:latin typeface="华光仿宋一_CNKI" panose="02000500000000000000" pitchFamily="2" charset="-122"/>
                <a:ea typeface="华光仿宋一_CNKI" panose="02000500000000000000" pitchFamily="2" charset="-122"/>
                <a:cs typeface="+mn-cs"/>
              </a:rPr>
              <a:t>位置的元素都减去</a:t>
            </a:r>
            <a:r>
              <a:rPr kumimoji="0" lang="en-US" altLang="zh-CN" sz="1600" b="0" i="0" u="none" strike="noStrike" kern="1200" cap="none" spc="0" normalizeH="0" baseline="0" noProof="0" dirty="0">
                <a:ln>
                  <a:noFill/>
                </a:ln>
                <a:solidFill>
                  <a:prstClr val="black"/>
                </a:solidFill>
                <a:effectLst/>
                <a:uLnTx/>
                <a:uFillTx/>
                <a:latin typeface="华光仿宋一_CNKI" panose="02000500000000000000" pitchFamily="2" charset="-122"/>
                <a:ea typeface="华光仿宋一_CNKI" panose="02000500000000000000" pitchFamily="2" charset="-122"/>
                <a:cs typeface="+mn-cs"/>
              </a:rPr>
              <a:t>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华光仿宋一_CNKI" panose="02000500000000000000" pitchFamily="2" charset="-122"/>
                <a:ea typeface="华光仿宋一_CNKI" panose="02000500000000000000" pitchFamily="2" charset="-122"/>
                <a:cs typeface="+mn-cs"/>
              </a:rPr>
              <a:t>询问各元素值。</a:t>
            </a:r>
          </a:p>
        </p:txBody>
      </p:sp>
    </p:spTree>
    <p:extLst>
      <p:ext uri="{BB962C8B-B14F-4D97-AF65-F5344CB8AC3E}">
        <p14:creationId xmlns:p14="http://schemas.microsoft.com/office/powerpoint/2010/main" val="990826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97CF5FB-251E-4A6C-AF7D-D8631BC9BDB4}"/>
              </a:ext>
            </a:extLst>
          </p:cNvPr>
          <p:cNvSpPr/>
          <p:nvPr/>
        </p:nvSpPr>
        <p:spPr>
          <a:xfrm>
            <a:off x="599200" y="1125280"/>
            <a:ext cx="11155680" cy="5137240"/>
          </a:xfrm>
          <a:prstGeom prst="rect">
            <a:avLst/>
          </a:prstGeom>
        </p:spPr>
        <p:txBody>
          <a:bodyPr wrap="square">
            <a:spAutoFit/>
          </a:bodyPr>
          <a:lstStyle/>
          <a:p>
            <a:pPr algn="just">
              <a:lnSpc>
                <a:spcPct val="125000"/>
              </a:lnSpc>
            </a:pPr>
            <a:r>
              <a:rPr lang="en-US" altLang="zh-CN" sz="2400" b="1" kern="100" dirty="0">
                <a:solidFill>
                  <a:srgbClr val="014B88"/>
                </a:solidFill>
                <a:latin typeface="仿宋_GB2312"/>
                <a:ea typeface="等线" panose="02010600030101010101" pitchFamily="2" charset="-122"/>
                <a:cs typeface="Times New Roman" panose="02020603050405020304" pitchFamily="18" charset="0"/>
              </a:rPr>
              <a:t>    Farmer John </a:t>
            </a:r>
            <a:r>
              <a:rPr lang="zh-CN" altLang="en-US" sz="2400" b="1" kern="100" dirty="0">
                <a:solidFill>
                  <a:srgbClr val="014B88"/>
                </a:solidFill>
                <a:latin typeface="仿宋_GB2312"/>
                <a:ea typeface="等线" panose="02010600030101010101" pitchFamily="2" charset="-122"/>
                <a:cs typeface="Times New Roman" panose="02020603050405020304" pitchFamily="18" charset="0"/>
              </a:rPr>
              <a:t>的 </a:t>
            </a:r>
            <a:r>
              <a:rPr lang="en-US" altLang="zh-CN" sz="2400" b="1" kern="100" dirty="0">
                <a:solidFill>
                  <a:srgbClr val="014B88"/>
                </a:solidFill>
                <a:latin typeface="仿宋_GB2312"/>
                <a:ea typeface="等线" panose="02010600030101010101" pitchFamily="2" charset="-122"/>
                <a:cs typeface="Times New Roman" panose="02020603050405020304" pitchFamily="18" charset="0"/>
              </a:rPr>
              <a:t>N </a:t>
            </a:r>
            <a:r>
              <a:rPr lang="zh-CN" altLang="en-US" sz="2400" b="1" kern="100" dirty="0">
                <a:solidFill>
                  <a:srgbClr val="014B88"/>
                </a:solidFill>
                <a:latin typeface="仿宋_GB2312"/>
                <a:ea typeface="等线" panose="02010600030101010101" pitchFamily="2" charset="-122"/>
                <a:cs typeface="Times New Roman" panose="02020603050405020304" pitchFamily="18" charset="0"/>
              </a:rPr>
              <a:t>头奶牛对他们牛棚的室温非常挑剔。有些奶牛喜欢温度低一些，而有些奶牛则喜欢温度高一些。</a:t>
            </a:r>
            <a:r>
              <a:rPr lang="en-US" altLang="zh-CN" sz="2400" b="1" kern="100" dirty="0">
                <a:solidFill>
                  <a:srgbClr val="014B88"/>
                </a:solidFill>
                <a:latin typeface="仿宋_GB2312"/>
                <a:ea typeface="等线" panose="02010600030101010101" pitchFamily="2" charset="-122"/>
                <a:cs typeface="Times New Roman" panose="02020603050405020304" pitchFamily="18" charset="0"/>
              </a:rPr>
              <a:t>Farmer John </a:t>
            </a:r>
            <a:r>
              <a:rPr lang="zh-CN" altLang="en-US" sz="2400" b="1" kern="100" dirty="0">
                <a:solidFill>
                  <a:srgbClr val="014B88"/>
                </a:solidFill>
                <a:latin typeface="仿宋_GB2312"/>
                <a:ea typeface="等线" panose="02010600030101010101" pitchFamily="2" charset="-122"/>
                <a:cs typeface="Times New Roman" panose="02020603050405020304" pitchFamily="18" charset="0"/>
              </a:rPr>
              <a:t>的牛棚包含一排 </a:t>
            </a:r>
            <a:r>
              <a:rPr lang="en-US" altLang="zh-CN" sz="2400" b="1" kern="100" dirty="0">
                <a:solidFill>
                  <a:srgbClr val="014B88"/>
                </a:solidFill>
                <a:latin typeface="仿宋_GB2312"/>
                <a:ea typeface="等线" panose="02010600030101010101" pitchFamily="2" charset="-122"/>
                <a:cs typeface="Times New Roman" panose="02020603050405020304" pitchFamily="18" charset="0"/>
              </a:rPr>
              <a:t>N </a:t>
            </a:r>
            <a:r>
              <a:rPr lang="zh-CN" altLang="en-US" sz="2400" b="1" kern="100" dirty="0">
                <a:solidFill>
                  <a:srgbClr val="014B88"/>
                </a:solidFill>
                <a:latin typeface="仿宋_GB2312"/>
                <a:ea typeface="等线" panose="02010600030101010101" pitchFamily="2" charset="-122"/>
                <a:cs typeface="Times New Roman" panose="02020603050405020304" pitchFamily="18" charset="0"/>
              </a:rPr>
              <a:t>个牛栏，编号为 </a:t>
            </a:r>
            <a:r>
              <a:rPr lang="en-US" altLang="zh-CN" sz="2400" b="1" kern="100" dirty="0">
                <a:solidFill>
                  <a:srgbClr val="014B88"/>
                </a:solidFill>
                <a:latin typeface="仿宋_GB2312"/>
                <a:ea typeface="等线" panose="02010600030101010101" pitchFamily="2" charset="-122"/>
                <a:cs typeface="Times New Roman" panose="02020603050405020304" pitchFamily="18" charset="0"/>
              </a:rPr>
              <a:t>1...N</a:t>
            </a:r>
            <a:r>
              <a:rPr lang="zh-CN" altLang="en-US" sz="2400" b="1" kern="100" dirty="0">
                <a:solidFill>
                  <a:srgbClr val="014B88"/>
                </a:solidFill>
                <a:latin typeface="仿宋_GB2312"/>
                <a:ea typeface="等线" panose="02010600030101010101" pitchFamily="2" charset="-122"/>
                <a:cs typeface="Times New Roman" panose="02020603050405020304" pitchFamily="18" charset="0"/>
              </a:rPr>
              <a:t>，每个牛栏里有一头牛。第 </a:t>
            </a:r>
            <a:r>
              <a:rPr lang="en-US" altLang="zh-CN" sz="2400" b="1" kern="100" dirty="0" err="1">
                <a:solidFill>
                  <a:srgbClr val="014B88"/>
                </a:solidFill>
                <a:latin typeface="仿宋_GB2312"/>
                <a:ea typeface="等线" panose="02010600030101010101" pitchFamily="2" charset="-122"/>
                <a:cs typeface="Times New Roman" panose="02020603050405020304" pitchFamily="18" charset="0"/>
              </a:rPr>
              <a:t>i</a:t>
            </a:r>
            <a:r>
              <a:rPr lang="en-US" altLang="zh-CN" sz="2400" b="1" kern="100" dirty="0">
                <a:solidFill>
                  <a:srgbClr val="014B88"/>
                </a:solidFill>
                <a:latin typeface="仿宋_GB2312"/>
                <a:ea typeface="等线" panose="02010600030101010101" pitchFamily="2" charset="-122"/>
                <a:cs typeface="Times New Roman" panose="02020603050405020304" pitchFamily="18" charset="0"/>
              </a:rPr>
              <a:t> </a:t>
            </a:r>
            <a:r>
              <a:rPr lang="zh-CN" altLang="en-US" sz="2400" b="1" kern="100" dirty="0">
                <a:solidFill>
                  <a:srgbClr val="014B88"/>
                </a:solidFill>
                <a:latin typeface="仿宋_GB2312"/>
                <a:ea typeface="等线" panose="02010600030101010101" pitchFamily="2" charset="-122"/>
                <a:cs typeface="Times New Roman" panose="02020603050405020304" pitchFamily="18" charset="0"/>
              </a:rPr>
              <a:t>头奶牛希望她的牛栏中的温度是 </a:t>
            </a:r>
            <a:r>
              <a:rPr lang="en-US" altLang="zh-CN" sz="2400" b="1" kern="100" dirty="0">
                <a:solidFill>
                  <a:srgbClr val="014B88"/>
                </a:solidFill>
                <a:latin typeface="仿宋_GB2312"/>
                <a:ea typeface="等线" panose="02010600030101010101" pitchFamily="2" charset="-122"/>
                <a:cs typeface="Times New Roman" panose="02020603050405020304" pitchFamily="18" charset="0"/>
              </a:rPr>
              <a:t>p </a:t>
            </a:r>
            <a:r>
              <a:rPr lang="en-US" altLang="zh-CN" sz="2400" b="1" kern="100" dirty="0" err="1">
                <a:solidFill>
                  <a:srgbClr val="014B88"/>
                </a:solidFill>
                <a:latin typeface="仿宋_GB2312"/>
                <a:ea typeface="等线" panose="02010600030101010101" pitchFamily="2" charset="-122"/>
                <a:cs typeface="Times New Roman" panose="02020603050405020304" pitchFamily="18" charset="0"/>
              </a:rPr>
              <a:t>i</a:t>
            </a:r>
            <a:r>
              <a:rPr lang="en-US" altLang="zh-CN" sz="2400" b="1" kern="100" dirty="0">
                <a:solidFill>
                  <a:srgbClr val="014B88"/>
                </a:solidFill>
                <a:latin typeface="仿宋_GB2312"/>
                <a:ea typeface="等线" panose="02010600030101010101" pitchFamily="2" charset="-122"/>
                <a:cs typeface="Times New Roman" panose="02020603050405020304" pitchFamily="18" charset="0"/>
              </a:rPr>
              <a:t> p_{</a:t>
            </a:r>
            <a:r>
              <a:rPr lang="en-US" altLang="zh-CN" sz="2400" b="1" kern="100" dirty="0" err="1">
                <a:solidFill>
                  <a:srgbClr val="014B88"/>
                </a:solidFill>
                <a:latin typeface="仿宋_GB2312"/>
                <a:ea typeface="等线" panose="02010600030101010101" pitchFamily="2" charset="-122"/>
                <a:cs typeface="Times New Roman" panose="02020603050405020304" pitchFamily="18" charset="0"/>
              </a:rPr>
              <a:t>i</a:t>
            </a:r>
            <a:r>
              <a:rPr lang="en-US" altLang="zh-CN" sz="2400" b="1" kern="100" dirty="0">
                <a:solidFill>
                  <a:srgbClr val="014B88"/>
                </a:solidFill>
                <a:latin typeface="仿宋_GB2312"/>
                <a:ea typeface="等线" panose="02010600030101010101" pitchFamily="2" charset="-122"/>
                <a:cs typeface="Times New Roman" panose="02020603050405020304" pitchFamily="18" charset="0"/>
              </a:rPr>
              <a:t>} pi</a:t>
            </a:r>
            <a:r>
              <a:rPr lang="zh-CN" altLang="en-US" sz="2400" b="1" kern="100" dirty="0">
                <a:solidFill>
                  <a:srgbClr val="014B88"/>
                </a:solidFill>
                <a:latin typeface="仿宋_GB2312"/>
                <a:ea typeface="等线" panose="02010600030101010101" pitchFamily="2" charset="-122"/>
                <a:cs typeface="Times New Roman" panose="02020603050405020304" pitchFamily="18" charset="0"/>
              </a:rPr>
              <a:t>，而现在她的牛栏中的温度是 </a:t>
            </a:r>
            <a:r>
              <a:rPr lang="en-US" altLang="zh-CN" sz="2400" b="1" kern="100" dirty="0">
                <a:solidFill>
                  <a:srgbClr val="014B88"/>
                </a:solidFill>
                <a:latin typeface="仿宋_GB2312"/>
                <a:ea typeface="等线" panose="02010600030101010101" pitchFamily="2" charset="-122"/>
                <a:cs typeface="Times New Roman" panose="02020603050405020304" pitchFamily="18" charset="0"/>
              </a:rPr>
              <a:t>t </a:t>
            </a:r>
            <a:r>
              <a:rPr lang="en-US" altLang="zh-CN" sz="2400" b="1" kern="100" dirty="0" err="1">
                <a:solidFill>
                  <a:srgbClr val="014B88"/>
                </a:solidFill>
                <a:latin typeface="仿宋_GB2312"/>
                <a:ea typeface="等线" panose="02010600030101010101" pitchFamily="2" charset="-122"/>
                <a:cs typeface="Times New Roman" panose="02020603050405020304" pitchFamily="18" charset="0"/>
              </a:rPr>
              <a:t>i</a:t>
            </a:r>
            <a:r>
              <a:rPr lang="en-US" altLang="zh-CN" sz="2400" b="1" kern="100" dirty="0">
                <a:solidFill>
                  <a:srgbClr val="014B88"/>
                </a:solidFill>
                <a:latin typeface="仿宋_GB2312"/>
                <a:ea typeface="等线" panose="02010600030101010101" pitchFamily="2" charset="-122"/>
                <a:cs typeface="Times New Roman" panose="02020603050405020304" pitchFamily="18" charset="0"/>
              </a:rPr>
              <a:t> t_{</a:t>
            </a:r>
            <a:r>
              <a:rPr lang="en-US" altLang="zh-CN" sz="2400" b="1" kern="100" dirty="0" err="1">
                <a:solidFill>
                  <a:srgbClr val="014B88"/>
                </a:solidFill>
                <a:latin typeface="仿宋_GB2312"/>
                <a:ea typeface="等线" panose="02010600030101010101" pitchFamily="2" charset="-122"/>
                <a:cs typeface="Times New Roman" panose="02020603050405020304" pitchFamily="18" charset="0"/>
              </a:rPr>
              <a:t>i</a:t>
            </a:r>
            <a:r>
              <a:rPr lang="en-US" altLang="zh-CN" sz="2400" b="1" kern="100" dirty="0">
                <a:solidFill>
                  <a:srgbClr val="014B88"/>
                </a:solidFill>
                <a:latin typeface="仿宋_GB2312"/>
                <a:ea typeface="等线" panose="02010600030101010101" pitchFamily="2" charset="-122"/>
                <a:cs typeface="Times New Roman" panose="02020603050405020304" pitchFamily="18" charset="0"/>
              </a:rPr>
              <a:t>} </a:t>
            </a:r>
            <a:r>
              <a:rPr lang="en-US" altLang="zh-CN" sz="2400" b="1" kern="100" dirty="0" err="1">
                <a:solidFill>
                  <a:srgbClr val="014B88"/>
                </a:solidFill>
                <a:latin typeface="仿宋_GB2312"/>
                <a:ea typeface="等线" panose="02010600030101010101" pitchFamily="2" charset="-122"/>
                <a:cs typeface="Times New Roman" panose="02020603050405020304" pitchFamily="18" charset="0"/>
              </a:rPr>
              <a:t>ti</a:t>
            </a:r>
            <a:r>
              <a:rPr lang="zh-CN" altLang="en-US" sz="2400" b="1" kern="100" dirty="0">
                <a:solidFill>
                  <a:srgbClr val="014B88"/>
                </a:solidFill>
                <a:latin typeface="仿宋_GB2312"/>
                <a:ea typeface="等线" panose="02010600030101010101" pitchFamily="2" charset="-122"/>
                <a:cs typeface="Times New Roman" panose="02020603050405020304" pitchFamily="18" charset="0"/>
              </a:rPr>
              <a:t>。</a:t>
            </a:r>
          </a:p>
          <a:p>
            <a:pPr algn="just">
              <a:lnSpc>
                <a:spcPct val="125000"/>
              </a:lnSpc>
            </a:pPr>
            <a:r>
              <a:rPr lang="zh-CN" altLang="en-US" sz="2400" b="1" kern="100" dirty="0">
                <a:solidFill>
                  <a:srgbClr val="014B88"/>
                </a:solidFill>
                <a:latin typeface="仿宋_GB2312"/>
                <a:ea typeface="等线" panose="02010600030101010101" pitchFamily="2" charset="-122"/>
                <a:cs typeface="Times New Roman" panose="02020603050405020304" pitchFamily="18" charset="0"/>
              </a:rPr>
              <a:t>    为了确保每头奶牛都感到舒适，</a:t>
            </a:r>
            <a:r>
              <a:rPr lang="en-US" altLang="zh-CN" sz="2400" b="1" kern="100" dirty="0">
                <a:solidFill>
                  <a:srgbClr val="014B88"/>
                </a:solidFill>
                <a:latin typeface="仿宋_GB2312"/>
                <a:ea typeface="等线" panose="02010600030101010101" pitchFamily="2" charset="-122"/>
                <a:cs typeface="Times New Roman" panose="02020603050405020304" pitchFamily="18" charset="0"/>
              </a:rPr>
              <a:t>Farmer John </a:t>
            </a:r>
            <a:r>
              <a:rPr lang="zh-CN" altLang="en-US" sz="2400" b="1" kern="100" dirty="0">
                <a:solidFill>
                  <a:srgbClr val="014B88"/>
                </a:solidFill>
                <a:latin typeface="仿宋_GB2312"/>
                <a:ea typeface="等线" panose="02010600030101010101" pitchFamily="2" charset="-122"/>
                <a:cs typeface="Times New Roman" panose="02020603050405020304" pitchFamily="18" charset="0"/>
              </a:rPr>
              <a:t>安装了一个新的空调系统。该系统进行控制的方式非常有趣，他可以向系统发送命令，告诉它将一组连续的牛栏内的温度升高或降低 </a:t>
            </a:r>
            <a:r>
              <a:rPr lang="en-US" altLang="zh-CN" sz="2400" b="1" kern="100" dirty="0">
                <a:solidFill>
                  <a:srgbClr val="014B88"/>
                </a:solidFill>
                <a:latin typeface="仿宋_GB2312"/>
                <a:ea typeface="等线" panose="02010600030101010101" pitchFamily="2" charset="-122"/>
                <a:cs typeface="Times New Roman" panose="02020603050405020304" pitchFamily="18" charset="0"/>
              </a:rPr>
              <a:t>1 </a:t>
            </a:r>
            <a:r>
              <a:rPr lang="zh-CN" altLang="en-US" sz="2400" b="1" kern="100" dirty="0">
                <a:solidFill>
                  <a:srgbClr val="014B88"/>
                </a:solidFill>
                <a:latin typeface="仿宋_GB2312"/>
                <a:ea typeface="等线" panose="02010600030101010101" pitchFamily="2" charset="-122"/>
                <a:cs typeface="Times New Roman" panose="02020603050405020304" pitchFamily="18" charset="0"/>
              </a:rPr>
              <a:t>个单位</a:t>
            </a:r>
            <a:r>
              <a:rPr lang="en-US" altLang="zh-CN" sz="2400" b="1" kern="100" dirty="0">
                <a:solidFill>
                  <a:srgbClr val="014B88"/>
                </a:solidFill>
                <a:latin typeface="仿宋_GB2312"/>
                <a:ea typeface="等线" panose="02010600030101010101" pitchFamily="2" charset="-122"/>
                <a:cs typeface="Times New Roman" panose="02020603050405020304" pitchFamily="18" charset="0"/>
              </a:rPr>
              <a:t>------</a:t>
            </a:r>
            <a:r>
              <a:rPr lang="zh-CN" altLang="en-US" sz="2400" b="1" kern="100" dirty="0">
                <a:solidFill>
                  <a:srgbClr val="014B88"/>
                </a:solidFill>
                <a:latin typeface="仿宋_GB2312"/>
                <a:ea typeface="等线" panose="02010600030101010101" pitchFamily="2" charset="-122"/>
                <a:cs typeface="Times New Roman" panose="02020603050405020304" pitchFamily="18" charset="0"/>
              </a:rPr>
              <a:t>例如「将牛栏 </a:t>
            </a:r>
            <a:r>
              <a:rPr lang="en-US" altLang="zh-CN" sz="2400" b="1" kern="100" dirty="0">
                <a:solidFill>
                  <a:srgbClr val="014B88"/>
                </a:solidFill>
                <a:latin typeface="仿宋_GB2312"/>
                <a:ea typeface="等线" panose="02010600030101010101" pitchFamily="2" charset="-122"/>
                <a:cs typeface="Times New Roman" panose="02020603050405020304" pitchFamily="18" charset="0"/>
              </a:rPr>
              <a:t>5...8 </a:t>
            </a:r>
            <a:r>
              <a:rPr lang="zh-CN" altLang="en-US" sz="2400" b="1" kern="100" dirty="0">
                <a:solidFill>
                  <a:srgbClr val="014B88"/>
                </a:solidFill>
                <a:latin typeface="仿宋_GB2312"/>
                <a:ea typeface="等线" panose="02010600030101010101" pitchFamily="2" charset="-122"/>
                <a:cs typeface="Times New Roman" panose="02020603050405020304" pitchFamily="18" charset="0"/>
              </a:rPr>
              <a:t>的温度升高 </a:t>
            </a:r>
            <a:r>
              <a:rPr lang="en-US" altLang="zh-CN" sz="2400" b="1" kern="100" dirty="0">
                <a:solidFill>
                  <a:srgbClr val="014B88"/>
                </a:solidFill>
                <a:latin typeface="仿宋_GB2312"/>
                <a:ea typeface="等线" panose="02010600030101010101" pitchFamily="2" charset="-122"/>
                <a:cs typeface="Times New Roman" panose="02020603050405020304" pitchFamily="18" charset="0"/>
              </a:rPr>
              <a:t>1 </a:t>
            </a:r>
            <a:r>
              <a:rPr lang="zh-CN" altLang="en-US" sz="2400" b="1" kern="100" dirty="0">
                <a:solidFill>
                  <a:srgbClr val="014B88"/>
                </a:solidFill>
                <a:latin typeface="仿宋_GB2312"/>
                <a:ea typeface="等线" panose="02010600030101010101" pitchFamily="2" charset="-122"/>
                <a:cs typeface="Times New Roman" panose="02020603050405020304" pitchFamily="18" charset="0"/>
              </a:rPr>
              <a:t>个单位」。一组连续的牛栏最短可以仅包含一个牛栏。</a:t>
            </a:r>
          </a:p>
          <a:p>
            <a:pPr algn="just">
              <a:lnSpc>
                <a:spcPct val="125000"/>
              </a:lnSpc>
            </a:pPr>
            <a:endParaRPr lang="en-US" altLang="zh-CN" sz="2400" b="1" kern="100" dirty="0">
              <a:solidFill>
                <a:srgbClr val="014B88"/>
              </a:solidFill>
              <a:latin typeface="仿宋_GB2312"/>
              <a:ea typeface="等线" panose="02010600030101010101" pitchFamily="2" charset="-122"/>
              <a:cs typeface="Times New Roman" panose="02020603050405020304" pitchFamily="18" charset="0"/>
            </a:endParaRPr>
          </a:p>
          <a:p>
            <a:pPr algn="just">
              <a:lnSpc>
                <a:spcPct val="125000"/>
              </a:lnSpc>
            </a:pPr>
            <a:r>
              <a:rPr lang="zh-CN" altLang="en-US" sz="2400" b="1" kern="100" dirty="0">
                <a:solidFill>
                  <a:srgbClr val="014B88"/>
                </a:solidFill>
                <a:latin typeface="仿宋_GB2312"/>
                <a:ea typeface="等线" panose="02010600030101010101" pitchFamily="2" charset="-122"/>
                <a:cs typeface="Times New Roman" panose="02020603050405020304" pitchFamily="18" charset="0"/>
              </a:rPr>
              <a:t>    请帮助 </a:t>
            </a:r>
            <a:r>
              <a:rPr lang="en-US" altLang="zh-CN" sz="2400" b="1" kern="100" dirty="0">
                <a:solidFill>
                  <a:srgbClr val="014B88"/>
                </a:solidFill>
                <a:latin typeface="仿宋_GB2312"/>
                <a:ea typeface="等线" panose="02010600030101010101" pitchFamily="2" charset="-122"/>
                <a:cs typeface="Times New Roman" panose="02020603050405020304" pitchFamily="18" charset="0"/>
              </a:rPr>
              <a:t>Farmer John </a:t>
            </a:r>
            <a:r>
              <a:rPr lang="zh-CN" altLang="en-US" sz="2400" b="1" kern="100" dirty="0">
                <a:solidFill>
                  <a:srgbClr val="014B88"/>
                </a:solidFill>
                <a:latin typeface="仿宋_GB2312"/>
                <a:ea typeface="等线" panose="02010600030101010101" pitchFamily="2" charset="-122"/>
                <a:cs typeface="Times New Roman" panose="02020603050405020304" pitchFamily="18" charset="0"/>
              </a:rPr>
              <a:t>求出他需要向新的空调系统发送的命令的最小数量，使得每头奶牛的牛栏都处于其中的奶牛的理想温度。</a:t>
            </a:r>
          </a:p>
        </p:txBody>
      </p:sp>
      <p:sp>
        <p:nvSpPr>
          <p:cNvPr id="3" name="TextBox 36">
            <a:extLst>
              <a:ext uri="{FF2B5EF4-FFF2-40B4-BE49-F238E27FC236}">
                <a16:creationId xmlns:a16="http://schemas.microsoft.com/office/drawing/2014/main" id="{D5670D0E-A6DD-4C12-9A3D-9EADCEEB4D97}"/>
              </a:ext>
            </a:extLst>
          </p:cNvPr>
          <p:cNvSpPr txBox="1"/>
          <p:nvPr/>
        </p:nvSpPr>
        <p:spPr>
          <a:xfrm>
            <a:off x="334800" y="320400"/>
            <a:ext cx="11684480" cy="651653"/>
          </a:xfrm>
          <a:prstGeom prst="rect">
            <a:avLst/>
          </a:prstGeom>
          <a:noFill/>
        </p:spPr>
        <p:txBody>
          <a:bodyPr wrap="square" rtlCol="0">
            <a:spAutoFit/>
          </a:bodyPr>
          <a:lstStyle/>
          <a:p>
            <a:pPr marL="457200" lvl="0" indent="-457200">
              <a:lnSpc>
                <a:spcPct val="125000"/>
              </a:lnSpc>
              <a:spcAft>
                <a:spcPts val="1200"/>
              </a:spcAft>
              <a:buFont typeface="Wingdings" panose="05000000000000000000" pitchFamily="2" charset="2"/>
              <a:buChar char="n"/>
            </a:pPr>
            <a:r>
              <a:rPr lang="zh-CN" altLang="en-US" sz="3200" b="1" dirty="0">
                <a:solidFill>
                  <a:srgbClr val="C00000"/>
                </a:solidFill>
                <a:latin typeface="微软雅黑" panose="020B0503020204020204" pitchFamily="34" charset="-122"/>
                <a:ea typeface="微软雅黑" panose="020B0503020204020204" pitchFamily="34" charset="-122"/>
              </a:rPr>
              <a:t>常用技巧 </a:t>
            </a:r>
            <a:r>
              <a:rPr lang="en-US" altLang="zh-CN" sz="3200" b="1" dirty="0">
                <a:solidFill>
                  <a:srgbClr val="C00000"/>
                </a:solidFill>
                <a:latin typeface="微软雅黑" panose="020B0503020204020204" pitchFamily="34" charset="-122"/>
                <a:ea typeface="微软雅黑" panose="020B0503020204020204" pitchFamily="34" charset="-122"/>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前缀和与差分</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436734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98B92EA1-5A77-4851-A5A0-9C421E233233}"/>
              </a:ext>
            </a:extLst>
          </p:cNvPr>
          <p:cNvSpPr txBox="1"/>
          <p:nvPr/>
        </p:nvSpPr>
        <p:spPr>
          <a:xfrm>
            <a:off x="334800" y="320400"/>
            <a:ext cx="11684480" cy="651653"/>
          </a:xfrm>
          <a:prstGeom prst="rect">
            <a:avLst/>
          </a:prstGeom>
          <a:noFill/>
        </p:spPr>
        <p:txBody>
          <a:bodyPr wrap="square" rtlCol="0">
            <a:spAutoFit/>
          </a:bodyPr>
          <a:lstStyle/>
          <a:p>
            <a:pPr marL="457200" lvl="0" indent="-457200">
              <a:lnSpc>
                <a:spcPct val="125000"/>
              </a:lnSpc>
              <a:spcAft>
                <a:spcPts val="1200"/>
              </a:spcAft>
              <a:buFont typeface="Wingdings" panose="05000000000000000000" pitchFamily="2" charset="2"/>
              <a:buChar char="n"/>
            </a:pPr>
            <a:r>
              <a:rPr lang="zh-CN" altLang="en-US" sz="3200" b="1" dirty="0">
                <a:solidFill>
                  <a:srgbClr val="C00000"/>
                </a:solidFill>
                <a:latin typeface="微软雅黑" panose="020B0503020204020204" pitchFamily="34" charset="-122"/>
                <a:ea typeface="微软雅黑" panose="020B0503020204020204" pitchFamily="34" charset="-122"/>
              </a:rPr>
              <a:t>常用技巧 </a:t>
            </a:r>
            <a:r>
              <a:rPr lang="en-US" altLang="zh-CN" sz="3200" b="1" dirty="0">
                <a:solidFill>
                  <a:srgbClr val="C00000"/>
                </a:solidFill>
                <a:latin typeface="微软雅黑" panose="020B0503020204020204" pitchFamily="34" charset="-122"/>
                <a:ea typeface="微软雅黑" panose="020B0503020204020204" pitchFamily="34" charset="-122"/>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离散化</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3EFB14E7-6BA0-44ED-8D8B-50941134C952}"/>
              </a:ext>
            </a:extLst>
          </p:cNvPr>
          <p:cNvSpPr/>
          <p:nvPr/>
        </p:nvSpPr>
        <p:spPr>
          <a:xfrm>
            <a:off x="504001" y="927889"/>
            <a:ext cx="10558347" cy="6636881"/>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给一个序列，序列的元素值不重要，但是相对大小重要，可以用离散化方法进行处理</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离散化：用数字的相对值替代它们的绝对值</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例：学生成绩</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69,75,80,76,90</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，一种离散化方式为</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5,4,2,3,1</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离散化步骤：</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排序：</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90(4)</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80(2)</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76(3)</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75(1)</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69(0)</a:t>
            </a: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离散化：</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1(4)</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2(2)</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3(3)</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4(1)</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5(0)</a:t>
            </a: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归位：</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5</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4</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2</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3</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1</a:t>
            </a:r>
          </a:p>
          <a:p>
            <a:pPr marL="457200" marR="0" lvl="1" indent="0" algn="just" defTabSz="914400" rtl="0" eaLnBrk="1" fontAlgn="auto" latinLnBrk="0" hangingPunct="1">
              <a:lnSpc>
                <a:spcPct val="200000"/>
              </a:lnSpc>
              <a:spcBef>
                <a:spcPts val="0"/>
              </a:spcBef>
              <a:spcAft>
                <a:spcPts val="0"/>
              </a:spcAft>
              <a:buClrTx/>
              <a:buSzTx/>
              <a:buFontTx/>
              <a:buNone/>
              <a:tabLst/>
              <a:defRPr/>
            </a:pP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p:txBody>
      </p:sp>
      <p:sp>
        <p:nvSpPr>
          <p:cNvPr id="9" name="任意多边形: 形状 8">
            <a:extLst>
              <a:ext uri="{FF2B5EF4-FFF2-40B4-BE49-F238E27FC236}">
                <a16:creationId xmlns:a16="http://schemas.microsoft.com/office/drawing/2014/main" id="{B260CB54-C926-420B-AAFC-30226810D165}"/>
              </a:ext>
            </a:extLst>
          </p:cNvPr>
          <p:cNvSpPr/>
          <p:nvPr/>
        </p:nvSpPr>
        <p:spPr>
          <a:xfrm>
            <a:off x="3760631" y="5924282"/>
            <a:ext cx="444321" cy="508715"/>
          </a:xfrm>
          <a:custGeom>
            <a:avLst/>
            <a:gdLst>
              <a:gd name="connsiteX0" fmla="*/ 444321 w 444321"/>
              <a:gd name="connsiteY0" fmla="*/ 0 h 508715"/>
              <a:gd name="connsiteX1" fmla="*/ 0 w 444321"/>
              <a:gd name="connsiteY1" fmla="*/ 508715 h 508715"/>
            </a:gdLst>
            <a:ahLst/>
            <a:cxnLst>
              <a:cxn ang="0">
                <a:pos x="connsiteX0" y="connsiteY0"/>
              </a:cxn>
              <a:cxn ang="0">
                <a:pos x="connsiteX1" y="connsiteY1"/>
              </a:cxn>
            </a:cxnLst>
            <a:rect l="l" t="t" r="r" b="b"/>
            <a:pathLst>
              <a:path w="444321" h="508715">
                <a:moveTo>
                  <a:pt x="444321" y="0"/>
                </a:moveTo>
                <a:lnTo>
                  <a:pt x="0" y="508715"/>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1" name="任意多边形: 形状 10">
            <a:extLst>
              <a:ext uri="{FF2B5EF4-FFF2-40B4-BE49-F238E27FC236}">
                <a16:creationId xmlns:a16="http://schemas.microsoft.com/office/drawing/2014/main" id="{BE7AD06D-C36C-4B2D-8792-2CD3483A41A8}"/>
              </a:ext>
            </a:extLst>
          </p:cNvPr>
          <p:cNvSpPr/>
          <p:nvPr/>
        </p:nvSpPr>
        <p:spPr>
          <a:xfrm>
            <a:off x="4243589" y="5950039"/>
            <a:ext cx="759853" cy="482958"/>
          </a:xfrm>
          <a:custGeom>
            <a:avLst/>
            <a:gdLst>
              <a:gd name="connsiteX0" fmla="*/ 759853 w 759853"/>
              <a:gd name="connsiteY0" fmla="*/ 0 h 482958"/>
              <a:gd name="connsiteX1" fmla="*/ 0 w 759853"/>
              <a:gd name="connsiteY1" fmla="*/ 482958 h 482958"/>
            </a:gdLst>
            <a:ahLst/>
            <a:cxnLst>
              <a:cxn ang="0">
                <a:pos x="connsiteX0" y="connsiteY0"/>
              </a:cxn>
              <a:cxn ang="0">
                <a:pos x="connsiteX1" y="connsiteY1"/>
              </a:cxn>
            </a:cxnLst>
            <a:rect l="l" t="t" r="r" b="b"/>
            <a:pathLst>
              <a:path w="759853" h="482958">
                <a:moveTo>
                  <a:pt x="759853" y="0"/>
                </a:moveTo>
                <a:lnTo>
                  <a:pt x="0" y="482958"/>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2" name="任意多边形: 形状 11">
            <a:extLst>
              <a:ext uri="{FF2B5EF4-FFF2-40B4-BE49-F238E27FC236}">
                <a16:creationId xmlns:a16="http://schemas.microsoft.com/office/drawing/2014/main" id="{2F16F8BB-628C-4CBD-B34C-E2E3246FB2FA}"/>
              </a:ext>
            </a:extLst>
          </p:cNvPr>
          <p:cNvSpPr/>
          <p:nvPr/>
        </p:nvSpPr>
        <p:spPr>
          <a:xfrm>
            <a:off x="3412901" y="5917842"/>
            <a:ext cx="1229933" cy="508716"/>
          </a:xfrm>
          <a:custGeom>
            <a:avLst/>
            <a:gdLst>
              <a:gd name="connsiteX0" fmla="*/ 0 w 1229933"/>
              <a:gd name="connsiteY0" fmla="*/ 0 h 508716"/>
              <a:gd name="connsiteX1" fmla="*/ 1229933 w 1229933"/>
              <a:gd name="connsiteY1" fmla="*/ 508716 h 508716"/>
            </a:gdLst>
            <a:ahLst/>
            <a:cxnLst>
              <a:cxn ang="0">
                <a:pos x="connsiteX0" y="connsiteY0"/>
              </a:cxn>
              <a:cxn ang="0">
                <a:pos x="connsiteX1" y="connsiteY1"/>
              </a:cxn>
            </a:cxnLst>
            <a:rect l="l" t="t" r="r" b="b"/>
            <a:pathLst>
              <a:path w="1229933" h="508716">
                <a:moveTo>
                  <a:pt x="0" y="0"/>
                </a:moveTo>
                <a:lnTo>
                  <a:pt x="1229933" y="508716"/>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3" name="任意多边形: 形状 12">
            <a:extLst>
              <a:ext uri="{FF2B5EF4-FFF2-40B4-BE49-F238E27FC236}">
                <a16:creationId xmlns:a16="http://schemas.microsoft.com/office/drawing/2014/main" id="{A349982D-6E84-4D73-9E6F-6446F5D00750}"/>
              </a:ext>
            </a:extLst>
          </p:cNvPr>
          <p:cNvSpPr/>
          <p:nvPr/>
        </p:nvSpPr>
        <p:spPr>
          <a:xfrm>
            <a:off x="2859110" y="5956479"/>
            <a:ext cx="3754191" cy="476518"/>
          </a:xfrm>
          <a:custGeom>
            <a:avLst/>
            <a:gdLst>
              <a:gd name="connsiteX0" fmla="*/ 3754191 w 3754191"/>
              <a:gd name="connsiteY0" fmla="*/ 0 h 476518"/>
              <a:gd name="connsiteX1" fmla="*/ 0 w 3754191"/>
              <a:gd name="connsiteY1" fmla="*/ 476518 h 476518"/>
            </a:gdLst>
            <a:ahLst/>
            <a:cxnLst>
              <a:cxn ang="0">
                <a:pos x="connsiteX0" y="connsiteY0"/>
              </a:cxn>
              <a:cxn ang="0">
                <a:pos x="connsiteX1" y="connsiteY1"/>
              </a:cxn>
            </a:cxnLst>
            <a:rect l="l" t="t" r="r" b="b"/>
            <a:pathLst>
              <a:path w="3754191" h="476518">
                <a:moveTo>
                  <a:pt x="3754191" y="0"/>
                </a:moveTo>
                <a:lnTo>
                  <a:pt x="0" y="476518"/>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5" name="任意多边形: 形状 14">
            <a:extLst>
              <a:ext uri="{FF2B5EF4-FFF2-40B4-BE49-F238E27FC236}">
                <a16:creationId xmlns:a16="http://schemas.microsoft.com/office/drawing/2014/main" id="{0F20DCE5-AA44-4B26-B6A4-27A6E7FE10A8}"/>
              </a:ext>
            </a:extLst>
          </p:cNvPr>
          <p:cNvSpPr/>
          <p:nvPr/>
        </p:nvSpPr>
        <p:spPr>
          <a:xfrm>
            <a:off x="3045512" y="5950039"/>
            <a:ext cx="2730663" cy="515155"/>
          </a:xfrm>
          <a:custGeom>
            <a:avLst/>
            <a:gdLst>
              <a:gd name="connsiteX0" fmla="*/ 2730663 w 2730663"/>
              <a:gd name="connsiteY0" fmla="*/ 0 h 515155"/>
              <a:gd name="connsiteX1" fmla="*/ 232161 w 2730663"/>
              <a:gd name="connsiteY1" fmla="*/ 193184 h 515155"/>
              <a:gd name="connsiteX2" fmla="*/ 257919 w 2730663"/>
              <a:gd name="connsiteY2" fmla="*/ 515155 h 515155"/>
            </a:gdLst>
            <a:ahLst/>
            <a:cxnLst>
              <a:cxn ang="0">
                <a:pos x="connsiteX0" y="connsiteY0"/>
              </a:cxn>
              <a:cxn ang="0">
                <a:pos x="connsiteX1" y="connsiteY1"/>
              </a:cxn>
              <a:cxn ang="0">
                <a:pos x="connsiteX2" y="connsiteY2"/>
              </a:cxn>
            </a:cxnLst>
            <a:rect l="l" t="t" r="r" b="b"/>
            <a:pathLst>
              <a:path w="2730663" h="515155">
                <a:moveTo>
                  <a:pt x="2730663" y="0"/>
                </a:moveTo>
                <a:cubicBezTo>
                  <a:pt x="1687474" y="53662"/>
                  <a:pt x="644285" y="107325"/>
                  <a:pt x="232161" y="193184"/>
                </a:cubicBezTo>
                <a:cubicBezTo>
                  <a:pt x="-179963" y="279043"/>
                  <a:pt x="38978" y="397099"/>
                  <a:pt x="257919" y="51515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8637560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6"/>
          <p:cNvSpPr txBox="1"/>
          <p:nvPr/>
        </p:nvSpPr>
        <p:spPr>
          <a:xfrm>
            <a:off x="334800" y="320400"/>
            <a:ext cx="11684480" cy="651653"/>
          </a:xfrm>
          <a:prstGeom prst="rect">
            <a:avLst/>
          </a:prstGeom>
          <a:noFill/>
        </p:spPr>
        <p:txBody>
          <a:bodyPr wrap="square" rtlCol="0">
            <a:spAutoFit/>
          </a:bodyPr>
          <a:lstStyle/>
          <a:p>
            <a:pPr marL="457200" lvl="0" indent="-457200">
              <a:lnSpc>
                <a:spcPct val="125000"/>
              </a:lnSpc>
              <a:spcAft>
                <a:spcPts val="1200"/>
              </a:spcAft>
              <a:buFont typeface="Wingdings" panose="05000000000000000000" pitchFamily="2" charset="2"/>
              <a:buChar char="n"/>
            </a:pPr>
            <a:r>
              <a:rPr lang="zh-CN" altLang="en-US" sz="3200" b="1" dirty="0">
                <a:solidFill>
                  <a:srgbClr val="C00000"/>
                </a:solidFill>
                <a:latin typeface="微软雅黑" panose="020B0503020204020204" pitchFamily="34" charset="-122"/>
                <a:ea typeface="微软雅黑" panose="020B0503020204020204" pitchFamily="34" charset="-122"/>
              </a:rPr>
              <a:t>常用技巧 </a:t>
            </a:r>
            <a:r>
              <a:rPr lang="en-US" altLang="zh-CN" sz="3200" b="1" dirty="0">
                <a:solidFill>
                  <a:srgbClr val="C00000"/>
                </a:solidFill>
                <a:latin typeface="微软雅黑" panose="020B0503020204020204" pitchFamily="34" charset="-122"/>
                <a:ea typeface="微软雅黑" panose="020B0503020204020204" pitchFamily="34" charset="-122"/>
              </a:rPr>
              <a:t>|  struct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结构体</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8322729C-1179-4B4C-843D-272796EB0B0A}"/>
              </a:ext>
            </a:extLst>
          </p:cNvPr>
          <p:cNvSpPr/>
          <p:nvPr/>
        </p:nvSpPr>
        <p:spPr>
          <a:xfrm>
            <a:off x="491122" y="799100"/>
            <a:ext cx="10558347" cy="3682226"/>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学生成绩，包括两门课程，程序设计原理和高等数学，先按总成绩排序，总成绩相同的，再按程序设计原理排序</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struct</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（结构体）的定义及初始化、赋值</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重写</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cmp</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457200" marR="0" lvl="1" indent="0" algn="just" defTabSz="914400" rtl="0" eaLnBrk="1" fontAlgn="auto" latinLnBrk="0" hangingPunct="1">
              <a:lnSpc>
                <a:spcPct val="200000"/>
              </a:lnSpc>
              <a:spcBef>
                <a:spcPts val="0"/>
              </a:spcBef>
              <a:spcAft>
                <a:spcPts val="0"/>
              </a:spcAft>
              <a:buClrTx/>
              <a:buSzTx/>
              <a:buFontTx/>
              <a:buNone/>
              <a:tabLst/>
              <a:defRPr/>
            </a:pP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p:txBody>
      </p:sp>
      <p:sp>
        <p:nvSpPr>
          <p:cNvPr id="2" name="文本框 1">
            <a:extLst>
              <a:ext uri="{FF2B5EF4-FFF2-40B4-BE49-F238E27FC236}">
                <a16:creationId xmlns:a16="http://schemas.microsoft.com/office/drawing/2014/main" id="{FF98198D-ECF1-4FC3-B39D-E22AB9FF60A7}"/>
              </a:ext>
            </a:extLst>
          </p:cNvPr>
          <p:cNvSpPr txBox="1"/>
          <p:nvPr/>
        </p:nvSpPr>
        <p:spPr>
          <a:xfrm>
            <a:off x="3610079" y="3963563"/>
            <a:ext cx="977629" cy="258532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89 90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90 89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95 80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88 88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80 79</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5" name="文本框 4">
            <a:extLst>
              <a:ext uri="{FF2B5EF4-FFF2-40B4-BE49-F238E27FC236}">
                <a16:creationId xmlns:a16="http://schemas.microsoft.com/office/drawing/2014/main" id="{91261F05-E2BC-4935-B03B-36785E44A216}"/>
              </a:ext>
            </a:extLst>
          </p:cNvPr>
          <p:cNvSpPr txBox="1"/>
          <p:nvPr/>
        </p:nvSpPr>
        <p:spPr>
          <a:xfrm>
            <a:off x="5688225" y="3963563"/>
            <a:ext cx="977629" cy="258532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90 89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89 90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88 88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95 80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80 79</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4" name="箭头: 右 3">
            <a:extLst>
              <a:ext uri="{FF2B5EF4-FFF2-40B4-BE49-F238E27FC236}">
                <a16:creationId xmlns:a16="http://schemas.microsoft.com/office/drawing/2014/main" id="{76D665F5-980F-461B-98F7-EDD6A59C89DA}"/>
              </a:ext>
            </a:extLst>
          </p:cNvPr>
          <p:cNvSpPr/>
          <p:nvPr/>
        </p:nvSpPr>
        <p:spPr>
          <a:xfrm>
            <a:off x="4669654" y="4705165"/>
            <a:ext cx="798991" cy="4350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7" name="矩形 6">
            <a:extLst>
              <a:ext uri="{FF2B5EF4-FFF2-40B4-BE49-F238E27FC236}">
                <a16:creationId xmlns:a16="http://schemas.microsoft.com/office/drawing/2014/main" id="{9598552B-217C-4399-B17C-D8091F489620}"/>
              </a:ext>
            </a:extLst>
          </p:cNvPr>
          <p:cNvSpPr/>
          <p:nvPr/>
        </p:nvSpPr>
        <p:spPr>
          <a:xfrm>
            <a:off x="7871814" y="5605392"/>
            <a:ext cx="3985386" cy="92333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Coding Time</a:t>
            </a:r>
            <a:endParaRPr kumimoji="0" lang="zh-CN" altLang="en-US"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155975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933F0046-4AF9-4D59-A230-E18D5E5DB04F}"/>
              </a:ext>
            </a:extLst>
          </p:cNvPr>
          <p:cNvSpPr txBox="1"/>
          <p:nvPr/>
        </p:nvSpPr>
        <p:spPr>
          <a:xfrm>
            <a:off x="334800" y="20449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分治</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1A0E4485-A687-4626-A85E-3584C89EC016}"/>
              </a:ext>
            </a:extLst>
          </p:cNvPr>
          <p:cNvSpPr/>
          <p:nvPr/>
        </p:nvSpPr>
        <p:spPr>
          <a:xfrm>
            <a:off x="172720" y="810714"/>
            <a:ext cx="11753996" cy="5899179"/>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基本思想：把一个复杂的问题</a:t>
            </a:r>
            <a:r>
              <a:rPr kumimoji="0" lang="zh-CN" altLang="en-US" sz="2400" b="1" i="0" u="none" strike="noStrike" kern="100" cap="none" spc="0" normalizeH="0" baseline="0" noProof="0" dirty="0">
                <a:ln>
                  <a:noFill/>
                </a:ln>
                <a:solidFill>
                  <a:srgbClr val="C00000"/>
                </a:solidFill>
                <a:effectLst/>
                <a:uLnTx/>
                <a:uFillTx/>
                <a:latin typeface="Consolas" panose="020B0609020204030204" pitchFamily="49" charset="0"/>
                <a:ea typeface="等线" panose="02010600030101010101" pitchFamily="2" charset="-122"/>
                <a:cs typeface="Times New Roman" panose="02020603050405020304" pitchFamily="18" charset="0"/>
              </a:rPr>
              <a:t>分</a:t>
            </a: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成两个或更多的相同或相似的子问题，再把子问题分成更小的子问题</a:t>
            </a:r>
            <a:r>
              <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直到最后子问题可以简单的直接</a:t>
            </a:r>
            <a:r>
              <a:rPr kumimoji="0" lang="zh-CN" altLang="en-US" sz="2400" b="1" i="0" u="none" strike="noStrike" kern="100" cap="none" spc="0" normalizeH="0" baseline="0" noProof="0" dirty="0">
                <a:ln>
                  <a:noFill/>
                </a:ln>
                <a:solidFill>
                  <a:srgbClr val="C00000"/>
                </a:solidFill>
                <a:effectLst/>
                <a:uLnTx/>
                <a:uFillTx/>
                <a:latin typeface="Consolas" panose="020B0609020204030204" pitchFamily="49" charset="0"/>
                <a:ea typeface="等线" panose="02010600030101010101" pitchFamily="2" charset="-122"/>
                <a:cs typeface="Times New Roman" panose="02020603050405020304" pitchFamily="18" charset="0"/>
              </a:rPr>
              <a:t>求解</a:t>
            </a: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，原问题的解即子问题的解的</a:t>
            </a:r>
            <a:r>
              <a:rPr kumimoji="0" lang="zh-CN" altLang="en-US" sz="2400" b="1" i="0" u="none" strike="noStrike" kern="100" cap="none" spc="0" normalizeH="0" baseline="0" noProof="0" dirty="0">
                <a:ln>
                  <a:noFill/>
                </a:ln>
                <a:solidFill>
                  <a:srgbClr val="C00000"/>
                </a:solidFill>
                <a:effectLst/>
                <a:uLnTx/>
                <a:uFillTx/>
                <a:latin typeface="Consolas" panose="020B0609020204030204" pitchFamily="49" charset="0"/>
                <a:ea typeface="等线" panose="02010600030101010101" pitchFamily="2" charset="-122"/>
                <a:cs typeface="Times New Roman" panose="02020603050405020304" pitchFamily="18" charset="0"/>
              </a:rPr>
              <a:t>合并</a:t>
            </a: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a:t>
            </a:r>
            <a:endPar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分治策略：对于一个规模为</a:t>
            </a:r>
            <a:r>
              <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n</a:t>
            </a: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的问题，若该问题可以容易地解决（比如说规模</a:t>
            </a:r>
            <a:r>
              <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n</a:t>
            </a: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较小）则直接解决，否则将其分解为</a:t>
            </a:r>
            <a:r>
              <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k</a:t>
            </a: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个规模较小的子问题，这些子问题互相独立且与原问题形式相同，然后将各子问题的解合并得到原问题的解。这种算法设计策略叫做分治法。</a:t>
            </a:r>
            <a:r>
              <a:rPr kumimoji="0" lang="zh-CN" altLang="en-US" sz="2400" b="1" i="0" u="none" strike="noStrike" kern="100" cap="none" spc="0" normalizeH="0" baseline="0" noProof="0" dirty="0">
                <a:ln>
                  <a:noFill/>
                </a:ln>
                <a:solidFill>
                  <a:srgbClr val="C00000"/>
                </a:solidFill>
                <a:effectLst/>
                <a:uLnTx/>
                <a:uFillTx/>
                <a:latin typeface="Consolas" panose="020B0609020204030204" pitchFamily="49" charset="0"/>
                <a:ea typeface="等线" panose="02010600030101010101" pitchFamily="2" charset="-122"/>
                <a:cs typeface="Times New Roman" panose="02020603050405020304" pitchFamily="18" charset="0"/>
              </a:rPr>
              <a:t>递归地解决子问题。</a:t>
            </a:r>
            <a:endParaRPr kumimoji="0" lang="en-US" altLang="zh-CN" sz="2400" b="1" i="0" u="none" strike="noStrike" kern="100" cap="none" spc="0" normalizeH="0" baseline="0" noProof="0" dirty="0">
              <a:ln>
                <a:noFill/>
              </a:ln>
              <a:solidFill>
                <a:srgbClr val="C00000"/>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经典应用：二分查找、归并排序、傅利叶变换等</a:t>
            </a:r>
            <a:endParaRPr kumimoji="0" lang="zh-CN" altLang="en-US" sz="16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009999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933F0046-4AF9-4D59-A230-E18D5E5DB04F}"/>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分治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适用情况</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4" name="矩形 3">
            <a:extLst>
              <a:ext uri="{FF2B5EF4-FFF2-40B4-BE49-F238E27FC236}">
                <a16:creationId xmlns:a16="http://schemas.microsoft.com/office/drawing/2014/main" id="{A62F56EF-7EE5-43E2-8AD4-E98D0CD54093}"/>
              </a:ext>
            </a:extLst>
          </p:cNvPr>
          <p:cNvSpPr/>
          <p:nvPr/>
        </p:nvSpPr>
        <p:spPr>
          <a:xfrm>
            <a:off x="789272" y="1216059"/>
            <a:ext cx="11030551" cy="4421210"/>
          </a:xfrm>
          <a:prstGeom prst="rect">
            <a:avLst/>
          </a:prstGeom>
        </p:spPr>
        <p:txBody>
          <a:bodyPr wrap="square">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分治法所能解决的问题一般具有以下几个特征：</a:t>
            </a:r>
            <a:endPar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问题的规模缩小到一定的程度就可以</a:t>
            </a:r>
            <a:r>
              <a:rPr kumimoji="0" lang="zh-CN" altLang="en-US" sz="2400" b="1" i="0" u="none" strike="noStrike" kern="100" cap="none" spc="0" normalizeH="0" baseline="0" noProof="0" dirty="0">
                <a:ln>
                  <a:noFill/>
                </a:ln>
                <a:solidFill>
                  <a:srgbClr val="FF0000"/>
                </a:solidFill>
                <a:effectLst/>
                <a:uLnTx/>
                <a:uFillTx/>
                <a:latin typeface="Consolas" panose="020B0609020204030204" pitchFamily="49" charset="0"/>
                <a:ea typeface="等线" panose="02010600030101010101" pitchFamily="2" charset="-122"/>
                <a:cs typeface="Times New Roman" panose="02020603050405020304" pitchFamily="18" charset="0"/>
              </a:rPr>
              <a:t>容易地解决</a:t>
            </a:r>
            <a:endParaRPr kumimoji="0" lang="en-US" altLang="zh-CN" sz="2400" b="1" i="0" u="none" strike="noStrike" kern="100" cap="none" spc="0" normalizeH="0" baseline="0" noProof="0" dirty="0">
              <a:ln>
                <a:noFill/>
              </a:ln>
              <a:solidFill>
                <a:srgbClr val="FF0000"/>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该问题可以分解为若干个规模较小的相同问题，即该问题具有最优子结构性质</a:t>
            </a:r>
            <a:endPar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利用该问题分解出的子问题的解</a:t>
            </a:r>
            <a:r>
              <a:rPr kumimoji="0" lang="zh-CN" altLang="en-US" sz="2400" b="1" i="0" u="none" strike="noStrike" kern="100" cap="none" spc="0" normalizeH="0" baseline="0" noProof="0" dirty="0">
                <a:ln>
                  <a:noFill/>
                </a:ln>
                <a:solidFill>
                  <a:srgbClr val="FF0000"/>
                </a:solidFill>
                <a:effectLst/>
                <a:uLnTx/>
                <a:uFillTx/>
                <a:latin typeface="Consolas" panose="020B0609020204030204" pitchFamily="49" charset="0"/>
                <a:ea typeface="等线" panose="02010600030101010101" pitchFamily="2" charset="-122"/>
                <a:cs typeface="Times New Roman" panose="02020603050405020304" pitchFamily="18" charset="0"/>
              </a:rPr>
              <a:t>可以合并</a:t>
            </a: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为该问题的解</a:t>
            </a:r>
            <a:endPar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该问题所分解出的各个子问题是相互独立的，即子问题之间不包含公共的子子问题</a:t>
            </a:r>
          </a:p>
        </p:txBody>
      </p:sp>
    </p:spTree>
    <p:extLst>
      <p:ext uri="{BB962C8B-B14F-4D97-AF65-F5344CB8AC3E}">
        <p14:creationId xmlns:p14="http://schemas.microsoft.com/office/powerpoint/2010/main" val="606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933F0046-4AF9-4D59-A230-E18D5E5DB04F}"/>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分治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归并排序</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4" name="矩形 3">
            <a:extLst>
              <a:ext uri="{FF2B5EF4-FFF2-40B4-BE49-F238E27FC236}">
                <a16:creationId xmlns:a16="http://schemas.microsoft.com/office/drawing/2014/main" id="{A62F56EF-7EE5-43E2-8AD4-E98D0CD54093}"/>
              </a:ext>
            </a:extLst>
          </p:cNvPr>
          <p:cNvSpPr/>
          <p:nvPr/>
        </p:nvSpPr>
        <p:spPr>
          <a:xfrm>
            <a:off x="789272" y="1216059"/>
            <a:ext cx="11030551" cy="3911007"/>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对长度为</a:t>
            </a:r>
            <a:r>
              <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n</a:t>
            </a: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的无序整数数组排序。</a:t>
            </a:r>
            <a:endPar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如何分解为子问题？</a:t>
            </a:r>
            <a:endPar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子问题如何解决？</a:t>
            </a:r>
            <a:endPar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如何合并？</a:t>
            </a:r>
            <a:endPar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子问题的解决以及合并的代价？</a:t>
            </a:r>
            <a:endPar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p:txBody>
      </p:sp>
      <p:sp>
        <p:nvSpPr>
          <p:cNvPr id="5" name="矩形 4">
            <a:extLst>
              <a:ext uri="{FF2B5EF4-FFF2-40B4-BE49-F238E27FC236}">
                <a16:creationId xmlns:a16="http://schemas.microsoft.com/office/drawing/2014/main" id="{91985013-0F52-47BA-A3A1-791EF5E0CE93}"/>
              </a:ext>
            </a:extLst>
          </p:cNvPr>
          <p:cNvSpPr/>
          <p:nvPr/>
        </p:nvSpPr>
        <p:spPr>
          <a:xfrm>
            <a:off x="6755765" y="5286478"/>
            <a:ext cx="3985386" cy="92333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Coding Time</a:t>
            </a:r>
            <a:endParaRPr kumimoji="0" lang="zh-CN" altLang="en-US"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endParaRPr>
          </a:p>
        </p:txBody>
      </p:sp>
      <p:pic>
        <p:nvPicPr>
          <p:cNvPr id="1026" name="Picture 2" descr="https://images2015.cnblogs.com/blog/1024555/201612/1024555-20161218163120151-452283750.png">
            <a:extLst>
              <a:ext uri="{FF2B5EF4-FFF2-40B4-BE49-F238E27FC236}">
                <a16:creationId xmlns:a16="http://schemas.microsoft.com/office/drawing/2014/main" id="{15BAE975-564A-43E0-8421-E73655CC623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62279" y="728180"/>
            <a:ext cx="6057001" cy="4638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1429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3" end="3"/>
                                            </p:txEl>
                                          </p:spTgt>
                                        </p:tgtEl>
                                        <p:attrNameLst>
                                          <p:attrName>style.visibility</p:attrName>
                                        </p:attrNameLst>
                                      </p:cBhvr>
                                      <p:to>
                                        <p:strVal val="visible"/>
                                      </p:to>
                                    </p:set>
                                    <p:animEffect transition="in" filter="fade">
                                      <p:cBhvr>
                                        <p:cTn id="10" dur="500"/>
                                        <p:tgtEl>
                                          <p:spTgt spid="4">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animEffect transition="in" filter="fade">
                                      <p:cBhvr>
                                        <p:cTn id="13" dur="500"/>
                                        <p:tgtEl>
                                          <p:spTgt spid="4">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
                                            <p:txEl>
                                              <p:pRg st="6" end="6"/>
                                            </p:txEl>
                                          </p:spTgt>
                                        </p:tgtEl>
                                        <p:attrNameLst>
                                          <p:attrName>style.visibility</p:attrName>
                                        </p:attrNameLst>
                                      </p:cBhvr>
                                      <p:to>
                                        <p:strVal val="visible"/>
                                      </p:to>
                                    </p:set>
                                    <p:animEffect transition="in" filter="fade">
                                      <p:cBhvr>
                                        <p:cTn id="18" dur="500"/>
                                        <p:tgtEl>
                                          <p:spTgt spid="4">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026"/>
                                        </p:tgtEl>
                                        <p:attrNameLst>
                                          <p:attrName>style.visibility</p:attrName>
                                        </p:attrNameLst>
                                      </p:cBhvr>
                                      <p:to>
                                        <p:strVal val="visible"/>
                                      </p:to>
                                    </p:set>
                                    <p:animEffect transition="in" filter="fade">
                                      <p:cBhvr>
                                        <p:cTn id="23" dur="500"/>
                                        <p:tgtEl>
                                          <p:spTgt spid="102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933F0046-4AF9-4D59-A230-E18D5E5DB04F}"/>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分治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lang="zh-CN" altLang="en-US" sz="3200" b="1" dirty="0">
                <a:solidFill>
                  <a:srgbClr val="C00000"/>
                </a:solidFill>
                <a:latin typeface="微软雅黑" panose="020B0503020204020204" pitchFamily="34" charset="-122"/>
                <a:ea typeface="微软雅黑" panose="020B0503020204020204" pitchFamily="34" charset="-122"/>
              </a:rPr>
              <a:t>快速</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排序</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4" name="矩形 3">
            <a:extLst>
              <a:ext uri="{FF2B5EF4-FFF2-40B4-BE49-F238E27FC236}">
                <a16:creationId xmlns:a16="http://schemas.microsoft.com/office/drawing/2014/main" id="{A62F56EF-7EE5-43E2-8AD4-E98D0CD54093}"/>
              </a:ext>
            </a:extLst>
          </p:cNvPr>
          <p:cNvSpPr/>
          <p:nvPr/>
        </p:nvSpPr>
        <p:spPr>
          <a:xfrm>
            <a:off x="789272" y="1216059"/>
            <a:ext cx="11030551" cy="3911007"/>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对长度为</a:t>
            </a:r>
            <a:r>
              <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n</a:t>
            </a: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的无序整数数组排序。</a:t>
            </a:r>
            <a:endPar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如何分解为子问题？</a:t>
            </a:r>
            <a:endPar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子问题如何解决？</a:t>
            </a:r>
            <a:endPar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如何合并？</a:t>
            </a:r>
            <a:endPar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子问题的解决以及合并的代价？</a:t>
            </a:r>
            <a:endPar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p:txBody>
      </p:sp>
      <p:sp>
        <p:nvSpPr>
          <p:cNvPr id="5" name="矩形 4">
            <a:extLst>
              <a:ext uri="{FF2B5EF4-FFF2-40B4-BE49-F238E27FC236}">
                <a16:creationId xmlns:a16="http://schemas.microsoft.com/office/drawing/2014/main" id="{91985013-0F52-47BA-A3A1-791EF5E0CE93}"/>
              </a:ext>
            </a:extLst>
          </p:cNvPr>
          <p:cNvSpPr/>
          <p:nvPr/>
        </p:nvSpPr>
        <p:spPr>
          <a:xfrm>
            <a:off x="6755765" y="5286478"/>
            <a:ext cx="3985386" cy="92333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Coding Time</a:t>
            </a:r>
            <a:endParaRPr kumimoji="0" lang="zh-CN" altLang="en-US"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83708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3" end="3"/>
                                            </p:txEl>
                                          </p:spTgt>
                                        </p:tgtEl>
                                        <p:attrNameLst>
                                          <p:attrName>style.visibility</p:attrName>
                                        </p:attrNameLst>
                                      </p:cBhvr>
                                      <p:to>
                                        <p:strVal val="visible"/>
                                      </p:to>
                                    </p:set>
                                    <p:animEffect transition="in" filter="fade">
                                      <p:cBhvr>
                                        <p:cTn id="10" dur="500"/>
                                        <p:tgtEl>
                                          <p:spTgt spid="4">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animEffect transition="in" filter="fade">
                                      <p:cBhvr>
                                        <p:cTn id="13" dur="500"/>
                                        <p:tgtEl>
                                          <p:spTgt spid="4">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
                                            <p:txEl>
                                              <p:pRg st="6" end="6"/>
                                            </p:txEl>
                                          </p:spTgt>
                                        </p:tgtEl>
                                        <p:attrNameLst>
                                          <p:attrName>style.visibility</p:attrName>
                                        </p:attrNameLst>
                                      </p:cBhvr>
                                      <p:to>
                                        <p:strVal val="visible"/>
                                      </p:to>
                                    </p:set>
                                    <p:animEffect transition="in" filter="fade">
                                      <p:cBhvr>
                                        <p:cTn id="18" dur="500"/>
                                        <p:tgtEl>
                                          <p:spTgt spid="4">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STL</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中的</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sort</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函数</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8322729C-1179-4B4C-843D-272796EB0B0A}"/>
              </a:ext>
            </a:extLst>
          </p:cNvPr>
          <p:cNvSpPr/>
          <p:nvPr/>
        </p:nvSpPr>
        <p:spPr>
          <a:xfrm>
            <a:off x="491122" y="799100"/>
            <a:ext cx="10558347" cy="5898987"/>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#include &lt;algorithm&gt;</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sort(</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a,a+n</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并非只是普通的快速排序，除了对普通的</a:t>
            </a: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快速排序</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进行优化，它还结合了</a:t>
            </a: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插入排序</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和</a:t>
            </a: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堆排序</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根据不同的数量级别以及不同情况，能自动选用合适的排序方法。当数据量较大时采用快速排序，分段递归。一旦分段后的数据量小于某个阀值，为避免递归调用带来过大的额外负荷，便会改用插入排序。而如果递归层次过深，有出现最坏情况的倾向，还会改用堆排序。</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360295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1" name="Text Box 5">
            <a:extLst>
              <a:ext uri="{FF2B5EF4-FFF2-40B4-BE49-F238E27FC236}">
                <a16:creationId xmlns:a16="http://schemas.microsoft.com/office/drawing/2014/main" id="{CC43CF04-A6A8-4531-B6B5-600CA4C9CC03}"/>
              </a:ext>
            </a:extLst>
          </p:cNvPr>
          <p:cNvSpPr>
            <a:spLocks noChangeArrowheads="1"/>
          </p:cNvSpPr>
          <p:nvPr/>
        </p:nvSpPr>
        <p:spPr bwMode="auto">
          <a:xfrm>
            <a:off x="642311" y="1714501"/>
            <a:ext cx="11115535" cy="10769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eaLnBrk="1" fontAlgn="base" hangingPunct="1">
              <a:lnSpc>
                <a:spcPct val="120000"/>
              </a:lnSpc>
              <a:spcBef>
                <a:spcPct val="0"/>
              </a:spcBef>
              <a:spcAft>
                <a:spcPct val="0"/>
              </a:spcAft>
              <a:buSzPct val="100000"/>
            </a:pPr>
            <a:r>
              <a:rPr kumimoji="1" lang="en-US" altLang="zh-CN" sz="2800" b="1" dirty="0">
                <a:solidFill>
                  <a:srgbClr val="000000"/>
                </a:solidFill>
                <a:latin typeface="Times New Roman" panose="02020603050405020304" pitchFamily="18" charset="0"/>
                <a:cs typeface="Arial"/>
              </a:rPr>
              <a:t>        </a:t>
            </a:r>
            <a:r>
              <a:rPr lang="zh-CN" altLang="en-US" sz="2133" dirty="0">
                <a:latin typeface="微软雅黑" panose="020B0503020204020204" pitchFamily="34" charset="-122"/>
                <a:ea typeface="微软雅黑" panose="020B0503020204020204" pitchFamily="34" charset="-122"/>
              </a:rPr>
              <a:t>设</a:t>
            </a:r>
            <a:r>
              <a:rPr kumimoji="1" lang="en-US" altLang="zh-CN" sz="2800" b="1" i="1" dirty="0">
                <a:solidFill>
                  <a:srgbClr val="000000"/>
                </a:solidFill>
                <a:latin typeface="Times New Roman" panose="02020603050405020304" pitchFamily="18" charset="0"/>
                <a:cs typeface="Arial"/>
              </a:rPr>
              <a:t>p</a:t>
            </a:r>
            <a:r>
              <a:rPr kumimoji="1" lang="en-US" altLang="zh-CN" sz="2800" b="1" baseline="-30000" dirty="0">
                <a:solidFill>
                  <a:srgbClr val="000000"/>
                </a:solidFill>
                <a:latin typeface="Times New Roman" panose="02020603050405020304" pitchFamily="18" charset="0"/>
                <a:cs typeface="Arial"/>
              </a:rPr>
              <a:t>1</a:t>
            </a:r>
            <a:r>
              <a:rPr kumimoji="1" lang="en-US" altLang="zh-CN" sz="2800" b="1" dirty="0">
                <a:solidFill>
                  <a:srgbClr val="000000"/>
                </a:solidFill>
                <a:latin typeface="Times New Roman" panose="02020603050405020304" pitchFamily="18" charset="0"/>
                <a:cs typeface="Arial"/>
              </a:rPr>
              <a:t>=(</a:t>
            </a:r>
            <a:r>
              <a:rPr kumimoji="1" lang="en-US" altLang="zh-CN" sz="2800" b="1" i="1" dirty="0">
                <a:solidFill>
                  <a:srgbClr val="000000"/>
                </a:solidFill>
                <a:latin typeface="Times New Roman" panose="02020603050405020304" pitchFamily="18" charset="0"/>
                <a:cs typeface="Arial"/>
              </a:rPr>
              <a:t>x</a:t>
            </a:r>
            <a:r>
              <a:rPr kumimoji="1" lang="en-US" altLang="zh-CN" sz="2800" b="1" baseline="-30000" dirty="0">
                <a:solidFill>
                  <a:srgbClr val="000000"/>
                </a:solidFill>
                <a:latin typeface="Times New Roman" panose="02020603050405020304" pitchFamily="18" charset="0"/>
                <a:cs typeface="Arial"/>
              </a:rPr>
              <a:t>1</a:t>
            </a:r>
            <a:r>
              <a:rPr kumimoji="1" lang="en-US" altLang="zh-CN" sz="2800" b="1" dirty="0">
                <a:solidFill>
                  <a:srgbClr val="000000"/>
                </a:solidFill>
                <a:latin typeface="Times New Roman" panose="02020603050405020304" pitchFamily="18" charset="0"/>
                <a:cs typeface="Arial"/>
              </a:rPr>
              <a:t>, </a:t>
            </a:r>
            <a:r>
              <a:rPr kumimoji="1" lang="en-US" altLang="zh-CN" sz="2800" b="1" i="1" dirty="0">
                <a:solidFill>
                  <a:srgbClr val="000000"/>
                </a:solidFill>
                <a:latin typeface="Times New Roman" panose="02020603050405020304" pitchFamily="18" charset="0"/>
                <a:cs typeface="Arial"/>
              </a:rPr>
              <a:t>y</a:t>
            </a:r>
            <a:r>
              <a:rPr kumimoji="1" lang="en-US" altLang="zh-CN" sz="2800" b="1" baseline="-30000" dirty="0">
                <a:solidFill>
                  <a:srgbClr val="000000"/>
                </a:solidFill>
                <a:latin typeface="Times New Roman" panose="02020603050405020304" pitchFamily="18" charset="0"/>
                <a:cs typeface="Arial"/>
              </a:rPr>
              <a:t>1</a:t>
            </a:r>
            <a:r>
              <a:rPr kumimoji="1" lang="en-US" altLang="zh-CN" sz="2800" b="1" dirty="0">
                <a:solidFill>
                  <a:srgbClr val="000000"/>
                </a:solidFill>
                <a:latin typeface="Times New Roman" panose="02020603050405020304" pitchFamily="18" charset="0"/>
                <a:cs typeface="Arial"/>
              </a:rPr>
              <a:t>), </a:t>
            </a:r>
            <a:r>
              <a:rPr kumimoji="1" lang="en-US" altLang="zh-CN" sz="2800" b="1" i="1" dirty="0">
                <a:solidFill>
                  <a:srgbClr val="000000"/>
                </a:solidFill>
                <a:latin typeface="Times New Roman" panose="02020603050405020304" pitchFamily="18" charset="0"/>
                <a:cs typeface="Arial"/>
              </a:rPr>
              <a:t>p</a:t>
            </a:r>
            <a:r>
              <a:rPr kumimoji="1" lang="en-US" altLang="zh-CN" sz="2800" b="1" baseline="-30000" dirty="0">
                <a:solidFill>
                  <a:srgbClr val="000000"/>
                </a:solidFill>
                <a:latin typeface="Times New Roman" panose="02020603050405020304" pitchFamily="18" charset="0"/>
                <a:cs typeface="Arial"/>
              </a:rPr>
              <a:t>2</a:t>
            </a:r>
            <a:r>
              <a:rPr kumimoji="1" lang="en-US" altLang="zh-CN" sz="2800" b="1" dirty="0">
                <a:solidFill>
                  <a:srgbClr val="000000"/>
                </a:solidFill>
                <a:latin typeface="Times New Roman" panose="02020603050405020304" pitchFamily="18" charset="0"/>
                <a:cs typeface="Arial"/>
              </a:rPr>
              <a:t>=(</a:t>
            </a:r>
            <a:r>
              <a:rPr kumimoji="1" lang="en-US" altLang="zh-CN" sz="2800" b="1" i="1" dirty="0">
                <a:solidFill>
                  <a:srgbClr val="000000"/>
                </a:solidFill>
                <a:latin typeface="Times New Roman" panose="02020603050405020304" pitchFamily="18" charset="0"/>
                <a:cs typeface="Arial"/>
              </a:rPr>
              <a:t>x</a:t>
            </a:r>
            <a:r>
              <a:rPr kumimoji="1" lang="en-US" altLang="zh-CN" sz="2800" b="1" baseline="-30000" dirty="0">
                <a:solidFill>
                  <a:srgbClr val="000000"/>
                </a:solidFill>
                <a:latin typeface="Times New Roman" panose="02020603050405020304" pitchFamily="18" charset="0"/>
                <a:cs typeface="Arial"/>
              </a:rPr>
              <a:t>2</a:t>
            </a:r>
            <a:r>
              <a:rPr kumimoji="1" lang="en-US" altLang="zh-CN" sz="2800" b="1" dirty="0">
                <a:solidFill>
                  <a:srgbClr val="000000"/>
                </a:solidFill>
                <a:latin typeface="Times New Roman" panose="02020603050405020304" pitchFamily="18" charset="0"/>
                <a:cs typeface="Arial"/>
              </a:rPr>
              <a:t>, </a:t>
            </a:r>
            <a:r>
              <a:rPr kumimoji="1" lang="en-US" altLang="zh-CN" sz="2800" b="1" i="1" dirty="0">
                <a:solidFill>
                  <a:srgbClr val="000000"/>
                </a:solidFill>
                <a:latin typeface="Times New Roman" panose="02020603050405020304" pitchFamily="18" charset="0"/>
                <a:cs typeface="Arial"/>
              </a:rPr>
              <a:t>y</a:t>
            </a:r>
            <a:r>
              <a:rPr kumimoji="1" lang="en-US" altLang="zh-CN" sz="2800" b="1" baseline="-30000" dirty="0">
                <a:solidFill>
                  <a:srgbClr val="000000"/>
                </a:solidFill>
                <a:latin typeface="Times New Roman" panose="02020603050405020304" pitchFamily="18" charset="0"/>
                <a:cs typeface="Arial"/>
              </a:rPr>
              <a:t>2</a:t>
            </a:r>
            <a:r>
              <a:rPr kumimoji="1" lang="en-US" altLang="zh-CN" sz="2800" b="1" dirty="0">
                <a:solidFill>
                  <a:srgbClr val="000000"/>
                </a:solidFill>
                <a:latin typeface="Times New Roman" panose="02020603050405020304" pitchFamily="18" charset="0"/>
                <a:cs typeface="Arial"/>
              </a:rPr>
              <a:t>), …, </a:t>
            </a:r>
            <a:r>
              <a:rPr kumimoji="1" lang="en-US" altLang="zh-CN" sz="2800" b="1" i="1" dirty="0" err="1">
                <a:solidFill>
                  <a:srgbClr val="000000"/>
                </a:solidFill>
                <a:latin typeface="Times New Roman" panose="02020603050405020304" pitchFamily="18" charset="0"/>
                <a:cs typeface="Arial"/>
              </a:rPr>
              <a:t>p</a:t>
            </a:r>
            <a:r>
              <a:rPr kumimoji="1" lang="en-US" altLang="zh-CN" sz="2800" b="1" i="1" baseline="-30000" dirty="0" err="1">
                <a:solidFill>
                  <a:srgbClr val="000000"/>
                </a:solidFill>
                <a:latin typeface="Times New Roman" panose="02020603050405020304" pitchFamily="18" charset="0"/>
                <a:cs typeface="Arial"/>
              </a:rPr>
              <a:t>n</a:t>
            </a:r>
            <a:r>
              <a:rPr kumimoji="1" lang="en-US" altLang="zh-CN" sz="2800" b="1" dirty="0">
                <a:solidFill>
                  <a:srgbClr val="000000"/>
                </a:solidFill>
                <a:latin typeface="Times New Roman" panose="02020603050405020304" pitchFamily="18" charset="0"/>
                <a:cs typeface="Arial"/>
              </a:rPr>
              <a:t>=(</a:t>
            </a:r>
            <a:r>
              <a:rPr kumimoji="1" lang="en-US" altLang="zh-CN" sz="2800" b="1" i="1" dirty="0" err="1">
                <a:solidFill>
                  <a:srgbClr val="000000"/>
                </a:solidFill>
                <a:latin typeface="Times New Roman" panose="02020603050405020304" pitchFamily="18" charset="0"/>
                <a:cs typeface="Arial"/>
              </a:rPr>
              <a:t>x</a:t>
            </a:r>
            <a:r>
              <a:rPr kumimoji="1" lang="en-US" altLang="zh-CN" sz="2800" b="1" i="1" baseline="-30000" dirty="0" err="1">
                <a:solidFill>
                  <a:srgbClr val="000000"/>
                </a:solidFill>
                <a:latin typeface="Times New Roman" panose="02020603050405020304" pitchFamily="18" charset="0"/>
                <a:cs typeface="Arial"/>
              </a:rPr>
              <a:t>n</a:t>
            </a:r>
            <a:r>
              <a:rPr kumimoji="1" lang="en-US" altLang="zh-CN" sz="2800" b="1" dirty="0">
                <a:solidFill>
                  <a:srgbClr val="000000"/>
                </a:solidFill>
                <a:latin typeface="Times New Roman" panose="02020603050405020304" pitchFamily="18" charset="0"/>
                <a:cs typeface="Arial"/>
              </a:rPr>
              <a:t>, </a:t>
            </a:r>
            <a:r>
              <a:rPr kumimoji="1" lang="en-US" altLang="zh-CN" sz="2800" b="1" i="1" dirty="0" err="1">
                <a:solidFill>
                  <a:srgbClr val="000000"/>
                </a:solidFill>
                <a:latin typeface="Times New Roman" panose="02020603050405020304" pitchFamily="18" charset="0"/>
                <a:cs typeface="Arial"/>
              </a:rPr>
              <a:t>y</a:t>
            </a:r>
            <a:r>
              <a:rPr kumimoji="1" lang="en-US" altLang="zh-CN" sz="2800" b="1" i="1" baseline="-30000" dirty="0" err="1">
                <a:solidFill>
                  <a:srgbClr val="000000"/>
                </a:solidFill>
                <a:latin typeface="Times New Roman" panose="02020603050405020304" pitchFamily="18" charset="0"/>
                <a:cs typeface="Arial"/>
              </a:rPr>
              <a:t>n</a:t>
            </a:r>
            <a:r>
              <a:rPr kumimoji="1" lang="en-US" altLang="zh-CN" sz="2800" b="1" dirty="0">
                <a:solidFill>
                  <a:srgbClr val="000000"/>
                </a:solidFill>
                <a:latin typeface="Times New Roman" panose="02020603050405020304" pitchFamily="18" charset="0"/>
                <a:cs typeface="Arial"/>
              </a:rPr>
              <a:t>)</a:t>
            </a:r>
            <a:r>
              <a:rPr lang="zh-CN" altLang="en-US" sz="2133" dirty="0">
                <a:latin typeface="微软雅黑" panose="020B0503020204020204" pitchFamily="34" charset="-122"/>
                <a:ea typeface="微软雅黑" panose="020B0503020204020204" pitchFamily="34" charset="-122"/>
              </a:rPr>
              <a:t>是平面上</a:t>
            </a:r>
            <a:r>
              <a:rPr kumimoji="1" lang="en-US" altLang="zh-CN" sz="2800" b="1" i="1" dirty="0">
                <a:solidFill>
                  <a:srgbClr val="000000"/>
                </a:solidFill>
                <a:latin typeface="Times New Roman" panose="02020603050405020304" pitchFamily="18" charset="0"/>
                <a:cs typeface="Arial"/>
              </a:rPr>
              <a:t>n</a:t>
            </a:r>
            <a:r>
              <a:rPr lang="zh-CN" altLang="en-US" sz="2133" dirty="0">
                <a:latin typeface="微软雅黑" panose="020B0503020204020204" pitchFamily="34" charset="-122"/>
                <a:ea typeface="微软雅黑" panose="020B0503020204020204" pitchFamily="34" charset="-122"/>
              </a:rPr>
              <a:t>个点构成的集合</a:t>
            </a:r>
            <a:r>
              <a:rPr kumimoji="1" lang="en-US" altLang="zh-CN" sz="2800" b="1" i="1" dirty="0">
                <a:solidFill>
                  <a:srgbClr val="000000"/>
                </a:solidFill>
                <a:latin typeface="Times New Roman" panose="02020603050405020304" pitchFamily="18" charset="0"/>
                <a:cs typeface="Arial"/>
              </a:rPr>
              <a:t>S</a:t>
            </a:r>
            <a:r>
              <a:rPr kumimoji="1" lang="zh-CN" altLang="en-US" sz="2800" b="1" dirty="0">
                <a:solidFill>
                  <a:srgbClr val="000000"/>
                </a:solidFill>
                <a:latin typeface="Times New Roman" panose="02020603050405020304" pitchFamily="18" charset="0"/>
                <a:cs typeface="Arial"/>
              </a:rPr>
              <a:t>，</a:t>
            </a:r>
            <a:r>
              <a:rPr lang="zh-CN" altLang="en-US" sz="2133" dirty="0">
                <a:latin typeface="微软雅黑" panose="020B0503020204020204" pitchFamily="34" charset="-122"/>
                <a:ea typeface="微软雅黑" panose="020B0503020204020204" pitchFamily="34" charset="-122"/>
              </a:rPr>
              <a:t>最近对问题就是找出集合</a:t>
            </a:r>
            <a:r>
              <a:rPr kumimoji="1" lang="en-US" altLang="zh-CN" sz="2800" b="1" i="1" dirty="0">
                <a:solidFill>
                  <a:srgbClr val="000000"/>
                </a:solidFill>
                <a:latin typeface="Times New Roman" panose="02020603050405020304" pitchFamily="18" charset="0"/>
                <a:cs typeface="Arial"/>
              </a:rPr>
              <a:t>S</a:t>
            </a:r>
            <a:r>
              <a:rPr lang="zh-CN" altLang="en-US" sz="2133" dirty="0">
                <a:latin typeface="微软雅黑" panose="020B0503020204020204" pitchFamily="34" charset="-122"/>
                <a:ea typeface="微软雅黑" panose="020B0503020204020204" pitchFamily="34" charset="-122"/>
              </a:rPr>
              <a:t>中距离最近的点对</a:t>
            </a:r>
            <a:r>
              <a:rPr kumimoji="1" lang="zh-CN" altLang="en-US" sz="2800" b="1" dirty="0">
                <a:solidFill>
                  <a:srgbClr val="000000"/>
                </a:solidFill>
                <a:latin typeface="Times New Roman" panose="02020603050405020304" pitchFamily="18" charset="0"/>
                <a:cs typeface="Arial"/>
              </a:rPr>
              <a:t>。        </a:t>
            </a:r>
          </a:p>
        </p:txBody>
      </p:sp>
      <p:sp>
        <p:nvSpPr>
          <p:cNvPr id="2742" name="Text Box 2">
            <a:extLst>
              <a:ext uri="{FF2B5EF4-FFF2-40B4-BE49-F238E27FC236}">
                <a16:creationId xmlns:a16="http://schemas.microsoft.com/office/drawing/2014/main" id="{2B019C04-1D27-424D-AEBB-809E0AC066D6}"/>
              </a:ext>
            </a:extLst>
          </p:cNvPr>
          <p:cNvSpPr>
            <a:spLocks noChangeArrowheads="1"/>
          </p:cNvSpPr>
          <p:nvPr/>
        </p:nvSpPr>
        <p:spPr bwMode="auto">
          <a:xfrm>
            <a:off x="642311" y="3221054"/>
            <a:ext cx="11115533" cy="8514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r>
              <a:rPr kumimoji="1" lang="en-US" altLang="zh-CN" sz="2800" b="1" dirty="0">
                <a:solidFill>
                  <a:srgbClr val="000000"/>
                </a:solidFill>
                <a:latin typeface="Times New Roman" panose="02020603050405020304" pitchFamily="18" charset="0"/>
                <a:cs typeface="Arial"/>
              </a:rPr>
              <a:t>        </a:t>
            </a:r>
            <a:r>
              <a:rPr lang="zh-CN" altLang="en-US" sz="2133" dirty="0">
                <a:latin typeface="微软雅黑" panose="020B0503020204020204" pitchFamily="34" charset="-122"/>
                <a:ea typeface="微软雅黑" panose="020B0503020204020204" pitchFamily="34" charset="-122"/>
              </a:rPr>
              <a:t>暴力法求解时间性能为</a:t>
            </a:r>
            <a:r>
              <a:rPr kumimoji="1" lang="en-US" altLang="zh-CN" sz="2800" b="1" dirty="0">
                <a:solidFill>
                  <a:srgbClr val="000000"/>
                </a:solidFill>
                <a:latin typeface="Times New Roman" panose="02020603050405020304" pitchFamily="18" charset="0"/>
                <a:cs typeface="Arial"/>
              </a:rPr>
              <a:t>O(n</a:t>
            </a:r>
            <a:r>
              <a:rPr kumimoji="1" lang="en-US" altLang="zh-CN" sz="2800" b="1" baseline="30000" dirty="0">
                <a:solidFill>
                  <a:srgbClr val="000000"/>
                </a:solidFill>
                <a:latin typeface="Times New Roman" panose="02020603050405020304" pitchFamily="18" charset="0"/>
                <a:cs typeface="Arial"/>
              </a:rPr>
              <a:t>2</a:t>
            </a:r>
            <a:r>
              <a:rPr kumimoji="1" lang="en-US" altLang="zh-CN" sz="2800" b="1" dirty="0">
                <a:solidFill>
                  <a:srgbClr val="000000"/>
                </a:solidFill>
                <a:latin typeface="Times New Roman" panose="02020603050405020304" pitchFamily="18" charset="0"/>
                <a:cs typeface="Arial"/>
              </a:rPr>
              <a:t>)</a:t>
            </a:r>
            <a:r>
              <a:rPr kumimoji="1" lang="zh-CN" altLang="en-US" sz="2800" b="1" dirty="0">
                <a:solidFill>
                  <a:srgbClr val="000000"/>
                </a:solidFill>
                <a:latin typeface="Times New Roman" panose="02020603050405020304" pitchFamily="18" charset="0"/>
                <a:cs typeface="Arial"/>
              </a:rPr>
              <a:t>。</a:t>
            </a:r>
            <a:r>
              <a:rPr lang="zh-CN" altLang="en-US" sz="2133" dirty="0">
                <a:latin typeface="微软雅黑" panose="020B0503020204020204" pitchFamily="34" charset="-122"/>
                <a:ea typeface="微软雅黑" panose="020B0503020204020204" pitchFamily="34" charset="-122"/>
              </a:rPr>
              <a:t>一维情况下排序后求解，效率可提高到</a:t>
            </a:r>
            <a:r>
              <a:rPr kumimoji="1" lang="en-US" altLang="zh-CN" sz="2800" b="1" dirty="0">
                <a:solidFill>
                  <a:srgbClr val="000000"/>
                </a:solidFill>
                <a:latin typeface="Times New Roman" panose="02020603050405020304" pitchFamily="18" charset="0"/>
                <a:cs typeface="Arial"/>
              </a:rPr>
              <a:t>O(</a:t>
            </a:r>
            <a:r>
              <a:rPr kumimoji="1" lang="en-US" altLang="zh-CN" sz="2800" b="1" dirty="0" err="1">
                <a:solidFill>
                  <a:srgbClr val="000000"/>
                </a:solidFill>
                <a:latin typeface="Times New Roman" panose="02020603050405020304" pitchFamily="18" charset="0"/>
                <a:cs typeface="Arial"/>
              </a:rPr>
              <a:t>nlogn</a:t>
            </a:r>
            <a:r>
              <a:rPr kumimoji="1" lang="en-US" altLang="zh-CN" sz="2800" b="1" dirty="0">
                <a:solidFill>
                  <a:srgbClr val="000000"/>
                </a:solidFill>
                <a:latin typeface="Times New Roman" panose="02020603050405020304" pitchFamily="18" charset="0"/>
                <a:cs typeface="Arial"/>
              </a:rPr>
              <a:t>)</a:t>
            </a:r>
            <a:r>
              <a:rPr kumimoji="1" lang="zh-CN" altLang="en-US" sz="2800" b="1" dirty="0">
                <a:solidFill>
                  <a:srgbClr val="000000"/>
                </a:solidFill>
                <a:latin typeface="Times New Roman" panose="02020603050405020304" pitchFamily="18" charset="0"/>
                <a:cs typeface="Arial"/>
              </a:rPr>
              <a:t>。</a:t>
            </a:r>
            <a:r>
              <a:rPr lang="zh-CN" altLang="en-US" sz="2133" dirty="0">
                <a:latin typeface="微软雅黑" panose="020B0503020204020204" pitchFamily="34" charset="-122"/>
                <a:ea typeface="微软雅黑" panose="020B0503020204020204" pitchFamily="34" charset="-122"/>
              </a:rPr>
              <a:t>二维情况？</a:t>
            </a:r>
          </a:p>
        </p:txBody>
      </p:sp>
      <p:sp>
        <p:nvSpPr>
          <p:cNvPr id="2743" name="Text Box 2">
            <a:extLst>
              <a:ext uri="{FF2B5EF4-FFF2-40B4-BE49-F238E27FC236}">
                <a16:creationId xmlns:a16="http://schemas.microsoft.com/office/drawing/2014/main" id="{90F98154-3298-44BF-AE19-0B2AD0522DEC}"/>
              </a:ext>
            </a:extLst>
          </p:cNvPr>
          <p:cNvSpPr>
            <a:spLocks noChangeArrowheads="1"/>
          </p:cNvSpPr>
          <p:nvPr/>
        </p:nvSpPr>
        <p:spPr bwMode="auto">
          <a:xfrm>
            <a:off x="593741" y="4678263"/>
            <a:ext cx="10741844"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r>
              <a:rPr kumimoji="1" lang="en-US" altLang="zh-CN" sz="2800" b="1" dirty="0">
                <a:solidFill>
                  <a:srgbClr val="000000"/>
                </a:solidFill>
                <a:latin typeface="Times New Roman" panose="02020603050405020304" pitchFamily="18" charset="0"/>
                <a:cs typeface="Arial"/>
              </a:rPr>
              <a:t>        </a:t>
            </a:r>
            <a:r>
              <a:rPr lang="zh-CN" altLang="en-US" sz="2133" dirty="0">
                <a:latin typeface="微软雅黑" panose="020B0503020204020204" pitchFamily="34" charset="-122"/>
                <a:ea typeface="微软雅黑" panose="020B0503020204020204" pitchFamily="34" charset="-122"/>
              </a:rPr>
              <a:t>最接近点对可能多于一对。为简单起见，只找出其中的一对作为问题的解。</a:t>
            </a:r>
          </a:p>
        </p:txBody>
      </p:sp>
      <p:sp>
        <p:nvSpPr>
          <p:cNvPr id="7" name="TextBox 36">
            <a:extLst>
              <a:ext uri="{FF2B5EF4-FFF2-40B4-BE49-F238E27FC236}">
                <a16:creationId xmlns:a16="http://schemas.microsoft.com/office/drawing/2014/main" id="{80F9B9B0-2A01-4FB1-915C-1514B42CAF2E}"/>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分治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lang="zh-CN" altLang="en-US" sz="3200" b="1" dirty="0">
                <a:solidFill>
                  <a:srgbClr val="C00000"/>
                </a:solidFill>
                <a:latin typeface="微软雅黑" panose="020B0503020204020204" pitchFamily="34" charset="-122"/>
                <a:ea typeface="微软雅黑" panose="020B0503020204020204" pitchFamily="34" charset="-122"/>
              </a:rPr>
              <a:t>最近点对</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7693422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additive="base">
                                        <p:cTn id="6" dur="1" fill="hold">
                                          <p:stCondLst>
                                            <p:cond delay="0"/>
                                          </p:stCondLst>
                                        </p:cTn>
                                        <p:tgtEl>
                                          <p:spTgt spid="2741"/>
                                        </p:tgtEl>
                                        <p:attrNameLst>
                                          <p:attrName>style.visibility</p:attrName>
                                        </p:attrNameLst>
                                      </p:cBhvr>
                                      <p:to>
                                        <p:strVal val="visible"/>
                                      </p:to>
                                    </p:set>
                                    <p:animEffect transition="in" filter="diamond(in)">
                                      <p:cBhvr additive="base">
                                        <p:cTn id="7" dur="2000"/>
                                        <p:tgtEl>
                                          <p:spTgt spid="2741"/>
                                        </p:tgtEl>
                                      </p:cBhvr>
                                    </p:animEffect>
                                  </p:childTnLst>
                                </p:cTn>
                              </p:par>
                            </p:childTnLst>
                          </p:cTn>
                        </p:par>
                      </p:childTnLst>
                    </p:cTn>
                  </p:par>
                  <p:par>
                    <p:cTn id="8" fill="hold" nodeType="clickPar">
                      <p:stCondLst>
                        <p:cond delay="indefinite"/>
                      </p:stCondLst>
                      <p:childTnLst>
                        <p:par>
                          <p:cTn id="9" fill="hold" nodeType="withGroup">
                            <p:stCondLst>
                              <p:cond delay="indefinite"/>
                            </p:stCondLst>
                          </p:cTn>
                        </p:par>
                        <p:par>
                          <p:cTn id="10" fill="hold" nodeType="afterGroup">
                            <p:stCondLst>
                              <p:cond delay="0"/>
                            </p:stCondLst>
                            <p:childTnLst>
                              <p:par>
                                <p:cTn id="11" presetID="42" presetClass="entr" presetSubtype="0" fill="hold" grpId="0" nodeType="clickEffect">
                                  <p:stCondLst>
                                    <p:cond delay="0"/>
                                  </p:stCondLst>
                                  <p:childTnLst>
                                    <p:set>
                                      <p:cBhvr additive="base">
                                        <p:cTn id="12" dur="1" fill="hold">
                                          <p:stCondLst>
                                            <p:cond delay="0"/>
                                          </p:stCondLst>
                                        </p:cTn>
                                        <p:tgtEl>
                                          <p:spTgt spid="2742"/>
                                        </p:tgtEl>
                                        <p:attrNameLst>
                                          <p:attrName>style.visibility</p:attrName>
                                        </p:attrNameLst>
                                      </p:cBhvr>
                                      <p:to>
                                        <p:strVal val="visible"/>
                                      </p:to>
                                    </p:set>
                                    <p:animEffect transition="in" filter="fade">
                                      <p:cBhvr additive="base">
                                        <p:cTn id="13" dur="1000"/>
                                        <p:tgtEl>
                                          <p:spTgt spid="2742"/>
                                        </p:tgtEl>
                                      </p:cBhvr>
                                    </p:animEffect>
                                    <p:anim calcmode="lin" valueType="num">
                                      <p:cBhvr additive="base">
                                        <p:cTn id="14" dur="1000" fill="hold"/>
                                        <p:tgtEl>
                                          <p:spTgt spid="2742"/>
                                        </p:tgtEl>
                                        <p:attrNameLst>
                                          <p:attrName>ppt_x</p:attrName>
                                        </p:attrNameLst>
                                      </p:cBhvr>
                                      <p:tavLst>
                                        <p:tav tm="0">
                                          <p:val>
                                            <p:strVal val="#ppt_x"/>
                                          </p:val>
                                        </p:tav>
                                        <p:tav tm="100000">
                                          <p:val>
                                            <p:strVal val="#ppt_x"/>
                                          </p:val>
                                        </p:tav>
                                      </p:tavLst>
                                    </p:anim>
                                    <p:anim calcmode="lin" valueType="num">
                                      <p:cBhvr additive="base">
                                        <p:cTn id="15" dur="1000" fill="hold"/>
                                        <p:tgtEl>
                                          <p:spTgt spid="2742"/>
                                        </p:tgtEl>
                                        <p:attrNameLst>
                                          <p:attrName>ppt_y</p:attrName>
                                        </p:attrNameLst>
                                      </p:cBhvr>
                                      <p:tavLst>
                                        <p:tav tm="0">
                                          <p:val>
                                            <p:strVal val="#ppt_y+.1"/>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indefinite"/>
                            </p:stCondLst>
                          </p:cTn>
                        </p:par>
                        <p:par>
                          <p:cTn id="18" fill="hold" nodeType="afterGroup">
                            <p:stCondLst>
                              <p:cond delay="0"/>
                            </p:stCondLst>
                            <p:childTnLst>
                              <p:par>
                                <p:cTn id="19" presetID="42" presetClass="entr" presetSubtype="0" fill="hold" grpId="0" nodeType="clickEffect">
                                  <p:stCondLst>
                                    <p:cond delay="0"/>
                                  </p:stCondLst>
                                  <p:childTnLst>
                                    <p:set>
                                      <p:cBhvr additive="base">
                                        <p:cTn id="20" dur="1" fill="hold">
                                          <p:stCondLst>
                                            <p:cond delay="0"/>
                                          </p:stCondLst>
                                        </p:cTn>
                                        <p:tgtEl>
                                          <p:spTgt spid="2743"/>
                                        </p:tgtEl>
                                        <p:attrNameLst>
                                          <p:attrName>style.visibility</p:attrName>
                                        </p:attrNameLst>
                                      </p:cBhvr>
                                      <p:to>
                                        <p:strVal val="visible"/>
                                      </p:to>
                                    </p:set>
                                    <p:animEffect transition="in" filter="fade">
                                      <p:cBhvr additive="base">
                                        <p:cTn id="21" dur="1000"/>
                                        <p:tgtEl>
                                          <p:spTgt spid="2743"/>
                                        </p:tgtEl>
                                      </p:cBhvr>
                                    </p:animEffect>
                                    <p:anim calcmode="lin" valueType="num">
                                      <p:cBhvr additive="base">
                                        <p:cTn id="22" dur="1000" fill="hold"/>
                                        <p:tgtEl>
                                          <p:spTgt spid="2743"/>
                                        </p:tgtEl>
                                        <p:attrNameLst>
                                          <p:attrName>ppt_x</p:attrName>
                                        </p:attrNameLst>
                                      </p:cBhvr>
                                      <p:tavLst>
                                        <p:tav tm="0">
                                          <p:val>
                                            <p:strVal val="#ppt_x"/>
                                          </p:val>
                                        </p:tav>
                                        <p:tav tm="100000">
                                          <p:val>
                                            <p:strVal val="#ppt_x"/>
                                          </p:val>
                                        </p:tav>
                                      </p:tavLst>
                                    </p:anim>
                                    <p:anim calcmode="lin" valueType="num">
                                      <p:cBhvr additive="base">
                                        <p:cTn id="23" dur="1000" fill="hold"/>
                                        <p:tgtEl>
                                          <p:spTgt spid="27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1" grpId="0" animBg="1"/>
      <p:bldP spid="2742" grpId="0" animBg="1"/>
      <p:bldP spid="274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9" name="Rectangle 3">
            <a:extLst>
              <a:ext uri="{FF2B5EF4-FFF2-40B4-BE49-F238E27FC236}">
                <a16:creationId xmlns:a16="http://schemas.microsoft.com/office/drawing/2014/main" id="{ED77856E-A461-4D37-9B0A-4599B484D3EB}"/>
              </a:ext>
            </a:extLst>
          </p:cNvPr>
          <p:cNvSpPr>
            <a:spLocks noGrp="1" noChangeArrowheads="1"/>
          </p:cNvSpPr>
          <p:nvPr>
            <p:ph type="body" idx="4294967295"/>
          </p:nvPr>
        </p:nvSpPr>
        <p:spPr>
          <a:xfrm>
            <a:off x="1116960" y="1403206"/>
            <a:ext cx="10611149" cy="1500716"/>
          </a:xfrm>
          <a:prstGeom prst="rect">
            <a:avLst/>
          </a:prstGeom>
          <a:ln/>
        </p:spPr>
        <p:txBody>
          <a:bodyPr/>
          <a:lstStyle/>
          <a:p>
            <a:pPr marL="0" indent="0">
              <a:lnSpc>
                <a:spcPct val="150000"/>
              </a:lnSpc>
              <a:buNone/>
            </a:pPr>
            <a:r>
              <a:rPr lang="zh-CN" altLang="en-US" b="1" dirty="0">
                <a:solidFill>
                  <a:srgbClr val="3366CC"/>
                </a:solidFill>
              </a:rPr>
              <a:t>划分： </a:t>
            </a:r>
            <a:r>
              <a:rPr lang="zh-CN" altLang="en-US" b="1" dirty="0"/>
              <a:t>将集合</a:t>
            </a:r>
            <a:r>
              <a:rPr lang="en-US" altLang="zh-CN" b="1" i="1" dirty="0"/>
              <a:t>S</a:t>
            </a:r>
            <a:r>
              <a:rPr lang="zh-CN" altLang="en-US" b="1" dirty="0"/>
              <a:t>分成两个子集 </a:t>
            </a:r>
            <a:r>
              <a:rPr lang="en-US" altLang="zh-CN" b="1" i="1" dirty="0"/>
              <a:t>S</a:t>
            </a:r>
            <a:r>
              <a:rPr lang="en-US" altLang="zh-CN" b="1" dirty="0"/>
              <a:t>1</a:t>
            </a:r>
            <a:r>
              <a:rPr lang="zh-CN" altLang="en-US" b="1" dirty="0"/>
              <a:t>和 </a:t>
            </a:r>
            <a:r>
              <a:rPr lang="en-US" altLang="zh-CN" b="1" i="1" dirty="0"/>
              <a:t>S</a:t>
            </a:r>
            <a:r>
              <a:rPr lang="en-US" altLang="zh-CN" b="1" dirty="0"/>
              <a:t>2</a:t>
            </a:r>
            <a:r>
              <a:rPr lang="zh-CN" altLang="en-US" b="1" dirty="0"/>
              <a:t>，每个子集中有</a:t>
            </a:r>
            <a:r>
              <a:rPr lang="en-US" altLang="zh-CN" b="1" i="1" dirty="0"/>
              <a:t>n</a:t>
            </a:r>
            <a:r>
              <a:rPr lang="en-US" altLang="zh-CN" b="1" dirty="0"/>
              <a:t>/2</a:t>
            </a:r>
            <a:r>
              <a:rPr lang="zh-CN" altLang="en-US" b="1" dirty="0"/>
              <a:t>个点。</a:t>
            </a:r>
          </a:p>
          <a:p>
            <a:pPr marL="0" indent="0">
              <a:lnSpc>
                <a:spcPct val="120000"/>
              </a:lnSpc>
              <a:buNone/>
            </a:pPr>
            <a:r>
              <a:rPr lang="zh-CN" altLang="en-US" b="1" dirty="0"/>
              <a:t>        </a:t>
            </a:r>
          </a:p>
        </p:txBody>
      </p:sp>
      <p:sp>
        <p:nvSpPr>
          <p:cNvPr id="2750" name="Rectangle 3">
            <a:extLst>
              <a:ext uri="{FF2B5EF4-FFF2-40B4-BE49-F238E27FC236}">
                <a16:creationId xmlns:a16="http://schemas.microsoft.com/office/drawing/2014/main" id="{CE417752-96A2-4CA5-9703-18625DE53DF8}"/>
              </a:ext>
            </a:extLst>
          </p:cNvPr>
          <p:cNvSpPr>
            <a:spLocks noChangeArrowheads="1"/>
          </p:cNvSpPr>
          <p:nvPr/>
        </p:nvSpPr>
        <p:spPr bwMode="auto">
          <a:xfrm>
            <a:off x="1036807" y="2470436"/>
            <a:ext cx="10512883" cy="3357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lnSpc>
                <a:spcPct val="150000"/>
              </a:lnSpc>
              <a:spcBef>
                <a:spcPct val="20000"/>
              </a:spcBef>
              <a:spcAft>
                <a:spcPct val="0"/>
              </a:spcAft>
              <a:buClr>
                <a:srgbClr val="CC9900"/>
              </a:buClr>
              <a:buSzPct val="65000"/>
            </a:pPr>
            <a:r>
              <a:rPr lang="zh-CN" altLang="en-US" sz="2800" b="1" dirty="0">
                <a:solidFill>
                  <a:srgbClr val="000000"/>
                </a:solidFill>
                <a:cs typeface="Arial"/>
              </a:rPr>
              <a:t>       在每个子集中递归地求其最接近的点对，在求出每个子集的最接近点对后，在合并步分两种情况，</a:t>
            </a:r>
            <a:r>
              <a:rPr lang="en-US" altLang="zh-CN" sz="2800" b="1" dirty="0">
                <a:solidFill>
                  <a:srgbClr val="000000"/>
                </a:solidFill>
                <a:cs typeface="Arial"/>
              </a:rPr>
              <a:t>1 </a:t>
            </a:r>
            <a:r>
              <a:rPr lang="zh-CN" altLang="en-US" sz="2800" b="1" dirty="0">
                <a:solidFill>
                  <a:srgbClr val="000000"/>
                </a:solidFill>
                <a:cs typeface="Arial"/>
              </a:rPr>
              <a:t>集合 </a:t>
            </a:r>
            <a:r>
              <a:rPr lang="en-US" altLang="zh-CN" sz="2800" b="1" i="1" dirty="0">
                <a:solidFill>
                  <a:srgbClr val="000000"/>
                </a:solidFill>
                <a:cs typeface="Arial"/>
              </a:rPr>
              <a:t>S </a:t>
            </a:r>
            <a:r>
              <a:rPr lang="zh-CN" altLang="en-US" sz="2800" b="1" dirty="0">
                <a:solidFill>
                  <a:srgbClr val="000000"/>
                </a:solidFill>
                <a:cs typeface="Arial"/>
              </a:rPr>
              <a:t>中最接近的两个点都在子集 </a:t>
            </a:r>
            <a:r>
              <a:rPr lang="en-US" altLang="zh-CN" sz="2800" b="1" i="1" dirty="0">
                <a:solidFill>
                  <a:srgbClr val="000000"/>
                </a:solidFill>
                <a:cs typeface="Arial"/>
              </a:rPr>
              <a:t>S</a:t>
            </a:r>
            <a:r>
              <a:rPr lang="en-US" altLang="zh-CN" sz="2800" b="1" dirty="0">
                <a:solidFill>
                  <a:srgbClr val="000000"/>
                </a:solidFill>
                <a:cs typeface="Arial"/>
              </a:rPr>
              <a:t>1</a:t>
            </a:r>
            <a:r>
              <a:rPr lang="zh-CN" altLang="en-US" sz="2800" b="1" dirty="0">
                <a:solidFill>
                  <a:srgbClr val="000000"/>
                </a:solidFill>
                <a:cs typeface="Arial"/>
              </a:rPr>
              <a:t>或 </a:t>
            </a:r>
            <a:r>
              <a:rPr lang="en-US" altLang="zh-CN" sz="2800" b="1" i="1" dirty="0">
                <a:solidFill>
                  <a:srgbClr val="000000"/>
                </a:solidFill>
                <a:cs typeface="Arial"/>
              </a:rPr>
              <a:t>S</a:t>
            </a:r>
            <a:r>
              <a:rPr lang="en-US" altLang="zh-CN" sz="2800" b="1" dirty="0">
                <a:solidFill>
                  <a:srgbClr val="000000"/>
                </a:solidFill>
                <a:cs typeface="Arial"/>
              </a:rPr>
              <a:t>2</a:t>
            </a:r>
            <a:r>
              <a:rPr lang="zh-CN" altLang="en-US" sz="2800" b="1" dirty="0">
                <a:solidFill>
                  <a:srgbClr val="000000"/>
                </a:solidFill>
                <a:cs typeface="Arial"/>
              </a:rPr>
              <a:t>中，则问题很容易解决，</a:t>
            </a:r>
            <a:r>
              <a:rPr lang="en-US" altLang="zh-CN" sz="2800" b="1" dirty="0">
                <a:solidFill>
                  <a:srgbClr val="000000"/>
                </a:solidFill>
                <a:cs typeface="Arial"/>
              </a:rPr>
              <a:t>2 </a:t>
            </a:r>
            <a:r>
              <a:rPr lang="zh-CN" altLang="en-US" sz="2800" b="1" dirty="0">
                <a:solidFill>
                  <a:srgbClr val="000000"/>
                </a:solidFill>
                <a:cs typeface="Arial"/>
              </a:rPr>
              <a:t>这两个点分别在 </a:t>
            </a:r>
            <a:r>
              <a:rPr lang="en-US" altLang="zh-CN" sz="2800" b="1" i="1" dirty="0">
                <a:solidFill>
                  <a:srgbClr val="000000"/>
                </a:solidFill>
                <a:cs typeface="Arial"/>
              </a:rPr>
              <a:t>S</a:t>
            </a:r>
            <a:r>
              <a:rPr lang="en-US" altLang="zh-CN" sz="2800" b="1" dirty="0">
                <a:solidFill>
                  <a:srgbClr val="000000"/>
                </a:solidFill>
                <a:cs typeface="Arial"/>
              </a:rPr>
              <a:t>1</a:t>
            </a:r>
            <a:r>
              <a:rPr lang="zh-CN" altLang="en-US" sz="2800" b="1" dirty="0">
                <a:solidFill>
                  <a:srgbClr val="000000"/>
                </a:solidFill>
                <a:cs typeface="Arial"/>
              </a:rPr>
              <a:t>和 </a:t>
            </a:r>
            <a:r>
              <a:rPr lang="en-US" altLang="zh-CN" sz="2800" b="1" i="1" dirty="0">
                <a:solidFill>
                  <a:srgbClr val="000000"/>
                </a:solidFill>
                <a:cs typeface="Arial"/>
              </a:rPr>
              <a:t>S</a:t>
            </a:r>
            <a:r>
              <a:rPr lang="en-US" altLang="zh-CN" sz="2800" b="1" dirty="0">
                <a:solidFill>
                  <a:srgbClr val="000000"/>
                </a:solidFill>
                <a:cs typeface="Arial"/>
              </a:rPr>
              <a:t>2</a:t>
            </a:r>
            <a:r>
              <a:rPr lang="zh-CN" altLang="en-US" sz="2800" b="1" dirty="0">
                <a:solidFill>
                  <a:srgbClr val="000000"/>
                </a:solidFill>
                <a:cs typeface="Arial"/>
              </a:rPr>
              <a:t>中，问题比较复杂。</a:t>
            </a:r>
          </a:p>
        </p:txBody>
      </p:sp>
      <p:sp>
        <p:nvSpPr>
          <p:cNvPr id="4" name="Text 0">
            <a:extLst>
              <a:ext uri="{FF2B5EF4-FFF2-40B4-BE49-F238E27FC236}">
                <a16:creationId xmlns:a16="http://schemas.microsoft.com/office/drawing/2014/main" id="{3A8409F8-8A16-46B5-9A94-A9ED61486E32}"/>
              </a:ext>
            </a:extLst>
          </p:cNvPr>
          <p:cNvSpPr/>
          <p:nvPr/>
        </p:nvSpPr>
        <p:spPr>
          <a:xfrm>
            <a:off x="1016000" y="285749"/>
            <a:ext cx="8421371" cy="736600"/>
          </a:xfrm>
          <a:prstGeom prst="rect">
            <a:avLst/>
          </a:prstGeom>
          <a:noFill/>
          <a:ln/>
        </p:spPr>
        <p:txBody>
          <a:bodyPr wrap="square" rtlCol="0" anchor="ctr"/>
          <a:lstStyle/>
          <a:p>
            <a:r>
              <a:rPr lang="zh-CN" altLang="en-US" sz="3200" b="1" dirty="0">
                <a:solidFill>
                  <a:srgbClr val="FFFFFF"/>
                </a:solidFill>
                <a:latin typeface="Noto Sans SC" pitchFamily="34" charset="0"/>
                <a:ea typeface="Noto Sans SC" pitchFamily="34" charset="-122"/>
                <a:cs typeface="Noto Sans SC" pitchFamily="34" charset="-120"/>
              </a:rPr>
              <a:t>最近点对</a:t>
            </a:r>
            <a:endParaRPr lang="en-US" sz="3200" dirty="0"/>
          </a:p>
        </p:txBody>
      </p:sp>
      <p:sp>
        <p:nvSpPr>
          <p:cNvPr id="5" name="TextBox 36">
            <a:extLst>
              <a:ext uri="{FF2B5EF4-FFF2-40B4-BE49-F238E27FC236}">
                <a16:creationId xmlns:a16="http://schemas.microsoft.com/office/drawing/2014/main" id="{7F8D9DBA-CDD4-4537-AB31-72A83CF7BFD3}"/>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分治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lang="zh-CN" altLang="en-US" sz="3200" b="1" dirty="0">
                <a:solidFill>
                  <a:srgbClr val="C00000"/>
                </a:solidFill>
                <a:latin typeface="微软雅黑" panose="020B0503020204020204" pitchFamily="34" charset="-122"/>
                <a:ea typeface="微软雅黑" panose="020B0503020204020204" pitchFamily="34" charset="-122"/>
              </a:rPr>
              <a:t>最近点对</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3717040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6" name="Text Box 2">
            <a:extLst>
              <a:ext uri="{FF2B5EF4-FFF2-40B4-BE49-F238E27FC236}">
                <a16:creationId xmlns:a16="http://schemas.microsoft.com/office/drawing/2014/main" id="{E9BD80F8-003C-444C-ADF5-14EF9A94B6F7}"/>
              </a:ext>
            </a:extLst>
          </p:cNvPr>
          <p:cNvSpPr>
            <a:spLocks noChangeArrowheads="1"/>
          </p:cNvSpPr>
          <p:nvPr/>
        </p:nvSpPr>
        <p:spPr bwMode="auto">
          <a:xfrm>
            <a:off x="1679190" y="1879910"/>
            <a:ext cx="8064500" cy="6267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lnSpc>
                <a:spcPct val="120000"/>
              </a:lnSpc>
              <a:spcBef>
                <a:spcPct val="0"/>
              </a:spcBef>
              <a:spcAft>
                <a:spcPct val="0"/>
              </a:spcAft>
              <a:buSzPct val="100000"/>
            </a:pPr>
            <a:r>
              <a:rPr kumimoji="1" lang="zh-CN" altLang="en-US" sz="3200" b="1" dirty="0">
                <a:solidFill>
                  <a:srgbClr val="3366CC"/>
                </a:solidFill>
                <a:latin typeface="Times New Roman" panose="02020603050405020304" pitchFamily="18" charset="0"/>
                <a:cs typeface="Arial"/>
              </a:rPr>
              <a:t>求解子问题：</a:t>
            </a:r>
            <a:r>
              <a:rPr kumimoji="1" lang="zh-CN" altLang="en-US" sz="3200" b="1" dirty="0">
                <a:solidFill>
                  <a:srgbClr val="000000"/>
                </a:solidFill>
                <a:latin typeface="Times New Roman" panose="02020603050405020304" pitchFamily="18" charset="0"/>
                <a:cs typeface="Arial"/>
              </a:rPr>
              <a:t>先考虑</a:t>
            </a:r>
            <a:r>
              <a:rPr kumimoji="1" lang="zh-CN" altLang="en-US" sz="3200" b="1" dirty="0">
                <a:solidFill>
                  <a:srgbClr val="333399"/>
                </a:solidFill>
                <a:latin typeface="Times New Roman" panose="02020603050405020304" pitchFamily="18" charset="0"/>
                <a:cs typeface="Arial"/>
              </a:rPr>
              <a:t>一维</a:t>
            </a:r>
            <a:r>
              <a:rPr kumimoji="1" lang="zh-CN" altLang="en-US" sz="3200" b="1" dirty="0">
                <a:solidFill>
                  <a:srgbClr val="000000"/>
                </a:solidFill>
                <a:latin typeface="Times New Roman" panose="02020603050405020304" pitchFamily="18" charset="0"/>
                <a:cs typeface="Arial"/>
              </a:rPr>
              <a:t>的情形。        </a:t>
            </a:r>
          </a:p>
        </p:txBody>
      </p:sp>
      <p:sp>
        <p:nvSpPr>
          <p:cNvPr id="2757" name="Text Box 2">
            <a:extLst>
              <a:ext uri="{FF2B5EF4-FFF2-40B4-BE49-F238E27FC236}">
                <a16:creationId xmlns:a16="http://schemas.microsoft.com/office/drawing/2014/main" id="{ABE72CD5-F11C-4D7A-8403-CF490DFEB164}"/>
              </a:ext>
            </a:extLst>
          </p:cNvPr>
          <p:cNvSpPr>
            <a:spLocks noChangeArrowheads="1"/>
          </p:cNvSpPr>
          <p:nvPr/>
        </p:nvSpPr>
        <p:spPr bwMode="auto">
          <a:xfrm>
            <a:off x="1762522" y="2933838"/>
            <a:ext cx="8064500" cy="2214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lnSpc>
                <a:spcPct val="150000"/>
              </a:lnSpc>
              <a:spcBef>
                <a:spcPct val="0"/>
              </a:spcBef>
              <a:spcAft>
                <a:spcPct val="0"/>
              </a:spcAft>
              <a:buSzPct val="100000"/>
            </a:pPr>
            <a:r>
              <a:rPr kumimoji="1" lang="en-US" altLang="zh-CN" sz="3200" b="1" i="1" dirty="0">
                <a:solidFill>
                  <a:srgbClr val="000000"/>
                </a:solidFill>
                <a:latin typeface="Times New Roman" panose="02020603050405020304" pitchFamily="18" charset="0"/>
                <a:cs typeface="Arial"/>
              </a:rPr>
              <a:t>     S</a:t>
            </a:r>
            <a:r>
              <a:rPr kumimoji="1" lang="zh-CN" altLang="en-US" sz="3200" b="1" dirty="0">
                <a:solidFill>
                  <a:srgbClr val="000000"/>
                </a:solidFill>
                <a:latin typeface="Times New Roman" panose="02020603050405020304" pitchFamily="18" charset="0"/>
                <a:cs typeface="Arial"/>
              </a:rPr>
              <a:t>中的点退化为</a:t>
            </a:r>
            <a:r>
              <a:rPr kumimoji="1" lang="en-US" altLang="zh-CN" sz="3200" b="1" i="1" dirty="0">
                <a:solidFill>
                  <a:srgbClr val="000000"/>
                </a:solidFill>
                <a:latin typeface="Times New Roman" panose="02020603050405020304" pitchFamily="18" charset="0"/>
                <a:cs typeface="Arial"/>
              </a:rPr>
              <a:t>x</a:t>
            </a:r>
            <a:r>
              <a:rPr kumimoji="1" lang="zh-CN" altLang="en-US" sz="3200" b="1" dirty="0">
                <a:solidFill>
                  <a:srgbClr val="000000"/>
                </a:solidFill>
                <a:latin typeface="Times New Roman" panose="02020603050405020304" pitchFamily="18" charset="0"/>
                <a:cs typeface="Arial"/>
              </a:rPr>
              <a:t>轴上的</a:t>
            </a:r>
            <a:r>
              <a:rPr kumimoji="1" lang="en-US" altLang="zh-CN" sz="3200" b="1" i="1" dirty="0">
                <a:solidFill>
                  <a:srgbClr val="000000"/>
                </a:solidFill>
                <a:latin typeface="Times New Roman" panose="02020603050405020304" pitchFamily="18" charset="0"/>
                <a:cs typeface="Arial"/>
              </a:rPr>
              <a:t>n</a:t>
            </a:r>
            <a:r>
              <a:rPr kumimoji="1" lang="zh-CN" altLang="en-US" sz="3200" b="1" dirty="0">
                <a:solidFill>
                  <a:srgbClr val="000000"/>
                </a:solidFill>
                <a:latin typeface="Times New Roman" panose="02020603050405020304" pitchFamily="18" charset="0"/>
                <a:cs typeface="Arial"/>
              </a:rPr>
              <a:t>个点</a:t>
            </a:r>
            <a:r>
              <a:rPr kumimoji="1" lang="en-US" altLang="zh-CN" sz="3200" b="1" i="1" dirty="0">
                <a:solidFill>
                  <a:srgbClr val="000000"/>
                </a:solidFill>
                <a:latin typeface="Times New Roman" panose="02020603050405020304" pitchFamily="18" charset="0"/>
                <a:cs typeface="Arial"/>
              </a:rPr>
              <a:t>x</a:t>
            </a:r>
            <a:r>
              <a:rPr kumimoji="1" lang="en-US" altLang="zh-CN" sz="3200" b="1" baseline="-25000" dirty="0">
                <a:solidFill>
                  <a:srgbClr val="000000"/>
                </a:solidFill>
                <a:latin typeface="Times New Roman" panose="02020603050405020304" pitchFamily="18" charset="0"/>
                <a:cs typeface="Arial"/>
              </a:rPr>
              <a:t>1</a:t>
            </a:r>
            <a:r>
              <a:rPr kumimoji="1" lang="en-US" altLang="zh-CN" sz="3200" b="1" dirty="0">
                <a:solidFill>
                  <a:srgbClr val="000000"/>
                </a:solidFill>
                <a:latin typeface="Times New Roman" panose="02020603050405020304" pitchFamily="18" charset="0"/>
                <a:cs typeface="Arial"/>
              </a:rPr>
              <a:t>, </a:t>
            </a:r>
            <a:r>
              <a:rPr kumimoji="1" lang="en-US" altLang="zh-CN" sz="3200" b="1" i="1" dirty="0">
                <a:solidFill>
                  <a:srgbClr val="000000"/>
                </a:solidFill>
                <a:latin typeface="Times New Roman" panose="02020603050405020304" pitchFamily="18" charset="0"/>
                <a:cs typeface="Arial"/>
              </a:rPr>
              <a:t>x</a:t>
            </a:r>
            <a:r>
              <a:rPr kumimoji="1" lang="en-US" altLang="zh-CN" sz="3200" b="1" baseline="-25000" dirty="0">
                <a:solidFill>
                  <a:srgbClr val="000000"/>
                </a:solidFill>
                <a:latin typeface="Times New Roman" panose="02020603050405020304" pitchFamily="18" charset="0"/>
                <a:cs typeface="Arial"/>
              </a:rPr>
              <a:t>2</a:t>
            </a:r>
            <a:r>
              <a:rPr kumimoji="1" lang="en-US" altLang="zh-CN" sz="3200" b="1" dirty="0">
                <a:solidFill>
                  <a:srgbClr val="000000"/>
                </a:solidFill>
                <a:latin typeface="Times New Roman" panose="02020603050405020304" pitchFamily="18" charset="0"/>
                <a:cs typeface="Arial"/>
              </a:rPr>
              <a:t>, …, </a:t>
            </a:r>
            <a:r>
              <a:rPr kumimoji="1" lang="en-US" altLang="zh-CN" sz="3200" b="1" i="1" dirty="0" err="1">
                <a:solidFill>
                  <a:srgbClr val="000000"/>
                </a:solidFill>
                <a:latin typeface="Times New Roman" panose="02020603050405020304" pitchFamily="18" charset="0"/>
                <a:cs typeface="Arial"/>
              </a:rPr>
              <a:t>x</a:t>
            </a:r>
            <a:r>
              <a:rPr kumimoji="1" lang="en-US" altLang="zh-CN" sz="3200" b="1" i="1" baseline="-25000" dirty="0" err="1">
                <a:solidFill>
                  <a:srgbClr val="000000"/>
                </a:solidFill>
                <a:latin typeface="Times New Roman" panose="02020603050405020304" pitchFamily="18" charset="0"/>
                <a:cs typeface="Arial"/>
              </a:rPr>
              <a:t>n</a:t>
            </a:r>
            <a:r>
              <a:rPr kumimoji="1" lang="zh-CN" altLang="en-US" sz="3200" b="1" dirty="0">
                <a:solidFill>
                  <a:srgbClr val="000000"/>
                </a:solidFill>
                <a:latin typeface="Times New Roman" panose="02020603050405020304" pitchFamily="18" charset="0"/>
                <a:cs typeface="Arial"/>
              </a:rPr>
              <a:t>。用</a:t>
            </a:r>
            <a:r>
              <a:rPr kumimoji="1" lang="en-US" altLang="zh-CN" sz="3200" b="1" i="1" dirty="0">
                <a:solidFill>
                  <a:srgbClr val="000000"/>
                </a:solidFill>
                <a:latin typeface="Times New Roman" panose="02020603050405020304" pitchFamily="18" charset="0"/>
                <a:cs typeface="Arial"/>
              </a:rPr>
              <a:t>x</a:t>
            </a:r>
            <a:r>
              <a:rPr kumimoji="1" lang="zh-CN" altLang="en-US" sz="3200" b="1" dirty="0">
                <a:solidFill>
                  <a:srgbClr val="000000"/>
                </a:solidFill>
                <a:latin typeface="Times New Roman" panose="02020603050405020304" pitchFamily="18" charset="0"/>
                <a:cs typeface="Arial"/>
              </a:rPr>
              <a:t>轴上的某个点</a:t>
            </a:r>
            <a:r>
              <a:rPr kumimoji="1" lang="en-US" altLang="zh-CN" sz="3200" b="1" i="1" dirty="0">
                <a:solidFill>
                  <a:srgbClr val="000000"/>
                </a:solidFill>
                <a:latin typeface="Times New Roman" panose="02020603050405020304" pitchFamily="18" charset="0"/>
                <a:cs typeface="Arial"/>
              </a:rPr>
              <a:t>m</a:t>
            </a:r>
            <a:r>
              <a:rPr kumimoji="1" lang="zh-CN" altLang="en-US" sz="3200" b="1" dirty="0">
                <a:solidFill>
                  <a:srgbClr val="000000"/>
                </a:solidFill>
                <a:latin typeface="Times New Roman" panose="02020603050405020304" pitchFamily="18" charset="0"/>
                <a:cs typeface="Arial"/>
              </a:rPr>
              <a:t>将</a:t>
            </a:r>
            <a:r>
              <a:rPr kumimoji="1" lang="en-US" altLang="zh-CN" sz="3200" b="1" i="1" dirty="0">
                <a:solidFill>
                  <a:srgbClr val="000000"/>
                </a:solidFill>
                <a:latin typeface="Times New Roman" panose="02020603050405020304" pitchFamily="18" charset="0"/>
                <a:cs typeface="Arial"/>
              </a:rPr>
              <a:t>S</a:t>
            </a:r>
            <a:r>
              <a:rPr kumimoji="1" lang="zh-CN" altLang="en-US" sz="3200" b="1" dirty="0">
                <a:solidFill>
                  <a:srgbClr val="000000"/>
                </a:solidFill>
                <a:latin typeface="Times New Roman" panose="02020603050405020304" pitchFamily="18" charset="0"/>
                <a:cs typeface="Arial"/>
              </a:rPr>
              <a:t>划分为两个集合</a:t>
            </a:r>
            <a:r>
              <a:rPr kumimoji="1" lang="en-US" altLang="zh-CN" sz="3200" b="1" i="1" dirty="0">
                <a:solidFill>
                  <a:srgbClr val="000000"/>
                </a:solidFill>
                <a:latin typeface="Times New Roman" panose="02020603050405020304" pitchFamily="18" charset="0"/>
                <a:cs typeface="Arial"/>
              </a:rPr>
              <a:t>S</a:t>
            </a:r>
            <a:r>
              <a:rPr kumimoji="1" lang="en-US" altLang="zh-CN" sz="3200" b="1" baseline="-25000" dirty="0">
                <a:solidFill>
                  <a:srgbClr val="000000"/>
                </a:solidFill>
                <a:latin typeface="Times New Roman" panose="02020603050405020304" pitchFamily="18" charset="0"/>
                <a:cs typeface="Arial"/>
              </a:rPr>
              <a:t>1</a:t>
            </a:r>
            <a:r>
              <a:rPr kumimoji="1" lang="zh-CN" altLang="en-US" sz="3200" b="1" dirty="0">
                <a:solidFill>
                  <a:srgbClr val="000000"/>
                </a:solidFill>
                <a:latin typeface="Times New Roman" panose="02020603050405020304" pitchFamily="18" charset="0"/>
                <a:cs typeface="Arial"/>
              </a:rPr>
              <a:t>和</a:t>
            </a:r>
            <a:r>
              <a:rPr kumimoji="1" lang="en-US" altLang="zh-CN" sz="3200" b="1" i="1" dirty="0">
                <a:solidFill>
                  <a:srgbClr val="000000"/>
                </a:solidFill>
                <a:latin typeface="Times New Roman" panose="02020603050405020304" pitchFamily="18" charset="0"/>
                <a:cs typeface="Arial"/>
              </a:rPr>
              <a:t>S</a:t>
            </a:r>
            <a:r>
              <a:rPr kumimoji="1" lang="en-US" altLang="zh-CN" sz="3200" b="1" baseline="-25000" dirty="0">
                <a:solidFill>
                  <a:srgbClr val="000000"/>
                </a:solidFill>
                <a:latin typeface="Times New Roman" panose="02020603050405020304" pitchFamily="18" charset="0"/>
                <a:cs typeface="Arial"/>
              </a:rPr>
              <a:t>2</a:t>
            </a:r>
            <a:r>
              <a:rPr kumimoji="1" lang="zh-CN" altLang="en-US" sz="3200" b="1" dirty="0">
                <a:solidFill>
                  <a:srgbClr val="000000"/>
                </a:solidFill>
                <a:latin typeface="Times New Roman" panose="02020603050405020304" pitchFamily="18" charset="0"/>
                <a:cs typeface="Arial"/>
              </a:rPr>
              <a:t>，并且</a:t>
            </a:r>
            <a:r>
              <a:rPr kumimoji="1" lang="en-US" altLang="zh-CN" sz="3200" b="1" i="1" dirty="0">
                <a:solidFill>
                  <a:srgbClr val="000000"/>
                </a:solidFill>
                <a:latin typeface="Times New Roman" panose="02020603050405020304" pitchFamily="18" charset="0"/>
                <a:cs typeface="Arial"/>
              </a:rPr>
              <a:t>S</a:t>
            </a:r>
            <a:r>
              <a:rPr kumimoji="1" lang="en-US" altLang="zh-CN" sz="3200" b="1" baseline="-25000" dirty="0">
                <a:solidFill>
                  <a:srgbClr val="000000"/>
                </a:solidFill>
                <a:latin typeface="Times New Roman" panose="02020603050405020304" pitchFamily="18" charset="0"/>
                <a:cs typeface="Arial"/>
              </a:rPr>
              <a:t>1</a:t>
            </a:r>
            <a:r>
              <a:rPr kumimoji="1" lang="zh-CN" altLang="en-US" sz="3200" b="1" dirty="0">
                <a:solidFill>
                  <a:srgbClr val="000000"/>
                </a:solidFill>
                <a:latin typeface="Times New Roman" panose="02020603050405020304" pitchFamily="18" charset="0"/>
                <a:cs typeface="Arial"/>
              </a:rPr>
              <a:t>和</a:t>
            </a:r>
            <a:r>
              <a:rPr kumimoji="1" lang="en-US" altLang="zh-CN" sz="3200" b="1" i="1" dirty="0">
                <a:solidFill>
                  <a:srgbClr val="000000"/>
                </a:solidFill>
                <a:latin typeface="Times New Roman" panose="02020603050405020304" pitchFamily="18" charset="0"/>
                <a:cs typeface="Arial"/>
              </a:rPr>
              <a:t>S</a:t>
            </a:r>
            <a:r>
              <a:rPr kumimoji="1" lang="en-US" altLang="zh-CN" sz="3200" b="1" baseline="-25000" dirty="0">
                <a:solidFill>
                  <a:srgbClr val="000000"/>
                </a:solidFill>
                <a:latin typeface="Times New Roman" panose="02020603050405020304" pitchFamily="18" charset="0"/>
                <a:cs typeface="Arial"/>
              </a:rPr>
              <a:t>2</a:t>
            </a:r>
            <a:r>
              <a:rPr kumimoji="1" lang="zh-CN" altLang="en-US" sz="3200" b="1" dirty="0">
                <a:solidFill>
                  <a:srgbClr val="000000"/>
                </a:solidFill>
                <a:latin typeface="Times New Roman" panose="02020603050405020304" pitchFamily="18" charset="0"/>
                <a:cs typeface="Arial"/>
              </a:rPr>
              <a:t>含有点的个数相同。</a:t>
            </a:r>
          </a:p>
        </p:txBody>
      </p:sp>
      <p:sp>
        <p:nvSpPr>
          <p:cNvPr id="4" name="Text 0">
            <a:extLst>
              <a:ext uri="{FF2B5EF4-FFF2-40B4-BE49-F238E27FC236}">
                <a16:creationId xmlns:a16="http://schemas.microsoft.com/office/drawing/2014/main" id="{2830109D-3D34-44FB-B62E-4F1FD3309BFF}"/>
              </a:ext>
            </a:extLst>
          </p:cNvPr>
          <p:cNvSpPr/>
          <p:nvPr/>
        </p:nvSpPr>
        <p:spPr>
          <a:xfrm>
            <a:off x="1016000" y="285749"/>
            <a:ext cx="8421371" cy="736600"/>
          </a:xfrm>
          <a:prstGeom prst="rect">
            <a:avLst/>
          </a:prstGeom>
          <a:noFill/>
          <a:ln/>
        </p:spPr>
        <p:txBody>
          <a:bodyPr wrap="square" rtlCol="0" anchor="ctr"/>
          <a:lstStyle/>
          <a:p>
            <a:r>
              <a:rPr lang="zh-CN" altLang="en-US" sz="3200" b="1" dirty="0">
                <a:solidFill>
                  <a:srgbClr val="FFFFFF"/>
                </a:solidFill>
                <a:latin typeface="Noto Sans SC" pitchFamily="34" charset="0"/>
                <a:ea typeface="Noto Sans SC" pitchFamily="34" charset="-122"/>
                <a:cs typeface="Noto Sans SC" pitchFamily="34" charset="-120"/>
              </a:rPr>
              <a:t>最近点对</a:t>
            </a:r>
            <a:endParaRPr lang="en-US" sz="3200" dirty="0"/>
          </a:p>
        </p:txBody>
      </p:sp>
      <p:sp>
        <p:nvSpPr>
          <p:cNvPr id="5" name="TextBox 36">
            <a:extLst>
              <a:ext uri="{FF2B5EF4-FFF2-40B4-BE49-F238E27FC236}">
                <a16:creationId xmlns:a16="http://schemas.microsoft.com/office/drawing/2014/main" id="{B2DA2D0D-E7A4-4407-8A6D-E7F01E736ECF}"/>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分治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lang="zh-CN" altLang="en-US" sz="3200" b="1" dirty="0">
                <a:solidFill>
                  <a:srgbClr val="C00000"/>
                </a:solidFill>
                <a:latin typeface="微软雅黑" panose="020B0503020204020204" pitchFamily="34" charset="-122"/>
                <a:ea typeface="微软雅黑" panose="020B0503020204020204" pitchFamily="34" charset="-122"/>
              </a:rPr>
              <a:t>最近点对</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5143073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additive="base">
                                        <p:cTn id="6" dur="1" fill="hold">
                                          <p:stCondLst>
                                            <p:cond delay="0"/>
                                          </p:stCondLst>
                                        </p:cTn>
                                        <p:tgtEl>
                                          <p:spTgt spid="2756"/>
                                        </p:tgtEl>
                                        <p:attrNameLst>
                                          <p:attrName>style.visibility</p:attrName>
                                        </p:attrNameLst>
                                      </p:cBhvr>
                                      <p:to>
                                        <p:strVal val="visible"/>
                                      </p:to>
                                    </p:set>
                                    <p:animEffect transition="in" filter="blinds(horizontal)">
                                      <p:cBhvr additive="base">
                                        <p:cTn id="7" dur="500"/>
                                        <p:tgtEl>
                                          <p:spTgt spid="2756"/>
                                        </p:tgtEl>
                                      </p:cBhvr>
                                    </p:animEffect>
                                  </p:childTnLst>
                                </p:cTn>
                              </p:par>
                            </p:childTnLst>
                          </p:cTn>
                        </p:par>
                      </p:childTnLst>
                    </p:cTn>
                  </p:par>
                  <p:par>
                    <p:cTn id="8" fill="hold" nodeType="clickPar">
                      <p:stCondLst>
                        <p:cond delay="indefinite"/>
                      </p:stCondLst>
                      <p:childTnLst>
                        <p:par>
                          <p:cTn id="9" fill="hold" nodeType="withGroup">
                            <p:stCondLst>
                              <p:cond delay="indefinite"/>
                            </p:stCondLst>
                          </p:cTn>
                        </p:par>
                        <p:par>
                          <p:cTn id="10" fill="hold" nodeType="afterGroup">
                            <p:stCondLst>
                              <p:cond delay="0"/>
                            </p:stCondLst>
                            <p:childTnLst>
                              <p:par>
                                <p:cTn id="11" presetID="3" presetClass="entr" presetSubtype="10" fill="hold" grpId="0" nodeType="clickEffect">
                                  <p:stCondLst>
                                    <p:cond delay="0"/>
                                  </p:stCondLst>
                                  <p:childTnLst>
                                    <p:set>
                                      <p:cBhvr additive="base">
                                        <p:cTn id="12" dur="1" fill="hold">
                                          <p:stCondLst>
                                            <p:cond delay="0"/>
                                          </p:stCondLst>
                                        </p:cTn>
                                        <p:tgtEl>
                                          <p:spTgt spid="2757"/>
                                        </p:tgtEl>
                                        <p:attrNameLst>
                                          <p:attrName>style.visibility</p:attrName>
                                        </p:attrNameLst>
                                      </p:cBhvr>
                                      <p:to>
                                        <p:strVal val="visible"/>
                                      </p:to>
                                    </p:set>
                                    <p:animEffect transition="in" filter="blinds(horizontal)">
                                      <p:cBhvr additive="base">
                                        <p:cTn id="13" dur="500"/>
                                        <p:tgtEl>
                                          <p:spTgt spid="27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6" grpId="0" animBg="1"/>
      <p:bldP spid="275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63" name="Group 31">
            <a:extLst>
              <a:ext uri="{FF2B5EF4-FFF2-40B4-BE49-F238E27FC236}">
                <a16:creationId xmlns:a16="http://schemas.microsoft.com/office/drawing/2014/main" id="{8F7A1175-2BFE-42A7-AB5C-75D632CAD529}"/>
              </a:ext>
            </a:extLst>
          </p:cNvPr>
          <p:cNvGrpSpPr>
            <a:grpSpLocks/>
          </p:cNvGrpSpPr>
          <p:nvPr/>
        </p:nvGrpSpPr>
        <p:grpSpPr bwMode="auto">
          <a:xfrm>
            <a:off x="2490787" y="5255420"/>
            <a:ext cx="7273925" cy="1341437"/>
            <a:chOff x="657" y="2341"/>
            <a:chExt cx="4582" cy="845"/>
          </a:xfrm>
        </p:grpSpPr>
        <p:sp>
          <p:nvSpPr>
            <p:cNvPr id="2764" name="Line 4">
              <a:extLst>
                <a:ext uri="{FF2B5EF4-FFF2-40B4-BE49-F238E27FC236}">
                  <a16:creationId xmlns:a16="http://schemas.microsoft.com/office/drawing/2014/main" id="{DF71B032-E0A6-4419-ABA2-1B63FFC92225}"/>
                </a:ext>
              </a:extLst>
            </p:cNvPr>
            <p:cNvSpPr>
              <a:spLocks noChangeShapeType="1"/>
            </p:cNvSpPr>
            <p:nvPr/>
          </p:nvSpPr>
          <p:spPr bwMode="auto">
            <a:xfrm>
              <a:off x="657" y="2842"/>
              <a:ext cx="4582" cy="0"/>
            </a:xfrm>
            <a:prstGeom prst="lin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pPr defTabSz="914377" fontAlgn="base">
                <a:spcBef>
                  <a:spcPct val="0"/>
                </a:spcBef>
                <a:spcAft>
                  <a:spcPct val="0"/>
                </a:spcAft>
                <a:buSzPct val="100000"/>
              </a:pPr>
              <a:endParaRPr lang="zh-CN" altLang="en-US">
                <a:solidFill>
                  <a:srgbClr val="000000"/>
                </a:solidFill>
                <a:latin typeface="Arial" panose="020B0604020202020204" pitchFamily="34" charset="0"/>
                <a:ea typeface="宋体" panose="02010600030101010101" pitchFamily="2" charset="-122"/>
                <a:cs typeface="Arial"/>
              </a:endParaRPr>
            </a:p>
          </p:txBody>
        </p:sp>
        <p:sp>
          <p:nvSpPr>
            <p:cNvPr id="2765" name="Line 5">
              <a:extLst>
                <a:ext uri="{FF2B5EF4-FFF2-40B4-BE49-F238E27FC236}">
                  <a16:creationId xmlns:a16="http://schemas.microsoft.com/office/drawing/2014/main" id="{196DDAAE-CB4A-450C-8FB2-E53955AFD978}"/>
                </a:ext>
              </a:extLst>
            </p:cNvPr>
            <p:cNvSpPr>
              <a:spLocks noChangeShapeType="1"/>
            </p:cNvSpPr>
            <p:nvPr/>
          </p:nvSpPr>
          <p:spPr bwMode="auto">
            <a:xfrm>
              <a:off x="2808" y="2676"/>
              <a:ext cx="0" cy="296"/>
            </a:xfrm>
            <a:prstGeom prst="lin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pPr defTabSz="914377" fontAlgn="base">
                <a:spcBef>
                  <a:spcPct val="0"/>
                </a:spcBef>
                <a:spcAft>
                  <a:spcPct val="0"/>
                </a:spcAft>
                <a:buSzPct val="100000"/>
              </a:pPr>
              <a:endParaRPr lang="zh-CN" altLang="en-US">
                <a:solidFill>
                  <a:srgbClr val="000000"/>
                </a:solidFill>
                <a:latin typeface="Arial" panose="020B0604020202020204" pitchFamily="34" charset="0"/>
                <a:ea typeface="宋体" panose="02010600030101010101" pitchFamily="2" charset="-122"/>
                <a:cs typeface="Arial"/>
              </a:endParaRPr>
            </a:p>
          </p:txBody>
        </p:sp>
        <p:sp>
          <p:nvSpPr>
            <p:cNvPr id="2766" name="Oval 6">
              <a:extLst>
                <a:ext uri="{FF2B5EF4-FFF2-40B4-BE49-F238E27FC236}">
                  <a16:creationId xmlns:a16="http://schemas.microsoft.com/office/drawing/2014/main" id="{5E0EC5BD-E323-49B7-B16D-354CACDEFAE7}"/>
                </a:ext>
              </a:extLst>
            </p:cNvPr>
            <p:cNvSpPr>
              <a:spLocks noChangeArrowheads="1"/>
            </p:cNvSpPr>
            <p:nvPr/>
          </p:nvSpPr>
          <p:spPr bwMode="auto">
            <a:xfrm>
              <a:off x="2002" y="2818"/>
              <a:ext cx="65" cy="55"/>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767" name="Oval 7">
              <a:extLst>
                <a:ext uri="{FF2B5EF4-FFF2-40B4-BE49-F238E27FC236}">
                  <a16:creationId xmlns:a16="http://schemas.microsoft.com/office/drawing/2014/main" id="{318114D7-6A7A-487A-98C7-41EC6F54049B}"/>
                </a:ext>
              </a:extLst>
            </p:cNvPr>
            <p:cNvSpPr>
              <a:spLocks noChangeArrowheads="1"/>
            </p:cNvSpPr>
            <p:nvPr/>
          </p:nvSpPr>
          <p:spPr bwMode="auto">
            <a:xfrm>
              <a:off x="2355" y="2820"/>
              <a:ext cx="64" cy="55"/>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768" name="Oval 8">
              <a:extLst>
                <a:ext uri="{FF2B5EF4-FFF2-40B4-BE49-F238E27FC236}">
                  <a16:creationId xmlns:a16="http://schemas.microsoft.com/office/drawing/2014/main" id="{86A5C910-7ACB-4E25-A8C2-18A88C77E6AD}"/>
                </a:ext>
              </a:extLst>
            </p:cNvPr>
            <p:cNvSpPr>
              <a:spLocks noChangeArrowheads="1"/>
            </p:cNvSpPr>
            <p:nvPr/>
          </p:nvSpPr>
          <p:spPr bwMode="auto">
            <a:xfrm>
              <a:off x="2671" y="2819"/>
              <a:ext cx="65" cy="55"/>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769" name="Oval 9">
              <a:extLst>
                <a:ext uri="{FF2B5EF4-FFF2-40B4-BE49-F238E27FC236}">
                  <a16:creationId xmlns:a16="http://schemas.microsoft.com/office/drawing/2014/main" id="{B49FB3F9-B009-47FD-BB95-415854CE4F82}"/>
                </a:ext>
              </a:extLst>
            </p:cNvPr>
            <p:cNvSpPr>
              <a:spLocks noChangeArrowheads="1"/>
            </p:cNvSpPr>
            <p:nvPr/>
          </p:nvSpPr>
          <p:spPr bwMode="auto">
            <a:xfrm>
              <a:off x="2952" y="2812"/>
              <a:ext cx="64" cy="54"/>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770" name="Oval 10">
              <a:extLst>
                <a:ext uri="{FF2B5EF4-FFF2-40B4-BE49-F238E27FC236}">
                  <a16:creationId xmlns:a16="http://schemas.microsoft.com/office/drawing/2014/main" id="{2B2E4ED9-2BA0-4A48-A507-481D23A0CFE7}"/>
                </a:ext>
              </a:extLst>
            </p:cNvPr>
            <p:cNvSpPr>
              <a:spLocks noChangeArrowheads="1"/>
            </p:cNvSpPr>
            <p:nvPr/>
          </p:nvSpPr>
          <p:spPr bwMode="auto">
            <a:xfrm>
              <a:off x="3311" y="2820"/>
              <a:ext cx="65" cy="55"/>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771" name="Oval 11">
              <a:extLst>
                <a:ext uri="{FF2B5EF4-FFF2-40B4-BE49-F238E27FC236}">
                  <a16:creationId xmlns:a16="http://schemas.microsoft.com/office/drawing/2014/main" id="{4B120284-5265-46DE-9CBD-B7B1C2AA6EEB}"/>
                </a:ext>
              </a:extLst>
            </p:cNvPr>
            <p:cNvSpPr>
              <a:spLocks noChangeArrowheads="1"/>
            </p:cNvSpPr>
            <p:nvPr/>
          </p:nvSpPr>
          <p:spPr bwMode="auto">
            <a:xfrm>
              <a:off x="3556" y="2818"/>
              <a:ext cx="65" cy="55"/>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772" name="Oval 12">
              <a:extLst>
                <a:ext uri="{FF2B5EF4-FFF2-40B4-BE49-F238E27FC236}">
                  <a16:creationId xmlns:a16="http://schemas.microsoft.com/office/drawing/2014/main" id="{3620F779-B300-4329-9F0D-6DF080BC6231}"/>
                </a:ext>
              </a:extLst>
            </p:cNvPr>
            <p:cNvSpPr>
              <a:spLocks noChangeArrowheads="1"/>
            </p:cNvSpPr>
            <p:nvPr/>
          </p:nvSpPr>
          <p:spPr bwMode="auto">
            <a:xfrm>
              <a:off x="4419" y="2819"/>
              <a:ext cx="65" cy="55"/>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773" name="Oval 13">
              <a:extLst>
                <a:ext uri="{FF2B5EF4-FFF2-40B4-BE49-F238E27FC236}">
                  <a16:creationId xmlns:a16="http://schemas.microsoft.com/office/drawing/2014/main" id="{ADE0C17C-79BD-40A7-BBA9-2C9DBD8895F0}"/>
                </a:ext>
              </a:extLst>
            </p:cNvPr>
            <p:cNvSpPr>
              <a:spLocks noChangeArrowheads="1"/>
            </p:cNvSpPr>
            <p:nvPr/>
          </p:nvSpPr>
          <p:spPr bwMode="auto">
            <a:xfrm>
              <a:off x="4138" y="2818"/>
              <a:ext cx="65" cy="55"/>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774" name="Oval 14">
              <a:extLst>
                <a:ext uri="{FF2B5EF4-FFF2-40B4-BE49-F238E27FC236}">
                  <a16:creationId xmlns:a16="http://schemas.microsoft.com/office/drawing/2014/main" id="{9A1E4F43-FD4A-4922-91AC-7BCE4B6756DF}"/>
                </a:ext>
              </a:extLst>
            </p:cNvPr>
            <p:cNvSpPr>
              <a:spLocks noChangeArrowheads="1"/>
            </p:cNvSpPr>
            <p:nvPr/>
          </p:nvSpPr>
          <p:spPr bwMode="auto">
            <a:xfrm>
              <a:off x="1542" y="2819"/>
              <a:ext cx="64" cy="55"/>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775" name="Oval 15">
              <a:extLst>
                <a:ext uri="{FF2B5EF4-FFF2-40B4-BE49-F238E27FC236}">
                  <a16:creationId xmlns:a16="http://schemas.microsoft.com/office/drawing/2014/main" id="{800C1D09-D898-4780-AA10-77D3FD8F2138}"/>
                </a:ext>
              </a:extLst>
            </p:cNvPr>
            <p:cNvSpPr>
              <a:spLocks noChangeArrowheads="1"/>
            </p:cNvSpPr>
            <p:nvPr/>
          </p:nvSpPr>
          <p:spPr bwMode="auto">
            <a:xfrm>
              <a:off x="1175" y="2812"/>
              <a:ext cx="65" cy="55"/>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776" name="AutoShape 16">
              <a:extLst>
                <a:ext uri="{FF2B5EF4-FFF2-40B4-BE49-F238E27FC236}">
                  <a16:creationId xmlns:a16="http://schemas.microsoft.com/office/drawing/2014/main" id="{9A291AD5-F682-41A3-AC5F-0A77EB4FCF6E}"/>
                </a:ext>
              </a:extLst>
            </p:cNvPr>
            <p:cNvSpPr>
              <a:spLocks noChangeArrowheads="1"/>
            </p:cNvSpPr>
            <p:nvPr/>
          </p:nvSpPr>
          <p:spPr bwMode="auto">
            <a:xfrm rot="5400000">
              <a:off x="1824" y="1756"/>
              <a:ext cx="136" cy="1793"/>
            </a:xfrm>
            <a:prstGeom prst="leftBrace">
              <a:avLst>
                <a:gd name="adj1" fmla="val 109865"/>
                <a:gd name="adj2" fmla="val 49597"/>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777" name="AutoShape 17">
              <a:extLst>
                <a:ext uri="{FF2B5EF4-FFF2-40B4-BE49-F238E27FC236}">
                  <a16:creationId xmlns:a16="http://schemas.microsoft.com/office/drawing/2014/main" id="{D170E223-7F62-429C-AB98-BDA8CBDF18B7}"/>
                </a:ext>
              </a:extLst>
            </p:cNvPr>
            <p:cNvSpPr>
              <a:spLocks noChangeArrowheads="1"/>
            </p:cNvSpPr>
            <p:nvPr/>
          </p:nvSpPr>
          <p:spPr bwMode="auto">
            <a:xfrm rot="5400000">
              <a:off x="3651" y="1756"/>
              <a:ext cx="136" cy="1793"/>
            </a:xfrm>
            <a:prstGeom prst="leftBrace">
              <a:avLst>
                <a:gd name="adj1" fmla="val 109865"/>
                <a:gd name="adj2" fmla="val 49597"/>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778" name="Text Box 18">
              <a:extLst>
                <a:ext uri="{FF2B5EF4-FFF2-40B4-BE49-F238E27FC236}">
                  <a16:creationId xmlns:a16="http://schemas.microsoft.com/office/drawing/2014/main" id="{D01FB3FA-6662-4F2A-88A5-3D13C199F9D1}"/>
                </a:ext>
              </a:extLst>
            </p:cNvPr>
            <p:cNvSpPr>
              <a:spLocks noChangeArrowheads="1"/>
            </p:cNvSpPr>
            <p:nvPr/>
          </p:nvSpPr>
          <p:spPr bwMode="auto">
            <a:xfrm>
              <a:off x="1818" y="2348"/>
              <a:ext cx="179" cy="2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spcBef>
                  <a:spcPct val="0"/>
                </a:spcBef>
                <a:spcAft>
                  <a:spcPct val="0"/>
                </a:spcAft>
                <a:buSzPct val="100000"/>
              </a:pPr>
              <a:r>
                <a:rPr lang="en-US" altLang="zh-CN" sz="2000" b="1" dirty="0">
                  <a:solidFill>
                    <a:srgbClr val="000000"/>
                  </a:solidFill>
                  <a:latin typeface="Times New Roman" panose="02020603050405020304" pitchFamily="18" charset="0"/>
                  <a:cs typeface="Arial"/>
                </a:rPr>
                <a:t>S</a:t>
              </a:r>
              <a:r>
                <a:rPr lang="en-US" altLang="zh-CN" sz="2000" b="1" baseline="-25000" dirty="0">
                  <a:solidFill>
                    <a:srgbClr val="000000"/>
                  </a:solidFill>
                  <a:latin typeface="Times New Roman" panose="02020603050405020304" pitchFamily="18" charset="0"/>
                  <a:cs typeface="Arial"/>
                </a:rPr>
                <a:t>1</a:t>
              </a:r>
            </a:p>
          </p:txBody>
        </p:sp>
        <p:sp>
          <p:nvSpPr>
            <p:cNvPr id="2779" name="Text Box 20">
              <a:extLst>
                <a:ext uri="{FF2B5EF4-FFF2-40B4-BE49-F238E27FC236}">
                  <a16:creationId xmlns:a16="http://schemas.microsoft.com/office/drawing/2014/main" id="{39CE08F5-C5D8-44AC-A4B0-16A6C68B9C83}"/>
                </a:ext>
              </a:extLst>
            </p:cNvPr>
            <p:cNvSpPr>
              <a:spLocks noChangeArrowheads="1"/>
            </p:cNvSpPr>
            <p:nvPr/>
          </p:nvSpPr>
          <p:spPr bwMode="auto">
            <a:xfrm>
              <a:off x="3651" y="2341"/>
              <a:ext cx="179" cy="2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spcBef>
                  <a:spcPct val="0"/>
                </a:spcBef>
                <a:spcAft>
                  <a:spcPct val="0"/>
                </a:spcAft>
                <a:buSzPct val="100000"/>
              </a:pPr>
              <a:r>
                <a:rPr lang="en-US" altLang="zh-CN" sz="2000" b="1" i="1">
                  <a:solidFill>
                    <a:srgbClr val="000000"/>
                  </a:solidFill>
                  <a:latin typeface="Times New Roman" panose="02020603050405020304" pitchFamily="18" charset="0"/>
                  <a:cs typeface="Arial"/>
                </a:rPr>
                <a:t>S</a:t>
              </a:r>
              <a:r>
                <a:rPr lang="en-US" altLang="zh-CN" sz="2000" b="1" baseline="-25000">
                  <a:solidFill>
                    <a:srgbClr val="000000"/>
                  </a:solidFill>
                  <a:latin typeface="Times New Roman" panose="02020603050405020304" pitchFamily="18" charset="0"/>
                  <a:cs typeface="Arial"/>
                </a:rPr>
                <a:t>2</a:t>
              </a:r>
            </a:p>
          </p:txBody>
        </p:sp>
        <p:sp>
          <p:nvSpPr>
            <p:cNvPr id="2780" name="Oval 21">
              <a:extLst>
                <a:ext uri="{FF2B5EF4-FFF2-40B4-BE49-F238E27FC236}">
                  <a16:creationId xmlns:a16="http://schemas.microsoft.com/office/drawing/2014/main" id="{A2973EEC-D972-419C-A40D-92097A88548E}"/>
                </a:ext>
              </a:extLst>
            </p:cNvPr>
            <p:cNvSpPr>
              <a:spLocks noChangeArrowheads="1"/>
            </p:cNvSpPr>
            <p:nvPr/>
          </p:nvSpPr>
          <p:spPr bwMode="auto">
            <a:xfrm>
              <a:off x="966" y="2821"/>
              <a:ext cx="65" cy="54"/>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781" name="Text Box 22">
              <a:extLst>
                <a:ext uri="{FF2B5EF4-FFF2-40B4-BE49-F238E27FC236}">
                  <a16:creationId xmlns:a16="http://schemas.microsoft.com/office/drawing/2014/main" id="{B424592B-BBBA-406D-9DCC-2548FE620C2B}"/>
                </a:ext>
              </a:extLst>
            </p:cNvPr>
            <p:cNvSpPr>
              <a:spLocks noChangeArrowheads="1"/>
            </p:cNvSpPr>
            <p:nvPr/>
          </p:nvSpPr>
          <p:spPr bwMode="auto">
            <a:xfrm>
              <a:off x="1139" y="2879"/>
              <a:ext cx="137"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lnSpc>
                  <a:spcPct val="80000"/>
                </a:lnSpc>
                <a:spcBef>
                  <a:spcPct val="0"/>
                </a:spcBef>
                <a:spcAft>
                  <a:spcPct val="0"/>
                </a:spcAft>
                <a:buSzPct val="100000"/>
              </a:pPr>
              <a:r>
                <a:rPr lang="en-US" altLang="zh-CN" sz="2000" b="1" i="1">
                  <a:solidFill>
                    <a:srgbClr val="000000"/>
                  </a:solidFill>
                  <a:latin typeface="Times New Roman" panose="02020603050405020304" pitchFamily="18" charset="0"/>
                  <a:cs typeface="Arial"/>
                </a:rPr>
                <a:t>p</a:t>
              </a:r>
              <a:r>
                <a:rPr lang="en-US" altLang="zh-CN" sz="2000" b="1" baseline="-25000">
                  <a:solidFill>
                    <a:srgbClr val="000000"/>
                  </a:solidFill>
                  <a:latin typeface="Times New Roman" panose="02020603050405020304" pitchFamily="18" charset="0"/>
                  <a:cs typeface="Arial"/>
                </a:rPr>
                <a:t>2</a:t>
              </a:r>
            </a:p>
          </p:txBody>
        </p:sp>
        <p:sp>
          <p:nvSpPr>
            <p:cNvPr id="2782" name="Text Box 23">
              <a:extLst>
                <a:ext uri="{FF2B5EF4-FFF2-40B4-BE49-F238E27FC236}">
                  <a16:creationId xmlns:a16="http://schemas.microsoft.com/office/drawing/2014/main" id="{54BE6DD6-930C-4A28-B4FD-B3A14F477134}"/>
                </a:ext>
              </a:extLst>
            </p:cNvPr>
            <p:cNvSpPr>
              <a:spLocks noChangeArrowheads="1"/>
            </p:cNvSpPr>
            <p:nvPr/>
          </p:nvSpPr>
          <p:spPr bwMode="auto">
            <a:xfrm>
              <a:off x="938" y="2879"/>
              <a:ext cx="136"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lnSpc>
                  <a:spcPct val="80000"/>
                </a:lnSpc>
                <a:spcBef>
                  <a:spcPct val="0"/>
                </a:spcBef>
                <a:spcAft>
                  <a:spcPct val="0"/>
                </a:spcAft>
                <a:buSzPct val="100000"/>
              </a:pPr>
              <a:r>
                <a:rPr lang="en-US" altLang="zh-CN" sz="2000" b="1" i="1">
                  <a:solidFill>
                    <a:srgbClr val="000000"/>
                  </a:solidFill>
                  <a:latin typeface="Times New Roman" panose="02020603050405020304" pitchFamily="18" charset="0"/>
                  <a:cs typeface="Arial"/>
                </a:rPr>
                <a:t>p</a:t>
              </a:r>
              <a:r>
                <a:rPr lang="en-US" altLang="zh-CN" sz="2000" b="1" baseline="-25000">
                  <a:solidFill>
                    <a:srgbClr val="000000"/>
                  </a:solidFill>
                  <a:latin typeface="Times New Roman" panose="02020603050405020304" pitchFamily="18" charset="0"/>
                  <a:cs typeface="Arial"/>
                </a:rPr>
                <a:t>1</a:t>
              </a:r>
            </a:p>
          </p:txBody>
        </p:sp>
        <p:sp>
          <p:nvSpPr>
            <p:cNvPr id="2783" name="Text Box 24">
              <a:extLst>
                <a:ext uri="{FF2B5EF4-FFF2-40B4-BE49-F238E27FC236}">
                  <a16:creationId xmlns:a16="http://schemas.microsoft.com/office/drawing/2014/main" id="{66B143C2-A975-4B29-8572-A999D053A3EC}"/>
                </a:ext>
              </a:extLst>
            </p:cNvPr>
            <p:cNvSpPr>
              <a:spLocks noChangeArrowheads="1"/>
            </p:cNvSpPr>
            <p:nvPr/>
          </p:nvSpPr>
          <p:spPr bwMode="auto">
            <a:xfrm>
              <a:off x="2592" y="2876"/>
              <a:ext cx="137"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lnSpc>
                  <a:spcPct val="80000"/>
                </a:lnSpc>
                <a:spcBef>
                  <a:spcPct val="0"/>
                </a:spcBef>
                <a:spcAft>
                  <a:spcPct val="0"/>
                </a:spcAft>
                <a:buSzPct val="100000"/>
              </a:pPr>
              <a:r>
                <a:rPr lang="en-US" altLang="zh-CN" sz="2000" b="1" i="1">
                  <a:solidFill>
                    <a:srgbClr val="000000"/>
                  </a:solidFill>
                  <a:latin typeface="Times New Roman" panose="02020603050405020304" pitchFamily="18" charset="0"/>
                  <a:cs typeface="Arial"/>
                </a:rPr>
                <a:t>p</a:t>
              </a:r>
              <a:r>
                <a:rPr lang="en-US" altLang="zh-CN" sz="2000" b="1" baseline="-25000">
                  <a:solidFill>
                    <a:srgbClr val="000000"/>
                  </a:solidFill>
                  <a:latin typeface="Times New Roman" panose="02020603050405020304" pitchFamily="18" charset="0"/>
                  <a:cs typeface="Arial"/>
                </a:rPr>
                <a:t>3</a:t>
              </a:r>
            </a:p>
          </p:txBody>
        </p:sp>
        <p:sp>
          <p:nvSpPr>
            <p:cNvPr id="2784" name="Text Box 25">
              <a:extLst>
                <a:ext uri="{FF2B5EF4-FFF2-40B4-BE49-F238E27FC236}">
                  <a16:creationId xmlns:a16="http://schemas.microsoft.com/office/drawing/2014/main" id="{954E2BB8-DCED-4D8A-8FAB-460FDA6C88C4}"/>
                </a:ext>
              </a:extLst>
            </p:cNvPr>
            <p:cNvSpPr>
              <a:spLocks noChangeArrowheads="1"/>
            </p:cNvSpPr>
            <p:nvPr/>
          </p:nvSpPr>
          <p:spPr bwMode="auto">
            <a:xfrm>
              <a:off x="2923" y="2871"/>
              <a:ext cx="136" cy="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lnSpc>
                  <a:spcPct val="80000"/>
                </a:lnSpc>
                <a:spcBef>
                  <a:spcPct val="0"/>
                </a:spcBef>
                <a:spcAft>
                  <a:spcPct val="0"/>
                </a:spcAft>
                <a:buSzPct val="100000"/>
              </a:pPr>
              <a:r>
                <a:rPr lang="en-US" altLang="zh-CN" sz="2000" b="1" i="1">
                  <a:solidFill>
                    <a:srgbClr val="000000"/>
                  </a:solidFill>
                  <a:latin typeface="Times New Roman" panose="02020603050405020304" pitchFamily="18" charset="0"/>
                  <a:cs typeface="Arial"/>
                </a:rPr>
                <a:t>q</a:t>
              </a:r>
              <a:r>
                <a:rPr lang="en-US" altLang="zh-CN" sz="2000" b="1" baseline="-25000">
                  <a:solidFill>
                    <a:srgbClr val="000000"/>
                  </a:solidFill>
                  <a:latin typeface="Times New Roman" panose="02020603050405020304" pitchFamily="18" charset="0"/>
                  <a:cs typeface="Arial"/>
                </a:rPr>
                <a:t>3</a:t>
              </a:r>
            </a:p>
          </p:txBody>
        </p:sp>
        <p:sp>
          <p:nvSpPr>
            <p:cNvPr id="2785" name="Text Box 26">
              <a:extLst>
                <a:ext uri="{FF2B5EF4-FFF2-40B4-BE49-F238E27FC236}">
                  <a16:creationId xmlns:a16="http://schemas.microsoft.com/office/drawing/2014/main" id="{B117D317-181A-446D-B218-1E6C9B6AAD50}"/>
                </a:ext>
              </a:extLst>
            </p:cNvPr>
            <p:cNvSpPr>
              <a:spLocks noChangeArrowheads="1"/>
            </p:cNvSpPr>
            <p:nvPr/>
          </p:nvSpPr>
          <p:spPr bwMode="auto">
            <a:xfrm>
              <a:off x="3254" y="2878"/>
              <a:ext cx="136"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lnSpc>
                  <a:spcPct val="80000"/>
                </a:lnSpc>
                <a:spcBef>
                  <a:spcPct val="0"/>
                </a:spcBef>
                <a:spcAft>
                  <a:spcPct val="0"/>
                </a:spcAft>
                <a:buSzPct val="100000"/>
              </a:pPr>
              <a:r>
                <a:rPr lang="en-US" altLang="zh-CN" sz="2000" b="1" i="1">
                  <a:solidFill>
                    <a:srgbClr val="000000"/>
                  </a:solidFill>
                  <a:latin typeface="Times New Roman" panose="02020603050405020304" pitchFamily="18" charset="0"/>
                  <a:cs typeface="Arial"/>
                </a:rPr>
                <a:t>q</a:t>
              </a:r>
              <a:r>
                <a:rPr lang="en-US" altLang="zh-CN" sz="2000" b="1" baseline="-25000">
                  <a:solidFill>
                    <a:srgbClr val="000000"/>
                  </a:solidFill>
                  <a:latin typeface="Times New Roman" panose="02020603050405020304" pitchFamily="18" charset="0"/>
                  <a:cs typeface="Arial"/>
                </a:rPr>
                <a:t>1</a:t>
              </a:r>
            </a:p>
          </p:txBody>
        </p:sp>
        <p:sp>
          <p:nvSpPr>
            <p:cNvPr id="2786" name="Text Box 27">
              <a:extLst>
                <a:ext uri="{FF2B5EF4-FFF2-40B4-BE49-F238E27FC236}">
                  <a16:creationId xmlns:a16="http://schemas.microsoft.com/office/drawing/2014/main" id="{A4C5CBEF-DB0D-4DF6-8628-D72849049D5B}"/>
                </a:ext>
              </a:extLst>
            </p:cNvPr>
            <p:cNvSpPr>
              <a:spLocks noChangeArrowheads="1"/>
            </p:cNvSpPr>
            <p:nvPr/>
          </p:nvSpPr>
          <p:spPr bwMode="auto">
            <a:xfrm>
              <a:off x="3498" y="2879"/>
              <a:ext cx="137"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lnSpc>
                  <a:spcPct val="80000"/>
                </a:lnSpc>
                <a:spcBef>
                  <a:spcPct val="0"/>
                </a:spcBef>
                <a:spcAft>
                  <a:spcPct val="0"/>
                </a:spcAft>
                <a:buSzPct val="100000"/>
              </a:pPr>
              <a:r>
                <a:rPr lang="en-US" altLang="zh-CN" sz="2000" b="1" i="1">
                  <a:solidFill>
                    <a:srgbClr val="000000"/>
                  </a:solidFill>
                  <a:latin typeface="Times New Roman" panose="02020603050405020304" pitchFamily="18" charset="0"/>
                  <a:cs typeface="Arial"/>
                </a:rPr>
                <a:t>q</a:t>
              </a:r>
              <a:r>
                <a:rPr lang="en-US" altLang="zh-CN" sz="2000" b="1" baseline="-25000">
                  <a:solidFill>
                    <a:srgbClr val="000000"/>
                  </a:solidFill>
                  <a:latin typeface="Times New Roman" panose="02020603050405020304" pitchFamily="18" charset="0"/>
                  <a:cs typeface="Arial"/>
                </a:rPr>
                <a:t>2</a:t>
              </a:r>
            </a:p>
          </p:txBody>
        </p:sp>
        <p:sp>
          <p:nvSpPr>
            <p:cNvPr id="2787" name="Text Box 29">
              <a:extLst>
                <a:ext uri="{FF2B5EF4-FFF2-40B4-BE49-F238E27FC236}">
                  <a16:creationId xmlns:a16="http://schemas.microsoft.com/office/drawing/2014/main" id="{A8F00672-CCA7-4041-9EE7-0C8B2175C8B5}"/>
                </a:ext>
              </a:extLst>
            </p:cNvPr>
            <p:cNvSpPr>
              <a:spLocks noChangeArrowheads="1"/>
            </p:cNvSpPr>
            <p:nvPr/>
          </p:nvSpPr>
          <p:spPr bwMode="auto">
            <a:xfrm>
              <a:off x="2721" y="3056"/>
              <a:ext cx="180" cy="1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lnSpc>
                  <a:spcPct val="80000"/>
                </a:lnSpc>
                <a:spcBef>
                  <a:spcPct val="0"/>
                </a:spcBef>
                <a:spcAft>
                  <a:spcPct val="0"/>
                </a:spcAft>
                <a:buSzPct val="100000"/>
              </a:pPr>
              <a:r>
                <a:rPr lang="en-US" altLang="zh-CN" sz="2000" b="1" i="1">
                  <a:solidFill>
                    <a:srgbClr val="000000"/>
                  </a:solidFill>
                  <a:latin typeface="Times New Roman" panose="02020603050405020304" pitchFamily="18" charset="0"/>
                  <a:cs typeface="Arial"/>
                </a:rPr>
                <a:t>m</a:t>
              </a:r>
            </a:p>
          </p:txBody>
        </p:sp>
      </p:grpSp>
      <p:sp>
        <p:nvSpPr>
          <p:cNvPr id="2788" name="Text Box 32">
            <a:extLst>
              <a:ext uri="{FF2B5EF4-FFF2-40B4-BE49-F238E27FC236}">
                <a16:creationId xmlns:a16="http://schemas.microsoft.com/office/drawing/2014/main" id="{E79D046B-ED00-4F13-8B8F-C5EFAC565D18}"/>
              </a:ext>
            </a:extLst>
          </p:cNvPr>
          <p:cNvSpPr>
            <a:spLocks noChangeArrowheads="1"/>
          </p:cNvSpPr>
          <p:nvPr/>
        </p:nvSpPr>
        <p:spPr bwMode="auto">
          <a:xfrm>
            <a:off x="1516357" y="1322221"/>
            <a:ext cx="9073561" cy="19495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lnSpc>
                <a:spcPct val="150000"/>
              </a:lnSpc>
              <a:spcBef>
                <a:spcPct val="0"/>
              </a:spcBef>
              <a:spcAft>
                <a:spcPct val="0"/>
              </a:spcAft>
              <a:buSzPct val="100000"/>
            </a:pPr>
            <a:r>
              <a:rPr kumimoji="1" lang="en-US" altLang="zh-CN" sz="2400" b="1" dirty="0">
                <a:solidFill>
                  <a:srgbClr val="000000"/>
                </a:solidFill>
                <a:latin typeface="Times New Roman" panose="02020603050405020304" pitchFamily="18" charset="0"/>
                <a:cs typeface="Arial"/>
              </a:rPr>
              <a:t>        </a:t>
            </a:r>
            <a:r>
              <a:rPr kumimoji="1" lang="zh-CN" altLang="en-US" sz="2800" b="1" dirty="0">
                <a:solidFill>
                  <a:srgbClr val="000000"/>
                </a:solidFill>
                <a:latin typeface="Times New Roman" panose="02020603050405020304" pitchFamily="18" charset="0"/>
                <a:cs typeface="Arial"/>
              </a:rPr>
              <a:t>递归地在</a:t>
            </a:r>
            <a:r>
              <a:rPr kumimoji="1" lang="en-US" altLang="zh-CN" sz="2800" b="1" i="1" dirty="0">
                <a:solidFill>
                  <a:srgbClr val="000000"/>
                </a:solidFill>
                <a:latin typeface="Times New Roman" panose="02020603050405020304" pitchFamily="18" charset="0"/>
                <a:cs typeface="Arial"/>
              </a:rPr>
              <a:t>S</a:t>
            </a:r>
            <a:r>
              <a:rPr kumimoji="1" lang="en-US" altLang="zh-CN" sz="2800" b="1" baseline="-30000" dirty="0">
                <a:solidFill>
                  <a:srgbClr val="000000"/>
                </a:solidFill>
                <a:latin typeface="Times New Roman" panose="02020603050405020304" pitchFamily="18" charset="0"/>
                <a:cs typeface="Arial"/>
              </a:rPr>
              <a:t>1</a:t>
            </a:r>
            <a:r>
              <a:rPr kumimoji="1" lang="zh-CN" altLang="en-US" sz="2800" b="1" dirty="0">
                <a:solidFill>
                  <a:srgbClr val="000000"/>
                </a:solidFill>
                <a:latin typeface="Times New Roman" panose="02020603050405020304" pitchFamily="18" charset="0"/>
                <a:cs typeface="Arial"/>
              </a:rPr>
              <a:t>和</a:t>
            </a:r>
            <a:r>
              <a:rPr kumimoji="1" lang="en-US" altLang="zh-CN" sz="2800" b="1" i="1" dirty="0">
                <a:solidFill>
                  <a:srgbClr val="000000"/>
                </a:solidFill>
                <a:latin typeface="Times New Roman" panose="02020603050405020304" pitchFamily="18" charset="0"/>
                <a:cs typeface="Arial"/>
              </a:rPr>
              <a:t>S</a:t>
            </a:r>
            <a:r>
              <a:rPr kumimoji="1" lang="en-US" altLang="zh-CN" sz="2800" b="1" baseline="-30000" dirty="0">
                <a:solidFill>
                  <a:srgbClr val="000000"/>
                </a:solidFill>
                <a:latin typeface="Times New Roman" panose="02020603050405020304" pitchFamily="18" charset="0"/>
                <a:cs typeface="Arial"/>
              </a:rPr>
              <a:t>2</a:t>
            </a:r>
            <a:r>
              <a:rPr kumimoji="1" lang="zh-CN" altLang="en-US" sz="2800" b="1" dirty="0">
                <a:solidFill>
                  <a:srgbClr val="000000"/>
                </a:solidFill>
                <a:latin typeface="Times New Roman" panose="02020603050405020304" pitchFamily="18" charset="0"/>
                <a:cs typeface="Arial"/>
              </a:rPr>
              <a:t>上求出最接近点对 </a:t>
            </a:r>
            <a:r>
              <a:rPr kumimoji="1" lang="en-US" altLang="zh-CN" sz="2800" b="1" dirty="0">
                <a:solidFill>
                  <a:srgbClr val="000000"/>
                </a:solidFill>
                <a:latin typeface="Times New Roman" panose="02020603050405020304" pitchFamily="18" charset="0"/>
                <a:cs typeface="Arial"/>
              </a:rPr>
              <a:t>(</a:t>
            </a:r>
            <a:r>
              <a:rPr kumimoji="1" lang="en-US" altLang="zh-CN" sz="2800" b="1" i="1" dirty="0">
                <a:solidFill>
                  <a:srgbClr val="000000"/>
                </a:solidFill>
                <a:latin typeface="Times New Roman" panose="02020603050405020304" pitchFamily="18" charset="0"/>
                <a:cs typeface="Arial"/>
              </a:rPr>
              <a:t>p</a:t>
            </a:r>
            <a:r>
              <a:rPr kumimoji="1" lang="en-US" altLang="zh-CN" sz="2800" b="1" baseline="-30000" dirty="0">
                <a:solidFill>
                  <a:srgbClr val="000000"/>
                </a:solidFill>
                <a:latin typeface="Times New Roman" panose="02020603050405020304" pitchFamily="18" charset="0"/>
                <a:cs typeface="Arial"/>
              </a:rPr>
              <a:t>1</a:t>
            </a:r>
            <a:r>
              <a:rPr kumimoji="1" lang="en-US" altLang="zh-CN" sz="2800" b="1" dirty="0">
                <a:solidFill>
                  <a:srgbClr val="000000"/>
                </a:solidFill>
                <a:latin typeface="Times New Roman" panose="02020603050405020304" pitchFamily="18" charset="0"/>
                <a:cs typeface="Arial"/>
              </a:rPr>
              <a:t>, </a:t>
            </a:r>
            <a:r>
              <a:rPr kumimoji="1" lang="en-US" altLang="zh-CN" sz="2800" b="1" i="1" dirty="0">
                <a:solidFill>
                  <a:srgbClr val="000000"/>
                </a:solidFill>
                <a:latin typeface="Times New Roman" panose="02020603050405020304" pitchFamily="18" charset="0"/>
                <a:cs typeface="Arial"/>
              </a:rPr>
              <a:t>p</a:t>
            </a:r>
            <a:r>
              <a:rPr kumimoji="1" lang="en-US" altLang="zh-CN" sz="2800" b="1" baseline="-30000" dirty="0">
                <a:solidFill>
                  <a:srgbClr val="000000"/>
                </a:solidFill>
                <a:latin typeface="Times New Roman" panose="02020603050405020304" pitchFamily="18" charset="0"/>
                <a:cs typeface="Arial"/>
              </a:rPr>
              <a:t>2</a:t>
            </a:r>
            <a:r>
              <a:rPr kumimoji="1" lang="en-US" altLang="zh-CN" sz="2800" b="1" dirty="0">
                <a:solidFill>
                  <a:srgbClr val="000000"/>
                </a:solidFill>
                <a:latin typeface="Times New Roman" panose="02020603050405020304" pitchFamily="18" charset="0"/>
                <a:cs typeface="Arial"/>
              </a:rPr>
              <a:t>) </a:t>
            </a:r>
            <a:r>
              <a:rPr kumimoji="1" lang="zh-CN" altLang="en-US" sz="2800" b="1" dirty="0">
                <a:solidFill>
                  <a:srgbClr val="000000"/>
                </a:solidFill>
                <a:latin typeface="Times New Roman" panose="02020603050405020304" pitchFamily="18" charset="0"/>
                <a:cs typeface="Arial"/>
              </a:rPr>
              <a:t>和</a:t>
            </a:r>
            <a:r>
              <a:rPr kumimoji="1" lang="en-US" altLang="zh-CN" sz="2800" b="1" dirty="0">
                <a:solidFill>
                  <a:srgbClr val="000000"/>
                </a:solidFill>
                <a:latin typeface="Times New Roman" panose="02020603050405020304" pitchFamily="18" charset="0"/>
                <a:cs typeface="Arial"/>
              </a:rPr>
              <a:t>(</a:t>
            </a:r>
            <a:r>
              <a:rPr kumimoji="1" lang="en-US" altLang="zh-CN" sz="2800" b="1" i="1" dirty="0">
                <a:solidFill>
                  <a:srgbClr val="000000"/>
                </a:solidFill>
                <a:latin typeface="Times New Roman" panose="02020603050405020304" pitchFamily="18" charset="0"/>
                <a:cs typeface="Arial"/>
              </a:rPr>
              <a:t>q</a:t>
            </a:r>
            <a:r>
              <a:rPr kumimoji="1" lang="en-US" altLang="zh-CN" sz="2800" b="1" baseline="-30000" dirty="0">
                <a:solidFill>
                  <a:srgbClr val="000000"/>
                </a:solidFill>
                <a:latin typeface="Times New Roman" panose="02020603050405020304" pitchFamily="18" charset="0"/>
                <a:cs typeface="Arial"/>
              </a:rPr>
              <a:t>1</a:t>
            </a:r>
            <a:r>
              <a:rPr kumimoji="1" lang="en-US" altLang="zh-CN" sz="2800" b="1" dirty="0">
                <a:solidFill>
                  <a:srgbClr val="000000"/>
                </a:solidFill>
                <a:latin typeface="Times New Roman" panose="02020603050405020304" pitchFamily="18" charset="0"/>
                <a:cs typeface="Arial"/>
              </a:rPr>
              <a:t>, </a:t>
            </a:r>
            <a:r>
              <a:rPr kumimoji="1" lang="en-US" altLang="zh-CN" sz="2800" b="1" i="1" dirty="0">
                <a:solidFill>
                  <a:srgbClr val="000000"/>
                </a:solidFill>
                <a:latin typeface="Times New Roman" panose="02020603050405020304" pitchFamily="18" charset="0"/>
                <a:cs typeface="Arial"/>
              </a:rPr>
              <a:t>q</a:t>
            </a:r>
            <a:r>
              <a:rPr kumimoji="1" lang="en-US" altLang="zh-CN" sz="2800" b="1" baseline="-30000" dirty="0">
                <a:solidFill>
                  <a:srgbClr val="000000"/>
                </a:solidFill>
                <a:latin typeface="Times New Roman" panose="02020603050405020304" pitchFamily="18" charset="0"/>
                <a:cs typeface="Arial"/>
              </a:rPr>
              <a:t>2</a:t>
            </a:r>
            <a:r>
              <a:rPr kumimoji="1" lang="en-US" altLang="zh-CN" sz="2800" b="1" dirty="0">
                <a:solidFill>
                  <a:srgbClr val="000000"/>
                </a:solidFill>
                <a:latin typeface="Times New Roman" panose="02020603050405020304" pitchFamily="18" charset="0"/>
                <a:cs typeface="Arial"/>
              </a:rPr>
              <a:t>)</a:t>
            </a:r>
            <a:r>
              <a:rPr kumimoji="1" lang="zh-CN" altLang="en-US" sz="2800" b="1" dirty="0">
                <a:solidFill>
                  <a:srgbClr val="000000"/>
                </a:solidFill>
                <a:latin typeface="Times New Roman" panose="02020603050405020304" pitchFamily="18" charset="0"/>
                <a:cs typeface="Arial"/>
              </a:rPr>
              <a:t>，如果集合</a:t>
            </a:r>
            <a:r>
              <a:rPr kumimoji="1" lang="en-US" altLang="zh-CN" sz="2800" b="1" i="1" dirty="0">
                <a:solidFill>
                  <a:srgbClr val="000000"/>
                </a:solidFill>
                <a:latin typeface="Times New Roman" panose="02020603050405020304" pitchFamily="18" charset="0"/>
                <a:cs typeface="Arial"/>
              </a:rPr>
              <a:t>S</a:t>
            </a:r>
            <a:r>
              <a:rPr kumimoji="1" lang="zh-CN" altLang="en-US" sz="2800" b="1" dirty="0">
                <a:solidFill>
                  <a:srgbClr val="000000"/>
                </a:solidFill>
                <a:latin typeface="Times New Roman" panose="02020603050405020304" pitchFamily="18" charset="0"/>
                <a:cs typeface="Arial"/>
              </a:rPr>
              <a:t>中的最接近点对都在子集</a:t>
            </a:r>
            <a:r>
              <a:rPr kumimoji="1" lang="en-US" altLang="zh-CN" sz="2800" b="1" i="1" dirty="0">
                <a:solidFill>
                  <a:srgbClr val="000000"/>
                </a:solidFill>
                <a:latin typeface="Times New Roman" panose="02020603050405020304" pitchFamily="18" charset="0"/>
                <a:cs typeface="Arial"/>
              </a:rPr>
              <a:t>S</a:t>
            </a:r>
            <a:r>
              <a:rPr kumimoji="1" lang="en-US" altLang="zh-CN" sz="2800" b="1" baseline="-30000" dirty="0">
                <a:solidFill>
                  <a:srgbClr val="000000"/>
                </a:solidFill>
                <a:latin typeface="Times New Roman" panose="02020603050405020304" pitchFamily="18" charset="0"/>
                <a:cs typeface="Arial"/>
              </a:rPr>
              <a:t>1</a:t>
            </a:r>
            <a:r>
              <a:rPr kumimoji="1" lang="zh-CN" altLang="en-US" sz="2800" b="1" dirty="0">
                <a:solidFill>
                  <a:srgbClr val="000000"/>
                </a:solidFill>
                <a:latin typeface="Times New Roman" panose="02020603050405020304" pitchFamily="18" charset="0"/>
                <a:cs typeface="Arial"/>
              </a:rPr>
              <a:t>或</a:t>
            </a:r>
            <a:r>
              <a:rPr kumimoji="1" lang="en-US" altLang="zh-CN" sz="2800" b="1" i="1" dirty="0">
                <a:solidFill>
                  <a:srgbClr val="000000"/>
                </a:solidFill>
                <a:latin typeface="Times New Roman" panose="02020603050405020304" pitchFamily="18" charset="0"/>
                <a:cs typeface="Arial"/>
              </a:rPr>
              <a:t>S</a:t>
            </a:r>
            <a:r>
              <a:rPr kumimoji="1" lang="en-US" altLang="zh-CN" sz="2800" b="1" baseline="-30000" dirty="0">
                <a:solidFill>
                  <a:srgbClr val="000000"/>
                </a:solidFill>
                <a:latin typeface="Times New Roman" panose="02020603050405020304" pitchFamily="18" charset="0"/>
                <a:cs typeface="Arial"/>
              </a:rPr>
              <a:t>2</a:t>
            </a:r>
            <a:r>
              <a:rPr kumimoji="1" lang="zh-CN" altLang="en-US" sz="2800" b="1" dirty="0">
                <a:solidFill>
                  <a:srgbClr val="000000"/>
                </a:solidFill>
                <a:latin typeface="Times New Roman" panose="02020603050405020304" pitchFamily="18" charset="0"/>
                <a:cs typeface="Arial"/>
              </a:rPr>
              <a:t>中，则</a:t>
            </a:r>
            <a:r>
              <a:rPr kumimoji="1" lang="en-US" altLang="zh-CN" sz="2800" b="1" i="1" dirty="0">
                <a:solidFill>
                  <a:srgbClr val="000000"/>
                </a:solidFill>
                <a:latin typeface="Times New Roman" panose="02020603050405020304" pitchFamily="18" charset="0"/>
                <a:cs typeface="Arial"/>
              </a:rPr>
              <a:t>d</a:t>
            </a:r>
            <a:r>
              <a:rPr kumimoji="1" lang="en-US" altLang="zh-CN" sz="2800" b="1" dirty="0">
                <a:solidFill>
                  <a:srgbClr val="000000"/>
                </a:solidFill>
                <a:latin typeface="Times New Roman" panose="02020603050405020304" pitchFamily="18" charset="0"/>
                <a:cs typeface="Arial"/>
              </a:rPr>
              <a:t>=min{(</a:t>
            </a:r>
            <a:r>
              <a:rPr kumimoji="1" lang="en-US" altLang="zh-CN" sz="2800" b="1" i="1" dirty="0">
                <a:solidFill>
                  <a:srgbClr val="000000"/>
                </a:solidFill>
                <a:latin typeface="Times New Roman" panose="02020603050405020304" pitchFamily="18" charset="0"/>
                <a:cs typeface="Arial"/>
              </a:rPr>
              <a:t>p</a:t>
            </a:r>
            <a:r>
              <a:rPr kumimoji="1" lang="en-US" altLang="zh-CN" sz="2800" b="1" baseline="-30000" dirty="0">
                <a:solidFill>
                  <a:srgbClr val="000000"/>
                </a:solidFill>
                <a:latin typeface="Times New Roman" panose="02020603050405020304" pitchFamily="18" charset="0"/>
                <a:cs typeface="Arial"/>
              </a:rPr>
              <a:t>1</a:t>
            </a:r>
            <a:r>
              <a:rPr kumimoji="1" lang="en-US" altLang="zh-CN" sz="2800" b="1" dirty="0">
                <a:solidFill>
                  <a:srgbClr val="000000"/>
                </a:solidFill>
                <a:latin typeface="Times New Roman" panose="02020603050405020304" pitchFamily="18" charset="0"/>
                <a:cs typeface="Arial"/>
              </a:rPr>
              <a:t>, </a:t>
            </a:r>
            <a:r>
              <a:rPr kumimoji="1" lang="en-US" altLang="zh-CN" sz="2800" b="1" i="1" dirty="0">
                <a:solidFill>
                  <a:srgbClr val="000000"/>
                </a:solidFill>
                <a:latin typeface="Times New Roman" panose="02020603050405020304" pitchFamily="18" charset="0"/>
                <a:cs typeface="Arial"/>
              </a:rPr>
              <a:t>p</a:t>
            </a:r>
            <a:r>
              <a:rPr kumimoji="1" lang="en-US" altLang="zh-CN" sz="2800" b="1" baseline="-30000" dirty="0">
                <a:solidFill>
                  <a:srgbClr val="000000"/>
                </a:solidFill>
                <a:latin typeface="Times New Roman" panose="02020603050405020304" pitchFamily="18" charset="0"/>
                <a:cs typeface="Arial"/>
              </a:rPr>
              <a:t>2</a:t>
            </a:r>
            <a:r>
              <a:rPr kumimoji="1" lang="en-US" altLang="zh-CN" sz="2800" b="1" dirty="0">
                <a:solidFill>
                  <a:srgbClr val="000000"/>
                </a:solidFill>
                <a:latin typeface="Times New Roman" panose="02020603050405020304" pitchFamily="18" charset="0"/>
                <a:cs typeface="Arial"/>
              </a:rPr>
              <a:t>), (</a:t>
            </a:r>
            <a:r>
              <a:rPr kumimoji="1" lang="en-US" altLang="zh-CN" sz="2800" b="1" i="1" dirty="0">
                <a:solidFill>
                  <a:srgbClr val="000000"/>
                </a:solidFill>
                <a:latin typeface="Times New Roman" panose="02020603050405020304" pitchFamily="18" charset="0"/>
                <a:cs typeface="Arial"/>
              </a:rPr>
              <a:t>q</a:t>
            </a:r>
            <a:r>
              <a:rPr kumimoji="1" lang="en-US" altLang="zh-CN" sz="2800" b="1" baseline="-30000" dirty="0">
                <a:solidFill>
                  <a:srgbClr val="000000"/>
                </a:solidFill>
                <a:latin typeface="Times New Roman" panose="02020603050405020304" pitchFamily="18" charset="0"/>
                <a:cs typeface="Arial"/>
              </a:rPr>
              <a:t>1</a:t>
            </a:r>
            <a:r>
              <a:rPr kumimoji="1" lang="en-US" altLang="zh-CN" sz="2800" b="1" dirty="0">
                <a:solidFill>
                  <a:srgbClr val="000000"/>
                </a:solidFill>
                <a:latin typeface="Times New Roman" panose="02020603050405020304" pitchFamily="18" charset="0"/>
                <a:cs typeface="Arial"/>
              </a:rPr>
              <a:t>, </a:t>
            </a:r>
            <a:r>
              <a:rPr kumimoji="1" lang="en-US" altLang="zh-CN" sz="2800" b="1" i="1" dirty="0">
                <a:solidFill>
                  <a:srgbClr val="000000"/>
                </a:solidFill>
                <a:latin typeface="Times New Roman" panose="02020603050405020304" pitchFamily="18" charset="0"/>
                <a:cs typeface="Arial"/>
              </a:rPr>
              <a:t>q</a:t>
            </a:r>
            <a:r>
              <a:rPr kumimoji="1" lang="en-US" altLang="zh-CN" sz="2800" b="1" baseline="-30000" dirty="0">
                <a:solidFill>
                  <a:srgbClr val="000000"/>
                </a:solidFill>
                <a:latin typeface="Times New Roman" panose="02020603050405020304" pitchFamily="18" charset="0"/>
                <a:cs typeface="Arial"/>
              </a:rPr>
              <a:t>2</a:t>
            </a:r>
            <a:r>
              <a:rPr kumimoji="1" lang="en-US" altLang="zh-CN" sz="2800" b="1" dirty="0">
                <a:solidFill>
                  <a:srgbClr val="000000"/>
                </a:solidFill>
                <a:latin typeface="Times New Roman" panose="02020603050405020304" pitchFamily="18" charset="0"/>
                <a:cs typeface="Arial"/>
              </a:rPr>
              <a:t>)}</a:t>
            </a:r>
            <a:r>
              <a:rPr kumimoji="1" lang="zh-CN" altLang="en-US" sz="2800" b="1" dirty="0">
                <a:solidFill>
                  <a:srgbClr val="000000"/>
                </a:solidFill>
                <a:latin typeface="Times New Roman" panose="02020603050405020304" pitchFamily="18" charset="0"/>
                <a:cs typeface="Arial"/>
              </a:rPr>
              <a:t>即为所求</a:t>
            </a:r>
          </a:p>
        </p:txBody>
      </p:sp>
      <p:sp>
        <p:nvSpPr>
          <p:cNvPr id="2789" name="Text Box 32">
            <a:extLst>
              <a:ext uri="{FF2B5EF4-FFF2-40B4-BE49-F238E27FC236}">
                <a16:creationId xmlns:a16="http://schemas.microsoft.com/office/drawing/2014/main" id="{EA92A0B2-3E2A-4B74-BCD4-F610A685129A}"/>
              </a:ext>
            </a:extLst>
          </p:cNvPr>
          <p:cNvSpPr>
            <a:spLocks noChangeArrowheads="1"/>
          </p:cNvSpPr>
          <p:nvPr/>
        </p:nvSpPr>
        <p:spPr bwMode="auto">
          <a:xfrm>
            <a:off x="1458696" y="3321557"/>
            <a:ext cx="9452408" cy="13031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lnSpc>
                <a:spcPct val="150000"/>
              </a:lnSpc>
              <a:spcBef>
                <a:spcPct val="0"/>
              </a:spcBef>
              <a:spcAft>
                <a:spcPct val="0"/>
              </a:spcAft>
              <a:buSzPct val="100000"/>
            </a:pPr>
            <a:r>
              <a:rPr kumimoji="1" lang="zh-CN" altLang="en-US" sz="2800" b="1" dirty="0">
                <a:solidFill>
                  <a:srgbClr val="000000"/>
                </a:solidFill>
                <a:latin typeface="Times New Roman" panose="02020603050405020304" pitchFamily="18" charset="0"/>
                <a:cs typeface="Arial"/>
              </a:rPr>
              <a:t>如果集合</a:t>
            </a:r>
            <a:r>
              <a:rPr kumimoji="1" lang="en-US" altLang="zh-CN" sz="2800" b="1" i="1" dirty="0">
                <a:solidFill>
                  <a:srgbClr val="000000"/>
                </a:solidFill>
                <a:latin typeface="Times New Roman" panose="02020603050405020304" pitchFamily="18" charset="0"/>
                <a:cs typeface="Arial"/>
              </a:rPr>
              <a:t>S</a:t>
            </a:r>
            <a:r>
              <a:rPr kumimoji="1" lang="zh-CN" altLang="en-US" sz="2800" b="1" dirty="0">
                <a:solidFill>
                  <a:srgbClr val="000000"/>
                </a:solidFill>
                <a:latin typeface="Times New Roman" panose="02020603050405020304" pitchFamily="18" charset="0"/>
                <a:cs typeface="Arial"/>
              </a:rPr>
              <a:t>中的最接近点对分别在</a:t>
            </a:r>
            <a:r>
              <a:rPr kumimoji="1" lang="en-US" altLang="zh-CN" sz="2800" b="1" i="1" dirty="0">
                <a:solidFill>
                  <a:srgbClr val="000000"/>
                </a:solidFill>
                <a:latin typeface="Times New Roman" panose="02020603050405020304" pitchFamily="18" charset="0"/>
                <a:cs typeface="Arial"/>
              </a:rPr>
              <a:t>S</a:t>
            </a:r>
            <a:r>
              <a:rPr kumimoji="1" lang="en-US" altLang="zh-CN" sz="2800" b="1" baseline="-30000" dirty="0">
                <a:solidFill>
                  <a:srgbClr val="000000"/>
                </a:solidFill>
                <a:latin typeface="Times New Roman" panose="02020603050405020304" pitchFamily="18" charset="0"/>
                <a:cs typeface="Arial"/>
              </a:rPr>
              <a:t>1</a:t>
            </a:r>
            <a:r>
              <a:rPr kumimoji="1" lang="zh-CN" altLang="en-US" sz="2800" b="1" dirty="0">
                <a:solidFill>
                  <a:srgbClr val="000000"/>
                </a:solidFill>
                <a:latin typeface="Times New Roman" panose="02020603050405020304" pitchFamily="18" charset="0"/>
                <a:cs typeface="Arial"/>
              </a:rPr>
              <a:t>和</a:t>
            </a:r>
            <a:r>
              <a:rPr kumimoji="1" lang="en-US" altLang="zh-CN" sz="2800" b="1" i="1" dirty="0">
                <a:solidFill>
                  <a:srgbClr val="000000"/>
                </a:solidFill>
                <a:latin typeface="Times New Roman" panose="02020603050405020304" pitchFamily="18" charset="0"/>
                <a:cs typeface="Arial"/>
              </a:rPr>
              <a:t>S</a:t>
            </a:r>
            <a:r>
              <a:rPr kumimoji="1" lang="en-US" altLang="zh-CN" sz="2800" b="1" baseline="-30000" dirty="0">
                <a:solidFill>
                  <a:srgbClr val="000000"/>
                </a:solidFill>
                <a:latin typeface="Times New Roman" panose="02020603050405020304" pitchFamily="18" charset="0"/>
                <a:cs typeface="Arial"/>
              </a:rPr>
              <a:t>2</a:t>
            </a:r>
            <a:r>
              <a:rPr kumimoji="1" lang="zh-CN" altLang="en-US" sz="2800" b="1" dirty="0">
                <a:solidFill>
                  <a:srgbClr val="000000"/>
                </a:solidFill>
                <a:latin typeface="Times New Roman" panose="02020603050405020304" pitchFamily="18" charset="0"/>
                <a:cs typeface="Arial"/>
              </a:rPr>
              <a:t>中，则一定是</a:t>
            </a:r>
            <a:r>
              <a:rPr kumimoji="1" lang="en-US" altLang="zh-CN" sz="2800" b="1" dirty="0">
                <a:solidFill>
                  <a:srgbClr val="000000"/>
                </a:solidFill>
                <a:latin typeface="Times New Roman" panose="02020603050405020304" pitchFamily="18" charset="0"/>
                <a:cs typeface="Arial"/>
              </a:rPr>
              <a:t>(</a:t>
            </a:r>
            <a:r>
              <a:rPr kumimoji="1" lang="en-US" altLang="zh-CN" sz="2800" b="1" i="1" dirty="0">
                <a:solidFill>
                  <a:srgbClr val="000000"/>
                </a:solidFill>
                <a:latin typeface="Times New Roman" panose="02020603050405020304" pitchFamily="18" charset="0"/>
                <a:cs typeface="Arial"/>
              </a:rPr>
              <a:t>p</a:t>
            </a:r>
            <a:r>
              <a:rPr kumimoji="1" lang="en-US" altLang="zh-CN" sz="2800" b="1" baseline="-30000" dirty="0">
                <a:solidFill>
                  <a:srgbClr val="000000"/>
                </a:solidFill>
                <a:latin typeface="Times New Roman" panose="02020603050405020304" pitchFamily="18" charset="0"/>
                <a:cs typeface="Arial"/>
              </a:rPr>
              <a:t>3</a:t>
            </a:r>
            <a:r>
              <a:rPr kumimoji="1" lang="en-US" altLang="zh-CN" sz="2800" b="1" dirty="0">
                <a:solidFill>
                  <a:srgbClr val="000000"/>
                </a:solidFill>
                <a:latin typeface="Times New Roman" panose="02020603050405020304" pitchFamily="18" charset="0"/>
                <a:cs typeface="Arial"/>
              </a:rPr>
              <a:t>, </a:t>
            </a:r>
            <a:r>
              <a:rPr kumimoji="1" lang="en-US" altLang="zh-CN" sz="2800" b="1" i="1" dirty="0">
                <a:solidFill>
                  <a:srgbClr val="000000"/>
                </a:solidFill>
                <a:latin typeface="Times New Roman" panose="02020603050405020304" pitchFamily="18" charset="0"/>
                <a:cs typeface="Arial"/>
              </a:rPr>
              <a:t>q</a:t>
            </a:r>
            <a:r>
              <a:rPr kumimoji="1" lang="en-US" altLang="zh-CN" sz="2800" b="1" baseline="-30000" dirty="0">
                <a:solidFill>
                  <a:srgbClr val="000000"/>
                </a:solidFill>
                <a:latin typeface="Times New Roman" panose="02020603050405020304" pitchFamily="18" charset="0"/>
                <a:cs typeface="Arial"/>
              </a:rPr>
              <a:t>3</a:t>
            </a:r>
            <a:r>
              <a:rPr kumimoji="1" lang="en-US" altLang="zh-CN" sz="2800" b="1" dirty="0">
                <a:solidFill>
                  <a:srgbClr val="000000"/>
                </a:solidFill>
                <a:latin typeface="Times New Roman" panose="02020603050405020304" pitchFamily="18" charset="0"/>
                <a:cs typeface="Arial"/>
              </a:rPr>
              <a:t>)</a:t>
            </a:r>
            <a:r>
              <a:rPr kumimoji="1" lang="zh-CN" altLang="en-US" sz="2800" b="1" dirty="0">
                <a:solidFill>
                  <a:srgbClr val="000000"/>
                </a:solidFill>
                <a:latin typeface="Times New Roman" panose="02020603050405020304" pitchFamily="18" charset="0"/>
                <a:cs typeface="Arial"/>
              </a:rPr>
              <a:t>，其中，</a:t>
            </a:r>
            <a:r>
              <a:rPr kumimoji="1" lang="en-US" altLang="zh-CN" sz="2800" b="1" i="1" dirty="0">
                <a:solidFill>
                  <a:srgbClr val="000000"/>
                </a:solidFill>
                <a:latin typeface="Times New Roman" panose="02020603050405020304" pitchFamily="18" charset="0"/>
                <a:cs typeface="Arial"/>
              </a:rPr>
              <a:t>p</a:t>
            </a:r>
            <a:r>
              <a:rPr kumimoji="1" lang="en-US" altLang="zh-CN" sz="2800" b="1" baseline="-30000" dirty="0">
                <a:solidFill>
                  <a:srgbClr val="000000"/>
                </a:solidFill>
                <a:latin typeface="Times New Roman" panose="02020603050405020304" pitchFamily="18" charset="0"/>
                <a:cs typeface="Arial"/>
              </a:rPr>
              <a:t>3</a:t>
            </a:r>
            <a:r>
              <a:rPr kumimoji="1" lang="zh-CN" altLang="en-US" sz="2800" b="1" dirty="0">
                <a:solidFill>
                  <a:srgbClr val="000000"/>
                </a:solidFill>
                <a:latin typeface="Times New Roman" panose="02020603050405020304" pitchFamily="18" charset="0"/>
                <a:cs typeface="Arial"/>
              </a:rPr>
              <a:t>是子集</a:t>
            </a:r>
            <a:r>
              <a:rPr kumimoji="1" lang="en-US" altLang="zh-CN" sz="2800" b="1" i="1" dirty="0">
                <a:solidFill>
                  <a:srgbClr val="000000"/>
                </a:solidFill>
                <a:latin typeface="Times New Roman" panose="02020603050405020304" pitchFamily="18" charset="0"/>
                <a:cs typeface="Arial"/>
              </a:rPr>
              <a:t>S</a:t>
            </a:r>
            <a:r>
              <a:rPr kumimoji="1" lang="en-US" altLang="zh-CN" sz="2800" b="1" baseline="-30000" dirty="0">
                <a:solidFill>
                  <a:srgbClr val="000000"/>
                </a:solidFill>
                <a:latin typeface="Times New Roman" panose="02020603050405020304" pitchFamily="18" charset="0"/>
                <a:cs typeface="Arial"/>
              </a:rPr>
              <a:t>1</a:t>
            </a:r>
            <a:r>
              <a:rPr kumimoji="1" lang="zh-CN" altLang="en-US" sz="2800" b="1" dirty="0">
                <a:solidFill>
                  <a:srgbClr val="000000"/>
                </a:solidFill>
                <a:latin typeface="Times New Roman" panose="02020603050405020304" pitchFamily="18" charset="0"/>
                <a:cs typeface="Arial"/>
              </a:rPr>
              <a:t>中的最大值，</a:t>
            </a:r>
            <a:r>
              <a:rPr kumimoji="1" lang="en-US" altLang="zh-CN" sz="2800" b="1" i="1" dirty="0">
                <a:solidFill>
                  <a:srgbClr val="000000"/>
                </a:solidFill>
                <a:latin typeface="Times New Roman" panose="02020603050405020304" pitchFamily="18" charset="0"/>
                <a:cs typeface="Arial"/>
              </a:rPr>
              <a:t>q</a:t>
            </a:r>
            <a:r>
              <a:rPr kumimoji="1" lang="en-US" altLang="zh-CN" sz="2800" b="1" baseline="-30000" dirty="0">
                <a:solidFill>
                  <a:srgbClr val="000000"/>
                </a:solidFill>
                <a:latin typeface="Times New Roman" panose="02020603050405020304" pitchFamily="18" charset="0"/>
                <a:cs typeface="Arial"/>
              </a:rPr>
              <a:t>3</a:t>
            </a:r>
            <a:r>
              <a:rPr kumimoji="1" lang="zh-CN" altLang="en-US" sz="2800" b="1" dirty="0">
                <a:solidFill>
                  <a:srgbClr val="000000"/>
                </a:solidFill>
                <a:latin typeface="Times New Roman" panose="02020603050405020304" pitchFamily="18" charset="0"/>
                <a:cs typeface="Arial"/>
              </a:rPr>
              <a:t>是子集</a:t>
            </a:r>
            <a:r>
              <a:rPr kumimoji="1" lang="en-US" altLang="zh-CN" sz="2800" b="1" i="1" dirty="0">
                <a:solidFill>
                  <a:srgbClr val="000000"/>
                </a:solidFill>
                <a:latin typeface="Times New Roman" panose="02020603050405020304" pitchFamily="18" charset="0"/>
                <a:cs typeface="Arial"/>
              </a:rPr>
              <a:t>S</a:t>
            </a:r>
            <a:r>
              <a:rPr kumimoji="1" lang="en-US" altLang="zh-CN" sz="2800" b="1" baseline="-30000" dirty="0">
                <a:solidFill>
                  <a:srgbClr val="000000"/>
                </a:solidFill>
                <a:latin typeface="Times New Roman" panose="02020603050405020304" pitchFamily="18" charset="0"/>
                <a:cs typeface="Arial"/>
              </a:rPr>
              <a:t>2</a:t>
            </a:r>
            <a:r>
              <a:rPr kumimoji="1" lang="zh-CN" altLang="en-US" sz="2800" b="1" dirty="0">
                <a:solidFill>
                  <a:srgbClr val="000000"/>
                </a:solidFill>
                <a:latin typeface="Times New Roman" panose="02020603050405020304" pitchFamily="18" charset="0"/>
                <a:cs typeface="Arial"/>
              </a:rPr>
              <a:t>中的最小值。 </a:t>
            </a:r>
          </a:p>
        </p:txBody>
      </p:sp>
      <p:sp>
        <p:nvSpPr>
          <p:cNvPr id="29" name="Text 0">
            <a:extLst>
              <a:ext uri="{FF2B5EF4-FFF2-40B4-BE49-F238E27FC236}">
                <a16:creationId xmlns:a16="http://schemas.microsoft.com/office/drawing/2014/main" id="{7D1EF5AF-E6B9-4EA8-9EDC-2C373721228D}"/>
              </a:ext>
            </a:extLst>
          </p:cNvPr>
          <p:cNvSpPr/>
          <p:nvPr/>
        </p:nvSpPr>
        <p:spPr>
          <a:xfrm>
            <a:off x="1016000" y="285749"/>
            <a:ext cx="8421371" cy="736600"/>
          </a:xfrm>
          <a:prstGeom prst="rect">
            <a:avLst/>
          </a:prstGeom>
          <a:noFill/>
          <a:ln/>
        </p:spPr>
        <p:txBody>
          <a:bodyPr wrap="square" rtlCol="0" anchor="ctr"/>
          <a:lstStyle/>
          <a:p>
            <a:r>
              <a:rPr lang="zh-CN" altLang="en-US" sz="3200" b="1" dirty="0">
                <a:solidFill>
                  <a:srgbClr val="FFFFFF"/>
                </a:solidFill>
                <a:latin typeface="Noto Sans SC" pitchFamily="34" charset="0"/>
                <a:ea typeface="Noto Sans SC" pitchFamily="34" charset="-122"/>
                <a:cs typeface="Noto Sans SC" pitchFamily="34" charset="-120"/>
              </a:rPr>
              <a:t>最近点对</a:t>
            </a:r>
            <a:endParaRPr lang="en-US" sz="3200" dirty="0"/>
          </a:p>
        </p:txBody>
      </p:sp>
      <p:sp>
        <p:nvSpPr>
          <p:cNvPr id="30" name="TextBox 36">
            <a:extLst>
              <a:ext uri="{FF2B5EF4-FFF2-40B4-BE49-F238E27FC236}">
                <a16:creationId xmlns:a16="http://schemas.microsoft.com/office/drawing/2014/main" id="{8941A2FF-43A4-43C8-A81E-0368F4E3B8B2}"/>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分治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lang="zh-CN" altLang="en-US" sz="3200" b="1" dirty="0">
                <a:solidFill>
                  <a:srgbClr val="C00000"/>
                </a:solidFill>
                <a:latin typeface="微软雅黑" panose="020B0503020204020204" pitchFamily="34" charset="-122"/>
                <a:ea typeface="微软雅黑" panose="020B0503020204020204" pitchFamily="34" charset="-122"/>
              </a:rPr>
              <a:t>最近点对</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0894979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additive="base">
                                        <p:cTn id="6" dur="1" fill="hold">
                                          <p:stCondLst>
                                            <p:cond delay="0"/>
                                          </p:stCondLst>
                                        </p:cTn>
                                        <p:tgtEl>
                                          <p:spTgt spid="2788"/>
                                        </p:tgtEl>
                                        <p:attrNameLst>
                                          <p:attrName>style.visibility</p:attrName>
                                        </p:attrNameLst>
                                      </p:cBhvr>
                                      <p:to>
                                        <p:strVal val="visible"/>
                                      </p:to>
                                    </p:set>
                                    <p:animEffect transition="in" filter="fade">
                                      <p:cBhvr additive="base">
                                        <p:cTn id="7" dur="1000"/>
                                        <p:tgtEl>
                                          <p:spTgt spid="2788"/>
                                        </p:tgtEl>
                                      </p:cBhvr>
                                    </p:animEffect>
                                    <p:anim calcmode="lin" valueType="num">
                                      <p:cBhvr additive="base">
                                        <p:cTn id="8" dur="1000" fill="hold"/>
                                        <p:tgtEl>
                                          <p:spTgt spid="2788"/>
                                        </p:tgtEl>
                                        <p:attrNameLst>
                                          <p:attrName>ppt_x</p:attrName>
                                        </p:attrNameLst>
                                      </p:cBhvr>
                                      <p:tavLst>
                                        <p:tav tm="0">
                                          <p:val>
                                            <p:strVal val="#ppt_x"/>
                                          </p:val>
                                        </p:tav>
                                        <p:tav tm="100000">
                                          <p:val>
                                            <p:strVal val="#ppt_x"/>
                                          </p:val>
                                        </p:tav>
                                      </p:tavLst>
                                    </p:anim>
                                    <p:anim calcmode="lin" valueType="num">
                                      <p:cBhvr additive="base">
                                        <p:cTn id="9" dur="1000" fill="hold"/>
                                        <p:tgtEl>
                                          <p:spTgt spid="2788"/>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indefinite"/>
                            </p:stCondLst>
                          </p:cTn>
                        </p:par>
                        <p:par>
                          <p:cTn id="12" fill="hold" nodeType="afterGroup">
                            <p:stCondLst>
                              <p:cond delay="0"/>
                            </p:stCondLst>
                            <p:childTnLst>
                              <p:par>
                                <p:cTn id="13" presetID="55" presetClass="entr" presetSubtype="0" fill="hold" nodeType="clickEffect">
                                  <p:stCondLst>
                                    <p:cond delay="0"/>
                                  </p:stCondLst>
                                  <p:childTnLst>
                                    <p:set>
                                      <p:cBhvr additive="base">
                                        <p:cTn id="14" dur="1" fill="hold">
                                          <p:stCondLst>
                                            <p:cond delay="0"/>
                                          </p:stCondLst>
                                        </p:cTn>
                                        <p:tgtEl>
                                          <p:spTgt spid="2763"/>
                                        </p:tgtEl>
                                        <p:attrNameLst>
                                          <p:attrName>style.visibility</p:attrName>
                                        </p:attrNameLst>
                                      </p:cBhvr>
                                      <p:to>
                                        <p:strVal val="visible"/>
                                      </p:to>
                                    </p:set>
                                    <p:anim calcmode="lin" valueType="num">
                                      <p:cBhvr additive="base">
                                        <p:cTn id="15" dur="1000" fill="hold"/>
                                        <p:tgtEl>
                                          <p:spTgt spid="2763"/>
                                        </p:tgtEl>
                                        <p:attrNameLst>
                                          <p:attrName>ppt_w</p:attrName>
                                        </p:attrNameLst>
                                      </p:cBhvr>
                                      <p:tavLst>
                                        <p:tav tm="0">
                                          <p:val>
                                            <p:strVal val="#ppt_w*0.70"/>
                                          </p:val>
                                        </p:tav>
                                        <p:tav tm="100000">
                                          <p:val>
                                            <p:strVal val="#ppt_w"/>
                                          </p:val>
                                        </p:tav>
                                      </p:tavLst>
                                    </p:anim>
                                    <p:anim calcmode="lin" valueType="num">
                                      <p:cBhvr additive="base">
                                        <p:cTn id="16" dur="1000" fill="hold"/>
                                        <p:tgtEl>
                                          <p:spTgt spid="2763"/>
                                        </p:tgtEl>
                                        <p:attrNameLst>
                                          <p:attrName>ppt_h</p:attrName>
                                        </p:attrNameLst>
                                      </p:cBhvr>
                                      <p:tavLst>
                                        <p:tav tm="0">
                                          <p:val>
                                            <p:strVal val="#ppt_h"/>
                                          </p:val>
                                        </p:tav>
                                        <p:tav tm="100000">
                                          <p:val>
                                            <p:strVal val="#ppt_h"/>
                                          </p:val>
                                        </p:tav>
                                      </p:tavLst>
                                    </p:anim>
                                    <p:animEffect transition="in" filter="fade">
                                      <p:cBhvr additive="base">
                                        <p:cTn id="17" dur="1000"/>
                                        <p:tgtEl>
                                          <p:spTgt spid="2763"/>
                                        </p:tgtEl>
                                      </p:cBhvr>
                                    </p:animEffect>
                                  </p:childTnLst>
                                </p:cTn>
                              </p:par>
                            </p:childTnLst>
                          </p:cTn>
                        </p:par>
                      </p:childTnLst>
                    </p:cTn>
                  </p:par>
                  <p:par>
                    <p:cTn id="18" fill="hold" nodeType="clickPar">
                      <p:stCondLst>
                        <p:cond delay="indefinite"/>
                      </p:stCondLst>
                      <p:childTnLst>
                        <p:par>
                          <p:cTn id="19" fill="hold" nodeType="withGroup">
                            <p:stCondLst>
                              <p:cond delay="indefinite"/>
                            </p:stCondLst>
                          </p:cTn>
                        </p:par>
                        <p:par>
                          <p:cTn id="20" fill="hold" nodeType="afterGroup">
                            <p:stCondLst>
                              <p:cond delay="0"/>
                            </p:stCondLst>
                            <p:childTnLst>
                              <p:par>
                                <p:cTn id="21" presetID="42" presetClass="entr" presetSubtype="0" fill="hold" grpId="0" nodeType="clickEffect">
                                  <p:stCondLst>
                                    <p:cond delay="0"/>
                                  </p:stCondLst>
                                  <p:childTnLst>
                                    <p:set>
                                      <p:cBhvr additive="base">
                                        <p:cTn id="22" dur="1" fill="hold">
                                          <p:stCondLst>
                                            <p:cond delay="0"/>
                                          </p:stCondLst>
                                        </p:cTn>
                                        <p:tgtEl>
                                          <p:spTgt spid="2789"/>
                                        </p:tgtEl>
                                        <p:attrNameLst>
                                          <p:attrName>style.visibility</p:attrName>
                                        </p:attrNameLst>
                                      </p:cBhvr>
                                      <p:to>
                                        <p:strVal val="visible"/>
                                      </p:to>
                                    </p:set>
                                    <p:animEffect transition="in" filter="fade">
                                      <p:cBhvr additive="base">
                                        <p:cTn id="23" dur="1000"/>
                                        <p:tgtEl>
                                          <p:spTgt spid="2789"/>
                                        </p:tgtEl>
                                      </p:cBhvr>
                                    </p:animEffect>
                                    <p:anim calcmode="lin" valueType="num">
                                      <p:cBhvr additive="base">
                                        <p:cTn id="24" dur="1000" fill="hold"/>
                                        <p:tgtEl>
                                          <p:spTgt spid="2789"/>
                                        </p:tgtEl>
                                        <p:attrNameLst>
                                          <p:attrName>ppt_x</p:attrName>
                                        </p:attrNameLst>
                                      </p:cBhvr>
                                      <p:tavLst>
                                        <p:tav tm="0">
                                          <p:val>
                                            <p:strVal val="#ppt_x"/>
                                          </p:val>
                                        </p:tav>
                                        <p:tav tm="100000">
                                          <p:val>
                                            <p:strVal val="#ppt_x"/>
                                          </p:val>
                                        </p:tav>
                                      </p:tavLst>
                                    </p:anim>
                                    <p:anim calcmode="lin" valueType="num">
                                      <p:cBhvr additive="base">
                                        <p:cTn id="25" dur="1000" fill="hold"/>
                                        <p:tgtEl>
                                          <p:spTgt spid="278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8" grpId="0" animBg="1"/>
      <p:bldP spid="278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2" name="Text Box 2">
            <a:extLst>
              <a:ext uri="{FF2B5EF4-FFF2-40B4-BE49-F238E27FC236}">
                <a16:creationId xmlns:a16="http://schemas.microsoft.com/office/drawing/2014/main" id="{499335C9-CE3A-4545-8ED2-86A5FDE3067B}"/>
              </a:ext>
            </a:extLst>
          </p:cNvPr>
          <p:cNvSpPr>
            <a:spLocks noChangeArrowheads="1"/>
          </p:cNvSpPr>
          <p:nvPr/>
        </p:nvSpPr>
        <p:spPr bwMode="auto">
          <a:xfrm>
            <a:off x="1399661" y="2094014"/>
            <a:ext cx="8142288" cy="9937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lnSpc>
                <a:spcPct val="120000"/>
              </a:lnSpc>
              <a:spcBef>
                <a:spcPct val="0"/>
              </a:spcBef>
              <a:spcAft>
                <a:spcPct val="0"/>
              </a:spcAft>
              <a:buSzPct val="100000"/>
            </a:pPr>
            <a:r>
              <a:rPr kumimoji="1" lang="zh-CN" altLang="en-US" sz="2800" b="1" dirty="0">
                <a:solidFill>
                  <a:srgbClr val="000000"/>
                </a:solidFill>
                <a:latin typeface="宋体" panose="02010600030101010101" pitchFamily="2" charset="-122"/>
                <a:cs typeface="Arial"/>
              </a:rPr>
              <a:t>下面考虑</a:t>
            </a:r>
            <a:r>
              <a:rPr kumimoji="1" lang="zh-CN" altLang="en-US" sz="2800" b="1" dirty="0">
                <a:solidFill>
                  <a:srgbClr val="333399"/>
                </a:solidFill>
                <a:latin typeface="宋体" panose="02010600030101010101" pitchFamily="2" charset="-122"/>
                <a:cs typeface="Arial"/>
              </a:rPr>
              <a:t>二维</a:t>
            </a:r>
            <a:r>
              <a:rPr kumimoji="1" lang="zh-CN" altLang="en-US" sz="2800" b="1" dirty="0">
                <a:solidFill>
                  <a:srgbClr val="000000"/>
                </a:solidFill>
                <a:latin typeface="宋体" panose="02010600030101010101" pitchFamily="2" charset="-122"/>
                <a:cs typeface="Arial"/>
              </a:rPr>
              <a:t>的情形，此时</a:t>
            </a:r>
            <a:r>
              <a:rPr kumimoji="1" lang="en-US" altLang="zh-CN" sz="2800" b="1" i="1" dirty="0">
                <a:solidFill>
                  <a:srgbClr val="000000"/>
                </a:solidFill>
                <a:latin typeface="Times New Roman" panose="02020603050405020304" pitchFamily="18" charset="0"/>
                <a:cs typeface="Arial"/>
              </a:rPr>
              <a:t>S</a:t>
            </a:r>
            <a:r>
              <a:rPr kumimoji="1" lang="zh-CN" altLang="en-US" sz="2800" b="1" dirty="0">
                <a:solidFill>
                  <a:srgbClr val="000000"/>
                </a:solidFill>
                <a:latin typeface="宋体" panose="02010600030101010101" pitchFamily="2" charset="-122"/>
                <a:cs typeface="Arial"/>
              </a:rPr>
              <a:t>中的点为平面上的点。</a:t>
            </a:r>
          </a:p>
          <a:p>
            <a:pPr defTabSz="914377" eaLnBrk="1" fontAlgn="base" hangingPunct="1">
              <a:lnSpc>
                <a:spcPct val="120000"/>
              </a:lnSpc>
              <a:spcBef>
                <a:spcPct val="0"/>
              </a:spcBef>
              <a:spcAft>
                <a:spcPct val="0"/>
              </a:spcAft>
              <a:buSzPct val="100000"/>
            </a:pPr>
            <a:r>
              <a:rPr kumimoji="1" lang="zh-CN" altLang="en-US" sz="2400" b="1" dirty="0">
                <a:solidFill>
                  <a:srgbClr val="000000"/>
                </a:solidFill>
                <a:latin typeface="宋体" panose="02010600030101010101" pitchFamily="2" charset="-122"/>
                <a:cs typeface="Arial"/>
              </a:rPr>
              <a:t>    </a:t>
            </a:r>
          </a:p>
        </p:txBody>
      </p:sp>
      <p:sp>
        <p:nvSpPr>
          <p:cNvPr id="2803" name="Text Box 2">
            <a:extLst>
              <a:ext uri="{FF2B5EF4-FFF2-40B4-BE49-F238E27FC236}">
                <a16:creationId xmlns:a16="http://schemas.microsoft.com/office/drawing/2014/main" id="{4FA7E503-F3CF-42BE-A868-D5376C72B4C4}"/>
              </a:ext>
            </a:extLst>
          </p:cNvPr>
          <p:cNvSpPr>
            <a:spLocks noChangeArrowheads="1"/>
          </p:cNvSpPr>
          <p:nvPr/>
        </p:nvSpPr>
        <p:spPr bwMode="auto">
          <a:xfrm>
            <a:off x="1399662" y="3429001"/>
            <a:ext cx="9531505" cy="19495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lnSpc>
                <a:spcPct val="150000"/>
              </a:lnSpc>
              <a:spcBef>
                <a:spcPct val="0"/>
              </a:spcBef>
              <a:spcAft>
                <a:spcPct val="0"/>
              </a:spcAft>
              <a:buSzPct val="100000"/>
            </a:pPr>
            <a:r>
              <a:rPr kumimoji="1" lang="zh-CN" altLang="en-US" sz="2800" b="1" dirty="0">
                <a:solidFill>
                  <a:srgbClr val="000000"/>
                </a:solidFill>
                <a:latin typeface="宋体" panose="02010600030101010101" pitchFamily="2" charset="-122"/>
                <a:cs typeface="Arial"/>
              </a:rPr>
              <a:t>选取垂直线</a:t>
            </a:r>
            <a:r>
              <a:rPr kumimoji="1" lang="en-US" altLang="zh-CN" sz="2800" b="1" i="1" dirty="0">
                <a:solidFill>
                  <a:srgbClr val="000000"/>
                </a:solidFill>
                <a:latin typeface="Times New Roman" panose="02020603050405020304" pitchFamily="18" charset="0"/>
                <a:cs typeface="Arial"/>
              </a:rPr>
              <a:t>x</a:t>
            </a:r>
            <a:r>
              <a:rPr kumimoji="1" lang="en-US" altLang="zh-CN" sz="2800" b="1" dirty="0">
                <a:solidFill>
                  <a:srgbClr val="000000"/>
                </a:solidFill>
                <a:latin typeface="Times New Roman" panose="02020603050405020304" pitchFamily="18" charset="0"/>
                <a:cs typeface="Arial"/>
              </a:rPr>
              <a:t>=</a:t>
            </a:r>
            <a:r>
              <a:rPr kumimoji="1" lang="en-US" altLang="zh-CN" sz="2800" b="1" i="1" dirty="0">
                <a:solidFill>
                  <a:srgbClr val="000000"/>
                </a:solidFill>
                <a:latin typeface="Times New Roman" panose="02020603050405020304" pitchFamily="18" charset="0"/>
                <a:cs typeface="Arial"/>
              </a:rPr>
              <a:t>m</a:t>
            </a:r>
            <a:r>
              <a:rPr kumimoji="1" lang="zh-CN" altLang="en-US" sz="2800" b="1" dirty="0">
                <a:solidFill>
                  <a:srgbClr val="000000"/>
                </a:solidFill>
                <a:latin typeface="宋体" panose="02010600030101010101" pitchFamily="2" charset="-122"/>
                <a:cs typeface="Arial"/>
              </a:rPr>
              <a:t>来作为分割线，其中，</a:t>
            </a:r>
            <a:r>
              <a:rPr kumimoji="1" lang="en-US" altLang="zh-CN" sz="2800" b="1" i="1" dirty="0">
                <a:solidFill>
                  <a:srgbClr val="000000"/>
                </a:solidFill>
                <a:latin typeface="Times New Roman" panose="02020603050405020304" pitchFamily="18" charset="0"/>
                <a:cs typeface="Arial"/>
              </a:rPr>
              <a:t>m</a:t>
            </a:r>
            <a:r>
              <a:rPr kumimoji="1" lang="zh-CN" altLang="en-US" sz="2800" b="1" dirty="0">
                <a:solidFill>
                  <a:srgbClr val="000000"/>
                </a:solidFill>
                <a:latin typeface="宋体" panose="02010600030101010101" pitchFamily="2" charset="-122"/>
                <a:cs typeface="Arial"/>
              </a:rPr>
              <a:t>为</a:t>
            </a:r>
            <a:r>
              <a:rPr kumimoji="1" lang="en-US" altLang="zh-CN" sz="2800" b="1" i="1" dirty="0">
                <a:solidFill>
                  <a:srgbClr val="000000"/>
                </a:solidFill>
                <a:latin typeface="Times New Roman" panose="02020603050405020304" pitchFamily="18" charset="0"/>
                <a:cs typeface="Arial"/>
              </a:rPr>
              <a:t>S</a:t>
            </a:r>
            <a:r>
              <a:rPr kumimoji="1" lang="zh-CN" altLang="en-US" sz="2800" b="1" dirty="0">
                <a:solidFill>
                  <a:srgbClr val="000000"/>
                </a:solidFill>
                <a:latin typeface="宋体" panose="02010600030101010101" pitchFamily="2" charset="-122"/>
                <a:cs typeface="Arial"/>
              </a:rPr>
              <a:t>中各点</a:t>
            </a:r>
            <a:r>
              <a:rPr kumimoji="1" lang="en-US" altLang="zh-CN" sz="2800" b="1" i="1" dirty="0">
                <a:solidFill>
                  <a:srgbClr val="000000"/>
                </a:solidFill>
                <a:latin typeface="Times New Roman" panose="02020603050405020304" pitchFamily="18" charset="0"/>
                <a:cs typeface="Arial"/>
              </a:rPr>
              <a:t>x</a:t>
            </a:r>
            <a:r>
              <a:rPr kumimoji="1" lang="zh-CN" altLang="en-US" sz="2800" b="1" dirty="0">
                <a:solidFill>
                  <a:srgbClr val="000000"/>
                </a:solidFill>
                <a:latin typeface="宋体" panose="02010600030101010101" pitchFamily="2" charset="-122"/>
                <a:cs typeface="Arial"/>
              </a:rPr>
              <a:t>坐标的中位数。由此将</a:t>
            </a:r>
            <a:r>
              <a:rPr kumimoji="1" lang="en-US" altLang="zh-CN" sz="2800" b="1" i="1" dirty="0">
                <a:solidFill>
                  <a:srgbClr val="000000"/>
                </a:solidFill>
                <a:latin typeface="Times New Roman" panose="02020603050405020304" pitchFamily="18" charset="0"/>
                <a:cs typeface="Arial"/>
              </a:rPr>
              <a:t>S</a:t>
            </a:r>
            <a:r>
              <a:rPr kumimoji="1" lang="zh-CN" altLang="en-US" sz="2800" b="1" dirty="0">
                <a:solidFill>
                  <a:srgbClr val="000000"/>
                </a:solidFill>
                <a:latin typeface="宋体" panose="02010600030101010101" pitchFamily="2" charset="-122"/>
                <a:cs typeface="Arial"/>
              </a:rPr>
              <a:t>分割为两个子集</a:t>
            </a:r>
            <a:r>
              <a:rPr kumimoji="1" lang="en-US" altLang="zh-CN" sz="2800" b="1" i="1" dirty="0">
                <a:solidFill>
                  <a:srgbClr val="000000"/>
                </a:solidFill>
                <a:latin typeface="Times New Roman" panose="02020603050405020304" pitchFamily="18" charset="0"/>
                <a:cs typeface="Arial"/>
              </a:rPr>
              <a:t>S</a:t>
            </a:r>
            <a:r>
              <a:rPr kumimoji="1" lang="en-US" altLang="zh-CN" sz="2800" b="1" baseline="-30000" dirty="0">
                <a:solidFill>
                  <a:srgbClr val="000000"/>
                </a:solidFill>
                <a:latin typeface="Times New Roman" panose="02020603050405020304" pitchFamily="18" charset="0"/>
                <a:cs typeface="Arial"/>
              </a:rPr>
              <a:t>1</a:t>
            </a:r>
            <a:r>
              <a:rPr kumimoji="1" lang="en-US" altLang="zh-CN" sz="2800" b="1" dirty="0">
                <a:solidFill>
                  <a:srgbClr val="000000"/>
                </a:solidFill>
                <a:latin typeface="Times New Roman" panose="02020603050405020304" pitchFamily="18" charset="0"/>
                <a:cs typeface="Arial"/>
              </a:rPr>
              <a:t>={</a:t>
            </a:r>
            <a:r>
              <a:rPr kumimoji="1" lang="en-US" altLang="zh-CN" sz="2800" b="1" i="1" dirty="0" err="1">
                <a:solidFill>
                  <a:srgbClr val="000000"/>
                </a:solidFill>
                <a:latin typeface="Times New Roman" panose="02020603050405020304" pitchFamily="18" charset="0"/>
                <a:cs typeface="Arial"/>
              </a:rPr>
              <a:t>p</a:t>
            </a:r>
            <a:r>
              <a:rPr kumimoji="1" lang="en-US" altLang="zh-CN" sz="2800" b="1" dirty="0" err="1">
                <a:solidFill>
                  <a:srgbClr val="000000"/>
                </a:solidFill>
                <a:latin typeface="宋体" panose="02010600030101010101" pitchFamily="2" charset="-122"/>
                <a:cs typeface="Arial"/>
              </a:rPr>
              <a:t>∈</a:t>
            </a:r>
            <a:r>
              <a:rPr kumimoji="1" lang="en-US" altLang="zh-CN" sz="2800" b="1" i="1" dirty="0" err="1">
                <a:solidFill>
                  <a:srgbClr val="000000"/>
                </a:solidFill>
                <a:latin typeface="Times New Roman" panose="02020603050405020304" pitchFamily="18" charset="0"/>
                <a:cs typeface="Arial"/>
              </a:rPr>
              <a:t>S</a:t>
            </a:r>
            <a:r>
              <a:rPr kumimoji="1" lang="en-US" altLang="zh-CN" sz="2800" b="1" dirty="0">
                <a:solidFill>
                  <a:srgbClr val="000000"/>
                </a:solidFill>
                <a:latin typeface="Times New Roman" panose="02020603050405020304" pitchFamily="18" charset="0"/>
                <a:cs typeface="Arial"/>
              </a:rPr>
              <a:t> | </a:t>
            </a:r>
            <a:r>
              <a:rPr kumimoji="1" lang="en-US" altLang="zh-CN" sz="2800" b="1" i="1" dirty="0" err="1">
                <a:solidFill>
                  <a:srgbClr val="000000"/>
                </a:solidFill>
                <a:latin typeface="Times New Roman" panose="02020603050405020304" pitchFamily="18" charset="0"/>
                <a:cs typeface="Arial"/>
              </a:rPr>
              <a:t>x</a:t>
            </a:r>
            <a:r>
              <a:rPr kumimoji="1" lang="en-US" altLang="zh-CN" sz="2800" b="1" i="1" baseline="-30000" dirty="0" err="1">
                <a:solidFill>
                  <a:srgbClr val="000000"/>
                </a:solidFill>
                <a:latin typeface="Times New Roman" panose="02020603050405020304" pitchFamily="18" charset="0"/>
                <a:cs typeface="Arial"/>
              </a:rPr>
              <a:t>p</a:t>
            </a:r>
            <a:r>
              <a:rPr kumimoji="1" lang="en-US" altLang="zh-CN" sz="2800" b="1" dirty="0" err="1">
                <a:solidFill>
                  <a:srgbClr val="000000"/>
                </a:solidFill>
                <a:latin typeface="宋体" panose="02010600030101010101" pitchFamily="2" charset="-122"/>
                <a:cs typeface="Arial"/>
              </a:rPr>
              <a:t>≤</a:t>
            </a:r>
            <a:r>
              <a:rPr kumimoji="1" lang="en-US" altLang="zh-CN" sz="2800" b="1" i="1" dirty="0" err="1">
                <a:solidFill>
                  <a:srgbClr val="000000"/>
                </a:solidFill>
                <a:latin typeface="Times New Roman" panose="02020603050405020304" pitchFamily="18" charset="0"/>
                <a:cs typeface="Arial"/>
              </a:rPr>
              <a:t>m</a:t>
            </a:r>
            <a:r>
              <a:rPr kumimoji="1" lang="en-US" altLang="zh-CN" sz="2800" b="1" dirty="0">
                <a:solidFill>
                  <a:srgbClr val="000000"/>
                </a:solidFill>
                <a:latin typeface="Times New Roman" panose="02020603050405020304" pitchFamily="18" charset="0"/>
                <a:cs typeface="Arial"/>
              </a:rPr>
              <a:t>}</a:t>
            </a:r>
            <a:r>
              <a:rPr kumimoji="1" lang="zh-CN" altLang="en-US" sz="2800" b="1" dirty="0">
                <a:solidFill>
                  <a:srgbClr val="000000"/>
                </a:solidFill>
                <a:latin typeface="宋体" panose="02010600030101010101" pitchFamily="2" charset="-122"/>
                <a:cs typeface="Arial"/>
              </a:rPr>
              <a:t>和</a:t>
            </a:r>
            <a:r>
              <a:rPr kumimoji="1" lang="en-US" altLang="zh-CN" sz="2800" b="1" i="1" dirty="0">
                <a:solidFill>
                  <a:srgbClr val="000000"/>
                </a:solidFill>
                <a:latin typeface="Times New Roman" panose="02020603050405020304" pitchFamily="18" charset="0"/>
                <a:cs typeface="Arial"/>
              </a:rPr>
              <a:t>S</a:t>
            </a:r>
            <a:r>
              <a:rPr kumimoji="1" lang="en-US" altLang="zh-CN" sz="2800" b="1" baseline="-30000" dirty="0">
                <a:solidFill>
                  <a:srgbClr val="000000"/>
                </a:solidFill>
                <a:latin typeface="Times New Roman" panose="02020603050405020304" pitchFamily="18" charset="0"/>
                <a:cs typeface="Arial"/>
              </a:rPr>
              <a:t>2</a:t>
            </a:r>
            <a:r>
              <a:rPr kumimoji="1" lang="en-US" altLang="zh-CN" sz="2800" b="1" dirty="0">
                <a:solidFill>
                  <a:srgbClr val="000000"/>
                </a:solidFill>
                <a:latin typeface="Times New Roman" panose="02020603050405020304" pitchFamily="18" charset="0"/>
                <a:cs typeface="Arial"/>
              </a:rPr>
              <a:t>={</a:t>
            </a:r>
            <a:r>
              <a:rPr kumimoji="1" lang="en-US" altLang="zh-CN" sz="2800" b="1" i="1" dirty="0" err="1">
                <a:solidFill>
                  <a:srgbClr val="000000"/>
                </a:solidFill>
                <a:latin typeface="Times New Roman" panose="02020603050405020304" pitchFamily="18" charset="0"/>
                <a:cs typeface="Arial"/>
              </a:rPr>
              <a:t>q</a:t>
            </a:r>
            <a:r>
              <a:rPr kumimoji="1" lang="en-US" altLang="zh-CN" sz="2800" b="1" dirty="0" err="1">
                <a:solidFill>
                  <a:srgbClr val="000000"/>
                </a:solidFill>
                <a:latin typeface="宋体" panose="02010600030101010101" pitchFamily="2" charset="-122"/>
                <a:cs typeface="Arial"/>
              </a:rPr>
              <a:t>∈</a:t>
            </a:r>
            <a:r>
              <a:rPr kumimoji="1" lang="en-US" altLang="zh-CN" sz="2800" b="1" i="1" dirty="0" err="1">
                <a:solidFill>
                  <a:srgbClr val="000000"/>
                </a:solidFill>
                <a:latin typeface="Times New Roman" panose="02020603050405020304" pitchFamily="18" charset="0"/>
                <a:cs typeface="Arial"/>
              </a:rPr>
              <a:t>S</a:t>
            </a:r>
            <a:r>
              <a:rPr kumimoji="1" lang="en-US" altLang="zh-CN" sz="2800" b="1" dirty="0">
                <a:solidFill>
                  <a:srgbClr val="000000"/>
                </a:solidFill>
                <a:latin typeface="Times New Roman" panose="02020603050405020304" pitchFamily="18" charset="0"/>
                <a:cs typeface="Arial"/>
              </a:rPr>
              <a:t> | </a:t>
            </a:r>
            <a:r>
              <a:rPr kumimoji="1" lang="en-US" altLang="zh-CN" sz="2800" b="1" i="1" dirty="0" err="1">
                <a:solidFill>
                  <a:srgbClr val="000000"/>
                </a:solidFill>
                <a:latin typeface="Times New Roman" panose="02020603050405020304" pitchFamily="18" charset="0"/>
                <a:cs typeface="Arial"/>
              </a:rPr>
              <a:t>x</a:t>
            </a:r>
            <a:r>
              <a:rPr kumimoji="1" lang="en-US" altLang="zh-CN" sz="2800" b="1" i="1" baseline="-30000" dirty="0" err="1">
                <a:solidFill>
                  <a:srgbClr val="000000"/>
                </a:solidFill>
                <a:latin typeface="Times New Roman" panose="02020603050405020304" pitchFamily="18" charset="0"/>
                <a:cs typeface="Arial"/>
              </a:rPr>
              <a:t>q</a:t>
            </a:r>
            <a:r>
              <a:rPr kumimoji="1" lang="zh-CN" altLang="en-US" sz="2800" b="1" dirty="0">
                <a:solidFill>
                  <a:srgbClr val="000000"/>
                </a:solidFill>
                <a:latin typeface="宋体" panose="02010600030101010101" pitchFamily="2" charset="-122"/>
                <a:cs typeface="Arial"/>
              </a:rPr>
              <a:t>＞</a:t>
            </a:r>
            <a:r>
              <a:rPr kumimoji="1" lang="en-US" altLang="zh-CN" sz="2800" b="1" i="1" dirty="0">
                <a:solidFill>
                  <a:srgbClr val="000000"/>
                </a:solidFill>
                <a:latin typeface="Times New Roman" panose="02020603050405020304" pitchFamily="18" charset="0"/>
                <a:cs typeface="Arial"/>
              </a:rPr>
              <a:t>m</a:t>
            </a:r>
            <a:r>
              <a:rPr kumimoji="1" lang="en-US" altLang="zh-CN" sz="2800" b="1" dirty="0">
                <a:solidFill>
                  <a:srgbClr val="000000"/>
                </a:solidFill>
                <a:latin typeface="Times New Roman" panose="02020603050405020304" pitchFamily="18" charset="0"/>
                <a:cs typeface="Arial"/>
              </a:rPr>
              <a:t>}</a:t>
            </a:r>
            <a:r>
              <a:rPr kumimoji="1" lang="zh-CN" altLang="en-US" sz="2800" b="1" dirty="0">
                <a:solidFill>
                  <a:srgbClr val="000000"/>
                </a:solidFill>
                <a:latin typeface="宋体" panose="02010600030101010101" pitchFamily="2" charset="-122"/>
                <a:cs typeface="Arial"/>
              </a:rPr>
              <a:t>。此时，</a:t>
            </a:r>
            <a:r>
              <a:rPr kumimoji="1" lang="en-US" altLang="zh-CN" sz="2800" b="1" i="1" dirty="0">
                <a:solidFill>
                  <a:srgbClr val="000000"/>
                </a:solidFill>
                <a:latin typeface="Times New Roman" panose="02020603050405020304" pitchFamily="18" charset="0"/>
                <a:cs typeface="Arial"/>
              </a:rPr>
              <a:t>S</a:t>
            </a:r>
            <a:r>
              <a:rPr kumimoji="1" lang="en-US" altLang="zh-CN" sz="2800" b="1" baseline="-30000" dirty="0">
                <a:solidFill>
                  <a:srgbClr val="000000"/>
                </a:solidFill>
                <a:latin typeface="Times New Roman" panose="02020603050405020304" pitchFamily="18" charset="0"/>
                <a:cs typeface="Arial"/>
              </a:rPr>
              <a:t>1</a:t>
            </a:r>
            <a:r>
              <a:rPr kumimoji="1" lang="zh-CN" altLang="en-US" sz="2800" b="1" dirty="0">
                <a:solidFill>
                  <a:srgbClr val="000000"/>
                </a:solidFill>
                <a:latin typeface="宋体" panose="02010600030101010101" pitchFamily="2" charset="-122"/>
                <a:cs typeface="Arial"/>
              </a:rPr>
              <a:t>和</a:t>
            </a:r>
            <a:r>
              <a:rPr kumimoji="1" lang="en-US" altLang="zh-CN" sz="2800" b="1" i="1" dirty="0">
                <a:solidFill>
                  <a:srgbClr val="000000"/>
                </a:solidFill>
                <a:latin typeface="Times New Roman" panose="02020603050405020304" pitchFamily="18" charset="0"/>
                <a:cs typeface="Arial"/>
              </a:rPr>
              <a:t>S</a:t>
            </a:r>
            <a:r>
              <a:rPr kumimoji="1" lang="en-US" altLang="zh-CN" sz="2800" b="1" baseline="-30000" dirty="0">
                <a:solidFill>
                  <a:srgbClr val="000000"/>
                </a:solidFill>
                <a:latin typeface="Times New Roman" panose="02020603050405020304" pitchFamily="18" charset="0"/>
                <a:cs typeface="Arial"/>
              </a:rPr>
              <a:t>2</a:t>
            </a:r>
            <a:r>
              <a:rPr kumimoji="1" lang="zh-CN" altLang="en-US" sz="2800" b="1" dirty="0">
                <a:solidFill>
                  <a:srgbClr val="000000"/>
                </a:solidFill>
                <a:latin typeface="宋体" panose="02010600030101010101" pitchFamily="2" charset="-122"/>
                <a:cs typeface="Arial"/>
              </a:rPr>
              <a:t>包含点的个数大致相同。</a:t>
            </a:r>
          </a:p>
        </p:txBody>
      </p:sp>
      <p:sp>
        <p:nvSpPr>
          <p:cNvPr id="4" name="Text 0">
            <a:extLst>
              <a:ext uri="{FF2B5EF4-FFF2-40B4-BE49-F238E27FC236}">
                <a16:creationId xmlns:a16="http://schemas.microsoft.com/office/drawing/2014/main" id="{78A1596E-B8D8-4636-9D27-4FC396A16C04}"/>
              </a:ext>
            </a:extLst>
          </p:cNvPr>
          <p:cNvSpPr/>
          <p:nvPr/>
        </p:nvSpPr>
        <p:spPr>
          <a:xfrm>
            <a:off x="1016000" y="285749"/>
            <a:ext cx="8421371" cy="736600"/>
          </a:xfrm>
          <a:prstGeom prst="rect">
            <a:avLst/>
          </a:prstGeom>
          <a:noFill/>
          <a:ln/>
        </p:spPr>
        <p:txBody>
          <a:bodyPr wrap="square" rtlCol="0" anchor="ctr"/>
          <a:lstStyle/>
          <a:p>
            <a:r>
              <a:rPr lang="zh-CN" altLang="en-US" sz="3200" b="1" dirty="0">
                <a:solidFill>
                  <a:srgbClr val="FFFFFF"/>
                </a:solidFill>
                <a:latin typeface="Noto Sans SC" pitchFamily="34" charset="0"/>
                <a:ea typeface="Noto Sans SC" pitchFamily="34" charset="-122"/>
                <a:cs typeface="Noto Sans SC" pitchFamily="34" charset="-120"/>
              </a:rPr>
              <a:t>最近点对</a:t>
            </a:r>
            <a:endParaRPr lang="en-US" sz="3200" dirty="0"/>
          </a:p>
        </p:txBody>
      </p:sp>
      <p:sp>
        <p:nvSpPr>
          <p:cNvPr id="5" name="TextBox 36">
            <a:extLst>
              <a:ext uri="{FF2B5EF4-FFF2-40B4-BE49-F238E27FC236}">
                <a16:creationId xmlns:a16="http://schemas.microsoft.com/office/drawing/2014/main" id="{23E6FA3E-C9B1-4EBC-B0F5-1BFA0C6502D9}"/>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分治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lang="zh-CN" altLang="en-US" sz="3200" b="1" dirty="0">
                <a:solidFill>
                  <a:srgbClr val="C00000"/>
                </a:solidFill>
                <a:latin typeface="微软雅黑" panose="020B0503020204020204" pitchFamily="34" charset="-122"/>
                <a:ea typeface="微软雅黑" panose="020B0503020204020204" pitchFamily="34" charset="-122"/>
              </a:rPr>
              <a:t>最近点对</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1271115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additive="base">
                                        <p:cTn id="6" dur="1" fill="hold">
                                          <p:stCondLst>
                                            <p:cond delay="0"/>
                                          </p:stCondLst>
                                        </p:cTn>
                                        <p:tgtEl>
                                          <p:spTgt spid="2802"/>
                                        </p:tgtEl>
                                        <p:attrNameLst>
                                          <p:attrName>style.visibility</p:attrName>
                                        </p:attrNameLst>
                                      </p:cBhvr>
                                      <p:to>
                                        <p:strVal val="visible"/>
                                      </p:to>
                                    </p:set>
                                    <p:animEffect transition="in" filter="diamond(in)">
                                      <p:cBhvr additive="base">
                                        <p:cTn id="7" dur="2000"/>
                                        <p:tgtEl>
                                          <p:spTgt spid="2802"/>
                                        </p:tgtEl>
                                      </p:cBhvr>
                                    </p:animEffect>
                                  </p:childTnLst>
                                </p:cTn>
                              </p:par>
                            </p:childTnLst>
                          </p:cTn>
                        </p:par>
                      </p:childTnLst>
                    </p:cTn>
                  </p:par>
                  <p:par>
                    <p:cTn id="8" fill="hold" nodeType="clickPar">
                      <p:stCondLst>
                        <p:cond delay="indefinite"/>
                      </p:stCondLst>
                      <p:childTnLst>
                        <p:par>
                          <p:cTn id="9" fill="hold" nodeType="withGroup">
                            <p:stCondLst>
                              <p:cond delay="indefinite"/>
                            </p:stCondLst>
                          </p:cTn>
                        </p:par>
                        <p:par>
                          <p:cTn id="10" fill="hold" nodeType="afterGroup">
                            <p:stCondLst>
                              <p:cond delay="0"/>
                            </p:stCondLst>
                            <p:childTnLst>
                              <p:par>
                                <p:cTn id="11" presetID="8" presetClass="entr" presetSubtype="16" fill="hold" grpId="0" nodeType="clickEffect">
                                  <p:stCondLst>
                                    <p:cond delay="0"/>
                                  </p:stCondLst>
                                  <p:childTnLst>
                                    <p:set>
                                      <p:cBhvr additive="base">
                                        <p:cTn id="12" dur="1" fill="hold">
                                          <p:stCondLst>
                                            <p:cond delay="0"/>
                                          </p:stCondLst>
                                        </p:cTn>
                                        <p:tgtEl>
                                          <p:spTgt spid="2803"/>
                                        </p:tgtEl>
                                        <p:attrNameLst>
                                          <p:attrName>style.visibility</p:attrName>
                                        </p:attrNameLst>
                                      </p:cBhvr>
                                      <p:to>
                                        <p:strVal val="visible"/>
                                      </p:to>
                                    </p:set>
                                    <p:animEffect transition="in" filter="diamond(in)">
                                      <p:cBhvr additive="base">
                                        <p:cTn id="13" dur="2000"/>
                                        <p:tgtEl>
                                          <p:spTgt spid="28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02" grpId="0" animBg="1"/>
      <p:bldP spid="280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9" name="Text Box 3">
            <a:extLst>
              <a:ext uri="{FF2B5EF4-FFF2-40B4-BE49-F238E27FC236}">
                <a16:creationId xmlns:a16="http://schemas.microsoft.com/office/drawing/2014/main" id="{0D030759-A21D-4D87-935D-58D4B636921A}"/>
              </a:ext>
            </a:extLst>
          </p:cNvPr>
          <p:cNvSpPr>
            <a:spLocks noChangeArrowheads="1"/>
          </p:cNvSpPr>
          <p:nvPr/>
        </p:nvSpPr>
        <p:spPr bwMode="auto">
          <a:xfrm>
            <a:off x="1052675" y="1796650"/>
            <a:ext cx="9830916" cy="19495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lnSpc>
                <a:spcPct val="150000"/>
              </a:lnSpc>
              <a:spcBef>
                <a:spcPct val="0"/>
              </a:spcBef>
              <a:spcAft>
                <a:spcPct val="0"/>
              </a:spcAft>
              <a:buSzPct val="100000"/>
            </a:pPr>
            <a:r>
              <a:rPr kumimoji="1" lang="en-US" altLang="zh-CN" sz="2400" b="1" dirty="0">
                <a:solidFill>
                  <a:srgbClr val="000000"/>
                </a:solidFill>
                <a:latin typeface="宋体" panose="02010600030101010101" pitchFamily="2" charset="-122"/>
                <a:cs typeface="Arial"/>
              </a:rPr>
              <a:t>    </a:t>
            </a:r>
            <a:r>
              <a:rPr kumimoji="1" lang="zh-CN" altLang="en-US" sz="2800" b="1" dirty="0">
                <a:solidFill>
                  <a:srgbClr val="000000"/>
                </a:solidFill>
                <a:latin typeface="宋体" panose="02010600030101010101" pitchFamily="2" charset="-122"/>
                <a:cs typeface="Arial"/>
              </a:rPr>
              <a:t>递归地在</a:t>
            </a:r>
            <a:r>
              <a:rPr kumimoji="1" lang="en-US" altLang="zh-CN" sz="2800" b="1" i="1" dirty="0">
                <a:solidFill>
                  <a:srgbClr val="000000"/>
                </a:solidFill>
                <a:latin typeface="Times New Roman" panose="02020603050405020304" pitchFamily="18" charset="0"/>
                <a:cs typeface="Arial"/>
              </a:rPr>
              <a:t>S</a:t>
            </a:r>
            <a:r>
              <a:rPr kumimoji="1" lang="en-US" altLang="zh-CN" sz="2800" b="1" baseline="-30000" dirty="0">
                <a:solidFill>
                  <a:srgbClr val="000000"/>
                </a:solidFill>
                <a:latin typeface="Times New Roman" panose="02020603050405020304" pitchFamily="18" charset="0"/>
                <a:cs typeface="Arial"/>
              </a:rPr>
              <a:t>1</a:t>
            </a:r>
            <a:r>
              <a:rPr kumimoji="1" lang="zh-CN" altLang="en-US" sz="2800" b="1" dirty="0">
                <a:solidFill>
                  <a:srgbClr val="000000"/>
                </a:solidFill>
                <a:latin typeface="宋体" panose="02010600030101010101" pitchFamily="2" charset="-122"/>
                <a:cs typeface="Arial"/>
              </a:rPr>
              <a:t>和</a:t>
            </a:r>
            <a:r>
              <a:rPr kumimoji="1" lang="en-US" altLang="zh-CN" sz="2800" b="1" dirty="0">
                <a:solidFill>
                  <a:srgbClr val="000000"/>
                </a:solidFill>
                <a:latin typeface="Times New Roman" panose="02020603050405020304" pitchFamily="18" charset="0"/>
                <a:cs typeface="Arial"/>
              </a:rPr>
              <a:t>S</a:t>
            </a:r>
            <a:r>
              <a:rPr kumimoji="1" lang="en-US" altLang="zh-CN" sz="2800" b="1" baseline="-30000" dirty="0">
                <a:solidFill>
                  <a:srgbClr val="000000"/>
                </a:solidFill>
                <a:latin typeface="Times New Roman" panose="02020603050405020304" pitchFamily="18" charset="0"/>
                <a:cs typeface="Arial"/>
              </a:rPr>
              <a:t>2</a:t>
            </a:r>
            <a:r>
              <a:rPr kumimoji="1" lang="zh-CN" altLang="en-US" sz="2800" b="1" dirty="0">
                <a:solidFill>
                  <a:srgbClr val="000000"/>
                </a:solidFill>
                <a:latin typeface="宋体" panose="02010600030101010101" pitchFamily="2" charset="-122"/>
                <a:cs typeface="Arial"/>
              </a:rPr>
              <a:t>上求解最近对问题，分别得到</a:t>
            </a:r>
            <a:r>
              <a:rPr kumimoji="1" lang="en-US" altLang="zh-CN" sz="2800" b="1" i="1" dirty="0">
                <a:solidFill>
                  <a:srgbClr val="000000"/>
                </a:solidFill>
                <a:latin typeface="Times New Roman" panose="02020603050405020304" pitchFamily="18" charset="0"/>
                <a:cs typeface="Arial"/>
              </a:rPr>
              <a:t>S</a:t>
            </a:r>
            <a:r>
              <a:rPr kumimoji="1" lang="en-US" altLang="zh-CN" sz="2800" b="1" baseline="-30000" dirty="0">
                <a:solidFill>
                  <a:srgbClr val="000000"/>
                </a:solidFill>
                <a:latin typeface="Times New Roman" panose="02020603050405020304" pitchFamily="18" charset="0"/>
                <a:cs typeface="Arial"/>
              </a:rPr>
              <a:t>1</a:t>
            </a:r>
            <a:r>
              <a:rPr kumimoji="1" lang="zh-CN" altLang="en-US" sz="2800" b="1" dirty="0">
                <a:solidFill>
                  <a:srgbClr val="000000"/>
                </a:solidFill>
                <a:latin typeface="宋体" panose="02010600030101010101" pitchFamily="2" charset="-122"/>
                <a:cs typeface="Arial"/>
              </a:rPr>
              <a:t>中的最近距离</a:t>
            </a:r>
            <a:r>
              <a:rPr kumimoji="1" lang="en-US" altLang="zh-CN" sz="2800" b="1" i="1" dirty="0">
                <a:solidFill>
                  <a:srgbClr val="000000"/>
                </a:solidFill>
                <a:latin typeface="Times New Roman" panose="02020603050405020304" pitchFamily="18" charset="0"/>
                <a:cs typeface="Arial"/>
              </a:rPr>
              <a:t>d</a:t>
            </a:r>
            <a:r>
              <a:rPr kumimoji="1" lang="en-US" altLang="zh-CN" sz="2800" b="1" baseline="-30000" dirty="0">
                <a:solidFill>
                  <a:srgbClr val="000000"/>
                </a:solidFill>
                <a:latin typeface="Times New Roman" panose="02020603050405020304" pitchFamily="18" charset="0"/>
                <a:cs typeface="Arial"/>
              </a:rPr>
              <a:t>1</a:t>
            </a:r>
            <a:r>
              <a:rPr kumimoji="1" lang="zh-CN" altLang="en-US" sz="2800" b="1" dirty="0">
                <a:solidFill>
                  <a:srgbClr val="000000"/>
                </a:solidFill>
                <a:latin typeface="宋体" panose="02010600030101010101" pitchFamily="2" charset="-122"/>
                <a:cs typeface="Arial"/>
              </a:rPr>
              <a:t>和</a:t>
            </a:r>
            <a:r>
              <a:rPr kumimoji="1" lang="en-US" altLang="zh-CN" sz="2800" b="1" i="1" dirty="0">
                <a:solidFill>
                  <a:srgbClr val="000000"/>
                </a:solidFill>
                <a:latin typeface="Times New Roman" panose="02020603050405020304" pitchFamily="18" charset="0"/>
                <a:cs typeface="Arial"/>
              </a:rPr>
              <a:t>S</a:t>
            </a:r>
            <a:r>
              <a:rPr kumimoji="1" lang="en-US" altLang="zh-CN" sz="2800" b="1" baseline="-30000" dirty="0">
                <a:solidFill>
                  <a:srgbClr val="000000"/>
                </a:solidFill>
                <a:latin typeface="Times New Roman" panose="02020603050405020304" pitchFamily="18" charset="0"/>
                <a:cs typeface="Arial"/>
              </a:rPr>
              <a:t>2</a:t>
            </a:r>
            <a:r>
              <a:rPr kumimoji="1" lang="zh-CN" altLang="en-US" sz="2800" b="1" dirty="0">
                <a:solidFill>
                  <a:srgbClr val="000000"/>
                </a:solidFill>
                <a:latin typeface="宋体" panose="02010600030101010101" pitchFamily="2" charset="-122"/>
                <a:cs typeface="Arial"/>
              </a:rPr>
              <a:t>中的最近距离</a:t>
            </a:r>
            <a:r>
              <a:rPr kumimoji="1" lang="en-US" altLang="zh-CN" sz="2800" b="1" i="1" dirty="0">
                <a:solidFill>
                  <a:srgbClr val="000000"/>
                </a:solidFill>
                <a:latin typeface="Times New Roman" panose="02020603050405020304" pitchFamily="18" charset="0"/>
                <a:cs typeface="Arial"/>
              </a:rPr>
              <a:t>d</a:t>
            </a:r>
            <a:r>
              <a:rPr kumimoji="1" lang="en-US" altLang="zh-CN" sz="2800" b="1" baseline="-30000" dirty="0">
                <a:solidFill>
                  <a:srgbClr val="000000"/>
                </a:solidFill>
                <a:latin typeface="Times New Roman" panose="02020603050405020304" pitchFamily="18" charset="0"/>
                <a:cs typeface="Arial"/>
              </a:rPr>
              <a:t>2</a:t>
            </a:r>
            <a:r>
              <a:rPr kumimoji="1" lang="zh-CN" altLang="en-US" sz="2800" b="1" dirty="0">
                <a:solidFill>
                  <a:srgbClr val="000000"/>
                </a:solidFill>
                <a:latin typeface="宋体" panose="02010600030101010101" pitchFamily="2" charset="-122"/>
                <a:cs typeface="Arial"/>
              </a:rPr>
              <a:t>，令</a:t>
            </a:r>
            <a:r>
              <a:rPr kumimoji="1" lang="en-US" altLang="zh-CN" sz="2800" b="1" i="1" dirty="0">
                <a:solidFill>
                  <a:srgbClr val="000000"/>
                </a:solidFill>
                <a:latin typeface="Times New Roman" panose="02020603050405020304" pitchFamily="18" charset="0"/>
                <a:cs typeface="Arial"/>
              </a:rPr>
              <a:t>d</a:t>
            </a:r>
            <a:r>
              <a:rPr kumimoji="1" lang="en-US" altLang="zh-CN" sz="2800" b="1" dirty="0">
                <a:solidFill>
                  <a:srgbClr val="000000"/>
                </a:solidFill>
                <a:latin typeface="Times New Roman" panose="02020603050405020304" pitchFamily="18" charset="0"/>
                <a:cs typeface="Arial"/>
              </a:rPr>
              <a:t>=min(</a:t>
            </a:r>
            <a:r>
              <a:rPr kumimoji="1" lang="en-US" altLang="zh-CN" sz="2800" b="1" i="1" dirty="0">
                <a:solidFill>
                  <a:srgbClr val="000000"/>
                </a:solidFill>
                <a:latin typeface="Times New Roman" panose="02020603050405020304" pitchFamily="18" charset="0"/>
                <a:cs typeface="Arial"/>
              </a:rPr>
              <a:t>d</a:t>
            </a:r>
            <a:r>
              <a:rPr kumimoji="1" lang="en-US" altLang="zh-CN" sz="2800" b="1" baseline="-30000" dirty="0">
                <a:solidFill>
                  <a:srgbClr val="000000"/>
                </a:solidFill>
                <a:latin typeface="Times New Roman" panose="02020603050405020304" pitchFamily="18" charset="0"/>
                <a:cs typeface="Arial"/>
              </a:rPr>
              <a:t>1</a:t>
            </a:r>
            <a:r>
              <a:rPr kumimoji="1" lang="en-US" altLang="zh-CN" sz="2800" b="1" dirty="0">
                <a:solidFill>
                  <a:srgbClr val="000000"/>
                </a:solidFill>
                <a:latin typeface="Times New Roman" panose="02020603050405020304" pitchFamily="18" charset="0"/>
                <a:cs typeface="Arial"/>
              </a:rPr>
              <a:t>, </a:t>
            </a:r>
            <a:r>
              <a:rPr kumimoji="1" lang="en-US" altLang="zh-CN" sz="2800" b="1" i="1" dirty="0">
                <a:solidFill>
                  <a:srgbClr val="000000"/>
                </a:solidFill>
                <a:latin typeface="Times New Roman" panose="02020603050405020304" pitchFamily="18" charset="0"/>
                <a:cs typeface="Arial"/>
              </a:rPr>
              <a:t>d</a:t>
            </a:r>
            <a:r>
              <a:rPr kumimoji="1" lang="en-US" altLang="zh-CN" sz="2800" b="1" baseline="-30000" dirty="0">
                <a:solidFill>
                  <a:srgbClr val="000000"/>
                </a:solidFill>
                <a:latin typeface="Times New Roman" panose="02020603050405020304" pitchFamily="18" charset="0"/>
                <a:cs typeface="Arial"/>
              </a:rPr>
              <a:t>2</a:t>
            </a:r>
            <a:r>
              <a:rPr kumimoji="1" lang="en-US" altLang="zh-CN" sz="2800" b="1" dirty="0">
                <a:solidFill>
                  <a:srgbClr val="000000"/>
                </a:solidFill>
                <a:latin typeface="Times New Roman" panose="02020603050405020304" pitchFamily="18" charset="0"/>
                <a:cs typeface="Arial"/>
              </a:rPr>
              <a:t>)</a:t>
            </a:r>
            <a:r>
              <a:rPr kumimoji="1" lang="zh-CN" altLang="en-US" sz="2800" b="1" dirty="0">
                <a:solidFill>
                  <a:srgbClr val="000000"/>
                </a:solidFill>
                <a:latin typeface="宋体" panose="02010600030101010101" pitchFamily="2" charset="-122"/>
                <a:cs typeface="Arial"/>
              </a:rPr>
              <a:t>，若</a:t>
            </a:r>
            <a:r>
              <a:rPr kumimoji="1" lang="en-US" altLang="zh-CN" sz="2800" b="1" i="1" dirty="0">
                <a:solidFill>
                  <a:srgbClr val="000000"/>
                </a:solidFill>
                <a:latin typeface="Times New Roman" panose="02020603050405020304" pitchFamily="18" charset="0"/>
                <a:cs typeface="Arial"/>
              </a:rPr>
              <a:t>S</a:t>
            </a:r>
            <a:r>
              <a:rPr kumimoji="1" lang="zh-CN" altLang="en-US" sz="2800" b="1" dirty="0">
                <a:solidFill>
                  <a:srgbClr val="000000"/>
                </a:solidFill>
                <a:latin typeface="宋体" panose="02010600030101010101" pitchFamily="2" charset="-122"/>
                <a:cs typeface="Arial"/>
              </a:rPr>
              <a:t>的最近对</a:t>
            </a:r>
            <a:r>
              <a:rPr kumimoji="1" lang="en-US" altLang="zh-CN" sz="2800" b="1" dirty="0">
                <a:solidFill>
                  <a:srgbClr val="000000"/>
                </a:solidFill>
                <a:latin typeface="Times New Roman" panose="02020603050405020304" pitchFamily="18" charset="0"/>
                <a:cs typeface="Arial"/>
              </a:rPr>
              <a:t>(</a:t>
            </a:r>
            <a:r>
              <a:rPr kumimoji="1" lang="en-US" altLang="zh-CN" sz="2800" b="1" i="1" dirty="0">
                <a:solidFill>
                  <a:srgbClr val="000000"/>
                </a:solidFill>
                <a:latin typeface="Times New Roman" panose="02020603050405020304" pitchFamily="18" charset="0"/>
                <a:cs typeface="Arial"/>
              </a:rPr>
              <a:t>p</a:t>
            </a:r>
            <a:r>
              <a:rPr kumimoji="1" lang="en-US" altLang="zh-CN" sz="2800" b="1" dirty="0">
                <a:solidFill>
                  <a:srgbClr val="000000"/>
                </a:solidFill>
                <a:latin typeface="Times New Roman" panose="02020603050405020304" pitchFamily="18" charset="0"/>
                <a:cs typeface="Arial"/>
              </a:rPr>
              <a:t>, </a:t>
            </a:r>
            <a:r>
              <a:rPr kumimoji="1" lang="en-US" altLang="zh-CN" sz="2800" b="1" i="1" dirty="0">
                <a:solidFill>
                  <a:srgbClr val="000000"/>
                </a:solidFill>
                <a:latin typeface="Times New Roman" panose="02020603050405020304" pitchFamily="18" charset="0"/>
                <a:cs typeface="Arial"/>
              </a:rPr>
              <a:t>q</a:t>
            </a:r>
            <a:r>
              <a:rPr kumimoji="1" lang="en-US" altLang="zh-CN" sz="2800" b="1" dirty="0">
                <a:solidFill>
                  <a:srgbClr val="000000"/>
                </a:solidFill>
                <a:latin typeface="Times New Roman" panose="02020603050405020304" pitchFamily="18" charset="0"/>
                <a:cs typeface="Arial"/>
              </a:rPr>
              <a:t>)</a:t>
            </a:r>
            <a:r>
              <a:rPr kumimoji="1" lang="zh-CN" altLang="en-US" sz="2800" b="1" dirty="0">
                <a:solidFill>
                  <a:srgbClr val="000000"/>
                </a:solidFill>
                <a:latin typeface="宋体" panose="02010600030101010101" pitchFamily="2" charset="-122"/>
                <a:cs typeface="Arial"/>
              </a:rPr>
              <a:t>之间的距离小于</a:t>
            </a:r>
            <a:r>
              <a:rPr kumimoji="1" lang="en-US" altLang="zh-CN" sz="2800" b="1" i="1" dirty="0">
                <a:solidFill>
                  <a:srgbClr val="000000"/>
                </a:solidFill>
                <a:latin typeface="Times New Roman" panose="02020603050405020304" pitchFamily="18" charset="0"/>
                <a:cs typeface="Arial"/>
              </a:rPr>
              <a:t>d</a:t>
            </a:r>
            <a:r>
              <a:rPr kumimoji="1" lang="zh-CN" altLang="en-US" sz="2800" b="1" dirty="0">
                <a:solidFill>
                  <a:srgbClr val="000000"/>
                </a:solidFill>
                <a:latin typeface="宋体" panose="02010600030101010101" pitchFamily="2" charset="-122"/>
                <a:cs typeface="Arial"/>
              </a:rPr>
              <a:t>，则</a:t>
            </a:r>
            <a:r>
              <a:rPr kumimoji="1" lang="en-US" altLang="zh-CN" sz="2800" b="1" i="1" dirty="0">
                <a:solidFill>
                  <a:srgbClr val="000000"/>
                </a:solidFill>
                <a:latin typeface="Times New Roman" panose="02020603050405020304" pitchFamily="18" charset="0"/>
                <a:cs typeface="Arial"/>
              </a:rPr>
              <a:t>p</a:t>
            </a:r>
            <a:r>
              <a:rPr kumimoji="1" lang="zh-CN" altLang="en-US" sz="2800" b="1" dirty="0">
                <a:solidFill>
                  <a:srgbClr val="000000"/>
                </a:solidFill>
                <a:latin typeface="宋体" panose="02010600030101010101" pitchFamily="2" charset="-122"/>
                <a:cs typeface="Arial"/>
              </a:rPr>
              <a:t>和</a:t>
            </a:r>
            <a:r>
              <a:rPr kumimoji="1" lang="en-US" altLang="zh-CN" sz="2800" b="1" i="1" dirty="0">
                <a:solidFill>
                  <a:srgbClr val="000000"/>
                </a:solidFill>
                <a:latin typeface="Times New Roman" panose="02020603050405020304" pitchFamily="18" charset="0"/>
                <a:cs typeface="Arial"/>
              </a:rPr>
              <a:t>q</a:t>
            </a:r>
            <a:r>
              <a:rPr kumimoji="1" lang="zh-CN" altLang="en-US" sz="2800" b="1" dirty="0">
                <a:solidFill>
                  <a:srgbClr val="000000"/>
                </a:solidFill>
                <a:latin typeface="宋体" panose="02010600030101010101" pitchFamily="2" charset="-122"/>
                <a:cs typeface="Arial"/>
              </a:rPr>
              <a:t>必分属于</a:t>
            </a:r>
            <a:r>
              <a:rPr kumimoji="1" lang="en-US" altLang="zh-CN" sz="2800" b="1" i="1" dirty="0">
                <a:solidFill>
                  <a:srgbClr val="000000"/>
                </a:solidFill>
                <a:latin typeface="Times New Roman" panose="02020603050405020304" pitchFamily="18" charset="0"/>
                <a:cs typeface="Arial"/>
              </a:rPr>
              <a:t>S</a:t>
            </a:r>
            <a:r>
              <a:rPr kumimoji="1" lang="en-US" altLang="zh-CN" sz="2800" b="1" baseline="-30000" dirty="0">
                <a:solidFill>
                  <a:srgbClr val="000000"/>
                </a:solidFill>
                <a:latin typeface="Times New Roman" panose="02020603050405020304" pitchFamily="18" charset="0"/>
                <a:cs typeface="Arial"/>
              </a:rPr>
              <a:t>1</a:t>
            </a:r>
            <a:r>
              <a:rPr kumimoji="1" lang="zh-CN" altLang="en-US" sz="2800" b="1" dirty="0">
                <a:solidFill>
                  <a:srgbClr val="000000"/>
                </a:solidFill>
                <a:latin typeface="宋体" panose="02010600030101010101" pitchFamily="2" charset="-122"/>
                <a:cs typeface="Arial"/>
              </a:rPr>
              <a:t>和</a:t>
            </a:r>
            <a:r>
              <a:rPr kumimoji="1" lang="en-US" altLang="zh-CN" sz="2800" b="1" dirty="0">
                <a:solidFill>
                  <a:srgbClr val="000000"/>
                </a:solidFill>
                <a:latin typeface="Times New Roman" panose="02020603050405020304" pitchFamily="18" charset="0"/>
                <a:cs typeface="Arial"/>
              </a:rPr>
              <a:t>S</a:t>
            </a:r>
            <a:r>
              <a:rPr kumimoji="1" lang="en-US" altLang="zh-CN" sz="2800" b="1" baseline="-30000" dirty="0">
                <a:solidFill>
                  <a:srgbClr val="000000"/>
                </a:solidFill>
                <a:latin typeface="Times New Roman" panose="02020603050405020304" pitchFamily="18" charset="0"/>
                <a:cs typeface="Arial"/>
              </a:rPr>
              <a:t>2</a:t>
            </a:r>
            <a:r>
              <a:rPr kumimoji="1" lang="zh-CN" altLang="en-US" sz="2800" b="1" dirty="0">
                <a:solidFill>
                  <a:srgbClr val="000000"/>
                </a:solidFill>
                <a:latin typeface="宋体" panose="02010600030101010101" pitchFamily="2" charset="-122"/>
                <a:cs typeface="Arial"/>
              </a:rPr>
              <a:t>。</a:t>
            </a:r>
            <a:r>
              <a:rPr kumimoji="1" lang="zh-CN" altLang="en-US" sz="2800" b="1" dirty="0">
                <a:solidFill>
                  <a:srgbClr val="000000"/>
                </a:solidFill>
                <a:latin typeface="Times New Roman" panose="02020603050405020304" pitchFamily="18" charset="0"/>
                <a:cs typeface="Arial"/>
              </a:rPr>
              <a:t> </a:t>
            </a:r>
          </a:p>
        </p:txBody>
      </p:sp>
      <p:sp>
        <p:nvSpPr>
          <p:cNvPr id="2810" name="Text Box 3">
            <a:extLst>
              <a:ext uri="{FF2B5EF4-FFF2-40B4-BE49-F238E27FC236}">
                <a16:creationId xmlns:a16="http://schemas.microsoft.com/office/drawing/2014/main" id="{BCAC4B6C-F8AB-4CDF-B56B-C83EB1C4E50A}"/>
              </a:ext>
            </a:extLst>
          </p:cNvPr>
          <p:cNvSpPr>
            <a:spLocks noChangeArrowheads="1"/>
          </p:cNvSpPr>
          <p:nvPr/>
        </p:nvSpPr>
        <p:spPr bwMode="auto">
          <a:xfrm>
            <a:off x="1052675" y="3904789"/>
            <a:ext cx="10205596" cy="19495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lnSpc>
                <a:spcPct val="150000"/>
              </a:lnSpc>
              <a:spcBef>
                <a:spcPct val="0"/>
              </a:spcBef>
              <a:spcAft>
                <a:spcPct val="0"/>
              </a:spcAft>
              <a:buSzPct val="100000"/>
            </a:pPr>
            <a:r>
              <a:rPr kumimoji="1" lang="zh-CN" altLang="en-US" sz="2400" b="1" dirty="0">
                <a:solidFill>
                  <a:srgbClr val="000000"/>
                </a:solidFill>
                <a:latin typeface="宋体" panose="02010600030101010101" pitchFamily="2" charset="-122"/>
                <a:cs typeface="Arial"/>
              </a:rPr>
              <a:t>     </a:t>
            </a:r>
            <a:r>
              <a:rPr kumimoji="1" lang="zh-CN" altLang="en-US" sz="2800" b="1" dirty="0">
                <a:solidFill>
                  <a:srgbClr val="000000"/>
                </a:solidFill>
                <a:latin typeface="宋体" panose="02010600030101010101" pitchFamily="2" charset="-122"/>
                <a:cs typeface="Arial"/>
              </a:rPr>
              <a:t>不妨设</a:t>
            </a:r>
            <a:r>
              <a:rPr kumimoji="1" lang="en-US" altLang="zh-CN" sz="2800" b="1" i="1" dirty="0">
                <a:solidFill>
                  <a:srgbClr val="000000"/>
                </a:solidFill>
                <a:latin typeface="Times New Roman" panose="02020603050405020304" pitchFamily="18" charset="0"/>
                <a:cs typeface="Arial"/>
              </a:rPr>
              <a:t>p</a:t>
            </a:r>
            <a:r>
              <a:rPr kumimoji="1" lang="en-US" altLang="zh-CN" sz="2800" b="1" dirty="0">
                <a:solidFill>
                  <a:srgbClr val="000000"/>
                </a:solidFill>
                <a:latin typeface="宋体" panose="02010600030101010101" pitchFamily="2" charset="-122"/>
                <a:cs typeface="Arial"/>
              </a:rPr>
              <a:t>∈</a:t>
            </a:r>
            <a:r>
              <a:rPr kumimoji="1" lang="en-US" altLang="zh-CN" sz="2800" b="1" i="1" dirty="0">
                <a:solidFill>
                  <a:srgbClr val="000000"/>
                </a:solidFill>
                <a:latin typeface="Times New Roman" panose="02020603050405020304" pitchFamily="18" charset="0"/>
                <a:cs typeface="Arial"/>
              </a:rPr>
              <a:t>S</a:t>
            </a:r>
            <a:r>
              <a:rPr kumimoji="1" lang="en-US" altLang="zh-CN" sz="2800" b="1" baseline="-30000" dirty="0">
                <a:solidFill>
                  <a:srgbClr val="000000"/>
                </a:solidFill>
                <a:latin typeface="Times New Roman" panose="02020603050405020304" pitchFamily="18" charset="0"/>
                <a:cs typeface="Arial"/>
              </a:rPr>
              <a:t>1</a:t>
            </a:r>
            <a:r>
              <a:rPr kumimoji="1" lang="zh-CN" altLang="en-US" sz="2800" b="1" dirty="0">
                <a:solidFill>
                  <a:srgbClr val="000000"/>
                </a:solidFill>
                <a:latin typeface="宋体" panose="02010600030101010101" pitchFamily="2" charset="-122"/>
                <a:cs typeface="Arial"/>
              </a:rPr>
              <a:t>，</a:t>
            </a:r>
            <a:r>
              <a:rPr kumimoji="1" lang="en-US" altLang="zh-CN" sz="2800" b="1" i="1" dirty="0">
                <a:solidFill>
                  <a:srgbClr val="000000"/>
                </a:solidFill>
                <a:latin typeface="Times New Roman" panose="02020603050405020304" pitchFamily="18" charset="0"/>
                <a:cs typeface="Arial"/>
              </a:rPr>
              <a:t>q</a:t>
            </a:r>
            <a:r>
              <a:rPr kumimoji="1" lang="en-US" altLang="zh-CN" sz="2800" b="1" dirty="0">
                <a:solidFill>
                  <a:srgbClr val="000000"/>
                </a:solidFill>
                <a:latin typeface="宋体" panose="02010600030101010101" pitchFamily="2" charset="-122"/>
                <a:cs typeface="Arial"/>
              </a:rPr>
              <a:t>∈</a:t>
            </a:r>
            <a:r>
              <a:rPr kumimoji="1" lang="en-US" altLang="zh-CN" sz="2800" b="1" i="1" dirty="0">
                <a:solidFill>
                  <a:srgbClr val="000000"/>
                </a:solidFill>
                <a:latin typeface="Times New Roman" panose="02020603050405020304" pitchFamily="18" charset="0"/>
                <a:cs typeface="Arial"/>
              </a:rPr>
              <a:t>S</a:t>
            </a:r>
            <a:r>
              <a:rPr kumimoji="1" lang="en-US" altLang="zh-CN" sz="2800" b="1" baseline="-30000" dirty="0">
                <a:solidFill>
                  <a:srgbClr val="000000"/>
                </a:solidFill>
                <a:latin typeface="Times New Roman" panose="02020603050405020304" pitchFamily="18" charset="0"/>
                <a:cs typeface="Arial"/>
              </a:rPr>
              <a:t>2</a:t>
            </a:r>
            <a:r>
              <a:rPr kumimoji="1" lang="zh-CN" altLang="en-US" sz="2800" b="1" dirty="0">
                <a:solidFill>
                  <a:srgbClr val="000000"/>
                </a:solidFill>
                <a:latin typeface="宋体" panose="02010600030101010101" pitchFamily="2" charset="-122"/>
                <a:cs typeface="Arial"/>
              </a:rPr>
              <a:t>，则</a:t>
            </a:r>
            <a:r>
              <a:rPr kumimoji="1" lang="en-US" altLang="zh-CN" sz="2800" b="1" i="1" dirty="0">
                <a:solidFill>
                  <a:srgbClr val="000000"/>
                </a:solidFill>
                <a:latin typeface="Times New Roman" panose="02020603050405020304" pitchFamily="18" charset="0"/>
                <a:cs typeface="Arial"/>
              </a:rPr>
              <a:t>p</a:t>
            </a:r>
            <a:r>
              <a:rPr kumimoji="1" lang="zh-CN" altLang="en-US" sz="2800" b="1" dirty="0">
                <a:solidFill>
                  <a:srgbClr val="000000"/>
                </a:solidFill>
                <a:latin typeface="宋体" panose="02010600030101010101" pitchFamily="2" charset="-122"/>
                <a:cs typeface="Arial"/>
              </a:rPr>
              <a:t>和</a:t>
            </a:r>
            <a:r>
              <a:rPr kumimoji="1" lang="en-US" altLang="zh-CN" sz="2800" b="1" i="1" dirty="0">
                <a:solidFill>
                  <a:srgbClr val="000000"/>
                </a:solidFill>
                <a:latin typeface="Times New Roman" panose="02020603050405020304" pitchFamily="18" charset="0"/>
                <a:cs typeface="Arial"/>
              </a:rPr>
              <a:t>q</a:t>
            </a:r>
            <a:r>
              <a:rPr kumimoji="1" lang="zh-CN" altLang="en-US" sz="2800" b="1" dirty="0">
                <a:solidFill>
                  <a:srgbClr val="000000"/>
                </a:solidFill>
                <a:latin typeface="宋体" panose="02010600030101010101" pitchFamily="2" charset="-122"/>
                <a:cs typeface="Arial"/>
              </a:rPr>
              <a:t>距直线</a:t>
            </a:r>
            <a:r>
              <a:rPr kumimoji="1" lang="en-US" altLang="zh-CN" sz="2800" b="1" i="1" dirty="0">
                <a:solidFill>
                  <a:srgbClr val="000000"/>
                </a:solidFill>
                <a:latin typeface="Times New Roman" panose="02020603050405020304" pitchFamily="18" charset="0"/>
                <a:cs typeface="Arial"/>
              </a:rPr>
              <a:t>x</a:t>
            </a:r>
            <a:r>
              <a:rPr kumimoji="1" lang="en-US" altLang="zh-CN" sz="2800" b="1" dirty="0">
                <a:solidFill>
                  <a:srgbClr val="000000"/>
                </a:solidFill>
                <a:latin typeface="Times New Roman" panose="02020603050405020304" pitchFamily="18" charset="0"/>
                <a:cs typeface="Arial"/>
              </a:rPr>
              <a:t>=</a:t>
            </a:r>
            <a:r>
              <a:rPr kumimoji="1" lang="en-US" altLang="zh-CN" sz="2800" b="1" i="1" dirty="0">
                <a:solidFill>
                  <a:srgbClr val="000000"/>
                </a:solidFill>
                <a:latin typeface="Times New Roman" panose="02020603050405020304" pitchFamily="18" charset="0"/>
                <a:cs typeface="Arial"/>
              </a:rPr>
              <a:t>m</a:t>
            </a:r>
            <a:r>
              <a:rPr kumimoji="1" lang="zh-CN" altLang="en-US" sz="2800" b="1" dirty="0">
                <a:solidFill>
                  <a:srgbClr val="000000"/>
                </a:solidFill>
                <a:latin typeface="宋体" panose="02010600030101010101" pitchFamily="2" charset="-122"/>
                <a:cs typeface="Arial"/>
              </a:rPr>
              <a:t>的距离均小于</a:t>
            </a:r>
            <a:r>
              <a:rPr kumimoji="1" lang="en-US" altLang="zh-CN" sz="2800" b="1" i="1" dirty="0">
                <a:solidFill>
                  <a:srgbClr val="000000"/>
                </a:solidFill>
                <a:latin typeface="Times New Roman" panose="02020603050405020304" pitchFamily="18" charset="0"/>
                <a:cs typeface="Arial"/>
              </a:rPr>
              <a:t>d</a:t>
            </a:r>
            <a:r>
              <a:rPr kumimoji="1" lang="zh-CN" altLang="en-US" sz="2800" b="1" dirty="0">
                <a:solidFill>
                  <a:srgbClr val="000000"/>
                </a:solidFill>
                <a:latin typeface="宋体" panose="02010600030101010101" pitchFamily="2" charset="-122"/>
                <a:cs typeface="Arial"/>
              </a:rPr>
              <a:t>，所以，可以将求解限制在以</a:t>
            </a:r>
            <a:r>
              <a:rPr kumimoji="1" lang="en-US" altLang="zh-CN" sz="2800" b="1" i="1" dirty="0">
                <a:solidFill>
                  <a:srgbClr val="000000"/>
                </a:solidFill>
                <a:latin typeface="Times New Roman" panose="02020603050405020304" pitchFamily="18" charset="0"/>
                <a:cs typeface="Arial"/>
              </a:rPr>
              <a:t>x</a:t>
            </a:r>
            <a:r>
              <a:rPr kumimoji="1" lang="en-US" altLang="zh-CN" sz="2800" b="1" dirty="0">
                <a:solidFill>
                  <a:srgbClr val="000000"/>
                </a:solidFill>
                <a:latin typeface="Times New Roman" panose="02020603050405020304" pitchFamily="18" charset="0"/>
                <a:cs typeface="Arial"/>
              </a:rPr>
              <a:t>=</a:t>
            </a:r>
            <a:r>
              <a:rPr kumimoji="1" lang="en-US" altLang="zh-CN" sz="2800" b="1" i="1" dirty="0">
                <a:solidFill>
                  <a:srgbClr val="000000"/>
                </a:solidFill>
                <a:latin typeface="Times New Roman" panose="02020603050405020304" pitchFamily="18" charset="0"/>
                <a:cs typeface="Arial"/>
              </a:rPr>
              <a:t>m</a:t>
            </a:r>
            <a:r>
              <a:rPr kumimoji="1" lang="zh-CN" altLang="en-US" sz="2800" b="1" dirty="0">
                <a:solidFill>
                  <a:srgbClr val="000000"/>
                </a:solidFill>
                <a:latin typeface="宋体" panose="02010600030101010101" pitchFamily="2" charset="-122"/>
                <a:cs typeface="Arial"/>
              </a:rPr>
              <a:t>为中心、宽度为</a:t>
            </a:r>
            <a:r>
              <a:rPr kumimoji="1" lang="en-US" altLang="zh-CN" sz="2800" b="1" i="1" dirty="0">
                <a:solidFill>
                  <a:srgbClr val="000000"/>
                </a:solidFill>
                <a:latin typeface="Times New Roman" panose="02020603050405020304" pitchFamily="18" charset="0"/>
                <a:cs typeface="Arial"/>
              </a:rPr>
              <a:t>d</a:t>
            </a:r>
            <a:r>
              <a:rPr kumimoji="1" lang="zh-CN" altLang="en-US" sz="2800" b="1" dirty="0">
                <a:solidFill>
                  <a:srgbClr val="000000"/>
                </a:solidFill>
                <a:latin typeface="宋体" panose="02010600030101010101" pitchFamily="2" charset="-122"/>
                <a:cs typeface="Arial"/>
              </a:rPr>
              <a:t>的垂直带</a:t>
            </a:r>
            <a:r>
              <a:rPr kumimoji="1" lang="en-US" altLang="zh-CN" sz="2800" b="1" i="1" dirty="0">
                <a:solidFill>
                  <a:srgbClr val="000000"/>
                </a:solidFill>
                <a:latin typeface="Times New Roman" panose="02020603050405020304" pitchFamily="18" charset="0"/>
                <a:cs typeface="Arial"/>
              </a:rPr>
              <a:t>P</a:t>
            </a:r>
            <a:r>
              <a:rPr kumimoji="1" lang="en-US" altLang="zh-CN" sz="2800" b="1" dirty="0">
                <a:solidFill>
                  <a:srgbClr val="000000"/>
                </a:solidFill>
                <a:latin typeface="Times New Roman" panose="02020603050405020304" pitchFamily="18" charset="0"/>
                <a:cs typeface="Arial"/>
              </a:rPr>
              <a:t>1</a:t>
            </a:r>
            <a:r>
              <a:rPr kumimoji="1" lang="zh-CN" altLang="en-US" sz="2800" b="1" dirty="0">
                <a:solidFill>
                  <a:srgbClr val="000000"/>
                </a:solidFill>
                <a:latin typeface="宋体" panose="02010600030101010101" pitchFamily="2" charset="-122"/>
                <a:cs typeface="Arial"/>
              </a:rPr>
              <a:t>和</a:t>
            </a:r>
            <a:r>
              <a:rPr kumimoji="1" lang="en-US" altLang="zh-CN" sz="2800" b="1" i="1" dirty="0">
                <a:solidFill>
                  <a:srgbClr val="000000"/>
                </a:solidFill>
                <a:latin typeface="Times New Roman" panose="02020603050405020304" pitchFamily="18" charset="0"/>
                <a:cs typeface="Arial"/>
              </a:rPr>
              <a:t>P</a:t>
            </a:r>
            <a:r>
              <a:rPr kumimoji="1" lang="en-US" altLang="zh-CN" sz="2800" b="1" dirty="0">
                <a:solidFill>
                  <a:srgbClr val="000000"/>
                </a:solidFill>
                <a:latin typeface="Times New Roman" panose="02020603050405020304" pitchFamily="18" charset="0"/>
                <a:cs typeface="Arial"/>
              </a:rPr>
              <a:t>2</a:t>
            </a:r>
            <a:r>
              <a:rPr kumimoji="1" lang="zh-CN" altLang="en-US" sz="2800" b="1" dirty="0">
                <a:solidFill>
                  <a:srgbClr val="000000"/>
                </a:solidFill>
                <a:latin typeface="宋体" panose="02010600030101010101" pitchFamily="2" charset="-122"/>
                <a:cs typeface="Arial"/>
              </a:rPr>
              <a:t>中，垂直带之外的任何点对之间的距离都一定大于</a:t>
            </a:r>
            <a:r>
              <a:rPr kumimoji="1" lang="en-US" altLang="zh-CN" sz="2800" b="1" i="1" dirty="0">
                <a:solidFill>
                  <a:srgbClr val="000000"/>
                </a:solidFill>
                <a:latin typeface="Times New Roman" panose="02020603050405020304" pitchFamily="18" charset="0"/>
                <a:cs typeface="Arial"/>
              </a:rPr>
              <a:t>d</a:t>
            </a:r>
            <a:r>
              <a:rPr kumimoji="1" lang="zh-CN" altLang="en-US" sz="2800" b="1" dirty="0">
                <a:solidFill>
                  <a:srgbClr val="000000"/>
                </a:solidFill>
                <a:latin typeface="宋体" panose="02010600030101010101" pitchFamily="2" charset="-122"/>
                <a:cs typeface="Arial"/>
              </a:rPr>
              <a:t>。</a:t>
            </a:r>
            <a:r>
              <a:rPr kumimoji="1" lang="zh-CN" altLang="en-US" sz="2800" b="1" dirty="0">
                <a:solidFill>
                  <a:srgbClr val="000000"/>
                </a:solidFill>
                <a:latin typeface="Times New Roman" panose="02020603050405020304" pitchFamily="18" charset="0"/>
                <a:cs typeface="Arial"/>
              </a:rPr>
              <a:t> </a:t>
            </a:r>
          </a:p>
        </p:txBody>
      </p:sp>
      <p:sp>
        <p:nvSpPr>
          <p:cNvPr id="4" name="Text 0">
            <a:extLst>
              <a:ext uri="{FF2B5EF4-FFF2-40B4-BE49-F238E27FC236}">
                <a16:creationId xmlns:a16="http://schemas.microsoft.com/office/drawing/2014/main" id="{391EF243-6DB3-4363-9859-17CD92835F2F}"/>
              </a:ext>
            </a:extLst>
          </p:cNvPr>
          <p:cNvSpPr/>
          <p:nvPr/>
        </p:nvSpPr>
        <p:spPr>
          <a:xfrm>
            <a:off x="1016000" y="285749"/>
            <a:ext cx="8421371" cy="736600"/>
          </a:xfrm>
          <a:prstGeom prst="rect">
            <a:avLst/>
          </a:prstGeom>
          <a:noFill/>
          <a:ln/>
        </p:spPr>
        <p:txBody>
          <a:bodyPr wrap="square" rtlCol="0" anchor="ctr"/>
          <a:lstStyle/>
          <a:p>
            <a:r>
              <a:rPr lang="zh-CN" altLang="en-US" sz="3200" b="1" dirty="0">
                <a:solidFill>
                  <a:srgbClr val="FFFFFF"/>
                </a:solidFill>
                <a:latin typeface="Noto Sans SC" pitchFamily="34" charset="0"/>
                <a:ea typeface="Noto Sans SC" pitchFamily="34" charset="-122"/>
                <a:cs typeface="Noto Sans SC" pitchFamily="34" charset="-120"/>
              </a:rPr>
              <a:t>最近点对</a:t>
            </a:r>
            <a:endParaRPr lang="en-US" sz="3200" dirty="0"/>
          </a:p>
        </p:txBody>
      </p:sp>
      <p:sp>
        <p:nvSpPr>
          <p:cNvPr id="5" name="TextBox 36">
            <a:extLst>
              <a:ext uri="{FF2B5EF4-FFF2-40B4-BE49-F238E27FC236}">
                <a16:creationId xmlns:a16="http://schemas.microsoft.com/office/drawing/2014/main" id="{A44AF1B6-DCB9-4BF0-84B8-A60B34CDB4E1}"/>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分治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lang="zh-CN" altLang="en-US" sz="3200" b="1" dirty="0">
                <a:solidFill>
                  <a:srgbClr val="C00000"/>
                </a:solidFill>
                <a:latin typeface="微软雅黑" panose="020B0503020204020204" pitchFamily="34" charset="-122"/>
                <a:ea typeface="微软雅黑" panose="020B0503020204020204" pitchFamily="34" charset="-122"/>
              </a:rPr>
              <a:t>最近点对</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150288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7" presetClass="entr" presetSubtype="0" fill="hold" grpId="0" nodeType="clickEffect">
                                  <p:stCondLst>
                                    <p:cond delay="0"/>
                                  </p:stCondLst>
                                  <p:childTnLst>
                                    <p:set>
                                      <p:cBhvr additive="base">
                                        <p:cTn id="6" dur="1" fill="hold">
                                          <p:stCondLst>
                                            <p:cond delay="0"/>
                                          </p:stCondLst>
                                        </p:cTn>
                                        <p:tgtEl>
                                          <p:spTgt spid="2809"/>
                                        </p:tgtEl>
                                        <p:attrNameLst>
                                          <p:attrName>style.visibility</p:attrName>
                                        </p:attrNameLst>
                                      </p:cBhvr>
                                      <p:to>
                                        <p:strVal val="visible"/>
                                      </p:to>
                                    </p:set>
                                    <p:animEffect transition="in" filter="fade">
                                      <p:cBhvr additive="base">
                                        <p:cTn id="7" dur="1000"/>
                                        <p:tgtEl>
                                          <p:spTgt spid="2809"/>
                                        </p:tgtEl>
                                      </p:cBhvr>
                                    </p:animEffect>
                                    <p:anim calcmode="lin" valueType="num">
                                      <p:cBhvr additive="base">
                                        <p:cTn id="8" dur="1000" fill="hold"/>
                                        <p:tgtEl>
                                          <p:spTgt spid="2809"/>
                                        </p:tgtEl>
                                        <p:attrNameLst>
                                          <p:attrName>ppt_x</p:attrName>
                                        </p:attrNameLst>
                                      </p:cBhvr>
                                      <p:tavLst>
                                        <p:tav tm="0">
                                          <p:val>
                                            <p:strVal val="#ppt_x"/>
                                          </p:val>
                                        </p:tav>
                                        <p:tav tm="100000">
                                          <p:val>
                                            <p:strVal val="#ppt_x"/>
                                          </p:val>
                                        </p:tav>
                                      </p:tavLst>
                                    </p:anim>
                                    <p:anim calcmode="lin" valueType="num">
                                      <p:cBhvr additive="base">
                                        <p:cTn id="9" dur="1000" fill="hold"/>
                                        <p:tgtEl>
                                          <p:spTgt spid="2809"/>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indefinite"/>
                            </p:stCondLst>
                          </p:cTn>
                        </p:par>
                        <p:par>
                          <p:cTn id="12" fill="hold" nodeType="afterGroup">
                            <p:stCondLst>
                              <p:cond delay="0"/>
                            </p:stCondLst>
                            <p:childTnLst>
                              <p:par>
                                <p:cTn id="13" presetID="47" presetClass="entr" presetSubtype="0" fill="hold" grpId="0" nodeType="clickEffect">
                                  <p:stCondLst>
                                    <p:cond delay="0"/>
                                  </p:stCondLst>
                                  <p:childTnLst>
                                    <p:set>
                                      <p:cBhvr additive="base">
                                        <p:cTn id="14" dur="1" fill="hold">
                                          <p:stCondLst>
                                            <p:cond delay="0"/>
                                          </p:stCondLst>
                                        </p:cTn>
                                        <p:tgtEl>
                                          <p:spTgt spid="2810"/>
                                        </p:tgtEl>
                                        <p:attrNameLst>
                                          <p:attrName>style.visibility</p:attrName>
                                        </p:attrNameLst>
                                      </p:cBhvr>
                                      <p:to>
                                        <p:strVal val="visible"/>
                                      </p:to>
                                    </p:set>
                                    <p:animEffect transition="in" filter="fade">
                                      <p:cBhvr additive="base">
                                        <p:cTn id="15" dur="1000"/>
                                        <p:tgtEl>
                                          <p:spTgt spid="2810"/>
                                        </p:tgtEl>
                                      </p:cBhvr>
                                    </p:animEffect>
                                    <p:anim calcmode="lin" valueType="num">
                                      <p:cBhvr additive="base">
                                        <p:cTn id="16" dur="1000" fill="hold"/>
                                        <p:tgtEl>
                                          <p:spTgt spid="2810"/>
                                        </p:tgtEl>
                                        <p:attrNameLst>
                                          <p:attrName>ppt_x</p:attrName>
                                        </p:attrNameLst>
                                      </p:cBhvr>
                                      <p:tavLst>
                                        <p:tav tm="0">
                                          <p:val>
                                            <p:strVal val="#ppt_x"/>
                                          </p:val>
                                        </p:tav>
                                        <p:tav tm="100000">
                                          <p:val>
                                            <p:strVal val="#ppt_x"/>
                                          </p:val>
                                        </p:tav>
                                      </p:tavLst>
                                    </p:anim>
                                    <p:anim calcmode="lin" valueType="num">
                                      <p:cBhvr additive="base">
                                        <p:cTn id="17" dur="1000" fill="hold"/>
                                        <p:tgtEl>
                                          <p:spTgt spid="28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09" grpId="0" animBg="1"/>
      <p:bldP spid="281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16" name="Group 2">
            <a:extLst>
              <a:ext uri="{FF2B5EF4-FFF2-40B4-BE49-F238E27FC236}">
                <a16:creationId xmlns:a16="http://schemas.microsoft.com/office/drawing/2014/main" id="{18B341CF-C914-4043-BEF6-4169E5F8C948}"/>
              </a:ext>
            </a:extLst>
          </p:cNvPr>
          <p:cNvGrpSpPr>
            <a:grpSpLocks/>
          </p:cNvGrpSpPr>
          <p:nvPr/>
        </p:nvGrpSpPr>
        <p:grpSpPr bwMode="auto">
          <a:xfrm>
            <a:off x="2959074" y="1778087"/>
            <a:ext cx="6048375" cy="4510087"/>
            <a:chOff x="3150" y="1854"/>
            <a:chExt cx="4131" cy="3492"/>
          </a:xfrm>
        </p:grpSpPr>
        <p:sp>
          <p:nvSpPr>
            <p:cNvPr id="2817" name="Line 3">
              <a:extLst>
                <a:ext uri="{FF2B5EF4-FFF2-40B4-BE49-F238E27FC236}">
                  <a16:creationId xmlns:a16="http://schemas.microsoft.com/office/drawing/2014/main" id="{D4D7B254-E668-42EC-97F0-13D5270716B2}"/>
                </a:ext>
              </a:extLst>
            </p:cNvPr>
            <p:cNvSpPr>
              <a:spLocks noChangeShapeType="1"/>
            </p:cNvSpPr>
            <p:nvPr/>
          </p:nvSpPr>
          <p:spPr bwMode="auto">
            <a:xfrm>
              <a:off x="5226" y="2265"/>
              <a:ext cx="0" cy="2289"/>
            </a:xfrm>
            <a:prstGeom prst="lin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pPr defTabSz="914377" fontAlgn="base">
                <a:spcBef>
                  <a:spcPct val="0"/>
                </a:spcBef>
                <a:spcAft>
                  <a:spcPct val="0"/>
                </a:spcAft>
                <a:buSzPct val="100000"/>
              </a:pPr>
              <a:endParaRPr lang="zh-CN" altLang="en-US">
                <a:solidFill>
                  <a:srgbClr val="000000"/>
                </a:solidFill>
                <a:latin typeface="Arial" panose="020B0604020202020204" pitchFamily="34" charset="0"/>
                <a:ea typeface="宋体" panose="02010600030101010101" pitchFamily="2" charset="-122"/>
                <a:cs typeface="Arial"/>
              </a:endParaRPr>
            </a:p>
          </p:txBody>
        </p:sp>
        <p:sp>
          <p:nvSpPr>
            <p:cNvPr id="2818" name="Text Box 4">
              <a:extLst>
                <a:ext uri="{FF2B5EF4-FFF2-40B4-BE49-F238E27FC236}">
                  <a16:creationId xmlns:a16="http://schemas.microsoft.com/office/drawing/2014/main" id="{C6F7A8CF-C4F0-448E-A74E-8B45F710926E}"/>
                </a:ext>
              </a:extLst>
            </p:cNvPr>
            <p:cNvSpPr>
              <a:spLocks noChangeArrowheads="1"/>
            </p:cNvSpPr>
            <p:nvPr/>
          </p:nvSpPr>
          <p:spPr bwMode="auto">
            <a:xfrm>
              <a:off x="5086" y="1926"/>
              <a:ext cx="510"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lnSpc>
                  <a:spcPct val="80000"/>
                </a:lnSpc>
                <a:spcBef>
                  <a:spcPct val="0"/>
                </a:spcBef>
                <a:spcAft>
                  <a:spcPct val="0"/>
                </a:spcAft>
                <a:buSzPct val="100000"/>
              </a:pPr>
              <a:r>
                <a:rPr lang="en-US" altLang="zh-CN" sz="2400" b="1" i="1">
                  <a:solidFill>
                    <a:srgbClr val="000000"/>
                  </a:solidFill>
                  <a:latin typeface="Times New Roman" panose="02020603050405020304" pitchFamily="18" charset="0"/>
                  <a:cs typeface="Arial"/>
                </a:rPr>
                <a:t>x</a:t>
              </a:r>
              <a:r>
                <a:rPr lang="en-US" altLang="zh-CN" sz="2400" b="1">
                  <a:solidFill>
                    <a:srgbClr val="000000"/>
                  </a:solidFill>
                  <a:latin typeface="Times New Roman" panose="02020603050405020304" pitchFamily="18" charset="0"/>
                  <a:cs typeface="Arial"/>
                </a:rPr>
                <a:t>=</a:t>
              </a:r>
              <a:r>
                <a:rPr lang="en-US" altLang="zh-CN" sz="2400" b="1" i="1">
                  <a:solidFill>
                    <a:srgbClr val="000000"/>
                  </a:solidFill>
                  <a:latin typeface="Times New Roman" panose="02020603050405020304" pitchFamily="18" charset="0"/>
                  <a:cs typeface="Arial"/>
                </a:rPr>
                <a:t>m</a:t>
              </a:r>
            </a:p>
          </p:txBody>
        </p:sp>
        <p:sp>
          <p:nvSpPr>
            <p:cNvPr id="2819" name="Line 5">
              <a:extLst>
                <a:ext uri="{FF2B5EF4-FFF2-40B4-BE49-F238E27FC236}">
                  <a16:creationId xmlns:a16="http://schemas.microsoft.com/office/drawing/2014/main" id="{56EEE537-E8B9-408B-AA14-29823E21A10A}"/>
                </a:ext>
              </a:extLst>
            </p:cNvPr>
            <p:cNvSpPr>
              <a:spLocks noChangeShapeType="1"/>
            </p:cNvSpPr>
            <p:nvPr/>
          </p:nvSpPr>
          <p:spPr bwMode="auto">
            <a:xfrm>
              <a:off x="4420" y="4563"/>
              <a:ext cx="790" cy="0"/>
            </a:xfrm>
            <a:prstGeom prst="line">
              <a:avLst/>
            </a:prstGeom>
            <a:noFill/>
            <a:ln w="9525" cap="flat" algn="ctr">
              <a:solidFill>
                <a:srgbClr val="000000"/>
              </a:solidFill>
              <a:prstDash val="solid"/>
              <a:round/>
              <a:headEnd type="stealth" w="sm" len="med"/>
              <a:tailEnd type="stealth" w="sm" len="med"/>
            </a:ln>
            <a:extLst>
              <a:ext uri="{909E8E84-426E-40DD-AFC4-6F175D3DCCD1}">
                <a14:hiddenFill xmlns:a14="http://schemas.microsoft.com/office/drawing/2010/main">
                  <a:noFill/>
                </a14:hiddenFill>
              </a:ext>
            </a:extLst>
          </p:spPr>
          <p:txBody>
            <a:bodyPr/>
            <a:lstStyle/>
            <a:p>
              <a:pPr defTabSz="914377" fontAlgn="base">
                <a:spcBef>
                  <a:spcPct val="0"/>
                </a:spcBef>
                <a:spcAft>
                  <a:spcPct val="0"/>
                </a:spcAft>
                <a:buSzPct val="100000"/>
              </a:pPr>
              <a:endParaRPr lang="zh-CN" altLang="en-US">
                <a:solidFill>
                  <a:srgbClr val="000000"/>
                </a:solidFill>
                <a:latin typeface="Arial" panose="020B0604020202020204" pitchFamily="34" charset="0"/>
                <a:ea typeface="宋体" panose="02010600030101010101" pitchFamily="2" charset="-122"/>
                <a:cs typeface="Arial"/>
              </a:endParaRPr>
            </a:p>
          </p:txBody>
        </p:sp>
        <p:sp>
          <p:nvSpPr>
            <p:cNvPr id="2820" name="Text Box 6">
              <a:extLst>
                <a:ext uri="{FF2B5EF4-FFF2-40B4-BE49-F238E27FC236}">
                  <a16:creationId xmlns:a16="http://schemas.microsoft.com/office/drawing/2014/main" id="{67FEDA2E-B02F-446A-A5AE-546BA07D7AAE}"/>
                </a:ext>
              </a:extLst>
            </p:cNvPr>
            <p:cNvSpPr>
              <a:spLocks noChangeArrowheads="1"/>
            </p:cNvSpPr>
            <p:nvPr/>
          </p:nvSpPr>
          <p:spPr bwMode="auto">
            <a:xfrm>
              <a:off x="4716" y="4233"/>
              <a:ext cx="240"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spcBef>
                  <a:spcPct val="0"/>
                </a:spcBef>
                <a:spcAft>
                  <a:spcPct val="0"/>
                </a:spcAft>
                <a:buSzPct val="100000"/>
              </a:pPr>
              <a:r>
                <a:rPr lang="en-US" altLang="zh-CN" sz="2400" b="1" i="1">
                  <a:solidFill>
                    <a:srgbClr val="000000"/>
                  </a:solidFill>
                  <a:latin typeface="Times New Roman" panose="02020603050405020304" pitchFamily="18" charset="0"/>
                  <a:cs typeface="Arial"/>
                </a:rPr>
                <a:t>d</a:t>
              </a:r>
            </a:p>
          </p:txBody>
        </p:sp>
        <p:sp>
          <p:nvSpPr>
            <p:cNvPr id="2821" name="Line 7">
              <a:extLst>
                <a:ext uri="{FF2B5EF4-FFF2-40B4-BE49-F238E27FC236}">
                  <a16:creationId xmlns:a16="http://schemas.microsoft.com/office/drawing/2014/main" id="{BE8F81DB-20E0-443B-8A45-BFB31F4E671B}"/>
                </a:ext>
              </a:extLst>
            </p:cNvPr>
            <p:cNvSpPr>
              <a:spLocks noChangeShapeType="1"/>
            </p:cNvSpPr>
            <p:nvPr/>
          </p:nvSpPr>
          <p:spPr bwMode="auto">
            <a:xfrm>
              <a:off x="5240" y="4561"/>
              <a:ext cx="790" cy="0"/>
            </a:xfrm>
            <a:prstGeom prst="line">
              <a:avLst/>
            </a:prstGeom>
            <a:noFill/>
            <a:ln w="9525" cap="flat" algn="ctr">
              <a:solidFill>
                <a:srgbClr val="000000"/>
              </a:solidFill>
              <a:prstDash val="solid"/>
              <a:round/>
              <a:headEnd type="stealth" w="sm" len="med"/>
              <a:tailEnd type="stealth" w="sm" len="med"/>
            </a:ln>
            <a:extLst>
              <a:ext uri="{909E8E84-426E-40DD-AFC4-6F175D3DCCD1}">
                <a14:hiddenFill xmlns:a14="http://schemas.microsoft.com/office/drawing/2010/main">
                  <a:noFill/>
                </a14:hiddenFill>
              </a:ext>
            </a:extLst>
          </p:spPr>
          <p:txBody>
            <a:bodyPr/>
            <a:lstStyle/>
            <a:p>
              <a:pPr defTabSz="914377" fontAlgn="base">
                <a:spcBef>
                  <a:spcPct val="0"/>
                </a:spcBef>
                <a:spcAft>
                  <a:spcPct val="0"/>
                </a:spcAft>
                <a:buSzPct val="100000"/>
              </a:pPr>
              <a:endParaRPr lang="zh-CN" altLang="en-US">
                <a:solidFill>
                  <a:srgbClr val="000000"/>
                </a:solidFill>
                <a:latin typeface="Arial" panose="020B0604020202020204" pitchFamily="34" charset="0"/>
                <a:ea typeface="宋体" panose="02010600030101010101" pitchFamily="2" charset="-122"/>
                <a:cs typeface="Arial"/>
              </a:endParaRPr>
            </a:p>
          </p:txBody>
        </p:sp>
        <p:sp>
          <p:nvSpPr>
            <p:cNvPr id="2822" name="Text Box 8">
              <a:extLst>
                <a:ext uri="{FF2B5EF4-FFF2-40B4-BE49-F238E27FC236}">
                  <a16:creationId xmlns:a16="http://schemas.microsoft.com/office/drawing/2014/main" id="{3E002773-B47A-487A-93B3-EE4980215BF2}"/>
                </a:ext>
              </a:extLst>
            </p:cNvPr>
            <p:cNvSpPr>
              <a:spLocks noChangeArrowheads="1"/>
            </p:cNvSpPr>
            <p:nvPr/>
          </p:nvSpPr>
          <p:spPr bwMode="auto">
            <a:xfrm>
              <a:off x="5536" y="4231"/>
              <a:ext cx="240"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spcBef>
                  <a:spcPct val="0"/>
                </a:spcBef>
                <a:spcAft>
                  <a:spcPct val="0"/>
                </a:spcAft>
                <a:buSzPct val="100000"/>
              </a:pPr>
              <a:r>
                <a:rPr lang="en-US" altLang="zh-CN" sz="2400" b="1" i="1">
                  <a:solidFill>
                    <a:srgbClr val="000000"/>
                  </a:solidFill>
                  <a:latin typeface="Times New Roman" panose="02020603050405020304" pitchFamily="18" charset="0"/>
                  <a:cs typeface="Arial"/>
                </a:rPr>
                <a:t>d</a:t>
              </a:r>
            </a:p>
          </p:txBody>
        </p:sp>
        <p:sp>
          <p:nvSpPr>
            <p:cNvPr id="2823" name="Line 9">
              <a:extLst>
                <a:ext uri="{FF2B5EF4-FFF2-40B4-BE49-F238E27FC236}">
                  <a16:creationId xmlns:a16="http://schemas.microsoft.com/office/drawing/2014/main" id="{5A20605B-C82B-4B75-84B4-10BCD4C39855}"/>
                </a:ext>
              </a:extLst>
            </p:cNvPr>
            <p:cNvSpPr>
              <a:spLocks noChangeShapeType="1"/>
            </p:cNvSpPr>
            <p:nvPr/>
          </p:nvSpPr>
          <p:spPr bwMode="auto">
            <a:xfrm>
              <a:off x="4436" y="2283"/>
              <a:ext cx="0" cy="2289"/>
            </a:xfrm>
            <a:prstGeom prst="line">
              <a:avLst/>
            </a:prstGeom>
            <a:noFill/>
            <a:ln w="9525" cap="flat" algn="ctr">
              <a:solidFill>
                <a:srgbClr val="000000"/>
              </a:solidFill>
              <a:prstDash val="dash"/>
              <a:round/>
              <a:headEnd type="none" w="med" len="med"/>
              <a:tailEnd type="none" w="med" len="med"/>
            </a:ln>
            <a:extLst>
              <a:ext uri="{909E8E84-426E-40DD-AFC4-6F175D3DCCD1}">
                <a14:hiddenFill xmlns:a14="http://schemas.microsoft.com/office/drawing/2010/main">
                  <a:noFill/>
                </a14:hiddenFill>
              </a:ext>
            </a:extLst>
          </p:spPr>
          <p:txBody>
            <a:bodyPr/>
            <a:lstStyle/>
            <a:p>
              <a:pPr defTabSz="914377" fontAlgn="base">
                <a:spcBef>
                  <a:spcPct val="0"/>
                </a:spcBef>
                <a:spcAft>
                  <a:spcPct val="0"/>
                </a:spcAft>
                <a:buSzPct val="100000"/>
              </a:pPr>
              <a:endParaRPr lang="zh-CN" altLang="en-US">
                <a:solidFill>
                  <a:srgbClr val="000000"/>
                </a:solidFill>
                <a:latin typeface="Arial" panose="020B0604020202020204" pitchFamily="34" charset="0"/>
                <a:ea typeface="宋体" panose="02010600030101010101" pitchFamily="2" charset="-122"/>
                <a:cs typeface="Arial"/>
              </a:endParaRPr>
            </a:p>
          </p:txBody>
        </p:sp>
        <p:sp>
          <p:nvSpPr>
            <p:cNvPr id="2824" name="Line 10">
              <a:extLst>
                <a:ext uri="{FF2B5EF4-FFF2-40B4-BE49-F238E27FC236}">
                  <a16:creationId xmlns:a16="http://schemas.microsoft.com/office/drawing/2014/main" id="{7366745B-D6E9-41C8-8824-88EF8565E49C}"/>
                </a:ext>
              </a:extLst>
            </p:cNvPr>
            <p:cNvSpPr>
              <a:spLocks noChangeShapeType="1"/>
            </p:cNvSpPr>
            <p:nvPr/>
          </p:nvSpPr>
          <p:spPr bwMode="auto">
            <a:xfrm>
              <a:off x="6036" y="2265"/>
              <a:ext cx="0" cy="2289"/>
            </a:xfrm>
            <a:prstGeom prst="line">
              <a:avLst/>
            </a:prstGeom>
            <a:noFill/>
            <a:ln w="9525" cap="flat" algn="ctr">
              <a:solidFill>
                <a:srgbClr val="000000"/>
              </a:solidFill>
              <a:prstDash val="dash"/>
              <a:round/>
              <a:headEnd type="none" w="med" len="med"/>
              <a:tailEnd type="none" w="med" len="med"/>
            </a:ln>
            <a:extLst>
              <a:ext uri="{909E8E84-426E-40DD-AFC4-6F175D3DCCD1}">
                <a14:hiddenFill xmlns:a14="http://schemas.microsoft.com/office/drawing/2010/main">
                  <a:noFill/>
                </a14:hiddenFill>
              </a:ext>
            </a:extLst>
          </p:spPr>
          <p:txBody>
            <a:bodyPr/>
            <a:lstStyle/>
            <a:p>
              <a:pPr defTabSz="914377" fontAlgn="base">
                <a:spcBef>
                  <a:spcPct val="0"/>
                </a:spcBef>
                <a:spcAft>
                  <a:spcPct val="0"/>
                </a:spcAft>
                <a:buSzPct val="100000"/>
              </a:pPr>
              <a:endParaRPr lang="zh-CN" altLang="en-US">
                <a:solidFill>
                  <a:srgbClr val="000000"/>
                </a:solidFill>
                <a:latin typeface="Arial" panose="020B0604020202020204" pitchFamily="34" charset="0"/>
                <a:ea typeface="宋体" panose="02010600030101010101" pitchFamily="2" charset="-122"/>
                <a:cs typeface="Arial"/>
              </a:endParaRPr>
            </a:p>
          </p:txBody>
        </p:sp>
        <p:sp>
          <p:nvSpPr>
            <p:cNvPr id="2825" name="Oval 11">
              <a:extLst>
                <a:ext uri="{FF2B5EF4-FFF2-40B4-BE49-F238E27FC236}">
                  <a16:creationId xmlns:a16="http://schemas.microsoft.com/office/drawing/2014/main" id="{53A31E09-AC8A-44BB-BB8A-2EF47287CC78}"/>
                </a:ext>
              </a:extLst>
            </p:cNvPr>
            <p:cNvSpPr>
              <a:spLocks noChangeArrowheads="1"/>
            </p:cNvSpPr>
            <p:nvPr/>
          </p:nvSpPr>
          <p:spPr bwMode="auto">
            <a:xfrm>
              <a:off x="6376" y="3594"/>
              <a:ext cx="68" cy="68"/>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826" name="Oval 12">
              <a:extLst>
                <a:ext uri="{FF2B5EF4-FFF2-40B4-BE49-F238E27FC236}">
                  <a16:creationId xmlns:a16="http://schemas.microsoft.com/office/drawing/2014/main" id="{6AC828D8-052A-45C9-8861-8D9981FC30B1}"/>
                </a:ext>
              </a:extLst>
            </p:cNvPr>
            <p:cNvSpPr>
              <a:spLocks noChangeArrowheads="1"/>
            </p:cNvSpPr>
            <p:nvPr/>
          </p:nvSpPr>
          <p:spPr bwMode="auto">
            <a:xfrm>
              <a:off x="6906" y="3426"/>
              <a:ext cx="68" cy="68"/>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827" name="Oval 13">
              <a:extLst>
                <a:ext uri="{FF2B5EF4-FFF2-40B4-BE49-F238E27FC236}">
                  <a16:creationId xmlns:a16="http://schemas.microsoft.com/office/drawing/2014/main" id="{8E22948F-0CF4-4851-8783-7D3056A4A031}"/>
                </a:ext>
              </a:extLst>
            </p:cNvPr>
            <p:cNvSpPr>
              <a:spLocks noChangeArrowheads="1"/>
            </p:cNvSpPr>
            <p:nvPr/>
          </p:nvSpPr>
          <p:spPr bwMode="auto">
            <a:xfrm>
              <a:off x="5816" y="2835"/>
              <a:ext cx="68" cy="68"/>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828" name="Oval 14">
              <a:extLst>
                <a:ext uri="{FF2B5EF4-FFF2-40B4-BE49-F238E27FC236}">
                  <a16:creationId xmlns:a16="http://schemas.microsoft.com/office/drawing/2014/main" id="{8B1621E5-7888-420A-8670-B70468FF5BAC}"/>
                </a:ext>
              </a:extLst>
            </p:cNvPr>
            <p:cNvSpPr>
              <a:spLocks noChangeArrowheads="1"/>
            </p:cNvSpPr>
            <p:nvPr/>
          </p:nvSpPr>
          <p:spPr bwMode="auto">
            <a:xfrm>
              <a:off x="7136" y="2715"/>
              <a:ext cx="68" cy="68"/>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829" name="Oval 15">
              <a:extLst>
                <a:ext uri="{FF2B5EF4-FFF2-40B4-BE49-F238E27FC236}">
                  <a16:creationId xmlns:a16="http://schemas.microsoft.com/office/drawing/2014/main" id="{AD82F6BD-7E3F-482B-BA89-29EE061C9D14}"/>
                </a:ext>
              </a:extLst>
            </p:cNvPr>
            <p:cNvSpPr>
              <a:spLocks noChangeArrowheads="1"/>
            </p:cNvSpPr>
            <p:nvPr/>
          </p:nvSpPr>
          <p:spPr bwMode="auto">
            <a:xfrm>
              <a:off x="5306" y="3105"/>
              <a:ext cx="68" cy="68"/>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830" name="Oval 16">
              <a:extLst>
                <a:ext uri="{FF2B5EF4-FFF2-40B4-BE49-F238E27FC236}">
                  <a16:creationId xmlns:a16="http://schemas.microsoft.com/office/drawing/2014/main" id="{FACB68B2-37CB-4318-BA05-458809EB492D}"/>
                </a:ext>
              </a:extLst>
            </p:cNvPr>
            <p:cNvSpPr>
              <a:spLocks noChangeArrowheads="1"/>
            </p:cNvSpPr>
            <p:nvPr/>
          </p:nvSpPr>
          <p:spPr bwMode="auto">
            <a:xfrm>
              <a:off x="5476" y="3735"/>
              <a:ext cx="68" cy="68"/>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831" name="Oval 17">
              <a:extLst>
                <a:ext uri="{FF2B5EF4-FFF2-40B4-BE49-F238E27FC236}">
                  <a16:creationId xmlns:a16="http://schemas.microsoft.com/office/drawing/2014/main" id="{0385455E-492E-4BD7-A767-3A6B210D0E59}"/>
                </a:ext>
              </a:extLst>
            </p:cNvPr>
            <p:cNvSpPr>
              <a:spLocks noChangeArrowheads="1"/>
            </p:cNvSpPr>
            <p:nvPr/>
          </p:nvSpPr>
          <p:spPr bwMode="auto">
            <a:xfrm>
              <a:off x="4856" y="2754"/>
              <a:ext cx="68" cy="68"/>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832" name="Oval 18">
              <a:extLst>
                <a:ext uri="{FF2B5EF4-FFF2-40B4-BE49-F238E27FC236}">
                  <a16:creationId xmlns:a16="http://schemas.microsoft.com/office/drawing/2014/main" id="{68B2CD9D-5A7C-4CD4-90C4-0EA3FB2A6D6D}"/>
                </a:ext>
              </a:extLst>
            </p:cNvPr>
            <p:cNvSpPr>
              <a:spLocks noChangeArrowheads="1"/>
            </p:cNvSpPr>
            <p:nvPr/>
          </p:nvSpPr>
          <p:spPr bwMode="auto">
            <a:xfrm>
              <a:off x="4196" y="3774"/>
              <a:ext cx="68" cy="68"/>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833" name="Oval 19">
              <a:extLst>
                <a:ext uri="{FF2B5EF4-FFF2-40B4-BE49-F238E27FC236}">
                  <a16:creationId xmlns:a16="http://schemas.microsoft.com/office/drawing/2014/main" id="{32BC03F1-C5EC-4175-BB64-45382DDCC6B8}"/>
                </a:ext>
              </a:extLst>
            </p:cNvPr>
            <p:cNvSpPr>
              <a:spLocks noChangeArrowheads="1"/>
            </p:cNvSpPr>
            <p:nvPr/>
          </p:nvSpPr>
          <p:spPr bwMode="auto">
            <a:xfrm>
              <a:off x="4556" y="3306"/>
              <a:ext cx="68" cy="68"/>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834" name="Oval 20">
              <a:extLst>
                <a:ext uri="{FF2B5EF4-FFF2-40B4-BE49-F238E27FC236}">
                  <a16:creationId xmlns:a16="http://schemas.microsoft.com/office/drawing/2014/main" id="{D2BD7FC3-D0E6-4C45-BB92-B740AE902C28}"/>
                </a:ext>
              </a:extLst>
            </p:cNvPr>
            <p:cNvSpPr>
              <a:spLocks noChangeArrowheads="1"/>
            </p:cNvSpPr>
            <p:nvPr/>
          </p:nvSpPr>
          <p:spPr bwMode="auto">
            <a:xfrm>
              <a:off x="4176" y="2904"/>
              <a:ext cx="68" cy="68"/>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835" name="Oval 21">
              <a:extLst>
                <a:ext uri="{FF2B5EF4-FFF2-40B4-BE49-F238E27FC236}">
                  <a16:creationId xmlns:a16="http://schemas.microsoft.com/office/drawing/2014/main" id="{E49BCDF6-2F0A-4287-BAE0-6D86AF03A922}"/>
                </a:ext>
              </a:extLst>
            </p:cNvPr>
            <p:cNvSpPr>
              <a:spLocks noChangeArrowheads="1"/>
            </p:cNvSpPr>
            <p:nvPr/>
          </p:nvSpPr>
          <p:spPr bwMode="auto">
            <a:xfrm>
              <a:off x="3486" y="2907"/>
              <a:ext cx="68" cy="68"/>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836" name="Oval 22">
              <a:extLst>
                <a:ext uri="{FF2B5EF4-FFF2-40B4-BE49-F238E27FC236}">
                  <a16:creationId xmlns:a16="http://schemas.microsoft.com/office/drawing/2014/main" id="{42F72AB4-FE25-4FC0-BD61-77899E7449A3}"/>
                </a:ext>
              </a:extLst>
            </p:cNvPr>
            <p:cNvSpPr>
              <a:spLocks noChangeArrowheads="1"/>
            </p:cNvSpPr>
            <p:nvPr/>
          </p:nvSpPr>
          <p:spPr bwMode="auto">
            <a:xfrm>
              <a:off x="3626" y="3612"/>
              <a:ext cx="68" cy="68"/>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837" name="Oval 23">
              <a:extLst>
                <a:ext uri="{FF2B5EF4-FFF2-40B4-BE49-F238E27FC236}">
                  <a16:creationId xmlns:a16="http://schemas.microsoft.com/office/drawing/2014/main" id="{604FA722-9D34-47B6-B64C-E1AB1347AD03}"/>
                </a:ext>
              </a:extLst>
            </p:cNvPr>
            <p:cNvSpPr>
              <a:spLocks noChangeArrowheads="1"/>
            </p:cNvSpPr>
            <p:nvPr/>
          </p:nvSpPr>
          <p:spPr bwMode="auto">
            <a:xfrm>
              <a:off x="6516" y="2784"/>
              <a:ext cx="68" cy="68"/>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838" name="Line 24">
              <a:extLst>
                <a:ext uri="{FF2B5EF4-FFF2-40B4-BE49-F238E27FC236}">
                  <a16:creationId xmlns:a16="http://schemas.microsoft.com/office/drawing/2014/main" id="{4DEAC24C-EA21-49AA-840B-C99343289978}"/>
                </a:ext>
              </a:extLst>
            </p:cNvPr>
            <p:cNvSpPr>
              <a:spLocks noChangeShapeType="1"/>
            </p:cNvSpPr>
            <p:nvPr/>
          </p:nvSpPr>
          <p:spPr bwMode="auto">
            <a:xfrm flipV="1">
              <a:off x="6436" y="3462"/>
              <a:ext cx="510" cy="162"/>
            </a:xfrm>
            <a:prstGeom prst="lin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pPr defTabSz="914377" fontAlgn="base">
                <a:spcBef>
                  <a:spcPct val="0"/>
                </a:spcBef>
                <a:spcAft>
                  <a:spcPct val="0"/>
                </a:spcAft>
                <a:buSzPct val="100000"/>
              </a:pPr>
              <a:endParaRPr lang="zh-CN" altLang="en-US">
                <a:solidFill>
                  <a:srgbClr val="000000"/>
                </a:solidFill>
                <a:latin typeface="Arial" panose="020B0604020202020204" pitchFamily="34" charset="0"/>
                <a:ea typeface="宋体" panose="02010600030101010101" pitchFamily="2" charset="-122"/>
                <a:cs typeface="Arial"/>
              </a:endParaRPr>
            </a:p>
          </p:txBody>
        </p:sp>
        <p:sp>
          <p:nvSpPr>
            <p:cNvPr id="2839" name="Text Box 25">
              <a:extLst>
                <a:ext uri="{FF2B5EF4-FFF2-40B4-BE49-F238E27FC236}">
                  <a16:creationId xmlns:a16="http://schemas.microsoft.com/office/drawing/2014/main" id="{89E4271A-FE63-4129-B7DB-F38102989901}"/>
                </a:ext>
              </a:extLst>
            </p:cNvPr>
            <p:cNvSpPr>
              <a:spLocks noChangeArrowheads="1"/>
            </p:cNvSpPr>
            <p:nvPr/>
          </p:nvSpPr>
          <p:spPr bwMode="auto">
            <a:xfrm>
              <a:off x="6586" y="3624"/>
              <a:ext cx="210" cy="1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lnSpc>
                  <a:spcPct val="80000"/>
                </a:lnSpc>
                <a:spcBef>
                  <a:spcPct val="0"/>
                </a:spcBef>
                <a:spcAft>
                  <a:spcPct val="0"/>
                </a:spcAft>
                <a:buSzPct val="100000"/>
              </a:pPr>
              <a:r>
                <a:rPr lang="en-US" altLang="zh-CN" sz="2400" b="1" i="1">
                  <a:solidFill>
                    <a:srgbClr val="000000"/>
                  </a:solidFill>
                  <a:latin typeface="Times New Roman" panose="02020603050405020304" pitchFamily="18" charset="0"/>
                  <a:cs typeface="Arial"/>
                </a:rPr>
                <a:t>d</a:t>
              </a:r>
              <a:r>
                <a:rPr lang="en-US" altLang="zh-CN" sz="2400" b="1" baseline="-25000">
                  <a:solidFill>
                    <a:srgbClr val="000000"/>
                  </a:solidFill>
                  <a:latin typeface="Times New Roman" panose="02020603050405020304" pitchFamily="18" charset="0"/>
                  <a:cs typeface="Arial"/>
                </a:rPr>
                <a:t>2</a:t>
              </a:r>
            </a:p>
          </p:txBody>
        </p:sp>
        <p:sp>
          <p:nvSpPr>
            <p:cNvPr id="2840" name="Line 26">
              <a:extLst>
                <a:ext uri="{FF2B5EF4-FFF2-40B4-BE49-F238E27FC236}">
                  <a16:creationId xmlns:a16="http://schemas.microsoft.com/office/drawing/2014/main" id="{03C15DD9-A87F-4732-939E-4A9B8B288FC6}"/>
                </a:ext>
              </a:extLst>
            </p:cNvPr>
            <p:cNvSpPr>
              <a:spLocks noChangeShapeType="1"/>
            </p:cNvSpPr>
            <p:nvPr/>
          </p:nvSpPr>
          <p:spPr bwMode="auto">
            <a:xfrm>
              <a:off x="4216" y="2955"/>
              <a:ext cx="360" cy="378"/>
            </a:xfrm>
            <a:prstGeom prst="lin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pPr defTabSz="914377" fontAlgn="base">
                <a:spcBef>
                  <a:spcPct val="0"/>
                </a:spcBef>
                <a:spcAft>
                  <a:spcPct val="0"/>
                </a:spcAft>
                <a:buSzPct val="100000"/>
              </a:pPr>
              <a:endParaRPr lang="zh-CN" altLang="en-US">
                <a:solidFill>
                  <a:srgbClr val="000000"/>
                </a:solidFill>
                <a:latin typeface="Arial" panose="020B0604020202020204" pitchFamily="34" charset="0"/>
                <a:ea typeface="宋体" panose="02010600030101010101" pitchFamily="2" charset="-122"/>
                <a:cs typeface="Arial"/>
              </a:endParaRPr>
            </a:p>
          </p:txBody>
        </p:sp>
        <p:sp>
          <p:nvSpPr>
            <p:cNvPr id="2841" name="Text Box 27">
              <a:extLst>
                <a:ext uri="{FF2B5EF4-FFF2-40B4-BE49-F238E27FC236}">
                  <a16:creationId xmlns:a16="http://schemas.microsoft.com/office/drawing/2014/main" id="{4BE5282C-79BC-49C6-91CD-A9409B4DD5F3}"/>
                </a:ext>
              </a:extLst>
            </p:cNvPr>
            <p:cNvSpPr>
              <a:spLocks noChangeArrowheads="1"/>
            </p:cNvSpPr>
            <p:nvPr/>
          </p:nvSpPr>
          <p:spPr bwMode="auto">
            <a:xfrm>
              <a:off x="4156" y="3123"/>
              <a:ext cx="210" cy="1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lnSpc>
                  <a:spcPct val="80000"/>
                </a:lnSpc>
                <a:spcBef>
                  <a:spcPct val="0"/>
                </a:spcBef>
                <a:spcAft>
                  <a:spcPct val="0"/>
                </a:spcAft>
                <a:buSzPct val="100000"/>
              </a:pPr>
              <a:r>
                <a:rPr lang="en-US" altLang="zh-CN" sz="2400" b="1" i="1">
                  <a:solidFill>
                    <a:srgbClr val="000000"/>
                  </a:solidFill>
                  <a:latin typeface="Times New Roman" panose="02020603050405020304" pitchFamily="18" charset="0"/>
                  <a:cs typeface="Arial"/>
                </a:rPr>
                <a:t>d</a:t>
              </a:r>
              <a:r>
                <a:rPr lang="en-US" altLang="zh-CN" sz="2400" b="1" baseline="-25000">
                  <a:solidFill>
                    <a:srgbClr val="000000"/>
                  </a:solidFill>
                  <a:latin typeface="Times New Roman" panose="02020603050405020304" pitchFamily="18" charset="0"/>
                  <a:cs typeface="Arial"/>
                </a:rPr>
                <a:t>1</a:t>
              </a:r>
            </a:p>
          </p:txBody>
        </p:sp>
        <p:sp>
          <p:nvSpPr>
            <p:cNvPr id="2842" name="AutoShape 28">
              <a:extLst>
                <a:ext uri="{FF2B5EF4-FFF2-40B4-BE49-F238E27FC236}">
                  <a16:creationId xmlns:a16="http://schemas.microsoft.com/office/drawing/2014/main" id="{7B882904-8524-4E82-9687-31C8A79C322F}"/>
                </a:ext>
              </a:extLst>
            </p:cNvPr>
            <p:cNvSpPr>
              <a:spLocks noChangeArrowheads="1"/>
            </p:cNvSpPr>
            <p:nvPr/>
          </p:nvSpPr>
          <p:spPr bwMode="auto">
            <a:xfrm rot="5400000">
              <a:off x="4041" y="1200"/>
              <a:ext cx="180" cy="1961"/>
            </a:xfrm>
            <a:prstGeom prst="leftBrace">
              <a:avLst>
                <a:gd name="adj1" fmla="val 48521"/>
                <a:gd name="adj2" fmla="val 50000"/>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843" name="AutoShape 29">
              <a:extLst>
                <a:ext uri="{FF2B5EF4-FFF2-40B4-BE49-F238E27FC236}">
                  <a16:creationId xmlns:a16="http://schemas.microsoft.com/office/drawing/2014/main" id="{405CC6B3-9543-4F17-8C5D-D1D8B1CD6E8A}"/>
                </a:ext>
              </a:extLst>
            </p:cNvPr>
            <p:cNvSpPr>
              <a:spLocks noChangeArrowheads="1"/>
            </p:cNvSpPr>
            <p:nvPr/>
          </p:nvSpPr>
          <p:spPr bwMode="auto">
            <a:xfrm rot="5400000">
              <a:off x="6211" y="1197"/>
              <a:ext cx="180" cy="1961"/>
            </a:xfrm>
            <a:prstGeom prst="leftBrace">
              <a:avLst>
                <a:gd name="adj1" fmla="val 48521"/>
                <a:gd name="adj2" fmla="val 50000"/>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844" name="Text Box 30">
              <a:extLst>
                <a:ext uri="{FF2B5EF4-FFF2-40B4-BE49-F238E27FC236}">
                  <a16:creationId xmlns:a16="http://schemas.microsoft.com/office/drawing/2014/main" id="{8402FBBF-C3A1-49AD-BA0B-A11E7957923A}"/>
                </a:ext>
              </a:extLst>
            </p:cNvPr>
            <p:cNvSpPr>
              <a:spLocks noChangeArrowheads="1"/>
            </p:cNvSpPr>
            <p:nvPr/>
          </p:nvSpPr>
          <p:spPr bwMode="auto">
            <a:xfrm>
              <a:off x="4016" y="1854"/>
              <a:ext cx="230" cy="1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lnSpc>
                  <a:spcPct val="80000"/>
                </a:lnSpc>
                <a:spcBef>
                  <a:spcPct val="0"/>
                </a:spcBef>
                <a:spcAft>
                  <a:spcPct val="0"/>
                </a:spcAft>
                <a:buSzPct val="100000"/>
              </a:pPr>
              <a:r>
                <a:rPr lang="en-US" altLang="zh-CN" sz="2400" b="1" i="1">
                  <a:solidFill>
                    <a:srgbClr val="000000"/>
                  </a:solidFill>
                  <a:latin typeface="Times New Roman" panose="02020603050405020304" pitchFamily="18" charset="0"/>
                  <a:cs typeface="Arial"/>
                </a:rPr>
                <a:t>S</a:t>
              </a:r>
              <a:r>
                <a:rPr lang="en-US" altLang="zh-CN" sz="2400" b="1" baseline="-25000">
                  <a:solidFill>
                    <a:srgbClr val="000000"/>
                  </a:solidFill>
                  <a:latin typeface="Times New Roman" panose="02020603050405020304" pitchFamily="18" charset="0"/>
                  <a:cs typeface="Arial"/>
                </a:rPr>
                <a:t>1</a:t>
              </a:r>
            </a:p>
          </p:txBody>
        </p:sp>
        <p:sp>
          <p:nvSpPr>
            <p:cNvPr id="2845" name="Text Box 31">
              <a:extLst>
                <a:ext uri="{FF2B5EF4-FFF2-40B4-BE49-F238E27FC236}">
                  <a16:creationId xmlns:a16="http://schemas.microsoft.com/office/drawing/2014/main" id="{0E27C2F5-9AF3-4B77-8D8D-66623FAACD5B}"/>
                </a:ext>
              </a:extLst>
            </p:cNvPr>
            <p:cNvSpPr>
              <a:spLocks noChangeArrowheads="1"/>
            </p:cNvSpPr>
            <p:nvPr/>
          </p:nvSpPr>
          <p:spPr bwMode="auto">
            <a:xfrm>
              <a:off x="6186" y="1866"/>
              <a:ext cx="230" cy="1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lnSpc>
                  <a:spcPct val="80000"/>
                </a:lnSpc>
                <a:spcBef>
                  <a:spcPct val="0"/>
                </a:spcBef>
                <a:spcAft>
                  <a:spcPct val="0"/>
                </a:spcAft>
                <a:buSzPct val="100000"/>
              </a:pPr>
              <a:r>
                <a:rPr lang="en-US" altLang="zh-CN" sz="2400" b="1" i="1">
                  <a:solidFill>
                    <a:srgbClr val="000000"/>
                  </a:solidFill>
                  <a:latin typeface="Times New Roman" panose="02020603050405020304" pitchFamily="18" charset="0"/>
                  <a:cs typeface="Arial"/>
                </a:rPr>
                <a:t>S</a:t>
              </a:r>
              <a:r>
                <a:rPr lang="en-US" altLang="zh-CN" sz="2400" b="1" baseline="-25000">
                  <a:solidFill>
                    <a:srgbClr val="000000"/>
                  </a:solidFill>
                  <a:latin typeface="Times New Roman" panose="02020603050405020304" pitchFamily="18" charset="0"/>
                  <a:cs typeface="Arial"/>
                </a:rPr>
                <a:t>2</a:t>
              </a:r>
            </a:p>
          </p:txBody>
        </p:sp>
        <p:sp>
          <p:nvSpPr>
            <p:cNvPr id="2846" name="Oval 32">
              <a:extLst>
                <a:ext uri="{FF2B5EF4-FFF2-40B4-BE49-F238E27FC236}">
                  <a16:creationId xmlns:a16="http://schemas.microsoft.com/office/drawing/2014/main" id="{400984C7-FFF5-40FA-BF57-E6F6916FC146}"/>
                </a:ext>
              </a:extLst>
            </p:cNvPr>
            <p:cNvSpPr>
              <a:spLocks noChangeArrowheads="1"/>
            </p:cNvSpPr>
            <p:nvPr/>
          </p:nvSpPr>
          <p:spPr bwMode="auto">
            <a:xfrm>
              <a:off x="5046" y="3633"/>
              <a:ext cx="68" cy="68"/>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847" name="Line 33">
              <a:extLst>
                <a:ext uri="{FF2B5EF4-FFF2-40B4-BE49-F238E27FC236}">
                  <a16:creationId xmlns:a16="http://schemas.microsoft.com/office/drawing/2014/main" id="{566199BD-AF6C-414A-9329-3C89226298DB}"/>
                </a:ext>
              </a:extLst>
            </p:cNvPr>
            <p:cNvSpPr>
              <a:spLocks noChangeShapeType="1"/>
            </p:cNvSpPr>
            <p:nvPr/>
          </p:nvSpPr>
          <p:spPr bwMode="auto">
            <a:xfrm>
              <a:off x="5106" y="3675"/>
              <a:ext cx="390" cy="78"/>
            </a:xfrm>
            <a:prstGeom prst="lin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pPr defTabSz="914377" fontAlgn="base">
                <a:spcBef>
                  <a:spcPct val="0"/>
                </a:spcBef>
                <a:spcAft>
                  <a:spcPct val="0"/>
                </a:spcAft>
                <a:buSzPct val="100000"/>
              </a:pPr>
              <a:endParaRPr lang="zh-CN" altLang="en-US">
                <a:solidFill>
                  <a:srgbClr val="000000"/>
                </a:solidFill>
                <a:latin typeface="Arial" panose="020B0604020202020204" pitchFamily="34" charset="0"/>
                <a:ea typeface="宋体" panose="02010600030101010101" pitchFamily="2" charset="-122"/>
                <a:cs typeface="Arial"/>
              </a:endParaRPr>
            </a:p>
          </p:txBody>
        </p:sp>
        <p:sp>
          <p:nvSpPr>
            <p:cNvPr id="2848" name="Text Box 34">
              <a:extLst>
                <a:ext uri="{FF2B5EF4-FFF2-40B4-BE49-F238E27FC236}">
                  <a16:creationId xmlns:a16="http://schemas.microsoft.com/office/drawing/2014/main" id="{B43A90FF-D896-43E9-9EF2-54765E6A82E8}"/>
                </a:ext>
              </a:extLst>
            </p:cNvPr>
            <p:cNvSpPr>
              <a:spLocks noChangeArrowheads="1"/>
            </p:cNvSpPr>
            <p:nvPr/>
          </p:nvSpPr>
          <p:spPr bwMode="auto">
            <a:xfrm>
              <a:off x="4956" y="3414"/>
              <a:ext cx="120" cy="2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lnSpc>
                  <a:spcPct val="80000"/>
                </a:lnSpc>
                <a:spcBef>
                  <a:spcPct val="0"/>
                </a:spcBef>
                <a:spcAft>
                  <a:spcPct val="0"/>
                </a:spcAft>
                <a:buSzPct val="100000"/>
              </a:pPr>
              <a:r>
                <a:rPr lang="en-US" altLang="zh-CN" sz="2400" b="1" i="1">
                  <a:solidFill>
                    <a:srgbClr val="000000"/>
                  </a:solidFill>
                  <a:latin typeface="Times New Roman" panose="02020603050405020304" pitchFamily="18" charset="0"/>
                  <a:cs typeface="Arial"/>
                </a:rPr>
                <a:t>p</a:t>
              </a:r>
            </a:p>
          </p:txBody>
        </p:sp>
        <p:sp>
          <p:nvSpPr>
            <p:cNvPr id="2849" name="Text Box 35">
              <a:extLst>
                <a:ext uri="{FF2B5EF4-FFF2-40B4-BE49-F238E27FC236}">
                  <a16:creationId xmlns:a16="http://schemas.microsoft.com/office/drawing/2014/main" id="{2F07020F-A01E-4B18-A3AD-B1989384EEE1}"/>
                </a:ext>
              </a:extLst>
            </p:cNvPr>
            <p:cNvSpPr>
              <a:spLocks noChangeArrowheads="1"/>
            </p:cNvSpPr>
            <p:nvPr/>
          </p:nvSpPr>
          <p:spPr bwMode="auto">
            <a:xfrm>
              <a:off x="5506" y="3495"/>
              <a:ext cx="190"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lnSpc>
                  <a:spcPct val="80000"/>
                </a:lnSpc>
                <a:spcBef>
                  <a:spcPct val="0"/>
                </a:spcBef>
                <a:spcAft>
                  <a:spcPct val="0"/>
                </a:spcAft>
                <a:buSzPct val="100000"/>
              </a:pPr>
              <a:r>
                <a:rPr lang="en-US" altLang="zh-CN" sz="2400" b="1" i="1">
                  <a:solidFill>
                    <a:srgbClr val="000000"/>
                  </a:solidFill>
                  <a:latin typeface="Times New Roman" panose="02020603050405020304" pitchFamily="18" charset="0"/>
                  <a:cs typeface="Arial"/>
                </a:rPr>
                <a:t>q</a:t>
              </a:r>
            </a:p>
          </p:txBody>
        </p:sp>
        <p:sp>
          <p:nvSpPr>
            <p:cNvPr id="2850" name="Text Box 36">
              <a:extLst>
                <a:ext uri="{FF2B5EF4-FFF2-40B4-BE49-F238E27FC236}">
                  <a16:creationId xmlns:a16="http://schemas.microsoft.com/office/drawing/2014/main" id="{697C825D-CCED-42CC-B228-BE8C2A329FC8}"/>
                </a:ext>
              </a:extLst>
            </p:cNvPr>
            <p:cNvSpPr>
              <a:spLocks noChangeArrowheads="1"/>
            </p:cNvSpPr>
            <p:nvPr/>
          </p:nvSpPr>
          <p:spPr bwMode="auto">
            <a:xfrm>
              <a:off x="3896" y="5097"/>
              <a:ext cx="2690" cy="2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spcBef>
                  <a:spcPct val="0"/>
                </a:spcBef>
                <a:spcAft>
                  <a:spcPct val="0"/>
                </a:spcAft>
                <a:buSzPct val="100000"/>
              </a:pPr>
              <a:r>
                <a:rPr lang="en-US" altLang="zh-CN" sz="2400" b="1" dirty="0">
                  <a:solidFill>
                    <a:srgbClr val="000000"/>
                  </a:solidFill>
                  <a:latin typeface="Times New Roman" panose="02020603050405020304" pitchFamily="18" charset="0"/>
                  <a:cs typeface="Arial"/>
                </a:rPr>
                <a:t>      </a:t>
              </a:r>
              <a:r>
                <a:rPr lang="zh-CN" altLang="en-US" sz="2400" b="1" dirty="0">
                  <a:solidFill>
                    <a:srgbClr val="000000"/>
                  </a:solidFill>
                  <a:latin typeface="Times New Roman" panose="02020603050405020304" pitchFamily="18" charset="0"/>
                  <a:cs typeface="Arial"/>
                </a:rPr>
                <a:t>最近点对问题的分治思想</a:t>
              </a:r>
            </a:p>
          </p:txBody>
        </p:sp>
        <p:sp>
          <p:nvSpPr>
            <p:cNvPr id="2851" name="AutoShape 37">
              <a:extLst>
                <a:ext uri="{FF2B5EF4-FFF2-40B4-BE49-F238E27FC236}">
                  <a16:creationId xmlns:a16="http://schemas.microsoft.com/office/drawing/2014/main" id="{26EEA0B1-F6A3-4E26-A239-0E7757D69C1C}"/>
                </a:ext>
              </a:extLst>
            </p:cNvPr>
            <p:cNvSpPr>
              <a:spLocks noChangeArrowheads="1"/>
            </p:cNvSpPr>
            <p:nvPr/>
          </p:nvSpPr>
          <p:spPr bwMode="auto">
            <a:xfrm rot="16200000">
              <a:off x="4760" y="4281"/>
              <a:ext cx="111" cy="760"/>
            </a:xfrm>
            <a:prstGeom prst="leftBrace">
              <a:avLst>
                <a:gd name="adj1" fmla="val 30494"/>
                <a:gd name="adj2" fmla="val 50000"/>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852" name="AutoShape 38">
              <a:extLst>
                <a:ext uri="{FF2B5EF4-FFF2-40B4-BE49-F238E27FC236}">
                  <a16:creationId xmlns:a16="http://schemas.microsoft.com/office/drawing/2014/main" id="{A65F9B9D-9D00-4461-BCDF-9C6BEFEBD2E5}"/>
                </a:ext>
              </a:extLst>
            </p:cNvPr>
            <p:cNvSpPr>
              <a:spLocks noChangeArrowheads="1"/>
            </p:cNvSpPr>
            <p:nvPr/>
          </p:nvSpPr>
          <p:spPr bwMode="auto">
            <a:xfrm rot="16200000">
              <a:off x="5569" y="4273"/>
              <a:ext cx="123" cy="770"/>
            </a:xfrm>
            <a:prstGeom prst="leftBrace">
              <a:avLst>
                <a:gd name="adj1" fmla="val 27881"/>
                <a:gd name="adj2" fmla="val 51296"/>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853" name="Text Box 39">
              <a:extLst>
                <a:ext uri="{FF2B5EF4-FFF2-40B4-BE49-F238E27FC236}">
                  <a16:creationId xmlns:a16="http://schemas.microsoft.com/office/drawing/2014/main" id="{362DA2C5-4066-424D-995A-B91F7F0587EB}"/>
                </a:ext>
              </a:extLst>
            </p:cNvPr>
            <p:cNvSpPr>
              <a:spLocks noChangeArrowheads="1"/>
            </p:cNvSpPr>
            <p:nvPr/>
          </p:nvSpPr>
          <p:spPr bwMode="auto">
            <a:xfrm>
              <a:off x="4726" y="4755"/>
              <a:ext cx="290" cy="1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lnSpc>
                  <a:spcPct val="80000"/>
                </a:lnSpc>
                <a:spcBef>
                  <a:spcPct val="0"/>
                </a:spcBef>
                <a:spcAft>
                  <a:spcPct val="0"/>
                </a:spcAft>
                <a:buSzPct val="100000"/>
              </a:pPr>
              <a:r>
                <a:rPr lang="en-US" altLang="zh-CN" sz="2400" b="1" i="1">
                  <a:solidFill>
                    <a:srgbClr val="000000"/>
                  </a:solidFill>
                  <a:latin typeface="Times New Roman" panose="02020603050405020304" pitchFamily="18" charset="0"/>
                  <a:cs typeface="Arial"/>
                </a:rPr>
                <a:t>P</a:t>
              </a:r>
              <a:r>
                <a:rPr lang="en-US" altLang="zh-CN" sz="2400" b="1">
                  <a:solidFill>
                    <a:srgbClr val="000000"/>
                  </a:solidFill>
                  <a:latin typeface="Times New Roman" panose="02020603050405020304" pitchFamily="18" charset="0"/>
                  <a:cs typeface="Arial"/>
                </a:rPr>
                <a:t>1</a:t>
              </a:r>
            </a:p>
          </p:txBody>
        </p:sp>
        <p:sp>
          <p:nvSpPr>
            <p:cNvPr id="2854" name="Text Box 40">
              <a:extLst>
                <a:ext uri="{FF2B5EF4-FFF2-40B4-BE49-F238E27FC236}">
                  <a16:creationId xmlns:a16="http://schemas.microsoft.com/office/drawing/2014/main" id="{AE724240-0C12-42AA-838D-475DDD662E01}"/>
                </a:ext>
              </a:extLst>
            </p:cNvPr>
            <p:cNvSpPr>
              <a:spLocks noChangeArrowheads="1"/>
            </p:cNvSpPr>
            <p:nvPr/>
          </p:nvSpPr>
          <p:spPr bwMode="auto">
            <a:xfrm>
              <a:off x="5516" y="4755"/>
              <a:ext cx="290" cy="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lnSpc>
                  <a:spcPct val="80000"/>
                </a:lnSpc>
                <a:spcBef>
                  <a:spcPct val="0"/>
                </a:spcBef>
                <a:spcAft>
                  <a:spcPct val="0"/>
                </a:spcAft>
                <a:buSzPct val="100000"/>
              </a:pPr>
              <a:r>
                <a:rPr lang="en-US" altLang="zh-CN" sz="2400" b="1" i="1">
                  <a:solidFill>
                    <a:srgbClr val="000000"/>
                  </a:solidFill>
                  <a:latin typeface="Times New Roman" panose="02020603050405020304" pitchFamily="18" charset="0"/>
                  <a:cs typeface="Arial"/>
                </a:rPr>
                <a:t>P</a:t>
              </a:r>
              <a:r>
                <a:rPr lang="en-US" altLang="zh-CN" sz="2400" b="1">
                  <a:solidFill>
                    <a:srgbClr val="000000"/>
                  </a:solidFill>
                  <a:latin typeface="Times New Roman" panose="02020603050405020304" pitchFamily="18" charset="0"/>
                  <a:cs typeface="Arial"/>
                </a:rPr>
                <a:t>2</a:t>
              </a:r>
            </a:p>
          </p:txBody>
        </p:sp>
      </p:grpSp>
      <p:sp>
        <p:nvSpPr>
          <p:cNvPr id="2855" name="Text Box 42">
            <a:extLst>
              <a:ext uri="{FF2B5EF4-FFF2-40B4-BE49-F238E27FC236}">
                <a16:creationId xmlns:a16="http://schemas.microsoft.com/office/drawing/2014/main" id="{BA39048D-A970-4060-A24C-76D2FA081394}"/>
              </a:ext>
            </a:extLst>
          </p:cNvPr>
          <p:cNvSpPr>
            <a:spLocks noChangeArrowheads="1"/>
          </p:cNvSpPr>
          <p:nvPr/>
        </p:nvSpPr>
        <p:spPr bwMode="auto">
          <a:xfrm>
            <a:off x="1804377" y="5152539"/>
            <a:ext cx="2736851"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ctr" defTabSz="914377" eaLnBrk="1" fontAlgn="base" hangingPunct="1">
              <a:spcBef>
                <a:spcPct val="50000"/>
              </a:spcBef>
              <a:spcAft>
                <a:spcPct val="0"/>
              </a:spcAft>
              <a:buSzPct val="100000"/>
            </a:pPr>
            <a:r>
              <a:rPr kumimoji="1" lang="en-US" altLang="zh-CN" sz="2400" b="1" i="1" dirty="0">
                <a:solidFill>
                  <a:srgbClr val="000000"/>
                </a:solidFill>
                <a:latin typeface="Times New Roman" panose="02020603050405020304" pitchFamily="18" charset="0"/>
                <a:cs typeface="Arial"/>
              </a:rPr>
              <a:t>S</a:t>
            </a:r>
            <a:r>
              <a:rPr kumimoji="1" lang="en-US" altLang="zh-CN" sz="2400" b="1" baseline="-25000" dirty="0">
                <a:solidFill>
                  <a:srgbClr val="000000"/>
                </a:solidFill>
                <a:latin typeface="Times New Roman" panose="02020603050405020304" pitchFamily="18" charset="0"/>
                <a:cs typeface="Arial"/>
              </a:rPr>
              <a:t>1</a:t>
            </a:r>
            <a:r>
              <a:rPr kumimoji="1" lang="en-US" altLang="zh-CN" sz="2400" b="1" dirty="0">
                <a:solidFill>
                  <a:srgbClr val="000000"/>
                </a:solidFill>
                <a:latin typeface="Times New Roman" panose="02020603050405020304" pitchFamily="18" charset="0"/>
                <a:cs typeface="Arial"/>
              </a:rPr>
              <a:t>={</a:t>
            </a:r>
            <a:r>
              <a:rPr kumimoji="1" lang="en-US" altLang="zh-CN" sz="2400" b="1" i="1" dirty="0" err="1">
                <a:solidFill>
                  <a:srgbClr val="000000"/>
                </a:solidFill>
                <a:latin typeface="Times New Roman" panose="02020603050405020304" pitchFamily="18" charset="0"/>
                <a:cs typeface="Arial"/>
              </a:rPr>
              <a:t>p</a:t>
            </a:r>
            <a:r>
              <a:rPr kumimoji="1" lang="en-US" altLang="zh-CN" sz="2400" b="1" dirty="0" err="1">
                <a:solidFill>
                  <a:srgbClr val="000000"/>
                </a:solidFill>
                <a:latin typeface="Times New Roman" panose="02020603050405020304" pitchFamily="18" charset="0"/>
                <a:cs typeface="Arial"/>
              </a:rPr>
              <a:t>∈</a:t>
            </a:r>
            <a:r>
              <a:rPr kumimoji="1" lang="en-US" altLang="zh-CN" sz="2400" b="1" i="1" dirty="0" err="1">
                <a:solidFill>
                  <a:srgbClr val="000000"/>
                </a:solidFill>
                <a:latin typeface="Times New Roman" panose="02020603050405020304" pitchFamily="18" charset="0"/>
                <a:cs typeface="Arial"/>
              </a:rPr>
              <a:t>S</a:t>
            </a:r>
            <a:r>
              <a:rPr kumimoji="1" lang="en-US" altLang="zh-CN" sz="2400" b="1" dirty="0">
                <a:solidFill>
                  <a:srgbClr val="000000"/>
                </a:solidFill>
                <a:latin typeface="Times New Roman" panose="02020603050405020304" pitchFamily="18" charset="0"/>
                <a:cs typeface="Arial"/>
              </a:rPr>
              <a:t> | </a:t>
            </a:r>
            <a:r>
              <a:rPr kumimoji="1" lang="en-US" altLang="zh-CN" sz="2400" b="1" i="1" dirty="0" err="1">
                <a:solidFill>
                  <a:srgbClr val="000000"/>
                </a:solidFill>
                <a:latin typeface="Times New Roman" panose="02020603050405020304" pitchFamily="18" charset="0"/>
                <a:cs typeface="Arial"/>
              </a:rPr>
              <a:t>x</a:t>
            </a:r>
            <a:r>
              <a:rPr kumimoji="1" lang="en-US" altLang="zh-CN" sz="2400" b="1" i="1" baseline="-25000" dirty="0" err="1">
                <a:solidFill>
                  <a:srgbClr val="000000"/>
                </a:solidFill>
                <a:latin typeface="Times New Roman" panose="02020603050405020304" pitchFamily="18" charset="0"/>
                <a:cs typeface="Arial"/>
              </a:rPr>
              <a:t>p</a:t>
            </a:r>
            <a:r>
              <a:rPr kumimoji="1" lang="en-US" altLang="zh-CN" sz="2400" b="1" dirty="0" err="1">
                <a:solidFill>
                  <a:srgbClr val="000000"/>
                </a:solidFill>
                <a:latin typeface="Times New Roman" panose="02020603050405020304" pitchFamily="18" charset="0"/>
                <a:cs typeface="Arial"/>
              </a:rPr>
              <a:t>≤</a:t>
            </a:r>
            <a:r>
              <a:rPr kumimoji="1" lang="en-US" altLang="zh-CN" sz="2400" b="1" i="1" dirty="0" err="1">
                <a:solidFill>
                  <a:srgbClr val="000000"/>
                </a:solidFill>
                <a:latin typeface="Times New Roman" panose="02020603050405020304" pitchFamily="18" charset="0"/>
                <a:cs typeface="Arial"/>
              </a:rPr>
              <a:t>m</a:t>
            </a:r>
            <a:r>
              <a:rPr kumimoji="1" lang="en-US" altLang="zh-CN" sz="2400" b="1" dirty="0">
                <a:solidFill>
                  <a:srgbClr val="000000"/>
                </a:solidFill>
                <a:latin typeface="Times New Roman" panose="02020603050405020304" pitchFamily="18" charset="0"/>
                <a:cs typeface="Arial"/>
              </a:rPr>
              <a:t>}</a:t>
            </a:r>
          </a:p>
        </p:txBody>
      </p:sp>
      <p:sp>
        <p:nvSpPr>
          <p:cNvPr id="2856" name="Text Box 43">
            <a:extLst>
              <a:ext uri="{FF2B5EF4-FFF2-40B4-BE49-F238E27FC236}">
                <a16:creationId xmlns:a16="http://schemas.microsoft.com/office/drawing/2014/main" id="{BFE24EFA-5BF0-4DDA-9CAA-450F7FB70A32}"/>
              </a:ext>
            </a:extLst>
          </p:cNvPr>
          <p:cNvSpPr>
            <a:spLocks noChangeArrowheads="1"/>
          </p:cNvSpPr>
          <p:nvPr/>
        </p:nvSpPr>
        <p:spPr bwMode="auto">
          <a:xfrm>
            <a:off x="7680326" y="5184701"/>
            <a:ext cx="2592388"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ctr" defTabSz="914377" eaLnBrk="1" fontAlgn="base" hangingPunct="1">
              <a:spcBef>
                <a:spcPct val="50000"/>
              </a:spcBef>
              <a:spcAft>
                <a:spcPct val="0"/>
              </a:spcAft>
              <a:buSzPct val="100000"/>
            </a:pPr>
            <a:r>
              <a:rPr kumimoji="1" lang="en-US" altLang="zh-CN" sz="2400" b="1" i="1" dirty="0">
                <a:solidFill>
                  <a:srgbClr val="000000"/>
                </a:solidFill>
                <a:latin typeface="Times New Roman" panose="02020603050405020304" pitchFamily="18" charset="0"/>
                <a:cs typeface="Arial"/>
              </a:rPr>
              <a:t>S</a:t>
            </a:r>
            <a:r>
              <a:rPr kumimoji="1" lang="en-US" altLang="zh-CN" sz="2400" b="1" baseline="-25000" dirty="0">
                <a:solidFill>
                  <a:srgbClr val="000000"/>
                </a:solidFill>
                <a:latin typeface="Times New Roman" panose="02020603050405020304" pitchFamily="18" charset="0"/>
                <a:cs typeface="Arial"/>
              </a:rPr>
              <a:t>2</a:t>
            </a:r>
            <a:r>
              <a:rPr kumimoji="1" lang="en-US" altLang="zh-CN" sz="2400" b="1" dirty="0">
                <a:solidFill>
                  <a:srgbClr val="000000"/>
                </a:solidFill>
                <a:latin typeface="Times New Roman" panose="02020603050405020304" pitchFamily="18" charset="0"/>
                <a:cs typeface="Arial"/>
              </a:rPr>
              <a:t>={</a:t>
            </a:r>
            <a:r>
              <a:rPr kumimoji="1" lang="en-US" altLang="zh-CN" sz="2400" b="1" i="1" dirty="0" err="1">
                <a:solidFill>
                  <a:srgbClr val="000000"/>
                </a:solidFill>
                <a:latin typeface="Times New Roman" panose="02020603050405020304" pitchFamily="18" charset="0"/>
                <a:cs typeface="Arial"/>
              </a:rPr>
              <a:t>q</a:t>
            </a:r>
            <a:r>
              <a:rPr kumimoji="1" lang="en-US" altLang="zh-CN" sz="2400" b="1" dirty="0" err="1">
                <a:solidFill>
                  <a:srgbClr val="000000"/>
                </a:solidFill>
                <a:latin typeface="Times New Roman" panose="02020603050405020304" pitchFamily="18" charset="0"/>
                <a:cs typeface="Arial"/>
              </a:rPr>
              <a:t>∈</a:t>
            </a:r>
            <a:r>
              <a:rPr kumimoji="1" lang="en-US" altLang="zh-CN" sz="2400" b="1" i="1" dirty="0" err="1">
                <a:solidFill>
                  <a:srgbClr val="000000"/>
                </a:solidFill>
                <a:latin typeface="Times New Roman" panose="02020603050405020304" pitchFamily="18" charset="0"/>
                <a:cs typeface="Arial"/>
              </a:rPr>
              <a:t>S</a:t>
            </a:r>
            <a:r>
              <a:rPr kumimoji="1" lang="en-US" altLang="zh-CN" sz="2400" b="1" dirty="0">
                <a:solidFill>
                  <a:srgbClr val="000000"/>
                </a:solidFill>
                <a:latin typeface="Times New Roman" panose="02020603050405020304" pitchFamily="18" charset="0"/>
                <a:cs typeface="Arial"/>
              </a:rPr>
              <a:t> | </a:t>
            </a:r>
            <a:r>
              <a:rPr kumimoji="1" lang="en-US" altLang="zh-CN" sz="2400" b="1" i="1" dirty="0" err="1">
                <a:solidFill>
                  <a:srgbClr val="000000"/>
                </a:solidFill>
                <a:latin typeface="Times New Roman" panose="02020603050405020304" pitchFamily="18" charset="0"/>
                <a:cs typeface="Arial"/>
              </a:rPr>
              <a:t>x</a:t>
            </a:r>
            <a:r>
              <a:rPr kumimoji="1" lang="en-US" altLang="zh-CN" sz="2400" b="1" i="1" baseline="-25000" dirty="0" err="1">
                <a:solidFill>
                  <a:srgbClr val="000000"/>
                </a:solidFill>
                <a:latin typeface="Times New Roman" panose="02020603050405020304" pitchFamily="18" charset="0"/>
                <a:cs typeface="Arial"/>
              </a:rPr>
              <a:t>q</a:t>
            </a:r>
            <a:r>
              <a:rPr kumimoji="1" lang="zh-CN" altLang="en-US" sz="2400" b="1" dirty="0">
                <a:solidFill>
                  <a:srgbClr val="000000"/>
                </a:solidFill>
                <a:latin typeface="Times New Roman" panose="02020603050405020304" pitchFamily="18" charset="0"/>
                <a:cs typeface="Arial"/>
              </a:rPr>
              <a:t>＞</a:t>
            </a:r>
            <a:r>
              <a:rPr kumimoji="1" lang="en-US" altLang="zh-CN" sz="2400" b="1" i="1" dirty="0">
                <a:solidFill>
                  <a:srgbClr val="000000"/>
                </a:solidFill>
                <a:latin typeface="Times New Roman" panose="02020603050405020304" pitchFamily="18" charset="0"/>
                <a:cs typeface="Arial"/>
              </a:rPr>
              <a:t>m</a:t>
            </a:r>
            <a:r>
              <a:rPr kumimoji="1" lang="en-US" altLang="zh-CN" sz="2400" b="1" dirty="0">
                <a:solidFill>
                  <a:srgbClr val="000000"/>
                </a:solidFill>
                <a:latin typeface="Times New Roman" panose="02020603050405020304" pitchFamily="18" charset="0"/>
                <a:cs typeface="Arial"/>
              </a:rPr>
              <a:t>}</a:t>
            </a:r>
          </a:p>
        </p:txBody>
      </p:sp>
      <p:sp>
        <p:nvSpPr>
          <p:cNvPr id="43" name="Text 0">
            <a:extLst>
              <a:ext uri="{FF2B5EF4-FFF2-40B4-BE49-F238E27FC236}">
                <a16:creationId xmlns:a16="http://schemas.microsoft.com/office/drawing/2014/main" id="{FD93919E-FD95-454B-93A7-D6C1449242CB}"/>
              </a:ext>
            </a:extLst>
          </p:cNvPr>
          <p:cNvSpPr/>
          <p:nvPr/>
        </p:nvSpPr>
        <p:spPr>
          <a:xfrm>
            <a:off x="1016000" y="285749"/>
            <a:ext cx="8421371" cy="736600"/>
          </a:xfrm>
          <a:prstGeom prst="rect">
            <a:avLst/>
          </a:prstGeom>
          <a:noFill/>
          <a:ln/>
        </p:spPr>
        <p:txBody>
          <a:bodyPr wrap="square" rtlCol="0" anchor="ctr"/>
          <a:lstStyle/>
          <a:p>
            <a:r>
              <a:rPr lang="zh-CN" altLang="en-US" sz="3200" b="1" dirty="0">
                <a:solidFill>
                  <a:srgbClr val="FFFFFF"/>
                </a:solidFill>
                <a:latin typeface="Noto Sans SC" pitchFamily="34" charset="0"/>
                <a:ea typeface="Noto Sans SC" pitchFamily="34" charset="-122"/>
                <a:cs typeface="Noto Sans SC" pitchFamily="34" charset="-120"/>
              </a:rPr>
              <a:t>最近点对</a:t>
            </a:r>
            <a:endParaRPr lang="en-US" sz="3200" dirty="0"/>
          </a:p>
        </p:txBody>
      </p:sp>
      <p:sp>
        <p:nvSpPr>
          <p:cNvPr id="44" name="TextBox 36">
            <a:extLst>
              <a:ext uri="{FF2B5EF4-FFF2-40B4-BE49-F238E27FC236}">
                <a16:creationId xmlns:a16="http://schemas.microsoft.com/office/drawing/2014/main" id="{DBD14923-534F-442E-8D11-6F187EC45498}"/>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分治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lang="zh-CN" altLang="en-US" sz="3200" b="1" dirty="0">
                <a:solidFill>
                  <a:srgbClr val="C00000"/>
                </a:solidFill>
                <a:latin typeface="微软雅黑" panose="020B0503020204020204" pitchFamily="34" charset="-122"/>
                <a:ea typeface="微软雅黑" panose="020B0503020204020204" pitchFamily="34" charset="-122"/>
              </a:rPr>
              <a:t>最近点对</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5402084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2" name="Group 2">
            <a:extLst>
              <a:ext uri="{FF2B5EF4-FFF2-40B4-BE49-F238E27FC236}">
                <a16:creationId xmlns:a16="http://schemas.microsoft.com/office/drawing/2014/main" id="{AC555401-16FE-4A73-A029-9603BA2C0F4F}"/>
              </a:ext>
            </a:extLst>
          </p:cNvPr>
          <p:cNvGrpSpPr>
            <a:grpSpLocks/>
          </p:cNvGrpSpPr>
          <p:nvPr/>
        </p:nvGrpSpPr>
        <p:grpSpPr bwMode="auto">
          <a:xfrm>
            <a:off x="2165351" y="2675096"/>
            <a:ext cx="7993063" cy="4370387"/>
            <a:chOff x="2449" y="7917"/>
            <a:chExt cx="6020" cy="3763"/>
          </a:xfrm>
        </p:grpSpPr>
        <p:sp>
          <p:nvSpPr>
            <p:cNvPr id="2863" name="Line 3">
              <a:extLst>
                <a:ext uri="{FF2B5EF4-FFF2-40B4-BE49-F238E27FC236}">
                  <a16:creationId xmlns:a16="http://schemas.microsoft.com/office/drawing/2014/main" id="{AF0CDCAD-CDAC-4C0F-8B31-532C50F1AA0B}"/>
                </a:ext>
              </a:extLst>
            </p:cNvPr>
            <p:cNvSpPr>
              <a:spLocks noChangeShapeType="1"/>
            </p:cNvSpPr>
            <p:nvPr/>
          </p:nvSpPr>
          <p:spPr bwMode="auto">
            <a:xfrm>
              <a:off x="3619" y="8196"/>
              <a:ext cx="0" cy="2229"/>
            </a:xfrm>
            <a:prstGeom prst="lin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pPr defTabSz="914377" fontAlgn="base">
                <a:spcBef>
                  <a:spcPct val="0"/>
                </a:spcBef>
                <a:spcAft>
                  <a:spcPct val="0"/>
                </a:spcAft>
                <a:buSzPct val="100000"/>
              </a:pPr>
              <a:endParaRPr lang="zh-CN" altLang="en-US">
                <a:solidFill>
                  <a:srgbClr val="000000"/>
                </a:solidFill>
                <a:latin typeface="Arial" panose="020B0604020202020204" pitchFamily="34" charset="0"/>
                <a:ea typeface="宋体" panose="02010600030101010101" pitchFamily="2" charset="-122"/>
                <a:cs typeface="Arial"/>
              </a:endParaRPr>
            </a:p>
          </p:txBody>
        </p:sp>
        <p:sp>
          <p:nvSpPr>
            <p:cNvPr id="2864" name="Text Box 4">
              <a:extLst>
                <a:ext uri="{FF2B5EF4-FFF2-40B4-BE49-F238E27FC236}">
                  <a16:creationId xmlns:a16="http://schemas.microsoft.com/office/drawing/2014/main" id="{2B0B630E-1262-43A6-B48C-9F936296A361}"/>
                </a:ext>
              </a:extLst>
            </p:cNvPr>
            <p:cNvSpPr>
              <a:spLocks noChangeArrowheads="1"/>
            </p:cNvSpPr>
            <p:nvPr/>
          </p:nvSpPr>
          <p:spPr bwMode="auto">
            <a:xfrm>
              <a:off x="3479" y="7929"/>
              <a:ext cx="510" cy="1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lnSpc>
                  <a:spcPct val="80000"/>
                </a:lnSpc>
                <a:spcBef>
                  <a:spcPct val="0"/>
                </a:spcBef>
                <a:spcAft>
                  <a:spcPct val="0"/>
                </a:spcAft>
                <a:buSzPct val="100000"/>
              </a:pPr>
              <a:r>
                <a:rPr lang="en-US" altLang="zh-CN" sz="2400" b="1" i="1">
                  <a:solidFill>
                    <a:srgbClr val="000000"/>
                  </a:solidFill>
                  <a:latin typeface="Times New Roman" panose="02020603050405020304" pitchFamily="18" charset="0"/>
                  <a:cs typeface="Arial"/>
                </a:rPr>
                <a:t>x</a:t>
              </a:r>
              <a:r>
                <a:rPr lang="en-US" altLang="zh-CN" sz="2400" b="1">
                  <a:solidFill>
                    <a:srgbClr val="000000"/>
                  </a:solidFill>
                  <a:latin typeface="Times New Roman" panose="02020603050405020304" pitchFamily="18" charset="0"/>
                  <a:cs typeface="Arial"/>
                </a:rPr>
                <a:t>=</a:t>
              </a:r>
              <a:r>
                <a:rPr lang="en-US" altLang="zh-CN" sz="2400" b="1" i="1">
                  <a:solidFill>
                    <a:srgbClr val="000000"/>
                  </a:solidFill>
                  <a:latin typeface="Times New Roman" panose="02020603050405020304" pitchFamily="18" charset="0"/>
                  <a:cs typeface="Arial"/>
                </a:rPr>
                <a:t>m</a:t>
              </a:r>
            </a:p>
          </p:txBody>
        </p:sp>
        <p:sp>
          <p:nvSpPr>
            <p:cNvPr id="2865" name="Line 5">
              <a:extLst>
                <a:ext uri="{FF2B5EF4-FFF2-40B4-BE49-F238E27FC236}">
                  <a16:creationId xmlns:a16="http://schemas.microsoft.com/office/drawing/2014/main" id="{B1A57795-8E8F-4E05-9C9E-D9B522FD585B}"/>
                </a:ext>
              </a:extLst>
            </p:cNvPr>
            <p:cNvSpPr>
              <a:spLocks noChangeShapeType="1"/>
            </p:cNvSpPr>
            <p:nvPr/>
          </p:nvSpPr>
          <p:spPr bwMode="auto">
            <a:xfrm>
              <a:off x="2813" y="10434"/>
              <a:ext cx="790" cy="0"/>
            </a:xfrm>
            <a:prstGeom prst="line">
              <a:avLst/>
            </a:prstGeom>
            <a:noFill/>
            <a:ln w="9525" cap="flat" algn="ctr">
              <a:solidFill>
                <a:srgbClr val="000000"/>
              </a:solidFill>
              <a:prstDash val="solid"/>
              <a:round/>
              <a:headEnd type="stealth" w="sm" len="med"/>
              <a:tailEnd type="stealth" w="sm" len="med"/>
            </a:ln>
            <a:extLst>
              <a:ext uri="{909E8E84-426E-40DD-AFC4-6F175D3DCCD1}">
                <a14:hiddenFill xmlns:a14="http://schemas.microsoft.com/office/drawing/2010/main">
                  <a:noFill/>
                </a14:hiddenFill>
              </a:ext>
            </a:extLst>
          </p:spPr>
          <p:txBody>
            <a:bodyPr/>
            <a:lstStyle/>
            <a:p>
              <a:pPr defTabSz="914377" fontAlgn="base">
                <a:spcBef>
                  <a:spcPct val="0"/>
                </a:spcBef>
                <a:spcAft>
                  <a:spcPct val="0"/>
                </a:spcAft>
                <a:buSzPct val="100000"/>
              </a:pPr>
              <a:endParaRPr lang="zh-CN" altLang="en-US">
                <a:solidFill>
                  <a:srgbClr val="000000"/>
                </a:solidFill>
                <a:latin typeface="Arial" panose="020B0604020202020204" pitchFamily="34" charset="0"/>
                <a:ea typeface="宋体" panose="02010600030101010101" pitchFamily="2" charset="-122"/>
                <a:cs typeface="Arial"/>
              </a:endParaRPr>
            </a:p>
          </p:txBody>
        </p:sp>
        <p:sp>
          <p:nvSpPr>
            <p:cNvPr id="2866" name="Text Box 6">
              <a:extLst>
                <a:ext uri="{FF2B5EF4-FFF2-40B4-BE49-F238E27FC236}">
                  <a16:creationId xmlns:a16="http://schemas.microsoft.com/office/drawing/2014/main" id="{B554C765-5C9E-4296-BB40-998554FA60CD}"/>
                </a:ext>
              </a:extLst>
            </p:cNvPr>
            <p:cNvSpPr>
              <a:spLocks noChangeArrowheads="1"/>
            </p:cNvSpPr>
            <p:nvPr/>
          </p:nvSpPr>
          <p:spPr bwMode="auto">
            <a:xfrm>
              <a:off x="3109" y="10104"/>
              <a:ext cx="240"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spcBef>
                  <a:spcPct val="0"/>
                </a:spcBef>
                <a:spcAft>
                  <a:spcPct val="0"/>
                </a:spcAft>
                <a:buSzPct val="100000"/>
              </a:pPr>
              <a:r>
                <a:rPr lang="en-US" altLang="zh-CN" sz="2400" b="1" i="1">
                  <a:solidFill>
                    <a:srgbClr val="000000"/>
                  </a:solidFill>
                  <a:latin typeface="Times New Roman" panose="02020603050405020304" pitchFamily="18" charset="0"/>
                  <a:cs typeface="Arial"/>
                </a:rPr>
                <a:t>d</a:t>
              </a:r>
            </a:p>
          </p:txBody>
        </p:sp>
        <p:sp>
          <p:nvSpPr>
            <p:cNvPr id="2867" name="Line 7">
              <a:extLst>
                <a:ext uri="{FF2B5EF4-FFF2-40B4-BE49-F238E27FC236}">
                  <a16:creationId xmlns:a16="http://schemas.microsoft.com/office/drawing/2014/main" id="{CC4B637C-373A-4C5B-8562-23F3311F565A}"/>
                </a:ext>
              </a:extLst>
            </p:cNvPr>
            <p:cNvSpPr>
              <a:spLocks noChangeShapeType="1"/>
            </p:cNvSpPr>
            <p:nvPr/>
          </p:nvSpPr>
          <p:spPr bwMode="auto">
            <a:xfrm>
              <a:off x="3633" y="10432"/>
              <a:ext cx="790" cy="0"/>
            </a:xfrm>
            <a:prstGeom prst="line">
              <a:avLst/>
            </a:prstGeom>
            <a:noFill/>
            <a:ln w="9525" cap="flat" algn="ctr">
              <a:solidFill>
                <a:srgbClr val="000000"/>
              </a:solidFill>
              <a:prstDash val="solid"/>
              <a:round/>
              <a:headEnd type="stealth" w="sm" len="med"/>
              <a:tailEnd type="stealth" w="sm" len="med"/>
            </a:ln>
            <a:extLst>
              <a:ext uri="{909E8E84-426E-40DD-AFC4-6F175D3DCCD1}">
                <a14:hiddenFill xmlns:a14="http://schemas.microsoft.com/office/drawing/2010/main">
                  <a:noFill/>
                </a14:hiddenFill>
              </a:ext>
            </a:extLst>
          </p:spPr>
          <p:txBody>
            <a:bodyPr/>
            <a:lstStyle/>
            <a:p>
              <a:pPr defTabSz="914377" fontAlgn="base">
                <a:spcBef>
                  <a:spcPct val="0"/>
                </a:spcBef>
                <a:spcAft>
                  <a:spcPct val="0"/>
                </a:spcAft>
                <a:buSzPct val="100000"/>
              </a:pPr>
              <a:endParaRPr lang="zh-CN" altLang="en-US">
                <a:solidFill>
                  <a:srgbClr val="000000"/>
                </a:solidFill>
                <a:latin typeface="Arial" panose="020B0604020202020204" pitchFamily="34" charset="0"/>
                <a:ea typeface="宋体" panose="02010600030101010101" pitchFamily="2" charset="-122"/>
                <a:cs typeface="Arial"/>
              </a:endParaRPr>
            </a:p>
          </p:txBody>
        </p:sp>
        <p:sp>
          <p:nvSpPr>
            <p:cNvPr id="2868" name="Text Box 8">
              <a:extLst>
                <a:ext uri="{FF2B5EF4-FFF2-40B4-BE49-F238E27FC236}">
                  <a16:creationId xmlns:a16="http://schemas.microsoft.com/office/drawing/2014/main" id="{B4DA7EAA-8341-4A6F-B907-E27E7C883FEB}"/>
                </a:ext>
              </a:extLst>
            </p:cNvPr>
            <p:cNvSpPr>
              <a:spLocks noChangeArrowheads="1"/>
            </p:cNvSpPr>
            <p:nvPr/>
          </p:nvSpPr>
          <p:spPr bwMode="auto">
            <a:xfrm>
              <a:off x="3929" y="10102"/>
              <a:ext cx="240"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spcBef>
                  <a:spcPct val="0"/>
                </a:spcBef>
                <a:spcAft>
                  <a:spcPct val="0"/>
                </a:spcAft>
                <a:buSzPct val="100000"/>
              </a:pPr>
              <a:r>
                <a:rPr lang="en-US" altLang="zh-CN" sz="2400" b="1" i="1">
                  <a:solidFill>
                    <a:srgbClr val="000000"/>
                  </a:solidFill>
                  <a:latin typeface="Times New Roman" panose="02020603050405020304" pitchFamily="18" charset="0"/>
                  <a:cs typeface="Arial"/>
                </a:rPr>
                <a:t>d</a:t>
              </a:r>
            </a:p>
          </p:txBody>
        </p:sp>
        <p:sp>
          <p:nvSpPr>
            <p:cNvPr id="2869" name="Line 9">
              <a:extLst>
                <a:ext uri="{FF2B5EF4-FFF2-40B4-BE49-F238E27FC236}">
                  <a16:creationId xmlns:a16="http://schemas.microsoft.com/office/drawing/2014/main" id="{3F7236CD-3AB1-4F95-96C3-D40882861CE8}"/>
                </a:ext>
              </a:extLst>
            </p:cNvPr>
            <p:cNvSpPr>
              <a:spLocks noChangeShapeType="1"/>
            </p:cNvSpPr>
            <p:nvPr/>
          </p:nvSpPr>
          <p:spPr bwMode="auto">
            <a:xfrm>
              <a:off x="2829" y="8154"/>
              <a:ext cx="0" cy="2289"/>
            </a:xfrm>
            <a:prstGeom prst="line">
              <a:avLst/>
            </a:prstGeom>
            <a:noFill/>
            <a:ln w="9525" cap="flat" algn="ctr">
              <a:solidFill>
                <a:srgbClr val="000000"/>
              </a:solidFill>
              <a:prstDash val="dash"/>
              <a:round/>
              <a:headEnd type="none" w="med" len="med"/>
              <a:tailEnd type="none" w="med" len="med"/>
            </a:ln>
            <a:extLst>
              <a:ext uri="{909E8E84-426E-40DD-AFC4-6F175D3DCCD1}">
                <a14:hiddenFill xmlns:a14="http://schemas.microsoft.com/office/drawing/2010/main">
                  <a:noFill/>
                </a14:hiddenFill>
              </a:ext>
            </a:extLst>
          </p:spPr>
          <p:txBody>
            <a:bodyPr/>
            <a:lstStyle/>
            <a:p>
              <a:pPr defTabSz="914377" fontAlgn="base">
                <a:spcBef>
                  <a:spcPct val="0"/>
                </a:spcBef>
                <a:spcAft>
                  <a:spcPct val="0"/>
                </a:spcAft>
                <a:buSzPct val="100000"/>
              </a:pPr>
              <a:endParaRPr lang="zh-CN" altLang="en-US">
                <a:solidFill>
                  <a:srgbClr val="000000"/>
                </a:solidFill>
                <a:latin typeface="Arial" panose="020B0604020202020204" pitchFamily="34" charset="0"/>
                <a:ea typeface="宋体" panose="02010600030101010101" pitchFamily="2" charset="-122"/>
                <a:cs typeface="Arial"/>
              </a:endParaRPr>
            </a:p>
          </p:txBody>
        </p:sp>
        <p:sp>
          <p:nvSpPr>
            <p:cNvPr id="2870" name="Line 10">
              <a:extLst>
                <a:ext uri="{FF2B5EF4-FFF2-40B4-BE49-F238E27FC236}">
                  <a16:creationId xmlns:a16="http://schemas.microsoft.com/office/drawing/2014/main" id="{F6FF972A-4E4A-436A-A8DD-62D6C248BFCB}"/>
                </a:ext>
              </a:extLst>
            </p:cNvPr>
            <p:cNvSpPr>
              <a:spLocks noChangeShapeType="1"/>
            </p:cNvSpPr>
            <p:nvPr/>
          </p:nvSpPr>
          <p:spPr bwMode="auto">
            <a:xfrm>
              <a:off x="4429" y="8136"/>
              <a:ext cx="0" cy="2289"/>
            </a:xfrm>
            <a:prstGeom prst="line">
              <a:avLst/>
            </a:prstGeom>
            <a:noFill/>
            <a:ln w="9525" cap="flat" algn="ctr">
              <a:solidFill>
                <a:srgbClr val="000000"/>
              </a:solidFill>
              <a:prstDash val="dash"/>
              <a:round/>
              <a:headEnd type="none" w="med" len="med"/>
              <a:tailEnd type="none" w="med" len="med"/>
            </a:ln>
            <a:extLst>
              <a:ext uri="{909E8E84-426E-40DD-AFC4-6F175D3DCCD1}">
                <a14:hiddenFill xmlns:a14="http://schemas.microsoft.com/office/drawing/2010/main">
                  <a:noFill/>
                </a14:hiddenFill>
              </a:ext>
            </a:extLst>
          </p:spPr>
          <p:txBody>
            <a:bodyPr/>
            <a:lstStyle/>
            <a:p>
              <a:pPr defTabSz="914377" fontAlgn="base">
                <a:spcBef>
                  <a:spcPct val="0"/>
                </a:spcBef>
                <a:spcAft>
                  <a:spcPct val="0"/>
                </a:spcAft>
                <a:buSzPct val="100000"/>
              </a:pPr>
              <a:endParaRPr lang="zh-CN" altLang="en-US">
                <a:solidFill>
                  <a:srgbClr val="000000"/>
                </a:solidFill>
                <a:latin typeface="Arial" panose="020B0604020202020204" pitchFamily="34" charset="0"/>
                <a:ea typeface="宋体" panose="02010600030101010101" pitchFamily="2" charset="-122"/>
                <a:cs typeface="Arial"/>
              </a:endParaRPr>
            </a:p>
          </p:txBody>
        </p:sp>
        <p:sp>
          <p:nvSpPr>
            <p:cNvPr id="2871" name="Oval 11">
              <a:extLst>
                <a:ext uri="{FF2B5EF4-FFF2-40B4-BE49-F238E27FC236}">
                  <a16:creationId xmlns:a16="http://schemas.microsoft.com/office/drawing/2014/main" id="{912FBA8A-C2B2-432F-BD64-607DAED6E83E}"/>
                </a:ext>
              </a:extLst>
            </p:cNvPr>
            <p:cNvSpPr>
              <a:spLocks noChangeArrowheads="1"/>
            </p:cNvSpPr>
            <p:nvPr/>
          </p:nvSpPr>
          <p:spPr bwMode="auto">
            <a:xfrm>
              <a:off x="4209" y="8706"/>
              <a:ext cx="68" cy="68"/>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872" name="Oval 12">
              <a:extLst>
                <a:ext uri="{FF2B5EF4-FFF2-40B4-BE49-F238E27FC236}">
                  <a16:creationId xmlns:a16="http://schemas.microsoft.com/office/drawing/2014/main" id="{6DF6B845-7F9E-4BF6-A036-9ADE7930B560}"/>
                </a:ext>
              </a:extLst>
            </p:cNvPr>
            <p:cNvSpPr>
              <a:spLocks noChangeArrowheads="1"/>
            </p:cNvSpPr>
            <p:nvPr/>
          </p:nvSpPr>
          <p:spPr bwMode="auto">
            <a:xfrm>
              <a:off x="3729" y="9324"/>
              <a:ext cx="68" cy="68"/>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873" name="Oval 13">
              <a:extLst>
                <a:ext uri="{FF2B5EF4-FFF2-40B4-BE49-F238E27FC236}">
                  <a16:creationId xmlns:a16="http://schemas.microsoft.com/office/drawing/2014/main" id="{9997E6DC-5243-47B4-84D0-FE21E6D3B312}"/>
                </a:ext>
              </a:extLst>
            </p:cNvPr>
            <p:cNvSpPr>
              <a:spLocks noChangeArrowheads="1"/>
            </p:cNvSpPr>
            <p:nvPr/>
          </p:nvSpPr>
          <p:spPr bwMode="auto">
            <a:xfrm>
              <a:off x="3149" y="8484"/>
              <a:ext cx="68" cy="68"/>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874" name="Oval 14">
              <a:extLst>
                <a:ext uri="{FF2B5EF4-FFF2-40B4-BE49-F238E27FC236}">
                  <a16:creationId xmlns:a16="http://schemas.microsoft.com/office/drawing/2014/main" id="{DA8DBAED-5C49-4C67-B9ED-28C50161D880}"/>
                </a:ext>
              </a:extLst>
            </p:cNvPr>
            <p:cNvSpPr>
              <a:spLocks noChangeArrowheads="1"/>
            </p:cNvSpPr>
            <p:nvPr/>
          </p:nvSpPr>
          <p:spPr bwMode="auto">
            <a:xfrm>
              <a:off x="2909" y="9798"/>
              <a:ext cx="68" cy="68"/>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875" name="Oval 15">
              <a:extLst>
                <a:ext uri="{FF2B5EF4-FFF2-40B4-BE49-F238E27FC236}">
                  <a16:creationId xmlns:a16="http://schemas.microsoft.com/office/drawing/2014/main" id="{005C78A1-F4C8-492D-AFED-7F21C06E2DB7}"/>
                </a:ext>
              </a:extLst>
            </p:cNvPr>
            <p:cNvSpPr>
              <a:spLocks noChangeArrowheads="1"/>
            </p:cNvSpPr>
            <p:nvPr/>
          </p:nvSpPr>
          <p:spPr bwMode="auto">
            <a:xfrm>
              <a:off x="3439" y="9203"/>
              <a:ext cx="68" cy="68"/>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876" name="Text Box 16">
              <a:extLst>
                <a:ext uri="{FF2B5EF4-FFF2-40B4-BE49-F238E27FC236}">
                  <a16:creationId xmlns:a16="http://schemas.microsoft.com/office/drawing/2014/main" id="{4E5F54EA-CDE2-4AF3-B23F-0DB8B8FCD8C6}"/>
                </a:ext>
              </a:extLst>
            </p:cNvPr>
            <p:cNvSpPr>
              <a:spLocks noChangeArrowheads="1"/>
            </p:cNvSpPr>
            <p:nvPr/>
          </p:nvSpPr>
          <p:spPr bwMode="auto">
            <a:xfrm>
              <a:off x="3369" y="8895"/>
              <a:ext cx="120" cy="2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lnSpc>
                  <a:spcPct val="80000"/>
                </a:lnSpc>
                <a:spcBef>
                  <a:spcPct val="0"/>
                </a:spcBef>
                <a:spcAft>
                  <a:spcPct val="0"/>
                </a:spcAft>
                <a:buSzPct val="100000"/>
              </a:pPr>
              <a:r>
                <a:rPr lang="en-US" altLang="zh-CN" sz="2400" b="1" i="1">
                  <a:solidFill>
                    <a:srgbClr val="000000"/>
                  </a:solidFill>
                  <a:latin typeface="Times New Roman" panose="02020603050405020304" pitchFamily="18" charset="0"/>
                  <a:cs typeface="Arial"/>
                </a:rPr>
                <a:t>p</a:t>
              </a:r>
            </a:p>
          </p:txBody>
        </p:sp>
        <p:sp>
          <p:nvSpPr>
            <p:cNvPr id="2877" name="Text Box 17">
              <a:extLst>
                <a:ext uri="{FF2B5EF4-FFF2-40B4-BE49-F238E27FC236}">
                  <a16:creationId xmlns:a16="http://schemas.microsoft.com/office/drawing/2014/main" id="{86C552FB-9349-42A1-84AB-5222957B962E}"/>
                </a:ext>
              </a:extLst>
            </p:cNvPr>
            <p:cNvSpPr>
              <a:spLocks noChangeArrowheads="1"/>
            </p:cNvSpPr>
            <p:nvPr/>
          </p:nvSpPr>
          <p:spPr bwMode="auto">
            <a:xfrm>
              <a:off x="2449" y="10918"/>
              <a:ext cx="6020" cy="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spcBef>
                  <a:spcPct val="0"/>
                </a:spcBef>
                <a:spcAft>
                  <a:spcPct val="0"/>
                </a:spcAft>
                <a:buSzPct val="100000"/>
              </a:pPr>
              <a:endParaRPr lang="en-US" altLang="zh-CN" sz="2000" b="1">
                <a:solidFill>
                  <a:srgbClr val="000000"/>
                </a:solidFill>
                <a:latin typeface="Times New Roman" panose="02020603050405020304" pitchFamily="18" charset="0"/>
                <a:cs typeface="Arial"/>
              </a:endParaRPr>
            </a:p>
            <a:p>
              <a:pPr algn="just" defTabSz="914377" fontAlgn="base">
                <a:spcBef>
                  <a:spcPct val="0"/>
                </a:spcBef>
                <a:spcAft>
                  <a:spcPct val="0"/>
                </a:spcAft>
                <a:buSzPct val="100000"/>
              </a:pPr>
              <a:r>
                <a:rPr lang="en-US" altLang="zh-CN" sz="2000" b="1">
                  <a:solidFill>
                    <a:srgbClr val="000000"/>
                  </a:solidFill>
                  <a:latin typeface="Times New Roman" panose="02020603050405020304" pitchFamily="18" charset="0"/>
                  <a:cs typeface="Arial"/>
                </a:rPr>
                <a:t>(a) </a:t>
              </a:r>
              <a:r>
                <a:rPr lang="zh-CN" altLang="en-US" sz="2000" b="1">
                  <a:solidFill>
                    <a:srgbClr val="000000"/>
                  </a:solidFill>
                  <a:latin typeface="Times New Roman" panose="02020603050405020304" pitchFamily="18" charset="0"/>
                  <a:cs typeface="Arial"/>
                </a:rPr>
                <a:t>包含点</a:t>
              </a:r>
              <a:r>
                <a:rPr lang="en-US" altLang="zh-CN" sz="2000" b="1" i="1">
                  <a:solidFill>
                    <a:srgbClr val="000000"/>
                  </a:solidFill>
                  <a:latin typeface="Times New Roman" panose="02020603050405020304" pitchFamily="18" charset="0"/>
                  <a:cs typeface="Arial"/>
                </a:rPr>
                <a:t>q</a:t>
              </a:r>
              <a:r>
                <a:rPr lang="zh-CN" altLang="en-US" sz="2000" b="1">
                  <a:solidFill>
                    <a:srgbClr val="000000"/>
                  </a:solidFill>
                  <a:latin typeface="Times New Roman" panose="02020603050405020304" pitchFamily="18" charset="0"/>
                  <a:cs typeface="Arial"/>
                </a:rPr>
                <a:t>的</a:t>
              </a:r>
              <a:r>
                <a:rPr lang="en-US" altLang="zh-CN" sz="2000" b="1" i="1">
                  <a:solidFill>
                    <a:srgbClr val="000000"/>
                  </a:solidFill>
                  <a:latin typeface="Times New Roman" panose="02020603050405020304" pitchFamily="18" charset="0"/>
                  <a:cs typeface="Arial"/>
                </a:rPr>
                <a:t>d</a:t>
              </a:r>
              <a:r>
                <a:rPr lang="en-US" altLang="zh-CN" sz="2000" b="1">
                  <a:solidFill>
                    <a:srgbClr val="000000"/>
                  </a:solidFill>
                  <a:latin typeface="Times New Roman" panose="02020603050405020304" pitchFamily="18" charset="0"/>
                  <a:cs typeface="Arial"/>
                </a:rPr>
                <a:t>×2</a:t>
              </a:r>
              <a:r>
                <a:rPr lang="en-US" altLang="zh-CN" sz="2000" b="1" i="1">
                  <a:solidFill>
                    <a:srgbClr val="000000"/>
                  </a:solidFill>
                  <a:latin typeface="Times New Roman" panose="02020603050405020304" pitchFamily="18" charset="0"/>
                  <a:cs typeface="Arial"/>
                </a:rPr>
                <a:t>d</a:t>
              </a:r>
              <a:r>
                <a:rPr lang="zh-CN" altLang="en-US" sz="2000" b="1">
                  <a:solidFill>
                    <a:srgbClr val="000000"/>
                  </a:solidFill>
                  <a:latin typeface="Times New Roman" panose="02020603050405020304" pitchFamily="18" charset="0"/>
                  <a:cs typeface="Arial"/>
                </a:rPr>
                <a:t>的矩形区域             </a:t>
              </a:r>
              <a:r>
                <a:rPr lang="en-US" altLang="zh-CN" sz="2000" b="1">
                  <a:solidFill>
                    <a:srgbClr val="000000"/>
                  </a:solidFill>
                  <a:latin typeface="Times New Roman" panose="02020603050405020304" pitchFamily="18" charset="0"/>
                  <a:cs typeface="Arial"/>
                </a:rPr>
                <a:t>(b) </a:t>
              </a:r>
              <a:r>
                <a:rPr lang="zh-CN" altLang="en-US" sz="2000" b="1">
                  <a:solidFill>
                    <a:srgbClr val="000000"/>
                  </a:solidFill>
                  <a:latin typeface="Times New Roman" panose="02020603050405020304" pitchFamily="18" charset="0"/>
                  <a:cs typeface="Arial"/>
                </a:rPr>
                <a:t>最坏情况下需要检查的</a:t>
              </a:r>
              <a:r>
                <a:rPr lang="en-US" altLang="zh-CN" sz="2000" b="1">
                  <a:solidFill>
                    <a:srgbClr val="000000"/>
                  </a:solidFill>
                  <a:latin typeface="Times New Roman" panose="02020603050405020304" pitchFamily="18" charset="0"/>
                  <a:cs typeface="Arial"/>
                </a:rPr>
                <a:t>6</a:t>
              </a:r>
              <a:r>
                <a:rPr lang="zh-CN" altLang="en-US" sz="2000" b="1">
                  <a:solidFill>
                    <a:srgbClr val="000000"/>
                  </a:solidFill>
                  <a:latin typeface="Times New Roman" panose="02020603050405020304" pitchFamily="18" charset="0"/>
                  <a:cs typeface="Arial"/>
                </a:rPr>
                <a:t>个点</a:t>
              </a:r>
            </a:p>
          </p:txBody>
        </p:sp>
        <p:sp>
          <p:nvSpPr>
            <p:cNvPr id="2878" name="AutoShape 18">
              <a:extLst>
                <a:ext uri="{FF2B5EF4-FFF2-40B4-BE49-F238E27FC236}">
                  <a16:creationId xmlns:a16="http://schemas.microsoft.com/office/drawing/2014/main" id="{78CE33A9-ED46-4F87-A46E-6FF9C3FF1678}"/>
                </a:ext>
              </a:extLst>
            </p:cNvPr>
            <p:cNvSpPr>
              <a:spLocks noChangeArrowheads="1"/>
            </p:cNvSpPr>
            <p:nvPr/>
          </p:nvSpPr>
          <p:spPr bwMode="auto">
            <a:xfrm rot="16200000">
              <a:off x="3153" y="10152"/>
              <a:ext cx="111" cy="760"/>
            </a:xfrm>
            <a:prstGeom prst="leftBrace">
              <a:avLst>
                <a:gd name="adj1" fmla="val 29194"/>
                <a:gd name="adj2" fmla="val 50000"/>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879" name="AutoShape 19">
              <a:extLst>
                <a:ext uri="{FF2B5EF4-FFF2-40B4-BE49-F238E27FC236}">
                  <a16:creationId xmlns:a16="http://schemas.microsoft.com/office/drawing/2014/main" id="{F75F829A-D136-439A-BE4C-5168F3D2CF48}"/>
                </a:ext>
              </a:extLst>
            </p:cNvPr>
            <p:cNvSpPr>
              <a:spLocks noChangeArrowheads="1"/>
            </p:cNvSpPr>
            <p:nvPr/>
          </p:nvSpPr>
          <p:spPr bwMode="auto">
            <a:xfrm rot="16200000">
              <a:off x="3962" y="10144"/>
              <a:ext cx="123" cy="770"/>
            </a:xfrm>
            <a:prstGeom prst="leftBrace">
              <a:avLst>
                <a:gd name="adj1" fmla="val 26722"/>
                <a:gd name="adj2" fmla="val 51296"/>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880" name="Text Box 20">
              <a:extLst>
                <a:ext uri="{FF2B5EF4-FFF2-40B4-BE49-F238E27FC236}">
                  <a16:creationId xmlns:a16="http://schemas.microsoft.com/office/drawing/2014/main" id="{03AD61A4-D308-4B3D-845A-7056152B7399}"/>
                </a:ext>
              </a:extLst>
            </p:cNvPr>
            <p:cNvSpPr>
              <a:spLocks noChangeArrowheads="1"/>
            </p:cNvSpPr>
            <p:nvPr/>
          </p:nvSpPr>
          <p:spPr bwMode="auto">
            <a:xfrm>
              <a:off x="3119" y="10626"/>
              <a:ext cx="300" cy="1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lnSpc>
                  <a:spcPct val="80000"/>
                </a:lnSpc>
                <a:spcBef>
                  <a:spcPct val="0"/>
                </a:spcBef>
                <a:spcAft>
                  <a:spcPct val="0"/>
                </a:spcAft>
                <a:buSzPct val="100000"/>
              </a:pPr>
              <a:r>
                <a:rPr lang="en-US" altLang="zh-CN" sz="2400" b="1" i="1">
                  <a:solidFill>
                    <a:srgbClr val="000000"/>
                  </a:solidFill>
                  <a:latin typeface="Times New Roman" panose="02020603050405020304" pitchFamily="18" charset="0"/>
                  <a:cs typeface="Arial"/>
                </a:rPr>
                <a:t>P</a:t>
              </a:r>
              <a:r>
                <a:rPr lang="en-US" altLang="zh-CN" sz="2400" b="1">
                  <a:solidFill>
                    <a:srgbClr val="000000"/>
                  </a:solidFill>
                  <a:latin typeface="Times New Roman" panose="02020603050405020304" pitchFamily="18" charset="0"/>
                  <a:cs typeface="Arial"/>
                </a:rPr>
                <a:t>1</a:t>
              </a:r>
            </a:p>
          </p:txBody>
        </p:sp>
        <p:sp>
          <p:nvSpPr>
            <p:cNvPr id="2881" name="Text Box 21">
              <a:extLst>
                <a:ext uri="{FF2B5EF4-FFF2-40B4-BE49-F238E27FC236}">
                  <a16:creationId xmlns:a16="http://schemas.microsoft.com/office/drawing/2014/main" id="{716D187E-DCF7-43BE-AD8E-CBF35084007C}"/>
                </a:ext>
              </a:extLst>
            </p:cNvPr>
            <p:cNvSpPr>
              <a:spLocks noChangeArrowheads="1"/>
            </p:cNvSpPr>
            <p:nvPr/>
          </p:nvSpPr>
          <p:spPr bwMode="auto">
            <a:xfrm>
              <a:off x="3909" y="10626"/>
              <a:ext cx="330" cy="1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lnSpc>
                  <a:spcPct val="80000"/>
                </a:lnSpc>
                <a:spcBef>
                  <a:spcPct val="0"/>
                </a:spcBef>
                <a:spcAft>
                  <a:spcPct val="0"/>
                </a:spcAft>
                <a:buSzPct val="100000"/>
              </a:pPr>
              <a:r>
                <a:rPr lang="en-US" altLang="zh-CN" sz="2400" b="1" i="1">
                  <a:solidFill>
                    <a:srgbClr val="000000"/>
                  </a:solidFill>
                  <a:latin typeface="Times New Roman" panose="02020603050405020304" pitchFamily="18" charset="0"/>
                  <a:cs typeface="Arial"/>
                </a:rPr>
                <a:t>P</a:t>
              </a:r>
              <a:r>
                <a:rPr lang="en-US" altLang="zh-CN" sz="2400" b="1">
                  <a:solidFill>
                    <a:srgbClr val="000000"/>
                  </a:solidFill>
                  <a:latin typeface="Times New Roman" panose="02020603050405020304" pitchFamily="18" charset="0"/>
                  <a:cs typeface="Arial"/>
                </a:rPr>
                <a:t>2</a:t>
              </a:r>
            </a:p>
          </p:txBody>
        </p:sp>
        <p:sp>
          <p:nvSpPr>
            <p:cNvPr id="2882" name="Line 22">
              <a:extLst>
                <a:ext uri="{FF2B5EF4-FFF2-40B4-BE49-F238E27FC236}">
                  <a16:creationId xmlns:a16="http://schemas.microsoft.com/office/drawing/2014/main" id="{AF020BE0-B0ED-4B10-95CB-A81F3E7A759D}"/>
                </a:ext>
              </a:extLst>
            </p:cNvPr>
            <p:cNvSpPr>
              <a:spLocks noChangeShapeType="1"/>
            </p:cNvSpPr>
            <p:nvPr/>
          </p:nvSpPr>
          <p:spPr bwMode="auto">
            <a:xfrm>
              <a:off x="3509" y="9234"/>
              <a:ext cx="920" cy="0"/>
            </a:xfrm>
            <a:prstGeom prst="lin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pPr defTabSz="914377" fontAlgn="base">
                <a:spcBef>
                  <a:spcPct val="0"/>
                </a:spcBef>
                <a:spcAft>
                  <a:spcPct val="0"/>
                </a:spcAft>
                <a:buSzPct val="100000"/>
              </a:pPr>
              <a:endParaRPr lang="zh-CN" altLang="en-US">
                <a:solidFill>
                  <a:srgbClr val="000000"/>
                </a:solidFill>
                <a:latin typeface="Arial" panose="020B0604020202020204" pitchFamily="34" charset="0"/>
                <a:ea typeface="宋体" panose="02010600030101010101" pitchFamily="2" charset="-122"/>
                <a:cs typeface="Arial"/>
              </a:endParaRPr>
            </a:p>
          </p:txBody>
        </p:sp>
        <p:sp>
          <p:nvSpPr>
            <p:cNvPr id="2883" name="Line 23">
              <a:extLst>
                <a:ext uri="{FF2B5EF4-FFF2-40B4-BE49-F238E27FC236}">
                  <a16:creationId xmlns:a16="http://schemas.microsoft.com/office/drawing/2014/main" id="{429CC8CD-8C16-4D75-BE64-991B82B36944}"/>
                </a:ext>
              </a:extLst>
            </p:cNvPr>
            <p:cNvSpPr>
              <a:spLocks noChangeShapeType="1"/>
            </p:cNvSpPr>
            <p:nvPr/>
          </p:nvSpPr>
          <p:spPr bwMode="auto">
            <a:xfrm flipV="1">
              <a:off x="3639" y="10002"/>
              <a:ext cx="790" cy="0"/>
            </a:xfrm>
            <a:prstGeom prst="lin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pPr defTabSz="914377" fontAlgn="base">
                <a:spcBef>
                  <a:spcPct val="0"/>
                </a:spcBef>
                <a:spcAft>
                  <a:spcPct val="0"/>
                </a:spcAft>
                <a:buSzPct val="100000"/>
              </a:pPr>
              <a:endParaRPr lang="zh-CN" altLang="en-US">
                <a:solidFill>
                  <a:srgbClr val="000000"/>
                </a:solidFill>
                <a:latin typeface="Arial" panose="020B0604020202020204" pitchFamily="34" charset="0"/>
                <a:ea typeface="宋体" panose="02010600030101010101" pitchFamily="2" charset="-122"/>
                <a:cs typeface="Arial"/>
              </a:endParaRPr>
            </a:p>
          </p:txBody>
        </p:sp>
        <p:sp>
          <p:nvSpPr>
            <p:cNvPr id="2884" name="Line 24">
              <a:extLst>
                <a:ext uri="{FF2B5EF4-FFF2-40B4-BE49-F238E27FC236}">
                  <a16:creationId xmlns:a16="http://schemas.microsoft.com/office/drawing/2014/main" id="{8EC75CCD-1411-4E31-826F-2E5629ABC65E}"/>
                </a:ext>
              </a:extLst>
            </p:cNvPr>
            <p:cNvSpPr>
              <a:spLocks noChangeShapeType="1"/>
            </p:cNvSpPr>
            <p:nvPr/>
          </p:nvSpPr>
          <p:spPr bwMode="auto">
            <a:xfrm flipV="1">
              <a:off x="3639" y="8493"/>
              <a:ext cx="800" cy="0"/>
            </a:xfrm>
            <a:prstGeom prst="lin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pPr defTabSz="914377" fontAlgn="base">
                <a:spcBef>
                  <a:spcPct val="0"/>
                </a:spcBef>
                <a:spcAft>
                  <a:spcPct val="0"/>
                </a:spcAft>
                <a:buSzPct val="100000"/>
              </a:pPr>
              <a:endParaRPr lang="zh-CN" altLang="en-US">
                <a:solidFill>
                  <a:srgbClr val="000000"/>
                </a:solidFill>
                <a:latin typeface="Arial" panose="020B0604020202020204" pitchFamily="34" charset="0"/>
                <a:ea typeface="宋体" panose="02010600030101010101" pitchFamily="2" charset="-122"/>
                <a:cs typeface="Arial"/>
              </a:endParaRPr>
            </a:p>
          </p:txBody>
        </p:sp>
        <p:sp>
          <p:nvSpPr>
            <p:cNvPr id="2885" name="Oval 25">
              <a:extLst>
                <a:ext uri="{FF2B5EF4-FFF2-40B4-BE49-F238E27FC236}">
                  <a16:creationId xmlns:a16="http://schemas.microsoft.com/office/drawing/2014/main" id="{D2F756FF-A228-4869-8FB2-5D623143C691}"/>
                </a:ext>
              </a:extLst>
            </p:cNvPr>
            <p:cNvSpPr>
              <a:spLocks noChangeArrowheads="1"/>
            </p:cNvSpPr>
            <p:nvPr/>
          </p:nvSpPr>
          <p:spPr bwMode="auto">
            <a:xfrm>
              <a:off x="4169" y="9837"/>
              <a:ext cx="68" cy="68"/>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886" name="Line 26">
              <a:extLst>
                <a:ext uri="{FF2B5EF4-FFF2-40B4-BE49-F238E27FC236}">
                  <a16:creationId xmlns:a16="http://schemas.microsoft.com/office/drawing/2014/main" id="{30157730-68F0-4595-A02E-87C3A2F069D5}"/>
                </a:ext>
              </a:extLst>
            </p:cNvPr>
            <p:cNvSpPr>
              <a:spLocks noChangeShapeType="1"/>
            </p:cNvSpPr>
            <p:nvPr/>
          </p:nvSpPr>
          <p:spPr bwMode="auto">
            <a:xfrm flipH="1">
              <a:off x="4517" y="8493"/>
              <a:ext cx="0" cy="1506"/>
            </a:xfrm>
            <a:prstGeom prst="line">
              <a:avLst/>
            </a:prstGeom>
            <a:noFill/>
            <a:ln w="9525" cap="flat" algn="ctr">
              <a:solidFill>
                <a:srgbClr val="000000"/>
              </a:solidFill>
              <a:prstDash val="solid"/>
              <a:round/>
              <a:headEnd type="stealth" w="sm" len="med"/>
              <a:tailEnd type="stealth" w="sm" len="med"/>
            </a:ln>
            <a:extLst>
              <a:ext uri="{909E8E84-426E-40DD-AFC4-6F175D3DCCD1}">
                <a14:hiddenFill xmlns:a14="http://schemas.microsoft.com/office/drawing/2010/main">
                  <a:noFill/>
                </a14:hiddenFill>
              </a:ext>
            </a:extLst>
          </p:spPr>
          <p:txBody>
            <a:bodyPr/>
            <a:lstStyle/>
            <a:p>
              <a:pPr defTabSz="914377" fontAlgn="base">
                <a:spcBef>
                  <a:spcPct val="0"/>
                </a:spcBef>
                <a:spcAft>
                  <a:spcPct val="0"/>
                </a:spcAft>
                <a:buSzPct val="100000"/>
              </a:pPr>
              <a:endParaRPr lang="zh-CN" altLang="en-US">
                <a:solidFill>
                  <a:srgbClr val="000000"/>
                </a:solidFill>
                <a:latin typeface="Arial" panose="020B0604020202020204" pitchFamily="34" charset="0"/>
                <a:ea typeface="宋体" panose="02010600030101010101" pitchFamily="2" charset="-122"/>
                <a:cs typeface="Arial"/>
              </a:endParaRPr>
            </a:p>
          </p:txBody>
        </p:sp>
        <p:sp>
          <p:nvSpPr>
            <p:cNvPr id="2887" name="Text Box 27">
              <a:extLst>
                <a:ext uri="{FF2B5EF4-FFF2-40B4-BE49-F238E27FC236}">
                  <a16:creationId xmlns:a16="http://schemas.microsoft.com/office/drawing/2014/main" id="{9D321474-28BC-41CB-9EB1-BD5655575AC4}"/>
                </a:ext>
              </a:extLst>
            </p:cNvPr>
            <p:cNvSpPr>
              <a:spLocks noChangeArrowheads="1"/>
            </p:cNvSpPr>
            <p:nvPr/>
          </p:nvSpPr>
          <p:spPr bwMode="auto">
            <a:xfrm>
              <a:off x="4619" y="9120"/>
              <a:ext cx="240"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spcBef>
                  <a:spcPct val="0"/>
                </a:spcBef>
                <a:spcAft>
                  <a:spcPct val="0"/>
                </a:spcAft>
                <a:buSzPct val="100000"/>
              </a:pPr>
              <a:r>
                <a:rPr lang="en-US" altLang="zh-CN" sz="2400" b="1">
                  <a:solidFill>
                    <a:srgbClr val="000000"/>
                  </a:solidFill>
                  <a:latin typeface="Times New Roman" panose="02020603050405020304" pitchFamily="18" charset="0"/>
                  <a:cs typeface="Arial"/>
                </a:rPr>
                <a:t>2</a:t>
              </a:r>
              <a:r>
                <a:rPr lang="en-US" altLang="zh-CN" sz="2400" b="1" i="1">
                  <a:solidFill>
                    <a:srgbClr val="000000"/>
                  </a:solidFill>
                  <a:latin typeface="Times New Roman" panose="02020603050405020304" pitchFamily="18" charset="0"/>
                  <a:cs typeface="Arial"/>
                </a:rPr>
                <a:t>d</a:t>
              </a:r>
            </a:p>
          </p:txBody>
        </p:sp>
        <p:sp>
          <p:nvSpPr>
            <p:cNvPr id="2888" name="Line 28">
              <a:extLst>
                <a:ext uri="{FF2B5EF4-FFF2-40B4-BE49-F238E27FC236}">
                  <a16:creationId xmlns:a16="http://schemas.microsoft.com/office/drawing/2014/main" id="{0CCE65A5-29FF-4DA3-978B-D731683B4357}"/>
                </a:ext>
              </a:extLst>
            </p:cNvPr>
            <p:cNvSpPr>
              <a:spLocks noChangeShapeType="1"/>
            </p:cNvSpPr>
            <p:nvPr/>
          </p:nvSpPr>
          <p:spPr bwMode="auto">
            <a:xfrm>
              <a:off x="6909" y="8175"/>
              <a:ext cx="0" cy="2259"/>
            </a:xfrm>
            <a:prstGeom prst="lin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pPr defTabSz="914377" fontAlgn="base">
                <a:spcBef>
                  <a:spcPct val="0"/>
                </a:spcBef>
                <a:spcAft>
                  <a:spcPct val="0"/>
                </a:spcAft>
                <a:buSzPct val="100000"/>
              </a:pPr>
              <a:endParaRPr lang="zh-CN" altLang="en-US">
                <a:solidFill>
                  <a:srgbClr val="000000"/>
                </a:solidFill>
                <a:latin typeface="Arial" panose="020B0604020202020204" pitchFamily="34" charset="0"/>
                <a:ea typeface="宋体" panose="02010600030101010101" pitchFamily="2" charset="-122"/>
                <a:cs typeface="Arial"/>
              </a:endParaRPr>
            </a:p>
          </p:txBody>
        </p:sp>
        <p:sp>
          <p:nvSpPr>
            <p:cNvPr id="2889" name="Text Box 29">
              <a:extLst>
                <a:ext uri="{FF2B5EF4-FFF2-40B4-BE49-F238E27FC236}">
                  <a16:creationId xmlns:a16="http://schemas.microsoft.com/office/drawing/2014/main" id="{DB8F01A6-BBEB-4C02-9B70-C2E072E529FE}"/>
                </a:ext>
              </a:extLst>
            </p:cNvPr>
            <p:cNvSpPr>
              <a:spLocks noChangeArrowheads="1"/>
            </p:cNvSpPr>
            <p:nvPr/>
          </p:nvSpPr>
          <p:spPr bwMode="auto">
            <a:xfrm>
              <a:off x="6769" y="7917"/>
              <a:ext cx="510" cy="2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lnSpc>
                  <a:spcPct val="80000"/>
                </a:lnSpc>
                <a:spcBef>
                  <a:spcPct val="0"/>
                </a:spcBef>
                <a:spcAft>
                  <a:spcPct val="0"/>
                </a:spcAft>
                <a:buSzPct val="100000"/>
              </a:pPr>
              <a:r>
                <a:rPr lang="en-US" altLang="zh-CN" sz="2400" b="1" i="1">
                  <a:solidFill>
                    <a:srgbClr val="000000"/>
                  </a:solidFill>
                  <a:latin typeface="Times New Roman" panose="02020603050405020304" pitchFamily="18" charset="0"/>
                  <a:cs typeface="Arial"/>
                </a:rPr>
                <a:t>x</a:t>
              </a:r>
              <a:r>
                <a:rPr lang="en-US" altLang="zh-CN" sz="2400" b="1">
                  <a:solidFill>
                    <a:srgbClr val="000000"/>
                  </a:solidFill>
                  <a:latin typeface="Times New Roman" panose="02020603050405020304" pitchFamily="18" charset="0"/>
                  <a:cs typeface="Arial"/>
                </a:rPr>
                <a:t>=</a:t>
              </a:r>
              <a:r>
                <a:rPr lang="en-US" altLang="zh-CN" sz="2400" b="1" i="1">
                  <a:solidFill>
                    <a:srgbClr val="000000"/>
                  </a:solidFill>
                  <a:latin typeface="Times New Roman" panose="02020603050405020304" pitchFamily="18" charset="0"/>
                  <a:cs typeface="Arial"/>
                </a:rPr>
                <a:t>m</a:t>
              </a:r>
            </a:p>
          </p:txBody>
        </p:sp>
        <p:sp>
          <p:nvSpPr>
            <p:cNvPr id="2890" name="Line 30">
              <a:extLst>
                <a:ext uri="{FF2B5EF4-FFF2-40B4-BE49-F238E27FC236}">
                  <a16:creationId xmlns:a16="http://schemas.microsoft.com/office/drawing/2014/main" id="{AA9D6085-A80E-4DD3-8141-57975E225FB8}"/>
                </a:ext>
              </a:extLst>
            </p:cNvPr>
            <p:cNvSpPr>
              <a:spLocks noChangeShapeType="1"/>
            </p:cNvSpPr>
            <p:nvPr/>
          </p:nvSpPr>
          <p:spPr bwMode="auto">
            <a:xfrm>
              <a:off x="6103" y="10443"/>
              <a:ext cx="790" cy="0"/>
            </a:xfrm>
            <a:prstGeom prst="line">
              <a:avLst/>
            </a:prstGeom>
            <a:noFill/>
            <a:ln w="9525" cap="flat" algn="ctr">
              <a:solidFill>
                <a:srgbClr val="000000"/>
              </a:solidFill>
              <a:prstDash val="solid"/>
              <a:round/>
              <a:headEnd type="stealth" w="sm" len="med"/>
              <a:tailEnd type="stealth" w="sm" len="med"/>
            </a:ln>
            <a:extLst>
              <a:ext uri="{909E8E84-426E-40DD-AFC4-6F175D3DCCD1}">
                <a14:hiddenFill xmlns:a14="http://schemas.microsoft.com/office/drawing/2010/main">
                  <a:noFill/>
                </a14:hiddenFill>
              </a:ext>
            </a:extLst>
          </p:spPr>
          <p:txBody>
            <a:bodyPr/>
            <a:lstStyle/>
            <a:p>
              <a:pPr defTabSz="914377" fontAlgn="base">
                <a:spcBef>
                  <a:spcPct val="0"/>
                </a:spcBef>
                <a:spcAft>
                  <a:spcPct val="0"/>
                </a:spcAft>
                <a:buSzPct val="100000"/>
              </a:pPr>
              <a:endParaRPr lang="zh-CN" altLang="en-US">
                <a:solidFill>
                  <a:srgbClr val="000000"/>
                </a:solidFill>
                <a:latin typeface="Arial" panose="020B0604020202020204" pitchFamily="34" charset="0"/>
                <a:ea typeface="宋体" panose="02010600030101010101" pitchFamily="2" charset="-122"/>
                <a:cs typeface="Arial"/>
              </a:endParaRPr>
            </a:p>
          </p:txBody>
        </p:sp>
        <p:sp>
          <p:nvSpPr>
            <p:cNvPr id="2891" name="Text Box 31">
              <a:extLst>
                <a:ext uri="{FF2B5EF4-FFF2-40B4-BE49-F238E27FC236}">
                  <a16:creationId xmlns:a16="http://schemas.microsoft.com/office/drawing/2014/main" id="{DC833567-8D9A-4716-90B8-5024D61D86FA}"/>
                </a:ext>
              </a:extLst>
            </p:cNvPr>
            <p:cNvSpPr>
              <a:spLocks noChangeArrowheads="1"/>
            </p:cNvSpPr>
            <p:nvPr/>
          </p:nvSpPr>
          <p:spPr bwMode="auto">
            <a:xfrm>
              <a:off x="6399" y="10113"/>
              <a:ext cx="240"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spcBef>
                  <a:spcPct val="0"/>
                </a:spcBef>
                <a:spcAft>
                  <a:spcPct val="0"/>
                </a:spcAft>
                <a:buSzPct val="100000"/>
              </a:pPr>
              <a:r>
                <a:rPr lang="en-US" altLang="zh-CN" sz="2400" b="1" i="1">
                  <a:solidFill>
                    <a:srgbClr val="000000"/>
                  </a:solidFill>
                  <a:latin typeface="Times New Roman" panose="02020603050405020304" pitchFamily="18" charset="0"/>
                  <a:cs typeface="Arial"/>
                </a:rPr>
                <a:t>d</a:t>
              </a:r>
            </a:p>
          </p:txBody>
        </p:sp>
        <p:sp>
          <p:nvSpPr>
            <p:cNvPr id="2892" name="Line 32">
              <a:extLst>
                <a:ext uri="{FF2B5EF4-FFF2-40B4-BE49-F238E27FC236}">
                  <a16:creationId xmlns:a16="http://schemas.microsoft.com/office/drawing/2014/main" id="{25DCC199-5082-4099-987F-B9E28AB931A1}"/>
                </a:ext>
              </a:extLst>
            </p:cNvPr>
            <p:cNvSpPr>
              <a:spLocks noChangeShapeType="1"/>
            </p:cNvSpPr>
            <p:nvPr/>
          </p:nvSpPr>
          <p:spPr bwMode="auto">
            <a:xfrm>
              <a:off x="6923" y="10441"/>
              <a:ext cx="790" cy="0"/>
            </a:xfrm>
            <a:prstGeom prst="line">
              <a:avLst/>
            </a:prstGeom>
            <a:noFill/>
            <a:ln w="9525" cap="flat" algn="ctr">
              <a:solidFill>
                <a:srgbClr val="000000"/>
              </a:solidFill>
              <a:prstDash val="solid"/>
              <a:round/>
              <a:headEnd type="stealth" w="sm" len="med"/>
              <a:tailEnd type="stealth" w="sm" len="med"/>
            </a:ln>
            <a:extLst>
              <a:ext uri="{909E8E84-426E-40DD-AFC4-6F175D3DCCD1}">
                <a14:hiddenFill xmlns:a14="http://schemas.microsoft.com/office/drawing/2010/main">
                  <a:noFill/>
                </a14:hiddenFill>
              </a:ext>
            </a:extLst>
          </p:spPr>
          <p:txBody>
            <a:bodyPr/>
            <a:lstStyle/>
            <a:p>
              <a:pPr defTabSz="914377" fontAlgn="base">
                <a:spcBef>
                  <a:spcPct val="0"/>
                </a:spcBef>
                <a:spcAft>
                  <a:spcPct val="0"/>
                </a:spcAft>
                <a:buSzPct val="100000"/>
              </a:pPr>
              <a:endParaRPr lang="zh-CN" altLang="en-US">
                <a:solidFill>
                  <a:srgbClr val="000000"/>
                </a:solidFill>
                <a:latin typeface="Arial" panose="020B0604020202020204" pitchFamily="34" charset="0"/>
                <a:ea typeface="宋体" panose="02010600030101010101" pitchFamily="2" charset="-122"/>
                <a:cs typeface="Arial"/>
              </a:endParaRPr>
            </a:p>
          </p:txBody>
        </p:sp>
        <p:sp>
          <p:nvSpPr>
            <p:cNvPr id="2893" name="Text Box 33">
              <a:extLst>
                <a:ext uri="{FF2B5EF4-FFF2-40B4-BE49-F238E27FC236}">
                  <a16:creationId xmlns:a16="http://schemas.microsoft.com/office/drawing/2014/main" id="{5A148047-8E54-4DEF-BBE8-191D70B63D03}"/>
                </a:ext>
              </a:extLst>
            </p:cNvPr>
            <p:cNvSpPr>
              <a:spLocks noChangeArrowheads="1"/>
            </p:cNvSpPr>
            <p:nvPr/>
          </p:nvSpPr>
          <p:spPr bwMode="auto">
            <a:xfrm>
              <a:off x="7219" y="10111"/>
              <a:ext cx="240"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spcBef>
                  <a:spcPct val="0"/>
                </a:spcBef>
                <a:spcAft>
                  <a:spcPct val="0"/>
                </a:spcAft>
                <a:buSzPct val="100000"/>
              </a:pPr>
              <a:r>
                <a:rPr lang="en-US" altLang="zh-CN" sz="2400" b="1" i="1">
                  <a:solidFill>
                    <a:srgbClr val="000000"/>
                  </a:solidFill>
                  <a:latin typeface="Times New Roman" panose="02020603050405020304" pitchFamily="18" charset="0"/>
                  <a:cs typeface="Arial"/>
                </a:rPr>
                <a:t>d</a:t>
              </a:r>
            </a:p>
          </p:txBody>
        </p:sp>
        <p:sp>
          <p:nvSpPr>
            <p:cNvPr id="2894" name="Line 34">
              <a:extLst>
                <a:ext uri="{FF2B5EF4-FFF2-40B4-BE49-F238E27FC236}">
                  <a16:creationId xmlns:a16="http://schemas.microsoft.com/office/drawing/2014/main" id="{61F7DDEA-80EB-431C-BCF8-A23F31782C74}"/>
                </a:ext>
              </a:extLst>
            </p:cNvPr>
            <p:cNvSpPr>
              <a:spLocks noChangeShapeType="1"/>
            </p:cNvSpPr>
            <p:nvPr/>
          </p:nvSpPr>
          <p:spPr bwMode="auto">
            <a:xfrm>
              <a:off x="6119" y="8163"/>
              <a:ext cx="0" cy="2289"/>
            </a:xfrm>
            <a:prstGeom prst="line">
              <a:avLst/>
            </a:prstGeom>
            <a:noFill/>
            <a:ln w="9525" cap="flat" algn="ctr">
              <a:solidFill>
                <a:srgbClr val="000000"/>
              </a:solidFill>
              <a:prstDash val="dash"/>
              <a:round/>
              <a:headEnd type="none" w="med" len="med"/>
              <a:tailEnd type="none" w="med" len="med"/>
            </a:ln>
            <a:extLst>
              <a:ext uri="{909E8E84-426E-40DD-AFC4-6F175D3DCCD1}">
                <a14:hiddenFill xmlns:a14="http://schemas.microsoft.com/office/drawing/2010/main">
                  <a:noFill/>
                </a14:hiddenFill>
              </a:ext>
            </a:extLst>
          </p:spPr>
          <p:txBody>
            <a:bodyPr/>
            <a:lstStyle/>
            <a:p>
              <a:pPr defTabSz="914377" fontAlgn="base">
                <a:spcBef>
                  <a:spcPct val="0"/>
                </a:spcBef>
                <a:spcAft>
                  <a:spcPct val="0"/>
                </a:spcAft>
                <a:buSzPct val="100000"/>
              </a:pPr>
              <a:endParaRPr lang="zh-CN" altLang="en-US">
                <a:solidFill>
                  <a:srgbClr val="000000"/>
                </a:solidFill>
                <a:latin typeface="Arial" panose="020B0604020202020204" pitchFamily="34" charset="0"/>
                <a:ea typeface="宋体" panose="02010600030101010101" pitchFamily="2" charset="-122"/>
                <a:cs typeface="Arial"/>
              </a:endParaRPr>
            </a:p>
          </p:txBody>
        </p:sp>
        <p:sp>
          <p:nvSpPr>
            <p:cNvPr id="2895" name="Line 35">
              <a:extLst>
                <a:ext uri="{FF2B5EF4-FFF2-40B4-BE49-F238E27FC236}">
                  <a16:creationId xmlns:a16="http://schemas.microsoft.com/office/drawing/2014/main" id="{27CF7157-BED7-482E-A65C-2A69E47EBF03}"/>
                </a:ext>
              </a:extLst>
            </p:cNvPr>
            <p:cNvSpPr>
              <a:spLocks noChangeShapeType="1"/>
            </p:cNvSpPr>
            <p:nvPr/>
          </p:nvSpPr>
          <p:spPr bwMode="auto">
            <a:xfrm>
              <a:off x="7719" y="8145"/>
              <a:ext cx="0" cy="2289"/>
            </a:xfrm>
            <a:prstGeom prst="line">
              <a:avLst/>
            </a:prstGeom>
            <a:noFill/>
            <a:ln w="9525" cap="flat" algn="ctr">
              <a:solidFill>
                <a:srgbClr val="000000"/>
              </a:solidFill>
              <a:prstDash val="dash"/>
              <a:round/>
              <a:headEnd type="none" w="med" len="med"/>
              <a:tailEnd type="none" w="med" len="med"/>
            </a:ln>
            <a:extLst>
              <a:ext uri="{909E8E84-426E-40DD-AFC4-6F175D3DCCD1}">
                <a14:hiddenFill xmlns:a14="http://schemas.microsoft.com/office/drawing/2010/main">
                  <a:noFill/>
                </a14:hiddenFill>
              </a:ext>
            </a:extLst>
          </p:spPr>
          <p:txBody>
            <a:bodyPr/>
            <a:lstStyle/>
            <a:p>
              <a:pPr defTabSz="914377" fontAlgn="base">
                <a:spcBef>
                  <a:spcPct val="0"/>
                </a:spcBef>
                <a:spcAft>
                  <a:spcPct val="0"/>
                </a:spcAft>
                <a:buSzPct val="100000"/>
              </a:pPr>
              <a:endParaRPr lang="zh-CN" altLang="en-US">
                <a:solidFill>
                  <a:srgbClr val="000000"/>
                </a:solidFill>
                <a:latin typeface="Arial" panose="020B0604020202020204" pitchFamily="34" charset="0"/>
                <a:ea typeface="宋体" panose="02010600030101010101" pitchFamily="2" charset="-122"/>
                <a:cs typeface="Arial"/>
              </a:endParaRPr>
            </a:p>
          </p:txBody>
        </p:sp>
        <p:sp>
          <p:nvSpPr>
            <p:cNvPr id="2896" name="Oval 36">
              <a:extLst>
                <a:ext uri="{FF2B5EF4-FFF2-40B4-BE49-F238E27FC236}">
                  <a16:creationId xmlns:a16="http://schemas.microsoft.com/office/drawing/2014/main" id="{31F3F00F-351E-46E6-AD65-CE1D85797885}"/>
                </a:ext>
              </a:extLst>
            </p:cNvPr>
            <p:cNvSpPr>
              <a:spLocks noChangeArrowheads="1"/>
            </p:cNvSpPr>
            <p:nvPr/>
          </p:nvSpPr>
          <p:spPr bwMode="auto">
            <a:xfrm>
              <a:off x="6869" y="8464"/>
              <a:ext cx="68" cy="68"/>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897" name="Oval 37">
              <a:extLst>
                <a:ext uri="{FF2B5EF4-FFF2-40B4-BE49-F238E27FC236}">
                  <a16:creationId xmlns:a16="http://schemas.microsoft.com/office/drawing/2014/main" id="{49D47583-112D-4D48-8059-E204AB08F02C}"/>
                </a:ext>
              </a:extLst>
            </p:cNvPr>
            <p:cNvSpPr>
              <a:spLocks noChangeArrowheads="1"/>
            </p:cNvSpPr>
            <p:nvPr/>
          </p:nvSpPr>
          <p:spPr bwMode="auto">
            <a:xfrm>
              <a:off x="6859" y="9985"/>
              <a:ext cx="68" cy="68"/>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898" name="Oval 38">
              <a:extLst>
                <a:ext uri="{FF2B5EF4-FFF2-40B4-BE49-F238E27FC236}">
                  <a16:creationId xmlns:a16="http://schemas.microsoft.com/office/drawing/2014/main" id="{383E1B7D-75A3-4A2A-AB9F-C585EBC484F8}"/>
                </a:ext>
              </a:extLst>
            </p:cNvPr>
            <p:cNvSpPr>
              <a:spLocks noChangeArrowheads="1"/>
            </p:cNvSpPr>
            <p:nvPr/>
          </p:nvSpPr>
          <p:spPr bwMode="auto">
            <a:xfrm>
              <a:off x="6439" y="8493"/>
              <a:ext cx="68" cy="68"/>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899" name="Oval 39">
              <a:extLst>
                <a:ext uri="{FF2B5EF4-FFF2-40B4-BE49-F238E27FC236}">
                  <a16:creationId xmlns:a16="http://schemas.microsoft.com/office/drawing/2014/main" id="{2D7D39BE-8E03-4EF4-B3A9-9998064F6604}"/>
                </a:ext>
              </a:extLst>
            </p:cNvPr>
            <p:cNvSpPr>
              <a:spLocks noChangeArrowheads="1"/>
            </p:cNvSpPr>
            <p:nvPr/>
          </p:nvSpPr>
          <p:spPr bwMode="auto">
            <a:xfrm>
              <a:off x="6199" y="9807"/>
              <a:ext cx="68" cy="68"/>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900" name="Oval 40">
              <a:extLst>
                <a:ext uri="{FF2B5EF4-FFF2-40B4-BE49-F238E27FC236}">
                  <a16:creationId xmlns:a16="http://schemas.microsoft.com/office/drawing/2014/main" id="{1D4F8955-2FAD-40E0-87F2-0A79B7D88A92}"/>
                </a:ext>
              </a:extLst>
            </p:cNvPr>
            <p:cNvSpPr>
              <a:spLocks noChangeArrowheads="1"/>
            </p:cNvSpPr>
            <p:nvPr/>
          </p:nvSpPr>
          <p:spPr bwMode="auto">
            <a:xfrm>
              <a:off x="6729" y="9212"/>
              <a:ext cx="68" cy="68"/>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901" name="Text Box 41">
              <a:extLst>
                <a:ext uri="{FF2B5EF4-FFF2-40B4-BE49-F238E27FC236}">
                  <a16:creationId xmlns:a16="http://schemas.microsoft.com/office/drawing/2014/main" id="{BB529F0B-BAAF-4E88-84C2-C73347C9DE07}"/>
                </a:ext>
              </a:extLst>
            </p:cNvPr>
            <p:cNvSpPr>
              <a:spLocks noChangeArrowheads="1"/>
            </p:cNvSpPr>
            <p:nvPr/>
          </p:nvSpPr>
          <p:spPr bwMode="auto">
            <a:xfrm>
              <a:off x="6656" y="8904"/>
              <a:ext cx="160" cy="2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lnSpc>
                  <a:spcPct val="80000"/>
                </a:lnSpc>
                <a:spcBef>
                  <a:spcPct val="0"/>
                </a:spcBef>
                <a:spcAft>
                  <a:spcPct val="0"/>
                </a:spcAft>
                <a:buSzPct val="100000"/>
              </a:pPr>
              <a:r>
                <a:rPr lang="en-US" altLang="zh-CN" sz="2400" b="1" i="1">
                  <a:solidFill>
                    <a:srgbClr val="000000"/>
                  </a:solidFill>
                  <a:latin typeface="Times New Roman" panose="02020603050405020304" pitchFamily="18" charset="0"/>
                  <a:cs typeface="Arial"/>
                </a:rPr>
                <a:t>p</a:t>
              </a:r>
            </a:p>
          </p:txBody>
        </p:sp>
        <p:sp>
          <p:nvSpPr>
            <p:cNvPr id="2902" name="AutoShape 42">
              <a:extLst>
                <a:ext uri="{FF2B5EF4-FFF2-40B4-BE49-F238E27FC236}">
                  <a16:creationId xmlns:a16="http://schemas.microsoft.com/office/drawing/2014/main" id="{18E6D4B3-99F2-4D39-90D6-9F5D424AA053}"/>
                </a:ext>
              </a:extLst>
            </p:cNvPr>
            <p:cNvSpPr>
              <a:spLocks noChangeArrowheads="1"/>
            </p:cNvSpPr>
            <p:nvPr/>
          </p:nvSpPr>
          <p:spPr bwMode="auto">
            <a:xfrm rot="16200000">
              <a:off x="6443" y="10161"/>
              <a:ext cx="111" cy="760"/>
            </a:xfrm>
            <a:prstGeom prst="leftBrace">
              <a:avLst>
                <a:gd name="adj1" fmla="val 29194"/>
                <a:gd name="adj2" fmla="val 50000"/>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903" name="AutoShape 43">
              <a:extLst>
                <a:ext uri="{FF2B5EF4-FFF2-40B4-BE49-F238E27FC236}">
                  <a16:creationId xmlns:a16="http://schemas.microsoft.com/office/drawing/2014/main" id="{FD4D9890-CBC2-4B87-BE9D-D1DA97F2BC73}"/>
                </a:ext>
              </a:extLst>
            </p:cNvPr>
            <p:cNvSpPr>
              <a:spLocks noChangeArrowheads="1"/>
            </p:cNvSpPr>
            <p:nvPr/>
          </p:nvSpPr>
          <p:spPr bwMode="auto">
            <a:xfrm rot="16200000">
              <a:off x="7252" y="10153"/>
              <a:ext cx="123" cy="770"/>
            </a:xfrm>
            <a:prstGeom prst="leftBrace">
              <a:avLst>
                <a:gd name="adj1" fmla="val 26722"/>
                <a:gd name="adj2" fmla="val 51296"/>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904" name="Text Box 44">
              <a:extLst>
                <a:ext uri="{FF2B5EF4-FFF2-40B4-BE49-F238E27FC236}">
                  <a16:creationId xmlns:a16="http://schemas.microsoft.com/office/drawing/2014/main" id="{98459C1D-923F-4C80-AA82-5005A2128CBB}"/>
                </a:ext>
              </a:extLst>
            </p:cNvPr>
            <p:cNvSpPr>
              <a:spLocks noChangeArrowheads="1"/>
            </p:cNvSpPr>
            <p:nvPr/>
          </p:nvSpPr>
          <p:spPr bwMode="auto">
            <a:xfrm>
              <a:off x="6409" y="10635"/>
              <a:ext cx="330" cy="1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lnSpc>
                  <a:spcPct val="80000"/>
                </a:lnSpc>
                <a:spcBef>
                  <a:spcPct val="0"/>
                </a:spcBef>
                <a:spcAft>
                  <a:spcPct val="0"/>
                </a:spcAft>
                <a:buSzPct val="100000"/>
              </a:pPr>
              <a:r>
                <a:rPr lang="en-US" altLang="zh-CN" sz="2400" b="1" i="1">
                  <a:solidFill>
                    <a:srgbClr val="000000"/>
                  </a:solidFill>
                  <a:latin typeface="Times New Roman" panose="02020603050405020304" pitchFamily="18" charset="0"/>
                  <a:cs typeface="Arial"/>
                </a:rPr>
                <a:t>P</a:t>
              </a:r>
              <a:r>
                <a:rPr lang="en-US" altLang="zh-CN" sz="2400" b="1">
                  <a:solidFill>
                    <a:srgbClr val="000000"/>
                  </a:solidFill>
                  <a:latin typeface="Times New Roman" panose="02020603050405020304" pitchFamily="18" charset="0"/>
                  <a:cs typeface="Arial"/>
                </a:rPr>
                <a:t>1</a:t>
              </a:r>
            </a:p>
          </p:txBody>
        </p:sp>
        <p:sp>
          <p:nvSpPr>
            <p:cNvPr id="2905" name="Text Box 45">
              <a:extLst>
                <a:ext uri="{FF2B5EF4-FFF2-40B4-BE49-F238E27FC236}">
                  <a16:creationId xmlns:a16="http://schemas.microsoft.com/office/drawing/2014/main" id="{82F42A2D-1FD1-4F19-AC1A-53FECEBC171B}"/>
                </a:ext>
              </a:extLst>
            </p:cNvPr>
            <p:cNvSpPr>
              <a:spLocks noChangeArrowheads="1"/>
            </p:cNvSpPr>
            <p:nvPr/>
          </p:nvSpPr>
          <p:spPr bwMode="auto">
            <a:xfrm>
              <a:off x="7199" y="10635"/>
              <a:ext cx="350" cy="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lnSpc>
                  <a:spcPct val="80000"/>
                </a:lnSpc>
                <a:spcBef>
                  <a:spcPct val="0"/>
                </a:spcBef>
                <a:spcAft>
                  <a:spcPct val="0"/>
                </a:spcAft>
                <a:buSzPct val="100000"/>
              </a:pPr>
              <a:r>
                <a:rPr lang="en-US" altLang="zh-CN" sz="2400" b="1" i="1">
                  <a:solidFill>
                    <a:srgbClr val="000000"/>
                  </a:solidFill>
                  <a:latin typeface="Times New Roman" panose="02020603050405020304" pitchFamily="18" charset="0"/>
                  <a:cs typeface="Arial"/>
                </a:rPr>
                <a:t>P</a:t>
              </a:r>
              <a:r>
                <a:rPr lang="en-US" altLang="zh-CN" sz="2400" b="1">
                  <a:solidFill>
                    <a:srgbClr val="000000"/>
                  </a:solidFill>
                  <a:latin typeface="Times New Roman" panose="02020603050405020304" pitchFamily="18" charset="0"/>
                  <a:cs typeface="Arial"/>
                </a:rPr>
                <a:t>2</a:t>
              </a:r>
            </a:p>
          </p:txBody>
        </p:sp>
        <p:sp>
          <p:nvSpPr>
            <p:cNvPr id="2906" name="Line 46">
              <a:extLst>
                <a:ext uri="{FF2B5EF4-FFF2-40B4-BE49-F238E27FC236}">
                  <a16:creationId xmlns:a16="http://schemas.microsoft.com/office/drawing/2014/main" id="{FF02874B-CABD-4D42-BA5B-8F1EE69D6579}"/>
                </a:ext>
              </a:extLst>
            </p:cNvPr>
            <p:cNvSpPr>
              <a:spLocks noChangeShapeType="1"/>
            </p:cNvSpPr>
            <p:nvPr/>
          </p:nvSpPr>
          <p:spPr bwMode="auto">
            <a:xfrm>
              <a:off x="6799" y="9243"/>
              <a:ext cx="920" cy="0"/>
            </a:xfrm>
            <a:prstGeom prst="lin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pPr defTabSz="914377" fontAlgn="base">
                <a:spcBef>
                  <a:spcPct val="0"/>
                </a:spcBef>
                <a:spcAft>
                  <a:spcPct val="0"/>
                </a:spcAft>
                <a:buSzPct val="100000"/>
              </a:pPr>
              <a:endParaRPr lang="zh-CN" altLang="en-US">
                <a:solidFill>
                  <a:srgbClr val="000000"/>
                </a:solidFill>
                <a:latin typeface="Arial" panose="020B0604020202020204" pitchFamily="34" charset="0"/>
                <a:ea typeface="宋体" panose="02010600030101010101" pitchFamily="2" charset="-122"/>
                <a:cs typeface="Arial"/>
              </a:endParaRPr>
            </a:p>
          </p:txBody>
        </p:sp>
        <p:sp>
          <p:nvSpPr>
            <p:cNvPr id="2907" name="Line 47">
              <a:extLst>
                <a:ext uri="{FF2B5EF4-FFF2-40B4-BE49-F238E27FC236}">
                  <a16:creationId xmlns:a16="http://schemas.microsoft.com/office/drawing/2014/main" id="{EA6D596D-5F3D-484B-A9CC-B9FCC12ED54B}"/>
                </a:ext>
              </a:extLst>
            </p:cNvPr>
            <p:cNvSpPr>
              <a:spLocks noChangeShapeType="1"/>
            </p:cNvSpPr>
            <p:nvPr/>
          </p:nvSpPr>
          <p:spPr bwMode="auto">
            <a:xfrm flipV="1">
              <a:off x="6929" y="10011"/>
              <a:ext cx="790" cy="0"/>
            </a:xfrm>
            <a:prstGeom prst="lin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pPr defTabSz="914377" fontAlgn="base">
                <a:spcBef>
                  <a:spcPct val="0"/>
                </a:spcBef>
                <a:spcAft>
                  <a:spcPct val="0"/>
                </a:spcAft>
                <a:buSzPct val="100000"/>
              </a:pPr>
              <a:endParaRPr lang="zh-CN" altLang="en-US">
                <a:solidFill>
                  <a:srgbClr val="000000"/>
                </a:solidFill>
                <a:latin typeface="Arial" panose="020B0604020202020204" pitchFamily="34" charset="0"/>
                <a:ea typeface="宋体" panose="02010600030101010101" pitchFamily="2" charset="-122"/>
                <a:cs typeface="Arial"/>
              </a:endParaRPr>
            </a:p>
          </p:txBody>
        </p:sp>
        <p:sp>
          <p:nvSpPr>
            <p:cNvPr id="2908" name="Line 48">
              <a:extLst>
                <a:ext uri="{FF2B5EF4-FFF2-40B4-BE49-F238E27FC236}">
                  <a16:creationId xmlns:a16="http://schemas.microsoft.com/office/drawing/2014/main" id="{5A4FA2E3-7EC6-4393-82BB-7A62800A73D0}"/>
                </a:ext>
              </a:extLst>
            </p:cNvPr>
            <p:cNvSpPr>
              <a:spLocks noChangeShapeType="1"/>
            </p:cNvSpPr>
            <p:nvPr/>
          </p:nvSpPr>
          <p:spPr bwMode="auto">
            <a:xfrm flipV="1">
              <a:off x="6929" y="8502"/>
              <a:ext cx="800" cy="0"/>
            </a:xfrm>
            <a:prstGeom prst="lin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pPr defTabSz="914377" fontAlgn="base">
                <a:spcBef>
                  <a:spcPct val="0"/>
                </a:spcBef>
                <a:spcAft>
                  <a:spcPct val="0"/>
                </a:spcAft>
                <a:buSzPct val="100000"/>
              </a:pPr>
              <a:endParaRPr lang="zh-CN" altLang="en-US">
                <a:solidFill>
                  <a:srgbClr val="000000"/>
                </a:solidFill>
                <a:latin typeface="Arial" panose="020B0604020202020204" pitchFamily="34" charset="0"/>
                <a:ea typeface="宋体" panose="02010600030101010101" pitchFamily="2" charset="-122"/>
                <a:cs typeface="Arial"/>
              </a:endParaRPr>
            </a:p>
          </p:txBody>
        </p:sp>
        <p:sp>
          <p:nvSpPr>
            <p:cNvPr id="2909" name="Oval 49">
              <a:extLst>
                <a:ext uri="{FF2B5EF4-FFF2-40B4-BE49-F238E27FC236}">
                  <a16:creationId xmlns:a16="http://schemas.microsoft.com/office/drawing/2014/main" id="{B71159CF-2DFE-43DB-BA96-D3D8A7E6A473}"/>
                </a:ext>
              </a:extLst>
            </p:cNvPr>
            <p:cNvSpPr>
              <a:spLocks noChangeArrowheads="1"/>
            </p:cNvSpPr>
            <p:nvPr/>
          </p:nvSpPr>
          <p:spPr bwMode="auto">
            <a:xfrm>
              <a:off x="7679" y="9976"/>
              <a:ext cx="68" cy="68"/>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910" name="Line 50">
              <a:extLst>
                <a:ext uri="{FF2B5EF4-FFF2-40B4-BE49-F238E27FC236}">
                  <a16:creationId xmlns:a16="http://schemas.microsoft.com/office/drawing/2014/main" id="{D9605A22-6DD5-453C-A2B6-CEE8B39284A0}"/>
                </a:ext>
              </a:extLst>
            </p:cNvPr>
            <p:cNvSpPr>
              <a:spLocks noChangeShapeType="1"/>
            </p:cNvSpPr>
            <p:nvPr/>
          </p:nvSpPr>
          <p:spPr bwMode="auto">
            <a:xfrm flipH="1">
              <a:off x="7807" y="8502"/>
              <a:ext cx="0" cy="1506"/>
            </a:xfrm>
            <a:prstGeom prst="line">
              <a:avLst/>
            </a:prstGeom>
            <a:noFill/>
            <a:ln w="9525" cap="flat" algn="ctr">
              <a:solidFill>
                <a:srgbClr val="000000"/>
              </a:solidFill>
              <a:prstDash val="solid"/>
              <a:round/>
              <a:headEnd type="stealth" w="sm" len="med"/>
              <a:tailEnd type="stealth" w="sm" len="med"/>
            </a:ln>
            <a:extLst>
              <a:ext uri="{909E8E84-426E-40DD-AFC4-6F175D3DCCD1}">
                <a14:hiddenFill xmlns:a14="http://schemas.microsoft.com/office/drawing/2010/main">
                  <a:noFill/>
                </a14:hiddenFill>
              </a:ext>
            </a:extLst>
          </p:spPr>
          <p:txBody>
            <a:bodyPr/>
            <a:lstStyle/>
            <a:p>
              <a:pPr defTabSz="914377" fontAlgn="base">
                <a:spcBef>
                  <a:spcPct val="0"/>
                </a:spcBef>
                <a:spcAft>
                  <a:spcPct val="0"/>
                </a:spcAft>
                <a:buSzPct val="100000"/>
              </a:pPr>
              <a:endParaRPr lang="zh-CN" altLang="en-US">
                <a:solidFill>
                  <a:srgbClr val="000000"/>
                </a:solidFill>
                <a:latin typeface="Arial" panose="020B0604020202020204" pitchFamily="34" charset="0"/>
                <a:ea typeface="宋体" panose="02010600030101010101" pitchFamily="2" charset="-122"/>
                <a:cs typeface="Arial"/>
              </a:endParaRPr>
            </a:p>
          </p:txBody>
        </p:sp>
        <p:sp>
          <p:nvSpPr>
            <p:cNvPr id="2911" name="Text Box 51">
              <a:extLst>
                <a:ext uri="{FF2B5EF4-FFF2-40B4-BE49-F238E27FC236}">
                  <a16:creationId xmlns:a16="http://schemas.microsoft.com/office/drawing/2014/main" id="{D0C7A772-06A8-4299-942A-B5E71BD831C1}"/>
                </a:ext>
              </a:extLst>
            </p:cNvPr>
            <p:cNvSpPr>
              <a:spLocks noChangeArrowheads="1"/>
            </p:cNvSpPr>
            <p:nvPr/>
          </p:nvSpPr>
          <p:spPr bwMode="auto">
            <a:xfrm>
              <a:off x="7909" y="9129"/>
              <a:ext cx="240"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defTabSz="914377" fontAlgn="base">
                <a:spcBef>
                  <a:spcPct val="0"/>
                </a:spcBef>
                <a:spcAft>
                  <a:spcPct val="0"/>
                </a:spcAft>
                <a:buSzPct val="100000"/>
              </a:pPr>
              <a:r>
                <a:rPr lang="en-US" altLang="zh-CN" sz="2400" b="1">
                  <a:solidFill>
                    <a:srgbClr val="000000"/>
                  </a:solidFill>
                  <a:latin typeface="Times New Roman" panose="02020603050405020304" pitchFamily="18" charset="0"/>
                  <a:cs typeface="Arial"/>
                </a:rPr>
                <a:t>2</a:t>
              </a:r>
              <a:r>
                <a:rPr lang="en-US" altLang="zh-CN" sz="2400" b="1" i="1">
                  <a:solidFill>
                    <a:srgbClr val="000000"/>
                  </a:solidFill>
                  <a:latin typeface="Times New Roman" panose="02020603050405020304" pitchFamily="18" charset="0"/>
                  <a:cs typeface="Arial"/>
                </a:rPr>
                <a:t>d</a:t>
              </a:r>
            </a:p>
          </p:txBody>
        </p:sp>
        <p:sp>
          <p:nvSpPr>
            <p:cNvPr id="2912" name="Oval 52">
              <a:extLst>
                <a:ext uri="{FF2B5EF4-FFF2-40B4-BE49-F238E27FC236}">
                  <a16:creationId xmlns:a16="http://schemas.microsoft.com/office/drawing/2014/main" id="{D366CB51-C575-47B9-9E89-3A7BD7EADCB6}"/>
                </a:ext>
              </a:extLst>
            </p:cNvPr>
            <p:cNvSpPr>
              <a:spLocks noChangeArrowheads="1"/>
            </p:cNvSpPr>
            <p:nvPr/>
          </p:nvSpPr>
          <p:spPr bwMode="auto">
            <a:xfrm>
              <a:off x="6869" y="9215"/>
              <a:ext cx="68" cy="68"/>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913" name="Oval 53">
              <a:extLst>
                <a:ext uri="{FF2B5EF4-FFF2-40B4-BE49-F238E27FC236}">
                  <a16:creationId xmlns:a16="http://schemas.microsoft.com/office/drawing/2014/main" id="{86B46761-76FA-46B3-B170-D910E07AB0AF}"/>
                </a:ext>
              </a:extLst>
            </p:cNvPr>
            <p:cNvSpPr>
              <a:spLocks noChangeArrowheads="1"/>
            </p:cNvSpPr>
            <p:nvPr/>
          </p:nvSpPr>
          <p:spPr bwMode="auto">
            <a:xfrm>
              <a:off x="7679" y="8464"/>
              <a:ext cx="68" cy="68"/>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sp>
          <p:nvSpPr>
            <p:cNvPr id="2914" name="Oval 54">
              <a:extLst>
                <a:ext uri="{FF2B5EF4-FFF2-40B4-BE49-F238E27FC236}">
                  <a16:creationId xmlns:a16="http://schemas.microsoft.com/office/drawing/2014/main" id="{27A1071D-7BF3-4D43-936C-F0D16EBFCB40}"/>
                </a:ext>
              </a:extLst>
            </p:cNvPr>
            <p:cNvSpPr>
              <a:spLocks noChangeArrowheads="1"/>
            </p:cNvSpPr>
            <p:nvPr/>
          </p:nvSpPr>
          <p:spPr bwMode="auto">
            <a:xfrm>
              <a:off x="7679" y="9213"/>
              <a:ext cx="68" cy="68"/>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spcBef>
                  <a:spcPct val="0"/>
                </a:spcBef>
                <a:spcAft>
                  <a:spcPct val="0"/>
                </a:spcAft>
                <a:buSzPct val="100000"/>
              </a:pPr>
              <a:endParaRPr lang="zh-CN" altLang="zh-CN">
                <a:solidFill>
                  <a:srgbClr val="000000"/>
                </a:solidFill>
                <a:cs typeface="Arial"/>
              </a:endParaRPr>
            </a:p>
          </p:txBody>
        </p:sp>
      </p:grpSp>
      <p:sp>
        <p:nvSpPr>
          <p:cNvPr id="2915" name="Text Box 58">
            <a:extLst>
              <a:ext uri="{FF2B5EF4-FFF2-40B4-BE49-F238E27FC236}">
                <a16:creationId xmlns:a16="http://schemas.microsoft.com/office/drawing/2014/main" id="{F1F67AAC-7A09-4267-BE21-20A986DFE201}"/>
              </a:ext>
            </a:extLst>
          </p:cNvPr>
          <p:cNvSpPr>
            <a:spLocks noChangeArrowheads="1"/>
          </p:cNvSpPr>
          <p:nvPr/>
        </p:nvSpPr>
        <p:spPr bwMode="auto">
          <a:xfrm>
            <a:off x="642771" y="1503704"/>
            <a:ext cx="11038220" cy="9363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defTabSz="914377" eaLnBrk="1" fontAlgn="base" hangingPunct="1">
              <a:lnSpc>
                <a:spcPct val="120000"/>
              </a:lnSpc>
              <a:spcBef>
                <a:spcPct val="0"/>
              </a:spcBef>
              <a:spcAft>
                <a:spcPct val="0"/>
              </a:spcAft>
              <a:buSzPct val="100000"/>
            </a:pPr>
            <a:r>
              <a:rPr kumimoji="1" lang="en-US" altLang="zh-CN" sz="2400" b="1" dirty="0">
                <a:solidFill>
                  <a:srgbClr val="000000"/>
                </a:solidFill>
                <a:latin typeface="宋体" panose="02010600030101010101" pitchFamily="2" charset="-122"/>
                <a:cs typeface="Arial"/>
              </a:rPr>
              <a:t>    </a:t>
            </a:r>
            <a:r>
              <a:rPr kumimoji="1" lang="zh-CN" altLang="en-US" sz="2400" b="1" dirty="0">
                <a:solidFill>
                  <a:srgbClr val="000000"/>
                </a:solidFill>
                <a:latin typeface="宋体" panose="02010600030101010101" pitchFamily="2" charset="-122"/>
                <a:cs typeface="Arial"/>
              </a:rPr>
              <a:t>对于点</a:t>
            </a:r>
            <a:r>
              <a:rPr kumimoji="1" lang="en-US" altLang="zh-CN" sz="2400" b="1" i="1" dirty="0">
                <a:solidFill>
                  <a:srgbClr val="000000"/>
                </a:solidFill>
                <a:latin typeface="Times New Roman" panose="02020603050405020304" pitchFamily="18" charset="0"/>
                <a:cs typeface="Arial"/>
              </a:rPr>
              <a:t>p</a:t>
            </a:r>
            <a:r>
              <a:rPr kumimoji="1" lang="en-US" altLang="zh-CN" sz="2400" b="1" dirty="0">
                <a:solidFill>
                  <a:srgbClr val="000000"/>
                </a:solidFill>
                <a:latin typeface="宋体" panose="02010600030101010101" pitchFamily="2" charset="-122"/>
                <a:cs typeface="Arial"/>
              </a:rPr>
              <a:t>∈</a:t>
            </a:r>
            <a:r>
              <a:rPr kumimoji="1" lang="en-US" altLang="zh-CN" sz="2400" b="1" i="1" dirty="0">
                <a:solidFill>
                  <a:srgbClr val="000000"/>
                </a:solidFill>
                <a:latin typeface="Times New Roman" panose="02020603050405020304" pitchFamily="18" charset="0"/>
                <a:cs typeface="Arial"/>
              </a:rPr>
              <a:t>P</a:t>
            </a:r>
            <a:r>
              <a:rPr kumimoji="1" lang="en-US" altLang="zh-CN" sz="2400" b="1" dirty="0">
                <a:solidFill>
                  <a:srgbClr val="000000"/>
                </a:solidFill>
                <a:latin typeface="Times New Roman" panose="02020603050405020304" pitchFamily="18" charset="0"/>
                <a:cs typeface="Arial"/>
              </a:rPr>
              <a:t>1</a:t>
            </a:r>
            <a:r>
              <a:rPr kumimoji="1" lang="zh-CN" altLang="en-US" sz="2400" b="1" dirty="0">
                <a:solidFill>
                  <a:srgbClr val="000000"/>
                </a:solidFill>
                <a:latin typeface="宋体" panose="02010600030101010101" pitchFamily="2" charset="-122"/>
                <a:cs typeface="Arial"/>
              </a:rPr>
              <a:t>，需要考察</a:t>
            </a:r>
            <a:r>
              <a:rPr kumimoji="1" lang="en-US" altLang="zh-CN" sz="2400" b="1" i="1" dirty="0">
                <a:solidFill>
                  <a:srgbClr val="000000"/>
                </a:solidFill>
                <a:latin typeface="Times New Roman" panose="02020603050405020304" pitchFamily="18" charset="0"/>
                <a:cs typeface="Arial"/>
              </a:rPr>
              <a:t>P</a:t>
            </a:r>
            <a:r>
              <a:rPr kumimoji="1" lang="en-US" altLang="zh-CN" sz="2400" b="1" dirty="0">
                <a:solidFill>
                  <a:srgbClr val="000000"/>
                </a:solidFill>
                <a:latin typeface="Times New Roman" panose="02020603050405020304" pitchFamily="18" charset="0"/>
                <a:cs typeface="Arial"/>
              </a:rPr>
              <a:t>2</a:t>
            </a:r>
            <a:r>
              <a:rPr kumimoji="1" lang="zh-CN" altLang="en-US" sz="2400" b="1" dirty="0">
                <a:solidFill>
                  <a:srgbClr val="000000"/>
                </a:solidFill>
                <a:latin typeface="宋体" panose="02010600030101010101" pitchFamily="2" charset="-122"/>
                <a:cs typeface="Arial"/>
              </a:rPr>
              <a:t>中的各个点和点</a:t>
            </a:r>
            <a:r>
              <a:rPr kumimoji="1" lang="en-US" altLang="zh-CN" sz="2400" b="1" i="1" dirty="0">
                <a:solidFill>
                  <a:srgbClr val="000000"/>
                </a:solidFill>
                <a:latin typeface="Times New Roman" panose="02020603050405020304" pitchFamily="18" charset="0"/>
                <a:cs typeface="Arial"/>
              </a:rPr>
              <a:t>p</a:t>
            </a:r>
            <a:r>
              <a:rPr kumimoji="1" lang="zh-CN" altLang="en-US" sz="2400" b="1" dirty="0">
                <a:solidFill>
                  <a:srgbClr val="000000"/>
                </a:solidFill>
                <a:latin typeface="宋体" panose="02010600030101010101" pitchFamily="2" charset="-122"/>
                <a:cs typeface="Arial"/>
              </a:rPr>
              <a:t>之间的距离是否小于</a:t>
            </a:r>
            <a:r>
              <a:rPr kumimoji="1" lang="en-US" altLang="zh-CN" sz="2400" b="1" i="1" dirty="0">
                <a:solidFill>
                  <a:srgbClr val="000000"/>
                </a:solidFill>
                <a:latin typeface="Times New Roman" panose="02020603050405020304" pitchFamily="18" charset="0"/>
                <a:cs typeface="Arial"/>
              </a:rPr>
              <a:t>d</a:t>
            </a:r>
            <a:r>
              <a:rPr kumimoji="1" lang="zh-CN" altLang="en-US" sz="2400" b="1" dirty="0">
                <a:solidFill>
                  <a:srgbClr val="000000"/>
                </a:solidFill>
                <a:latin typeface="宋体" panose="02010600030101010101" pitchFamily="2" charset="-122"/>
                <a:cs typeface="Arial"/>
              </a:rPr>
              <a:t>，显然，</a:t>
            </a:r>
            <a:r>
              <a:rPr kumimoji="1" lang="en-US" altLang="zh-CN" sz="2400" b="1" i="1" dirty="0">
                <a:solidFill>
                  <a:srgbClr val="000000"/>
                </a:solidFill>
                <a:latin typeface="Times New Roman" panose="02020603050405020304" pitchFamily="18" charset="0"/>
                <a:cs typeface="Arial"/>
              </a:rPr>
              <a:t>P</a:t>
            </a:r>
            <a:r>
              <a:rPr kumimoji="1" lang="en-US" altLang="zh-CN" sz="2400" b="1" dirty="0">
                <a:solidFill>
                  <a:srgbClr val="000000"/>
                </a:solidFill>
                <a:latin typeface="Times New Roman" panose="02020603050405020304" pitchFamily="18" charset="0"/>
                <a:cs typeface="Arial"/>
              </a:rPr>
              <a:t>2</a:t>
            </a:r>
            <a:r>
              <a:rPr kumimoji="1" lang="zh-CN" altLang="en-US" sz="2400" b="1" dirty="0">
                <a:solidFill>
                  <a:srgbClr val="000000"/>
                </a:solidFill>
                <a:latin typeface="宋体" panose="02010600030101010101" pitchFamily="2" charset="-122"/>
                <a:cs typeface="Arial"/>
              </a:rPr>
              <a:t>中这样点的</a:t>
            </a:r>
            <a:r>
              <a:rPr kumimoji="1" lang="en-US" altLang="zh-CN" sz="2400" b="1" i="1" dirty="0">
                <a:solidFill>
                  <a:srgbClr val="000000"/>
                </a:solidFill>
                <a:latin typeface="Times New Roman" panose="02020603050405020304" pitchFamily="18" charset="0"/>
                <a:cs typeface="Arial"/>
              </a:rPr>
              <a:t>y</a:t>
            </a:r>
            <a:r>
              <a:rPr kumimoji="1" lang="zh-CN" altLang="en-US" sz="2400" b="1" dirty="0">
                <a:solidFill>
                  <a:srgbClr val="000000"/>
                </a:solidFill>
                <a:latin typeface="宋体" panose="02010600030101010101" pitchFamily="2" charset="-122"/>
                <a:cs typeface="Arial"/>
              </a:rPr>
              <a:t>轴坐标一定位于区间</a:t>
            </a:r>
            <a:r>
              <a:rPr kumimoji="1" lang="en-US" altLang="zh-CN" sz="2400" b="1" dirty="0">
                <a:solidFill>
                  <a:srgbClr val="000000"/>
                </a:solidFill>
                <a:latin typeface="Times New Roman" panose="02020603050405020304" pitchFamily="18" charset="0"/>
                <a:cs typeface="Arial"/>
              </a:rPr>
              <a:t>[</a:t>
            </a:r>
            <a:r>
              <a:rPr kumimoji="1" lang="en-US" altLang="zh-CN" sz="2400" b="1" i="1" dirty="0">
                <a:solidFill>
                  <a:srgbClr val="000000"/>
                </a:solidFill>
                <a:latin typeface="Times New Roman" panose="02020603050405020304" pitchFamily="18" charset="0"/>
                <a:cs typeface="Arial"/>
              </a:rPr>
              <a:t>y</a:t>
            </a:r>
            <a:r>
              <a:rPr kumimoji="1" lang="en-US" altLang="zh-CN" sz="2400" b="1" dirty="0">
                <a:solidFill>
                  <a:srgbClr val="000000"/>
                </a:solidFill>
                <a:latin typeface="宋体" panose="02010600030101010101" pitchFamily="2" charset="-122"/>
                <a:cs typeface="Arial"/>
              </a:rPr>
              <a:t>-</a:t>
            </a:r>
            <a:r>
              <a:rPr kumimoji="1" lang="en-US" altLang="zh-CN" sz="2400" b="1" i="1" dirty="0">
                <a:solidFill>
                  <a:srgbClr val="000000"/>
                </a:solidFill>
                <a:latin typeface="Times New Roman" panose="02020603050405020304" pitchFamily="18" charset="0"/>
                <a:cs typeface="Arial"/>
              </a:rPr>
              <a:t>d</a:t>
            </a:r>
            <a:r>
              <a:rPr kumimoji="1" lang="en-US" altLang="zh-CN" sz="2400" b="1" dirty="0">
                <a:solidFill>
                  <a:srgbClr val="000000"/>
                </a:solidFill>
                <a:latin typeface="Times New Roman" panose="02020603050405020304" pitchFamily="18" charset="0"/>
                <a:cs typeface="Arial"/>
              </a:rPr>
              <a:t>, </a:t>
            </a:r>
            <a:r>
              <a:rPr kumimoji="1" lang="en-US" altLang="zh-CN" sz="2400" b="1" i="1" dirty="0" err="1">
                <a:solidFill>
                  <a:srgbClr val="000000"/>
                </a:solidFill>
                <a:latin typeface="Times New Roman" panose="02020603050405020304" pitchFamily="18" charset="0"/>
                <a:cs typeface="Arial"/>
              </a:rPr>
              <a:t>y</a:t>
            </a:r>
            <a:r>
              <a:rPr kumimoji="1" lang="en-US" altLang="zh-CN" sz="2400" b="1" dirty="0" err="1">
                <a:solidFill>
                  <a:srgbClr val="000000"/>
                </a:solidFill>
                <a:latin typeface="Times New Roman" panose="02020603050405020304" pitchFamily="18" charset="0"/>
                <a:cs typeface="Arial"/>
              </a:rPr>
              <a:t>+</a:t>
            </a:r>
            <a:r>
              <a:rPr kumimoji="1" lang="en-US" altLang="zh-CN" sz="2400" b="1" i="1" dirty="0" err="1">
                <a:solidFill>
                  <a:srgbClr val="000000"/>
                </a:solidFill>
                <a:latin typeface="Times New Roman" panose="02020603050405020304" pitchFamily="18" charset="0"/>
                <a:cs typeface="Arial"/>
              </a:rPr>
              <a:t>d</a:t>
            </a:r>
            <a:r>
              <a:rPr kumimoji="1" lang="en-US" altLang="zh-CN" sz="2400" b="1" dirty="0">
                <a:solidFill>
                  <a:srgbClr val="000000"/>
                </a:solidFill>
                <a:latin typeface="Times New Roman" panose="02020603050405020304" pitchFamily="18" charset="0"/>
                <a:cs typeface="Arial"/>
              </a:rPr>
              <a:t>]</a:t>
            </a:r>
            <a:r>
              <a:rPr kumimoji="1" lang="zh-CN" altLang="en-US" sz="2400" b="1" dirty="0">
                <a:solidFill>
                  <a:srgbClr val="000000"/>
                </a:solidFill>
                <a:latin typeface="宋体" panose="02010600030101010101" pitchFamily="2" charset="-122"/>
                <a:cs typeface="Arial"/>
              </a:rPr>
              <a:t>之间，而且，这样的点不会超过</a:t>
            </a:r>
            <a:r>
              <a:rPr kumimoji="1" lang="en-US" altLang="zh-CN" sz="2400" b="1" dirty="0">
                <a:solidFill>
                  <a:srgbClr val="000000"/>
                </a:solidFill>
                <a:latin typeface="Times New Roman" panose="02020603050405020304" pitchFamily="18" charset="0"/>
                <a:cs typeface="Arial"/>
              </a:rPr>
              <a:t>6</a:t>
            </a:r>
            <a:r>
              <a:rPr kumimoji="1" lang="zh-CN" altLang="en-US" sz="2400" b="1" dirty="0">
                <a:solidFill>
                  <a:srgbClr val="000000"/>
                </a:solidFill>
                <a:latin typeface="宋体" panose="02010600030101010101" pitchFamily="2" charset="-122"/>
                <a:cs typeface="Arial"/>
              </a:rPr>
              <a:t>个。</a:t>
            </a:r>
            <a:r>
              <a:rPr kumimoji="1" lang="zh-CN" altLang="en-US" sz="2400" b="1" dirty="0">
                <a:solidFill>
                  <a:srgbClr val="000000"/>
                </a:solidFill>
                <a:latin typeface="Times New Roman" panose="02020603050405020304" pitchFamily="18" charset="0"/>
                <a:cs typeface="Arial"/>
              </a:rPr>
              <a:t> </a:t>
            </a:r>
          </a:p>
        </p:txBody>
      </p:sp>
      <p:sp>
        <p:nvSpPr>
          <p:cNvPr id="56" name="Text 0">
            <a:extLst>
              <a:ext uri="{FF2B5EF4-FFF2-40B4-BE49-F238E27FC236}">
                <a16:creationId xmlns:a16="http://schemas.microsoft.com/office/drawing/2014/main" id="{B9DE1799-3E2A-4128-83E4-1B302BE26091}"/>
              </a:ext>
            </a:extLst>
          </p:cNvPr>
          <p:cNvSpPr/>
          <p:nvPr/>
        </p:nvSpPr>
        <p:spPr>
          <a:xfrm>
            <a:off x="1016000" y="285749"/>
            <a:ext cx="8421371" cy="736600"/>
          </a:xfrm>
          <a:prstGeom prst="rect">
            <a:avLst/>
          </a:prstGeom>
          <a:noFill/>
          <a:ln/>
        </p:spPr>
        <p:txBody>
          <a:bodyPr wrap="square" rtlCol="0" anchor="ctr"/>
          <a:lstStyle/>
          <a:p>
            <a:r>
              <a:rPr lang="zh-CN" altLang="en-US" sz="3200" b="1" dirty="0">
                <a:solidFill>
                  <a:srgbClr val="FFFFFF"/>
                </a:solidFill>
                <a:latin typeface="Noto Sans SC" pitchFamily="34" charset="0"/>
                <a:ea typeface="Noto Sans SC" pitchFamily="34" charset="-122"/>
                <a:cs typeface="Noto Sans SC" pitchFamily="34" charset="-120"/>
              </a:rPr>
              <a:t>最近点对</a:t>
            </a:r>
            <a:endParaRPr lang="en-US" sz="3200" dirty="0"/>
          </a:p>
        </p:txBody>
      </p:sp>
      <p:sp>
        <p:nvSpPr>
          <p:cNvPr id="57" name="TextBox 36">
            <a:extLst>
              <a:ext uri="{FF2B5EF4-FFF2-40B4-BE49-F238E27FC236}">
                <a16:creationId xmlns:a16="http://schemas.microsoft.com/office/drawing/2014/main" id="{4A981421-1F5E-4193-91AA-8F726E4D5984}"/>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分治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lang="zh-CN" altLang="en-US" sz="3200" b="1" dirty="0">
                <a:solidFill>
                  <a:srgbClr val="C00000"/>
                </a:solidFill>
                <a:latin typeface="微软雅黑" panose="020B0503020204020204" pitchFamily="34" charset="-122"/>
                <a:ea typeface="微软雅黑" panose="020B0503020204020204" pitchFamily="34" charset="-122"/>
              </a:rPr>
              <a:t>最近点对</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9834641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additive="base">
                                        <p:cTn id="6" dur="1" fill="hold">
                                          <p:stCondLst>
                                            <p:cond delay="0"/>
                                          </p:stCondLst>
                                        </p:cTn>
                                        <p:tgtEl>
                                          <p:spTgt spid="2915"/>
                                        </p:tgtEl>
                                        <p:attrNameLst>
                                          <p:attrName>style.visibility</p:attrName>
                                        </p:attrNameLst>
                                      </p:cBhvr>
                                      <p:to>
                                        <p:strVal val="visible"/>
                                      </p:to>
                                    </p:set>
                                    <p:animEffect transition="in" filter="fade">
                                      <p:cBhvr additive="base">
                                        <p:cTn id="7" dur="1000"/>
                                        <p:tgtEl>
                                          <p:spTgt spid="2915"/>
                                        </p:tgtEl>
                                      </p:cBhvr>
                                    </p:animEffect>
                                    <p:anim calcmode="lin" valueType="num">
                                      <p:cBhvr additive="base">
                                        <p:cTn id="8" dur="1000" fill="hold"/>
                                        <p:tgtEl>
                                          <p:spTgt spid="2915"/>
                                        </p:tgtEl>
                                        <p:attrNameLst>
                                          <p:attrName>ppt_x</p:attrName>
                                        </p:attrNameLst>
                                      </p:cBhvr>
                                      <p:tavLst>
                                        <p:tav tm="0">
                                          <p:val>
                                            <p:strVal val="#ppt_x"/>
                                          </p:val>
                                        </p:tav>
                                        <p:tav tm="100000">
                                          <p:val>
                                            <p:strVal val="#ppt_x"/>
                                          </p:val>
                                        </p:tav>
                                      </p:tavLst>
                                    </p:anim>
                                    <p:anim calcmode="lin" valueType="num">
                                      <p:cBhvr additive="base">
                                        <p:cTn id="9" dur="1000" fill="hold"/>
                                        <p:tgtEl>
                                          <p:spTgt spid="2915"/>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indefinite"/>
                            </p:stCondLst>
                          </p:cTn>
                        </p:par>
                        <p:par>
                          <p:cTn id="12" fill="hold" nodeType="afterGroup">
                            <p:stCondLst>
                              <p:cond delay="0"/>
                            </p:stCondLst>
                            <p:childTnLst>
                              <p:par>
                                <p:cTn id="13" presetID="55" presetClass="entr" presetSubtype="0" fill="hold" nodeType="clickEffect">
                                  <p:stCondLst>
                                    <p:cond delay="0"/>
                                  </p:stCondLst>
                                  <p:childTnLst>
                                    <p:set>
                                      <p:cBhvr additive="base">
                                        <p:cTn id="14" dur="1" fill="hold">
                                          <p:stCondLst>
                                            <p:cond delay="0"/>
                                          </p:stCondLst>
                                        </p:cTn>
                                        <p:tgtEl>
                                          <p:spTgt spid="2862"/>
                                        </p:tgtEl>
                                        <p:attrNameLst>
                                          <p:attrName>style.visibility</p:attrName>
                                        </p:attrNameLst>
                                      </p:cBhvr>
                                      <p:to>
                                        <p:strVal val="visible"/>
                                      </p:to>
                                    </p:set>
                                    <p:anim calcmode="lin" valueType="num">
                                      <p:cBhvr additive="base">
                                        <p:cTn id="15" dur="1000" fill="hold"/>
                                        <p:tgtEl>
                                          <p:spTgt spid="2862"/>
                                        </p:tgtEl>
                                        <p:attrNameLst>
                                          <p:attrName>ppt_w</p:attrName>
                                        </p:attrNameLst>
                                      </p:cBhvr>
                                      <p:tavLst>
                                        <p:tav tm="0">
                                          <p:val>
                                            <p:strVal val="#ppt_w*0.70"/>
                                          </p:val>
                                        </p:tav>
                                        <p:tav tm="100000">
                                          <p:val>
                                            <p:strVal val="#ppt_w"/>
                                          </p:val>
                                        </p:tav>
                                      </p:tavLst>
                                    </p:anim>
                                    <p:anim calcmode="lin" valueType="num">
                                      <p:cBhvr additive="base">
                                        <p:cTn id="16" dur="1000" fill="hold"/>
                                        <p:tgtEl>
                                          <p:spTgt spid="2862"/>
                                        </p:tgtEl>
                                        <p:attrNameLst>
                                          <p:attrName>ppt_h</p:attrName>
                                        </p:attrNameLst>
                                      </p:cBhvr>
                                      <p:tavLst>
                                        <p:tav tm="0">
                                          <p:val>
                                            <p:strVal val="#ppt_h"/>
                                          </p:val>
                                        </p:tav>
                                        <p:tav tm="100000">
                                          <p:val>
                                            <p:strVal val="#ppt_h"/>
                                          </p:val>
                                        </p:tav>
                                      </p:tavLst>
                                    </p:anim>
                                    <p:animEffect transition="in" filter="fade">
                                      <p:cBhvr additive="base">
                                        <p:cTn id="17" dur="1000"/>
                                        <p:tgtEl>
                                          <p:spTgt spid="28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二分查找</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8322729C-1179-4B4C-843D-272796EB0B0A}"/>
              </a:ext>
            </a:extLst>
          </p:cNvPr>
          <p:cNvSpPr/>
          <p:nvPr/>
        </p:nvSpPr>
        <p:spPr>
          <a:xfrm>
            <a:off x="491122" y="799100"/>
            <a:ext cx="10558347" cy="5898987"/>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查词典问题、猜数字问题</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思路：在有序序列中进行折半查找，每次排除掉一半，在</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LogN</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次内得到答案</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STL</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里的二分查找（默认升序序列）</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binary_search</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arr</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arr</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size,key</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返回</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bool</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值，是否找到</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key</a:t>
            </a: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lower_bound</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arr</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arr</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size,key</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返回第一个大于等于</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key</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的地址</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upper_bound</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arr</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arr</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size,key</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返回第一个大于</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key</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的地址</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降序序列，需要重载运算符</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p:txBody>
      </p:sp>
      <p:sp>
        <p:nvSpPr>
          <p:cNvPr id="4" name="矩形 3">
            <a:extLst>
              <a:ext uri="{FF2B5EF4-FFF2-40B4-BE49-F238E27FC236}">
                <a16:creationId xmlns:a16="http://schemas.microsoft.com/office/drawing/2014/main" id="{FE685873-7E8A-47FC-BFA4-C07883B3F40E}"/>
              </a:ext>
            </a:extLst>
          </p:cNvPr>
          <p:cNvSpPr/>
          <p:nvPr/>
        </p:nvSpPr>
        <p:spPr>
          <a:xfrm>
            <a:off x="7715492" y="5871642"/>
            <a:ext cx="3985386" cy="92333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Coding Time</a:t>
            </a:r>
            <a:endParaRPr kumimoji="0" lang="zh-CN" altLang="en-US"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668491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229C753A-D2C7-405C-AE90-50CA435C8453}"/>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二分查找</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696B26B6-6CF4-493B-8470-AF6FFF65EF12}"/>
              </a:ext>
            </a:extLst>
          </p:cNvPr>
          <p:cNvSpPr/>
          <p:nvPr/>
        </p:nvSpPr>
        <p:spPr>
          <a:xfrm>
            <a:off x="491122" y="799100"/>
            <a:ext cx="10558347" cy="5898218"/>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两个序列，长度分别为</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N</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和</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M</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，且每个序列内部没有重复的两个数，求两个序列重复元素的个数。</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N</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M &lt;= 1000000;</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暴力扫描：两个</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for</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，复杂度</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O(N*M)</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N</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和</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M</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较大情况下</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TLE</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二分查找，复杂度</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O(</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NLogN+MLogN</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对</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N</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长的序列排序，复杂度</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O(</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NLogN</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对</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M</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长序列中的每一个元素，在</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N</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长序列中进行二分查找，复杂度</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O(M*</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LogN</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p>
        </p:txBody>
      </p:sp>
      <p:sp>
        <p:nvSpPr>
          <p:cNvPr id="4" name="矩形 3">
            <a:extLst>
              <a:ext uri="{FF2B5EF4-FFF2-40B4-BE49-F238E27FC236}">
                <a16:creationId xmlns:a16="http://schemas.microsoft.com/office/drawing/2014/main" id="{2C5132C3-589C-430B-BC65-C635F530D9B3}"/>
              </a:ext>
            </a:extLst>
          </p:cNvPr>
          <p:cNvSpPr/>
          <p:nvPr/>
        </p:nvSpPr>
        <p:spPr>
          <a:xfrm>
            <a:off x="7715492" y="5871642"/>
            <a:ext cx="3985386" cy="92333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Coding Time</a:t>
            </a:r>
            <a:endParaRPr kumimoji="0" lang="zh-CN" altLang="en-US"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324939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二分答案</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8322729C-1179-4B4C-843D-272796EB0B0A}"/>
              </a:ext>
            </a:extLst>
          </p:cNvPr>
          <p:cNvSpPr/>
          <p:nvPr/>
        </p:nvSpPr>
        <p:spPr>
          <a:xfrm>
            <a:off x="491122" y="799100"/>
            <a:ext cx="10558347" cy="5898218"/>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单调性</a:t>
            </a:r>
            <a:endPar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endParaRP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如果</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能够满足条件，那么所有的不小于</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的</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b</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都能够满足条件（求最小的满足条件的</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如果</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能够满足条件，那么所有不大于</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的都能够满足条件（求最大的满足条件的</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找到最小的（最大的）符合条件的值</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常见问题描述：求最大值里最小的、最小值里最大的</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方法：不断二分，验证</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mid</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值</a:t>
            </a: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是否符合条件</a:t>
            </a:r>
            <a:endPar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42414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CDFE664C-0101-437E-881F-A8AE8B45340F}"/>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二分答案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序列变换</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5369928D-0461-45E5-84A3-D54B10CF26B2}"/>
              </a:ext>
            </a:extLst>
          </p:cNvPr>
          <p:cNvSpPr/>
          <p:nvPr/>
        </p:nvSpPr>
        <p:spPr>
          <a:xfrm>
            <a:off x="491122" y="799100"/>
            <a:ext cx="10558347" cy="5898218"/>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给一个正整数序列</a:t>
            </a:r>
            <a:r>
              <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A</a:t>
            </a: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，改变序列中的一些数变成序列</a:t>
            </a:r>
            <a:r>
              <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B</a:t>
            </a: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，使得</a:t>
            </a:r>
            <a:r>
              <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B</a:t>
            </a: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序列严格单调递增，代价为</a:t>
            </a:r>
            <a:r>
              <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max{|Ai-Bi|}</a:t>
            </a: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，让代价最小（让调整的最大值最小）</a:t>
            </a:r>
            <a:endPar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单调性：</a:t>
            </a:r>
            <a:r>
              <a:rPr kumimoji="0" lang="zh-CN" altLang="en-US" sz="2400" b="1" i="0" u="none" strike="noStrike" kern="100" cap="none" spc="0" normalizeH="0" baseline="0" noProof="0" dirty="0">
                <a:ln>
                  <a:noFill/>
                </a:ln>
                <a:solidFill>
                  <a:srgbClr val="3064A5"/>
                </a:solidFill>
                <a:effectLst/>
                <a:uLnTx/>
                <a:uFillTx/>
                <a:latin typeface="仿宋_GB2312"/>
                <a:ea typeface="等线" panose="02010600030101010101" pitchFamily="2" charset="-122"/>
                <a:cs typeface="Times New Roman" panose="02020603050405020304" pitchFamily="18" charset="0"/>
              </a:rPr>
              <a:t>如果每个数调整的最大值为</a:t>
            </a:r>
            <a:r>
              <a:rPr kumimoji="0" lang="en-US" altLang="zh-CN" sz="2400" b="1" i="0" u="none" strike="noStrike" kern="100" cap="none" spc="0" normalizeH="0" baseline="0" noProof="0" dirty="0">
                <a:ln>
                  <a:noFill/>
                </a:ln>
                <a:solidFill>
                  <a:srgbClr val="3064A5"/>
                </a:solidFill>
                <a:effectLst/>
                <a:uLnTx/>
                <a:uFillTx/>
                <a:latin typeface="仿宋_GB2312"/>
                <a:ea typeface="等线" panose="02010600030101010101" pitchFamily="2" charset="-122"/>
                <a:cs typeface="Times New Roman" panose="02020603050405020304" pitchFamily="18" charset="0"/>
              </a:rPr>
              <a:t>a</a:t>
            </a:r>
            <a:r>
              <a:rPr kumimoji="0" lang="zh-CN" altLang="en-US" sz="2400" b="1" i="0" u="none" strike="noStrike" kern="100" cap="none" spc="0" normalizeH="0" baseline="0" noProof="0" dirty="0">
                <a:ln>
                  <a:noFill/>
                </a:ln>
                <a:solidFill>
                  <a:srgbClr val="3064A5"/>
                </a:solidFill>
                <a:effectLst/>
                <a:uLnTx/>
                <a:uFillTx/>
                <a:latin typeface="仿宋_GB2312"/>
                <a:ea typeface="等线" panose="02010600030101010101" pitchFamily="2" charset="-122"/>
                <a:cs typeface="Times New Roman" panose="02020603050405020304" pitchFamily="18" charset="0"/>
              </a:rPr>
              <a:t>，能够满足要求，那么可调整的数更大，则更能够满足要求。</a:t>
            </a:r>
            <a:endParaRPr kumimoji="0" lang="en-US" altLang="zh-CN" sz="2400" b="1" i="0" u="none" strike="noStrike" kern="100" cap="none" spc="0" normalizeH="0" baseline="0" noProof="0" dirty="0">
              <a:ln>
                <a:noFill/>
              </a:ln>
              <a:solidFill>
                <a:srgbClr val="3064A5"/>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判断当前值是否符合要求</a:t>
            </a:r>
            <a:endPar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endParaRP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3064A5"/>
                </a:solidFill>
                <a:effectLst/>
                <a:uLnTx/>
                <a:uFillTx/>
                <a:latin typeface="仿宋_GB2312"/>
                <a:ea typeface="等线" panose="02010600030101010101" pitchFamily="2" charset="-122"/>
                <a:cs typeface="Times New Roman" panose="02020603050405020304" pitchFamily="18" charset="0"/>
              </a:rPr>
              <a:t>贪心策略：让前面的值尽可能小（给后面的值更大的调整空间，肯定可以包含最优解）</a:t>
            </a:r>
            <a:endParaRPr kumimoji="0" lang="en-US" altLang="zh-CN" sz="2400" b="1" i="0" u="none" strike="noStrike" kern="100" cap="none" spc="0" normalizeH="0" baseline="0" noProof="0" dirty="0">
              <a:ln>
                <a:noFill/>
              </a:ln>
              <a:solidFill>
                <a:srgbClr val="3064A5"/>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关键点：如何将最优化问题转换为判定问题</a:t>
            </a:r>
            <a:endPar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endParaRPr>
          </a:p>
        </p:txBody>
      </p:sp>
      <p:sp>
        <p:nvSpPr>
          <p:cNvPr id="4" name="矩形 3">
            <a:extLst>
              <a:ext uri="{FF2B5EF4-FFF2-40B4-BE49-F238E27FC236}">
                <a16:creationId xmlns:a16="http://schemas.microsoft.com/office/drawing/2014/main" id="{02BE068E-804A-43A1-B6B5-15C133687BA2}"/>
              </a:ext>
            </a:extLst>
          </p:cNvPr>
          <p:cNvSpPr/>
          <p:nvPr/>
        </p:nvSpPr>
        <p:spPr>
          <a:xfrm>
            <a:off x="7871814" y="5614270"/>
            <a:ext cx="3985386" cy="92333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Coding Time</a:t>
            </a:r>
            <a:endParaRPr kumimoji="0" lang="zh-CN" altLang="en-US"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809286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19F266DD-9078-4A27-8FC4-764E82A6A523}"/>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二分答案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其他类似问题</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B01AC96F-CEC5-4AFE-BBCE-4BDD28C5C67C}"/>
              </a:ext>
            </a:extLst>
          </p:cNvPr>
          <p:cNvSpPr/>
          <p:nvPr/>
        </p:nvSpPr>
        <p:spPr>
          <a:xfrm>
            <a:off x="491122" y="799100"/>
            <a:ext cx="10558347" cy="5890202"/>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3064A5"/>
                </a:solidFill>
                <a:effectLst/>
                <a:uLnTx/>
                <a:uFillTx/>
                <a:latin typeface="+mn-ea"/>
                <a:cs typeface="Times New Roman" panose="02020603050405020304" pitchFamily="18" charset="0"/>
              </a:rPr>
              <a:t>求</a:t>
            </a:r>
            <a:r>
              <a:rPr kumimoji="0" lang="en-US" altLang="zh-CN" sz="2400" b="1" i="0" u="none" strike="noStrike" kern="100" cap="none" spc="0" normalizeH="0" baseline="0" noProof="0" dirty="0">
                <a:ln>
                  <a:noFill/>
                </a:ln>
                <a:solidFill>
                  <a:srgbClr val="3064A5"/>
                </a:solidFill>
                <a:effectLst/>
                <a:uLnTx/>
                <a:uFillTx/>
                <a:latin typeface="+mn-ea"/>
                <a:cs typeface="Times New Roman" panose="02020603050405020304" pitchFamily="18" charset="0"/>
              </a:rPr>
              <a:t>n</a:t>
            </a:r>
            <a:r>
              <a:rPr kumimoji="0" lang="zh-CN" altLang="en-US" sz="2400" b="1" i="0" u="none" strike="noStrike" kern="100" cap="none" spc="0" normalizeH="0" baseline="0" noProof="0" dirty="0">
                <a:ln>
                  <a:noFill/>
                </a:ln>
                <a:solidFill>
                  <a:srgbClr val="3064A5"/>
                </a:solidFill>
                <a:effectLst/>
                <a:uLnTx/>
                <a:uFillTx/>
                <a:latin typeface="+mn-ea"/>
                <a:cs typeface="Times New Roman" panose="02020603050405020304" pitchFamily="18" charset="0"/>
              </a:rPr>
              <a:t>的平方根</a:t>
            </a:r>
            <a:r>
              <a:rPr kumimoji="0" lang="en-US" altLang="zh-CN" sz="2400" b="1" i="0" u="none" strike="noStrike" kern="100" cap="none" spc="0" normalizeH="0" baseline="0" noProof="0" dirty="0">
                <a:ln>
                  <a:noFill/>
                </a:ln>
                <a:solidFill>
                  <a:srgbClr val="3064A5"/>
                </a:solidFill>
                <a:effectLst/>
                <a:uLnTx/>
                <a:uFillTx/>
                <a:latin typeface="+mn-ea"/>
                <a:cs typeface="Times New Roman" panose="02020603050405020304" pitchFamily="18" charset="0"/>
              </a:rPr>
              <a:t>sqrt(n)</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3064A5"/>
                </a:solidFill>
                <a:effectLst/>
                <a:uLnTx/>
                <a:uFillTx/>
                <a:latin typeface="+mn-ea"/>
                <a:cs typeface="Times New Roman" panose="02020603050405020304" pitchFamily="18" charset="0"/>
              </a:rPr>
              <a:t>跳石头问题：</a:t>
            </a:r>
            <a:r>
              <a:rPr kumimoji="0" lang="zh-CN" altLang="en-US" sz="2000" b="1" i="0" u="none" strike="noStrike" kern="100" cap="none" spc="0" normalizeH="0" baseline="0" noProof="0" dirty="0">
                <a:ln>
                  <a:noFill/>
                </a:ln>
                <a:solidFill>
                  <a:srgbClr val="3064A5"/>
                </a:solidFill>
                <a:effectLst/>
                <a:uLnTx/>
                <a:uFillTx/>
                <a:latin typeface="+mn-ea"/>
                <a:cs typeface="Times New Roman" panose="02020603050405020304" pitchFamily="18" charset="0"/>
              </a:rPr>
              <a:t>一年一度的“跳石头”比赛又要开始了！ 这项比赛将在一条笔直的河道中进行，河道中分布着一些巨大岩石。组委会已经选择好了两块岩石作为比赛起点和终点。在起点和终点之间，有</a:t>
            </a:r>
            <a:r>
              <a:rPr kumimoji="0" lang="en-US" altLang="zh-CN" sz="2000" b="1" i="0" u="none" strike="noStrike" kern="100" cap="none" spc="0" normalizeH="0" baseline="0" noProof="0" dirty="0">
                <a:ln>
                  <a:noFill/>
                </a:ln>
                <a:solidFill>
                  <a:srgbClr val="3064A5"/>
                </a:solidFill>
                <a:effectLst/>
                <a:uLnTx/>
                <a:uFillTx/>
                <a:latin typeface="+mn-ea"/>
                <a:cs typeface="Times New Roman" panose="02020603050405020304" pitchFamily="18" charset="0"/>
              </a:rPr>
              <a:t>N</a:t>
            </a:r>
            <a:r>
              <a:rPr kumimoji="0" lang="zh-CN" altLang="en-US" sz="2000" b="1" i="0" u="none" strike="noStrike" kern="100" cap="none" spc="0" normalizeH="0" baseline="0" noProof="0" dirty="0">
                <a:ln>
                  <a:noFill/>
                </a:ln>
                <a:solidFill>
                  <a:srgbClr val="3064A5"/>
                </a:solidFill>
                <a:effectLst/>
                <a:uLnTx/>
                <a:uFillTx/>
                <a:latin typeface="+mn-ea"/>
                <a:cs typeface="Times New Roman" panose="02020603050405020304" pitchFamily="18" charset="0"/>
              </a:rPr>
              <a:t>块岩石（不含起点和终点的岩石）。在比赛过程中，选手们将从起点出发，每一步跳向相邻的岩石，直至到达终点。 为了提高比赛难度，组委会计划移走一些岩石，使得选手们在比赛过程中的最短跳跃距离尽可能长。由于预算限制，组委会至多从起点和终点之间移走</a:t>
            </a:r>
            <a:r>
              <a:rPr kumimoji="0" lang="en-US" altLang="zh-CN" sz="2000" b="1" i="0" u="none" strike="noStrike" kern="100" cap="none" spc="0" normalizeH="0" baseline="0" noProof="0" dirty="0">
                <a:ln>
                  <a:noFill/>
                </a:ln>
                <a:solidFill>
                  <a:srgbClr val="3064A5"/>
                </a:solidFill>
                <a:effectLst/>
                <a:uLnTx/>
                <a:uFillTx/>
                <a:latin typeface="+mn-ea"/>
                <a:cs typeface="Times New Roman" panose="02020603050405020304" pitchFamily="18" charset="0"/>
              </a:rPr>
              <a:t>M</a:t>
            </a:r>
            <a:r>
              <a:rPr kumimoji="0" lang="zh-CN" altLang="en-US" sz="2000" b="1" i="0" u="none" strike="noStrike" kern="100" cap="none" spc="0" normalizeH="0" baseline="0" noProof="0" dirty="0">
                <a:ln>
                  <a:noFill/>
                </a:ln>
                <a:solidFill>
                  <a:srgbClr val="3064A5"/>
                </a:solidFill>
                <a:effectLst/>
                <a:uLnTx/>
                <a:uFillTx/>
                <a:latin typeface="+mn-ea"/>
                <a:cs typeface="Times New Roman" panose="02020603050405020304" pitchFamily="18" charset="0"/>
              </a:rPr>
              <a:t>块岩石（不能移走起点和终点的岩石），求最短跳跃距离的最大值。</a:t>
            </a:r>
            <a:endParaRPr kumimoji="0" lang="en-US" altLang="zh-CN" sz="2000" b="1" i="0" u="none" strike="noStrike" kern="100" cap="none" spc="0" normalizeH="0" baseline="0" noProof="0" dirty="0">
              <a:ln>
                <a:noFill/>
              </a:ln>
              <a:solidFill>
                <a:srgbClr val="3064A5"/>
              </a:solidFill>
              <a:effectLst/>
              <a:uLnTx/>
              <a:uFillTx/>
              <a:latin typeface="+mn-ea"/>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379088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CDFE664C-0101-437E-881F-A8AE8B45340F}"/>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二分的其他应用</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5369928D-0461-45E5-84A3-D54B10CF26B2}"/>
              </a:ext>
            </a:extLst>
          </p:cNvPr>
          <p:cNvSpPr/>
          <p:nvPr/>
        </p:nvSpPr>
        <p:spPr>
          <a:xfrm>
            <a:off x="428978" y="972053"/>
            <a:ext cx="10558347" cy="3682226"/>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归并排序、快速排序</a:t>
            </a:r>
            <a:endPar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数值计算中：矩阵快速幂、傅里叶变换、函数求解</a:t>
            </a:r>
            <a:r>
              <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数据结构中：二叉树、平衡树、图论</a:t>
            </a:r>
            <a:r>
              <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计算几何中：凸包、最近点对、三角剖分</a:t>
            </a:r>
            <a:r>
              <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3719195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三分答案</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8322729C-1179-4B4C-843D-272796EB0B0A}"/>
              </a:ext>
            </a:extLst>
          </p:cNvPr>
          <p:cNvSpPr/>
          <p:nvPr/>
        </p:nvSpPr>
        <p:spPr>
          <a:xfrm>
            <a:off x="491122" y="799100"/>
            <a:ext cx="10558347" cy="3682226"/>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满足性质：左右两边单调</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先小后大</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先大后小</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求最大值或最小值</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较多出现在计算几何问题中</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p:txBody>
      </p:sp>
      <p:pic>
        <p:nvPicPr>
          <p:cNvPr id="1026" name="Picture 2" descr="https://img-blog.csdnimg.cn/img_convert/5fd524be6451eb9123b3ea4d1b597a0c.png">
            <a:extLst>
              <a:ext uri="{FF2B5EF4-FFF2-40B4-BE49-F238E27FC236}">
                <a16:creationId xmlns:a16="http://schemas.microsoft.com/office/drawing/2014/main" id="{AB09B778-D7FF-4137-94EA-1BE88BA0A2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1216" y="643566"/>
            <a:ext cx="6153150" cy="3676650"/>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a:extLst>
              <a:ext uri="{FF2B5EF4-FFF2-40B4-BE49-F238E27FC236}">
                <a16:creationId xmlns:a16="http://schemas.microsoft.com/office/drawing/2014/main" id="{F4E4B941-323D-48E8-AFB1-70E10D40638C}"/>
              </a:ext>
            </a:extLst>
          </p:cNvPr>
          <p:cNvSpPr/>
          <p:nvPr/>
        </p:nvSpPr>
        <p:spPr>
          <a:xfrm>
            <a:off x="5453848" y="4636860"/>
            <a:ext cx="6153150" cy="12003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333333"/>
                </a:solidFill>
                <a:effectLst/>
                <a:uLnTx/>
                <a:uFillTx/>
                <a:latin typeface="-apple-system"/>
                <a:ea typeface="等线" panose="02010600030101010101" pitchFamily="2" charset="-122"/>
                <a:cs typeface="+mn-cs"/>
              </a:rPr>
              <a:t>若</a:t>
            </a:r>
            <a:r>
              <a:rPr kumimoji="0" lang="en-US" altLang="zh-CN" sz="2400" b="0" i="0" u="none" strike="noStrike" kern="1200" cap="none" spc="0" normalizeH="0" baseline="0" noProof="0" dirty="0" err="1">
                <a:ln>
                  <a:noFill/>
                </a:ln>
                <a:solidFill>
                  <a:srgbClr val="333333"/>
                </a:solidFill>
                <a:effectLst/>
                <a:uLnTx/>
                <a:uFillTx/>
                <a:latin typeface="-apple-system"/>
                <a:ea typeface="等线" panose="02010600030101010101" pitchFamily="2" charset="-122"/>
                <a:cs typeface="+mn-cs"/>
              </a:rPr>
              <a:t>lm</a:t>
            </a:r>
            <a:r>
              <a:rPr kumimoji="0" lang="zh-CN" altLang="en-US" sz="2400" b="0" i="0" u="none" strike="noStrike" kern="1200" cap="none" spc="0" normalizeH="0" baseline="0" noProof="0" dirty="0">
                <a:ln>
                  <a:noFill/>
                </a:ln>
                <a:solidFill>
                  <a:srgbClr val="333333"/>
                </a:solidFill>
                <a:effectLst/>
                <a:uLnTx/>
                <a:uFillTx/>
                <a:latin typeface="-apple-system"/>
                <a:ea typeface="等线" panose="02010600030101010101" pitchFamily="2" charset="-122"/>
                <a:cs typeface="+mn-cs"/>
              </a:rPr>
              <a:t>比</a:t>
            </a:r>
            <a:r>
              <a:rPr kumimoji="0" lang="en-US" altLang="zh-CN" sz="2400" b="0" i="0" u="none" strike="noStrike" kern="1200" cap="none" spc="0" normalizeH="0" baseline="0" noProof="0" dirty="0">
                <a:ln>
                  <a:noFill/>
                </a:ln>
                <a:solidFill>
                  <a:srgbClr val="333333"/>
                </a:solidFill>
                <a:effectLst/>
                <a:uLnTx/>
                <a:uFillTx/>
                <a:latin typeface="-apple-system"/>
                <a:ea typeface="等线" panose="02010600030101010101" pitchFamily="2" charset="-122"/>
                <a:cs typeface="+mn-cs"/>
              </a:rPr>
              <a:t>rm</a:t>
            </a:r>
            <a:r>
              <a:rPr kumimoji="0" lang="zh-CN" altLang="en-US" sz="2400" b="0" i="0" u="none" strike="noStrike" kern="1200" cap="none" spc="0" normalizeH="0" baseline="0" noProof="0" dirty="0">
                <a:ln>
                  <a:noFill/>
                </a:ln>
                <a:solidFill>
                  <a:srgbClr val="333333"/>
                </a:solidFill>
                <a:effectLst/>
                <a:uLnTx/>
                <a:uFillTx/>
                <a:latin typeface="-apple-system"/>
                <a:ea typeface="等线" panose="02010600030101010101" pitchFamily="2" charset="-122"/>
                <a:cs typeface="+mn-cs"/>
              </a:rPr>
              <a:t>低（即</a:t>
            </a:r>
            <a:r>
              <a:rPr kumimoji="0" lang="en-US" altLang="zh-CN" sz="2400" b="0" i="0" u="none" strike="noStrike" kern="1200" cap="none" spc="0" normalizeH="0" baseline="0" noProof="0" dirty="0" err="1">
                <a:ln>
                  <a:noFill/>
                </a:ln>
                <a:solidFill>
                  <a:srgbClr val="333333"/>
                </a:solidFill>
                <a:effectLst/>
                <a:uLnTx/>
                <a:uFillTx/>
                <a:latin typeface="-apple-system"/>
                <a:ea typeface="等线" panose="02010600030101010101" pitchFamily="2" charset="-122"/>
                <a:cs typeface="+mn-cs"/>
              </a:rPr>
              <a:t>lm</a:t>
            </a:r>
            <a:r>
              <a:rPr kumimoji="0" lang="zh-CN" altLang="en-US" sz="2400" b="0" i="0" u="none" strike="noStrike" kern="1200" cap="none" spc="0" normalizeH="0" baseline="0" noProof="0" dirty="0">
                <a:ln>
                  <a:noFill/>
                </a:ln>
                <a:solidFill>
                  <a:srgbClr val="333333"/>
                </a:solidFill>
                <a:effectLst/>
                <a:uLnTx/>
                <a:uFillTx/>
                <a:latin typeface="-apple-system"/>
                <a:ea typeface="等线" panose="02010600030101010101" pitchFamily="2" charset="-122"/>
                <a:cs typeface="+mn-cs"/>
              </a:rPr>
              <a:t>对应的函数值 </a:t>
            </a:r>
            <a:r>
              <a:rPr kumimoji="0" lang="en-US" altLang="zh-CN" sz="2400" b="0" i="0" u="none" strike="noStrike" kern="1200" cap="none" spc="0" normalizeH="0" baseline="0" noProof="0" dirty="0">
                <a:ln>
                  <a:noFill/>
                </a:ln>
                <a:solidFill>
                  <a:srgbClr val="333333"/>
                </a:solidFill>
                <a:effectLst/>
                <a:uLnTx/>
                <a:uFillTx/>
                <a:latin typeface="-apple-system"/>
                <a:ea typeface="等线" panose="02010600030101010101" pitchFamily="2" charset="-122"/>
                <a:cs typeface="+mn-cs"/>
              </a:rPr>
              <a:t>&lt; rm</a:t>
            </a:r>
            <a:r>
              <a:rPr kumimoji="0" lang="zh-CN" altLang="en-US" sz="2400" b="0" i="0" u="none" strike="noStrike" kern="1200" cap="none" spc="0" normalizeH="0" baseline="0" noProof="0" dirty="0">
                <a:ln>
                  <a:noFill/>
                </a:ln>
                <a:solidFill>
                  <a:srgbClr val="333333"/>
                </a:solidFill>
                <a:effectLst/>
                <a:uLnTx/>
                <a:uFillTx/>
                <a:latin typeface="-apple-system"/>
                <a:ea typeface="等线" panose="02010600030101010101" pitchFamily="2" charset="-122"/>
                <a:cs typeface="+mn-cs"/>
              </a:rPr>
              <a:t>函数值）则极小点（图中最低点）肯定在</a:t>
            </a:r>
            <a:r>
              <a:rPr kumimoji="0" lang="en-US" altLang="zh-CN" sz="2400" b="0" i="0" u="none" strike="noStrike" kern="1200" cap="none" spc="0" normalizeH="0" baseline="0" noProof="0" dirty="0">
                <a:ln>
                  <a:noFill/>
                </a:ln>
                <a:solidFill>
                  <a:srgbClr val="333333"/>
                </a:solidFill>
                <a:effectLst/>
                <a:uLnTx/>
                <a:uFillTx/>
                <a:latin typeface="-apple-system"/>
                <a:ea typeface="等线" panose="02010600030101010101" pitchFamily="2" charset="-122"/>
                <a:cs typeface="+mn-cs"/>
              </a:rPr>
              <a:t>[ left, rm ] </a:t>
            </a:r>
            <a:r>
              <a:rPr kumimoji="0" lang="zh-CN" altLang="en-US" sz="2400" b="0" i="0" u="none" strike="noStrike" kern="1200" cap="none" spc="0" normalizeH="0" baseline="0" noProof="0" dirty="0">
                <a:ln>
                  <a:noFill/>
                </a:ln>
                <a:solidFill>
                  <a:srgbClr val="333333"/>
                </a:solidFill>
                <a:effectLst/>
                <a:uLnTx/>
                <a:uFillTx/>
                <a:latin typeface="-apple-system"/>
                <a:ea typeface="等线" panose="02010600030101010101" pitchFamily="2" charset="-122"/>
                <a:cs typeface="+mn-cs"/>
              </a:rPr>
              <a:t>，反之在</a:t>
            </a:r>
            <a:r>
              <a:rPr kumimoji="0" lang="en-US" altLang="zh-CN" sz="2400" b="0" i="0" u="none" strike="noStrike" kern="1200" cap="none" spc="0" normalizeH="0" baseline="0" noProof="0" dirty="0">
                <a:ln>
                  <a:noFill/>
                </a:ln>
                <a:solidFill>
                  <a:srgbClr val="333333"/>
                </a:solidFill>
                <a:effectLst/>
                <a:uLnTx/>
                <a:uFillTx/>
                <a:latin typeface="-apple-system"/>
                <a:ea typeface="等线" panose="02010600030101010101" pitchFamily="2" charset="-122"/>
                <a:cs typeface="+mn-cs"/>
              </a:rPr>
              <a:t>[ </a:t>
            </a:r>
            <a:r>
              <a:rPr kumimoji="0" lang="en-US" altLang="zh-CN" sz="2400" b="0" i="0" u="none" strike="noStrike" kern="1200" cap="none" spc="0" normalizeH="0" baseline="0" noProof="0" dirty="0" err="1">
                <a:ln>
                  <a:noFill/>
                </a:ln>
                <a:solidFill>
                  <a:srgbClr val="333333"/>
                </a:solidFill>
                <a:effectLst/>
                <a:uLnTx/>
                <a:uFillTx/>
                <a:latin typeface="-apple-system"/>
                <a:ea typeface="等线" panose="02010600030101010101" pitchFamily="2" charset="-122"/>
                <a:cs typeface="+mn-cs"/>
              </a:rPr>
              <a:t>lm</a:t>
            </a:r>
            <a:r>
              <a:rPr kumimoji="0" lang="en-US" altLang="zh-CN" sz="2400" b="0" i="0" u="none" strike="noStrike" kern="1200" cap="none" spc="0" normalizeH="0" baseline="0" noProof="0" dirty="0">
                <a:ln>
                  <a:noFill/>
                </a:ln>
                <a:solidFill>
                  <a:srgbClr val="333333"/>
                </a:solidFill>
                <a:effectLst/>
                <a:uLnTx/>
                <a:uFillTx/>
                <a:latin typeface="-apple-system"/>
                <a:ea typeface="等线" panose="02010600030101010101" pitchFamily="2" charset="-122"/>
                <a:cs typeface="+mn-cs"/>
              </a:rPr>
              <a:t>, right ]</a:t>
            </a:r>
            <a:endParaRPr kumimoji="0" lang="zh-CN" altLang="en-US" sz="24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924181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6"/>
          <p:cNvSpPr txBox="1"/>
          <p:nvPr/>
        </p:nvSpPr>
        <p:spPr>
          <a:xfrm>
            <a:off x="334800" y="320402"/>
            <a:ext cx="11684480" cy="651653"/>
          </a:xfrm>
          <a:prstGeom prst="rect">
            <a:avLst/>
          </a:prstGeom>
          <a:noFill/>
        </p:spPr>
        <p:txBody>
          <a:bodyPr wrap="square" rtlCol="0">
            <a:spAutoFit/>
          </a:bodyPr>
          <a:lstStyle/>
          <a:p>
            <a:pPr>
              <a:lnSpc>
                <a:spcPct val="125000"/>
              </a:lnSpc>
              <a:spcAft>
                <a:spcPts val="1200"/>
              </a:spcAft>
            </a:pPr>
            <a:r>
              <a:rPr lang="zh-CN" altLang="en-US" sz="3200" b="1" dirty="0">
                <a:solidFill>
                  <a:schemeClr val="bg1"/>
                </a:solidFill>
                <a:latin typeface="微软雅黑" panose="020B0503020204020204" pitchFamily="34" charset="-122"/>
                <a:ea typeface="微软雅黑" panose="020B0503020204020204" pitchFamily="34" charset="-122"/>
              </a:rPr>
              <a:t>扩展：倍增与</a:t>
            </a:r>
            <a:r>
              <a:rPr lang="en-US" altLang="zh-CN" sz="3200" b="1" dirty="0">
                <a:solidFill>
                  <a:schemeClr val="bg1"/>
                </a:solidFill>
                <a:latin typeface="微软雅黑" panose="020B0503020204020204" pitchFamily="34" charset="-122"/>
                <a:ea typeface="微软雅黑" panose="020B0503020204020204" pitchFamily="34" charset="-122"/>
              </a:rPr>
              <a:t>ST</a:t>
            </a:r>
            <a:r>
              <a:rPr lang="zh-CN" altLang="en-US" sz="3200" b="1" dirty="0">
                <a:solidFill>
                  <a:schemeClr val="bg1"/>
                </a:solidFill>
                <a:latin typeface="微软雅黑" panose="020B0503020204020204" pitchFamily="34" charset="-122"/>
                <a:ea typeface="微软雅黑" panose="020B0503020204020204" pitchFamily="34" charset="-122"/>
              </a:rPr>
              <a:t>算法</a:t>
            </a:r>
            <a:endParaRPr lang="en-US" altLang="zh-CN" sz="3200" b="1" dirty="0">
              <a:solidFill>
                <a:schemeClr val="bg1"/>
              </a:solidFill>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8322729C-1179-4B4C-843D-272796EB0B0A}"/>
              </a:ext>
            </a:extLst>
          </p:cNvPr>
          <p:cNvSpPr/>
          <p:nvPr/>
        </p:nvSpPr>
        <p:spPr>
          <a:xfrm>
            <a:off x="0" y="781345"/>
            <a:ext cx="6761933" cy="5990551"/>
          </a:xfrm>
          <a:prstGeom prst="rect">
            <a:avLst/>
          </a:prstGeom>
        </p:spPr>
        <p:txBody>
          <a:bodyPr wrap="square">
            <a:spAutoFit/>
          </a:bodyPr>
          <a:lstStyle/>
          <a:p>
            <a:pPr marL="800080" lvl="1" indent="-342891" algn="just">
              <a:lnSpc>
                <a:spcPct val="200000"/>
              </a:lnSpc>
              <a:buFont typeface="Wingdings" panose="05000000000000000000" pitchFamily="2" charset="2"/>
              <a:buChar char="l"/>
            </a:pPr>
            <a:r>
              <a:rPr lang="zh-CN" altLang="en-US" sz="2400" b="1" kern="100" dirty="0">
                <a:solidFill>
                  <a:srgbClr val="014B88"/>
                </a:solidFill>
                <a:latin typeface="仿宋_GB2312"/>
                <a:cs typeface="Times New Roman" panose="02020603050405020304" pitchFamily="18" charset="0"/>
              </a:rPr>
              <a:t>区间最值问题</a:t>
            </a:r>
            <a:r>
              <a:rPr lang="en-US" altLang="zh-CN" sz="2400" b="1" kern="100" dirty="0">
                <a:solidFill>
                  <a:srgbClr val="014B88"/>
                </a:solidFill>
                <a:latin typeface="仿宋_GB2312"/>
                <a:cs typeface="Times New Roman" panose="02020603050405020304" pitchFamily="18" charset="0"/>
              </a:rPr>
              <a:t>(RMQ)</a:t>
            </a:r>
            <a:r>
              <a:rPr lang="zh-CN" altLang="en-US" sz="2400" b="1" kern="100" dirty="0">
                <a:solidFill>
                  <a:srgbClr val="014B88"/>
                </a:solidFill>
                <a:latin typeface="仿宋_GB2312"/>
                <a:cs typeface="Times New Roman" panose="02020603050405020304" pitchFamily="18" charset="0"/>
              </a:rPr>
              <a:t>：求一个数组某个区间的最大值或最小值</a:t>
            </a:r>
            <a:endParaRPr lang="en-US" altLang="zh-CN" sz="2400" b="1" kern="100" dirty="0">
              <a:solidFill>
                <a:srgbClr val="014B88"/>
              </a:solidFill>
              <a:latin typeface="仿宋_GB2312"/>
              <a:cs typeface="Times New Roman" panose="02020603050405020304" pitchFamily="18" charset="0"/>
            </a:endParaRPr>
          </a:p>
          <a:p>
            <a:pPr lvl="2" algn="just"/>
            <a:r>
              <a:rPr lang="zh-CN" altLang="en-US" dirty="0"/>
              <a:t>在</a:t>
            </a:r>
            <a:r>
              <a:rPr lang="en-US" altLang="zh-CN" dirty="0"/>
              <a:t>RMQ</a:t>
            </a:r>
            <a:r>
              <a:rPr lang="zh-CN" altLang="en-US" dirty="0"/>
              <a:t>问题（区间最值问题）中，著名的</a:t>
            </a:r>
            <a:r>
              <a:rPr lang="en-US" altLang="zh-CN" dirty="0"/>
              <a:t>ST</a:t>
            </a:r>
            <a:r>
              <a:rPr lang="zh-CN" altLang="en-US" dirty="0"/>
              <a:t>算法就是倍增的产物，给定一个长度为 </a:t>
            </a:r>
            <a:r>
              <a:rPr lang="en-US" altLang="zh-CN" dirty="0"/>
              <a:t>N </a:t>
            </a:r>
            <a:r>
              <a:rPr lang="zh-CN" altLang="en-US" dirty="0"/>
              <a:t>的数列 </a:t>
            </a:r>
            <a:r>
              <a:rPr lang="en-US" altLang="zh-CN" dirty="0"/>
              <a:t>A</a:t>
            </a:r>
            <a:r>
              <a:rPr lang="zh-CN" altLang="en-US" dirty="0"/>
              <a:t>，</a:t>
            </a:r>
            <a:r>
              <a:rPr lang="en-US" altLang="zh-CN" dirty="0"/>
              <a:t>ST</a:t>
            </a:r>
            <a:r>
              <a:rPr lang="zh-CN" altLang="en-US" dirty="0"/>
              <a:t>算法能在</a:t>
            </a:r>
            <a:r>
              <a:rPr lang="en-US" altLang="zh-CN" dirty="0"/>
              <a:t>O(N </a:t>
            </a:r>
            <a:r>
              <a:rPr lang="en-US" altLang="zh-CN" dirty="0" err="1"/>
              <a:t>logN</a:t>
            </a:r>
            <a:r>
              <a:rPr lang="en-US" altLang="zh-CN" dirty="0"/>
              <a:t>) </a:t>
            </a:r>
            <a:r>
              <a:rPr lang="zh-CN" altLang="en-US" dirty="0"/>
              <a:t>时间的预处理后，以 </a:t>
            </a:r>
            <a:r>
              <a:rPr lang="en-US" altLang="zh-CN" dirty="0"/>
              <a:t>O(1) </a:t>
            </a:r>
            <a:r>
              <a:rPr lang="zh-CN" altLang="en-US" dirty="0"/>
              <a:t>的时间复杂度在线回答“数列 </a:t>
            </a:r>
            <a:r>
              <a:rPr lang="en-US" altLang="zh-CN" dirty="0"/>
              <a:t>A </a:t>
            </a:r>
            <a:r>
              <a:rPr lang="zh-CN" altLang="en-US" dirty="0"/>
              <a:t>中下标在 </a:t>
            </a:r>
            <a:r>
              <a:rPr lang="en-US" altLang="zh-CN" dirty="0" err="1"/>
              <a:t>l~r</a:t>
            </a:r>
            <a:r>
              <a:rPr lang="en-US" altLang="zh-CN" dirty="0"/>
              <a:t> </a:t>
            </a:r>
            <a:r>
              <a:rPr lang="zh-CN" altLang="en-US" dirty="0"/>
              <a:t>之间的数的最大值是多少”这样的区间最值问题。</a:t>
            </a:r>
            <a:endParaRPr lang="en-US" altLang="zh-CN" dirty="0"/>
          </a:p>
          <a:p>
            <a:pPr marL="800080" lvl="1" indent="-342891" algn="just">
              <a:lnSpc>
                <a:spcPct val="200000"/>
              </a:lnSpc>
              <a:buFont typeface="Wingdings" panose="05000000000000000000" pitchFamily="2" charset="2"/>
              <a:buChar char="l"/>
            </a:pPr>
            <a:r>
              <a:rPr lang="en-US" altLang="zh-CN" sz="2400" b="1" kern="100" dirty="0">
                <a:solidFill>
                  <a:srgbClr val="014B88"/>
                </a:solidFill>
                <a:latin typeface="仿宋_GB2312"/>
                <a:cs typeface="Times New Roman" panose="02020603050405020304" pitchFamily="18" charset="0"/>
              </a:rPr>
              <a:t>ST</a:t>
            </a:r>
            <a:r>
              <a:rPr lang="zh-CN" altLang="en-US" sz="2400" b="1" kern="100" dirty="0">
                <a:solidFill>
                  <a:srgbClr val="014B88"/>
                </a:solidFill>
                <a:latin typeface="仿宋_GB2312"/>
                <a:cs typeface="Times New Roman" panose="02020603050405020304" pitchFamily="18" charset="0"/>
              </a:rPr>
              <a:t>算法思想：</a:t>
            </a:r>
            <a:endParaRPr lang="en-US" altLang="zh-CN" sz="2400" b="1" kern="100" dirty="0">
              <a:solidFill>
                <a:srgbClr val="014B88"/>
              </a:solidFill>
              <a:latin typeface="仿宋_GB2312"/>
              <a:cs typeface="Times New Roman" panose="02020603050405020304" pitchFamily="18" charset="0"/>
            </a:endParaRPr>
          </a:p>
          <a:p>
            <a:pPr lvl="2">
              <a:lnSpc>
                <a:spcPct val="150000"/>
              </a:lnSpc>
            </a:pPr>
            <a:r>
              <a:rPr lang="en-US" altLang="zh-CN" dirty="0"/>
              <a:t>   </a:t>
            </a:r>
            <a:r>
              <a:rPr lang="zh-CN" altLang="en-US" dirty="0"/>
              <a:t>把整个数列分为很多小区间，并提前计算出每个小区间的最值；</a:t>
            </a:r>
          </a:p>
          <a:p>
            <a:pPr lvl="2">
              <a:lnSpc>
                <a:spcPct val="150000"/>
              </a:lnSpc>
            </a:pPr>
            <a:r>
              <a:rPr lang="en-US" altLang="zh-CN" dirty="0"/>
              <a:t>   </a:t>
            </a:r>
            <a:r>
              <a:rPr lang="zh-CN" altLang="en-US" dirty="0"/>
              <a:t>对任意一个区间最值查询，找到覆盖它的两个小区间，用两个小区间的最值算出答案。</a:t>
            </a:r>
          </a:p>
          <a:p>
            <a:pPr marL="800080" lvl="1" indent="-342891" algn="just">
              <a:lnSpc>
                <a:spcPct val="200000"/>
              </a:lnSpc>
              <a:buFont typeface="Wingdings" panose="05000000000000000000" pitchFamily="2" charset="2"/>
              <a:buChar char="l"/>
            </a:pPr>
            <a:endParaRPr lang="en-US" altLang="zh-CN" sz="2400" b="1" kern="100" dirty="0">
              <a:solidFill>
                <a:srgbClr val="014B88"/>
              </a:solidFill>
              <a:latin typeface="仿宋_GB2312"/>
              <a:cs typeface="Times New Roman" panose="02020603050405020304" pitchFamily="18" charset="0"/>
            </a:endParaRPr>
          </a:p>
        </p:txBody>
      </p:sp>
      <p:pic>
        <p:nvPicPr>
          <p:cNvPr id="4" name="图片 3">
            <a:extLst>
              <a:ext uri="{FF2B5EF4-FFF2-40B4-BE49-F238E27FC236}">
                <a16:creationId xmlns:a16="http://schemas.microsoft.com/office/drawing/2014/main" id="{CCAC2F58-6498-49D5-A997-15A858A89E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69618" y="1745673"/>
            <a:ext cx="5249663" cy="3949560"/>
          </a:xfrm>
          <a:prstGeom prst="rect">
            <a:avLst/>
          </a:prstGeom>
        </p:spPr>
      </p:pic>
      <p:sp>
        <p:nvSpPr>
          <p:cNvPr id="5" name="TextBox 36">
            <a:extLst>
              <a:ext uri="{FF2B5EF4-FFF2-40B4-BE49-F238E27FC236}">
                <a16:creationId xmlns:a16="http://schemas.microsoft.com/office/drawing/2014/main" id="{779670B7-9E0E-41E6-94C4-4A1BA07B2E10}"/>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倍增和</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ST</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表</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83651833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560</TotalTime>
  <Words>3686</Words>
  <Application>Microsoft Office PowerPoint</Application>
  <PresentationFormat>宽屏</PresentationFormat>
  <Paragraphs>282</Paragraphs>
  <Slides>35</Slides>
  <Notes>10</Notes>
  <HiddenSlides>0</HiddenSlides>
  <MMClips>0</MMClips>
  <ScaleCrop>false</ScaleCrop>
  <HeadingPairs>
    <vt:vector size="6" baseType="variant">
      <vt:variant>
        <vt:lpstr>已用的字体</vt:lpstr>
      </vt:variant>
      <vt:variant>
        <vt:i4>15</vt:i4>
      </vt:variant>
      <vt:variant>
        <vt:lpstr>主题</vt:lpstr>
      </vt:variant>
      <vt:variant>
        <vt:i4>3</vt:i4>
      </vt:variant>
      <vt:variant>
        <vt:lpstr>幻灯片标题</vt:lpstr>
      </vt:variant>
      <vt:variant>
        <vt:i4>35</vt:i4>
      </vt:variant>
    </vt:vector>
  </HeadingPairs>
  <TitlesOfParts>
    <vt:vector size="53" baseType="lpstr">
      <vt:lpstr>-apple-system</vt:lpstr>
      <vt:lpstr>Noto Sans SC</vt:lpstr>
      <vt:lpstr>等线</vt:lpstr>
      <vt:lpstr>等线 Light</vt:lpstr>
      <vt:lpstr>仿宋_GB2312</vt:lpstr>
      <vt:lpstr>黑体</vt:lpstr>
      <vt:lpstr>华光仿宋一_CNKI</vt:lpstr>
      <vt:lpstr>隶书</vt:lpstr>
      <vt:lpstr>宋体</vt:lpstr>
      <vt:lpstr>微软雅黑</vt:lpstr>
      <vt:lpstr>Arial</vt:lpstr>
      <vt:lpstr>Consolas</vt:lpstr>
      <vt:lpstr>Times New Roman</vt:lpstr>
      <vt:lpstr>Verdana</vt:lpstr>
      <vt:lpstr>Wingdings</vt:lpstr>
      <vt:lpstr>Office 主题​​</vt:lpstr>
      <vt:lpstr>1_Office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zmk</dc:creator>
  <cp:lastModifiedBy>zmk</cp:lastModifiedBy>
  <cp:revision>37</cp:revision>
  <dcterms:created xsi:type="dcterms:W3CDTF">2023-08-09T12:44:55Z</dcterms:created>
  <dcterms:modified xsi:type="dcterms:W3CDTF">2026-04-03T12:48:17Z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2052-12.1.0.15259</vt:lpwstr>
  </property>
</Properties>
</file>