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83" r:id="rId2"/>
    <p:sldMasterId id="2147483695" r:id="rId3"/>
  </p:sldMasterIdLst>
  <p:notesMasterIdLst>
    <p:notesMasterId r:id="rId32"/>
  </p:notesMasterIdLst>
  <p:sldIdLst>
    <p:sldId id="514" r:id="rId4"/>
    <p:sldId id="1703" r:id="rId5"/>
    <p:sldId id="1708" r:id="rId6"/>
    <p:sldId id="2400" r:id="rId7"/>
    <p:sldId id="1706" r:id="rId8"/>
    <p:sldId id="1709" r:id="rId9"/>
    <p:sldId id="1710" r:id="rId10"/>
    <p:sldId id="1711" r:id="rId11"/>
    <p:sldId id="1707" r:id="rId12"/>
    <p:sldId id="2401" r:id="rId13"/>
    <p:sldId id="2376" r:id="rId14"/>
    <p:sldId id="2373" r:id="rId15"/>
    <p:sldId id="2402" r:id="rId16"/>
    <p:sldId id="2357" r:id="rId17"/>
    <p:sldId id="1691" r:id="rId18"/>
    <p:sldId id="2358" r:id="rId19"/>
    <p:sldId id="1699" r:id="rId20"/>
    <p:sldId id="263" r:id="rId21"/>
    <p:sldId id="336" r:id="rId22"/>
    <p:sldId id="2377" r:id="rId23"/>
    <p:sldId id="351" r:id="rId24"/>
    <p:sldId id="2379" r:id="rId25"/>
    <p:sldId id="324" r:id="rId26"/>
    <p:sldId id="261" r:id="rId27"/>
    <p:sldId id="2387" r:id="rId28"/>
    <p:sldId id="2385" r:id="rId29"/>
    <p:sldId id="2386" r:id="rId30"/>
    <p:sldId id="2388"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226CC-D057-4076-973D-28E1C9E2EB25}" type="datetimeFigureOut">
              <a:rPr lang="zh-CN" altLang="en-US" smtClean="0"/>
              <a:t>2026-04-10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C9969-7BFD-472B-BE30-5B3FAF9D0D4D}" type="slidenum">
              <a:rPr lang="zh-CN" altLang="en-US" smtClean="0"/>
              <a:t>‹#›</a:t>
            </a:fld>
            <a:endParaRPr lang="zh-CN" altLang="en-US"/>
          </a:p>
        </p:txBody>
      </p:sp>
    </p:spTree>
    <p:extLst>
      <p:ext uri="{BB962C8B-B14F-4D97-AF65-F5344CB8AC3E}">
        <p14:creationId xmlns:p14="http://schemas.microsoft.com/office/powerpoint/2010/main" val="3736091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A718BCC-8E0E-4014-A15C-131A86B0AD6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86528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52178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0902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11</a:t>
            </a:fld>
            <a:endParaRPr lang="zh-CN" altLang="en-US"/>
          </a:p>
        </p:txBody>
      </p:sp>
    </p:spTree>
    <p:extLst>
      <p:ext uri="{BB962C8B-B14F-4D97-AF65-F5344CB8AC3E}">
        <p14:creationId xmlns:p14="http://schemas.microsoft.com/office/powerpoint/2010/main" val="3368123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14</a:t>
            </a:fld>
            <a:endParaRPr lang="zh-CN" altLang="en-US"/>
          </a:p>
        </p:txBody>
      </p:sp>
    </p:spTree>
    <p:extLst>
      <p:ext uri="{BB962C8B-B14F-4D97-AF65-F5344CB8AC3E}">
        <p14:creationId xmlns:p14="http://schemas.microsoft.com/office/powerpoint/2010/main" val="733485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15</a:t>
            </a:fld>
            <a:endParaRPr lang="zh-CN" altLang="en-US"/>
          </a:p>
        </p:txBody>
      </p:sp>
    </p:spTree>
    <p:extLst>
      <p:ext uri="{BB962C8B-B14F-4D97-AF65-F5344CB8AC3E}">
        <p14:creationId xmlns:p14="http://schemas.microsoft.com/office/powerpoint/2010/main" val="2720533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16</a:t>
            </a:fld>
            <a:endParaRPr lang="zh-CN" altLang="en-US"/>
          </a:p>
        </p:txBody>
      </p:sp>
    </p:spTree>
    <p:extLst>
      <p:ext uri="{BB962C8B-B14F-4D97-AF65-F5344CB8AC3E}">
        <p14:creationId xmlns:p14="http://schemas.microsoft.com/office/powerpoint/2010/main" val="1993805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17</a:t>
            </a:fld>
            <a:endParaRPr lang="zh-CN" altLang="en-US"/>
          </a:p>
        </p:txBody>
      </p:sp>
    </p:spTree>
    <p:extLst>
      <p:ext uri="{BB962C8B-B14F-4D97-AF65-F5344CB8AC3E}">
        <p14:creationId xmlns:p14="http://schemas.microsoft.com/office/powerpoint/2010/main" val="2289781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51DDC4C-6E98-4046-96B1-747F60B4BB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028BBC1-E336-43B0-9F8F-2F20D0829DF4}" type="slidenum">
              <a:rPr lang="en-US" altLang="zh-CN" sz="1200"/>
              <a:pPr eaLnBrk="1" hangingPunct="1"/>
              <a:t>19</a:t>
            </a:fld>
            <a:endParaRPr lang="en-US" altLang="zh-CN" sz="1200"/>
          </a:p>
        </p:txBody>
      </p:sp>
      <p:sp>
        <p:nvSpPr>
          <p:cNvPr id="61443" name="Rectangle 2">
            <a:extLst>
              <a:ext uri="{FF2B5EF4-FFF2-40B4-BE49-F238E27FC236}">
                <a16:creationId xmlns:a16="http://schemas.microsoft.com/office/drawing/2014/main" id="{1771FB8E-3D9B-43C2-A801-64490D0B7804}"/>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1415D573-71DF-4290-B580-08D86CE2FA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51DDC4C-6E98-4046-96B1-747F60B4BB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028BBC1-E336-43B0-9F8F-2F20D0829DF4}" type="slidenum">
              <a:rPr lang="en-US" altLang="zh-CN" sz="1200"/>
              <a:pPr eaLnBrk="1" hangingPunct="1"/>
              <a:t>20</a:t>
            </a:fld>
            <a:endParaRPr lang="en-US" altLang="zh-CN" sz="1200"/>
          </a:p>
        </p:txBody>
      </p:sp>
      <p:sp>
        <p:nvSpPr>
          <p:cNvPr id="61443" name="Rectangle 2">
            <a:extLst>
              <a:ext uri="{FF2B5EF4-FFF2-40B4-BE49-F238E27FC236}">
                <a16:creationId xmlns:a16="http://schemas.microsoft.com/office/drawing/2014/main" id="{1771FB8E-3D9B-43C2-A801-64490D0B7804}"/>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1415D573-71DF-4290-B580-08D86CE2FA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802901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E64D3E52-34C1-43D2-BBF6-946CA19524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9247A33-5CE6-45F4-8F3C-6DEF59382AAC}" type="slidenum">
              <a:rPr lang="en-US" altLang="zh-CN" sz="1200"/>
              <a:pPr eaLnBrk="1" hangingPunct="1"/>
              <a:t>21</a:t>
            </a:fld>
            <a:endParaRPr lang="en-US" altLang="zh-CN" sz="1200"/>
          </a:p>
        </p:txBody>
      </p:sp>
      <p:sp>
        <p:nvSpPr>
          <p:cNvPr id="65539" name="Rectangle 2">
            <a:extLst>
              <a:ext uri="{FF2B5EF4-FFF2-40B4-BE49-F238E27FC236}">
                <a16:creationId xmlns:a16="http://schemas.microsoft.com/office/drawing/2014/main" id="{645841D8-AAD6-49BC-9012-AC6D6770C3FA}"/>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6D9FBC93-1BF3-4984-9F14-3C463636C0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92124777-3D03-499B-84BB-E2DD1AC42C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E8A394E-7CA5-47B1-89EF-A5F774584226}" type="slidenum">
              <a:rPr lang="en-US" altLang="zh-CN" sz="1200"/>
              <a:pPr eaLnBrk="1" hangingPunct="1"/>
              <a:t>22</a:t>
            </a:fld>
            <a:endParaRPr lang="en-US" altLang="zh-CN" sz="1200"/>
          </a:p>
        </p:txBody>
      </p:sp>
      <p:sp>
        <p:nvSpPr>
          <p:cNvPr id="68611" name="Rectangle 2">
            <a:extLst>
              <a:ext uri="{FF2B5EF4-FFF2-40B4-BE49-F238E27FC236}">
                <a16:creationId xmlns:a16="http://schemas.microsoft.com/office/drawing/2014/main" id="{80639602-F917-4C1D-B694-5863E33500B0}"/>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CEFEB193-6ABC-482B-A664-607A6C8EB3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052697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0F595C2B-4156-461F-BC8B-638745082F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1E752EC-BA71-4313-8532-57CE5F353FD5}" type="slidenum">
              <a:rPr lang="en-US" altLang="zh-CN" sz="1200"/>
              <a:pPr eaLnBrk="1" hangingPunct="1"/>
              <a:t>23</a:t>
            </a:fld>
            <a:endParaRPr lang="en-US" altLang="zh-CN" sz="1200"/>
          </a:p>
        </p:txBody>
      </p:sp>
      <p:sp>
        <p:nvSpPr>
          <p:cNvPr id="77827" name="Rectangle 2">
            <a:extLst>
              <a:ext uri="{FF2B5EF4-FFF2-40B4-BE49-F238E27FC236}">
                <a16:creationId xmlns:a16="http://schemas.microsoft.com/office/drawing/2014/main" id="{BDE5F337-C999-4177-B9AD-26140BD36B5B}"/>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627E6621-718C-436C-8E40-DE52B289AD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8" name="图片 7">
            <a:extLst>
              <a:ext uri="{FF2B5EF4-FFF2-40B4-BE49-F238E27FC236}">
                <a16:creationId xmlns:a16="http://schemas.microsoft.com/office/drawing/2014/main" id="{4292AA5B-3511-4AA4-AF20-4D87F26197D3}"/>
              </a:ext>
            </a:extLst>
          </p:cNvPr>
          <p:cNvPicPr>
            <a:picLocks noChangeAspect="1"/>
          </p:cNvPicPr>
          <p:nvPr userDrawn="1"/>
        </p:nvPicPr>
        <p:blipFill rotWithShape="1">
          <a:blip r:embed="rId2"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Tree>
    <p:extLst>
      <p:ext uri="{BB962C8B-B14F-4D97-AF65-F5344CB8AC3E}">
        <p14:creationId xmlns:p14="http://schemas.microsoft.com/office/powerpoint/2010/main" val="2791328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319649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3752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7" name="图片 8" descr="WechatIMG2.jpeg">
            <a:extLst>
              <a:ext uri="{FF2B5EF4-FFF2-40B4-BE49-F238E27FC236}">
                <a16:creationId xmlns:a16="http://schemas.microsoft.com/office/drawing/2014/main" id="{D00077EC-4D16-4C91-8618-505DD6F94F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4292AA5B-3511-4AA4-AF20-4D87F26197D3}"/>
              </a:ext>
            </a:extLst>
          </p:cNvPr>
          <p:cNvPicPr>
            <a:picLocks noChangeAspect="1"/>
          </p:cNvPicPr>
          <p:nvPr userDrawn="1"/>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Tree>
    <p:extLst>
      <p:ext uri="{BB962C8B-B14F-4D97-AF65-F5344CB8AC3E}">
        <p14:creationId xmlns:p14="http://schemas.microsoft.com/office/powerpoint/2010/main" val="1667355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 name="图片 8" descr="WechatIMG2.jpeg">
            <a:extLst>
              <a:ext uri="{FF2B5EF4-FFF2-40B4-BE49-F238E27FC236}">
                <a16:creationId xmlns:a16="http://schemas.microsoft.com/office/drawing/2014/main" id="{2793CBC1-7380-42B9-B3BB-787D603AE42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020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421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ntent_slides">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8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594041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471145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2203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50827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817537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2570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0175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57842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18299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596864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648488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r>
              <a:rPr lang="zh-CN" altLang="en-US" dirty="0"/>
              <a:t>单击此处编辑一级标题样式</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spTree>
    <p:extLst>
      <p:ext uri="{BB962C8B-B14F-4D97-AF65-F5344CB8AC3E}">
        <p14:creationId xmlns:p14="http://schemas.microsoft.com/office/powerpoint/2010/main" val="16206357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r>
              <a:rPr lang="zh-CN" altLang="en-US" dirty="0"/>
              <a:t>单击此处编辑一级标题样式</a:t>
            </a:r>
          </a:p>
        </p:txBody>
      </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单击此处编辑小节名</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spTree>
    <p:extLst>
      <p:ext uri="{BB962C8B-B14F-4D97-AF65-F5344CB8AC3E}">
        <p14:creationId xmlns:p14="http://schemas.microsoft.com/office/powerpoint/2010/main" val="1168142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_slides">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2922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3.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4429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43733847"/>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2026-04-10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5014408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zmk@tju.edu.c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
        <p:nvSpPr>
          <p:cNvPr id="2" name="灯片编号占位符 1"/>
          <p:cNvSpPr>
            <a:spLocks noGrp="1"/>
          </p:cNvSpPr>
          <p:nvPr>
            <p:ph type="sldNum" sz="quarter" idx="4294967295"/>
          </p:nvPr>
        </p:nvSpPr>
        <p:spPr>
          <a:xfrm>
            <a:off x="9448800" y="6492875"/>
            <a:ext cx="2743200" cy="365125"/>
          </a:xfrm>
          <a:prstGeom prst="rect">
            <a:avLst/>
          </a:prstGeom>
        </p:spPr>
        <p:txBody>
          <a:bodyPr/>
          <a:lstStyle/>
          <a:p>
            <a:fld id="{CFD2B472-FC81-4D56-BB73-EBB478A21F5E}" type="slidenum">
              <a:rPr lang="zh-CN" altLang="en-US" smtClean="0"/>
              <a:t>1</a:t>
            </a:fld>
            <a:endParaRPr lang="zh-CN" altLang="en-US"/>
          </a:p>
        </p:txBody>
      </p:sp>
      <p:sp>
        <p:nvSpPr>
          <p:cNvPr id="5" name="文本框 5">
            <a:extLst>
              <a:ext uri="{FF2B5EF4-FFF2-40B4-BE49-F238E27FC236}">
                <a16:creationId xmlns:a16="http://schemas.microsoft.com/office/drawing/2014/main" id="{084FCB18-6666-4468-AED9-6CAD5EFC1AAB}"/>
              </a:ext>
            </a:extLst>
          </p:cNvPr>
          <p:cNvSpPr txBox="1">
            <a:spLocks noChangeArrowheads="1"/>
          </p:cNvSpPr>
          <p:nvPr/>
        </p:nvSpPr>
        <p:spPr bwMode="auto">
          <a:xfrm>
            <a:off x="1032671" y="2051405"/>
            <a:ext cx="10311215" cy="2343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1pPr>
            <a:lvl2pPr marL="742950" indent="-285750" defTabSz="685800">
              <a:spcBef>
                <a:spcPct val="20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2pPr>
            <a:lvl3pPr marL="1143000" indent="-228600"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4pPr>
            <a:lvl5pPr marL="20574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9pPr>
          </a:lstStyle>
          <a:p>
            <a:pPr algn="ctr">
              <a:buNone/>
            </a:pPr>
            <a:r>
              <a:rPr lang="zh-CN" altLang="en-US"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程序设计综合实践</a:t>
            </a: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hlinkClick r:id="rId4"/>
              </a:rPr>
              <a:t>zmk@tju.edu.cn</a:t>
            </a:r>
            <a:endPar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喻梅，于瑞国，王建荣，李雪威，赵满坤，应翔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二分查找</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5898987"/>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查词典问题、猜数字问题</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思路：在有序序列中进行折半查找，每次排除掉一半，在</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LogN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次内得到答案</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STL</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里的二分查找（默认升序序列）</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binary_search</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size,key</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返回</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bool</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值，是否找到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key</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lower_bound</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size,key</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返回第一个大于等于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key</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的地址</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upper_bound</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size,key</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返回第一个大于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key</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的地址</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降序序列，需要重载运算符</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FE685873-7E8A-47FC-BFA4-C07883B3F40E}"/>
              </a:ext>
            </a:extLst>
          </p:cNvPr>
          <p:cNvSpPr/>
          <p:nvPr/>
        </p:nvSpPr>
        <p:spPr>
          <a:xfrm>
            <a:off x="7715492" y="5871642"/>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6849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229C753A-D2C7-405C-AE90-50CA435C8453}"/>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二分查找</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696B26B6-6CF4-493B-8470-AF6FFF65EF12}"/>
              </a:ext>
            </a:extLst>
          </p:cNvPr>
          <p:cNvSpPr/>
          <p:nvPr/>
        </p:nvSpPr>
        <p:spPr>
          <a:xfrm>
            <a:off x="491122" y="799100"/>
            <a:ext cx="10558347"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两个序列，长度分别为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，且每个序列内部没有重复的两个数，求两个序列重复元素的个数。</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 &lt;= 1000000;</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暴力扫描：两个</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for</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O(N*M)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较大情况下</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TLE</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二分查找，复杂度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NLogN+MLogN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对</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长的序列排序，复杂度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NLogN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对</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长序列中的每一个元素，在</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长序列中进行二分查找，复杂度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O(M*</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LogN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32493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42595C78-D524-4F24-9A91-EDBD19A597F7}"/>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思考问题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C67682C1-D7DC-4C6A-AFC3-1E7884720DD8}"/>
              </a:ext>
            </a:extLst>
          </p:cNvPr>
          <p:cNvSpPr/>
          <p:nvPr/>
        </p:nvSpPr>
        <p:spPr>
          <a:xfrm>
            <a:off x="499434" y="1048481"/>
            <a:ext cx="10558347" cy="4420890"/>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你正在某商店买一个东西，需要杀价</a:t>
            </a:r>
            <a:endPar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lang="zh-CN" altLang="en-US" sz="2400" b="1" kern="100" dirty="0">
                <a:solidFill>
                  <a:schemeClr val="accent1">
                    <a:lumMod val="50000"/>
                  </a:schemeClr>
                </a:solidFill>
                <a:latin typeface="仿宋_GB2312"/>
                <a:ea typeface="等线" panose="02010600030101010101" pitchFamily="2" charset="-122"/>
                <a:cs typeface="Times New Roman" panose="02020603050405020304" pitchFamily="18" charset="0"/>
              </a:rPr>
              <a:t>老板心里有一个最低价（</a:t>
            </a:r>
            <a:r>
              <a:rPr lang="en-US" altLang="zh-CN" sz="2400" b="1" kern="100" dirty="0">
                <a:solidFill>
                  <a:schemeClr val="accent1">
                    <a:lumMod val="50000"/>
                  </a:schemeClr>
                </a:solidFill>
                <a:latin typeface="仿宋_GB2312"/>
                <a:ea typeface="等线" panose="02010600030101010101" pitchFamily="2" charset="-122"/>
                <a:cs typeface="Times New Roman" panose="02020603050405020304" pitchFamily="18" charset="0"/>
              </a:rPr>
              <a:t>x</a:t>
            </a:r>
            <a:r>
              <a:rPr lang="zh-CN" altLang="en-US" sz="2400" b="1" kern="100" dirty="0">
                <a:solidFill>
                  <a:schemeClr val="accent1">
                    <a:lumMod val="50000"/>
                  </a:schemeClr>
                </a:solidFill>
                <a:latin typeface="仿宋_GB2312"/>
                <a:ea typeface="等线" panose="02010600030101010101" pitchFamily="2" charset="-122"/>
                <a:cs typeface="Times New Roman" panose="02020603050405020304" pitchFamily="18" charset="0"/>
              </a:rPr>
              <a:t>可卖）</a:t>
            </a:r>
            <a:endParaRPr lang="en-US" altLang="zh-CN" sz="2400" b="1" kern="100" dirty="0">
              <a:solidFill>
                <a:schemeClr val="accent1">
                  <a:lumMod val="50000"/>
                </a:schemeClr>
              </a:solidFill>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你可以时空穿梭，可以多次杀价，每次给出一个价格可从老板那获得一个</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Yes</a:t>
            </a: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或者</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No</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lang="zh-CN" altLang="en-US" sz="2400" b="1" kern="100" noProof="0" dirty="0">
                <a:solidFill>
                  <a:schemeClr val="accent1">
                    <a:lumMod val="50000"/>
                  </a:schemeClr>
                </a:solidFill>
                <a:latin typeface="仿宋_GB2312"/>
                <a:ea typeface="等线" panose="02010600030101010101" pitchFamily="2" charset="-122"/>
                <a:cs typeface="Times New Roman" panose="02020603050405020304" pitchFamily="18" charset="0"/>
              </a:rPr>
              <a:t>问如何安排杀价策略，可用最少的穿梭次数得到最低价？</a:t>
            </a:r>
            <a:endPar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2086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二分答案</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单调性</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如果</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能够满足条件，那么所有的不小于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都能够满足条件（求最小的满足条件的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如果</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能够满足条件，那么所有不大于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的都能够满足条件（求最大的满足条件的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找到最小的（最大的）符合条件的值</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常见问题描述：求最大值里最小的、最小值里最大的</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方法：不断二分，验证</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mid</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值</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是否符合条件</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4241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CDFE664C-0101-437E-881F-A8AE8B45340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二分答案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序列变换</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5369928D-0461-45E5-84A3-D54B10CF26B2}"/>
              </a:ext>
            </a:extLst>
          </p:cNvPr>
          <p:cNvSpPr/>
          <p:nvPr/>
        </p:nvSpPr>
        <p:spPr>
          <a:xfrm>
            <a:off x="491122" y="799100"/>
            <a:ext cx="10558347"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给一个正整数序列</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，改变序列中的一些数变成序列</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，使得</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序列严格单调递增，代价为</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max{|Ai-Bi|}</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，让代价最小（让调整的最大值最小）</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单调性：</a:t>
            </a:r>
            <a:r>
              <a:rPr kumimoji="0" lang="zh-CN" altLang="en-US"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如果每个数调整的最大值为</a:t>
            </a:r>
            <a:r>
              <a:rPr kumimoji="0" lang="en-US" altLang="zh-CN"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，能够满足要求，那么可调整的数更大，则更能够满足要求。</a:t>
            </a:r>
            <a:endParaRPr kumimoji="0" lang="en-US" altLang="zh-CN"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判断当前值是否符合要求</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贪心策略：让前面的值尽可能小（给后面的值更大的调整空间，肯定可以包含最优解）</a:t>
            </a:r>
            <a:endParaRPr kumimoji="0" lang="en-US" altLang="zh-CN"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关键点：如何将最优化问题转换为判定问题</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02BE068E-804A-43A1-B6B5-15C133687BA2}"/>
              </a:ext>
            </a:extLst>
          </p:cNvPr>
          <p:cNvSpPr/>
          <p:nvPr/>
        </p:nvSpPr>
        <p:spPr>
          <a:xfrm>
            <a:off x="7871814" y="5614270"/>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928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19F266DD-9078-4A27-8FC4-764E82A6A523}"/>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二分答案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跳石头</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B01AC96F-CEC5-4AFE-BBCE-4BDD28C5C67C}"/>
              </a:ext>
            </a:extLst>
          </p:cNvPr>
          <p:cNvSpPr/>
          <p:nvPr/>
        </p:nvSpPr>
        <p:spPr>
          <a:xfrm>
            <a:off x="208489" y="1206423"/>
            <a:ext cx="11684480" cy="370030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一年一度的“跳石头”比赛又要开始了！ 这项比赛将在一条笔直的河道中进行，河道中分布着一些巨大岩石。组委会已经选择好了两块岩石作为比赛起点和终点。在起点和终点之间，有</a:t>
            </a:r>
            <a:r>
              <a:rPr kumimoji="0" lang="en-US" altLang="zh-CN"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N</a:t>
            </a:r>
            <a:r>
              <a:rPr kumimoji="0" lang="zh-CN" altLang="en-US"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块岩石（不含起点和终点的岩石）。在比赛过程中，选手们将从起点出发，每一步跳向相邻的岩石，直至到达终点。 为了提高比赛难度，组委会计划移走一些岩石，使得选手们在比赛过程中的最短跳跃距离尽可能长。由于预算限制，组委会</a:t>
            </a:r>
            <a:r>
              <a:rPr kumimoji="0" lang="zh-CN" altLang="en-US" sz="2000" b="1" i="0" u="none" strike="noStrike" kern="100" cap="none" spc="0" normalizeH="0" baseline="0" noProof="0" dirty="0">
                <a:ln>
                  <a:noFill/>
                </a:ln>
                <a:solidFill>
                  <a:srgbClr val="FF0000"/>
                </a:solidFill>
                <a:effectLst/>
                <a:uLnTx/>
                <a:uFillTx/>
                <a:latin typeface="+mn-ea"/>
                <a:cs typeface="Times New Roman" panose="02020603050405020304" pitchFamily="18" charset="0"/>
              </a:rPr>
              <a:t>至多从起点和终点之间移走</a:t>
            </a:r>
            <a:r>
              <a:rPr kumimoji="0" lang="en-US" altLang="zh-CN" sz="2000" b="1" i="0" u="none" strike="noStrike" kern="100" cap="none" spc="0" normalizeH="0" baseline="0" noProof="0" dirty="0">
                <a:ln>
                  <a:noFill/>
                </a:ln>
                <a:solidFill>
                  <a:srgbClr val="FF0000"/>
                </a:solidFill>
                <a:effectLst/>
                <a:uLnTx/>
                <a:uFillTx/>
                <a:latin typeface="+mn-ea"/>
                <a:cs typeface="Times New Roman" panose="02020603050405020304" pitchFamily="18" charset="0"/>
              </a:rPr>
              <a:t>M</a:t>
            </a:r>
            <a:r>
              <a:rPr kumimoji="0" lang="zh-CN" altLang="en-US" sz="2000" b="1" i="0" u="none" strike="noStrike" kern="100" cap="none" spc="0" normalizeH="0" baseline="0" noProof="0" dirty="0">
                <a:ln>
                  <a:noFill/>
                </a:ln>
                <a:solidFill>
                  <a:srgbClr val="FF0000"/>
                </a:solidFill>
                <a:effectLst/>
                <a:uLnTx/>
                <a:uFillTx/>
                <a:latin typeface="+mn-ea"/>
                <a:cs typeface="Times New Roman" panose="02020603050405020304" pitchFamily="18" charset="0"/>
              </a:rPr>
              <a:t>块岩石</a:t>
            </a:r>
            <a:r>
              <a:rPr kumimoji="0" lang="zh-CN" altLang="en-US"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（不能移走起点和终点的岩石），求最短跳跃距离的最大值。</a:t>
            </a:r>
            <a:endParaRPr kumimoji="0" lang="en-US" altLang="zh-CN" sz="2000" b="1" i="0" u="none" strike="noStrike" kern="100" cap="none" spc="0" normalizeH="0" baseline="0" noProof="0" dirty="0">
              <a:ln>
                <a:noFill/>
              </a:ln>
              <a:solidFill>
                <a:srgbClr val="3064A5"/>
              </a:solidFill>
              <a:effectLst/>
              <a:uLnTx/>
              <a:uFillTx/>
              <a:latin typeface="+mn-ea"/>
              <a:cs typeface="Times New Roman" panose="02020603050405020304" pitchFamily="18" charset="0"/>
            </a:endParaRPr>
          </a:p>
        </p:txBody>
      </p:sp>
      <p:sp>
        <p:nvSpPr>
          <p:cNvPr id="4" name="矩形 3">
            <a:extLst>
              <a:ext uri="{FF2B5EF4-FFF2-40B4-BE49-F238E27FC236}">
                <a16:creationId xmlns:a16="http://schemas.microsoft.com/office/drawing/2014/main" id="{A3B41975-B2E3-4147-B05B-D9B93D8CF2F8}"/>
              </a:ext>
            </a:extLst>
          </p:cNvPr>
          <p:cNvSpPr/>
          <p:nvPr/>
        </p:nvSpPr>
        <p:spPr>
          <a:xfrm>
            <a:off x="7871814" y="5614270"/>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7908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CDFE664C-0101-437E-881F-A8AE8B45340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二分的其他应用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5369928D-0461-45E5-84A3-D54B10CF26B2}"/>
              </a:ext>
            </a:extLst>
          </p:cNvPr>
          <p:cNvSpPr/>
          <p:nvPr/>
        </p:nvSpPr>
        <p:spPr>
          <a:xfrm>
            <a:off x="428978" y="972053"/>
            <a:ext cx="10558347" cy="3682226"/>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归并排序、快速排序</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数值计算中：矩阵快速幂、傅里叶变换、函数求解</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数据结构中：二叉树、平衡树、图论</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计算几何中：凸包、最近点对、三角剖分</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71919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三分答案</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2944332"/>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满足性质：左右两边单调</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先小后大</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先大后小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求最大值或最小值</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pic>
        <p:nvPicPr>
          <p:cNvPr id="1026" name="Picture 2" descr="https://img-blog.csdnimg.cn/img_convert/5fd524be6451eb9123b3ea4d1b597a0c.png">
            <a:extLst>
              <a:ext uri="{FF2B5EF4-FFF2-40B4-BE49-F238E27FC236}">
                <a16:creationId xmlns:a16="http://schemas.microsoft.com/office/drawing/2014/main" id="{AB09B778-D7FF-4137-94EA-1BE88BA0A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1216" y="643566"/>
            <a:ext cx="6153150" cy="36766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F4E4B941-323D-48E8-AFB1-70E10D40638C}"/>
              </a:ext>
            </a:extLst>
          </p:cNvPr>
          <p:cNvSpPr/>
          <p:nvPr/>
        </p:nvSpPr>
        <p:spPr>
          <a:xfrm>
            <a:off x="5453848" y="4636860"/>
            <a:ext cx="615315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若</a:t>
            </a:r>
            <a:r>
              <a:rPr kumimoji="0" lang="en-US" altLang="zh-CN" sz="2400" b="0" i="0" u="none" strike="noStrike" kern="1200" cap="none" spc="0" normalizeH="0" baseline="0" noProof="0" dirty="0" err="1">
                <a:ln>
                  <a:noFill/>
                </a:ln>
                <a:solidFill>
                  <a:srgbClr val="333333"/>
                </a:solidFill>
                <a:effectLst/>
                <a:uLnTx/>
                <a:uFillTx/>
                <a:latin typeface="-apple-system"/>
                <a:ea typeface="等线" panose="02010600030101010101" pitchFamily="2" charset="-122"/>
                <a:cs typeface="+mn-cs"/>
              </a:rPr>
              <a:t>lm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比</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rm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低（即</a:t>
            </a:r>
            <a:r>
              <a:rPr kumimoji="0" lang="en-US" altLang="zh-CN" sz="2400" b="0" i="0" u="none" strike="noStrike" kern="1200" cap="none" spc="0" normalizeH="0" baseline="0" noProof="0" dirty="0" err="1">
                <a:ln>
                  <a:noFill/>
                </a:ln>
                <a:solidFill>
                  <a:srgbClr val="333333"/>
                </a:solidFill>
                <a:effectLst/>
                <a:uLnTx/>
                <a:uFillTx/>
                <a:latin typeface="-apple-system"/>
                <a:ea typeface="等线" panose="02010600030101010101" pitchFamily="2" charset="-122"/>
                <a:cs typeface="+mn-cs"/>
              </a:rPr>
              <a:t>lm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对应的函数值 </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&lt; rm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函数值）则极小点（图中最低点）肯定在</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 left, rm ] </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，反之在</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 </a:t>
            </a:r>
            <a:r>
              <a:rPr kumimoji="0" lang="en-US" altLang="zh-CN" sz="2400" b="0" i="0" u="none" strike="noStrike" kern="1200" cap="none" spc="0" normalizeH="0" baseline="0" noProof="0" dirty="0" err="1">
                <a:ln>
                  <a:noFill/>
                </a:ln>
                <a:solidFill>
                  <a:srgbClr val="333333"/>
                </a:solidFill>
                <a:effectLst/>
                <a:uLnTx/>
                <a:uFillTx/>
                <a:latin typeface="-apple-system"/>
                <a:ea typeface="等线" panose="02010600030101010101" pitchFamily="2" charset="-122"/>
                <a:cs typeface="+mn-cs"/>
              </a:rPr>
              <a:t>lm</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 right ]</a:t>
            </a:r>
            <a:endParaRPr kumimoji="0" lang="zh-CN" altLang="en-US" sz="24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92418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42595C78-D524-4F24-9A91-EDBD19A597F7}"/>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思考问题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C67682C1-D7DC-4C6A-AFC3-1E7884720DD8}"/>
              </a:ext>
            </a:extLst>
          </p:cNvPr>
          <p:cNvSpPr/>
          <p:nvPr/>
        </p:nvSpPr>
        <p:spPr>
          <a:xfrm>
            <a:off x="499434" y="1048481"/>
            <a:ext cx="10558347" cy="1467005"/>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给一个</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10000</a:t>
            </a: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长的数组</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10000</a:t>
            </a: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次询问，每次询问给出</a:t>
            </a:r>
            <a:r>
              <a:rPr kumimoji="0" lang="en-US" altLang="zh-CN" sz="2400" b="1" i="0" u="none" strike="noStrike" kern="100" cap="none" spc="0" normalizeH="0" baseline="0" noProof="0" dirty="0" err="1">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i</a:t>
            </a: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j</a:t>
            </a: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，对每次询问，求</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a[</a:t>
            </a:r>
            <a:r>
              <a:rPr kumimoji="0" lang="en-US" altLang="zh-CN" sz="2400" b="1" i="0" u="none" strike="noStrike" kern="100" cap="none" spc="0" normalizeH="0" baseline="0" noProof="0" dirty="0" err="1">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……j]</a:t>
            </a:r>
            <a:r>
              <a:rPr kumimoji="0" lang="zh-CN" altLang="en-US" sz="2400" b="1" i="0" u="none" strike="noStrike" kern="100" cap="none" spc="0" normalizeH="0" baseline="0" noProof="0" dirty="0">
                <a:ln>
                  <a:noFill/>
                </a:ln>
                <a:solidFill>
                  <a:schemeClr val="accent1">
                    <a:lumMod val="50000"/>
                  </a:schemeClr>
                </a:solidFill>
                <a:effectLst/>
                <a:uLnTx/>
                <a:uFillTx/>
                <a:latin typeface="仿宋_GB2312"/>
                <a:ea typeface="等线" panose="02010600030101010101" pitchFamily="2" charset="-122"/>
                <a:cs typeface="Times New Roman" panose="02020603050405020304" pitchFamily="18" charset="0"/>
              </a:rPr>
              <a:t>区间的最小值（或最大值）。</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12564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2"/>
            <a:ext cx="11684480" cy="651653"/>
          </a:xfrm>
          <a:prstGeom prst="rect">
            <a:avLst/>
          </a:prstGeom>
          <a:noFill/>
        </p:spPr>
        <p:txBody>
          <a:bodyPr wrap="square" rtlCol="0">
            <a:spAutoFit/>
          </a:bodyPr>
          <a:lstStyle/>
          <a:p>
            <a:pPr>
              <a:lnSpc>
                <a:spcPct val="125000"/>
              </a:lnSpc>
              <a:spcAft>
                <a:spcPts val="1200"/>
              </a:spcAft>
            </a:pPr>
            <a:r>
              <a:rPr lang="zh-CN" altLang="en-US" sz="3200" b="1" dirty="0">
                <a:solidFill>
                  <a:schemeClr val="bg1"/>
                </a:solidFill>
                <a:latin typeface="微软雅黑" panose="020B0503020204020204" pitchFamily="34" charset="-122"/>
                <a:ea typeface="微软雅黑" panose="020B0503020204020204" pitchFamily="34" charset="-122"/>
              </a:rPr>
              <a:t>扩展：倍增与</a:t>
            </a:r>
            <a:r>
              <a:rPr lang="en-US" altLang="zh-CN" sz="3200" b="1" dirty="0">
                <a:solidFill>
                  <a:schemeClr val="bg1"/>
                </a:solidFill>
                <a:latin typeface="微软雅黑" panose="020B0503020204020204" pitchFamily="34" charset="-122"/>
                <a:ea typeface="微软雅黑" panose="020B0503020204020204" pitchFamily="34" charset="-122"/>
              </a:rPr>
              <a:t>ST</a:t>
            </a:r>
            <a:r>
              <a:rPr lang="zh-CN" altLang="en-US" sz="3200" b="1" dirty="0">
                <a:solidFill>
                  <a:schemeClr val="bg1"/>
                </a:solidFill>
                <a:latin typeface="微软雅黑" panose="020B0503020204020204" pitchFamily="34" charset="-122"/>
                <a:ea typeface="微软雅黑" panose="020B0503020204020204" pitchFamily="34" charset="-122"/>
              </a:rPr>
              <a:t>算法</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322729C-1179-4B4C-843D-272796EB0B0A}"/>
              </a:ext>
            </a:extLst>
          </p:cNvPr>
          <p:cNvSpPr/>
          <p:nvPr/>
        </p:nvSpPr>
        <p:spPr>
          <a:xfrm>
            <a:off x="1" y="781345"/>
            <a:ext cx="7291470" cy="7113422"/>
          </a:xfrm>
          <a:prstGeom prst="rect">
            <a:avLst/>
          </a:prstGeom>
        </p:spPr>
        <p:txBody>
          <a:bodyPr wrap="square">
            <a:spAutoFit/>
          </a:bodyPr>
          <a:lstStyle/>
          <a:p>
            <a:pPr marL="800080" lvl="1" indent="-342891"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区间最值问题</a:t>
            </a:r>
            <a:r>
              <a:rPr lang="en-US" altLang="zh-CN" sz="2400" b="1" kern="100" dirty="0">
                <a:solidFill>
                  <a:srgbClr val="014B88"/>
                </a:solidFill>
                <a:latin typeface="仿宋_GB2312"/>
                <a:cs typeface="Times New Roman" panose="02020603050405020304" pitchFamily="18" charset="0"/>
              </a:rPr>
              <a:t>(RMQ)</a:t>
            </a:r>
            <a:r>
              <a:rPr lang="zh-CN" altLang="en-US" sz="2400" b="1" kern="100" dirty="0">
                <a:solidFill>
                  <a:srgbClr val="014B88"/>
                </a:solidFill>
                <a:latin typeface="仿宋_GB2312"/>
                <a:cs typeface="Times New Roman" panose="02020603050405020304" pitchFamily="18" charset="0"/>
              </a:rPr>
              <a:t>：求一个数组某个区间的最大值或最小值</a:t>
            </a:r>
            <a:endParaRPr lang="en-US" altLang="zh-CN" sz="2400" b="1" kern="100" dirty="0">
              <a:solidFill>
                <a:srgbClr val="014B88"/>
              </a:solidFill>
              <a:latin typeface="仿宋_GB2312"/>
              <a:cs typeface="Times New Roman" panose="02020603050405020304" pitchFamily="18" charset="0"/>
            </a:endParaRPr>
          </a:p>
          <a:p>
            <a:pPr marL="800080" lvl="1" indent="-342891" algn="just">
              <a:lnSpc>
                <a:spcPct val="20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ST</a:t>
            </a:r>
            <a:r>
              <a:rPr lang="zh-CN" altLang="en-US" sz="2400" b="1" kern="100" dirty="0">
                <a:solidFill>
                  <a:srgbClr val="014B88"/>
                </a:solidFill>
                <a:latin typeface="仿宋_GB2312"/>
                <a:cs typeface="Times New Roman" panose="02020603050405020304" pitchFamily="18" charset="0"/>
              </a:rPr>
              <a:t>表思想</a:t>
            </a:r>
            <a:endParaRPr lang="en-US" altLang="zh-CN" sz="2400" b="1" kern="100" dirty="0">
              <a:solidFill>
                <a:srgbClr val="014B88"/>
              </a:solidFill>
              <a:latin typeface="仿宋_GB2312"/>
              <a:cs typeface="Times New Roman" panose="02020603050405020304" pitchFamily="18" charset="0"/>
            </a:endParaRPr>
          </a:p>
          <a:p>
            <a:pPr marL="1257280" lvl="2" indent="-342891"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把整个数列分为很多小区间，并提前计算出每个小区间的最值；</a:t>
            </a:r>
          </a:p>
          <a:p>
            <a:pPr marL="1257280" lvl="2" indent="-342891"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   对任意一个区间最值查询，找到覆盖它的两个小区间，用两个小区间的最值算出答案</a:t>
            </a:r>
            <a:endParaRPr lang="en-US" altLang="zh-CN" sz="2400" b="1" kern="100" dirty="0">
              <a:solidFill>
                <a:srgbClr val="014B88"/>
              </a:solidFill>
              <a:latin typeface="仿宋_GB2312"/>
              <a:cs typeface="Times New Roman" panose="02020603050405020304" pitchFamily="18" charset="0"/>
            </a:endParaRPr>
          </a:p>
          <a:p>
            <a:pPr marL="1257280" lvl="2" indent="-342891"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思考：除最值外，还能解决哪些问题？</a:t>
            </a:r>
          </a:p>
          <a:p>
            <a:pPr marL="1257280" lvl="2" indent="-342891"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a:p>
            <a:pPr lvl="2">
              <a:lnSpc>
                <a:spcPct val="150000"/>
              </a:lnSpc>
            </a:pPr>
            <a:r>
              <a:rPr lang="en-US" altLang="zh-CN" dirty="0"/>
              <a:t>   </a:t>
            </a:r>
            <a:endParaRPr lang="en-US" altLang="zh-CN" sz="2400" b="1" kern="100" dirty="0">
              <a:solidFill>
                <a:srgbClr val="014B88"/>
              </a:solidFill>
              <a:latin typeface="仿宋_GB2312"/>
              <a:cs typeface="Times New Roman" panose="02020603050405020304" pitchFamily="18" charset="0"/>
            </a:endParaRPr>
          </a:p>
        </p:txBody>
      </p:sp>
      <p:pic>
        <p:nvPicPr>
          <p:cNvPr id="4" name="图片 3">
            <a:extLst>
              <a:ext uri="{FF2B5EF4-FFF2-40B4-BE49-F238E27FC236}">
                <a16:creationId xmlns:a16="http://schemas.microsoft.com/office/drawing/2014/main" id="{CCAC2F58-6498-49D5-A997-15A858A89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3263" y="1454220"/>
            <a:ext cx="4988736" cy="3949560"/>
          </a:xfrm>
          <a:prstGeom prst="rect">
            <a:avLst/>
          </a:prstGeom>
        </p:spPr>
      </p:pic>
      <p:sp>
        <p:nvSpPr>
          <p:cNvPr id="5" name="TextBox 36">
            <a:extLst>
              <a:ext uri="{FF2B5EF4-FFF2-40B4-BE49-F238E27FC236}">
                <a16:creationId xmlns:a16="http://schemas.microsoft.com/office/drawing/2014/main" id="{779670B7-9E0E-41E6-94C4-4A1BA07B2E10}"/>
              </a:ext>
            </a:extLst>
          </p:cNvPr>
          <p:cNvSpPr txBox="1"/>
          <p:nvPr/>
        </p:nvSpPr>
        <p:spPr>
          <a:xfrm>
            <a:off x="334800" y="320400"/>
            <a:ext cx="11684480" cy="651653"/>
          </a:xfrm>
          <a:prstGeom prst="rect">
            <a:avLst/>
          </a:prstGeom>
          <a:noFill/>
        </p:spPr>
        <p:txBody>
          <a:bodyPr wrap="square" rtlCol="0">
            <a:spAutoFit/>
          </a:bodyPr>
          <a:lstStyle/>
          <a:p>
            <a:pPr marL="457200" lvl="0" indent="-457200">
              <a:lnSpc>
                <a:spcPct val="125000"/>
              </a:lnSpc>
              <a:spcAft>
                <a:spcPts val="1200"/>
              </a:spcAft>
              <a:buFont typeface="Wingdings" panose="05000000000000000000" pitchFamily="2" charset="2"/>
              <a:buChar char="n"/>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倍增和</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ST</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lang="en-US" altLang="zh-CN" sz="3200" b="1" dirty="0">
                <a:solidFill>
                  <a:srgbClr val="C00000"/>
                </a:solidFill>
                <a:latin typeface="微软雅黑" panose="020B0503020204020204" pitchFamily="34" charset="-122"/>
                <a:ea typeface="微软雅黑" panose="020B0503020204020204" pitchFamily="34" charset="-122"/>
              </a:rPr>
              <a:t>Sparse Table</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36518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270000" y="4369970"/>
            <a:ext cx="5652000" cy="933907"/>
            <a:chOff x="2363538" y="2160418"/>
            <a:chExt cx="5613852" cy="933907"/>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3538" y="2160418"/>
              <a:ext cx="715704" cy="933907"/>
            </a:xfrm>
            <a:prstGeom prst="rect">
              <a:avLst/>
            </a:prstGeom>
          </p:spPr>
        </p:pic>
        <p:cxnSp>
          <p:nvCxnSpPr>
            <p:cNvPr id="14" name="直接连接符 13"/>
            <p:cNvCxnSpPr/>
            <p:nvPr/>
          </p:nvCxnSpPr>
          <p:spPr>
            <a:xfrm>
              <a:off x="2721390" y="3079085"/>
              <a:ext cx="5256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70000" y="3106269"/>
            <a:ext cx="5649852" cy="933907"/>
            <a:chOff x="2363538" y="2160418"/>
            <a:chExt cx="5649852" cy="933907"/>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3538" y="2160418"/>
              <a:ext cx="715704" cy="933907"/>
            </a:xfrm>
            <a:prstGeom prst="rect">
              <a:avLst/>
            </a:prstGeom>
          </p:spPr>
        </p:pic>
        <p:cxnSp>
          <p:nvCxnSpPr>
            <p:cNvPr id="9" name="直接连接符 8"/>
            <p:cNvCxnSpPr/>
            <p:nvPr/>
          </p:nvCxnSpPr>
          <p:spPr>
            <a:xfrm>
              <a:off x="2721390" y="3079085"/>
              <a:ext cx="5292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3270000" y="1919238"/>
            <a:ext cx="5649852" cy="933907"/>
            <a:chOff x="2211138" y="2008018"/>
            <a:chExt cx="5649852" cy="933907"/>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1138" y="2008018"/>
              <a:ext cx="715704" cy="933907"/>
            </a:xfrm>
            <a:prstGeom prst="rect">
              <a:avLst/>
            </a:prstGeom>
          </p:spPr>
        </p:pic>
        <p:cxnSp>
          <p:nvCxnSpPr>
            <p:cNvPr id="6" name="直接连接符 5"/>
            <p:cNvCxnSpPr/>
            <p:nvPr/>
          </p:nvCxnSpPr>
          <p:spPr>
            <a:xfrm>
              <a:off x="2568990" y="2926685"/>
              <a:ext cx="5292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sp>
        <p:nvSpPr>
          <p:cNvPr id="5" name="内容占位符 2"/>
          <p:cNvSpPr txBox="1"/>
          <p:nvPr/>
        </p:nvSpPr>
        <p:spPr>
          <a:xfrm>
            <a:off x="3306000" y="2880723"/>
            <a:ext cx="1002601" cy="12806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5365081" y="636022"/>
            <a:ext cx="175001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目  录</a:t>
            </a:r>
          </a:p>
        </p:txBody>
      </p:sp>
      <p:sp>
        <p:nvSpPr>
          <p:cNvPr id="15" name="内容占位符 2"/>
          <p:cNvSpPr txBox="1"/>
          <p:nvPr/>
        </p:nvSpPr>
        <p:spPr>
          <a:xfrm>
            <a:off x="3346129" y="1343908"/>
            <a:ext cx="739863" cy="1023029"/>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en-US" altLang="zh-CN"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内容占位符 2"/>
          <p:cNvSpPr txBox="1"/>
          <p:nvPr/>
        </p:nvSpPr>
        <p:spPr>
          <a:xfrm>
            <a:off x="3298576" y="4115199"/>
            <a:ext cx="948479" cy="128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4232180" y="2050226"/>
            <a:ext cx="5009022" cy="646331"/>
          </a:xfrm>
          <a:prstGeom prst="rect">
            <a:avLst/>
          </a:prstGeom>
        </p:spPr>
        <p:txBody>
          <a:bodyPr wrap="non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srgbClr val="002060"/>
                </a:solidFill>
                <a:latin typeface="微软雅黑" panose="020B0503020204020204" pitchFamily="34" charset="-122"/>
                <a:ea typeface="微软雅黑" panose="020B0503020204020204" pitchFamily="34" charset="-122"/>
              </a:rPr>
              <a:t>线性结构</a:t>
            </a:r>
          </a:p>
        </p:txBody>
      </p:sp>
      <p:sp>
        <p:nvSpPr>
          <p:cNvPr id="17" name="矩形 16"/>
          <p:cNvSpPr/>
          <p:nvPr/>
        </p:nvSpPr>
        <p:spPr>
          <a:xfrm>
            <a:off x="4247055" y="3332151"/>
            <a:ext cx="6002124" cy="584776"/>
          </a:xfrm>
          <a:prstGeom prst="rect">
            <a:avLst/>
          </a:prstGeom>
        </p:spPr>
        <p:txBody>
          <a:bodyPr wrap="non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树形结构</a:t>
            </a:r>
          </a:p>
        </p:txBody>
      </p:sp>
      <p:sp>
        <p:nvSpPr>
          <p:cNvPr id="18" name="矩形 17"/>
          <p:cNvSpPr/>
          <p:nvPr/>
        </p:nvSpPr>
        <p:spPr>
          <a:xfrm>
            <a:off x="4277900" y="4522603"/>
            <a:ext cx="6107629" cy="584775"/>
          </a:xfrm>
          <a:prstGeom prst="rect">
            <a:avLst/>
          </a:prstGeom>
        </p:spPr>
        <p:txBody>
          <a:bodyPr wrap="square"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srgbClr val="002060"/>
                </a:solidFill>
                <a:latin typeface="微软雅黑" panose="020B0503020204020204" pitchFamily="34" charset="-122"/>
                <a:ea typeface="微软雅黑" panose="020B0503020204020204" pitchFamily="34" charset="-122"/>
              </a:rPr>
              <a:t>图结构</a:t>
            </a:r>
            <a:endPar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924801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42595C78-D524-4F24-9A91-EDBD19A597F7}"/>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思考问题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C67682C1-D7DC-4C6A-AFC3-1E7884720DD8}"/>
              </a:ext>
            </a:extLst>
          </p:cNvPr>
          <p:cNvSpPr/>
          <p:nvPr/>
        </p:nvSpPr>
        <p:spPr>
          <a:xfrm>
            <a:off x="499434" y="1048481"/>
            <a:ext cx="10558347" cy="1467005"/>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lang="zh-CN" altLang="en-US" sz="2400" b="1" kern="100" dirty="0">
                <a:solidFill>
                  <a:schemeClr val="accent1">
                    <a:lumMod val="50000"/>
                  </a:schemeClr>
                </a:solidFill>
                <a:latin typeface="仿宋_GB2312"/>
                <a:ea typeface="等线" panose="02010600030101010101" pitchFamily="2" charset="-122"/>
                <a:cs typeface="Times New Roman" panose="02020603050405020304" pitchFamily="18" charset="0"/>
              </a:rPr>
              <a:t>向系统内不断输入一个整数，求每次输入一个整数时，所有已输入数据的最大值。</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70742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什么是数据结构？</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6877701" cy="6636881"/>
          </a:xfrm>
          <a:prstGeom prst="rect">
            <a:avLst/>
          </a:prstGeom>
        </p:spPr>
        <p:txBody>
          <a:bodyPr wrap="square">
            <a:spAutoFit/>
          </a:bodyPr>
          <a:lstStyle/>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数据结构是计算机存储、组织数据的方式。</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数据结构是指相互之间存在着一种或者多种关系的数据元素的集合以及该集合中数据元素之间的关系。</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数据的逻辑结构包括集合、线性结构、树状结构和图形结构。</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数据的物理结构包括顺序结构和链式结构。</a:t>
            </a:r>
          </a:p>
          <a:p>
            <a:pPr marL="800100" lvl="1" indent="-342900"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a:p>
            <a:pPr lvl="1" algn="just">
              <a:lnSpc>
                <a:spcPct val="200000"/>
              </a:lnSpc>
            </a:pPr>
            <a:endParaRPr lang="en-US" altLang="zh-CN" sz="2400" b="1" kern="100" dirty="0">
              <a:solidFill>
                <a:srgbClr val="014B88"/>
              </a:solidFill>
              <a:latin typeface="仿宋_GB2312"/>
              <a:cs typeface="Times New Roman" panose="02020603050405020304" pitchFamily="18" charset="0"/>
            </a:endParaRPr>
          </a:p>
        </p:txBody>
      </p:sp>
      <p:pic>
        <p:nvPicPr>
          <p:cNvPr id="4" name="图片 3">
            <a:extLst>
              <a:ext uri="{FF2B5EF4-FFF2-40B4-BE49-F238E27FC236}">
                <a16:creationId xmlns:a16="http://schemas.microsoft.com/office/drawing/2014/main" id="{B5202888-068A-4978-A916-16FD6FD23047}"/>
              </a:ext>
            </a:extLst>
          </p:cNvPr>
          <p:cNvPicPr>
            <a:picLocks noChangeAspect="1"/>
          </p:cNvPicPr>
          <p:nvPr/>
        </p:nvPicPr>
        <p:blipFill rotWithShape="1">
          <a:blip r:embed="rId3"/>
          <a:srcRect l="13475" t="1819" r="14526" b="3515"/>
          <a:stretch/>
        </p:blipFill>
        <p:spPr>
          <a:xfrm>
            <a:off x="7882814" y="678002"/>
            <a:ext cx="3635354" cy="4779818"/>
          </a:xfrm>
          <a:prstGeom prst="rect">
            <a:avLst/>
          </a:prstGeom>
        </p:spPr>
      </p:pic>
      <p:sp>
        <p:nvSpPr>
          <p:cNvPr id="5" name="矩形 4">
            <a:extLst>
              <a:ext uri="{FF2B5EF4-FFF2-40B4-BE49-F238E27FC236}">
                <a16:creationId xmlns:a16="http://schemas.microsoft.com/office/drawing/2014/main" id="{8A6A4860-49BB-49BB-BFAA-A9B9E572E58D}"/>
              </a:ext>
            </a:extLst>
          </p:cNvPr>
          <p:cNvSpPr/>
          <p:nvPr/>
        </p:nvSpPr>
        <p:spPr>
          <a:xfrm>
            <a:off x="8099543" y="5680101"/>
            <a:ext cx="3015497" cy="923330"/>
          </a:xfrm>
          <a:prstGeom prst="rect">
            <a:avLst/>
          </a:prstGeom>
        </p:spPr>
        <p:txBody>
          <a:bodyPr wrap="square">
            <a:spAutoFit/>
          </a:bodyPr>
          <a:lstStyle/>
          <a:p>
            <a:r>
              <a:rPr lang="en-US" altLang="zh-CN" dirty="0">
                <a:solidFill>
                  <a:srgbClr val="323E4B"/>
                </a:solidFill>
                <a:latin typeface="微软雅黑" panose="020B0503020204020204" pitchFamily="34" charset="-122"/>
                <a:ea typeface="微软雅黑" panose="020B0503020204020204" pitchFamily="34" charset="-122"/>
              </a:rPr>
              <a:t>ISBN</a:t>
            </a:r>
            <a:r>
              <a:rPr lang="zh-CN" altLang="en-US" dirty="0">
                <a:solidFill>
                  <a:srgbClr val="323E4B"/>
                </a:solidFill>
                <a:latin typeface="微软雅黑" panose="020B0503020204020204" pitchFamily="34" charset="-122"/>
                <a:ea typeface="微软雅黑" panose="020B0503020204020204" pitchFamily="34" charset="-122"/>
              </a:rPr>
              <a:t>：</a:t>
            </a:r>
            <a:r>
              <a:rPr lang="en-US" altLang="zh-CN" dirty="0">
                <a:solidFill>
                  <a:srgbClr val="323E4B"/>
                </a:solidFill>
                <a:latin typeface="微软雅黑" panose="020B0503020204020204" pitchFamily="34" charset="-122"/>
                <a:ea typeface="微软雅黑" panose="020B0503020204020204" pitchFamily="34" charset="-122"/>
              </a:rPr>
              <a:t>9787040615098</a:t>
            </a:r>
          </a:p>
          <a:p>
            <a:r>
              <a:rPr lang="zh-CN" altLang="en-US" dirty="0">
                <a:solidFill>
                  <a:srgbClr val="323E4B"/>
                </a:solidFill>
                <a:latin typeface="微软雅黑" panose="020B0503020204020204" pitchFamily="34" charset="-122"/>
                <a:ea typeface="微软雅黑" panose="020B0503020204020204" pitchFamily="34" charset="-122"/>
              </a:rPr>
              <a:t>出版年月：</a:t>
            </a:r>
            <a:r>
              <a:rPr lang="en-US" altLang="zh-CN" dirty="0">
                <a:solidFill>
                  <a:srgbClr val="323E4B"/>
                </a:solidFill>
                <a:latin typeface="微软雅黑" panose="020B0503020204020204" pitchFamily="34" charset="-122"/>
                <a:ea typeface="微软雅黑" panose="020B0503020204020204" pitchFamily="34" charset="-122"/>
              </a:rPr>
              <a:t>2024-07</a:t>
            </a:r>
          </a:p>
          <a:p>
            <a:r>
              <a:rPr lang="zh-CN" altLang="en-US" dirty="0">
                <a:solidFill>
                  <a:srgbClr val="323E4B"/>
                </a:solidFill>
                <a:latin typeface="微软雅黑" panose="020B0503020204020204" pitchFamily="34" charset="-122"/>
                <a:ea typeface="微软雅黑" panose="020B0503020204020204" pitchFamily="34" charset="-122"/>
              </a:rPr>
              <a:t>出版社：高等教育出版社</a:t>
            </a:r>
            <a:endParaRPr lang="zh-CN" altLang="en-US" b="0" i="0" dirty="0">
              <a:solidFill>
                <a:srgbClr val="323E4B"/>
              </a:solidFill>
              <a:effectLst/>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E02A480A-93F6-483D-BF2A-AE192DCD8567}"/>
              </a:ext>
            </a:extLst>
          </p:cNvPr>
          <p:cNvPicPr>
            <a:picLocks noChangeAspect="1"/>
          </p:cNvPicPr>
          <p:nvPr/>
        </p:nvPicPr>
        <p:blipFill rotWithShape="1">
          <a:blip r:embed="rId4"/>
          <a:srcRect l="15877" t="4456" r="10291" b="3268"/>
          <a:stretch/>
        </p:blipFill>
        <p:spPr>
          <a:xfrm>
            <a:off x="8184765" y="1345922"/>
            <a:ext cx="3333403" cy="4166155"/>
          </a:xfrm>
          <a:prstGeom prst="rect">
            <a:avLst/>
          </a:prstGeom>
        </p:spPr>
      </p:pic>
    </p:spTree>
    <p:extLst>
      <p:ext uri="{BB962C8B-B14F-4D97-AF65-F5344CB8AC3E}">
        <p14:creationId xmlns:p14="http://schemas.microsoft.com/office/powerpoint/2010/main" val="278689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线性表</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10558347" cy="8637429"/>
          </a:xfrm>
          <a:prstGeom prst="rect">
            <a:avLst/>
          </a:prstGeom>
        </p:spPr>
        <p:txBody>
          <a:bodyPr wrap="square">
            <a:spAutoFit/>
          </a:bodyPr>
          <a:lstStyle/>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集合中一定存在唯一的一个“第一个元素”</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集合中一定存在唯一的一个“最后元素”</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除最后一个元素之外，其他元素均有唯一的后继元素</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除第一个元素之外，其他元素均有唯一的前驱元素</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常见：</a:t>
            </a:r>
            <a:r>
              <a:rPr lang="zh-CN" altLang="en-US" sz="2400" b="1" kern="100" dirty="0">
                <a:solidFill>
                  <a:srgbClr val="FF0000"/>
                </a:solidFill>
                <a:latin typeface="仿宋_GB2312"/>
                <a:cs typeface="Times New Roman" panose="02020603050405020304" pitchFamily="18" charset="0"/>
              </a:rPr>
              <a:t>顺序表</a:t>
            </a:r>
            <a:r>
              <a:rPr lang="zh-CN" altLang="en-US" sz="2400" b="1" kern="100" dirty="0">
                <a:solidFill>
                  <a:srgbClr val="014B88"/>
                </a:solidFill>
                <a:latin typeface="仿宋_GB2312"/>
                <a:cs typeface="Times New Roman" panose="02020603050405020304" pitchFamily="18" charset="0"/>
              </a:rPr>
              <a:t>和</a:t>
            </a:r>
            <a:r>
              <a:rPr lang="zh-CN" altLang="en-US" sz="2400" b="1" kern="100" dirty="0">
                <a:solidFill>
                  <a:srgbClr val="FF0000"/>
                </a:solidFill>
                <a:latin typeface="仿宋_GB2312"/>
                <a:cs typeface="Times New Roman" panose="02020603050405020304" pitchFamily="18" charset="0"/>
              </a:rPr>
              <a:t>链表</a:t>
            </a:r>
            <a:endParaRPr lang="en-US" altLang="zh-CN" sz="2400" b="1" kern="100" dirty="0">
              <a:solidFill>
                <a:srgbClr val="FF0000"/>
              </a:solidFill>
              <a:latin typeface="仿宋_GB2312"/>
              <a:cs typeface="Times New Roman" panose="02020603050405020304" pitchFamily="18" charset="0"/>
            </a:endParaRPr>
          </a:p>
          <a:p>
            <a:pPr marL="1257300" lvl="2"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顺序表：</a:t>
            </a:r>
            <a:r>
              <a:rPr lang="zh-CN" altLang="en-US" sz="2000" b="1" kern="100" dirty="0">
                <a:solidFill>
                  <a:srgbClr val="014B88"/>
                </a:solidFill>
                <a:latin typeface="仿宋_GB2312"/>
                <a:cs typeface="Times New Roman" panose="02020603050405020304" pitchFamily="18" charset="0"/>
              </a:rPr>
              <a:t>用一段物理地址连续的存储单元依次存储数据元素的线性结构</a:t>
            </a:r>
            <a:endParaRPr lang="en-US" altLang="zh-CN" sz="2000" b="1" kern="100" dirty="0">
              <a:solidFill>
                <a:srgbClr val="014B88"/>
              </a:solidFill>
              <a:latin typeface="仿宋_GB2312"/>
              <a:cs typeface="Times New Roman" panose="02020603050405020304" pitchFamily="18" charset="0"/>
            </a:endParaRPr>
          </a:p>
          <a:p>
            <a:pPr marL="1257300" lvl="2"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链表：</a:t>
            </a:r>
            <a:r>
              <a:rPr lang="zh-CN" altLang="en-US" sz="2000" b="1" kern="100" dirty="0">
                <a:solidFill>
                  <a:srgbClr val="014B88"/>
                </a:solidFill>
                <a:latin typeface="仿宋_GB2312"/>
                <a:cs typeface="Times New Roman" panose="02020603050405020304" pitchFamily="18" charset="0"/>
              </a:rPr>
              <a:t>一种物理存储结构上非连续</a:t>
            </a:r>
            <a:r>
              <a:rPr lang="en-US" altLang="zh-CN" sz="2000" b="1" kern="100" dirty="0">
                <a:solidFill>
                  <a:srgbClr val="014B88"/>
                </a:solidFill>
                <a:latin typeface="仿宋_GB2312"/>
                <a:cs typeface="Times New Roman" panose="02020603050405020304" pitchFamily="18" charset="0"/>
              </a:rPr>
              <a:t>,</a:t>
            </a:r>
            <a:r>
              <a:rPr lang="zh-CN" altLang="en-US" sz="2000" b="1" kern="100" dirty="0">
                <a:solidFill>
                  <a:srgbClr val="014B88"/>
                </a:solidFill>
                <a:latin typeface="仿宋_GB2312"/>
                <a:cs typeface="Times New Roman" panose="02020603050405020304" pitchFamily="18" charset="0"/>
              </a:rPr>
              <a:t>非顺序的存储结构</a:t>
            </a:r>
            <a:r>
              <a:rPr lang="en-US" altLang="zh-CN" sz="2000" b="1" kern="100" dirty="0">
                <a:solidFill>
                  <a:srgbClr val="014B88"/>
                </a:solidFill>
                <a:latin typeface="仿宋_GB2312"/>
                <a:cs typeface="Times New Roman" panose="02020603050405020304" pitchFamily="18" charset="0"/>
              </a:rPr>
              <a:t>,</a:t>
            </a:r>
            <a:r>
              <a:rPr lang="zh-CN" altLang="en-US" sz="2000" b="1" kern="100" dirty="0">
                <a:solidFill>
                  <a:srgbClr val="014B88"/>
                </a:solidFill>
                <a:latin typeface="仿宋_GB2312"/>
                <a:cs typeface="Times New Roman" panose="02020603050405020304" pitchFamily="18" charset="0"/>
              </a:rPr>
              <a:t>数据元素的逻辑顺序是通过链表中的指针链接次序实现的</a:t>
            </a:r>
          </a:p>
          <a:p>
            <a:br>
              <a:rPr lang="zh-CN" altLang="en-US" dirty="0"/>
            </a:b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zh-CN" altLang="en-US"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a:p>
            <a:pPr lvl="1" algn="just">
              <a:lnSpc>
                <a:spcPct val="200000"/>
              </a:lnSpc>
            </a:pPr>
            <a:endParaRPr lang="en-US" altLang="zh-CN" sz="2400" b="1" kern="100" dirty="0">
              <a:solidFill>
                <a:srgbClr val="014B88"/>
              </a:solidFill>
              <a:latin typeface="仿宋_GB2312"/>
              <a:cs typeface="Times New Roman" panose="02020603050405020304" pitchFamily="18" charset="0"/>
            </a:endParaRPr>
          </a:p>
        </p:txBody>
      </p:sp>
    </p:spTree>
    <p:extLst>
      <p:ext uri="{BB962C8B-B14F-4D97-AF65-F5344CB8AC3E}">
        <p14:creationId xmlns:p14="http://schemas.microsoft.com/office/powerpoint/2010/main" val="3722060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链表</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322729C-1179-4B4C-843D-272796EB0B0A}"/>
              </a:ext>
            </a:extLst>
          </p:cNvPr>
          <p:cNvSpPr/>
          <p:nvPr/>
        </p:nvSpPr>
        <p:spPr>
          <a:xfrm>
            <a:off x="697184" y="3019159"/>
            <a:ext cx="10558347" cy="6452216"/>
          </a:xfrm>
          <a:prstGeom prst="rect">
            <a:avLst/>
          </a:prstGeom>
        </p:spPr>
        <p:txBody>
          <a:bodyPr wrap="square">
            <a:spAutoFit/>
          </a:bodyPr>
          <a:lstStyle/>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头指针：指向第一个节点的指针</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前驱节点、后继节点、尾节点</a:t>
            </a: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链表的遍历</a:t>
            </a:r>
            <a:endParaRPr lang="en-US" altLang="zh-CN" sz="2400" b="1" kern="100" dirty="0">
              <a:solidFill>
                <a:srgbClr val="014B88"/>
              </a:solidFill>
              <a:latin typeface="仿宋_GB2312"/>
              <a:cs typeface="Times New Roman" panose="02020603050405020304" pitchFamily="18" charset="0"/>
            </a:endParaRPr>
          </a:p>
          <a:p>
            <a:pPr marL="800100" lvl="1" indent="-342900">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链表插入和删除</a:t>
            </a:r>
            <a:endParaRPr lang="en-US" altLang="zh-CN" sz="2400" b="1" kern="100" dirty="0">
              <a:solidFill>
                <a:srgbClr val="014B88"/>
              </a:solidFill>
              <a:latin typeface="仿宋_GB2312"/>
              <a:cs typeface="Times New Roman" panose="02020603050405020304" pitchFamily="18" charset="0"/>
            </a:endParaRPr>
          </a:p>
          <a:p>
            <a:pPr marL="1257300" lvl="2" indent="-342900">
              <a:lnSpc>
                <a:spcPct val="200000"/>
              </a:lnSpc>
              <a:buFont typeface="Wingdings" panose="05000000000000000000" pitchFamily="2" charset="2"/>
              <a:buChar char="l"/>
            </a:pPr>
            <a:r>
              <a:rPr lang="zh-CN" altLang="en-US" b="1" kern="100" dirty="0">
                <a:solidFill>
                  <a:srgbClr val="014B88"/>
                </a:solidFill>
                <a:latin typeface="仿宋_GB2312"/>
                <a:cs typeface="Times New Roman" panose="02020603050405020304" pitchFamily="18" charset="0"/>
              </a:rPr>
              <a:t>与顺序表的区别？</a:t>
            </a:r>
            <a:br>
              <a:rPr lang="zh-CN" altLang="en-US" dirty="0"/>
            </a:b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zh-CN" altLang="en-US"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a:p>
            <a:pPr lvl="1" algn="just">
              <a:lnSpc>
                <a:spcPct val="200000"/>
              </a:lnSpc>
            </a:pPr>
            <a:endParaRPr lang="en-US" altLang="zh-CN" sz="2400" b="1" kern="100" dirty="0">
              <a:solidFill>
                <a:srgbClr val="014B88"/>
              </a:solidFill>
              <a:latin typeface="仿宋_GB2312"/>
              <a:cs typeface="Times New Roman" panose="02020603050405020304" pitchFamily="18" charset="0"/>
            </a:endParaRPr>
          </a:p>
        </p:txBody>
      </p:sp>
      <p:pic>
        <p:nvPicPr>
          <p:cNvPr id="4" name="图片 3">
            <a:extLst>
              <a:ext uri="{FF2B5EF4-FFF2-40B4-BE49-F238E27FC236}">
                <a16:creationId xmlns:a16="http://schemas.microsoft.com/office/drawing/2014/main" id="{CAE3D35B-0585-4661-B600-D42D9ED562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8654" y="889732"/>
            <a:ext cx="6246254" cy="1936823"/>
          </a:xfrm>
          <a:prstGeom prst="rect">
            <a:avLst/>
          </a:prstGeom>
        </p:spPr>
      </p:pic>
    </p:spTree>
    <p:extLst>
      <p:ext uri="{BB962C8B-B14F-4D97-AF65-F5344CB8AC3E}">
        <p14:creationId xmlns:p14="http://schemas.microsoft.com/office/powerpoint/2010/main" val="3021473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栈（</a:t>
            </a:r>
            <a:r>
              <a:rPr lang="en-US" altLang="zh-CN" sz="3200" b="1" dirty="0">
                <a:solidFill>
                  <a:srgbClr val="C00000"/>
                </a:solidFill>
                <a:latin typeface="微软雅黑" panose="020B0503020204020204" pitchFamily="34" charset="-122"/>
                <a:ea typeface="微软雅黑" panose="020B0503020204020204" pitchFamily="34" charset="-122"/>
              </a:rPr>
              <a:t>Stack</a:t>
            </a:r>
            <a:r>
              <a:rPr lang="zh-CN" altLang="en-US" sz="3200" b="1" dirty="0">
                <a:solidFill>
                  <a:srgbClr val="C00000"/>
                </a:solidFill>
                <a:latin typeface="微软雅黑" panose="020B0503020204020204" pitchFamily="34" charset="-122"/>
                <a:ea typeface="微软雅黑" panose="020B0503020204020204" pitchFamily="34" charset="-122"/>
              </a:rPr>
              <a:t>）</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322729C-1179-4B4C-843D-272796EB0B0A}"/>
              </a:ext>
            </a:extLst>
          </p:cNvPr>
          <p:cNvSpPr/>
          <p:nvPr/>
        </p:nvSpPr>
        <p:spPr>
          <a:xfrm>
            <a:off x="504793" y="823946"/>
            <a:ext cx="5701078" cy="8844857"/>
          </a:xfrm>
          <a:prstGeom prst="rect">
            <a:avLst/>
          </a:prstGeom>
        </p:spPr>
        <p:txBody>
          <a:bodyPr wrap="square">
            <a:spAutoFit/>
          </a:bodyPr>
          <a:lstStyle/>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定义</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是限定仅在表头进行插入或删除操作的线性表。</a:t>
            </a: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允许插入和删除的一端称为栈顶</a:t>
            </a:r>
            <a:r>
              <a:rPr lang="en-US" altLang="zh-CN" sz="2400" b="1" kern="100" dirty="0">
                <a:solidFill>
                  <a:srgbClr val="014B88"/>
                </a:solidFill>
                <a:latin typeface="仿宋_GB2312"/>
                <a:cs typeface="Times New Roman" panose="02020603050405020304" pitchFamily="18" charset="0"/>
              </a:rPr>
              <a:t>(top)</a:t>
            </a:r>
            <a:r>
              <a:rPr lang="zh-CN" altLang="en-US" sz="2400" b="1" kern="100" dirty="0">
                <a:solidFill>
                  <a:srgbClr val="014B88"/>
                </a:solidFill>
                <a:latin typeface="仿宋_GB2312"/>
                <a:cs typeface="Times New Roman" panose="02020603050405020304" pitchFamily="18" charset="0"/>
              </a:rPr>
              <a:t>，另一端称为栈底</a:t>
            </a:r>
            <a:r>
              <a:rPr lang="en-US" altLang="zh-CN" sz="2400" b="1" kern="100" dirty="0">
                <a:solidFill>
                  <a:srgbClr val="014B88"/>
                </a:solidFill>
                <a:latin typeface="仿宋_GB2312"/>
                <a:cs typeface="Times New Roman" panose="02020603050405020304" pitchFamily="18" charset="0"/>
              </a:rPr>
              <a:t>(bottom)</a:t>
            </a:r>
          </a:p>
          <a:p>
            <a:pPr marL="800100" lvl="1" indent="-342900">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特点：后进先出 </a:t>
            </a:r>
            <a:r>
              <a:rPr lang="en-US" altLang="zh-CN" sz="2400" b="1" kern="100" dirty="0">
                <a:solidFill>
                  <a:srgbClr val="014B88"/>
                </a:solidFill>
                <a:latin typeface="仿宋_GB2312"/>
                <a:cs typeface="Times New Roman" panose="02020603050405020304" pitchFamily="18" charset="0"/>
              </a:rPr>
              <a:t>(LIFO)</a:t>
            </a:r>
            <a:r>
              <a:rPr lang="zh-CN" altLang="en-US" sz="2400" b="1" kern="100" dirty="0">
                <a:solidFill>
                  <a:srgbClr val="014B88"/>
                </a:solidFill>
                <a:latin typeface="仿宋_GB2312"/>
                <a:cs typeface="Times New Roman" panose="02020603050405020304" pitchFamily="18" charset="0"/>
              </a:rPr>
              <a:t>，元素个数对出栈时间没有影响</a:t>
            </a:r>
            <a:endParaRPr lang="en-US" altLang="zh-CN" sz="2400" b="1" kern="100" dirty="0">
              <a:solidFill>
                <a:srgbClr val="014B88"/>
              </a:solidFill>
              <a:latin typeface="仿宋_GB2312"/>
              <a:cs typeface="Times New Roman" panose="02020603050405020304" pitchFamily="18" charset="0"/>
            </a:endParaRPr>
          </a:p>
          <a:p>
            <a:pPr marL="800100" lvl="1" indent="-342900">
              <a:lnSpc>
                <a:spcPct val="200000"/>
              </a:lnSpc>
              <a:buFont typeface="Wingdings" panose="05000000000000000000" pitchFamily="2" charset="2"/>
              <a:buChar char="l"/>
            </a:pPr>
            <a:r>
              <a:rPr lang="zh-CN" altLang="en-US" sz="2400" b="1" kern="100" dirty="0">
                <a:solidFill>
                  <a:srgbClr val="014B88"/>
                </a:solidFill>
                <a:cs typeface="Times New Roman" panose="02020603050405020304" pitchFamily="18" charset="0"/>
              </a:rPr>
              <a:t>主要操作：进栈、出栈、取栈顶、置空栈、判栈空否、判栈满否</a:t>
            </a:r>
            <a:br>
              <a:rPr lang="zh-CN" altLang="en-US" dirty="0"/>
            </a:b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zh-CN" altLang="en-US"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a:p>
            <a:pPr lvl="1" algn="just">
              <a:lnSpc>
                <a:spcPct val="200000"/>
              </a:lnSpc>
            </a:pPr>
            <a:endParaRPr lang="en-US" altLang="zh-CN" sz="2400" b="1" kern="100" dirty="0">
              <a:solidFill>
                <a:srgbClr val="014B88"/>
              </a:solidFill>
              <a:latin typeface="仿宋_GB2312"/>
              <a:cs typeface="Times New Roman" panose="02020603050405020304" pitchFamily="18" charset="0"/>
            </a:endParaRPr>
          </a:p>
        </p:txBody>
      </p:sp>
      <p:sp>
        <p:nvSpPr>
          <p:cNvPr id="6" name="Rectangle 5">
            <a:extLst>
              <a:ext uri="{FF2B5EF4-FFF2-40B4-BE49-F238E27FC236}">
                <a16:creationId xmlns:a16="http://schemas.microsoft.com/office/drawing/2014/main" id="{C348ED34-6ED0-4B06-ACD2-32CA6FE2D29B}"/>
              </a:ext>
            </a:extLst>
          </p:cNvPr>
          <p:cNvSpPr>
            <a:spLocks noChangeArrowheads="1"/>
          </p:cNvSpPr>
          <p:nvPr/>
        </p:nvSpPr>
        <p:spPr bwMode="auto">
          <a:xfrm>
            <a:off x="8623480" y="2885940"/>
            <a:ext cx="1470025" cy="2266950"/>
          </a:xfrm>
          <a:prstGeom prst="rect">
            <a:avLst/>
          </a:prstGeom>
          <a:solidFill>
            <a:srgbClr val="FFCC99"/>
          </a:solidFill>
          <a:ln w="28575">
            <a:solidFill>
              <a:srgbClr val="00008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7" name="Text Box 7">
            <a:extLst>
              <a:ext uri="{FF2B5EF4-FFF2-40B4-BE49-F238E27FC236}">
                <a16:creationId xmlns:a16="http://schemas.microsoft.com/office/drawing/2014/main" id="{E7D459A3-8C0A-40A3-A720-6817B9747098}"/>
              </a:ext>
            </a:extLst>
          </p:cNvPr>
          <p:cNvSpPr txBox="1">
            <a:spLocks noChangeArrowheads="1"/>
          </p:cNvSpPr>
          <p:nvPr/>
        </p:nvSpPr>
        <p:spPr bwMode="auto">
          <a:xfrm>
            <a:off x="9136242" y="4636953"/>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solidFill>
                  <a:srgbClr val="0000FF"/>
                </a:solidFill>
              </a:rPr>
              <a:t>a</a:t>
            </a:r>
            <a:r>
              <a:rPr lang="en-US" altLang="zh-CN" b="1" i="1" baseline="-25000">
                <a:solidFill>
                  <a:srgbClr val="0000FF"/>
                </a:solidFill>
              </a:rPr>
              <a:t>1</a:t>
            </a:r>
          </a:p>
        </p:txBody>
      </p:sp>
      <p:sp>
        <p:nvSpPr>
          <p:cNvPr id="8" name="Line 8">
            <a:extLst>
              <a:ext uri="{FF2B5EF4-FFF2-40B4-BE49-F238E27FC236}">
                <a16:creationId xmlns:a16="http://schemas.microsoft.com/office/drawing/2014/main" id="{B7F0BDFC-48A8-4044-9AD0-2DB5A7B3ECBF}"/>
              </a:ext>
            </a:extLst>
          </p:cNvPr>
          <p:cNvSpPr>
            <a:spLocks noChangeShapeType="1"/>
          </p:cNvSpPr>
          <p:nvPr/>
        </p:nvSpPr>
        <p:spPr bwMode="auto">
          <a:xfrm>
            <a:off x="8613955" y="4695690"/>
            <a:ext cx="1470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0">
            <a:extLst>
              <a:ext uri="{FF2B5EF4-FFF2-40B4-BE49-F238E27FC236}">
                <a16:creationId xmlns:a16="http://schemas.microsoft.com/office/drawing/2014/main" id="{02B7FF31-E11B-491E-A23B-674CC86DF17F}"/>
              </a:ext>
            </a:extLst>
          </p:cNvPr>
          <p:cNvSpPr>
            <a:spLocks noChangeShapeType="1"/>
          </p:cNvSpPr>
          <p:nvPr/>
        </p:nvSpPr>
        <p:spPr bwMode="auto">
          <a:xfrm>
            <a:off x="8613955" y="3209790"/>
            <a:ext cx="1470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1">
            <a:extLst>
              <a:ext uri="{FF2B5EF4-FFF2-40B4-BE49-F238E27FC236}">
                <a16:creationId xmlns:a16="http://schemas.microsoft.com/office/drawing/2014/main" id="{40F82450-60D0-4ECB-9C29-CC88173CF9A2}"/>
              </a:ext>
            </a:extLst>
          </p:cNvPr>
          <p:cNvSpPr>
            <a:spLocks noChangeShapeType="1"/>
          </p:cNvSpPr>
          <p:nvPr/>
        </p:nvSpPr>
        <p:spPr bwMode="auto">
          <a:xfrm>
            <a:off x="8613955" y="3679690"/>
            <a:ext cx="1470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3">
            <a:extLst>
              <a:ext uri="{FF2B5EF4-FFF2-40B4-BE49-F238E27FC236}">
                <a16:creationId xmlns:a16="http://schemas.microsoft.com/office/drawing/2014/main" id="{6494F6EB-CF13-467B-8737-00E47E367012}"/>
              </a:ext>
            </a:extLst>
          </p:cNvPr>
          <p:cNvSpPr>
            <a:spLocks noChangeShapeType="1"/>
          </p:cNvSpPr>
          <p:nvPr/>
        </p:nvSpPr>
        <p:spPr bwMode="auto">
          <a:xfrm>
            <a:off x="8613955" y="4148003"/>
            <a:ext cx="1470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5">
            <a:extLst>
              <a:ext uri="{FF2B5EF4-FFF2-40B4-BE49-F238E27FC236}">
                <a16:creationId xmlns:a16="http://schemas.microsoft.com/office/drawing/2014/main" id="{497B8949-91E5-4245-A2B5-ABB169FBE8B9}"/>
              </a:ext>
            </a:extLst>
          </p:cNvPr>
          <p:cNvSpPr>
            <a:spLocks noChangeShapeType="1"/>
          </p:cNvSpPr>
          <p:nvPr/>
        </p:nvSpPr>
        <p:spPr bwMode="auto">
          <a:xfrm>
            <a:off x="8166280" y="3038340"/>
            <a:ext cx="447675" cy="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6">
            <a:extLst>
              <a:ext uri="{FF2B5EF4-FFF2-40B4-BE49-F238E27FC236}">
                <a16:creationId xmlns:a16="http://schemas.microsoft.com/office/drawing/2014/main" id="{AB313DA3-946E-49FA-8F4A-C3026053937B}"/>
              </a:ext>
            </a:extLst>
          </p:cNvPr>
          <p:cNvSpPr>
            <a:spLocks noChangeShapeType="1"/>
          </p:cNvSpPr>
          <p:nvPr/>
        </p:nvSpPr>
        <p:spPr bwMode="auto">
          <a:xfrm>
            <a:off x="8090080" y="5019540"/>
            <a:ext cx="447675" cy="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21">
            <a:extLst>
              <a:ext uri="{FF2B5EF4-FFF2-40B4-BE49-F238E27FC236}">
                <a16:creationId xmlns:a16="http://schemas.microsoft.com/office/drawing/2014/main" id="{0A84FB3C-6422-4F1D-8AFB-148DD9004C7F}"/>
              </a:ext>
            </a:extLst>
          </p:cNvPr>
          <p:cNvSpPr txBox="1">
            <a:spLocks noChangeArrowheads="1"/>
          </p:cNvSpPr>
          <p:nvPr/>
        </p:nvSpPr>
        <p:spPr bwMode="auto">
          <a:xfrm>
            <a:off x="7556680" y="2809740"/>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CC3300"/>
                </a:solidFill>
                <a:ea typeface="楷体_GB2312" pitchFamily="49" charset="-122"/>
              </a:rPr>
              <a:t>top</a:t>
            </a:r>
          </a:p>
        </p:txBody>
      </p:sp>
      <p:sp>
        <p:nvSpPr>
          <p:cNvPr id="16" name="Text Box 22">
            <a:extLst>
              <a:ext uri="{FF2B5EF4-FFF2-40B4-BE49-F238E27FC236}">
                <a16:creationId xmlns:a16="http://schemas.microsoft.com/office/drawing/2014/main" id="{7006A173-74E1-4FD5-BBE6-92FFADD60C8B}"/>
              </a:ext>
            </a:extLst>
          </p:cNvPr>
          <p:cNvSpPr txBox="1">
            <a:spLocks noChangeArrowheads="1"/>
          </p:cNvSpPr>
          <p:nvPr/>
        </p:nvSpPr>
        <p:spPr bwMode="auto">
          <a:xfrm>
            <a:off x="6947080" y="4714740"/>
            <a:ext cx="1116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CC3300"/>
                </a:solidFill>
                <a:ea typeface="楷体_GB2312" pitchFamily="49" charset="-122"/>
              </a:rPr>
              <a:t>bottom</a:t>
            </a:r>
          </a:p>
        </p:txBody>
      </p:sp>
      <p:sp>
        <p:nvSpPr>
          <p:cNvPr id="17" name="Freeform 25">
            <a:extLst>
              <a:ext uri="{FF2B5EF4-FFF2-40B4-BE49-F238E27FC236}">
                <a16:creationId xmlns:a16="http://schemas.microsoft.com/office/drawing/2014/main" id="{456D6B69-E534-44D4-BDA7-61ABBB06EC6E}"/>
              </a:ext>
            </a:extLst>
          </p:cNvPr>
          <p:cNvSpPr>
            <a:spLocks/>
          </p:cNvSpPr>
          <p:nvPr/>
        </p:nvSpPr>
        <p:spPr bwMode="auto">
          <a:xfrm>
            <a:off x="8471079" y="1971540"/>
            <a:ext cx="685800" cy="914400"/>
          </a:xfrm>
          <a:custGeom>
            <a:avLst/>
            <a:gdLst>
              <a:gd name="T0" fmla="*/ 685800 w 432"/>
              <a:gd name="T1" fmla="*/ 914400 h 576"/>
              <a:gd name="T2" fmla="*/ 457200 w 432"/>
              <a:gd name="T3" fmla="*/ 304800 h 576"/>
              <a:gd name="T4" fmla="*/ 0 w 432"/>
              <a:gd name="T5" fmla="*/ 0 h 576"/>
              <a:gd name="T6" fmla="*/ 0 60000 65536"/>
              <a:gd name="T7" fmla="*/ 0 60000 65536"/>
              <a:gd name="T8" fmla="*/ 0 60000 65536"/>
              <a:gd name="T9" fmla="*/ 0 w 432"/>
              <a:gd name="T10" fmla="*/ 0 h 576"/>
              <a:gd name="T11" fmla="*/ 432 w 432"/>
              <a:gd name="T12" fmla="*/ 576 h 576"/>
            </a:gdLst>
            <a:ahLst/>
            <a:cxnLst>
              <a:cxn ang="T6">
                <a:pos x="T0" y="T1"/>
              </a:cxn>
              <a:cxn ang="T7">
                <a:pos x="T2" y="T3"/>
              </a:cxn>
              <a:cxn ang="T8">
                <a:pos x="T4" y="T5"/>
              </a:cxn>
            </a:cxnLst>
            <a:rect l="T9" t="T10" r="T11" b="T12"/>
            <a:pathLst>
              <a:path w="432" h="576">
                <a:moveTo>
                  <a:pt x="432" y="576"/>
                </a:moveTo>
                <a:cubicBezTo>
                  <a:pt x="396" y="432"/>
                  <a:pt x="360" y="288"/>
                  <a:pt x="288" y="192"/>
                </a:cubicBezTo>
                <a:cubicBezTo>
                  <a:pt x="216" y="96"/>
                  <a:pt x="56" y="40"/>
                  <a:pt x="0" y="0"/>
                </a:cubicBezTo>
              </a:path>
            </a:pathLst>
          </a:custGeom>
          <a:noFill/>
          <a:ln w="31750">
            <a:solidFill>
              <a:srgbClr val="808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Freeform 27">
            <a:extLst>
              <a:ext uri="{FF2B5EF4-FFF2-40B4-BE49-F238E27FC236}">
                <a16:creationId xmlns:a16="http://schemas.microsoft.com/office/drawing/2014/main" id="{079D1710-615E-4981-950B-84E0806964E9}"/>
              </a:ext>
            </a:extLst>
          </p:cNvPr>
          <p:cNvSpPr>
            <a:spLocks/>
          </p:cNvSpPr>
          <p:nvPr/>
        </p:nvSpPr>
        <p:spPr bwMode="auto">
          <a:xfrm>
            <a:off x="9614079" y="1971540"/>
            <a:ext cx="457200" cy="914400"/>
          </a:xfrm>
          <a:custGeom>
            <a:avLst/>
            <a:gdLst>
              <a:gd name="T0" fmla="*/ 0 w 288"/>
              <a:gd name="T1" fmla="*/ 914400 h 576"/>
              <a:gd name="T2" fmla="*/ 76200 w 288"/>
              <a:gd name="T3" fmla="*/ 533400 h 576"/>
              <a:gd name="T4" fmla="*/ 457200 w 288"/>
              <a:gd name="T5" fmla="*/ 0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576"/>
                </a:moveTo>
                <a:cubicBezTo>
                  <a:pt x="0" y="504"/>
                  <a:pt x="0" y="432"/>
                  <a:pt x="48" y="336"/>
                </a:cubicBezTo>
                <a:cubicBezTo>
                  <a:pt x="96" y="240"/>
                  <a:pt x="240" y="56"/>
                  <a:pt x="288" y="0"/>
                </a:cubicBezTo>
              </a:path>
            </a:pathLst>
          </a:custGeom>
          <a:noFill/>
          <a:ln w="34925">
            <a:solidFill>
              <a:srgbClr val="808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 name="Text Box 28">
            <a:extLst>
              <a:ext uri="{FF2B5EF4-FFF2-40B4-BE49-F238E27FC236}">
                <a16:creationId xmlns:a16="http://schemas.microsoft.com/office/drawing/2014/main" id="{AA45EC39-4661-4F2B-9060-15211EEB9F36}"/>
              </a:ext>
            </a:extLst>
          </p:cNvPr>
          <p:cNvSpPr txBox="1">
            <a:spLocks noChangeArrowheads="1"/>
          </p:cNvSpPr>
          <p:nvPr/>
        </p:nvSpPr>
        <p:spPr bwMode="auto">
          <a:xfrm>
            <a:off x="9004479" y="2809740"/>
            <a:ext cx="7572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solidFill>
                  <a:srgbClr val="0000FF"/>
                </a:solidFill>
              </a:rPr>
              <a:t>a</a:t>
            </a:r>
            <a:r>
              <a:rPr lang="en-US" altLang="zh-CN" b="1" baseline="-25000">
                <a:solidFill>
                  <a:srgbClr val="0000FF"/>
                </a:solidFill>
              </a:rPr>
              <a:t>n</a:t>
            </a:r>
          </a:p>
          <a:p>
            <a:pPr eaLnBrk="1" hangingPunct="1"/>
            <a:r>
              <a:rPr lang="en-US" altLang="zh-CN" b="1">
                <a:solidFill>
                  <a:srgbClr val="0000FF"/>
                </a:solidFill>
              </a:rPr>
              <a:t>.</a:t>
            </a:r>
          </a:p>
          <a:p>
            <a:pPr eaLnBrk="1" hangingPunct="1"/>
            <a:r>
              <a:rPr lang="en-US" altLang="zh-CN" b="1">
                <a:solidFill>
                  <a:srgbClr val="0000FF"/>
                </a:solidFill>
              </a:rPr>
              <a:t>.</a:t>
            </a:r>
          </a:p>
          <a:p>
            <a:pPr eaLnBrk="1" hangingPunct="1"/>
            <a:r>
              <a:rPr lang="en-US" altLang="zh-CN" b="1">
                <a:solidFill>
                  <a:srgbClr val="0000FF"/>
                </a:solidFill>
              </a:rPr>
              <a:t>.</a:t>
            </a:r>
          </a:p>
          <a:p>
            <a:pPr eaLnBrk="1" hangingPunct="1"/>
            <a:r>
              <a:rPr lang="en-US" altLang="zh-CN" b="1">
                <a:solidFill>
                  <a:srgbClr val="0000FF"/>
                </a:solidFill>
              </a:rPr>
              <a:t>.</a:t>
            </a:r>
          </a:p>
          <a:p>
            <a:pPr eaLnBrk="1" hangingPunct="1"/>
            <a:endParaRPr lang="en-US" altLang="zh-CN">
              <a:solidFill>
                <a:srgbClr val="0000FF"/>
              </a:solidFill>
            </a:endParaRPr>
          </a:p>
        </p:txBody>
      </p:sp>
      <p:sp>
        <p:nvSpPr>
          <p:cNvPr id="20" name="Text Box 31">
            <a:extLst>
              <a:ext uri="{FF2B5EF4-FFF2-40B4-BE49-F238E27FC236}">
                <a16:creationId xmlns:a16="http://schemas.microsoft.com/office/drawing/2014/main" id="{E9929963-B2CA-4175-B91C-AE48DD4938F5}"/>
              </a:ext>
            </a:extLst>
          </p:cNvPr>
          <p:cNvSpPr txBox="1">
            <a:spLocks noChangeArrowheads="1"/>
          </p:cNvSpPr>
          <p:nvPr/>
        </p:nvSpPr>
        <p:spPr bwMode="auto">
          <a:xfrm>
            <a:off x="9537880" y="141750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CC3300"/>
                </a:solidFill>
                <a:ea typeface="楷体_GB2312" pitchFamily="49" charset="-122"/>
              </a:rPr>
              <a:t>进栈</a:t>
            </a:r>
          </a:p>
        </p:txBody>
      </p:sp>
      <p:sp>
        <p:nvSpPr>
          <p:cNvPr id="21" name="Text Box 32">
            <a:extLst>
              <a:ext uri="{FF2B5EF4-FFF2-40B4-BE49-F238E27FC236}">
                <a16:creationId xmlns:a16="http://schemas.microsoft.com/office/drawing/2014/main" id="{2D8C953E-DD76-49AE-9CCB-CEE5E34C6545}"/>
              </a:ext>
            </a:extLst>
          </p:cNvPr>
          <p:cNvSpPr txBox="1">
            <a:spLocks noChangeArrowheads="1"/>
          </p:cNvSpPr>
          <p:nvPr/>
        </p:nvSpPr>
        <p:spPr bwMode="auto">
          <a:xfrm>
            <a:off x="7861480" y="1438140"/>
            <a:ext cx="94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CC3300"/>
                </a:solidFill>
                <a:ea typeface="楷体_GB2312" pitchFamily="49" charset="-122"/>
              </a:rPr>
              <a:t>  </a:t>
            </a:r>
            <a:r>
              <a:rPr lang="zh-CN" altLang="en-US" b="1">
                <a:solidFill>
                  <a:srgbClr val="CC3300"/>
                </a:solidFill>
                <a:ea typeface="楷体_GB2312" pitchFamily="49" charset="-122"/>
              </a:rPr>
              <a:t>出栈</a:t>
            </a:r>
          </a:p>
        </p:txBody>
      </p:sp>
    </p:spTree>
    <p:extLst>
      <p:ext uri="{BB962C8B-B14F-4D97-AF65-F5344CB8AC3E}">
        <p14:creationId xmlns:p14="http://schemas.microsoft.com/office/powerpoint/2010/main" val="3648307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4784E0E-894F-4295-8841-84CAD1B5F4A8}"/>
              </a:ext>
            </a:extLst>
          </p:cNvPr>
          <p:cNvSpPr>
            <a:spLocks noGrp="1"/>
          </p:cNvSpPr>
          <p:nvPr>
            <p:ph idx="4294967295"/>
          </p:nvPr>
        </p:nvSpPr>
        <p:spPr>
          <a:xfrm>
            <a:off x="907961" y="1474833"/>
            <a:ext cx="10515600" cy="4351337"/>
          </a:xfrm>
        </p:spPr>
        <p:txBody>
          <a:bodyPr>
            <a:normAutofit/>
          </a:bodyPr>
          <a:lstStyle/>
          <a:p>
            <a:pPr marL="0" indent="0">
              <a:buNone/>
            </a:pPr>
            <a:r>
              <a:rPr lang="en-US" altLang="zh-CN" b="1" dirty="0">
                <a:solidFill>
                  <a:srgbClr val="014B88"/>
                </a:solidFill>
                <a:latin typeface="Consolas" panose="020B0609020204030204" pitchFamily="49" charset="0"/>
              </a:rPr>
              <a:t>#include &lt;stack&gt;				//</a:t>
            </a:r>
            <a:r>
              <a:rPr lang="zh-CN" altLang="en-US" b="1" dirty="0">
                <a:solidFill>
                  <a:srgbClr val="014B88"/>
                </a:solidFill>
                <a:latin typeface="Consolas" panose="020B0609020204030204" pitchFamily="49" charset="0"/>
              </a:rPr>
              <a:t>头文件</a:t>
            </a:r>
            <a:endParaRPr lang="en-US" altLang="zh-CN" b="1" dirty="0">
              <a:solidFill>
                <a:srgbClr val="014B88"/>
              </a:solidFill>
              <a:latin typeface="Consolas" panose="020B0609020204030204" pitchFamily="49" charset="0"/>
            </a:endParaRPr>
          </a:p>
          <a:p>
            <a:pPr marL="0" indent="0">
              <a:buNone/>
            </a:pPr>
            <a:r>
              <a:rPr lang="en-US" altLang="zh-CN" b="1" dirty="0">
                <a:solidFill>
                  <a:srgbClr val="014B88"/>
                </a:solidFill>
                <a:latin typeface="Consolas" panose="020B0609020204030204" pitchFamily="49" charset="0"/>
              </a:rPr>
              <a:t>std::stack&lt;int&gt; </a:t>
            </a:r>
            <a:r>
              <a:rPr lang="en-US" altLang="zh-CN" b="1" dirty="0" err="1">
                <a:solidFill>
                  <a:srgbClr val="014B88"/>
                </a:solidFill>
                <a:latin typeface="Consolas" panose="020B0609020204030204" pitchFamily="49" charset="0"/>
              </a:rPr>
              <a:t>mystack</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定义</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mystack.empty</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判断栈是否为空</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mystack.size</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栈大小</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mystack.push</a:t>
            </a:r>
            <a:r>
              <a:rPr lang="en-US" altLang="zh-CN" b="1" dirty="0">
                <a:solidFill>
                  <a:srgbClr val="014B88"/>
                </a:solidFill>
                <a:latin typeface="Consolas" panose="020B0609020204030204" pitchFamily="49" charset="0"/>
              </a:rPr>
              <a:t>(10);				//</a:t>
            </a:r>
            <a:r>
              <a:rPr lang="zh-CN" altLang="en-US" b="1" dirty="0">
                <a:solidFill>
                  <a:srgbClr val="014B88"/>
                </a:solidFill>
                <a:latin typeface="Consolas" panose="020B0609020204030204" pitchFamily="49" charset="0"/>
              </a:rPr>
              <a:t>元素进栈</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mystack.top</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获得栈顶元素</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myqueue.pop</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栈顶元素出栈</a:t>
            </a:r>
            <a:endParaRPr lang="en-US" altLang="zh-CN" b="1" dirty="0">
              <a:solidFill>
                <a:srgbClr val="014B88"/>
              </a:solidFill>
              <a:latin typeface="Consolas" panose="020B0609020204030204" pitchFamily="49" charset="0"/>
            </a:endParaRPr>
          </a:p>
          <a:p>
            <a:pPr marL="0" indent="0">
              <a:buNone/>
            </a:pPr>
            <a:endParaRPr lang="zh-CN" altLang="en-US" dirty="0"/>
          </a:p>
        </p:txBody>
      </p:sp>
      <p:sp>
        <p:nvSpPr>
          <p:cNvPr id="4" name="TextBox 36">
            <a:extLst>
              <a:ext uri="{FF2B5EF4-FFF2-40B4-BE49-F238E27FC236}">
                <a16:creationId xmlns:a16="http://schemas.microsoft.com/office/drawing/2014/main" id="{D1F42CC7-CA83-4251-9F20-C870ECD92647}"/>
              </a:ext>
            </a:extLst>
          </p:cNvPr>
          <p:cNvSpPr txBox="1"/>
          <p:nvPr/>
        </p:nvSpPr>
        <p:spPr>
          <a:xfrm>
            <a:off x="334800" y="320400"/>
            <a:ext cx="9008823"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STL</a:t>
            </a:r>
            <a:r>
              <a:rPr lang="zh-CN" altLang="en-US" sz="3200" b="1" dirty="0">
                <a:solidFill>
                  <a:srgbClr val="C00000"/>
                </a:solidFill>
                <a:latin typeface="微软雅黑" panose="020B0503020204020204" pitchFamily="34" charset="-122"/>
                <a:ea typeface="微软雅黑" panose="020B0503020204020204" pitchFamily="34" charset="-122"/>
              </a:rPr>
              <a:t>的应用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栈</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29476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A0AF4A4-9B9D-4BB5-BC0C-43BF80E85AA6}"/>
              </a:ext>
            </a:extLst>
          </p:cNvPr>
          <p:cNvSpPr>
            <a:spLocks noGrp="1" noChangeArrowheads="1"/>
          </p:cNvSpPr>
          <p:nvPr>
            <p:ph type="title" idx="4294967295"/>
          </p:nvPr>
        </p:nvSpPr>
        <p:spPr>
          <a:xfrm>
            <a:off x="811369" y="1061434"/>
            <a:ext cx="11294771" cy="4901484"/>
          </a:xfrm>
        </p:spPr>
        <p:txBody>
          <a:bodyPr/>
          <a:lstStyle/>
          <a:p>
            <a:pPr algn="l" eaLnBrk="1" hangingPunct="1"/>
            <a:br>
              <a:rPr lang="zh-CN" altLang="en-US" sz="3600" b="1" dirty="0">
                <a:ea typeface="楷体_GB2312" pitchFamily="49" charset="-122"/>
              </a:rPr>
            </a:br>
            <a:r>
              <a:rPr lang="en-US" altLang="zh-CN" sz="3200" b="1" dirty="0">
                <a:solidFill>
                  <a:srgbClr val="FF0000"/>
                </a:solidFill>
                <a:ea typeface="楷体_GB2312" pitchFamily="49" charset="-122"/>
              </a:rPr>
              <a:t>N = (N div d)×d + N mod d</a:t>
            </a:r>
            <a:br>
              <a:rPr lang="en-US" altLang="zh-CN" sz="3200" b="1" dirty="0">
                <a:solidFill>
                  <a:srgbClr val="FF0000"/>
                </a:solidFill>
                <a:ea typeface="楷体_GB2312" pitchFamily="49" charset="-122"/>
              </a:rPr>
            </a:br>
            <a:r>
              <a:rPr lang="en-US" altLang="zh-CN" sz="3200" b="1" dirty="0">
                <a:solidFill>
                  <a:srgbClr val="FF0000"/>
                </a:solidFill>
                <a:ea typeface="楷体_GB2312" pitchFamily="49" charset="-122"/>
              </a:rPr>
              <a:t>  </a:t>
            </a:r>
            <a:br>
              <a:rPr lang="en-US" altLang="zh-CN" sz="3200" dirty="0">
                <a:ea typeface="楷体_GB2312" pitchFamily="49" charset="-122"/>
              </a:rPr>
            </a:br>
            <a:r>
              <a:rPr lang="zh-CN" altLang="en-US" sz="2800" b="1" dirty="0">
                <a:solidFill>
                  <a:srgbClr val="333399"/>
                </a:solidFill>
                <a:ea typeface="楷体_GB2312" pitchFamily="49" charset="-122"/>
              </a:rPr>
              <a:t>例如：（</a:t>
            </a:r>
            <a:r>
              <a:rPr lang="en-US" altLang="zh-CN" sz="2800" b="1" dirty="0">
                <a:solidFill>
                  <a:srgbClr val="333399"/>
                </a:solidFill>
                <a:ea typeface="楷体_GB2312" pitchFamily="49" charset="-122"/>
              </a:rPr>
              <a:t>1348)</a:t>
            </a:r>
            <a:r>
              <a:rPr lang="en-US" altLang="zh-CN" sz="2800" b="1" baseline="-25000" dirty="0">
                <a:solidFill>
                  <a:srgbClr val="333399"/>
                </a:solidFill>
                <a:ea typeface="楷体_GB2312" pitchFamily="49" charset="-122"/>
              </a:rPr>
              <a:t>10</a:t>
            </a:r>
            <a:r>
              <a:rPr lang="en-US" altLang="zh-CN" sz="2800" b="1" dirty="0">
                <a:solidFill>
                  <a:srgbClr val="333399"/>
                </a:solidFill>
                <a:ea typeface="楷体_GB2312" pitchFamily="49" charset="-122"/>
              </a:rPr>
              <a:t> = (2504)</a:t>
            </a:r>
            <a:r>
              <a:rPr lang="en-US" altLang="zh-CN" sz="2800" b="1" baseline="-25000" dirty="0">
                <a:solidFill>
                  <a:srgbClr val="333399"/>
                </a:solidFill>
                <a:ea typeface="楷体_GB2312" pitchFamily="49" charset="-122"/>
              </a:rPr>
              <a:t>8</a:t>
            </a:r>
            <a:r>
              <a:rPr lang="en-US" altLang="zh-CN" sz="2800" b="1" dirty="0">
                <a:solidFill>
                  <a:srgbClr val="333399"/>
                </a:solidFill>
                <a:ea typeface="楷体_GB2312" pitchFamily="49" charset="-122"/>
              </a:rPr>
              <a:t> </a:t>
            </a:r>
            <a:r>
              <a:rPr lang="zh-CN" altLang="en-US" sz="2800" b="1" dirty="0">
                <a:solidFill>
                  <a:srgbClr val="333399"/>
                </a:solidFill>
                <a:ea typeface="楷体_GB2312" pitchFamily="49" charset="-122"/>
              </a:rPr>
              <a:t>，其运算过程如下：</a:t>
            </a:r>
            <a:br>
              <a:rPr lang="zh-CN" altLang="en-US" sz="2800" b="1" dirty="0">
                <a:solidFill>
                  <a:srgbClr val="333399"/>
                </a:solidFill>
                <a:ea typeface="楷体_GB2312" pitchFamily="49" charset="-122"/>
              </a:rPr>
            </a:br>
            <a:br>
              <a:rPr lang="zh-CN" altLang="en-US" sz="3200" dirty="0">
                <a:ea typeface="楷体_GB2312" pitchFamily="49" charset="-122"/>
              </a:rPr>
            </a:br>
            <a:r>
              <a:rPr lang="zh-CN" altLang="en-US" sz="3200" dirty="0">
                <a:ea typeface="楷体_GB2312" pitchFamily="49" charset="-122"/>
              </a:rPr>
              <a:t>	</a:t>
            </a:r>
            <a:r>
              <a:rPr lang="en-US" altLang="zh-CN" sz="3200" b="1" dirty="0">
                <a:solidFill>
                  <a:srgbClr val="996633"/>
                </a:solidFill>
                <a:ea typeface="楷体_GB2312" pitchFamily="49" charset="-122"/>
              </a:rPr>
              <a:t>N     </a:t>
            </a:r>
            <a:r>
              <a:rPr lang="en-US" altLang="zh-CN" sz="3200" b="1" dirty="0" err="1">
                <a:solidFill>
                  <a:srgbClr val="996633"/>
                </a:solidFill>
                <a:ea typeface="楷体_GB2312" pitchFamily="49" charset="-122"/>
              </a:rPr>
              <a:t>N</a:t>
            </a:r>
            <a:r>
              <a:rPr lang="en-US" altLang="zh-CN" sz="3200" b="1" dirty="0">
                <a:solidFill>
                  <a:srgbClr val="996633"/>
                </a:solidFill>
                <a:ea typeface="楷体_GB2312" pitchFamily="49" charset="-122"/>
              </a:rPr>
              <a:t> div 8    N mod 8</a:t>
            </a:r>
            <a:br>
              <a:rPr lang="en-US" altLang="zh-CN" sz="3200" dirty="0">
                <a:solidFill>
                  <a:srgbClr val="0000FF"/>
                </a:solidFill>
                <a:ea typeface="楷体_GB2312" pitchFamily="49" charset="-122"/>
              </a:rPr>
            </a:br>
            <a:r>
              <a:rPr lang="en-US" altLang="zh-CN" sz="3200" dirty="0">
                <a:solidFill>
                  <a:srgbClr val="0000FF"/>
                </a:solidFill>
                <a:ea typeface="楷体_GB2312" pitchFamily="49" charset="-122"/>
              </a:rPr>
              <a:t>	</a:t>
            </a:r>
            <a:r>
              <a:rPr lang="en-US" altLang="zh-CN" sz="3200" dirty="0">
                <a:ea typeface="楷体_GB2312" pitchFamily="49" charset="-122"/>
              </a:rPr>
              <a:t>1348      168        4</a:t>
            </a:r>
            <a:br>
              <a:rPr lang="en-US" altLang="zh-CN" sz="3200" dirty="0">
                <a:ea typeface="楷体_GB2312" pitchFamily="49" charset="-122"/>
              </a:rPr>
            </a:br>
            <a:r>
              <a:rPr lang="en-US" altLang="zh-CN" sz="3200" dirty="0">
                <a:ea typeface="楷体_GB2312" pitchFamily="49" charset="-122"/>
              </a:rPr>
              <a:t>	 168        21    	  0</a:t>
            </a:r>
            <a:br>
              <a:rPr lang="en-US" altLang="zh-CN" sz="3200" dirty="0">
                <a:ea typeface="楷体_GB2312" pitchFamily="49" charset="-122"/>
              </a:rPr>
            </a:br>
            <a:r>
              <a:rPr lang="en-US" altLang="zh-CN" sz="3200" dirty="0">
                <a:ea typeface="楷体_GB2312" pitchFamily="49" charset="-122"/>
              </a:rPr>
              <a:t>	   21         2    	  5</a:t>
            </a:r>
            <a:br>
              <a:rPr lang="en-US" altLang="zh-CN" sz="3200" dirty="0">
                <a:ea typeface="楷体_GB2312" pitchFamily="49" charset="-122"/>
              </a:rPr>
            </a:br>
            <a:r>
              <a:rPr lang="en-US" altLang="zh-CN" sz="3200" dirty="0">
                <a:ea typeface="楷体_GB2312" pitchFamily="49" charset="-122"/>
              </a:rPr>
              <a:t>	    2          0     	  2</a:t>
            </a:r>
          </a:p>
        </p:txBody>
      </p:sp>
      <p:sp>
        <p:nvSpPr>
          <p:cNvPr id="18435" name="Line 3">
            <a:extLst>
              <a:ext uri="{FF2B5EF4-FFF2-40B4-BE49-F238E27FC236}">
                <a16:creationId xmlns:a16="http://schemas.microsoft.com/office/drawing/2014/main" id="{CA7F1DF2-5FA3-4A3B-AF8C-64261394D375}"/>
              </a:ext>
            </a:extLst>
          </p:cNvPr>
          <p:cNvSpPr>
            <a:spLocks noChangeShapeType="1"/>
          </p:cNvSpPr>
          <p:nvPr/>
        </p:nvSpPr>
        <p:spPr bwMode="auto">
          <a:xfrm>
            <a:off x="1483217" y="3578180"/>
            <a:ext cx="0" cy="2133600"/>
          </a:xfrm>
          <a:prstGeom prst="line">
            <a:avLst/>
          </a:prstGeom>
          <a:noFill/>
          <a:ln w="28575">
            <a:solidFill>
              <a:srgbClr val="A5002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6" name="Line 4">
            <a:extLst>
              <a:ext uri="{FF2B5EF4-FFF2-40B4-BE49-F238E27FC236}">
                <a16:creationId xmlns:a16="http://schemas.microsoft.com/office/drawing/2014/main" id="{89322B44-8337-46DC-AF13-54A93F3CFC3B}"/>
              </a:ext>
            </a:extLst>
          </p:cNvPr>
          <p:cNvSpPr>
            <a:spLocks noChangeShapeType="1"/>
          </p:cNvSpPr>
          <p:nvPr/>
        </p:nvSpPr>
        <p:spPr bwMode="auto">
          <a:xfrm flipV="1">
            <a:off x="6048970" y="3558862"/>
            <a:ext cx="0" cy="2133600"/>
          </a:xfrm>
          <a:prstGeom prst="line">
            <a:avLst/>
          </a:prstGeom>
          <a:noFill/>
          <a:ln w="28575">
            <a:solidFill>
              <a:srgbClr val="A5002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7" name="Text Box 6">
            <a:extLst>
              <a:ext uri="{FF2B5EF4-FFF2-40B4-BE49-F238E27FC236}">
                <a16:creationId xmlns:a16="http://schemas.microsoft.com/office/drawing/2014/main" id="{70627C7A-DC7A-483B-A180-A5E8F78E4832}"/>
              </a:ext>
            </a:extLst>
          </p:cNvPr>
          <p:cNvSpPr txBox="1">
            <a:spLocks noChangeArrowheads="1"/>
          </p:cNvSpPr>
          <p:nvPr/>
        </p:nvSpPr>
        <p:spPr bwMode="auto">
          <a:xfrm>
            <a:off x="6213237" y="3787462"/>
            <a:ext cx="677108" cy="173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CC0000"/>
                </a:solidFill>
                <a:ea typeface="楷体_GB2312" pitchFamily="49" charset="-122"/>
              </a:rPr>
              <a:t>输出顺序</a:t>
            </a:r>
          </a:p>
        </p:txBody>
      </p:sp>
      <p:sp>
        <p:nvSpPr>
          <p:cNvPr id="18438" name="Text Box 7">
            <a:extLst>
              <a:ext uri="{FF2B5EF4-FFF2-40B4-BE49-F238E27FC236}">
                <a16:creationId xmlns:a16="http://schemas.microsoft.com/office/drawing/2014/main" id="{52497877-22A5-4486-97FD-65343C49D1E7}"/>
              </a:ext>
            </a:extLst>
          </p:cNvPr>
          <p:cNvSpPr txBox="1">
            <a:spLocks noChangeArrowheads="1"/>
          </p:cNvSpPr>
          <p:nvPr/>
        </p:nvSpPr>
        <p:spPr bwMode="auto">
          <a:xfrm>
            <a:off x="563222" y="3730580"/>
            <a:ext cx="677108" cy="173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CC0000"/>
                </a:solidFill>
                <a:ea typeface="楷体_GB2312" pitchFamily="49" charset="-122"/>
              </a:rPr>
              <a:t>计算顺序</a:t>
            </a:r>
          </a:p>
        </p:txBody>
      </p:sp>
      <p:sp>
        <p:nvSpPr>
          <p:cNvPr id="8" name="TextBox 36">
            <a:extLst>
              <a:ext uri="{FF2B5EF4-FFF2-40B4-BE49-F238E27FC236}">
                <a16:creationId xmlns:a16="http://schemas.microsoft.com/office/drawing/2014/main" id="{94543FCC-9AE8-4843-B345-174646B1A181}"/>
              </a:ext>
            </a:extLst>
          </p:cNvPr>
          <p:cNvSpPr txBox="1"/>
          <p:nvPr/>
        </p:nvSpPr>
        <p:spPr>
          <a:xfrm>
            <a:off x="334800" y="320400"/>
            <a:ext cx="3722045"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进制转换</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9" name="Text Box 2">
            <a:extLst>
              <a:ext uri="{FF2B5EF4-FFF2-40B4-BE49-F238E27FC236}">
                <a16:creationId xmlns:a16="http://schemas.microsoft.com/office/drawing/2014/main" id="{CCA1638A-0C60-4CD7-856F-39AFB957B4BD}"/>
              </a:ext>
            </a:extLst>
          </p:cNvPr>
          <p:cNvSpPr txBox="1">
            <a:spLocks noChangeArrowheads="1"/>
          </p:cNvSpPr>
          <p:nvPr/>
        </p:nvSpPr>
        <p:spPr bwMode="auto">
          <a:xfrm>
            <a:off x="7978463" y="1894180"/>
            <a:ext cx="4050404"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void conversion () {</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a:t>
            </a:r>
            <a:r>
              <a:rPr lang="en-US" altLang="zh-CN" sz="1800" b="1" dirty="0" err="1">
                <a:solidFill>
                  <a:schemeClr val="accent2"/>
                </a:solidFill>
                <a:latin typeface="Courier New" panose="02070309020205020404" pitchFamily="49" charset="0"/>
                <a:ea typeface="楷体_GB2312" pitchFamily="49" charset="-122"/>
                <a:cs typeface="Courier New" panose="02070309020205020404" pitchFamily="49" charset="0"/>
              </a:rPr>
              <a:t>initStack</a:t>
            </a:r>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(S); </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a:t>
            </a:r>
            <a:r>
              <a:rPr lang="en-US" altLang="zh-CN" sz="1800" b="1" dirty="0" err="1">
                <a:solidFill>
                  <a:schemeClr val="accent2"/>
                </a:solidFill>
                <a:latin typeface="Courier New" panose="02070309020205020404" pitchFamily="49" charset="0"/>
                <a:ea typeface="楷体_GB2312" pitchFamily="49" charset="-122"/>
                <a:cs typeface="Courier New" panose="02070309020205020404" pitchFamily="49" charset="0"/>
              </a:rPr>
              <a:t>scanf</a:t>
            </a:r>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a:t>
            </a:r>
            <a:r>
              <a:rPr lang="en-US" altLang="zh-CN" sz="1800" b="1" dirty="0" err="1">
                <a:solidFill>
                  <a:schemeClr val="accent2"/>
                </a:solidFill>
                <a:latin typeface="Courier New" panose="02070309020205020404" pitchFamily="49" charset="0"/>
                <a:ea typeface="楷体_GB2312" pitchFamily="49" charset="-122"/>
                <a:cs typeface="Courier New" panose="02070309020205020404" pitchFamily="49" charset="0"/>
              </a:rPr>
              <a:t>d",&amp;N</a:t>
            </a:r>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while ( N &gt; 0) {</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push(S, N % 8);</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N = N/8;</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while (!</a:t>
            </a:r>
            <a:r>
              <a:rPr lang="en-US" altLang="zh-CN" sz="1800" b="1" dirty="0" err="1">
                <a:solidFill>
                  <a:schemeClr val="accent2"/>
                </a:solidFill>
                <a:latin typeface="Courier New" panose="02070309020205020404" pitchFamily="49" charset="0"/>
                <a:ea typeface="楷体_GB2312" pitchFamily="49" charset="-122"/>
                <a:cs typeface="Courier New" panose="02070309020205020404" pitchFamily="49" charset="0"/>
              </a:rPr>
              <a:t>stackempty</a:t>
            </a:r>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(S)){</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pop(</a:t>
            </a:r>
            <a:r>
              <a:rPr lang="en-US" altLang="zh-CN" sz="1800" b="1" dirty="0" err="1">
                <a:solidFill>
                  <a:schemeClr val="accent2"/>
                </a:solidFill>
                <a:latin typeface="Courier New" panose="02070309020205020404" pitchFamily="49" charset="0"/>
                <a:ea typeface="楷体_GB2312" pitchFamily="49" charset="-122"/>
                <a:cs typeface="Courier New" panose="02070309020205020404" pitchFamily="49" charset="0"/>
              </a:rPr>
              <a:t>S,e</a:t>
            </a:r>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a:t>
            </a:r>
            <a:r>
              <a:rPr lang="en-US" altLang="zh-CN" sz="1800" b="1" dirty="0" err="1">
                <a:solidFill>
                  <a:schemeClr val="accent2"/>
                </a:solidFill>
                <a:latin typeface="Courier New" panose="02070309020205020404" pitchFamily="49" charset="0"/>
                <a:ea typeface="楷体_GB2312" pitchFamily="49" charset="-122"/>
                <a:cs typeface="Courier New" panose="02070309020205020404" pitchFamily="49" charset="0"/>
              </a:rPr>
              <a:t>printf</a:t>
            </a:r>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 "%d", e );</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a:t>
            </a:r>
          </a:p>
          <a:p>
            <a:r>
              <a:rPr lang="en-US" altLang="zh-CN" sz="1800" b="1" dirty="0">
                <a:solidFill>
                  <a:schemeClr val="accent2"/>
                </a:solidFill>
                <a:latin typeface="Courier New" panose="02070309020205020404" pitchFamily="49" charset="0"/>
                <a:ea typeface="楷体_GB2312" pitchFamily="49" charset="-122"/>
                <a:cs typeface="Courier New" panose="02070309020205020404" pitchFamily="49" charset="0"/>
              </a:rPr>
              <a:t>} </a:t>
            </a:r>
            <a:r>
              <a:rPr lang="en-US" altLang="zh-CN" sz="2800" b="1" dirty="0">
                <a:solidFill>
                  <a:srgbClr val="CC0000"/>
                </a:solidFill>
                <a:latin typeface="Courier New" panose="02070309020205020404" pitchFamily="49" charset="0"/>
                <a:ea typeface="楷体_GB2312" pitchFamily="49" charset="-122"/>
                <a:cs typeface="Courier New" panose="02070309020205020404" pitchFamily="49" charset="0"/>
              </a:rPr>
              <a:t>// </a:t>
            </a:r>
            <a:r>
              <a:rPr lang="zh-CN" altLang="en-US" sz="2800" b="1" dirty="0">
                <a:solidFill>
                  <a:srgbClr val="CC0000"/>
                </a:solidFill>
                <a:latin typeface="Courier New" panose="02070309020205020404" pitchFamily="49" charset="0"/>
                <a:ea typeface="楷体_GB2312" pitchFamily="49" charset="-122"/>
                <a:cs typeface="Courier New" panose="02070309020205020404" pitchFamily="49" charset="0"/>
              </a:rPr>
              <a:t>进制转化函数</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36">
            <a:extLst>
              <a:ext uri="{FF2B5EF4-FFF2-40B4-BE49-F238E27FC236}">
                <a16:creationId xmlns:a16="http://schemas.microsoft.com/office/drawing/2014/main" id="{94543FCC-9AE8-4843-B345-174646B1A181}"/>
              </a:ext>
            </a:extLst>
          </p:cNvPr>
          <p:cNvSpPr txBox="1"/>
          <p:nvPr/>
        </p:nvSpPr>
        <p:spPr>
          <a:xfrm>
            <a:off x="334800" y="320400"/>
            <a:ext cx="3722045"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其他问题</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3" name="Text Box 2">
            <a:extLst>
              <a:ext uri="{FF2B5EF4-FFF2-40B4-BE49-F238E27FC236}">
                <a16:creationId xmlns:a16="http://schemas.microsoft.com/office/drawing/2014/main" id="{20204AF9-CD94-4683-A21F-02C80B633148}"/>
              </a:ext>
            </a:extLst>
          </p:cNvPr>
          <p:cNvSpPr txBox="1">
            <a:spLocks noChangeArrowheads="1"/>
          </p:cNvSpPr>
          <p:nvPr/>
        </p:nvSpPr>
        <p:spPr bwMode="auto">
          <a:xfrm>
            <a:off x="429998" y="1238059"/>
            <a:ext cx="4092126" cy="388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800100" lvl="1" indent="-342900" algn="just" eaLnBrk="1" hangingPunct="1">
              <a:lnSpc>
                <a:spcPct val="200000"/>
              </a:lnSpc>
              <a:buFont typeface="Wingdings" panose="05000000000000000000" pitchFamily="2" charset="2"/>
              <a:buChar char="l"/>
            </a:pPr>
            <a:r>
              <a:rPr lang="zh-CN" altLang="en-US" sz="3200" b="1" kern="100" dirty="0">
                <a:solidFill>
                  <a:srgbClr val="014B88"/>
                </a:solidFill>
                <a:ea typeface="+mn-ea"/>
                <a:cs typeface="Times New Roman" panose="02020603050405020304" pitchFamily="18" charset="0"/>
              </a:rPr>
              <a:t>火车入栈出栈</a:t>
            </a:r>
            <a:endParaRPr lang="en-US" altLang="zh-CN" sz="3200" b="1" kern="100" dirty="0">
              <a:solidFill>
                <a:srgbClr val="014B88"/>
              </a:solidFill>
              <a:ea typeface="+mn-ea"/>
              <a:cs typeface="Times New Roman" panose="02020603050405020304" pitchFamily="18" charset="0"/>
            </a:endParaRPr>
          </a:p>
          <a:p>
            <a:pPr marL="800100" lvl="1" indent="-342900" algn="just" eaLnBrk="1" hangingPunct="1">
              <a:lnSpc>
                <a:spcPct val="200000"/>
              </a:lnSpc>
              <a:buFont typeface="Wingdings" panose="05000000000000000000" pitchFamily="2" charset="2"/>
              <a:buChar char="l"/>
            </a:pPr>
            <a:r>
              <a:rPr lang="zh-CN" altLang="en-US" sz="3200" b="1" kern="100" dirty="0">
                <a:solidFill>
                  <a:srgbClr val="014B88"/>
                </a:solidFill>
                <a:ea typeface="+mn-ea"/>
                <a:cs typeface="Times New Roman" panose="02020603050405020304" pitchFamily="18" charset="0"/>
              </a:rPr>
              <a:t>括号匹配</a:t>
            </a:r>
            <a:endParaRPr lang="en-US" altLang="zh-CN" sz="3200" b="1" kern="100" dirty="0">
              <a:solidFill>
                <a:srgbClr val="014B88"/>
              </a:solidFill>
              <a:ea typeface="+mn-ea"/>
              <a:cs typeface="Times New Roman" panose="02020603050405020304" pitchFamily="18" charset="0"/>
            </a:endParaRPr>
          </a:p>
          <a:p>
            <a:pPr marL="800100" lvl="1" indent="-342900" algn="just" eaLnBrk="1" hangingPunct="1">
              <a:lnSpc>
                <a:spcPct val="200000"/>
              </a:lnSpc>
              <a:buFont typeface="Wingdings" panose="05000000000000000000" pitchFamily="2" charset="2"/>
              <a:buChar char="l"/>
            </a:pPr>
            <a:r>
              <a:rPr lang="zh-CN" altLang="en-US" sz="3200" b="1" kern="100" dirty="0">
                <a:solidFill>
                  <a:srgbClr val="014B88"/>
                </a:solidFill>
                <a:ea typeface="+mn-ea"/>
                <a:cs typeface="Times New Roman" panose="02020603050405020304" pitchFamily="18" charset="0"/>
              </a:rPr>
              <a:t>表达式求值</a:t>
            </a:r>
            <a:endParaRPr lang="en-US" altLang="zh-CN" sz="3200" b="1" kern="100" dirty="0">
              <a:solidFill>
                <a:srgbClr val="014B88"/>
              </a:solidFill>
              <a:ea typeface="+mn-ea"/>
              <a:cs typeface="Times New Roman" panose="02020603050405020304" pitchFamily="18" charset="0"/>
            </a:endParaRPr>
          </a:p>
          <a:p>
            <a:pPr marL="800100" lvl="1" indent="-342900" algn="just" eaLnBrk="1" hangingPunct="1">
              <a:lnSpc>
                <a:spcPct val="200000"/>
              </a:lnSpc>
              <a:buFont typeface="Wingdings" panose="05000000000000000000" pitchFamily="2" charset="2"/>
              <a:buChar char="l"/>
            </a:pPr>
            <a:endParaRPr lang="en-US" altLang="zh-CN" sz="3200" b="1" dirty="0">
              <a:solidFill>
                <a:srgbClr val="A50021"/>
              </a:solidFill>
              <a:ea typeface="楷体_GB2312" pitchFamily="49" charset="-122"/>
            </a:endParaRPr>
          </a:p>
        </p:txBody>
      </p:sp>
      <p:pic>
        <p:nvPicPr>
          <p:cNvPr id="2" name="图片 1">
            <a:extLst>
              <a:ext uri="{FF2B5EF4-FFF2-40B4-BE49-F238E27FC236}">
                <a16:creationId xmlns:a16="http://schemas.microsoft.com/office/drawing/2014/main" id="{61324356-F206-437E-8869-2EF0146DA707}"/>
              </a:ext>
            </a:extLst>
          </p:cNvPr>
          <p:cNvPicPr>
            <a:picLocks noChangeAspect="1"/>
          </p:cNvPicPr>
          <p:nvPr/>
        </p:nvPicPr>
        <p:blipFill>
          <a:blip r:embed="rId3"/>
          <a:stretch>
            <a:fillRect/>
          </a:stretch>
        </p:blipFill>
        <p:spPr>
          <a:xfrm>
            <a:off x="5305080" y="1153334"/>
            <a:ext cx="6041792" cy="3122074"/>
          </a:xfrm>
          <a:prstGeom prst="rect">
            <a:avLst/>
          </a:prstGeom>
        </p:spPr>
      </p:pic>
      <p:sp>
        <p:nvSpPr>
          <p:cNvPr id="4" name="矩形 3">
            <a:extLst>
              <a:ext uri="{FF2B5EF4-FFF2-40B4-BE49-F238E27FC236}">
                <a16:creationId xmlns:a16="http://schemas.microsoft.com/office/drawing/2014/main" id="{BEBD2204-421B-4949-BC54-DAC2211F8D08}"/>
              </a:ext>
            </a:extLst>
          </p:cNvPr>
          <p:cNvSpPr/>
          <p:nvPr/>
        </p:nvSpPr>
        <p:spPr>
          <a:xfrm>
            <a:off x="6806635" y="5119891"/>
            <a:ext cx="3459582" cy="584775"/>
          </a:xfrm>
          <a:prstGeom prst="rect">
            <a:avLst/>
          </a:prstGeom>
        </p:spPr>
        <p:txBody>
          <a:bodyPr wrap="square">
            <a:spAutoFit/>
          </a:bodyPr>
          <a:lstStyle/>
          <a:p>
            <a:r>
              <a:rPr lang="en-US" altLang="zh-CN" sz="3200" dirty="0">
                <a:solidFill>
                  <a:srgbClr val="000000"/>
                </a:solidFill>
                <a:latin typeface="Consolas" panose="020B0609020204030204" pitchFamily="49" charset="0"/>
              </a:rPr>
              <a:t>s = </a:t>
            </a:r>
            <a:r>
              <a:rPr lang="en-US" altLang="zh-CN" sz="3200" dirty="0">
                <a:solidFill>
                  <a:srgbClr val="7E0B0B"/>
                </a:solidFill>
                <a:latin typeface="Consolas" panose="020B0609020204030204" pitchFamily="49" charset="0"/>
              </a:rPr>
              <a:t>"{[()]}"</a:t>
            </a:r>
            <a:endParaRPr lang="zh-CN" altLang="en-US" sz="3200" dirty="0"/>
          </a:p>
        </p:txBody>
      </p:sp>
    </p:spTree>
    <p:extLst>
      <p:ext uri="{BB962C8B-B14F-4D97-AF65-F5344CB8AC3E}">
        <p14:creationId xmlns:p14="http://schemas.microsoft.com/office/powerpoint/2010/main" val="625322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7AC00A52-36A3-4DE2-AE42-E6136C80165F}"/>
              </a:ext>
            </a:extLst>
          </p:cNvPr>
          <p:cNvSpPr txBox="1">
            <a:spLocks noChangeArrowheads="1"/>
          </p:cNvSpPr>
          <p:nvPr/>
        </p:nvSpPr>
        <p:spPr bwMode="auto">
          <a:xfrm>
            <a:off x="396240" y="972053"/>
            <a:ext cx="10766738"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800100" lvl="1" indent="-342900" algn="just" eaLnBrk="1" hangingPunct="1">
              <a:lnSpc>
                <a:spcPct val="200000"/>
              </a:lnSpc>
              <a:buFont typeface="Wingdings" panose="05000000000000000000" pitchFamily="2" charset="2"/>
              <a:buChar char="l"/>
            </a:pPr>
            <a:r>
              <a:rPr lang="zh-CN" altLang="en-US" b="1" kern="100" dirty="0">
                <a:solidFill>
                  <a:srgbClr val="014B88"/>
                </a:solidFill>
                <a:ea typeface="+mn-ea"/>
                <a:cs typeface="Times New Roman" panose="02020603050405020304" pitchFamily="18" charset="0"/>
              </a:rPr>
              <a:t>输入表达式，计算结果，如输入</a:t>
            </a:r>
            <a:r>
              <a:rPr lang="en-US" altLang="zh-CN" b="1" kern="100" dirty="0">
                <a:solidFill>
                  <a:srgbClr val="014B88"/>
                </a:solidFill>
                <a:ea typeface="+mn-ea"/>
                <a:cs typeface="Times New Roman" panose="02020603050405020304" pitchFamily="18" charset="0"/>
              </a:rPr>
              <a:t>234+(65-34)*2+345-64/8</a:t>
            </a:r>
            <a:r>
              <a:rPr lang="zh-CN" altLang="en-US" b="1" kern="100" dirty="0">
                <a:solidFill>
                  <a:srgbClr val="014B88"/>
                </a:solidFill>
                <a:ea typeface="+mn-ea"/>
                <a:cs typeface="Times New Roman" panose="02020603050405020304" pitchFamily="18" charset="0"/>
              </a:rPr>
              <a:t>，求其值</a:t>
            </a:r>
            <a:endParaRPr lang="en-US" altLang="zh-CN" b="1" kern="100" dirty="0">
              <a:solidFill>
                <a:srgbClr val="014B88"/>
              </a:solidFill>
              <a:ea typeface="+mn-ea"/>
              <a:cs typeface="Times New Roman" panose="02020603050405020304" pitchFamily="18" charset="0"/>
            </a:endParaRPr>
          </a:p>
          <a:p>
            <a:pPr marL="800100" lvl="1" indent="-342900" algn="just" eaLnBrk="1" hangingPunct="1">
              <a:lnSpc>
                <a:spcPct val="200000"/>
              </a:lnSpc>
              <a:buFont typeface="Wingdings" panose="05000000000000000000" pitchFamily="2" charset="2"/>
              <a:buChar char="l"/>
            </a:pPr>
            <a:r>
              <a:rPr lang="zh-CN" altLang="en-US" b="1" kern="100" dirty="0">
                <a:solidFill>
                  <a:srgbClr val="014B88"/>
                </a:solidFill>
                <a:ea typeface="+mn-ea"/>
                <a:cs typeface="Times New Roman" panose="02020603050405020304" pitchFamily="18" charset="0"/>
              </a:rPr>
              <a:t>限于二元运算符的表达式定义</a:t>
            </a:r>
            <a:r>
              <a:rPr lang="en-US" altLang="zh-CN" b="1" kern="100" dirty="0">
                <a:solidFill>
                  <a:srgbClr val="014B88"/>
                </a:solidFill>
                <a:ea typeface="+mn-ea"/>
                <a:cs typeface="Times New Roman" panose="02020603050405020304" pitchFamily="18" charset="0"/>
              </a:rPr>
              <a:t>:</a:t>
            </a:r>
          </a:p>
          <a:p>
            <a:pPr marL="800100" lvl="1" indent="-342900" algn="just" eaLnBrk="1" hangingPunct="1">
              <a:lnSpc>
                <a:spcPct val="200000"/>
              </a:lnSpc>
              <a:buFont typeface="Wingdings" panose="05000000000000000000" pitchFamily="2" charset="2"/>
              <a:buChar char="l"/>
            </a:pPr>
            <a:r>
              <a:rPr lang="zh-CN" altLang="en-US" b="1" kern="100" dirty="0">
                <a:solidFill>
                  <a:srgbClr val="014B88"/>
                </a:solidFill>
                <a:ea typeface="+mn-ea"/>
                <a:cs typeface="Times New Roman" panose="02020603050405020304" pitchFamily="18" charset="0"/>
              </a:rPr>
              <a:t>表达式 </a:t>
            </a:r>
            <a:r>
              <a:rPr lang="en-US" altLang="zh-CN" b="1" kern="100" dirty="0">
                <a:solidFill>
                  <a:srgbClr val="014B88"/>
                </a:solidFill>
                <a:ea typeface="+mn-ea"/>
                <a:cs typeface="Times New Roman" panose="02020603050405020304" pitchFamily="18" charset="0"/>
              </a:rPr>
              <a:t>::= (</a:t>
            </a:r>
            <a:r>
              <a:rPr lang="zh-CN" altLang="en-US" b="1" kern="100" dirty="0">
                <a:solidFill>
                  <a:srgbClr val="014B88"/>
                </a:solidFill>
                <a:ea typeface="+mn-ea"/>
                <a:cs typeface="Times New Roman" panose="02020603050405020304" pitchFamily="18" charset="0"/>
              </a:rPr>
              <a:t>操作数</a:t>
            </a:r>
            <a:r>
              <a:rPr lang="en-US" altLang="zh-CN" b="1" kern="100" dirty="0">
                <a:solidFill>
                  <a:srgbClr val="014B88"/>
                </a:solidFill>
                <a:ea typeface="+mn-ea"/>
                <a:cs typeface="Times New Roman" panose="02020603050405020304" pitchFamily="18" charset="0"/>
              </a:rPr>
              <a:t>) + (</a:t>
            </a:r>
            <a:r>
              <a:rPr lang="zh-CN" altLang="en-US" b="1" kern="100" dirty="0">
                <a:solidFill>
                  <a:srgbClr val="014B88"/>
                </a:solidFill>
                <a:ea typeface="+mn-ea"/>
                <a:cs typeface="Times New Roman" panose="02020603050405020304" pitchFamily="18" charset="0"/>
              </a:rPr>
              <a:t>运算符</a:t>
            </a:r>
            <a:r>
              <a:rPr lang="en-US" altLang="zh-CN" b="1" kern="100" dirty="0">
                <a:solidFill>
                  <a:srgbClr val="014B88"/>
                </a:solidFill>
                <a:ea typeface="+mn-ea"/>
                <a:cs typeface="Times New Roman" panose="02020603050405020304" pitchFamily="18" charset="0"/>
              </a:rPr>
              <a:t>) + (</a:t>
            </a:r>
            <a:r>
              <a:rPr lang="zh-CN" altLang="en-US" b="1" kern="100" dirty="0">
                <a:solidFill>
                  <a:srgbClr val="014B88"/>
                </a:solidFill>
                <a:ea typeface="+mn-ea"/>
                <a:cs typeface="Times New Roman" panose="02020603050405020304" pitchFamily="18" charset="0"/>
              </a:rPr>
              <a:t>操作数</a:t>
            </a:r>
            <a:r>
              <a:rPr lang="en-US" altLang="zh-CN" b="1" kern="100" dirty="0">
                <a:solidFill>
                  <a:srgbClr val="014B88"/>
                </a:solidFill>
                <a:ea typeface="+mn-ea"/>
                <a:cs typeface="Times New Roman" panose="02020603050405020304" pitchFamily="18" charset="0"/>
              </a:rPr>
              <a:t>)</a:t>
            </a:r>
          </a:p>
          <a:p>
            <a:pPr marL="800100" lvl="1" indent="-342900" algn="just" eaLnBrk="1" hangingPunct="1">
              <a:lnSpc>
                <a:spcPct val="200000"/>
              </a:lnSpc>
              <a:buFont typeface="Wingdings" panose="05000000000000000000" pitchFamily="2" charset="2"/>
              <a:buChar char="l"/>
            </a:pPr>
            <a:r>
              <a:rPr lang="zh-CN" altLang="en-US" b="1" kern="100" dirty="0">
                <a:solidFill>
                  <a:srgbClr val="014B88"/>
                </a:solidFill>
                <a:ea typeface="+mn-ea"/>
                <a:cs typeface="Times New Roman" panose="02020603050405020304" pitchFamily="18" charset="0"/>
              </a:rPr>
              <a:t>操作数 </a:t>
            </a:r>
            <a:r>
              <a:rPr lang="en-US" altLang="zh-CN" b="1" kern="100" dirty="0">
                <a:solidFill>
                  <a:srgbClr val="014B88"/>
                </a:solidFill>
                <a:ea typeface="+mn-ea"/>
                <a:cs typeface="Times New Roman" panose="02020603050405020304" pitchFamily="18" charset="0"/>
              </a:rPr>
              <a:t>::= </a:t>
            </a:r>
            <a:r>
              <a:rPr lang="zh-CN" altLang="en-US" b="1" kern="100" dirty="0">
                <a:solidFill>
                  <a:srgbClr val="014B88"/>
                </a:solidFill>
                <a:ea typeface="+mn-ea"/>
                <a:cs typeface="Times New Roman" panose="02020603050405020304" pitchFamily="18" charset="0"/>
              </a:rPr>
              <a:t>简单变量 </a:t>
            </a:r>
            <a:r>
              <a:rPr lang="en-US" altLang="zh-CN" b="1" kern="100" dirty="0">
                <a:solidFill>
                  <a:srgbClr val="014B88"/>
                </a:solidFill>
                <a:ea typeface="+mn-ea"/>
                <a:cs typeface="Times New Roman" panose="02020603050405020304" pitchFamily="18" charset="0"/>
              </a:rPr>
              <a:t>| </a:t>
            </a:r>
            <a:r>
              <a:rPr lang="zh-CN" altLang="en-US" b="1" kern="100" dirty="0">
                <a:solidFill>
                  <a:srgbClr val="014B88"/>
                </a:solidFill>
                <a:ea typeface="+mn-ea"/>
                <a:cs typeface="Times New Roman" panose="02020603050405020304" pitchFamily="18" charset="0"/>
              </a:rPr>
              <a:t>表达式</a:t>
            </a:r>
          </a:p>
          <a:p>
            <a:pPr marL="800100" lvl="1" indent="-342900" algn="just" eaLnBrk="1" hangingPunct="1">
              <a:lnSpc>
                <a:spcPct val="200000"/>
              </a:lnSpc>
              <a:buFont typeface="Wingdings" panose="05000000000000000000" pitchFamily="2" charset="2"/>
              <a:buChar char="l"/>
            </a:pPr>
            <a:r>
              <a:rPr lang="zh-CN" altLang="en-US" b="1" kern="100" dirty="0">
                <a:solidFill>
                  <a:srgbClr val="014B88"/>
                </a:solidFill>
                <a:ea typeface="+mn-ea"/>
                <a:cs typeface="Times New Roman" panose="02020603050405020304" pitchFamily="18" charset="0"/>
              </a:rPr>
              <a:t>简单变量 </a:t>
            </a:r>
            <a:r>
              <a:rPr lang="en-US" altLang="zh-CN" b="1" kern="100" dirty="0">
                <a:solidFill>
                  <a:srgbClr val="014B88"/>
                </a:solidFill>
                <a:ea typeface="+mn-ea"/>
                <a:cs typeface="Times New Roman" panose="02020603050405020304" pitchFamily="18" charset="0"/>
              </a:rPr>
              <a:t>:: = </a:t>
            </a:r>
            <a:r>
              <a:rPr lang="zh-CN" altLang="en-US" b="1" kern="100" dirty="0">
                <a:solidFill>
                  <a:srgbClr val="014B88"/>
                </a:solidFill>
                <a:ea typeface="+mn-ea"/>
                <a:cs typeface="Times New Roman" panose="02020603050405020304" pitchFamily="18" charset="0"/>
              </a:rPr>
              <a:t>标识符 </a:t>
            </a:r>
            <a:r>
              <a:rPr lang="en-US" altLang="zh-CN" b="1" kern="100" dirty="0">
                <a:solidFill>
                  <a:srgbClr val="014B88"/>
                </a:solidFill>
                <a:ea typeface="+mn-ea"/>
                <a:cs typeface="Times New Roman" panose="02020603050405020304" pitchFamily="18" charset="0"/>
              </a:rPr>
              <a:t>| </a:t>
            </a:r>
            <a:r>
              <a:rPr lang="zh-CN" altLang="en-US" b="1" kern="100" dirty="0">
                <a:solidFill>
                  <a:srgbClr val="014B88"/>
                </a:solidFill>
                <a:ea typeface="+mn-ea"/>
                <a:cs typeface="Times New Roman" panose="02020603050405020304" pitchFamily="18" charset="0"/>
              </a:rPr>
              <a:t>无符号整数</a:t>
            </a:r>
          </a:p>
          <a:p>
            <a:endParaRPr lang="en-US" altLang="zh-CN" sz="3200" b="1" dirty="0">
              <a:solidFill>
                <a:srgbClr val="A50021"/>
              </a:solidFill>
              <a:ea typeface="楷体_GB2312" pitchFamily="49" charset="-122"/>
            </a:endParaRPr>
          </a:p>
        </p:txBody>
      </p:sp>
      <p:sp>
        <p:nvSpPr>
          <p:cNvPr id="4" name="TextBox 36">
            <a:extLst>
              <a:ext uri="{FF2B5EF4-FFF2-40B4-BE49-F238E27FC236}">
                <a16:creationId xmlns:a16="http://schemas.microsoft.com/office/drawing/2014/main" id="{AC2C8185-3070-4422-A8F8-6871124313E6}"/>
              </a:ext>
            </a:extLst>
          </p:cNvPr>
          <p:cNvSpPr txBox="1"/>
          <p:nvPr/>
        </p:nvSpPr>
        <p:spPr>
          <a:xfrm>
            <a:off x="334800" y="320400"/>
            <a:ext cx="3722045"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表达式求值</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a:extLst>
              <a:ext uri="{FF2B5EF4-FFF2-40B4-BE49-F238E27FC236}">
                <a16:creationId xmlns:a16="http://schemas.microsoft.com/office/drawing/2014/main" id="{B300F3D5-491C-488F-87E6-00AE6396EC44}"/>
              </a:ext>
            </a:extLst>
          </p:cNvPr>
          <p:cNvSpPr txBox="1">
            <a:spLocks noChangeArrowheads="1"/>
          </p:cNvSpPr>
          <p:nvPr/>
        </p:nvSpPr>
        <p:spPr bwMode="auto">
          <a:xfrm>
            <a:off x="-412788" y="959663"/>
            <a:ext cx="12604788" cy="558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371600" indent="-4572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lnSpc>
                <a:spcPct val="150000"/>
              </a:lnSpc>
              <a:buClr>
                <a:srgbClr val="003366"/>
              </a:buClr>
              <a:buFontTx/>
              <a:buAutoNum type="arabicParenR"/>
            </a:pPr>
            <a:r>
              <a:rPr lang="zh-CN" altLang="en-US" sz="2000" b="1" dirty="0">
                <a:latin typeface="+mn-ea"/>
                <a:ea typeface="+mn-ea"/>
              </a:rPr>
              <a:t>设立暂存</a:t>
            </a:r>
            <a:r>
              <a:rPr lang="zh-CN" altLang="en-US" sz="2000" b="1" dirty="0">
                <a:solidFill>
                  <a:srgbClr val="FF0000"/>
                </a:solidFill>
                <a:latin typeface="+mn-ea"/>
                <a:ea typeface="+mn-ea"/>
              </a:rPr>
              <a:t>运算符</a:t>
            </a:r>
            <a:r>
              <a:rPr lang="zh-CN" altLang="en-US" sz="2000" b="1" dirty="0">
                <a:latin typeface="+mn-ea"/>
                <a:ea typeface="+mn-ea"/>
              </a:rPr>
              <a:t>和</a:t>
            </a:r>
            <a:r>
              <a:rPr lang="zh-CN" altLang="en-US" sz="2000" b="1" dirty="0">
                <a:solidFill>
                  <a:srgbClr val="FF0000"/>
                </a:solidFill>
                <a:latin typeface="+mn-ea"/>
                <a:ea typeface="+mn-ea"/>
              </a:rPr>
              <a:t>操作数</a:t>
            </a:r>
            <a:r>
              <a:rPr lang="zh-CN" altLang="en-US" sz="2000" b="1" dirty="0">
                <a:latin typeface="+mn-ea"/>
                <a:ea typeface="+mn-ea"/>
              </a:rPr>
              <a:t>的两个</a:t>
            </a:r>
            <a:r>
              <a:rPr lang="zh-CN" altLang="en-US" sz="2000" b="1" dirty="0">
                <a:solidFill>
                  <a:srgbClr val="FF0000"/>
                </a:solidFill>
                <a:latin typeface="+mn-ea"/>
                <a:ea typeface="+mn-ea"/>
              </a:rPr>
              <a:t>栈，</a:t>
            </a:r>
            <a:r>
              <a:rPr lang="zh-CN" altLang="en-US" sz="2000" b="1" dirty="0">
                <a:latin typeface="+mn-ea"/>
                <a:ea typeface="+mn-ea"/>
              </a:rPr>
              <a:t>称为</a:t>
            </a:r>
            <a:r>
              <a:rPr lang="zh-CN" altLang="en-US" sz="2000" b="1" dirty="0">
                <a:solidFill>
                  <a:srgbClr val="FF0000"/>
                </a:solidFill>
                <a:latin typeface="+mn-ea"/>
                <a:ea typeface="+mn-ea"/>
              </a:rPr>
              <a:t>运算符栈</a:t>
            </a:r>
            <a:r>
              <a:rPr lang="zh-CN" altLang="en-US" sz="2000" b="1" dirty="0">
                <a:latin typeface="+mn-ea"/>
                <a:ea typeface="+mn-ea"/>
              </a:rPr>
              <a:t>和</a:t>
            </a:r>
            <a:r>
              <a:rPr lang="zh-CN" altLang="en-US" sz="2000" b="1" dirty="0">
                <a:solidFill>
                  <a:srgbClr val="FF0000"/>
                </a:solidFill>
                <a:latin typeface="+mn-ea"/>
                <a:ea typeface="+mn-ea"/>
              </a:rPr>
              <a:t>操作数栈</a:t>
            </a:r>
            <a:r>
              <a:rPr lang="en-US" altLang="zh-CN" sz="2000" b="1" dirty="0">
                <a:latin typeface="+mn-ea"/>
                <a:ea typeface="+mn-ea"/>
              </a:rPr>
              <a:t>; </a:t>
            </a:r>
          </a:p>
          <a:p>
            <a:pPr lvl="2">
              <a:lnSpc>
                <a:spcPct val="150000"/>
              </a:lnSpc>
              <a:buClr>
                <a:srgbClr val="003366"/>
              </a:buClr>
              <a:buFontTx/>
              <a:buAutoNum type="arabicParenR"/>
            </a:pPr>
            <a:r>
              <a:rPr lang="zh-CN" altLang="en-US" sz="2000" b="1" dirty="0">
                <a:latin typeface="+mn-ea"/>
                <a:ea typeface="+mn-ea"/>
              </a:rPr>
              <a:t>不断向后扫描表达式，若当前字符是操作数，则入操作数栈，转到</a:t>
            </a:r>
            <a:r>
              <a:rPr lang="en-US" altLang="zh-CN" sz="2000" b="1" dirty="0">
                <a:latin typeface="+mn-ea"/>
                <a:ea typeface="+mn-ea"/>
              </a:rPr>
              <a:t>2</a:t>
            </a:r>
            <a:r>
              <a:rPr lang="zh-CN" altLang="en-US" sz="2000" b="1" dirty="0">
                <a:latin typeface="+mn-ea"/>
                <a:ea typeface="+mn-ea"/>
              </a:rPr>
              <a:t>；如果当前字符是运算符，则转到</a:t>
            </a:r>
            <a:r>
              <a:rPr lang="en-US" altLang="zh-CN" sz="2000" b="1" dirty="0">
                <a:latin typeface="+mn-ea"/>
                <a:ea typeface="+mn-ea"/>
              </a:rPr>
              <a:t>3</a:t>
            </a:r>
            <a:r>
              <a:rPr lang="zh-CN" altLang="en-US" sz="2000" b="1" dirty="0">
                <a:latin typeface="+mn-ea"/>
                <a:ea typeface="+mn-ea"/>
              </a:rPr>
              <a:t>；若表达式扫描结束，转到</a:t>
            </a:r>
            <a:r>
              <a:rPr lang="en-US" altLang="zh-CN" sz="2000" b="1" dirty="0">
                <a:latin typeface="+mn-ea"/>
                <a:ea typeface="+mn-ea"/>
              </a:rPr>
              <a:t>4; </a:t>
            </a:r>
          </a:p>
          <a:p>
            <a:pPr lvl="2">
              <a:lnSpc>
                <a:spcPct val="150000"/>
              </a:lnSpc>
              <a:buClr>
                <a:srgbClr val="003366"/>
              </a:buClr>
              <a:buFontTx/>
              <a:buAutoNum type="arabicParenR"/>
            </a:pPr>
            <a:r>
              <a:rPr lang="zh-CN" altLang="en-US" sz="2000" b="1" dirty="0">
                <a:latin typeface="+mn-ea"/>
                <a:ea typeface="+mn-ea"/>
              </a:rPr>
              <a:t>①如果运算符栈为空或者当前运算符为‘</a:t>
            </a:r>
            <a:r>
              <a:rPr lang="en-US" altLang="zh-CN" sz="2000" b="1" dirty="0">
                <a:latin typeface="+mn-ea"/>
                <a:ea typeface="+mn-ea"/>
              </a:rPr>
              <a:t>(</a:t>
            </a:r>
            <a:r>
              <a:rPr lang="zh-CN" altLang="en-US" sz="2000" b="1" dirty="0">
                <a:latin typeface="+mn-ea"/>
                <a:ea typeface="+mn-ea"/>
              </a:rPr>
              <a:t>’或者运算符栈栈顶元素为</a:t>
            </a:r>
            <a:r>
              <a:rPr lang="en-US" altLang="zh-CN" sz="2000" b="1" dirty="0">
                <a:latin typeface="+mn-ea"/>
                <a:ea typeface="+mn-ea"/>
              </a:rPr>
              <a:t>’(‘</a:t>
            </a:r>
            <a:r>
              <a:rPr lang="zh-CN" altLang="en-US" sz="2000" b="1" dirty="0">
                <a:latin typeface="+mn-ea"/>
                <a:ea typeface="+mn-ea"/>
              </a:rPr>
              <a:t>，当前运算符入栈；</a:t>
            </a:r>
            <a:endParaRPr lang="en-US" altLang="zh-CN" sz="2000" b="1" dirty="0">
              <a:latin typeface="+mn-ea"/>
              <a:ea typeface="+mn-ea"/>
            </a:endParaRPr>
          </a:p>
          <a:p>
            <a:pPr marL="1371600" lvl="3" indent="0">
              <a:lnSpc>
                <a:spcPct val="150000"/>
              </a:lnSpc>
              <a:buClr>
                <a:srgbClr val="003366"/>
              </a:buClr>
            </a:pPr>
            <a:r>
              <a:rPr lang="zh-CN" altLang="en-US" sz="2000" b="1" dirty="0">
                <a:latin typeface="+mn-ea"/>
                <a:ea typeface="+mn-ea"/>
              </a:rPr>
              <a:t>②如果当前运算符为</a:t>
            </a:r>
            <a:r>
              <a:rPr lang="en-US" altLang="zh-CN" sz="2000" b="1" dirty="0">
                <a:latin typeface="+mn-ea"/>
                <a:ea typeface="+mn-ea"/>
              </a:rPr>
              <a:t>’)’</a:t>
            </a:r>
            <a:r>
              <a:rPr lang="zh-CN" altLang="en-US" sz="2000" b="1" dirty="0">
                <a:latin typeface="+mn-ea"/>
                <a:ea typeface="+mn-ea"/>
              </a:rPr>
              <a:t>，则进行计算，直到运算符栈栈空或其栈顶元素为</a:t>
            </a:r>
            <a:r>
              <a:rPr lang="en-US" altLang="zh-CN" sz="2000" b="1" dirty="0">
                <a:latin typeface="+mn-ea"/>
                <a:ea typeface="+mn-ea"/>
              </a:rPr>
              <a:t>’(‘</a:t>
            </a:r>
            <a:r>
              <a:rPr lang="zh-CN" altLang="en-US" sz="2000" b="1" dirty="0">
                <a:latin typeface="+mn-ea"/>
                <a:ea typeface="+mn-ea"/>
              </a:rPr>
              <a:t>为止，栈顶元素’</a:t>
            </a:r>
            <a:r>
              <a:rPr lang="en-US" altLang="zh-CN" sz="2000" b="1" dirty="0">
                <a:latin typeface="+mn-ea"/>
                <a:ea typeface="+mn-ea"/>
              </a:rPr>
              <a:t>(‘</a:t>
            </a:r>
            <a:r>
              <a:rPr lang="zh-CN" altLang="en-US" sz="2000" b="1" dirty="0">
                <a:latin typeface="+mn-ea"/>
                <a:ea typeface="+mn-ea"/>
              </a:rPr>
              <a:t>出栈</a:t>
            </a:r>
            <a:endParaRPr lang="en-US" altLang="zh-CN" sz="2000" b="1" dirty="0">
              <a:latin typeface="+mn-ea"/>
              <a:ea typeface="+mn-ea"/>
            </a:endParaRPr>
          </a:p>
          <a:p>
            <a:pPr marL="1371600" lvl="3" indent="0">
              <a:lnSpc>
                <a:spcPct val="150000"/>
              </a:lnSpc>
              <a:buClr>
                <a:srgbClr val="003366"/>
              </a:buClr>
            </a:pPr>
            <a:r>
              <a:rPr lang="zh-CN" altLang="en-US" sz="2000" b="1" dirty="0">
                <a:latin typeface="+mn-ea"/>
                <a:ea typeface="+mn-ea"/>
              </a:rPr>
              <a:t>③如果当前运算符优先级小于等于运算符栈栈顶元素优先级，则进行计算，直至运算符栈为空或者运算符栈栈顶元素为</a:t>
            </a:r>
            <a:r>
              <a:rPr lang="en-US" altLang="zh-CN" sz="2000" b="1" dirty="0">
                <a:latin typeface="+mn-ea"/>
                <a:ea typeface="+mn-ea"/>
              </a:rPr>
              <a:t>’(</a:t>
            </a:r>
            <a:r>
              <a:rPr lang="zh-CN" altLang="en-US" sz="2000" b="1" dirty="0">
                <a:latin typeface="+mn-ea"/>
                <a:ea typeface="+mn-ea"/>
              </a:rPr>
              <a:t>‘或者当前运算符优先级大于栈顶元素优先级为止；当前运算符入栈；</a:t>
            </a:r>
            <a:endParaRPr lang="en-US" altLang="zh-CN" sz="2000" b="1" dirty="0">
              <a:latin typeface="+mn-ea"/>
              <a:ea typeface="+mn-ea"/>
            </a:endParaRPr>
          </a:p>
          <a:p>
            <a:pPr marL="1371600" lvl="3" indent="0">
              <a:lnSpc>
                <a:spcPct val="150000"/>
              </a:lnSpc>
              <a:buClr>
                <a:srgbClr val="003366"/>
              </a:buClr>
            </a:pPr>
            <a:endParaRPr lang="en-US" altLang="zh-CN" sz="2000" b="1" dirty="0">
              <a:solidFill>
                <a:srgbClr val="008000"/>
              </a:solidFill>
              <a:latin typeface="+mn-ea"/>
              <a:ea typeface="+mn-ea"/>
            </a:endParaRPr>
          </a:p>
          <a:p>
            <a:pPr marL="1371600" lvl="3" indent="0">
              <a:lnSpc>
                <a:spcPct val="150000"/>
              </a:lnSpc>
              <a:buClr>
                <a:srgbClr val="003366"/>
              </a:buClr>
            </a:pPr>
            <a:r>
              <a:rPr lang="zh-CN" altLang="en-US" sz="2000" b="1" dirty="0">
                <a:solidFill>
                  <a:srgbClr val="008000"/>
                </a:solidFill>
                <a:latin typeface="+mn-ea"/>
                <a:ea typeface="+mn-ea"/>
              </a:rPr>
              <a:t>计算操作：操作数栈最上面两个元素出栈，做运算符栈顶元素所表示的计算，计算结果再入操作数栈；栈顶运算符出栈； </a:t>
            </a:r>
            <a:endParaRPr lang="en-US" altLang="zh-CN" sz="2000" b="1" dirty="0">
              <a:solidFill>
                <a:srgbClr val="008000"/>
              </a:solidFill>
              <a:latin typeface="+mn-ea"/>
              <a:ea typeface="+mn-ea"/>
            </a:endParaRPr>
          </a:p>
          <a:p>
            <a:pPr marL="1371600" lvl="3" indent="0">
              <a:lnSpc>
                <a:spcPct val="150000"/>
              </a:lnSpc>
              <a:buClr>
                <a:srgbClr val="003366"/>
              </a:buClr>
            </a:pPr>
            <a:r>
              <a:rPr lang="zh-CN" altLang="en-US" sz="2000" b="1" dirty="0">
                <a:solidFill>
                  <a:srgbClr val="FF0000"/>
                </a:solidFill>
                <a:latin typeface="Microsoft YaHei UI" panose="020B0503020204020204" pitchFamily="34" charset="-122"/>
                <a:ea typeface="Microsoft YaHei UI" panose="020B0503020204020204" pitchFamily="34" charset="-122"/>
              </a:rPr>
              <a:t>优先级</a:t>
            </a:r>
            <a:r>
              <a:rPr lang="en-US" altLang="zh-CN" sz="2000" b="1" dirty="0">
                <a:solidFill>
                  <a:srgbClr val="FF0000"/>
                </a:solidFill>
                <a:latin typeface="Microsoft YaHei UI" panose="020B0503020204020204" pitchFamily="34" charset="-122"/>
                <a:ea typeface="Microsoft YaHei UI" panose="020B0503020204020204" pitchFamily="34" charset="-122"/>
              </a:rPr>
              <a:t>: </a:t>
            </a:r>
            <a:r>
              <a:rPr lang="zh-CN" altLang="en-US" sz="2000" b="1" dirty="0">
                <a:solidFill>
                  <a:srgbClr val="FF0000"/>
                </a:solidFill>
                <a:latin typeface="Microsoft YaHei UI" panose="020B0503020204020204" pitchFamily="34" charset="-122"/>
                <a:ea typeface="Microsoft YaHei UI" panose="020B0503020204020204" pitchFamily="34" charset="-122"/>
              </a:rPr>
              <a:t>乘</a:t>
            </a:r>
            <a:r>
              <a:rPr lang="en-US" altLang="zh-CN" sz="2000" b="1" dirty="0">
                <a:solidFill>
                  <a:srgbClr val="FF0000"/>
                </a:solidFill>
                <a:latin typeface="Microsoft YaHei UI" panose="020B0503020204020204" pitchFamily="34" charset="-122"/>
                <a:ea typeface="Microsoft YaHei UI" panose="020B0503020204020204" pitchFamily="34" charset="-122"/>
              </a:rPr>
              <a:t>=</a:t>
            </a:r>
            <a:r>
              <a:rPr lang="zh-CN" altLang="en-US" sz="2000" b="1" dirty="0">
                <a:solidFill>
                  <a:srgbClr val="FF0000"/>
                </a:solidFill>
                <a:latin typeface="Microsoft YaHei UI" panose="020B0503020204020204" pitchFamily="34" charset="-122"/>
                <a:ea typeface="Microsoft YaHei UI" panose="020B0503020204020204" pitchFamily="34" charset="-122"/>
              </a:rPr>
              <a:t>除</a:t>
            </a:r>
            <a:r>
              <a:rPr lang="en-US" altLang="zh-CN" sz="2000" b="1" dirty="0">
                <a:solidFill>
                  <a:srgbClr val="FF0000"/>
                </a:solidFill>
                <a:latin typeface="Microsoft YaHei UI" panose="020B0503020204020204" pitchFamily="34" charset="-122"/>
                <a:ea typeface="Microsoft YaHei UI" panose="020B0503020204020204" pitchFamily="34" charset="-122"/>
              </a:rPr>
              <a:t>&gt;</a:t>
            </a:r>
            <a:r>
              <a:rPr lang="zh-CN" altLang="en-US" sz="2000" b="1" dirty="0">
                <a:solidFill>
                  <a:srgbClr val="FF0000"/>
                </a:solidFill>
                <a:latin typeface="Microsoft YaHei UI" panose="020B0503020204020204" pitchFamily="34" charset="-122"/>
                <a:ea typeface="Microsoft YaHei UI" panose="020B0503020204020204" pitchFamily="34" charset="-122"/>
              </a:rPr>
              <a:t>加</a:t>
            </a:r>
            <a:r>
              <a:rPr lang="en-US" altLang="zh-CN" sz="2000" b="1" dirty="0">
                <a:solidFill>
                  <a:srgbClr val="FF0000"/>
                </a:solidFill>
                <a:latin typeface="Microsoft YaHei UI" panose="020B0503020204020204" pitchFamily="34" charset="-122"/>
                <a:ea typeface="Microsoft YaHei UI" panose="020B0503020204020204" pitchFamily="34" charset="-122"/>
              </a:rPr>
              <a:t>=</a:t>
            </a:r>
            <a:r>
              <a:rPr lang="zh-CN" altLang="en-US" sz="2000" b="1" dirty="0">
                <a:solidFill>
                  <a:srgbClr val="FF0000"/>
                </a:solidFill>
                <a:latin typeface="Microsoft YaHei UI" panose="020B0503020204020204" pitchFamily="34" charset="-122"/>
                <a:ea typeface="Microsoft YaHei UI" panose="020B0503020204020204" pitchFamily="34" charset="-122"/>
              </a:rPr>
              <a:t>减</a:t>
            </a:r>
            <a:endParaRPr lang="en-US" altLang="zh-CN" sz="2000" b="1" dirty="0">
              <a:solidFill>
                <a:srgbClr val="008000"/>
              </a:solidFill>
              <a:latin typeface="+mn-ea"/>
              <a:ea typeface="+mn-ea"/>
            </a:endParaRPr>
          </a:p>
          <a:p>
            <a:pPr lvl="2">
              <a:lnSpc>
                <a:spcPct val="150000"/>
              </a:lnSpc>
              <a:buClr>
                <a:srgbClr val="003366"/>
              </a:buClr>
              <a:buFontTx/>
              <a:buAutoNum type="arabicParenR"/>
            </a:pPr>
            <a:r>
              <a:rPr lang="zh-CN" altLang="en-US" sz="2000" b="1" dirty="0">
                <a:solidFill>
                  <a:srgbClr val="FF0000"/>
                </a:solidFill>
                <a:latin typeface="+mn-ea"/>
                <a:ea typeface="+mn-ea"/>
              </a:rPr>
              <a:t>操作符栈和运算符栈不断出栈，直到运算符栈为空，操作数栈只有一个元素，即为最后结果。</a:t>
            </a:r>
            <a:endParaRPr lang="en-US" altLang="zh-CN" sz="2000" b="1" dirty="0">
              <a:solidFill>
                <a:srgbClr val="FF0000"/>
              </a:solidFill>
              <a:latin typeface="+mn-ea"/>
              <a:ea typeface="+mn-ea"/>
            </a:endParaRPr>
          </a:p>
        </p:txBody>
      </p:sp>
      <p:sp>
        <p:nvSpPr>
          <p:cNvPr id="4" name="TextBox 36">
            <a:extLst>
              <a:ext uri="{FF2B5EF4-FFF2-40B4-BE49-F238E27FC236}">
                <a16:creationId xmlns:a16="http://schemas.microsoft.com/office/drawing/2014/main" id="{C6E9DF51-C36C-498D-BCDA-D34BA7486941}"/>
              </a:ext>
            </a:extLst>
          </p:cNvPr>
          <p:cNvSpPr txBox="1"/>
          <p:nvPr/>
        </p:nvSpPr>
        <p:spPr>
          <a:xfrm>
            <a:off x="334799" y="320400"/>
            <a:ext cx="9523977"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表达式求值</a:t>
            </a:r>
            <a:r>
              <a:rPr lang="en-US" altLang="zh-CN" sz="3200" b="1" dirty="0">
                <a:solidFill>
                  <a:srgbClr val="C00000"/>
                </a:solidFill>
                <a:latin typeface="微软雅黑" panose="020B0503020204020204" pitchFamily="34" charset="-122"/>
                <a:ea typeface="微软雅黑" panose="020B0503020204020204" pitchFamily="34" charset="-122"/>
              </a:rPr>
              <a:t> | </a:t>
            </a:r>
            <a:r>
              <a:rPr lang="zh-CN" altLang="en-US" sz="3200" b="1" dirty="0">
                <a:solidFill>
                  <a:srgbClr val="C00000"/>
                </a:solidFill>
                <a:latin typeface="微软雅黑" panose="020B0503020204020204" pitchFamily="34" charset="-122"/>
                <a:ea typeface="微软雅黑" panose="020B0503020204020204" pitchFamily="34" charset="-122"/>
              </a:rPr>
              <a:t>表达式求值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算法流程</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49176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6">
            <a:extLst>
              <a:ext uri="{FF2B5EF4-FFF2-40B4-BE49-F238E27FC236}">
                <a16:creationId xmlns:a16="http://schemas.microsoft.com/office/drawing/2014/main" id="{42E62AF5-67F0-4D7A-9B0F-D018A1AD6ECE}"/>
              </a:ext>
            </a:extLst>
          </p:cNvPr>
          <p:cNvSpPr txBox="1">
            <a:spLocks noChangeArrowheads="1"/>
          </p:cNvSpPr>
          <p:nvPr/>
        </p:nvSpPr>
        <p:spPr bwMode="auto">
          <a:xfrm>
            <a:off x="3886200" y="4800601"/>
            <a:ext cx="3962400" cy="701675"/>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aseline="-25000"/>
              <a:t> </a:t>
            </a:r>
            <a:r>
              <a:rPr lang="en-US" altLang="zh-CN"/>
              <a:t>a</a:t>
            </a:r>
            <a:r>
              <a:rPr lang="en-US" altLang="zh-CN" baseline="-25000"/>
              <a:t>1 </a:t>
            </a:r>
            <a:r>
              <a:rPr lang="zh-CN" altLang="en-US" baseline="-25000"/>
              <a:t>，</a:t>
            </a:r>
            <a:r>
              <a:rPr lang="en-US" altLang="zh-CN"/>
              <a:t>a</a:t>
            </a:r>
            <a:r>
              <a:rPr lang="en-US" altLang="zh-CN" baseline="-25000"/>
              <a:t>2</a:t>
            </a:r>
            <a:r>
              <a:rPr lang="zh-CN" altLang="en-US" baseline="-25000"/>
              <a:t>， </a:t>
            </a:r>
            <a:r>
              <a:rPr lang="en-US" altLang="zh-CN"/>
              <a:t>a</a:t>
            </a:r>
            <a:r>
              <a:rPr lang="en-US" altLang="zh-CN" baseline="-25000"/>
              <a:t>3</a:t>
            </a:r>
            <a:r>
              <a:rPr lang="zh-CN" altLang="en-US"/>
              <a:t>，</a:t>
            </a:r>
            <a:r>
              <a:rPr lang="en-US" altLang="zh-CN"/>
              <a:t>…</a:t>
            </a:r>
            <a:r>
              <a:rPr lang="zh-CN" altLang="en-US"/>
              <a:t>，</a:t>
            </a:r>
            <a:r>
              <a:rPr lang="en-US" altLang="zh-CN"/>
              <a:t>a</a:t>
            </a:r>
            <a:r>
              <a:rPr lang="en-US" altLang="zh-CN" baseline="-25000"/>
              <a:t>n</a:t>
            </a:r>
          </a:p>
          <a:p>
            <a:pPr eaLnBrk="1" hangingPunct="1"/>
            <a:endParaRPr lang="en-US" altLang="zh-CN" baseline="-25000"/>
          </a:p>
        </p:txBody>
      </p:sp>
      <p:sp>
        <p:nvSpPr>
          <p:cNvPr id="31749" name="Line 7">
            <a:extLst>
              <a:ext uri="{FF2B5EF4-FFF2-40B4-BE49-F238E27FC236}">
                <a16:creationId xmlns:a16="http://schemas.microsoft.com/office/drawing/2014/main" id="{8E205EF7-981D-47EA-89D1-336261FE7811}"/>
              </a:ext>
            </a:extLst>
          </p:cNvPr>
          <p:cNvSpPr>
            <a:spLocks noChangeShapeType="1"/>
          </p:cNvSpPr>
          <p:nvPr/>
        </p:nvSpPr>
        <p:spPr bwMode="auto">
          <a:xfrm flipH="1">
            <a:off x="2971800" y="51054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0" name="Line 8">
            <a:extLst>
              <a:ext uri="{FF2B5EF4-FFF2-40B4-BE49-F238E27FC236}">
                <a16:creationId xmlns:a16="http://schemas.microsoft.com/office/drawing/2014/main" id="{249EA95F-D04A-4815-B599-48A66F2273D0}"/>
              </a:ext>
            </a:extLst>
          </p:cNvPr>
          <p:cNvSpPr>
            <a:spLocks noChangeShapeType="1"/>
          </p:cNvSpPr>
          <p:nvPr/>
        </p:nvSpPr>
        <p:spPr bwMode="auto">
          <a:xfrm flipH="1">
            <a:off x="7924800" y="50292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1" name="Text Box 9">
            <a:extLst>
              <a:ext uri="{FF2B5EF4-FFF2-40B4-BE49-F238E27FC236}">
                <a16:creationId xmlns:a16="http://schemas.microsoft.com/office/drawing/2014/main" id="{0FAC4837-1C2C-4608-96FA-787FA2FB9D26}"/>
              </a:ext>
            </a:extLst>
          </p:cNvPr>
          <p:cNvSpPr txBox="1">
            <a:spLocks noChangeArrowheads="1"/>
          </p:cNvSpPr>
          <p:nvPr/>
        </p:nvSpPr>
        <p:spPr bwMode="auto">
          <a:xfrm>
            <a:off x="2819400" y="44958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accent2"/>
                </a:solidFill>
                <a:ea typeface="楷体_GB2312" pitchFamily="49" charset="-122"/>
              </a:rPr>
              <a:t>出队列</a:t>
            </a:r>
          </a:p>
        </p:txBody>
      </p:sp>
      <p:sp>
        <p:nvSpPr>
          <p:cNvPr id="31752" name="Text Box 10">
            <a:extLst>
              <a:ext uri="{FF2B5EF4-FFF2-40B4-BE49-F238E27FC236}">
                <a16:creationId xmlns:a16="http://schemas.microsoft.com/office/drawing/2014/main" id="{04FB711A-A1CE-4C11-A133-254584A7538E}"/>
              </a:ext>
            </a:extLst>
          </p:cNvPr>
          <p:cNvSpPr txBox="1">
            <a:spLocks noChangeArrowheads="1"/>
          </p:cNvSpPr>
          <p:nvPr/>
        </p:nvSpPr>
        <p:spPr bwMode="auto">
          <a:xfrm>
            <a:off x="7848600" y="44958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accent2"/>
                </a:solidFill>
                <a:ea typeface="楷体_GB2312" pitchFamily="49" charset="-122"/>
              </a:rPr>
              <a:t>入队列</a:t>
            </a:r>
          </a:p>
        </p:txBody>
      </p:sp>
      <p:sp>
        <p:nvSpPr>
          <p:cNvPr id="31753" name="Line 11">
            <a:extLst>
              <a:ext uri="{FF2B5EF4-FFF2-40B4-BE49-F238E27FC236}">
                <a16:creationId xmlns:a16="http://schemas.microsoft.com/office/drawing/2014/main" id="{D87F8790-0B3F-4A58-874F-028B754A57BE}"/>
              </a:ext>
            </a:extLst>
          </p:cNvPr>
          <p:cNvSpPr>
            <a:spLocks noChangeShapeType="1"/>
          </p:cNvSpPr>
          <p:nvPr/>
        </p:nvSpPr>
        <p:spPr bwMode="auto">
          <a:xfrm flipV="1">
            <a:off x="4038600" y="5486400"/>
            <a:ext cx="76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4" name="Line 12">
            <a:extLst>
              <a:ext uri="{FF2B5EF4-FFF2-40B4-BE49-F238E27FC236}">
                <a16:creationId xmlns:a16="http://schemas.microsoft.com/office/drawing/2014/main" id="{D1AD4184-C93B-40AB-A915-B56703C097E6}"/>
              </a:ext>
            </a:extLst>
          </p:cNvPr>
          <p:cNvSpPr>
            <a:spLocks noChangeShapeType="1"/>
          </p:cNvSpPr>
          <p:nvPr/>
        </p:nvSpPr>
        <p:spPr bwMode="auto">
          <a:xfrm flipH="1" flipV="1">
            <a:off x="6400800" y="5486400"/>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5" name="Text Box 13">
            <a:extLst>
              <a:ext uri="{FF2B5EF4-FFF2-40B4-BE49-F238E27FC236}">
                <a16:creationId xmlns:a16="http://schemas.microsoft.com/office/drawing/2014/main" id="{FD5EB066-D543-4CA8-813B-EB4D428C98EC}"/>
              </a:ext>
            </a:extLst>
          </p:cNvPr>
          <p:cNvSpPr txBox="1">
            <a:spLocks noChangeArrowheads="1"/>
          </p:cNvSpPr>
          <p:nvPr/>
        </p:nvSpPr>
        <p:spPr bwMode="auto">
          <a:xfrm>
            <a:off x="3810000" y="5791201"/>
            <a:ext cx="412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accent2"/>
                </a:solidFill>
                <a:ea typeface="楷体_GB2312" pitchFamily="49" charset="-122"/>
              </a:rPr>
              <a:t>队</a:t>
            </a:r>
          </a:p>
          <a:p>
            <a:pPr eaLnBrk="1" hangingPunct="1"/>
            <a:r>
              <a:rPr lang="zh-CN" altLang="en-US" sz="2000" b="1">
                <a:solidFill>
                  <a:schemeClr val="accent2"/>
                </a:solidFill>
                <a:ea typeface="楷体_GB2312" pitchFamily="49" charset="-122"/>
              </a:rPr>
              <a:t>头</a:t>
            </a:r>
          </a:p>
        </p:txBody>
      </p:sp>
      <p:sp>
        <p:nvSpPr>
          <p:cNvPr id="31756" name="Text Box 14">
            <a:extLst>
              <a:ext uri="{FF2B5EF4-FFF2-40B4-BE49-F238E27FC236}">
                <a16:creationId xmlns:a16="http://schemas.microsoft.com/office/drawing/2014/main" id="{B4C833F3-F180-4C10-9001-061D12A79952}"/>
              </a:ext>
            </a:extLst>
          </p:cNvPr>
          <p:cNvSpPr txBox="1">
            <a:spLocks noChangeArrowheads="1"/>
          </p:cNvSpPr>
          <p:nvPr/>
        </p:nvSpPr>
        <p:spPr bwMode="auto">
          <a:xfrm>
            <a:off x="6477000" y="5791201"/>
            <a:ext cx="381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accent2"/>
                </a:solidFill>
                <a:ea typeface="楷体_GB2312" pitchFamily="49" charset="-122"/>
              </a:rPr>
              <a:t>队</a:t>
            </a:r>
          </a:p>
          <a:p>
            <a:pPr eaLnBrk="1" hangingPunct="1"/>
            <a:r>
              <a:rPr lang="zh-CN" altLang="en-US" sz="2000" b="1">
                <a:solidFill>
                  <a:schemeClr val="accent2"/>
                </a:solidFill>
                <a:ea typeface="楷体_GB2312" pitchFamily="49" charset="-122"/>
              </a:rPr>
              <a:t>尾</a:t>
            </a:r>
          </a:p>
        </p:txBody>
      </p:sp>
      <p:sp>
        <p:nvSpPr>
          <p:cNvPr id="13" name="TextBox 36">
            <a:extLst>
              <a:ext uri="{FF2B5EF4-FFF2-40B4-BE49-F238E27FC236}">
                <a16:creationId xmlns:a16="http://schemas.microsoft.com/office/drawing/2014/main" id="{9E904A57-B789-4FBD-A007-E1A0260CB678}"/>
              </a:ext>
            </a:extLst>
          </p:cNvPr>
          <p:cNvSpPr txBox="1"/>
          <p:nvPr/>
        </p:nvSpPr>
        <p:spPr>
          <a:xfrm>
            <a:off x="334800" y="320400"/>
            <a:ext cx="3722045"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队列（</a:t>
            </a:r>
            <a:r>
              <a:rPr lang="en-US" altLang="zh-CN" sz="3200" b="1" dirty="0">
                <a:solidFill>
                  <a:srgbClr val="C00000"/>
                </a:solidFill>
                <a:latin typeface="微软雅黑" panose="020B0503020204020204" pitchFamily="34" charset="-122"/>
                <a:ea typeface="微软雅黑" panose="020B0503020204020204" pitchFamily="34" charset="-122"/>
              </a:rPr>
              <a:t>Queue</a:t>
            </a:r>
            <a:r>
              <a:rPr lang="zh-CN" altLang="en-US" sz="3200" b="1" dirty="0">
                <a:solidFill>
                  <a:srgbClr val="C00000"/>
                </a:solidFill>
                <a:latin typeface="微软雅黑" panose="020B0503020204020204" pitchFamily="34" charset="-122"/>
                <a:ea typeface="微软雅黑" panose="020B0503020204020204" pitchFamily="34" charset="-122"/>
              </a:rPr>
              <a:t>）</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AA7379B7-5B7E-491E-9450-88381F116A2C}"/>
              </a:ext>
            </a:extLst>
          </p:cNvPr>
          <p:cNvSpPr/>
          <p:nvPr/>
        </p:nvSpPr>
        <p:spPr>
          <a:xfrm>
            <a:off x="244698" y="1150461"/>
            <a:ext cx="11571668" cy="6536533"/>
          </a:xfrm>
          <a:prstGeom prst="rect">
            <a:avLst/>
          </a:prstGeom>
        </p:spPr>
        <p:txBody>
          <a:bodyPr wrap="square">
            <a:spAutoFit/>
          </a:bodyPr>
          <a:lstStyle/>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定义</a:t>
            </a:r>
            <a:r>
              <a:rPr lang="en-US" altLang="zh-CN" sz="2400" b="1" kern="100" dirty="0">
                <a:solidFill>
                  <a:srgbClr val="014B88"/>
                </a:solidFill>
                <a:latin typeface="仿宋_GB2312"/>
                <a:cs typeface="Times New Roman" panose="02020603050405020304" pitchFamily="18" charset="0"/>
              </a:rPr>
              <a:t>:</a:t>
            </a:r>
            <a:r>
              <a:rPr lang="zh-CN" altLang="en-US" sz="2400" b="1" kern="100" dirty="0">
                <a:solidFill>
                  <a:srgbClr val="014B88"/>
                </a:solidFill>
                <a:latin typeface="仿宋_GB2312"/>
                <a:cs typeface="Times New Roman" panose="02020603050405020304" pitchFamily="18" charset="0"/>
              </a:rPr>
              <a:t>只允许在表的一端进行插入，而在另一端删除元素的线性表</a:t>
            </a: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在队列中，允许插入的一端叫队尾（</a:t>
            </a:r>
            <a:r>
              <a:rPr lang="en-US" altLang="zh-CN" sz="2400" b="1" kern="100" dirty="0">
                <a:solidFill>
                  <a:srgbClr val="014B88"/>
                </a:solidFill>
                <a:latin typeface="仿宋_GB2312"/>
                <a:cs typeface="Times New Roman" panose="02020603050405020304" pitchFamily="18" charset="0"/>
              </a:rPr>
              <a:t>rear</a:t>
            </a:r>
            <a:r>
              <a:rPr lang="zh-CN" altLang="en-US" sz="2400" b="1" kern="100" dirty="0">
                <a:solidFill>
                  <a:srgbClr val="014B88"/>
                </a:solidFill>
                <a:latin typeface="仿宋_GB2312"/>
                <a:cs typeface="Times New Roman" panose="02020603050405020304" pitchFamily="18" charset="0"/>
              </a:rPr>
              <a:t>）</a:t>
            </a: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允许删除的一端称为队头</a:t>
            </a:r>
            <a:r>
              <a:rPr lang="en-US" altLang="zh-CN" sz="2400" b="1" kern="100" dirty="0">
                <a:solidFill>
                  <a:srgbClr val="014B88"/>
                </a:solidFill>
                <a:latin typeface="仿宋_GB2312"/>
                <a:cs typeface="Times New Roman" panose="02020603050405020304" pitchFamily="18" charset="0"/>
              </a:rPr>
              <a:t>(front)</a:t>
            </a:r>
            <a:r>
              <a:rPr lang="zh-CN" altLang="en-US" sz="2400" b="1" kern="100" dirty="0">
                <a:solidFill>
                  <a:srgbClr val="014B88"/>
                </a:solidFill>
                <a:latin typeface="仿宋_GB2312"/>
                <a:cs typeface="Times New Roman" panose="02020603050405020304" pitchFamily="18" charset="0"/>
              </a:rPr>
              <a:t>。</a:t>
            </a:r>
          </a:p>
          <a:p>
            <a:pPr marL="800100" lvl="1" indent="-342900"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特点：先进先出 </a:t>
            </a:r>
            <a:r>
              <a:rPr lang="en-US" altLang="zh-CN" sz="2400" b="1" kern="100" dirty="0">
                <a:solidFill>
                  <a:srgbClr val="014B88"/>
                </a:solidFill>
                <a:latin typeface="仿宋_GB2312"/>
                <a:cs typeface="Times New Roman" panose="02020603050405020304" pitchFamily="18" charset="0"/>
              </a:rPr>
              <a:t>(FIFO)</a:t>
            </a:r>
          </a:p>
          <a:p>
            <a:pPr marL="800100" lvl="1" indent="-342900"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a:p>
            <a:br>
              <a:rPr lang="zh-CN" altLang="en-US" dirty="0"/>
            </a:br>
            <a:endParaRPr lang="en-US" altLang="zh-CN"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zh-CN" altLang="en-US" sz="2400" b="1" kern="100" dirty="0">
              <a:solidFill>
                <a:srgbClr val="014B88"/>
              </a:solidFill>
              <a:latin typeface="仿宋_GB2312"/>
              <a:cs typeface="Times New Roman" panose="02020603050405020304" pitchFamily="18" charset="0"/>
            </a:endParaRPr>
          </a:p>
          <a:p>
            <a:pPr marL="800100" lvl="1" indent="-342900"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a:p>
            <a:pPr lvl="1" algn="just">
              <a:lnSpc>
                <a:spcPct val="200000"/>
              </a:lnSpc>
            </a:pPr>
            <a:endParaRPr lang="en-US" altLang="zh-CN" sz="2400" b="1" kern="100" dirty="0">
              <a:solidFill>
                <a:srgbClr val="014B88"/>
              </a:solidFill>
              <a:latin typeface="仿宋_GB2312"/>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4784E0E-894F-4295-8841-84CAD1B5F4A8}"/>
              </a:ext>
            </a:extLst>
          </p:cNvPr>
          <p:cNvSpPr>
            <a:spLocks noGrp="1"/>
          </p:cNvSpPr>
          <p:nvPr>
            <p:ph idx="4294967295"/>
          </p:nvPr>
        </p:nvSpPr>
        <p:spPr>
          <a:xfrm>
            <a:off x="838200" y="1253331"/>
            <a:ext cx="10515600" cy="4351337"/>
          </a:xfrm>
        </p:spPr>
        <p:txBody>
          <a:bodyPr>
            <a:normAutofit/>
          </a:bodyPr>
          <a:lstStyle/>
          <a:p>
            <a:pPr marL="0" indent="0">
              <a:buNone/>
            </a:pPr>
            <a:r>
              <a:rPr lang="en-US" altLang="zh-CN" b="1" dirty="0">
                <a:solidFill>
                  <a:srgbClr val="014B88"/>
                </a:solidFill>
                <a:latin typeface="Consolas" panose="020B0609020204030204" pitchFamily="49" charset="0"/>
              </a:rPr>
              <a:t>#include &lt;queue&gt;				//</a:t>
            </a:r>
            <a:r>
              <a:rPr lang="zh-CN" altLang="en-US" b="1" dirty="0">
                <a:solidFill>
                  <a:srgbClr val="014B88"/>
                </a:solidFill>
                <a:latin typeface="Consolas" panose="020B0609020204030204" pitchFamily="49" charset="0"/>
              </a:rPr>
              <a:t>头文件</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std</a:t>
            </a:r>
            <a:r>
              <a:rPr lang="en-US" altLang="zh-CN" b="1" dirty="0">
                <a:solidFill>
                  <a:srgbClr val="014B88"/>
                </a:solidFill>
                <a:latin typeface="Consolas" panose="020B0609020204030204" pitchFamily="49" charset="0"/>
              </a:rPr>
              <a:t>::queue&lt;</a:t>
            </a:r>
            <a:r>
              <a:rPr lang="en-US" altLang="zh-CN" b="1" dirty="0" err="1">
                <a:solidFill>
                  <a:srgbClr val="014B88"/>
                </a:solidFill>
                <a:latin typeface="Consolas" panose="020B0609020204030204" pitchFamily="49" charset="0"/>
              </a:rPr>
              <a:t>int</a:t>
            </a:r>
            <a:r>
              <a:rPr lang="en-US" altLang="zh-CN" b="1" dirty="0">
                <a:solidFill>
                  <a:srgbClr val="014B88"/>
                </a:solidFill>
                <a:latin typeface="Consolas" panose="020B0609020204030204" pitchFamily="49" charset="0"/>
              </a:rPr>
              <a:t>&gt; </a:t>
            </a:r>
            <a:r>
              <a:rPr lang="en-US" altLang="zh-CN" b="1" dirty="0" err="1">
                <a:solidFill>
                  <a:srgbClr val="014B88"/>
                </a:solidFill>
                <a:latin typeface="Consolas" panose="020B0609020204030204" pitchFamily="49" charset="0"/>
              </a:rPr>
              <a:t>myqueue</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定义</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myqueue.empty</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判断队列是否为空</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myqueue.size</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队列大小</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myqueue.push</a:t>
            </a:r>
            <a:r>
              <a:rPr lang="en-US" altLang="zh-CN" b="1" dirty="0">
                <a:solidFill>
                  <a:srgbClr val="014B88"/>
                </a:solidFill>
                <a:latin typeface="Consolas" panose="020B0609020204030204" pitchFamily="49" charset="0"/>
              </a:rPr>
              <a:t>(10);			//</a:t>
            </a:r>
            <a:r>
              <a:rPr lang="zh-CN" altLang="en-US" b="1" dirty="0">
                <a:solidFill>
                  <a:srgbClr val="014B88"/>
                </a:solidFill>
                <a:latin typeface="Consolas" panose="020B0609020204030204" pitchFamily="49" charset="0"/>
              </a:rPr>
              <a:t>元素进队</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myqueue.front</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获得队首元素</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myqueue.back</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获得队尾元素</a:t>
            </a:r>
            <a:endParaRPr lang="en-US" altLang="zh-CN" b="1" dirty="0">
              <a:solidFill>
                <a:srgbClr val="014B88"/>
              </a:solidFill>
              <a:latin typeface="Consolas" panose="020B0609020204030204" pitchFamily="49" charset="0"/>
            </a:endParaRPr>
          </a:p>
          <a:p>
            <a:pPr marL="0" indent="0">
              <a:buNone/>
            </a:pPr>
            <a:r>
              <a:rPr lang="en-US" altLang="zh-CN" b="1" dirty="0" err="1">
                <a:solidFill>
                  <a:srgbClr val="014B88"/>
                </a:solidFill>
                <a:latin typeface="Consolas" panose="020B0609020204030204" pitchFamily="49" charset="0"/>
              </a:rPr>
              <a:t>myqueue.pop</a:t>
            </a:r>
            <a:r>
              <a:rPr lang="en-US" altLang="zh-CN" b="1" dirty="0">
                <a:solidFill>
                  <a:srgbClr val="014B88"/>
                </a:solidFill>
                <a:latin typeface="Consolas" panose="020B0609020204030204" pitchFamily="49" charset="0"/>
              </a:rPr>
              <a:t>();				//</a:t>
            </a:r>
            <a:r>
              <a:rPr lang="zh-CN" altLang="en-US" b="1" dirty="0">
                <a:solidFill>
                  <a:srgbClr val="014B88"/>
                </a:solidFill>
                <a:latin typeface="Consolas" panose="020B0609020204030204" pitchFamily="49" charset="0"/>
              </a:rPr>
              <a:t>队首出队</a:t>
            </a:r>
            <a:endParaRPr lang="en-US" altLang="zh-CN" b="1" dirty="0">
              <a:solidFill>
                <a:srgbClr val="014B88"/>
              </a:solidFill>
              <a:latin typeface="Consolas" panose="020B0609020204030204" pitchFamily="49" charset="0"/>
            </a:endParaRPr>
          </a:p>
          <a:p>
            <a:pPr marL="0" indent="0">
              <a:buNone/>
            </a:pPr>
            <a:endParaRPr lang="zh-CN" altLang="en-US" dirty="0"/>
          </a:p>
        </p:txBody>
      </p:sp>
      <p:sp>
        <p:nvSpPr>
          <p:cNvPr id="4" name="TextBox 36">
            <a:extLst>
              <a:ext uri="{FF2B5EF4-FFF2-40B4-BE49-F238E27FC236}">
                <a16:creationId xmlns:a16="http://schemas.microsoft.com/office/drawing/2014/main" id="{22C3C649-77F3-4D35-B890-C491AE326CE0}"/>
              </a:ext>
            </a:extLst>
          </p:cNvPr>
          <p:cNvSpPr txBox="1"/>
          <p:nvPr/>
        </p:nvSpPr>
        <p:spPr>
          <a:xfrm>
            <a:off x="334800" y="320400"/>
            <a:ext cx="9008823" cy="651653"/>
          </a:xfrm>
          <a:prstGeom prst="rect">
            <a:avLst/>
          </a:prstGeom>
          <a:noFill/>
        </p:spPr>
        <p:txBody>
          <a:bodyPr wrap="square" rtlCol="0">
            <a:spAutoFit/>
          </a:bodyPr>
          <a:lstStyle/>
          <a:p>
            <a:pPr marL="457200" indent="-457200">
              <a:lnSpc>
                <a:spcPct val="125000"/>
              </a:lnSpc>
              <a:spcAft>
                <a:spcPts val="1200"/>
              </a:spcAft>
              <a:buFont typeface="Wingdings" panose="05000000000000000000" pitchFamily="2" charset="2"/>
              <a:buChar char="n"/>
            </a:pPr>
            <a:r>
              <a:rPr lang="en-US" altLang="zh-CN" sz="3200" b="1" dirty="0">
                <a:solidFill>
                  <a:srgbClr val="C00000"/>
                </a:solidFill>
                <a:latin typeface="微软雅黑" panose="020B0503020204020204" pitchFamily="34" charset="-122"/>
                <a:ea typeface="微软雅黑" panose="020B0503020204020204" pitchFamily="34" charset="-122"/>
              </a:rPr>
              <a:t> STL</a:t>
            </a:r>
            <a:r>
              <a:rPr lang="zh-CN" altLang="en-US" sz="3200" b="1" dirty="0">
                <a:solidFill>
                  <a:srgbClr val="C00000"/>
                </a:solidFill>
                <a:latin typeface="微软雅黑" panose="020B0503020204020204" pitchFamily="34" charset="-122"/>
                <a:ea typeface="微软雅黑" panose="020B0503020204020204" pitchFamily="34" charset="-122"/>
              </a:rPr>
              <a:t>的应用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队列</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61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a:extLst>
              <a:ext uri="{FF2B5EF4-FFF2-40B4-BE49-F238E27FC236}">
                <a16:creationId xmlns:a16="http://schemas.microsoft.com/office/drawing/2014/main" id="{8B834CEA-6E98-4546-8A2A-702BF7C84936}"/>
              </a:ext>
            </a:extLst>
          </p:cNvPr>
          <p:cNvSpPr txBox="1">
            <a:spLocks noChangeArrowheads="1"/>
          </p:cNvSpPr>
          <p:nvPr/>
        </p:nvSpPr>
        <p:spPr bwMode="auto">
          <a:xfrm>
            <a:off x="898741" y="1215157"/>
            <a:ext cx="11048567" cy="11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题意：给出一个柱形统计图(histogram), 它的每个柱子的宽度是1， 高度和具体问题有关。 求在这个柱形图中的最大面积的长方形（n&lt;=1e5)</a:t>
            </a:r>
          </a:p>
        </p:txBody>
      </p:sp>
      <p:sp>
        <p:nvSpPr>
          <p:cNvPr id="6149" name="Text Box 5">
            <a:extLst>
              <a:ext uri="{FF2B5EF4-FFF2-40B4-BE49-F238E27FC236}">
                <a16:creationId xmlns:a16="http://schemas.microsoft.com/office/drawing/2014/main" id="{7657E359-EA81-4271-93A3-F3D1A8FA967B}"/>
              </a:ext>
            </a:extLst>
          </p:cNvPr>
          <p:cNvSpPr txBox="1">
            <a:spLocks noChangeArrowheads="1"/>
          </p:cNvSpPr>
          <p:nvPr/>
        </p:nvSpPr>
        <p:spPr bwMode="auto">
          <a:xfrm>
            <a:off x="2195822" y="2714279"/>
            <a:ext cx="6850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例如：2, 1, 4, 5, 1, 3, 3</a:t>
            </a:r>
          </a:p>
        </p:txBody>
      </p:sp>
      <p:pic>
        <p:nvPicPr>
          <p:cNvPr id="6150" name="Picture 6" descr="QQ截图20150705144608">
            <a:extLst>
              <a:ext uri="{FF2B5EF4-FFF2-40B4-BE49-F238E27FC236}">
                <a16:creationId xmlns:a16="http://schemas.microsoft.com/office/drawing/2014/main" id="{A08F9B0C-ABAC-4DA4-9C94-0A5AC17C9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0122" y="3152025"/>
            <a:ext cx="4846637"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Text Box 7">
            <a:extLst>
              <a:ext uri="{FF2B5EF4-FFF2-40B4-BE49-F238E27FC236}">
                <a16:creationId xmlns:a16="http://schemas.microsoft.com/office/drawing/2014/main" id="{766AE84B-71B0-4017-8ED2-5505CD87ADD6}"/>
              </a:ext>
            </a:extLst>
          </p:cNvPr>
          <p:cNvSpPr txBox="1">
            <a:spLocks noChangeArrowheads="1"/>
          </p:cNvSpPr>
          <p:nvPr/>
        </p:nvSpPr>
        <p:spPr bwMode="auto">
          <a:xfrm>
            <a:off x="7434572" y="4237875"/>
            <a:ext cx="2746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rPr>
              <a:t>最大面积：8</a:t>
            </a:r>
          </a:p>
        </p:txBody>
      </p:sp>
      <p:sp>
        <p:nvSpPr>
          <p:cNvPr id="9" name="TextBox 36">
            <a:extLst>
              <a:ext uri="{FF2B5EF4-FFF2-40B4-BE49-F238E27FC236}">
                <a16:creationId xmlns:a16="http://schemas.microsoft.com/office/drawing/2014/main" id="{7D722CA7-A7EA-418C-AF65-4DB0B2009255}"/>
              </a:ext>
            </a:extLst>
          </p:cNvPr>
          <p:cNvSpPr txBox="1"/>
          <p:nvPr/>
        </p:nvSpPr>
        <p:spPr>
          <a:xfrm>
            <a:off x="334800" y="320400"/>
            <a:ext cx="3722045"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思考问题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 calcmode="lin" valueType="num">
                                      <p:cBhvr additive="base">
                                        <p:cTn id="7" dur="500" fill="hold"/>
                                        <p:tgtEl>
                                          <p:spTgt spid="61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9" presetClass="entr" presetSubtype="0" fill="hold" grpId="0" nodeType="clickEffect">
                                  <p:stCondLst>
                                    <p:cond delay="0"/>
                                  </p:stCondLst>
                                  <p:childTnLst>
                                    <p:set>
                                      <p:cBhvr>
                                        <p:cTn id="12" dur="1" fill="hold">
                                          <p:stCondLst>
                                            <p:cond delay="0"/>
                                          </p:stCondLst>
                                        </p:cTn>
                                        <p:tgtEl>
                                          <p:spTgt spid="6149"/>
                                        </p:tgtEl>
                                        <p:attrNameLst>
                                          <p:attrName>style.visibility</p:attrName>
                                        </p:attrNameLst>
                                      </p:cBhvr>
                                      <p:to>
                                        <p:strVal val="visible"/>
                                      </p:to>
                                    </p:set>
                                    <p:anim calcmode="lin" valueType="num">
                                      <p:cBhvr>
                                        <p:cTn id="13" dur="1000" fill="hold"/>
                                        <p:tgtEl>
                                          <p:spTgt spid="6149"/>
                                        </p:tgtEl>
                                        <p:attrNameLst>
                                          <p:attrName>ppt_x</p:attrName>
                                        </p:attrNameLst>
                                      </p:cBhvr>
                                      <p:tavLst>
                                        <p:tav tm="0">
                                          <p:val>
                                            <p:strVal val="#ppt_x-.2"/>
                                          </p:val>
                                        </p:tav>
                                        <p:tav tm="100000">
                                          <p:val>
                                            <p:strVal val="#ppt_x"/>
                                          </p:val>
                                        </p:tav>
                                      </p:tavLst>
                                    </p:anim>
                                    <p:anim calcmode="lin" valueType="num">
                                      <p:cBhvr>
                                        <p:cTn id="14" dur="1000" fill="hold"/>
                                        <p:tgtEl>
                                          <p:spTgt spid="6149"/>
                                        </p:tgtEl>
                                        <p:attrNameLst>
                                          <p:attrName>ppt_y</p:attrName>
                                        </p:attrNameLst>
                                      </p:cBhvr>
                                      <p:tavLst>
                                        <p:tav tm="0">
                                          <p:val>
                                            <p:strVal val="#ppt_y"/>
                                          </p:val>
                                        </p:tav>
                                        <p:tav tm="100000">
                                          <p:val>
                                            <p:strVal val="#ppt_y"/>
                                          </p:val>
                                        </p:tav>
                                      </p:tavLst>
                                    </p:anim>
                                    <p:animEffect transition="in" filter="wipe(right)" prLst="gradientSize: 0.1">
                                      <p:cBhvr>
                                        <p:cTn id="15" dur="1000"/>
                                        <p:tgtEl>
                                          <p:spTgt spid="614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9" presetClass="entr" presetSubtype="0" fill="hold" nodeType="clickEffect">
                                  <p:stCondLst>
                                    <p:cond delay="0"/>
                                  </p:stCondLst>
                                  <p:childTnLst>
                                    <p:set>
                                      <p:cBhvr>
                                        <p:cTn id="19" dur="1" fill="hold">
                                          <p:stCondLst>
                                            <p:cond delay="0"/>
                                          </p:stCondLst>
                                        </p:cTn>
                                        <p:tgtEl>
                                          <p:spTgt spid="6150"/>
                                        </p:tgtEl>
                                        <p:attrNameLst>
                                          <p:attrName>style.visibility</p:attrName>
                                        </p:attrNameLst>
                                      </p:cBhvr>
                                      <p:to>
                                        <p:strVal val="visible"/>
                                      </p:to>
                                    </p:set>
                                    <p:anim calcmode="lin" valueType="num">
                                      <p:cBhvr>
                                        <p:cTn id="20" dur="500" fill="hold"/>
                                        <p:tgtEl>
                                          <p:spTgt spid="6150"/>
                                        </p:tgtEl>
                                        <p:attrNameLst>
                                          <p:attrName>ppt_x</p:attrName>
                                        </p:attrNameLst>
                                      </p:cBhvr>
                                      <p:tavLst>
                                        <p:tav tm="0">
                                          <p:val>
                                            <p:strVal val="#ppt_x-.2"/>
                                          </p:val>
                                        </p:tav>
                                        <p:tav tm="100000">
                                          <p:val>
                                            <p:strVal val="#ppt_x"/>
                                          </p:val>
                                        </p:tav>
                                      </p:tavLst>
                                    </p:anim>
                                    <p:anim calcmode="lin" valueType="num">
                                      <p:cBhvr>
                                        <p:cTn id="21" dur="500" fill="hold"/>
                                        <p:tgtEl>
                                          <p:spTgt spid="6150"/>
                                        </p:tgtEl>
                                        <p:attrNameLst>
                                          <p:attrName>ppt_y</p:attrName>
                                        </p:attrNameLst>
                                      </p:cBhvr>
                                      <p:tavLst>
                                        <p:tav tm="0">
                                          <p:val>
                                            <p:strVal val="#ppt_y"/>
                                          </p:val>
                                        </p:tav>
                                        <p:tav tm="100000">
                                          <p:val>
                                            <p:strVal val="#ppt_y"/>
                                          </p:val>
                                        </p:tav>
                                      </p:tavLst>
                                    </p:anim>
                                    <p:animEffect transition="in" filter="wipe(right)" prLst="gradientSize: 0.1">
                                      <p:cBhvr>
                                        <p:cTn id="22" dur="500"/>
                                        <p:tgtEl>
                                          <p:spTgt spid="61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151"/>
                                        </p:tgtEl>
                                        <p:attrNameLst>
                                          <p:attrName>style.visibility</p:attrName>
                                        </p:attrNameLst>
                                      </p:cBhvr>
                                      <p:to>
                                        <p:strVal val="visible"/>
                                      </p:to>
                                    </p:set>
                                    <p:anim calcmode="lin" valueType="num">
                                      <p:cBhvr additive="base">
                                        <p:cTn id="27" dur="500" fill="hold"/>
                                        <p:tgtEl>
                                          <p:spTgt spid="6151"/>
                                        </p:tgtEl>
                                        <p:attrNameLst>
                                          <p:attrName>ppt_x</p:attrName>
                                        </p:attrNameLst>
                                      </p:cBhvr>
                                      <p:tavLst>
                                        <p:tav tm="0">
                                          <p:val>
                                            <p:strVal val="#ppt_x"/>
                                          </p:val>
                                        </p:tav>
                                        <p:tav tm="100000">
                                          <p:val>
                                            <p:strVal val="#ppt_x"/>
                                          </p:val>
                                        </p:tav>
                                      </p:tavLst>
                                    </p:anim>
                                    <p:anim calcmode="lin" valueType="num">
                                      <p:cBhvr additive="base">
                                        <p:cTn id="28"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bldLvl="0" autoUpdateAnimBg="0"/>
      <p:bldP spid="6151" grpId="0" bldLvl="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a:extLst>
              <a:ext uri="{FF2B5EF4-FFF2-40B4-BE49-F238E27FC236}">
                <a16:creationId xmlns:a16="http://schemas.microsoft.com/office/drawing/2014/main" id="{4BC284B7-5F8E-4226-B982-FB4F6DBB1361}"/>
              </a:ext>
            </a:extLst>
          </p:cNvPr>
          <p:cNvSpPr txBox="1">
            <a:spLocks noChangeArrowheads="1"/>
          </p:cNvSpPr>
          <p:nvPr/>
        </p:nvSpPr>
        <p:spPr bwMode="auto">
          <a:xfrm>
            <a:off x="1860550" y="1333500"/>
            <a:ext cx="79851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a:ln>
                  <a:noFill/>
                </a:ln>
                <a:solidFill>
                  <a:srgbClr val="FA3697"/>
                </a:solidFill>
                <a:effectLst/>
                <a:uLnTx/>
                <a:uFillTx/>
                <a:latin typeface="Calibri"/>
                <a:ea typeface="微软雅黑" panose="020B0503020204020204" pitchFamily="34" charset="-122"/>
                <a:cs typeface="+mn-cs"/>
              </a:rPr>
              <a:t> </a:t>
            </a:r>
          </a:p>
        </p:txBody>
      </p:sp>
      <p:sp>
        <p:nvSpPr>
          <p:cNvPr id="4100" name="Text Box 4">
            <a:extLst>
              <a:ext uri="{FF2B5EF4-FFF2-40B4-BE49-F238E27FC236}">
                <a16:creationId xmlns:a16="http://schemas.microsoft.com/office/drawing/2014/main" id="{97935E66-7E36-4C8A-8AAA-6239A82FE916}"/>
              </a:ext>
            </a:extLst>
          </p:cNvPr>
          <p:cNvSpPr txBox="1">
            <a:spLocks noChangeArrowheads="1"/>
          </p:cNvSpPr>
          <p:nvPr/>
        </p:nvSpPr>
        <p:spPr bwMode="auto">
          <a:xfrm>
            <a:off x="835024" y="1079032"/>
            <a:ext cx="10594976" cy="11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单调栈：栈内的元素，按照某种方式排序（按出栈顺序单调递增或者单调递减），如果新入栈的元素破坏了单调性，就弹出栈内元素，直到满足单调性</a:t>
            </a:r>
          </a:p>
        </p:txBody>
      </p:sp>
      <p:sp>
        <p:nvSpPr>
          <p:cNvPr id="7" name="TextBox 36">
            <a:extLst>
              <a:ext uri="{FF2B5EF4-FFF2-40B4-BE49-F238E27FC236}">
                <a16:creationId xmlns:a16="http://schemas.microsoft.com/office/drawing/2014/main" id="{A1CE0175-5EE5-4BAE-8D79-FD99990983B0}"/>
              </a:ext>
            </a:extLst>
          </p:cNvPr>
          <p:cNvSpPr txBox="1"/>
          <p:nvPr/>
        </p:nvSpPr>
        <p:spPr>
          <a:xfrm>
            <a:off x="334800" y="320400"/>
            <a:ext cx="3722045"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单调栈</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 name="Text Box 2">
            <a:extLst>
              <a:ext uri="{FF2B5EF4-FFF2-40B4-BE49-F238E27FC236}">
                <a16:creationId xmlns:a16="http://schemas.microsoft.com/office/drawing/2014/main" id="{2D45A67F-DF0C-470C-A3E7-D55BCF5BB0CD}"/>
              </a:ext>
            </a:extLst>
          </p:cNvPr>
          <p:cNvSpPr txBox="1">
            <a:spLocks noChangeArrowheads="1"/>
          </p:cNvSpPr>
          <p:nvPr/>
        </p:nvSpPr>
        <p:spPr bwMode="auto">
          <a:xfrm>
            <a:off x="1040621" y="4132139"/>
            <a:ext cx="7583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D5F95"/>
                </a:solidFill>
                <a:effectLst/>
                <a:uLnTx/>
                <a:uFillTx/>
                <a:latin typeface="Calibri"/>
                <a:ea typeface="微软雅黑" panose="020B0503020204020204" pitchFamily="34" charset="-122"/>
                <a:cs typeface="+mn-cs"/>
              </a:rPr>
              <a:t>如何维护单调栈：（以维护单调递减栈为例）</a:t>
            </a:r>
          </a:p>
        </p:txBody>
      </p:sp>
      <p:sp>
        <p:nvSpPr>
          <p:cNvPr id="9" name="Text Box 3">
            <a:extLst>
              <a:ext uri="{FF2B5EF4-FFF2-40B4-BE49-F238E27FC236}">
                <a16:creationId xmlns:a16="http://schemas.microsoft.com/office/drawing/2014/main" id="{D7181C1F-AE5B-495B-B79F-E27C7FF826DA}"/>
              </a:ext>
            </a:extLst>
          </p:cNvPr>
          <p:cNvSpPr txBox="1">
            <a:spLocks noChangeArrowheads="1"/>
          </p:cNvSpPr>
          <p:nvPr/>
        </p:nvSpPr>
        <p:spPr bwMode="auto">
          <a:xfrm>
            <a:off x="1040621" y="4637630"/>
            <a:ext cx="10819505" cy="11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进栈操作：每次入栈前先检验进栈元素(x)和栈顶元素的大小，如果</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小于栈顶元素，那么出栈，直到栈空或</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大于栈顶元素，然后</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进栈</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fade">
                                      <p:cBhvr>
                                        <p:cTn id="7" dur="1000"/>
                                        <p:tgtEl>
                                          <p:spTgt spid="4098">
                                            <p:txEl>
                                              <p:pRg st="0" end="0"/>
                                            </p:txEl>
                                          </p:spTgt>
                                        </p:tgtEl>
                                      </p:cBhvr>
                                    </p:animEffect>
                                    <p:anim calcmode="lin" valueType="num">
                                      <p:cBhvr>
                                        <p:cTn id="8" dur="1000" fill="hold"/>
                                        <p:tgtEl>
                                          <p:spTgt spid="4098">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4098">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098">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ntr" presetSubtype="16" fill="hold" nodeType="clickEffect">
                                  <p:stCondLst>
                                    <p:cond delay="0"/>
                                  </p:stCondLst>
                                  <p:childTnLst>
                                    <p:set>
                                      <p:cBhvr>
                                        <p:cTn id="14" dur="1" fill="hold">
                                          <p:stCondLst>
                                            <p:cond delay="0"/>
                                          </p:stCondLst>
                                        </p:cTn>
                                        <p:tgtEl>
                                          <p:spTgt spid="4100">
                                            <p:txEl>
                                              <p:pRg st="0" end="0"/>
                                            </p:txEl>
                                          </p:spTgt>
                                        </p:tgtEl>
                                        <p:attrNameLst>
                                          <p:attrName>style.visibility</p:attrName>
                                        </p:attrNameLst>
                                      </p:cBhvr>
                                      <p:to>
                                        <p:strVal val="visible"/>
                                      </p:to>
                                    </p:set>
                                    <p:animEffect transition="in" filter="diamond(in)">
                                      <p:cBhvr>
                                        <p:cTn id="15" dur="500"/>
                                        <p:tgtEl>
                                          <p:spTgt spid="410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9"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ppt_x</p:attrName>
                                        </p:attrNameLst>
                                      </p:cBhvr>
                                      <p:tavLst>
                                        <p:tav tm="0">
                                          <p:val>
                                            <p:strVal val="#ppt_x-.2"/>
                                          </p:val>
                                        </p:tav>
                                        <p:tav tm="100000">
                                          <p:val>
                                            <p:strVal val="#ppt_x"/>
                                          </p:val>
                                        </p:tav>
                                      </p:tavLst>
                                    </p:anim>
                                    <p:anim calcmode="lin" valueType="num">
                                      <p:cBhvr>
                                        <p:cTn id="27"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utoUpdateAnimBg="0"/>
      <p:bldP spid="9" grpId="0" bldLvl="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a:extLst>
              <a:ext uri="{FF2B5EF4-FFF2-40B4-BE49-F238E27FC236}">
                <a16:creationId xmlns:a16="http://schemas.microsoft.com/office/drawing/2014/main" id="{4BAEB388-7C48-49D0-8BBF-2347F2D64995}"/>
              </a:ext>
            </a:extLst>
          </p:cNvPr>
          <p:cNvSpPr txBox="1">
            <a:spLocks noChangeArrowheads="1"/>
          </p:cNvSpPr>
          <p:nvPr/>
        </p:nvSpPr>
        <p:spPr bwMode="auto">
          <a:xfrm>
            <a:off x="1231814" y="1285767"/>
            <a:ext cx="3051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D5F95"/>
                </a:solidFill>
                <a:effectLst/>
                <a:uLnTx/>
                <a:uFillTx/>
                <a:latin typeface="Calibri"/>
                <a:ea typeface="微软雅黑" panose="020B0503020204020204" pitchFamily="34" charset="-122"/>
                <a:cs typeface="+mn-cs"/>
              </a:rPr>
              <a:t>例如：</a:t>
            </a:r>
            <a:r>
              <a:rPr kumimoji="0" lang="zh-CN" altLang="en-US" sz="24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1 4 3  6  0</a:t>
            </a:r>
          </a:p>
        </p:txBody>
      </p:sp>
      <p:sp>
        <p:nvSpPr>
          <p:cNvPr id="5125" name="Text Box 5">
            <a:extLst>
              <a:ext uri="{FF2B5EF4-FFF2-40B4-BE49-F238E27FC236}">
                <a16:creationId xmlns:a16="http://schemas.microsoft.com/office/drawing/2014/main" id="{6A79249D-6AE6-474E-91FC-4865205424F8}"/>
              </a:ext>
            </a:extLst>
          </p:cNvPr>
          <p:cNvSpPr txBox="1">
            <a:spLocks noChangeArrowheads="1"/>
          </p:cNvSpPr>
          <p:nvPr/>
        </p:nvSpPr>
        <p:spPr bwMode="auto">
          <a:xfrm>
            <a:off x="1866814" y="1754080"/>
            <a:ext cx="74168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初始时刻栈空，1入栈。----------------------栈内元素(1)</a:t>
            </a:r>
          </a:p>
        </p:txBody>
      </p:sp>
      <p:sp>
        <p:nvSpPr>
          <p:cNvPr id="5126" name="Text Box 6">
            <a:extLst>
              <a:ext uri="{FF2B5EF4-FFF2-40B4-BE49-F238E27FC236}">
                <a16:creationId xmlns:a16="http://schemas.microsoft.com/office/drawing/2014/main" id="{15BA3DF9-EE06-46FE-866B-B796CDE6993F}"/>
              </a:ext>
            </a:extLst>
          </p:cNvPr>
          <p:cNvSpPr txBox="1">
            <a:spLocks noChangeArrowheads="1"/>
          </p:cNvSpPr>
          <p:nvPr/>
        </p:nvSpPr>
        <p:spPr bwMode="auto">
          <a:xfrm>
            <a:off x="1866814" y="2343042"/>
            <a:ext cx="7553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4要进栈，4大于1，所以直接进栈.-----------栈内元素(1,4)</a:t>
            </a:r>
          </a:p>
        </p:txBody>
      </p:sp>
      <p:sp>
        <p:nvSpPr>
          <p:cNvPr id="5127" name="Text Box 7">
            <a:extLst>
              <a:ext uri="{FF2B5EF4-FFF2-40B4-BE49-F238E27FC236}">
                <a16:creationId xmlns:a16="http://schemas.microsoft.com/office/drawing/2014/main" id="{39F0A273-8AE9-4896-8A0B-9DA97018F214}"/>
              </a:ext>
            </a:extLst>
          </p:cNvPr>
          <p:cNvSpPr txBox="1">
            <a:spLocks noChangeArrowheads="1"/>
          </p:cNvSpPr>
          <p:nvPr/>
        </p:nvSpPr>
        <p:spPr bwMode="auto">
          <a:xfrm>
            <a:off x="1911264" y="2946292"/>
            <a:ext cx="50323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5128" name="Text Box 8">
            <a:extLst>
              <a:ext uri="{FF2B5EF4-FFF2-40B4-BE49-F238E27FC236}">
                <a16:creationId xmlns:a16="http://schemas.microsoft.com/office/drawing/2014/main" id="{AE32EA7B-BF36-40A6-B36A-60AA88FDBEB8}"/>
              </a:ext>
            </a:extLst>
          </p:cNvPr>
          <p:cNvSpPr txBox="1">
            <a:spLocks noChangeArrowheads="1"/>
          </p:cNvSpPr>
          <p:nvPr/>
        </p:nvSpPr>
        <p:spPr bwMode="auto">
          <a:xfrm>
            <a:off x="1852527" y="2871680"/>
            <a:ext cx="732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3要进栈，3小于4,4出栈，3进栈.-----------栈内元素(1</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5129" name="Text Box 9">
            <a:extLst>
              <a:ext uri="{FF2B5EF4-FFF2-40B4-BE49-F238E27FC236}">
                <a16:creationId xmlns:a16="http://schemas.microsoft.com/office/drawing/2014/main" id="{D2CBD503-5839-474D-93C2-78C9681CB244}"/>
              </a:ext>
            </a:extLst>
          </p:cNvPr>
          <p:cNvSpPr txBox="1">
            <a:spLocks noChangeArrowheads="1"/>
          </p:cNvSpPr>
          <p:nvPr/>
        </p:nvSpPr>
        <p:spPr bwMode="auto">
          <a:xfrm>
            <a:off x="1836652" y="3446355"/>
            <a:ext cx="71770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6要进栈，6大于3,6直接进栈。-------------栈内元素(1,3,6)</a:t>
            </a:r>
          </a:p>
        </p:txBody>
      </p:sp>
      <p:sp>
        <p:nvSpPr>
          <p:cNvPr id="5130" name="Text Box 10">
            <a:extLst>
              <a:ext uri="{FF2B5EF4-FFF2-40B4-BE49-F238E27FC236}">
                <a16:creationId xmlns:a16="http://schemas.microsoft.com/office/drawing/2014/main" id="{BFE6752A-FE4A-498B-AEDF-E0A5BAE2533C}"/>
              </a:ext>
            </a:extLst>
          </p:cNvPr>
          <p:cNvSpPr txBox="1">
            <a:spLocks noChangeArrowheads="1"/>
          </p:cNvSpPr>
          <p:nvPr/>
        </p:nvSpPr>
        <p:spPr bwMode="auto">
          <a:xfrm>
            <a:off x="1822364" y="3944830"/>
            <a:ext cx="858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0要入栈，1,3,6都出栈，-------------------栈内元素(0)</a:t>
            </a:r>
          </a:p>
        </p:txBody>
      </p:sp>
      <p:sp>
        <p:nvSpPr>
          <p:cNvPr id="11" name="TextBox 36">
            <a:extLst>
              <a:ext uri="{FF2B5EF4-FFF2-40B4-BE49-F238E27FC236}">
                <a16:creationId xmlns:a16="http://schemas.microsoft.com/office/drawing/2014/main" id="{EA3C8581-A4EE-4FBB-B263-241E25B76576}"/>
              </a:ext>
            </a:extLst>
          </p:cNvPr>
          <p:cNvSpPr txBox="1"/>
          <p:nvPr/>
        </p:nvSpPr>
        <p:spPr>
          <a:xfrm>
            <a:off x="334800" y="320400"/>
            <a:ext cx="3722045"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单调栈</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2" name="Text Box 6">
            <a:extLst>
              <a:ext uri="{FF2B5EF4-FFF2-40B4-BE49-F238E27FC236}">
                <a16:creationId xmlns:a16="http://schemas.microsoft.com/office/drawing/2014/main" id="{193E5DD6-F252-48C7-B11B-4765AED7B488}"/>
              </a:ext>
            </a:extLst>
          </p:cNvPr>
          <p:cNvSpPr txBox="1">
            <a:spLocks noChangeArrowheads="1"/>
          </p:cNvSpPr>
          <p:nvPr/>
        </p:nvSpPr>
        <p:spPr bwMode="auto">
          <a:xfrm>
            <a:off x="702915" y="4682975"/>
            <a:ext cx="10786169" cy="11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它可以很方便地求出某个数的左边或者右边第一个比它大或者小的元素，而且总时间复杂度O(N)。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p:cTn id="7" dur="500" fill="hold"/>
                                        <p:tgtEl>
                                          <p:spTgt spid="5124"/>
                                        </p:tgtEl>
                                        <p:attrNameLst>
                                          <p:attrName>ppt_x</p:attrName>
                                        </p:attrNameLst>
                                      </p:cBhvr>
                                      <p:tavLst>
                                        <p:tav tm="0">
                                          <p:val>
                                            <p:strVal val="#ppt_x-.2"/>
                                          </p:val>
                                        </p:tav>
                                        <p:tav tm="100000">
                                          <p:val>
                                            <p:strVal val="#ppt_x"/>
                                          </p:val>
                                        </p:tav>
                                      </p:tavLst>
                                    </p:anim>
                                    <p:anim calcmode="lin" valueType="num">
                                      <p:cBhvr>
                                        <p:cTn id="8" dur="500" fill="hold"/>
                                        <p:tgtEl>
                                          <p:spTgt spid="5124"/>
                                        </p:tgtEl>
                                        <p:attrNameLst>
                                          <p:attrName>ppt_y</p:attrName>
                                        </p:attrNameLst>
                                      </p:cBhvr>
                                      <p:tavLst>
                                        <p:tav tm="0">
                                          <p:val>
                                            <p:strVal val="#ppt_y"/>
                                          </p:val>
                                        </p:tav>
                                        <p:tav tm="100000">
                                          <p:val>
                                            <p:strVal val="#ppt_y"/>
                                          </p:val>
                                        </p:tav>
                                      </p:tavLst>
                                    </p:anim>
                                    <p:animEffect transition="in" filter="wipe(right)" prLst="gradientSize: 0.1">
                                      <p:cBhvr>
                                        <p:cTn id="9" dur="500"/>
                                        <p:tgtEl>
                                          <p:spTgt spid="512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5125"/>
                                        </p:tgtEl>
                                        <p:attrNameLst>
                                          <p:attrName>style.visibility</p:attrName>
                                        </p:attrNameLst>
                                      </p:cBhvr>
                                      <p:to>
                                        <p:strVal val="visible"/>
                                      </p:to>
                                    </p:set>
                                    <p:anim calcmode="lin" valueType="num">
                                      <p:cBhvr>
                                        <p:cTn id="14" dur="500" fill="hold"/>
                                        <p:tgtEl>
                                          <p:spTgt spid="5125"/>
                                        </p:tgtEl>
                                        <p:attrNameLst>
                                          <p:attrName>ppt_x</p:attrName>
                                        </p:attrNameLst>
                                      </p:cBhvr>
                                      <p:tavLst>
                                        <p:tav tm="0">
                                          <p:val>
                                            <p:strVal val="#ppt_x-.2"/>
                                          </p:val>
                                        </p:tav>
                                        <p:tav tm="100000">
                                          <p:val>
                                            <p:strVal val="#ppt_x"/>
                                          </p:val>
                                        </p:tav>
                                      </p:tavLst>
                                    </p:anim>
                                    <p:anim calcmode="lin" valueType="num">
                                      <p:cBhvr>
                                        <p:cTn id="15" dur="500" fill="hold"/>
                                        <p:tgtEl>
                                          <p:spTgt spid="5125"/>
                                        </p:tgtEl>
                                        <p:attrNameLst>
                                          <p:attrName>ppt_y</p:attrName>
                                        </p:attrNameLst>
                                      </p:cBhvr>
                                      <p:tavLst>
                                        <p:tav tm="0">
                                          <p:val>
                                            <p:strVal val="#ppt_y"/>
                                          </p:val>
                                        </p:tav>
                                        <p:tav tm="100000">
                                          <p:val>
                                            <p:strVal val="#ppt_y"/>
                                          </p:val>
                                        </p:tav>
                                      </p:tavLst>
                                    </p:anim>
                                    <p:animEffect transition="in" filter="wipe(right)" prLst="gradientSize: 0.1">
                                      <p:cBhvr>
                                        <p:cTn id="16" dur="500"/>
                                        <p:tgtEl>
                                          <p:spTgt spid="51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grpId="0" nodeType="clickEffect">
                                  <p:stCondLst>
                                    <p:cond delay="0"/>
                                  </p:stCondLst>
                                  <p:childTnLst>
                                    <p:set>
                                      <p:cBhvr>
                                        <p:cTn id="20" dur="1" fill="hold">
                                          <p:stCondLst>
                                            <p:cond delay="0"/>
                                          </p:stCondLst>
                                        </p:cTn>
                                        <p:tgtEl>
                                          <p:spTgt spid="5126"/>
                                        </p:tgtEl>
                                        <p:attrNameLst>
                                          <p:attrName>style.visibility</p:attrName>
                                        </p:attrNameLst>
                                      </p:cBhvr>
                                      <p:to>
                                        <p:strVal val="visible"/>
                                      </p:to>
                                    </p:set>
                                    <p:anim calcmode="lin" valueType="num">
                                      <p:cBhvr>
                                        <p:cTn id="21" dur="500" fill="hold"/>
                                        <p:tgtEl>
                                          <p:spTgt spid="5126"/>
                                        </p:tgtEl>
                                        <p:attrNameLst>
                                          <p:attrName>ppt_x</p:attrName>
                                        </p:attrNameLst>
                                      </p:cBhvr>
                                      <p:tavLst>
                                        <p:tav tm="0">
                                          <p:val>
                                            <p:strVal val="#ppt_x-.2"/>
                                          </p:val>
                                        </p:tav>
                                        <p:tav tm="100000">
                                          <p:val>
                                            <p:strVal val="#ppt_x"/>
                                          </p:val>
                                        </p:tav>
                                      </p:tavLst>
                                    </p:anim>
                                    <p:anim calcmode="lin" valueType="num">
                                      <p:cBhvr>
                                        <p:cTn id="22" dur="500" fill="hold"/>
                                        <p:tgtEl>
                                          <p:spTgt spid="5126"/>
                                        </p:tgtEl>
                                        <p:attrNameLst>
                                          <p:attrName>ppt_y</p:attrName>
                                        </p:attrNameLst>
                                      </p:cBhvr>
                                      <p:tavLst>
                                        <p:tav tm="0">
                                          <p:val>
                                            <p:strVal val="#ppt_y"/>
                                          </p:val>
                                        </p:tav>
                                        <p:tav tm="100000">
                                          <p:val>
                                            <p:strVal val="#ppt_y"/>
                                          </p:val>
                                        </p:tav>
                                      </p:tavLst>
                                    </p:anim>
                                    <p:animEffect transition="in" filter="wipe(right)" prLst="gradientSize: 0.1">
                                      <p:cBhvr>
                                        <p:cTn id="23" dur="500"/>
                                        <p:tgtEl>
                                          <p:spTgt spid="51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grpId="0" nodeType="clickEffect">
                                  <p:stCondLst>
                                    <p:cond delay="0"/>
                                  </p:stCondLst>
                                  <p:childTnLst>
                                    <p:set>
                                      <p:cBhvr>
                                        <p:cTn id="27" dur="1" fill="hold">
                                          <p:stCondLst>
                                            <p:cond delay="0"/>
                                          </p:stCondLst>
                                        </p:cTn>
                                        <p:tgtEl>
                                          <p:spTgt spid="5128"/>
                                        </p:tgtEl>
                                        <p:attrNameLst>
                                          <p:attrName>style.visibility</p:attrName>
                                        </p:attrNameLst>
                                      </p:cBhvr>
                                      <p:to>
                                        <p:strVal val="visible"/>
                                      </p:to>
                                    </p:set>
                                    <p:anim calcmode="lin" valueType="num">
                                      <p:cBhvr>
                                        <p:cTn id="28" dur="500" fill="hold"/>
                                        <p:tgtEl>
                                          <p:spTgt spid="5128"/>
                                        </p:tgtEl>
                                        <p:attrNameLst>
                                          <p:attrName>ppt_x</p:attrName>
                                        </p:attrNameLst>
                                      </p:cBhvr>
                                      <p:tavLst>
                                        <p:tav tm="0">
                                          <p:val>
                                            <p:strVal val="#ppt_x-.2"/>
                                          </p:val>
                                        </p:tav>
                                        <p:tav tm="100000">
                                          <p:val>
                                            <p:strVal val="#ppt_x"/>
                                          </p:val>
                                        </p:tav>
                                      </p:tavLst>
                                    </p:anim>
                                    <p:anim calcmode="lin" valueType="num">
                                      <p:cBhvr>
                                        <p:cTn id="29" dur="500" fill="hold"/>
                                        <p:tgtEl>
                                          <p:spTgt spid="5128"/>
                                        </p:tgtEl>
                                        <p:attrNameLst>
                                          <p:attrName>ppt_y</p:attrName>
                                        </p:attrNameLst>
                                      </p:cBhvr>
                                      <p:tavLst>
                                        <p:tav tm="0">
                                          <p:val>
                                            <p:strVal val="#ppt_y"/>
                                          </p:val>
                                        </p:tav>
                                        <p:tav tm="100000">
                                          <p:val>
                                            <p:strVal val="#ppt_y"/>
                                          </p:val>
                                        </p:tav>
                                      </p:tavLst>
                                    </p:anim>
                                    <p:animEffect transition="in" filter="wipe(right)" prLst="gradientSize: 0.1">
                                      <p:cBhvr>
                                        <p:cTn id="30" dur="500"/>
                                        <p:tgtEl>
                                          <p:spTgt spid="512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grpId="0" nodeType="clickEffect">
                                  <p:stCondLst>
                                    <p:cond delay="0"/>
                                  </p:stCondLst>
                                  <p:childTnLst>
                                    <p:set>
                                      <p:cBhvr>
                                        <p:cTn id="34" dur="1" fill="hold">
                                          <p:stCondLst>
                                            <p:cond delay="0"/>
                                          </p:stCondLst>
                                        </p:cTn>
                                        <p:tgtEl>
                                          <p:spTgt spid="5129"/>
                                        </p:tgtEl>
                                        <p:attrNameLst>
                                          <p:attrName>style.visibility</p:attrName>
                                        </p:attrNameLst>
                                      </p:cBhvr>
                                      <p:to>
                                        <p:strVal val="visible"/>
                                      </p:to>
                                    </p:set>
                                    <p:anim calcmode="lin" valueType="num">
                                      <p:cBhvr>
                                        <p:cTn id="35" dur="500" fill="hold"/>
                                        <p:tgtEl>
                                          <p:spTgt spid="5129"/>
                                        </p:tgtEl>
                                        <p:attrNameLst>
                                          <p:attrName>ppt_x</p:attrName>
                                        </p:attrNameLst>
                                      </p:cBhvr>
                                      <p:tavLst>
                                        <p:tav tm="0">
                                          <p:val>
                                            <p:strVal val="#ppt_x-.2"/>
                                          </p:val>
                                        </p:tav>
                                        <p:tav tm="100000">
                                          <p:val>
                                            <p:strVal val="#ppt_x"/>
                                          </p:val>
                                        </p:tav>
                                      </p:tavLst>
                                    </p:anim>
                                    <p:anim calcmode="lin" valueType="num">
                                      <p:cBhvr>
                                        <p:cTn id="36" dur="500" fill="hold"/>
                                        <p:tgtEl>
                                          <p:spTgt spid="5129"/>
                                        </p:tgtEl>
                                        <p:attrNameLst>
                                          <p:attrName>ppt_y</p:attrName>
                                        </p:attrNameLst>
                                      </p:cBhvr>
                                      <p:tavLst>
                                        <p:tav tm="0">
                                          <p:val>
                                            <p:strVal val="#ppt_y"/>
                                          </p:val>
                                        </p:tav>
                                        <p:tav tm="100000">
                                          <p:val>
                                            <p:strVal val="#ppt_y"/>
                                          </p:val>
                                        </p:tav>
                                      </p:tavLst>
                                    </p:anim>
                                    <p:animEffect transition="in" filter="wipe(right)" prLst="gradientSize: 0.1">
                                      <p:cBhvr>
                                        <p:cTn id="37" dur="500"/>
                                        <p:tgtEl>
                                          <p:spTgt spid="51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grpId="0" nodeType="clickEffect">
                                  <p:stCondLst>
                                    <p:cond delay="0"/>
                                  </p:stCondLst>
                                  <p:childTnLst>
                                    <p:set>
                                      <p:cBhvr>
                                        <p:cTn id="41" dur="1" fill="hold">
                                          <p:stCondLst>
                                            <p:cond delay="0"/>
                                          </p:stCondLst>
                                        </p:cTn>
                                        <p:tgtEl>
                                          <p:spTgt spid="5130"/>
                                        </p:tgtEl>
                                        <p:attrNameLst>
                                          <p:attrName>style.visibility</p:attrName>
                                        </p:attrNameLst>
                                      </p:cBhvr>
                                      <p:to>
                                        <p:strVal val="visible"/>
                                      </p:to>
                                    </p:set>
                                    <p:anim calcmode="lin" valueType="num">
                                      <p:cBhvr>
                                        <p:cTn id="42" dur="500" fill="hold"/>
                                        <p:tgtEl>
                                          <p:spTgt spid="5130"/>
                                        </p:tgtEl>
                                        <p:attrNameLst>
                                          <p:attrName>ppt_x</p:attrName>
                                        </p:attrNameLst>
                                      </p:cBhvr>
                                      <p:tavLst>
                                        <p:tav tm="0">
                                          <p:val>
                                            <p:strVal val="#ppt_x-.2"/>
                                          </p:val>
                                        </p:tav>
                                        <p:tav tm="100000">
                                          <p:val>
                                            <p:strVal val="#ppt_x"/>
                                          </p:val>
                                        </p:tav>
                                      </p:tavLst>
                                    </p:anim>
                                    <p:anim calcmode="lin" valueType="num">
                                      <p:cBhvr>
                                        <p:cTn id="43" dur="500" fill="hold"/>
                                        <p:tgtEl>
                                          <p:spTgt spid="5130"/>
                                        </p:tgtEl>
                                        <p:attrNameLst>
                                          <p:attrName>ppt_y</p:attrName>
                                        </p:attrNameLst>
                                      </p:cBhvr>
                                      <p:tavLst>
                                        <p:tav tm="0">
                                          <p:val>
                                            <p:strVal val="#ppt_y"/>
                                          </p:val>
                                        </p:tav>
                                        <p:tav tm="100000">
                                          <p:val>
                                            <p:strVal val="#ppt_y"/>
                                          </p:val>
                                        </p:tav>
                                      </p:tavLst>
                                    </p:anim>
                                    <p:animEffect transition="in" filter="wipe(right)" prLst="gradientSize: 0.1">
                                      <p:cBhvr>
                                        <p:cTn id="44" dur="500"/>
                                        <p:tgtEl>
                                          <p:spTgt spid="513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ldLvl="0" autoUpdateAnimBg="0"/>
      <p:bldP spid="5125" grpId="0" bldLvl="0" autoUpdateAnimBg="0"/>
      <p:bldP spid="5126" grpId="0" bldLvl="0" autoUpdateAnimBg="0"/>
      <p:bldP spid="5128" grpId="0" bldLvl="0" autoUpdateAnimBg="0"/>
      <p:bldP spid="5129" grpId="0" bldLvl="0" autoUpdateAnimBg="0"/>
      <p:bldP spid="5130" grpId="0" bldLvl="0" autoUpdateAnimBg="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3">
            <a:extLst>
              <a:ext uri="{FF2B5EF4-FFF2-40B4-BE49-F238E27FC236}">
                <a16:creationId xmlns:a16="http://schemas.microsoft.com/office/drawing/2014/main" id="{C9D9299F-9293-406C-9F49-D670FC5A0658}"/>
              </a:ext>
            </a:extLst>
          </p:cNvPr>
          <p:cNvSpPr txBox="1">
            <a:spLocks noChangeArrowheads="1"/>
          </p:cNvSpPr>
          <p:nvPr/>
        </p:nvSpPr>
        <p:spPr bwMode="auto">
          <a:xfrm>
            <a:off x="834477" y="1127969"/>
            <a:ext cx="1065876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考虑一个柱子</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X</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，其高度为</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h</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，将柱子向左右延伸，找到左边第一个低于它的柱子</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L</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，右边第一个低于它的柱子</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R</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，那么</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L</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R</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之间的柱子可以构成一个高为</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h</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，宽为（</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R-L-1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）的矩阵。</a:t>
            </a:r>
          </a:p>
        </p:txBody>
      </p:sp>
      <p:sp>
        <p:nvSpPr>
          <p:cNvPr id="7172" name="Text Box 4">
            <a:extLst>
              <a:ext uri="{FF2B5EF4-FFF2-40B4-BE49-F238E27FC236}">
                <a16:creationId xmlns:a16="http://schemas.microsoft.com/office/drawing/2014/main" id="{FC361202-DC59-478C-BCB7-0B3A3841333D}"/>
              </a:ext>
            </a:extLst>
          </p:cNvPr>
          <p:cNvSpPr txBox="1">
            <a:spLocks noChangeArrowheads="1"/>
          </p:cNvSpPr>
          <p:nvPr/>
        </p:nvSpPr>
        <p:spPr bwMode="auto">
          <a:xfrm>
            <a:off x="834477" y="2234799"/>
            <a:ext cx="10658764" cy="113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从每个柱子出发向左右延伸到不能再延伸形成矩形，找到面积最大的那个矩形即可。</a:t>
            </a:r>
          </a:p>
        </p:txBody>
      </p:sp>
      <p:sp>
        <p:nvSpPr>
          <p:cNvPr id="7174" name="Text Box 6">
            <a:extLst>
              <a:ext uri="{FF2B5EF4-FFF2-40B4-BE49-F238E27FC236}">
                <a16:creationId xmlns:a16="http://schemas.microsoft.com/office/drawing/2014/main" id="{FFD0F763-9146-4FAF-A0DA-1F9D192D99E4}"/>
              </a:ext>
            </a:extLst>
          </p:cNvPr>
          <p:cNvSpPr txBox="1">
            <a:spLocks noChangeArrowheads="1"/>
          </p:cNvSpPr>
          <p:nvPr/>
        </p:nvSpPr>
        <p:spPr bwMode="auto">
          <a:xfrm>
            <a:off x="767975" y="3271058"/>
            <a:ext cx="11052723" cy="335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Pct val="100000"/>
              <a:buFont typeface="Wingdings" panose="05000000000000000000" pitchFamily="2" charset="2"/>
              <a:buChar char="Ø"/>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建立一个单调递减栈</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l" defTabSz="914400" rtl="0" eaLnBrk="1" fontAlgn="auto" latinLnBrk="0" hangingPunct="1">
              <a:lnSpc>
                <a:spcPct val="150000"/>
              </a:lnSpc>
              <a:spcBef>
                <a:spcPts val="0"/>
              </a:spcBef>
              <a:spcAft>
                <a:spcPts val="0"/>
              </a:spcAft>
              <a:buClrTx/>
              <a:buSzPct val="100000"/>
              <a:buFont typeface="Wingdings" panose="05000000000000000000" pitchFamily="2" charset="2"/>
              <a:buChar char="Ø"/>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每次需要弹出的栈顶元素（因为比进栈元素大，所以需要弹出）的</a:t>
            </a:r>
            <a:r>
              <a:rPr kumimoji="0" lang="zh-CN" altLang="en-US" sz="2400" b="1" i="0" u="none" strike="noStrike" kern="100" cap="none" spc="0" normalizeH="0" baseline="0" noProof="0" dirty="0">
                <a:ln>
                  <a:noFill/>
                </a:ln>
                <a:solidFill>
                  <a:srgbClr val="C00000"/>
                </a:solidFill>
                <a:effectLst/>
                <a:uLnTx/>
                <a:uFillTx/>
                <a:latin typeface="仿宋_GB2312"/>
                <a:ea typeface="微软雅黑" panose="020B0503020204020204" pitchFamily="34" charset="-122"/>
                <a:cs typeface="Times New Roman" panose="02020603050405020304" pitchFamily="18" charset="0"/>
              </a:rPr>
              <a:t>右边第一个比它小的</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即为当前进栈元素</a:t>
            </a: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a:p>
            <a:pPr marL="800100" marR="0" lvl="1" indent="-342900" algn="l" defTabSz="914400" rtl="0" eaLnBrk="1" fontAlgn="auto" latinLnBrk="0" hangingPunct="1">
              <a:lnSpc>
                <a:spcPct val="150000"/>
              </a:lnSpc>
              <a:spcBef>
                <a:spcPts val="0"/>
              </a:spcBef>
              <a:spcAft>
                <a:spcPts val="0"/>
              </a:spcAft>
              <a:buClrTx/>
              <a:buSzPct val="100000"/>
              <a:buFont typeface="Wingdings" panose="05000000000000000000" pitchFamily="2" charset="2"/>
              <a:buChar char="Ø"/>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当前栈顶元素比当前进栈元素小，则当前进栈元素</a:t>
            </a:r>
            <a:r>
              <a:rPr kumimoji="0" lang="zh-CN" altLang="en-US" sz="2400" b="1" i="0" u="none" strike="noStrike" kern="100" cap="none" spc="0" normalizeH="0" baseline="0" noProof="0" dirty="0">
                <a:ln>
                  <a:noFill/>
                </a:ln>
                <a:solidFill>
                  <a:srgbClr val="C00000"/>
                </a:solidFill>
                <a:effectLst/>
                <a:uLnTx/>
                <a:uFillTx/>
                <a:latin typeface="仿宋_GB2312"/>
                <a:ea typeface="微软雅黑" panose="020B0503020204020204" pitchFamily="34" charset="-122"/>
                <a:cs typeface="Times New Roman" panose="02020603050405020304" pitchFamily="18" charset="0"/>
              </a:rPr>
              <a:t>左边第一个比它小的</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即为当前栈顶元素；若当前栈顶元素与当前进栈元素相等，则当前进栈元素</a:t>
            </a:r>
            <a:r>
              <a:rPr kumimoji="0" lang="zh-CN" altLang="en-US" sz="2400" b="1" i="0" u="none" strike="noStrike" kern="100" cap="none" spc="0" normalizeH="0" baseline="0" noProof="0" dirty="0">
                <a:ln>
                  <a:noFill/>
                </a:ln>
                <a:solidFill>
                  <a:srgbClr val="C00000"/>
                </a:solidFill>
                <a:effectLst/>
                <a:uLnTx/>
                <a:uFillTx/>
                <a:latin typeface="仿宋_GB2312"/>
                <a:ea typeface="微软雅黑" panose="020B0503020204020204" pitchFamily="34" charset="-122"/>
                <a:cs typeface="Times New Roman" panose="02020603050405020304" pitchFamily="18" charset="0"/>
              </a:rPr>
              <a:t>左边第一个比它小的</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即为当前栈顶元素</a:t>
            </a:r>
            <a:r>
              <a:rPr kumimoji="0" lang="zh-CN" altLang="en-US" sz="2400" b="1" i="0" u="none" strike="noStrike" kern="100" cap="none" spc="0" normalizeH="0" baseline="0" noProof="0" dirty="0">
                <a:ln>
                  <a:noFill/>
                </a:ln>
                <a:solidFill>
                  <a:srgbClr val="C00000"/>
                </a:solidFill>
                <a:effectLst/>
                <a:uLnTx/>
                <a:uFillTx/>
                <a:latin typeface="仿宋_GB2312"/>
                <a:ea typeface="微软雅黑" panose="020B0503020204020204" pitchFamily="34" charset="-122"/>
                <a:cs typeface="Times New Roman" panose="02020603050405020304" pitchFamily="18" charset="0"/>
              </a:rPr>
              <a:t>左边第一个比它小的</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元素</a:t>
            </a:r>
          </a:p>
        </p:txBody>
      </p:sp>
      <p:sp>
        <p:nvSpPr>
          <p:cNvPr id="9" name="TextBox 36">
            <a:extLst>
              <a:ext uri="{FF2B5EF4-FFF2-40B4-BE49-F238E27FC236}">
                <a16:creationId xmlns:a16="http://schemas.microsoft.com/office/drawing/2014/main" id="{411768E9-FF32-4DEE-9E63-1B6B582E49E7}"/>
              </a:ext>
            </a:extLst>
          </p:cNvPr>
          <p:cNvSpPr txBox="1"/>
          <p:nvPr/>
        </p:nvSpPr>
        <p:spPr>
          <a:xfrm>
            <a:off x="334800" y="320400"/>
            <a:ext cx="5575549"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单调栈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思考问题解法</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p:cTn id="7" dur="500" fill="hold"/>
                                        <p:tgtEl>
                                          <p:spTgt spid="7171"/>
                                        </p:tgtEl>
                                        <p:attrNameLst>
                                          <p:attrName>ppt_x</p:attrName>
                                        </p:attrNameLst>
                                      </p:cBhvr>
                                      <p:tavLst>
                                        <p:tav tm="0">
                                          <p:val>
                                            <p:strVal val="#ppt_x-.2"/>
                                          </p:val>
                                        </p:tav>
                                        <p:tav tm="100000">
                                          <p:val>
                                            <p:strVal val="#ppt_x"/>
                                          </p:val>
                                        </p:tav>
                                      </p:tavLst>
                                    </p:anim>
                                    <p:anim calcmode="lin" valueType="num">
                                      <p:cBhvr>
                                        <p:cTn id="8" dur="500" fill="hold"/>
                                        <p:tgtEl>
                                          <p:spTgt spid="7171"/>
                                        </p:tgtEl>
                                        <p:attrNameLst>
                                          <p:attrName>ppt_y</p:attrName>
                                        </p:attrNameLst>
                                      </p:cBhvr>
                                      <p:tavLst>
                                        <p:tav tm="0">
                                          <p:val>
                                            <p:strVal val="#ppt_y"/>
                                          </p:val>
                                        </p:tav>
                                        <p:tav tm="100000">
                                          <p:val>
                                            <p:strVal val="#ppt_y"/>
                                          </p:val>
                                        </p:tav>
                                      </p:tavLst>
                                    </p:anim>
                                    <p:animEffect transition="in" filter="wipe(right)" prLst="gradientSize: 0.1">
                                      <p:cBhvr>
                                        <p:cTn id="9" dur="500"/>
                                        <p:tgtEl>
                                          <p:spTgt spid="717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7172"/>
                                        </p:tgtEl>
                                        <p:attrNameLst>
                                          <p:attrName>style.visibility</p:attrName>
                                        </p:attrNameLst>
                                      </p:cBhvr>
                                      <p:to>
                                        <p:strVal val="visible"/>
                                      </p:to>
                                    </p:set>
                                    <p:anim calcmode="lin" valueType="num">
                                      <p:cBhvr>
                                        <p:cTn id="14" dur="1000" fill="hold"/>
                                        <p:tgtEl>
                                          <p:spTgt spid="7172"/>
                                        </p:tgtEl>
                                        <p:attrNameLst>
                                          <p:attrName>ppt_x</p:attrName>
                                        </p:attrNameLst>
                                      </p:cBhvr>
                                      <p:tavLst>
                                        <p:tav tm="0">
                                          <p:val>
                                            <p:strVal val="#ppt_x-.2"/>
                                          </p:val>
                                        </p:tav>
                                        <p:tav tm="100000">
                                          <p:val>
                                            <p:strVal val="#ppt_x"/>
                                          </p:val>
                                        </p:tav>
                                      </p:tavLst>
                                    </p:anim>
                                    <p:anim calcmode="lin" valueType="num">
                                      <p:cBhvr>
                                        <p:cTn id="15" dur="1000" fill="hold"/>
                                        <p:tgtEl>
                                          <p:spTgt spid="7172"/>
                                        </p:tgtEl>
                                        <p:attrNameLst>
                                          <p:attrName>ppt_y</p:attrName>
                                        </p:attrNameLst>
                                      </p:cBhvr>
                                      <p:tavLst>
                                        <p:tav tm="0">
                                          <p:val>
                                            <p:strVal val="#ppt_y"/>
                                          </p:val>
                                        </p:tav>
                                        <p:tav tm="100000">
                                          <p:val>
                                            <p:strVal val="#ppt_y"/>
                                          </p:val>
                                        </p:tav>
                                      </p:tavLst>
                                    </p:anim>
                                    <p:animEffect transition="in" filter="wipe(right)" prLst="gradientSize: 0.1">
                                      <p:cBhvr>
                                        <p:cTn id="16" dur="1000"/>
                                        <p:tgtEl>
                                          <p:spTgt spid="717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grpId="0" nodeType="clickEffect">
                                  <p:stCondLst>
                                    <p:cond delay="0"/>
                                  </p:stCondLst>
                                  <p:childTnLst>
                                    <p:set>
                                      <p:cBhvr>
                                        <p:cTn id="20" dur="1" fill="hold">
                                          <p:stCondLst>
                                            <p:cond delay="0"/>
                                          </p:stCondLst>
                                        </p:cTn>
                                        <p:tgtEl>
                                          <p:spTgt spid="7174"/>
                                        </p:tgtEl>
                                        <p:attrNameLst>
                                          <p:attrName>style.visibility</p:attrName>
                                        </p:attrNameLst>
                                      </p:cBhvr>
                                      <p:to>
                                        <p:strVal val="visible"/>
                                      </p:to>
                                    </p:set>
                                    <p:anim calcmode="lin" valueType="num">
                                      <p:cBhvr>
                                        <p:cTn id="21" dur="1000" fill="hold"/>
                                        <p:tgtEl>
                                          <p:spTgt spid="7174"/>
                                        </p:tgtEl>
                                        <p:attrNameLst>
                                          <p:attrName>ppt_x</p:attrName>
                                        </p:attrNameLst>
                                      </p:cBhvr>
                                      <p:tavLst>
                                        <p:tav tm="0">
                                          <p:val>
                                            <p:strVal val="#ppt_x-.2"/>
                                          </p:val>
                                        </p:tav>
                                        <p:tav tm="100000">
                                          <p:val>
                                            <p:strVal val="#ppt_x"/>
                                          </p:val>
                                        </p:tav>
                                      </p:tavLst>
                                    </p:anim>
                                    <p:anim calcmode="lin" valueType="num">
                                      <p:cBhvr>
                                        <p:cTn id="22" dur="1000" fill="hold"/>
                                        <p:tgtEl>
                                          <p:spTgt spid="7174"/>
                                        </p:tgtEl>
                                        <p:attrNameLst>
                                          <p:attrName>ppt_y</p:attrName>
                                        </p:attrNameLst>
                                      </p:cBhvr>
                                      <p:tavLst>
                                        <p:tav tm="0">
                                          <p:val>
                                            <p:strVal val="#ppt_y"/>
                                          </p:val>
                                        </p:tav>
                                        <p:tav tm="100000">
                                          <p:val>
                                            <p:strVal val="#ppt_y"/>
                                          </p:val>
                                        </p:tav>
                                      </p:tavLst>
                                    </p:anim>
                                    <p:animEffect transition="in" filter="wipe(right)" prLst="gradientSize: 0.1">
                                      <p:cBhvr>
                                        <p:cTn id="23" dur="1000"/>
                                        <p:tgtEl>
                                          <p:spTgt spid="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ldLvl="0" autoUpdateAnimBg="0"/>
      <p:bldP spid="7172" grpId="0" bldLvl="0" autoUpdateAnimBg="0"/>
      <p:bldP spid="7174" grpId="0" bldLvl="0" autoUpdateAnimBg="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1113</TotalTime>
  <Words>2560</Words>
  <Application>Microsoft Office PowerPoint</Application>
  <PresentationFormat>宽屏</PresentationFormat>
  <Paragraphs>222</Paragraphs>
  <Slides>28</Slides>
  <Notes>14</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28</vt:i4>
      </vt:variant>
    </vt:vector>
  </HeadingPairs>
  <TitlesOfParts>
    <vt:vector size="47" baseType="lpstr">
      <vt:lpstr>-apple-system</vt:lpstr>
      <vt:lpstr>Microsoft YaHei UI</vt:lpstr>
      <vt:lpstr>等线</vt:lpstr>
      <vt:lpstr>等线 Light</vt:lpstr>
      <vt:lpstr>仿宋_GB2312</vt:lpstr>
      <vt:lpstr>黑体</vt:lpstr>
      <vt:lpstr>华文中宋</vt:lpstr>
      <vt:lpstr>楷体_GB2312</vt:lpstr>
      <vt:lpstr>宋体</vt:lpstr>
      <vt:lpstr>微软雅黑</vt:lpstr>
      <vt:lpstr>Arial</vt:lpstr>
      <vt:lpstr>Calibri</vt:lpstr>
      <vt:lpstr>Consolas</vt:lpstr>
      <vt:lpstr>Courier New</vt:lpstr>
      <vt:lpstr>Times New Roman</vt:lpstr>
      <vt:lpstr>Wingdings</vt:lpstr>
      <vt:lpstr>Office 主题​​</vt:lpstr>
      <vt:lpstr>2_Office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N = (N div d)×d + N mod d    例如：（1348)10 = (2504)8 ，其运算过程如下：   N     N div 8    N mod 8  1348      168        4   168        21       0     21         2       5      2          0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zmk</dc:creator>
  <cp:lastModifiedBy>zmk</cp:lastModifiedBy>
  <cp:revision>57</cp:revision>
  <dcterms:created xsi:type="dcterms:W3CDTF">2023-08-09T12:44:55Z</dcterms:created>
  <dcterms:modified xsi:type="dcterms:W3CDTF">2026-04-10T13:00:59Z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