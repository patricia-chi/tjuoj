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tags/tag1.xml" ContentType="application/vnd.openxmlformats-officedocument.presentationml.tags+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60" r:id="rId1"/>
    <p:sldMasterId id="2147483683" r:id="rId2"/>
    <p:sldMasterId id="2147483695" r:id="rId3"/>
  </p:sldMasterIdLst>
  <p:notesMasterIdLst>
    <p:notesMasterId r:id="rId165"/>
  </p:notesMasterIdLst>
  <p:sldIdLst>
    <p:sldId id="514" r:id="rId4"/>
    <p:sldId id="2387" r:id="rId5"/>
    <p:sldId id="2385" r:id="rId6"/>
    <p:sldId id="2386" r:id="rId7"/>
    <p:sldId id="2388" r:id="rId8"/>
    <p:sldId id="2389" r:id="rId9"/>
    <p:sldId id="2390" r:id="rId10"/>
    <p:sldId id="2391" r:id="rId11"/>
    <p:sldId id="2392" r:id="rId12"/>
    <p:sldId id="258" r:id="rId13"/>
    <p:sldId id="1700" r:id="rId14"/>
    <p:sldId id="260" r:id="rId15"/>
    <p:sldId id="2359" r:id="rId16"/>
    <p:sldId id="1702" r:id="rId17"/>
    <p:sldId id="262" r:id="rId18"/>
    <p:sldId id="2360" r:id="rId19"/>
    <p:sldId id="273" r:id="rId20"/>
    <p:sldId id="1704" r:id="rId21"/>
    <p:sldId id="2361" r:id="rId22"/>
    <p:sldId id="2362" r:id="rId23"/>
    <p:sldId id="267" r:id="rId24"/>
    <p:sldId id="2363" r:id="rId25"/>
    <p:sldId id="2364" r:id="rId26"/>
    <p:sldId id="2365" r:id="rId27"/>
    <p:sldId id="2366" r:id="rId28"/>
    <p:sldId id="2367" r:id="rId29"/>
    <p:sldId id="2368" r:id="rId30"/>
    <p:sldId id="2369" r:id="rId31"/>
    <p:sldId id="2370" r:id="rId32"/>
    <p:sldId id="2371" r:id="rId33"/>
    <p:sldId id="1717" r:id="rId34"/>
    <p:sldId id="299" r:id="rId35"/>
    <p:sldId id="1718" r:id="rId36"/>
    <p:sldId id="364" r:id="rId37"/>
    <p:sldId id="464" r:id="rId38"/>
    <p:sldId id="366" r:id="rId39"/>
    <p:sldId id="365" r:id="rId40"/>
    <p:sldId id="367" r:id="rId41"/>
    <p:sldId id="368" r:id="rId42"/>
    <p:sldId id="465" r:id="rId43"/>
    <p:sldId id="466" r:id="rId44"/>
    <p:sldId id="372" r:id="rId45"/>
    <p:sldId id="371" r:id="rId46"/>
    <p:sldId id="1738" r:id="rId47"/>
    <p:sldId id="1739" r:id="rId48"/>
    <p:sldId id="397" r:id="rId49"/>
    <p:sldId id="398" r:id="rId50"/>
    <p:sldId id="400" r:id="rId51"/>
    <p:sldId id="401" r:id="rId52"/>
    <p:sldId id="404" r:id="rId53"/>
    <p:sldId id="405" r:id="rId54"/>
    <p:sldId id="406" r:id="rId55"/>
    <p:sldId id="407" r:id="rId56"/>
    <p:sldId id="408" r:id="rId57"/>
    <p:sldId id="409" r:id="rId58"/>
    <p:sldId id="410" r:id="rId59"/>
    <p:sldId id="411" r:id="rId60"/>
    <p:sldId id="412" r:id="rId61"/>
    <p:sldId id="414" r:id="rId62"/>
    <p:sldId id="416" r:id="rId63"/>
    <p:sldId id="1734" r:id="rId64"/>
    <p:sldId id="2380" r:id="rId65"/>
    <p:sldId id="974" r:id="rId66"/>
    <p:sldId id="2381" r:id="rId67"/>
    <p:sldId id="2382" r:id="rId68"/>
    <p:sldId id="2383" r:id="rId69"/>
    <p:sldId id="2384" r:id="rId70"/>
    <p:sldId id="288" r:id="rId71"/>
    <p:sldId id="289" r:id="rId72"/>
    <p:sldId id="265" r:id="rId73"/>
    <p:sldId id="266" r:id="rId74"/>
    <p:sldId id="2393" r:id="rId75"/>
    <p:sldId id="290" r:id="rId76"/>
    <p:sldId id="291" r:id="rId77"/>
    <p:sldId id="292" r:id="rId78"/>
    <p:sldId id="293" r:id="rId79"/>
    <p:sldId id="294" r:id="rId80"/>
    <p:sldId id="295" r:id="rId81"/>
    <p:sldId id="296" r:id="rId82"/>
    <p:sldId id="297" r:id="rId83"/>
    <p:sldId id="298" r:id="rId84"/>
    <p:sldId id="2394" r:id="rId85"/>
    <p:sldId id="300" r:id="rId86"/>
    <p:sldId id="301" r:id="rId87"/>
    <p:sldId id="302" r:id="rId88"/>
    <p:sldId id="303" r:id="rId89"/>
    <p:sldId id="304" r:id="rId90"/>
    <p:sldId id="305" r:id="rId91"/>
    <p:sldId id="1000" r:id="rId92"/>
    <p:sldId id="993" r:id="rId93"/>
    <p:sldId id="994" r:id="rId94"/>
    <p:sldId id="1732" r:id="rId95"/>
    <p:sldId id="1733" r:id="rId96"/>
    <p:sldId id="1731" r:id="rId97"/>
    <p:sldId id="995" r:id="rId98"/>
    <p:sldId id="996" r:id="rId99"/>
    <p:sldId id="997" r:id="rId100"/>
    <p:sldId id="998" r:id="rId101"/>
    <p:sldId id="999" r:id="rId102"/>
    <p:sldId id="316" r:id="rId103"/>
    <p:sldId id="317" r:id="rId104"/>
    <p:sldId id="318" r:id="rId105"/>
    <p:sldId id="331" r:id="rId106"/>
    <p:sldId id="313" r:id="rId107"/>
    <p:sldId id="2395" r:id="rId108"/>
    <p:sldId id="264" r:id="rId109"/>
    <p:sldId id="975" r:id="rId110"/>
    <p:sldId id="268" r:id="rId111"/>
    <p:sldId id="269" r:id="rId112"/>
    <p:sldId id="270" r:id="rId113"/>
    <p:sldId id="271" r:id="rId114"/>
    <p:sldId id="272" r:id="rId115"/>
    <p:sldId id="2396" r:id="rId116"/>
    <p:sldId id="274" r:id="rId117"/>
    <p:sldId id="275" r:id="rId118"/>
    <p:sldId id="276" r:id="rId119"/>
    <p:sldId id="277" r:id="rId120"/>
    <p:sldId id="278" r:id="rId121"/>
    <p:sldId id="279" r:id="rId122"/>
    <p:sldId id="280" r:id="rId123"/>
    <p:sldId id="281" r:id="rId124"/>
    <p:sldId id="282" r:id="rId125"/>
    <p:sldId id="283" r:id="rId126"/>
    <p:sldId id="284" r:id="rId127"/>
    <p:sldId id="285" r:id="rId128"/>
    <p:sldId id="286" r:id="rId129"/>
    <p:sldId id="287" r:id="rId130"/>
    <p:sldId id="976" r:id="rId131"/>
    <p:sldId id="977" r:id="rId132"/>
    <p:sldId id="978" r:id="rId133"/>
    <p:sldId id="979" r:id="rId134"/>
    <p:sldId id="980" r:id="rId135"/>
    <p:sldId id="981" r:id="rId136"/>
    <p:sldId id="982" r:id="rId137"/>
    <p:sldId id="983" r:id="rId138"/>
    <p:sldId id="984" r:id="rId139"/>
    <p:sldId id="985" r:id="rId140"/>
    <p:sldId id="986" r:id="rId141"/>
    <p:sldId id="987" r:id="rId142"/>
    <p:sldId id="988" r:id="rId143"/>
    <p:sldId id="989" r:id="rId144"/>
    <p:sldId id="990" r:id="rId145"/>
    <p:sldId id="312" r:id="rId146"/>
    <p:sldId id="314" r:id="rId147"/>
    <p:sldId id="308" r:id="rId148"/>
    <p:sldId id="310" r:id="rId149"/>
    <p:sldId id="991" r:id="rId150"/>
    <p:sldId id="307" r:id="rId151"/>
    <p:sldId id="972" r:id="rId152"/>
    <p:sldId id="973" r:id="rId153"/>
    <p:sldId id="309" r:id="rId154"/>
    <p:sldId id="992" r:id="rId155"/>
    <p:sldId id="1730" r:id="rId156"/>
    <p:sldId id="306" r:id="rId157"/>
    <p:sldId id="321" r:id="rId158"/>
    <p:sldId id="322" r:id="rId159"/>
    <p:sldId id="323" r:id="rId160"/>
    <p:sldId id="2397" r:id="rId161"/>
    <p:sldId id="327" r:id="rId162"/>
    <p:sldId id="328" r:id="rId163"/>
    <p:sldId id="329" r:id="rId164"/>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7" autoAdjust="0"/>
    <p:restoredTop sz="94660"/>
  </p:normalViewPr>
  <p:slideViewPr>
    <p:cSldViewPr snapToGrid="0">
      <p:cViewPr varScale="1">
        <p:scale>
          <a:sx n="77" d="100"/>
          <a:sy n="77" d="100"/>
        </p:scale>
        <p:origin x="232" y="5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38" Type="http://schemas.openxmlformats.org/officeDocument/2006/relationships/slide" Target="slides/slide135.xml"/><Relationship Id="rId159" Type="http://schemas.openxmlformats.org/officeDocument/2006/relationships/slide" Target="slides/slide156.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53" Type="http://schemas.openxmlformats.org/officeDocument/2006/relationships/slide" Target="slides/slide50.xml"/><Relationship Id="rId74" Type="http://schemas.openxmlformats.org/officeDocument/2006/relationships/slide" Target="slides/slide71.xml"/><Relationship Id="rId128" Type="http://schemas.openxmlformats.org/officeDocument/2006/relationships/slide" Target="slides/slide125.xml"/><Relationship Id="rId149" Type="http://schemas.openxmlformats.org/officeDocument/2006/relationships/slide" Target="slides/slide146.xml"/><Relationship Id="rId5" Type="http://schemas.openxmlformats.org/officeDocument/2006/relationships/slide" Target="slides/slide2.xml"/><Relationship Id="rId95" Type="http://schemas.openxmlformats.org/officeDocument/2006/relationships/slide" Target="slides/slide92.xml"/><Relationship Id="rId160" Type="http://schemas.openxmlformats.org/officeDocument/2006/relationships/slide" Target="slides/slide157.xml"/><Relationship Id="rId22" Type="http://schemas.openxmlformats.org/officeDocument/2006/relationships/slide" Target="slides/slide19.xml"/><Relationship Id="rId43" Type="http://schemas.openxmlformats.org/officeDocument/2006/relationships/slide" Target="slides/slide40.xml"/><Relationship Id="rId64" Type="http://schemas.openxmlformats.org/officeDocument/2006/relationships/slide" Target="slides/slide61.xml"/><Relationship Id="rId118" Type="http://schemas.openxmlformats.org/officeDocument/2006/relationships/slide" Target="slides/slide115.xml"/><Relationship Id="rId139" Type="http://schemas.openxmlformats.org/officeDocument/2006/relationships/slide" Target="slides/slide136.xml"/><Relationship Id="rId85" Type="http://schemas.openxmlformats.org/officeDocument/2006/relationships/slide" Target="slides/slide82.xml"/><Relationship Id="rId150" Type="http://schemas.openxmlformats.org/officeDocument/2006/relationships/slide" Target="slides/slide147.xml"/><Relationship Id="rId12" Type="http://schemas.openxmlformats.org/officeDocument/2006/relationships/slide" Target="slides/slide9.xml"/><Relationship Id="rId33" Type="http://schemas.openxmlformats.org/officeDocument/2006/relationships/slide" Target="slides/slide30.xml"/><Relationship Id="rId108" Type="http://schemas.openxmlformats.org/officeDocument/2006/relationships/slide" Target="slides/slide105.xml"/><Relationship Id="rId129" Type="http://schemas.openxmlformats.org/officeDocument/2006/relationships/slide" Target="slides/slide126.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40" Type="http://schemas.openxmlformats.org/officeDocument/2006/relationships/slide" Target="slides/slide137.xml"/><Relationship Id="rId145" Type="http://schemas.openxmlformats.org/officeDocument/2006/relationships/slide" Target="slides/slide142.xml"/><Relationship Id="rId161" Type="http://schemas.openxmlformats.org/officeDocument/2006/relationships/slide" Target="slides/slide158.xml"/><Relationship Id="rId16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slide" Target="slides/slide127.xml"/><Relationship Id="rId135" Type="http://schemas.openxmlformats.org/officeDocument/2006/relationships/slide" Target="slides/slide132.xml"/><Relationship Id="rId151" Type="http://schemas.openxmlformats.org/officeDocument/2006/relationships/slide" Target="slides/slide148.xml"/><Relationship Id="rId156" Type="http://schemas.openxmlformats.org/officeDocument/2006/relationships/slide" Target="slides/slide153.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141" Type="http://schemas.openxmlformats.org/officeDocument/2006/relationships/slide" Target="slides/slide138.xml"/><Relationship Id="rId146" Type="http://schemas.openxmlformats.org/officeDocument/2006/relationships/slide" Target="slides/slide143.xml"/><Relationship Id="rId167" Type="http://schemas.openxmlformats.org/officeDocument/2006/relationships/viewProps" Target="viewProp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162" Type="http://schemas.openxmlformats.org/officeDocument/2006/relationships/slide" Target="slides/slide15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slide" Target="slides/slide128.xml"/><Relationship Id="rId136" Type="http://schemas.openxmlformats.org/officeDocument/2006/relationships/slide" Target="slides/slide133.xml"/><Relationship Id="rId157" Type="http://schemas.openxmlformats.org/officeDocument/2006/relationships/slide" Target="slides/slide154.xml"/><Relationship Id="rId61" Type="http://schemas.openxmlformats.org/officeDocument/2006/relationships/slide" Target="slides/slide58.xml"/><Relationship Id="rId82" Type="http://schemas.openxmlformats.org/officeDocument/2006/relationships/slide" Target="slides/slide79.xml"/><Relationship Id="rId152" Type="http://schemas.openxmlformats.org/officeDocument/2006/relationships/slide" Target="slides/slide14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 Id="rId147" Type="http://schemas.openxmlformats.org/officeDocument/2006/relationships/slide" Target="slides/slide144.xml"/><Relationship Id="rId168"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142" Type="http://schemas.openxmlformats.org/officeDocument/2006/relationships/slide" Target="slides/slide139.xml"/><Relationship Id="rId163" Type="http://schemas.openxmlformats.org/officeDocument/2006/relationships/slide" Target="slides/slide160.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137" Type="http://schemas.openxmlformats.org/officeDocument/2006/relationships/slide" Target="slides/slide134.xml"/><Relationship Id="rId158" Type="http://schemas.openxmlformats.org/officeDocument/2006/relationships/slide" Target="slides/slide155.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slide" Target="slides/slide129.xml"/><Relationship Id="rId153" Type="http://schemas.openxmlformats.org/officeDocument/2006/relationships/slide" Target="slides/slide150.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143" Type="http://schemas.openxmlformats.org/officeDocument/2006/relationships/slide" Target="slides/slide140.xml"/><Relationship Id="rId148" Type="http://schemas.openxmlformats.org/officeDocument/2006/relationships/slide" Target="slides/slide145.xml"/><Relationship Id="rId164" Type="http://schemas.openxmlformats.org/officeDocument/2006/relationships/slide" Target="slides/slide161.xml"/><Relationship Id="rId169"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slide" Target="slides/slide130.xml"/><Relationship Id="rId154" Type="http://schemas.openxmlformats.org/officeDocument/2006/relationships/slide" Target="slides/slide151.xml"/><Relationship Id="rId16" Type="http://schemas.openxmlformats.org/officeDocument/2006/relationships/slide" Target="slides/slide13.xml"/><Relationship Id="rId37" Type="http://schemas.openxmlformats.org/officeDocument/2006/relationships/slide" Target="slides/slide34.xml"/><Relationship Id="rId58" Type="http://schemas.openxmlformats.org/officeDocument/2006/relationships/slide" Target="slides/slide55.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44" Type="http://schemas.openxmlformats.org/officeDocument/2006/relationships/slide" Target="slides/slide141.xml"/><Relationship Id="rId90" Type="http://schemas.openxmlformats.org/officeDocument/2006/relationships/slide" Target="slides/slide87.xml"/><Relationship Id="rId165" Type="http://schemas.openxmlformats.org/officeDocument/2006/relationships/notesMaster" Target="notesMasters/notesMaster1.xml"/><Relationship Id="rId27" Type="http://schemas.openxmlformats.org/officeDocument/2006/relationships/slide" Target="slides/slide24.xml"/><Relationship Id="rId48" Type="http://schemas.openxmlformats.org/officeDocument/2006/relationships/slide" Target="slides/slide45.xml"/><Relationship Id="rId69" Type="http://schemas.openxmlformats.org/officeDocument/2006/relationships/slide" Target="slides/slide66.xml"/><Relationship Id="rId113" Type="http://schemas.openxmlformats.org/officeDocument/2006/relationships/slide" Target="slides/slide110.xml"/><Relationship Id="rId134" Type="http://schemas.openxmlformats.org/officeDocument/2006/relationships/slide" Target="slides/slide131.xml"/><Relationship Id="rId80" Type="http://schemas.openxmlformats.org/officeDocument/2006/relationships/slide" Target="slides/slide77.xml"/><Relationship Id="rId155" Type="http://schemas.openxmlformats.org/officeDocument/2006/relationships/slide" Target="slides/slide152.xml"/><Relationship Id="rId17" Type="http://schemas.openxmlformats.org/officeDocument/2006/relationships/slide" Target="slides/slide14.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24" Type="http://schemas.openxmlformats.org/officeDocument/2006/relationships/slide" Target="slides/slide12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31.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AD226CC-D057-4076-973D-28E1C9E2EB25}" type="datetimeFigureOut">
              <a:rPr lang="zh-CN" altLang="en-US" smtClean="0"/>
              <a:t>2026-04-17</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EDC9969-7BFD-472B-BE30-5B3FAF9D0D4D}" type="slidenum">
              <a:rPr lang="zh-CN" altLang="en-US" smtClean="0"/>
              <a:t>‹#›</a:t>
            </a:fld>
            <a:endParaRPr lang="zh-CN" altLang="en-US"/>
          </a:p>
        </p:txBody>
      </p:sp>
    </p:spTree>
    <p:extLst>
      <p:ext uri="{BB962C8B-B14F-4D97-AF65-F5344CB8AC3E}">
        <p14:creationId xmlns:p14="http://schemas.microsoft.com/office/powerpoint/2010/main" val="373609106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A718BCC-8E0E-4014-A15C-131A86B0AD65}" type="slidenum">
              <a:rPr lang="zh-CN" altLang="en-US" smtClean="0"/>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a:extLst>
              <a:ext uri="{FF2B5EF4-FFF2-40B4-BE49-F238E27FC236}">
                <a16:creationId xmlns:a16="http://schemas.microsoft.com/office/drawing/2014/main" id="{5B06BAB0-814B-4E69-B801-FBD00EC4890D}"/>
              </a:ext>
            </a:extLst>
          </p:cNvPr>
          <p:cNvSpPr>
            <a:spLocks noGrp="1" noChangeArrowheads="1"/>
          </p:cNvSpPr>
          <p:nvPr>
            <p:ph type="sldNum" sz="quarter" idx="5"/>
          </p:nvPr>
        </p:nvSpPr>
        <p:spPr>
          <a:ln/>
        </p:spPr>
        <p:txBody>
          <a:bodyPr/>
          <a:lstStyle/>
          <a:p>
            <a:fld id="{062DF638-7F35-4CE3-9947-A727279E4F28}" type="slidenum">
              <a:rPr lang="en-US" altLang="zh-CN"/>
              <a:pPr/>
              <a:t>15</a:t>
            </a:fld>
            <a:endParaRPr lang="en-US" altLang="zh-CN"/>
          </a:p>
        </p:txBody>
      </p:sp>
      <p:sp>
        <p:nvSpPr>
          <p:cNvPr id="22530" name="Rectangle 2">
            <a:extLst>
              <a:ext uri="{FF2B5EF4-FFF2-40B4-BE49-F238E27FC236}">
                <a16:creationId xmlns:a16="http://schemas.microsoft.com/office/drawing/2014/main" id="{494BBA04-F233-40AD-98C4-2916AF0F7108}"/>
              </a:ext>
            </a:extLst>
          </p:cNvPr>
          <p:cNvSpPr>
            <a:spLocks noGrp="1" noRot="1" noChangeAspect="1" noChangeArrowheads="1" noTextEdit="1"/>
          </p:cNvSpPr>
          <p:nvPr>
            <p:ph type="sldImg"/>
          </p:nvPr>
        </p:nvSpPr>
        <p:spPr>
          <a:ln/>
        </p:spPr>
      </p:sp>
      <p:sp>
        <p:nvSpPr>
          <p:cNvPr id="22531" name="Rectangle 3">
            <a:extLst>
              <a:ext uri="{FF2B5EF4-FFF2-40B4-BE49-F238E27FC236}">
                <a16:creationId xmlns:a16="http://schemas.microsoft.com/office/drawing/2014/main" id="{0C522F88-2772-4469-BBBC-8B7FC8D91229}"/>
              </a:ext>
            </a:extLst>
          </p:cNvPr>
          <p:cNvSpPr>
            <a:spLocks noGrp="1" noChangeArrowheads="1"/>
          </p:cNvSpPr>
          <p:nvPr>
            <p:ph type="body" idx="1"/>
          </p:nvPr>
        </p:nvSpPr>
        <p:spPr/>
        <p:txBody>
          <a:bodyPr/>
          <a:lstStyle/>
          <a:p>
            <a:r>
              <a:rPr lang="en-US" altLang="zh-CN"/>
              <a:t>N=n0+n1+n2  b=n-1=n1+2*n2    </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a:extLst>
              <a:ext uri="{FF2B5EF4-FFF2-40B4-BE49-F238E27FC236}">
                <a16:creationId xmlns:a16="http://schemas.microsoft.com/office/drawing/2014/main" id="{7DBC9FF4-58D1-4B5C-BF56-0C8151FD4167}"/>
              </a:ext>
            </a:extLst>
          </p:cNvPr>
          <p:cNvSpPr>
            <a:spLocks noGrp="1" noChangeArrowheads="1"/>
          </p:cNvSpPr>
          <p:nvPr>
            <p:ph type="sldNum" sz="quarter" idx="5"/>
          </p:nvPr>
        </p:nvSpPr>
        <p:spPr>
          <a:ln/>
        </p:spPr>
        <p:txBody>
          <a:bodyPr/>
          <a:lstStyle/>
          <a:p>
            <a:fld id="{A9B2C86D-0E0B-4DEA-8B35-52ABB574638A}" type="slidenum">
              <a:rPr lang="en-US" altLang="zh-CN"/>
              <a:pPr/>
              <a:t>16</a:t>
            </a:fld>
            <a:endParaRPr lang="en-US" altLang="zh-CN"/>
          </a:p>
        </p:txBody>
      </p:sp>
      <p:sp>
        <p:nvSpPr>
          <p:cNvPr id="41986" name="Rectangle 2">
            <a:extLst>
              <a:ext uri="{FF2B5EF4-FFF2-40B4-BE49-F238E27FC236}">
                <a16:creationId xmlns:a16="http://schemas.microsoft.com/office/drawing/2014/main" id="{5DAD88FC-4489-48DB-A6AD-27BB81BFD22C}"/>
              </a:ext>
            </a:extLst>
          </p:cNvPr>
          <p:cNvSpPr>
            <a:spLocks noGrp="1" noRot="1" noChangeAspect="1" noChangeArrowheads="1" noTextEdit="1"/>
          </p:cNvSpPr>
          <p:nvPr>
            <p:ph type="sldImg"/>
          </p:nvPr>
        </p:nvSpPr>
        <p:spPr>
          <a:ln/>
        </p:spPr>
      </p:sp>
      <p:sp>
        <p:nvSpPr>
          <p:cNvPr id="41987" name="Rectangle 3">
            <a:extLst>
              <a:ext uri="{FF2B5EF4-FFF2-40B4-BE49-F238E27FC236}">
                <a16:creationId xmlns:a16="http://schemas.microsoft.com/office/drawing/2014/main" id="{C0E11E73-3892-47EF-B923-AAF4EE9073C2}"/>
              </a:ext>
            </a:extLst>
          </p:cNvPr>
          <p:cNvSpPr>
            <a:spLocks noGrp="1" noChangeArrowheads="1"/>
          </p:cNvSpPr>
          <p:nvPr>
            <p:ph type="body" idx="1"/>
          </p:nvPr>
        </p:nvSpPr>
        <p:spPr/>
        <p:txBody>
          <a:bodyPr/>
          <a:lstStyle/>
          <a:p>
            <a:r>
              <a:rPr lang="en-US" altLang="zh-CN"/>
              <a:t>N=n0+n1+n2  b=n-1=n1+2*n2    </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34</a:t>
            </a:fld>
            <a:endParaRPr lang="zh-CN" altLang="en-US"/>
          </a:p>
        </p:txBody>
      </p:sp>
    </p:spTree>
    <p:extLst>
      <p:ext uri="{BB962C8B-B14F-4D97-AF65-F5344CB8AC3E}">
        <p14:creationId xmlns:p14="http://schemas.microsoft.com/office/powerpoint/2010/main" val="152964779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35</a:t>
            </a:fld>
            <a:endParaRPr lang="zh-CN" altLang="en-US"/>
          </a:p>
        </p:txBody>
      </p:sp>
    </p:spTree>
    <p:extLst>
      <p:ext uri="{BB962C8B-B14F-4D97-AF65-F5344CB8AC3E}">
        <p14:creationId xmlns:p14="http://schemas.microsoft.com/office/powerpoint/2010/main" val="3351702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36</a:t>
            </a:fld>
            <a:endParaRPr lang="zh-CN" altLang="en-US"/>
          </a:p>
        </p:txBody>
      </p:sp>
    </p:spTree>
    <p:extLst>
      <p:ext uri="{BB962C8B-B14F-4D97-AF65-F5344CB8AC3E}">
        <p14:creationId xmlns:p14="http://schemas.microsoft.com/office/powerpoint/2010/main" val="12600345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37</a:t>
            </a:fld>
            <a:endParaRPr lang="zh-CN" altLang="en-US"/>
          </a:p>
        </p:txBody>
      </p:sp>
    </p:spTree>
    <p:extLst>
      <p:ext uri="{BB962C8B-B14F-4D97-AF65-F5344CB8AC3E}">
        <p14:creationId xmlns:p14="http://schemas.microsoft.com/office/powerpoint/2010/main" val="307591580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38</a:t>
            </a:fld>
            <a:endParaRPr lang="zh-CN" altLang="en-US"/>
          </a:p>
        </p:txBody>
      </p:sp>
    </p:spTree>
    <p:extLst>
      <p:ext uri="{BB962C8B-B14F-4D97-AF65-F5344CB8AC3E}">
        <p14:creationId xmlns:p14="http://schemas.microsoft.com/office/powerpoint/2010/main" val="278754231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39</a:t>
            </a:fld>
            <a:endParaRPr lang="zh-CN" altLang="en-US"/>
          </a:p>
        </p:txBody>
      </p:sp>
    </p:spTree>
    <p:extLst>
      <p:ext uri="{BB962C8B-B14F-4D97-AF65-F5344CB8AC3E}">
        <p14:creationId xmlns:p14="http://schemas.microsoft.com/office/powerpoint/2010/main" val="43356183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40</a:t>
            </a:fld>
            <a:endParaRPr lang="zh-CN" altLang="en-US"/>
          </a:p>
        </p:txBody>
      </p:sp>
    </p:spTree>
    <p:extLst>
      <p:ext uri="{BB962C8B-B14F-4D97-AF65-F5344CB8AC3E}">
        <p14:creationId xmlns:p14="http://schemas.microsoft.com/office/powerpoint/2010/main" val="368550412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41</a:t>
            </a:fld>
            <a:endParaRPr lang="zh-CN" altLang="en-US"/>
          </a:p>
        </p:txBody>
      </p:sp>
    </p:spTree>
    <p:extLst>
      <p:ext uri="{BB962C8B-B14F-4D97-AF65-F5344CB8AC3E}">
        <p14:creationId xmlns:p14="http://schemas.microsoft.com/office/powerpoint/2010/main" val="142629076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42</a:t>
            </a:fld>
            <a:endParaRPr lang="zh-CN" altLang="en-US"/>
          </a:p>
        </p:txBody>
      </p:sp>
    </p:spTree>
    <p:extLst>
      <p:ext uri="{BB962C8B-B14F-4D97-AF65-F5344CB8AC3E}">
        <p14:creationId xmlns:p14="http://schemas.microsoft.com/office/powerpoint/2010/main" val="23471963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43</a:t>
            </a:fld>
            <a:endParaRPr lang="zh-CN" altLang="en-US"/>
          </a:p>
        </p:txBody>
      </p:sp>
    </p:spTree>
    <p:extLst>
      <p:ext uri="{BB962C8B-B14F-4D97-AF65-F5344CB8AC3E}">
        <p14:creationId xmlns:p14="http://schemas.microsoft.com/office/powerpoint/2010/main" val="60378355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46</a:t>
            </a:fld>
            <a:endParaRPr lang="zh-CN" altLang="en-US"/>
          </a:p>
        </p:txBody>
      </p:sp>
    </p:spTree>
    <p:extLst>
      <p:ext uri="{BB962C8B-B14F-4D97-AF65-F5344CB8AC3E}">
        <p14:creationId xmlns:p14="http://schemas.microsoft.com/office/powerpoint/2010/main" val="37723901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47</a:t>
            </a:fld>
            <a:endParaRPr lang="zh-CN" altLang="en-US"/>
          </a:p>
        </p:txBody>
      </p:sp>
    </p:spTree>
    <p:extLst>
      <p:ext uri="{BB962C8B-B14F-4D97-AF65-F5344CB8AC3E}">
        <p14:creationId xmlns:p14="http://schemas.microsoft.com/office/powerpoint/2010/main" val="397378537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48</a:t>
            </a:fld>
            <a:endParaRPr lang="zh-CN" altLang="en-US"/>
          </a:p>
        </p:txBody>
      </p:sp>
    </p:spTree>
    <p:extLst>
      <p:ext uri="{BB962C8B-B14F-4D97-AF65-F5344CB8AC3E}">
        <p14:creationId xmlns:p14="http://schemas.microsoft.com/office/powerpoint/2010/main" val="80969699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49</a:t>
            </a:fld>
            <a:endParaRPr lang="zh-CN" altLang="en-US"/>
          </a:p>
        </p:txBody>
      </p:sp>
    </p:spTree>
    <p:extLst>
      <p:ext uri="{BB962C8B-B14F-4D97-AF65-F5344CB8AC3E}">
        <p14:creationId xmlns:p14="http://schemas.microsoft.com/office/powerpoint/2010/main" val="155862640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50</a:t>
            </a:fld>
            <a:endParaRPr lang="zh-CN" altLang="en-US"/>
          </a:p>
        </p:txBody>
      </p:sp>
    </p:spTree>
    <p:extLst>
      <p:ext uri="{BB962C8B-B14F-4D97-AF65-F5344CB8AC3E}">
        <p14:creationId xmlns:p14="http://schemas.microsoft.com/office/powerpoint/2010/main" val="41852426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51</a:t>
            </a:fld>
            <a:endParaRPr lang="zh-CN" altLang="en-US"/>
          </a:p>
        </p:txBody>
      </p:sp>
    </p:spTree>
    <p:extLst>
      <p:ext uri="{BB962C8B-B14F-4D97-AF65-F5344CB8AC3E}">
        <p14:creationId xmlns:p14="http://schemas.microsoft.com/office/powerpoint/2010/main" val="11797881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52</a:t>
            </a:fld>
            <a:endParaRPr lang="zh-CN" altLang="en-US"/>
          </a:p>
        </p:txBody>
      </p:sp>
    </p:spTree>
    <p:extLst>
      <p:ext uri="{BB962C8B-B14F-4D97-AF65-F5344CB8AC3E}">
        <p14:creationId xmlns:p14="http://schemas.microsoft.com/office/powerpoint/2010/main" val="3997419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53</a:t>
            </a:fld>
            <a:endParaRPr lang="zh-CN" altLang="en-US"/>
          </a:p>
        </p:txBody>
      </p:sp>
    </p:spTree>
    <p:extLst>
      <p:ext uri="{BB962C8B-B14F-4D97-AF65-F5344CB8AC3E}">
        <p14:creationId xmlns:p14="http://schemas.microsoft.com/office/powerpoint/2010/main" val="285468187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54</a:t>
            </a:fld>
            <a:endParaRPr lang="zh-CN" altLang="en-US"/>
          </a:p>
        </p:txBody>
      </p:sp>
    </p:spTree>
    <p:extLst>
      <p:ext uri="{BB962C8B-B14F-4D97-AF65-F5344CB8AC3E}">
        <p14:creationId xmlns:p14="http://schemas.microsoft.com/office/powerpoint/2010/main" val="240565065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55</a:t>
            </a:fld>
            <a:endParaRPr lang="zh-CN" altLang="en-US"/>
          </a:p>
        </p:txBody>
      </p:sp>
    </p:spTree>
    <p:extLst>
      <p:ext uri="{BB962C8B-B14F-4D97-AF65-F5344CB8AC3E}">
        <p14:creationId xmlns:p14="http://schemas.microsoft.com/office/powerpoint/2010/main" val="194758131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56</a:t>
            </a:fld>
            <a:endParaRPr lang="zh-CN" altLang="en-US"/>
          </a:p>
        </p:txBody>
      </p:sp>
    </p:spTree>
    <p:extLst>
      <p:ext uri="{BB962C8B-B14F-4D97-AF65-F5344CB8AC3E}">
        <p14:creationId xmlns:p14="http://schemas.microsoft.com/office/powerpoint/2010/main" val="238025925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57</a:t>
            </a:fld>
            <a:endParaRPr lang="zh-CN" altLang="en-US"/>
          </a:p>
        </p:txBody>
      </p:sp>
    </p:spTree>
    <p:extLst>
      <p:ext uri="{BB962C8B-B14F-4D97-AF65-F5344CB8AC3E}">
        <p14:creationId xmlns:p14="http://schemas.microsoft.com/office/powerpoint/2010/main" val="427121809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58</a:t>
            </a:fld>
            <a:endParaRPr lang="zh-CN" altLang="en-US"/>
          </a:p>
        </p:txBody>
      </p:sp>
    </p:spTree>
    <p:extLst>
      <p:ext uri="{BB962C8B-B14F-4D97-AF65-F5344CB8AC3E}">
        <p14:creationId xmlns:p14="http://schemas.microsoft.com/office/powerpoint/2010/main" val="184298947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59</a:t>
            </a:fld>
            <a:endParaRPr lang="zh-CN" altLang="en-US"/>
          </a:p>
        </p:txBody>
      </p:sp>
    </p:spTree>
    <p:extLst>
      <p:ext uri="{BB962C8B-B14F-4D97-AF65-F5344CB8AC3E}">
        <p14:creationId xmlns:p14="http://schemas.microsoft.com/office/powerpoint/2010/main" val="404843693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FC8AECDA-B852-4CA6-98F9-FDA299AD4FD3}" type="slidenum">
              <a:rPr lang="zh-CN" altLang="en-US" smtClean="0"/>
              <a:t>60</a:t>
            </a:fld>
            <a:endParaRPr lang="zh-CN" altLang="en-US"/>
          </a:p>
        </p:txBody>
      </p:sp>
    </p:spTree>
    <p:extLst>
      <p:ext uri="{BB962C8B-B14F-4D97-AF65-F5344CB8AC3E}">
        <p14:creationId xmlns:p14="http://schemas.microsoft.com/office/powerpoint/2010/main" val="290977395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A718BCC-8E0E-4014-A15C-131A86B0AD65}" type="slidenum">
              <a:rPr lang="zh-CN" altLang="en-US" smtClean="0"/>
              <a:t>90</a:t>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A718BCC-8E0E-4014-A15C-131A86B0AD65}" type="slidenum">
              <a:rPr lang="zh-CN" altLang="en-US" smtClean="0"/>
              <a:t>156</a:t>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PlaceHolder 1"/>
          <p:cNvSpPr>
            <a:spLocks noGrp="1"/>
          </p:cNvSpPr>
          <p:nvPr>
            <p:ph type="body"/>
          </p:nvPr>
        </p:nvSpPr>
        <p:spPr>
          <a:xfrm>
            <a:off x="685800" y="4400640"/>
            <a:ext cx="5485320" cy="3599280"/>
          </a:xfrm>
          <a:prstGeom prst="rect">
            <a:avLst/>
          </a:prstGeom>
        </p:spPr>
        <p:txBody>
          <a:bodyPr lIns="0" tIns="0" rIns="0" bIns="0"/>
          <a:lstStyle/>
          <a:p>
            <a:r>
              <a:rPr lang="en-US" sz="2000" strike="noStrike" spc="-1" dirty="0">
                <a:solidFill>
                  <a:srgbClr val="000000"/>
                </a:solidFill>
                <a:uFill>
                  <a:solidFill>
                    <a:srgbClr val="FFFFFF"/>
                  </a:solidFill>
                </a:uFill>
                <a:latin typeface="Arial" panose="020B0604020202020204"/>
              </a:rPr>
              <a:t>一颗深度为n，且没有任何剪枝行为的搜索树，节点总数为2^0+2^1+…2^(n-1)=2^n-1</a:t>
            </a:r>
          </a:p>
          <a:p>
            <a:r>
              <a:rPr lang="en-US" sz="2000" strike="noStrike" spc="-1" dirty="0">
                <a:solidFill>
                  <a:srgbClr val="000000"/>
                </a:solidFill>
                <a:uFill>
                  <a:solidFill>
                    <a:srgbClr val="FFFFFF"/>
                  </a:solidFill>
                </a:uFill>
                <a:latin typeface="Arial" panose="020B0604020202020204"/>
              </a:rPr>
              <a:t>假设解在第n+1层，搜索树的深度增加1后，为2^n-1+2^n=2^(n+1)-1。</a:t>
            </a:r>
          </a:p>
          <a:p>
            <a:r>
              <a:rPr lang="en-US" sz="2000" strike="noStrike" spc="-1" dirty="0">
                <a:solidFill>
                  <a:srgbClr val="000000"/>
                </a:solidFill>
                <a:uFill>
                  <a:solidFill>
                    <a:srgbClr val="FFFFFF"/>
                  </a:solidFill>
                </a:uFill>
                <a:latin typeface="Arial" panose="020B0604020202020204"/>
              </a:rPr>
              <a:t>深度1~n的搜索代价总和为2^(n+1)-n-2，于是深度为n+1时的代价和之前所有深度的搜索代价和几乎是同一数量级的。</a:t>
            </a:r>
          </a:p>
        </p:txBody>
      </p:sp>
      <p:sp>
        <p:nvSpPr>
          <p:cNvPr id="112" name="CustomShape 2"/>
          <p:cNvSpPr/>
          <p:nvPr/>
        </p:nvSpPr>
        <p:spPr>
          <a:xfrm>
            <a:off x="3884760" y="8685360"/>
            <a:ext cx="2970720" cy="45756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nchor="b"/>
          <a:lstStyle/>
          <a:p>
            <a:pPr algn="r">
              <a:lnSpc>
                <a:spcPct val="100000"/>
              </a:lnSpc>
            </a:pPr>
            <a:fld id="{41DEC955-3180-4269-994F-BE7AC82AD3D3}" type="slidenum">
              <a:rPr lang="en-US" sz="1200" strike="noStrike" spc="-1">
                <a:solidFill>
                  <a:srgbClr val="000000"/>
                </a:solidFill>
                <a:uFill>
                  <a:solidFill>
                    <a:srgbClr val="FFFFFF"/>
                  </a:solidFill>
                </a:uFill>
                <a:latin typeface="+mn-lt"/>
                <a:ea typeface="+mn-ea"/>
              </a:rPr>
              <a:t>159</a:t>
            </a:fld>
            <a:endParaRPr lang="en-US" sz="1800" strike="noStrike" spc="-1">
              <a:solidFill>
                <a:srgbClr val="000000"/>
              </a:solidFill>
              <a:uFill>
                <a:solidFill>
                  <a:srgbClr val="FFFFFF"/>
                </a:solidFill>
              </a:uFill>
              <a:latin typeface="Arial" panose="020B0604020202020204"/>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956108"/>
            <a:ext cx="9144000" cy="2387600"/>
          </a:xfrm>
        </p:spPr>
        <p:txBody>
          <a:bodyPr anchor="b">
            <a:normAutofit/>
          </a:bodyPr>
          <a:lstStyle>
            <a:lvl1pPr algn="ctr">
              <a:defRPr sz="4400">
                <a:solidFill>
                  <a:schemeClr val="accent5">
                    <a:lumMod val="75000"/>
                  </a:schemeClr>
                </a:solidFill>
                <a:latin typeface="微软雅黑" panose="020B0503020204020204" pitchFamily="34" charset="-122"/>
                <a:ea typeface="微软雅黑" panose="020B0503020204020204" pitchFamily="34" charset="-122"/>
              </a:defRPr>
            </a:lvl1pPr>
          </a:lstStyle>
          <a:p>
            <a:r>
              <a:rPr lang="zh-CN" altLang="en-US" dirty="0"/>
              <a:t>单击此处编辑母版标题样式</a:t>
            </a:r>
          </a:p>
        </p:txBody>
      </p:sp>
      <p:sp>
        <p:nvSpPr>
          <p:cNvPr id="3" name="副标题 2"/>
          <p:cNvSpPr>
            <a:spLocks noGrp="1"/>
          </p:cNvSpPr>
          <p:nvPr>
            <p:ph type="subTitle" idx="1" hasCustomPrompt="1"/>
          </p:nvPr>
        </p:nvSpPr>
        <p:spPr>
          <a:xfrm>
            <a:off x="1524000" y="3602038"/>
            <a:ext cx="9144000" cy="1655762"/>
          </a:xfrm>
        </p:spPr>
        <p:txBody>
          <a:bodyPr/>
          <a:lstStyle>
            <a:lvl1pPr marL="0" indent="0" algn="ctr">
              <a:buNone/>
              <a:defRPr sz="2400">
                <a:solidFill>
                  <a:schemeClr val="accent5">
                    <a:lumMod val="75000"/>
                  </a:schemeClr>
                </a:solidFill>
                <a:latin typeface="黑体" panose="02010609060101010101" pitchFamily="49" charset="-122"/>
                <a:ea typeface="黑体" panose="02010609060101010101" pitchFamily="49"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单击以编辑母版副标题样式</a:t>
            </a:r>
          </a:p>
        </p:txBody>
      </p:sp>
      <p:pic>
        <p:nvPicPr>
          <p:cNvPr id="8" name="图片 7">
            <a:extLst>
              <a:ext uri="{FF2B5EF4-FFF2-40B4-BE49-F238E27FC236}">
                <a16:creationId xmlns:a16="http://schemas.microsoft.com/office/drawing/2014/main" id="{4292AA5B-3511-4AA4-AF20-4D87F26197D3}"/>
              </a:ext>
            </a:extLst>
          </p:cNvPr>
          <p:cNvPicPr>
            <a:picLocks noChangeAspect="1"/>
          </p:cNvPicPr>
          <p:nvPr userDrawn="1"/>
        </p:nvPicPr>
        <p:blipFill rotWithShape="1">
          <a:blip r:embed="rId2" cstate="print">
            <a:biLevel thresh="25000"/>
            <a:extLst>
              <a:ext uri="{28A0092B-C50C-407E-A947-70E740481C1C}">
                <a14:useLocalDpi xmlns:a14="http://schemas.microsoft.com/office/drawing/2010/main" val="0"/>
              </a:ext>
            </a:extLst>
          </a:blip>
          <a:srcRect t="55949" b="20928"/>
          <a:stretch>
            <a:fillRect/>
          </a:stretch>
        </p:blipFill>
        <p:spPr>
          <a:xfrm>
            <a:off x="0" y="5272269"/>
            <a:ext cx="12192000" cy="1585731"/>
          </a:xfrm>
          <a:prstGeom prst="rect">
            <a:avLst/>
          </a:prstGeom>
        </p:spPr>
      </p:pic>
    </p:spTree>
    <p:extLst>
      <p:ext uri="{BB962C8B-B14F-4D97-AF65-F5344CB8AC3E}">
        <p14:creationId xmlns:p14="http://schemas.microsoft.com/office/powerpoint/2010/main" val="279132891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930381"/>
            <a:ext cx="10515600" cy="933261"/>
          </a:xfrm>
        </p:spPr>
        <p:txBody>
          <a:bodyPr>
            <a:normAutofit/>
          </a:bodyPr>
          <a:lstStyle>
            <a:lvl1pPr>
              <a:defRPr sz="4000">
                <a:solidFill>
                  <a:schemeClr val="accent5">
                    <a:lumMod val="75000"/>
                  </a:schemeClr>
                </a:solidFill>
                <a:latin typeface="黑体" panose="02010609060101010101" pitchFamily="49" charset="-122"/>
                <a:ea typeface="黑体" panose="02010609060101010101" pitchFamily="49" charset="-122"/>
              </a:defRPr>
            </a:lvl1pPr>
          </a:lstStyle>
          <a:p>
            <a:r>
              <a:rPr lang="zh-CN" altLang="en-US" dirty="0"/>
              <a:t>单击此处编辑母版标题样式</a:t>
            </a:r>
          </a:p>
        </p:txBody>
      </p:sp>
      <p:sp>
        <p:nvSpPr>
          <p:cNvPr id="3" name="内容占位符 2"/>
          <p:cNvSpPr>
            <a:spLocks noGrp="1"/>
          </p:cNvSpPr>
          <p:nvPr>
            <p:ph idx="1" hasCustomPrompt="1"/>
          </p:nvPr>
        </p:nvSpPr>
        <p:spPr>
          <a:xfrm>
            <a:off x="838200" y="2158134"/>
            <a:ext cx="10515600" cy="4351338"/>
          </a:xfrm>
        </p:spPr>
        <p:txBody>
          <a:body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131964941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04375203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956108"/>
            <a:ext cx="9144000" cy="2387600"/>
          </a:xfrm>
        </p:spPr>
        <p:txBody>
          <a:bodyPr anchor="b">
            <a:normAutofit/>
          </a:bodyPr>
          <a:lstStyle>
            <a:lvl1pPr algn="ctr">
              <a:defRPr sz="4400">
                <a:solidFill>
                  <a:schemeClr val="accent5">
                    <a:lumMod val="75000"/>
                  </a:schemeClr>
                </a:solidFill>
                <a:latin typeface="微软雅黑" panose="020B0503020204020204" pitchFamily="34" charset="-122"/>
                <a:ea typeface="微软雅黑" panose="020B0503020204020204" pitchFamily="34" charset="-122"/>
              </a:defRPr>
            </a:lvl1pPr>
          </a:lstStyle>
          <a:p>
            <a:r>
              <a:rPr lang="zh-CN" altLang="en-US" dirty="0"/>
              <a:t>单击此处编辑母版标题样式</a:t>
            </a:r>
          </a:p>
        </p:txBody>
      </p:sp>
      <p:sp>
        <p:nvSpPr>
          <p:cNvPr id="3" name="副标题 2"/>
          <p:cNvSpPr>
            <a:spLocks noGrp="1"/>
          </p:cNvSpPr>
          <p:nvPr>
            <p:ph type="subTitle" idx="1" hasCustomPrompt="1"/>
          </p:nvPr>
        </p:nvSpPr>
        <p:spPr>
          <a:xfrm>
            <a:off x="1524000" y="3602038"/>
            <a:ext cx="9144000" cy="1655762"/>
          </a:xfrm>
        </p:spPr>
        <p:txBody>
          <a:bodyPr/>
          <a:lstStyle>
            <a:lvl1pPr marL="0" indent="0" algn="ctr">
              <a:buNone/>
              <a:defRPr sz="2400">
                <a:solidFill>
                  <a:schemeClr val="accent5">
                    <a:lumMod val="75000"/>
                  </a:schemeClr>
                </a:solidFill>
                <a:latin typeface="黑体" panose="02010609060101010101" pitchFamily="49" charset="-122"/>
                <a:ea typeface="黑体" panose="02010609060101010101" pitchFamily="49"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单击以编辑母版副标题样式</a:t>
            </a:r>
          </a:p>
        </p:txBody>
      </p:sp>
      <p:pic>
        <p:nvPicPr>
          <p:cNvPr id="7" name="图片 8" descr="WechatIMG2.jpeg">
            <a:extLst>
              <a:ext uri="{FF2B5EF4-FFF2-40B4-BE49-F238E27FC236}">
                <a16:creationId xmlns:a16="http://schemas.microsoft.com/office/drawing/2014/main" id="{D00077EC-4D16-4C91-8618-505DD6F94F60}"/>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0277" y="289894"/>
            <a:ext cx="1897862" cy="55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7">
            <a:extLst>
              <a:ext uri="{FF2B5EF4-FFF2-40B4-BE49-F238E27FC236}">
                <a16:creationId xmlns:a16="http://schemas.microsoft.com/office/drawing/2014/main" id="{4292AA5B-3511-4AA4-AF20-4D87F26197D3}"/>
              </a:ext>
            </a:extLst>
          </p:cNvPr>
          <p:cNvPicPr>
            <a:picLocks noChangeAspect="1"/>
          </p:cNvPicPr>
          <p:nvPr userDrawn="1"/>
        </p:nvPicPr>
        <p:blipFill rotWithShape="1">
          <a:blip r:embed="rId3" cstate="print">
            <a:biLevel thresh="25000"/>
            <a:extLst>
              <a:ext uri="{28A0092B-C50C-407E-A947-70E740481C1C}">
                <a14:useLocalDpi xmlns:a14="http://schemas.microsoft.com/office/drawing/2010/main" val="0"/>
              </a:ext>
            </a:extLst>
          </a:blip>
          <a:srcRect t="55949" b="20928"/>
          <a:stretch>
            <a:fillRect/>
          </a:stretch>
        </p:blipFill>
        <p:spPr>
          <a:xfrm>
            <a:off x="0" y="5272269"/>
            <a:ext cx="12192000" cy="1585731"/>
          </a:xfrm>
          <a:prstGeom prst="rect">
            <a:avLst/>
          </a:prstGeom>
        </p:spPr>
      </p:pic>
    </p:spTree>
    <p:extLst>
      <p:ext uri="{BB962C8B-B14F-4D97-AF65-F5344CB8AC3E}">
        <p14:creationId xmlns:p14="http://schemas.microsoft.com/office/powerpoint/2010/main" val="166735561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930381"/>
            <a:ext cx="10515600" cy="933261"/>
          </a:xfrm>
        </p:spPr>
        <p:txBody>
          <a:bodyPr>
            <a:normAutofit/>
          </a:bodyPr>
          <a:lstStyle>
            <a:lvl1pPr>
              <a:defRPr sz="4000">
                <a:solidFill>
                  <a:schemeClr val="accent5">
                    <a:lumMod val="75000"/>
                  </a:schemeClr>
                </a:solidFill>
                <a:latin typeface="黑体" panose="02010609060101010101" pitchFamily="49" charset="-122"/>
                <a:ea typeface="黑体" panose="02010609060101010101" pitchFamily="49" charset="-122"/>
              </a:defRPr>
            </a:lvl1pPr>
          </a:lstStyle>
          <a:p>
            <a:r>
              <a:rPr lang="zh-CN" altLang="en-US" dirty="0"/>
              <a:t>单击此处编辑母版标题样式</a:t>
            </a:r>
          </a:p>
        </p:txBody>
      </p:sp>
      <p:sp>
        <p:nvSpPr>
          <p:cNvPr id="3" name="内容占位符 2"/>
          <p:cNvSpPr>
            <a:spLocks noGrp="1"/>
          </p:cNvSpPr>
          <p:nvPr>
            <p:ph idx="1" hasCustomPrompt="1"/>
          </p:nvPr>
        </p:nvSpPr>
        <p:spPr>
          <a:xfrm>
            <a:off x="838200" y="2158134"/>
            <a:ext cx="10515600" cy="4351338"/>
          </a:xfrm>
        </p:spPr>
        <p:txBody>
          <a:body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pic>
        <p:nvPicPr>
          <p:cNvPr id="10" name="图片 8" descr="WechatIMG2.jpeg">
            <a:extLst>
              <a:ext uri="{FF2B5EF4-FFF2-40B4-BE49-F238E27FC236}">
                <a16:creationId xmlns:a16="http://schemas.microsoft.com/office/drawing/2014/main" id="{2793CBC1-7380-42B9-B3BB-787D603AE429}"/>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0277" y="289894"/>
            <a:ext cx="1897862" cy="55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9020867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54214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07F9040-C7AA-421E-8E92-84930D9F2821}"/>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D91FBFE6-C7EF-45F8-AA6B-C0349FAD45A2}"/>
              </a:ext>
            </a:extLst>
          </p:cNvPr>
          <p:cNvSpPr>
            <a:spLocks noGrp="1"/>
          </p:cNvSpPr>
          <p:nvPr>
            <p:ph type="dt" sz="half" idx="10"/>
          </p:nvPr>
        </p:nvSpPr>
        <p:spPr/>
        <p:txBody>
          <a:bodyPr/>
          <a:lstStyle>
            <a:lvl1pPr>
              <a:defRPr/>
            </a:lvl1pPr>
          </a:lstStyle>
          <a:p>
            <a:endParaRPr lang="en-US" altLang="zh-CN"/>
          </a:p>
        </p:txBody>
      </p:sp>
      <p:sp>
        <p:nvSpPr>
          <p:cNvPr id="4" name="页脚占位符 3">
            <a:extLst>
              <a:ext uri="{FF2B5EF4-FFF2-40B4-BE49-F238E27FC236}">
                <a16:creationId xmlns:a16="http://schemas.microsoft.com/office/drawing/2014/main" id="{3525369D-9B18-479C-82F9-C37174F11112}"/>
              </a:ext>
            </a:extLst>
          </p:cNvPr>
          <p:cNvSpPr>
            <a:spLocks noGrp="1"/>
          </p:cNvSpPr>
          <p:nvPr>
            <p:ph type="ftr" sz="quarter" idx="11"/>
          </p:nvPr>
        </p:nvSpPr>
        <p:spPr/>
        <p:txBody>
          <a:bodyPr/>
          <a:lstStyle>
            <a:lvl1pPr>
              <a:defRPr/>
            </a:lvl1pPr>
          </a:lstStyle>
          <a:p>
            <a:endParaRPr lang="en-US" altLang="zh-CN"/>
          </a:p>
        </p:txBody>
      </p:sp>
      <p:sp>
        <p:nvSpPr>
          <p:cNvPr id="5" name="灯片编号占位符 4">
            <a:extLst>
              <a:ext uri="{FF2B5EF4-FFF2-40B4-BE49-F238E27FC236}">
                <a16:creationId xmlns:a16="http://schemas.microsoft.com/office/drawing/2014/main" id="{08986E43-604D-4273-9334-53D7BA9FEA6D}"/>
              </a:ext>
            </a:extLst>
          </p:cNvPr>
          <p:cNvSpPr>
            <a:spLocks noGrp="1"/>
          </p:cNvSpPr>
          <p:nvPr>
            <p:ph type="sldNum" sz="quarter" idx="12"/>
          </p:nvPr>
        </p:nvSpPr>
        <p:spPr/>
        <p:txBody>
          <a:bodyPr/>
          <a:lstStyle>
            <a:lvl1pPr>
              <a:defRPr/>
            </a:lvl1pPr>
          </a:lstStyle>
          <a:p>
            <a:fld id="{CB077E6C-12EB-46C4-85B9-839AD5856171}" type="slidenum">
              <a:rPr lang="en-US" altLang="zh-CN"/>
              <a:pPr/>
              <a:t>‹#›</a:t>
            </a:fld>
            <a:endParaRPr lang="en-US" altLang="zh-CN"/>
          </a:p>
        </p:txBody>
      </p:sp>
    </p:spTree>
    <p:extLst>
      <p:ext uri="{BB962C8B-B14F-4D97-AF65-F5344CB8AC3E}">
        <p14:creationId xmlns:p14="http://schemas.microsoft.com/office/powerpoint/2010/main" val="68670769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bl">
  <p:cSld name="标题和表格">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696291A-B3AB-4509-9260-05E83922DA1E}"/>
              </a:ext>
            </a:extLst>
          </p:cNvPr>
          <p:cNvSpPr>
            <a:spLocks noGrp="1"/>
          </p:cNvSpPr>
          <p:nvPr>
            <p:ph type="title"/>
          </p:nvPr>
        </p:nvSpPr>
        <p:spPr>
          <a:xfrm>
            <a:off x="609600" y="274638"/>
            <a:ext cx="10972800" cy="1143000"/>
          </a:xfrm>
        </p:spPr>
        <p:txBody>
          <a:bodyPr/>
          <a:lstStyle/>
          <a:p>
            <a:r>
              <a:rPr lang="zh-CN" altLang="en-US"/>
              <a:t>单击此处编辑母版标题样式</a:t>
            </a:r>
          </a:p>
        </p:txBody>
      </p:sp>
      <p:sp>
        <p:nvSpPr>
          <p:cNvPr id="3" name="表格占位符 2">
            <a:extLst>
              <a:ext uri="{FF2B5EF4-FFF2-40B4-BE49-F238E27FC236}">
                <a16:creationId xmlns:a16="http://schemas.microsoft.com/office/drawing/2014/main" id="{62440447-CE3D-4BA8-9F5C-4280DB92D51C}"/>
              </a:ext>
            </a:extLst>
          </p:cNvPr>
          <p:cNvSpPr>
            <a:spLocks noGrp="1"/>
          </p:cNvSpPr>
          <p:nvPr>
            <p:ph type="tbl" idx="1"/>
          </p:nvPr>
        </p:nvSpPr>
        <p:spPr>
          <a:xfrm>
            <a:off x="609600" y="1600201"/>
            <a:ext cx="10972800" cy="4525963"/>
          </a:xfrm>
        </p:spPr>
        <p:txBody>
          <a:bodyPr/>
          <a:lstStyle/>
          <a:p>
            <a:endParaRPr lang="zh-CN" altLang="en-US"/>
          </a:p>
        </p:txBody>
      </p:sp>
      <p:sp>
        <p:nvSpPr>
          <p:cNvPr id="4" name="日期占位符 3">
            <a:extLst>
              <a:ext uri="{FF2B5EF4-FFF2-40B4-BE49-F238E27FC236}">
                <a16:creationId xmlns:a16="http://schemas.microsoft.com/office/drawing/2014/main" id="{A6004BD4-A82C-4093-B7E3-D12FFE6BF72B}"/>
              </a:ext>
            </a:extLst>
          </p:cNvPr>
          <p:cNvSpPr>
            <a:spLocks noGrp="1"/>
          </p:cNvSpPr>
          <p:nvPr>
            <p:ph type="dt" sz="half" idx="10"/>
          </p:nvPr>
        </p:nvSpPr>
        <p:spPr>
          <a:xfrm>
            <a:off x="609600" y="6245225"/>
            <a:ext cx="2844800" cy="476250"/>
          </a:xfrm>
        </p:spPr>
        <p:txBody>
          <a:bodyPr/>
          <a:lstStyle>
            <a:lvl1pPr>
              <a:defRPr/>
            </a:lvl1pPr>
          </a:lstStyle>
          <a:p>
            <a:endParaRPr lang="en-US" altLang="zh-CN"/>
          </a:p>
        </p:txBody>
      </p:sp>
      <p:sp>
        <p:nvSpPr>
          <p:cNvPr id="5" name="页脚占位符 4">
            <a:extLst>
              <a:ext uri="{FF2B5EF4-FFF2-40B4-BE49-F238E27FC236}">
                <a16:creationId xmlns:a16="http://schemas.microsoft.com/office/drawing/2014/main" id="{0B22A043-D69F-4F7F-B6A8-A8649461A644}"/>
              </a:ext>
            </a:extLst>
          </p:cNvPr>
          <p:cNvSpPr>
            <a:spLocks noGrp="1"/>
          </p:cNvSpPr>
          <p:nvPr>
            <p:ph type="ftr" sz="quarter" idx="11"/>
          </p:nvPr>
        </p:nvSpPr>
        <p:spPr>
          <a:xfrm>
            <a:off x="4165600" y="6245225"/>
            <a:ext cx="3860800" cy="476250"/>
          </a:xfrm>
        </p:spPr>
        <p:txBody>
          <a:bodyPr/>
          <a:lstStyle>
            <a:lvl1pPr>
              <a:defRPr/>
            </a:lvl1pPr>
          </a:lstStyle>
          <a:p>
            <a:endParaRPr lang="en-US" altLang="zh-CN"/>
          </a:p>
        </p:txBody>
      </p:sp>
      <p:sp>
        <p:nvSpPr>
          <p:cNvPr id="6" name="灯片编号占位符 5">
            <a:extLst>
              <a:ext uri="{FF2B5EF4-FFF2-40B4-BE49-F238E27FC236}">
                <a16:creationId xmlns:a16="http://schemas.microsoft.com/office/drawing/2014/main" id="{B49E9AA9-33EF-47CE-A1B0-BBF639E9DCD9}"/>
              </a:ext>
            </a:extLst>
          </p:cNvPr>
          <p:cNvSpPr>
            <a:spLocks noGrp="1"/>
          </p:cNvSpPr>
          <p:nvPr>
            <p:ph type="sldNum" sz="quarter" idx="12"/>
          </p:nvPr>
        </p:nvSpPr>
        <p:spPr>
          <a:xfrm>
            <a:off x="8737600" y="6245225"/>
            <a:ext cx="2844800" cy="476250"/>
          </a:xfrm>
        </p:spPr>
        <p:txBody>
          <a:bodyPr/>
          <a:lstStyle>
            <a:lvl1pPr>
              <a:defRPr/>
            </a:lvl1pPr>
          </a:lstStyle>
          <a:p>
            <a:fld id="{90E15AEE-7382-452F-9082-1351453B8B90}" type="slidenum">
              <a:rPr lang="en-US" altLang="zh-CN"/>
              <a:pPr/>
              <a:t>‹#›</a:t>
            </a:fld>
            <a:endParaRPr lang="en-US" altLang="zh-CN"/>
          </a:p>
        </p:txBody>
      </p:sp>
    </p:spTree>
    <p:extLst>
      <p:ext uri="{BB962C8B-B14F-4D97-AF65-F5344CB8AC3E}">
        <p14:creationId xmlns:p14="http://schemas.microsoft.com/office/powerpoint/2010/main" val="363755024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1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838200" y="564948"/>
            <a:ext cx="10515600" cy="518958"/>
          </a:xfrm>
          <a:prstGeom prst="rect">
            <a:avLst/>
          </a:prstGeom>
        </p:spPr>
        <p:txBody>
          <a:bodyPr>
            <a:normAutofit/>
          </a:bodyPr>
          <a:lstStyle>
            <a:lvl1pPr algn="ctr">
              <a:defRPr sz="2600" b="1">
                <a:latin typeface="华文中宋" panose="02010600040101010101" pitchFamily="2" charset="-122"/>
                <a:ea typeface="华文中宋" panose="02010600040101010101" pitchFamily="2" charset="-122"/>
              </a:defRPr>
            </a:lvl1pPr>
          </a:lstStyle>
          <a:p>
            <a:r>
              <a:rPr lang="zh-CN" altLang="en-US" dirty="0"/>
              <a:t>单击此处编辑一级标题样式</a:t>
            </a:r>
          </a:p>
        </p:txBody>
      </p:sp>
      <p:sp>
        <p:nvSpPr>
          <p:cNvPr id="21" name="内容占位符 2"/>
          <p:cNvSpPr>
            <a:spLocks noGrp="1"/>
          </p:cNvSpPr>
          <p:nvPr>
            <p:ph idx="11" hasCustomPrompt="1"/>
          </p:nvPr>
        </p:nvSpPr>
        <p:spPr>
          <a:xfrm>
            <a:off x="584225" y="1276350"/>
            <a:ext cx="11055325" cy="5057775"/>
          </a:xfrm>
        </p:spPr>
        <p:txBody>
          <a:bodyPr>
            <a:normAutofit/>
          </a:bodyPr>
          <a:lstStyle>
            <a:lvl1pPr marL="0" indent="0">
              <a:buFontTx/>
              <a:buNone/>
              <a:defRPr sz="2000">
                <a:latin typeface="微软雅黑" panose="020B0503020204020204" pitchFamily="34" charset="-122"/>
                <a:ea typeface="微软雅黑" panose="020B0503020204020204" pitchFamily="34" charset="-122"/>
              </a:defRPr>
            </a:lvl1pPr>
            <a:lvl2pPr marL="457200" indent="0">
              <a:buFontTx/>
              <a:buNone/>
              <a:defRPr sz="2800"/>
            </a:lvl2pPr>
            <a:lvl3pPr marL="914400" indent="0">
              <a:buFontTx/>
              <a:buNone/>
              <a:defRPr sz="2400"/>
            </a:lvl3pPr>
            <a:lvl4pPr marL="1371600" indent="0">
              <a:buFontTx/>
              <a:buNone/>
              <a:defRPr sz="2000"/>
            </a:lvl4pPr>
            <a:lvl5pPr marL="1828800" indent="0">
              <a:buFontTx/>
              <a:buNone/>
              <a:defRPr sz="2000"/>
            </a:lvl5pPr>
            <a:lvl6pPr>
              <a:defRPr sz="2000"/>
            </a:lvl6pPr>
            <a:lvl7pPr>
              <a:defRPr sz="2000"/>
            </a:lvl7pPr>
            <a:lvl8pPr>
              <a:defRPr sz="2000"/>
            </a:lvl8pPr>
            <a:lvl9pPr>
              <a:defRPr sz="2000"/>
            </a:lvl9pPr>
          </a:lstStyle>
          <a:p>
            <a:pPr lvl="0"/>
            <a:r>
              <a:rPr lang="zh-CN" altLang="en-US" dirty="0"/>
              <a:t>单击此处编辑正文</a:t>
            </a:r>
          </a:p>
        </p:txBody>
      </p:sp>
    </p:spTree>
    <p:extLst>
      <p:ext uri="{BB962C8B-B14F-4D97-AF65-F5344CB8AC3E}">
        <p14:creationId xmlns:p14="http://schemas.microsoft.com/office/powerpoint/2010/main" val="63020213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838200" y="564948"/>
            <a:ext cx="10515600" cy="518958"/>
          </a:xfrm>
          <a:prstGeom prst="rect">
            <a:avLst/>
          </a:prstGeom>
        </p:spPr>
        <p:txBody>
          <a:bodyPr>
            <a:normAutofit/>
          </a:bodyPr>
          <a:lstStyle>
            <a:lvl1pPr algn="ctr">
              <a:defRPr sz="2600" b="1">
                <a:latin typeface="华文中宋" panose="02010600040101010101" pitchFamily="2" charset="-122"/>
                <a:ea typeface="华文中宋" panose="02010600040101010101" pitchFamily="2" charset="-122"/>
              </a:defRPr>
            </a:lvl1pPr>
          </a:lstStyle>
          <a:p>
            <a:r>
              <a:rPr lang="zh-CN" altLang="en-US" dirty="0"/>
              <a:t>单击此处编辑一级标题样式</a:t>
            </a:r>
          </a:p>
        </p:txBody>
      </p:sp>
      <p:sp>
        <p:nvSpPr>
          <p:cNvPr id="9" name="副标题 2"/>
          <p:cNvSpPr>
            <a:spLocks noGrp="1"/>
          </p:cNvSpPr>
          <p:nvPr>
            <p:ph type="subTitle" idx="1" hasCustomPrompt="1"/>
          </p:nvPr>
        </p:nvSpPr>
        <p:spPr>
          <a:xfrm>
            <a:off x="584225" y="271204"/>
            <a:ext cx="4864359" cy="327421"/>
          </a:xfrm>
          <a:prstGeom prst="rect">
            <a:avLst/>
          </a:prstGeom>
        </p:spPr>
        <p:txBody>
          <a:bodyPr>
            <a:normAutofit/>
          </a:bodyPr>
          <a:lstStyle>
            <a:lvl1pPr marL="0" indent="0" algn="l">
              <a:buNone/>
              <a:defRPr sz="1200">
                <a:latin typeface="微软雅黑" panose="020B0503020204020204" pitchFamily="34" charset="-122"/>
                <a:ea typeface="微软雅黑" panose="020B0503020204020204" pitchFamily="34"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单击此处编辑小节名</a:t>
            </a:r>
          </a:p>
        </p:txBody>
      </p:sp>
      <p:sp>
        <p:nvSpPr>
          <p:cNvPr id="21" name="内容占位符 2"/>
          <p:cNvSpPr>
            <a:spLocks noGrp="1"/>
          </p:cNvSpPr>
          <p:nvPr>
            <p:ph idx="11" hasCustomPrompt="1"/>
          </p:nvPr>
        </p:nvSpPr>
        <p:spPr>
          <a:xfrm>
            <a:off x="584225" y="1276350"/>
            <a:ext cx="11055325" cy="5057775"/>
          </a:xfrm>
        </p:spPr>
        <p:txBody>
          <a:bodyPr>
            <a:normAutofit/>
          </a:bodyPr>
          <a:lstStyle>
            <a:lvl1pPr marL="0" indent="0">
              <a:buFontTx/>
              <a:buNone/>
              <a:defRPr sz="2000">
                <a:latin typeface="微软雅黑" panose="020B0503020204020204" pitchFamily="34" charset="-122"/>
                <a:ea typeface="微软雅黑" panose="020B0503020204020204" pitchFamily="34" charset="-122"/>
              </a:defRPr>
            </a:lvl1pPr>
            <a:lvl2pPr marL="457200" indent="0">
              <a:buFontTx/>
              <a:buNone/>
              <a:defRPr sz="2800"/>
            </a:lvl2pPr>
            <a:lvl3pPr marL="914400" indent="0">
              <a:buFontTx/>
              <a:buNone/>
              <a:defRPr sz="2400"/>
            </a:lvl3pPr>
            <a:lvl4pPr marL="1371600" indent="0">
              <a:buFontTx/>
              <a:buNone/>
              <a:defRPr sz="2000"/>
            </a:lvl4pPr>
            <a:lvl5pPr marL="1828800" indent="0">
              <a:buFontTx/>
              <a:buNone/>
              <a:defRPr sz="2000"/>
            </a:lvl5pPr>
            <a:lvl6pPr>
              <a:defRPr sz="2000"/>
            </a:lvl6pPr>
            <a:lvl7pPr>
              <a:defRPr sz="2000"/>
            </a:lvl7pPr>
            <a:lvl8pPr>
              <a:defRPr sz="2000"/>
            </a:lvl8pPr>
            <a:lvl9pPr>
              <a:defRPr sz="2000"/>
            </a:lvl9pPr>
          </a:lstStyle>
          <a:p>
            <a:pPr lvl="0"/>
            <a:r>
              <a:rPr lang="zh-CN" altLang="en-US" dirty="0"/>
              <a:t>单击此处编辑正文</a:t>
            </a:r>
          </a:p>
        </p:txBody>
      </p:sp>
    </p:spTree>
    <p:extLst>
      <p:ext uri="{BB962C8B-B14F-4D97-AF65-F5344CB8AC3E}">
        <p14:creationId xmlns:p14="http://schemas.microsoft.com/office/powerpoint/2010/main" val="197377040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359404187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147114526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47220328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375082732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381753758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168257035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69017511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15784267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331829999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205968642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D997B5FA-0921-464F-AAE1-844C04324D75}" type="datetimeFigureOut">
              <a:rPr lang="zh-CN" altLang="en-US" smtClean="0"/>
              <a:t>2026-04-17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376484886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838200" y="564948"/>
            <a:ext cx="10515600" cy="518958"/>
          </a:xfrm>
          <a:prstGeom prst="rect">
            <a:avLst/>
          </a:prstGeom>
        </p:spPr>
        <p:txBody>
          <a:bodyPr>
            <a:normAutofit/>
          </a:bodyPr>
          <a:lstStyle>
            <a:lvl1pPr algn="ctr">
              <a:defRPr sz="2600" b="1">
                <a:latin typeface="华文中宋" panose="02010600040101010101" pitchFamily="2" charset="-122"/>
                <a:ea typeface="华文中宋" panose="02010600040101010101" pitchFamily="2" charset="-122"/>
              </a:defRPr>
            </a:lvl1pPr>
          </a:lstStyle>
          <a:p>
            <a:r>
              <a:rPr lang="zh-CN" altLang="en-US" dirty="0"/>
              <a:t>单击此处编辑一级标题样式</a:t>
            </a:r>
          </a:p>
        </p:txBody>
      </p:sp>
      <p:sp>
        <p:nvSpPr>
          <p:cNvPr id="21" name="内容占位符 2"/>
          <p:cNvSpPr>
            <a:spLocks noGrp="1"/>
          </p:cNvSpPr>
          <p:nvPr>
            <p:ph idx="11" hasCustomPrompt="1"/>
          </p:nvPr>
        </p:nvSpPr>
        <p:spPr>
          <a:xfrm>
            <a:off x="584225" y="1276350"/>
            <a:ext cx="11055325" cy="5057775"/>
          </a:xfrm>
        </p:spPr>
        <p:txBody>
          <a:bodyPr>
            <a:normAutofit/>
          </a:bodyPr>
          <a:lstStyle>
            <a:lvl1pPr marL="0" indent="0">
              <a:buFontTx/>
              <a:buNone/>
              <a:defRPr sz="2000">
                <a:latin typeface="微软雅黑" panose="020B0503020204020204" pitchFamily="34" charset="-122"/>
                <a:ea typeface="微软雅黑" panose="020B0503020204020204" pitchFamily="34" charset="-122"/>
              </a:defRPr>
            </a:lvl1pPr>
            <a:lvl2pPr marL="457200" indent="0">
              <a:buFontTx/>
              <a:buNone/>
              <a:defRPr sz="2800"/>
            </a:lvl2pPr>
            <a:lvl3pPr marL="914400" indent="0">
              <a:buFontTx/>
              <a:buNone/>
              <a:defRPr sz="2400"/>
            </a:lvl3pPr>
            <a:lvl4pPr marL="1371600" indent="0">
              <a:buFontTx/>
              <a:buNone/>
              <a:defRPr sz="2000"/>
            </a:lvl4pPr>
            <a:lvl5pPr marL="1828800" indent="0">
              <a:buFontTx/>
              <a:buNone/>
              <a:defRPr sz="2000"/>
            </a:lvl5pPr>
            <a:lvl6pPr>
              <a:defRPr sz="2000"/>
            </a:lvl6pPr>
            <a:lvl7pPr>
              <a:defRPr sz="2000"/>
            </a:lvl7pPr>
            <a:lvl8pPr>
              <a:defRPr sz="2000"/>
            </a:lvl8pPr>
            <a:lvl9pPr>
              <a:defRPr sz="2000"/>
            </a:lvl9pPr>
          </a:lstStyle>
          <a:p>
            <a:pPr lvl="0"/>
            <a:r>
              <a:rPr lang="zh-CN" altLang="en-US" dirty="0"/>
              <a:t>单击此处编辑正文</a:t>
            </a:r>
          </a:p>
        </p:txBody>
      </p:sp>
    </p:spTree>
    <p:extLst>
      <p:ext uri="{BB962C8B-B14F-4D97-AF65-F5344CB8AC3E}">
        <p14:creationId xmlns:p14="http://schemas.microsoft.com/office/powerpoint/2010/main" val="162063578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838200" y="564948"/>
            <a:ext cx="10515600" cy="518958"/>
          </a:xfrm>
          <a:prstGeom prst="rect">
            <a:avLst/>
          </a:prstGeom>
        </p:spPr>
        <p:txBody>
          <a:bodyPr>
            <a:normAutofit/>
          </a:bodyPr>
          <a:lstStyle>
            <a:lvl1pPr algn="ctr">
              <a:defRPr sz="2600" b="1">
                <a:latin typeface="华文中宋" panose="02010600040101010101" pitchFamily="2" charset="-122"/>
                <a:ea typeface="华文中宋" panose="02010600040101010101" pitchFamily="2" charset="-122"/>
              </a:defRPr>
            </a:lvl1pPr>
          </a:lstStyle>
          <a:p>
            <a:r>
              <a:rPr lang="zh-CN" altLang="en-US" dirty="0"/>
              <a:t>单击此处编辑一级标题样式</a:t>
            </a:r>
          </a:p>
        </p:txBody>
      </p:sp>
      <p:sp>
        <p:nvSpPr>
          <p:cNvPr id="9" name="副标题 2"/>
          <p:cNvSpPr>
            <a:spLocks noGrp="1"/>
          </p:cNvSpPr>
          <p:nvPr>
            <p:ph type="subTitle" idx="1" hasCustomPrompt="1"/>
          </p:nvPr>
        </p:nvSpPr>
        <p:spPr>
          <a:xfrm>
            <a:off x="584225" y="271204"/>
            <a:ext cx="4864359" cy="327421"/>
          </a:xfrm>
          <a:prstGeom prst="rect">
            <a:avLst/>
          </a:prstGeom>
        </p:spPr>
        <p:txBody>
          <a:bodyPr>
            <a:normAutofit/>
          </a:bodyPr>
          <a:lstStyle>
            <a:lvl1pPr marL="0" indent="0" algn="l">
              <a:buNone/>
              <a:defRPr sz="1200">
                <a:latin typeface="微软雅黑" panose="020B0503020204020204" pitchFamily="34" charset="-122"/>
                <a:ea typeface="微软雅黑" panose="020B0503020204020204" pitchFamily="34"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单击此处编辑小节名</a:t>
            </a:r>
          </a:p>
        </p:txBody>
      </p:sp>
      <p:sp>
        <p:nvSpPr>
          <p:cNvPr id="21" name="内容占位符 2"/>
          <p:cNvSpPr>
            <a:spLocks noGrp="1"/>
          </p:cNvSpPr>
          <p:nvPr>
            <p:ph idx="11" hasCustomPrompt="1"/>
          </p:nvPr>
        </p:nvSpPr>
        <p:spPr>
          <a:xfrm>
            <a:off x="584225" y="1276350"/>
            <a:ext cx="11055325" cy="5057775"/>
          </a:xfrm>
        </p:spPr>
        <p:txBody>
          <a:bodyPr>
            <a:normAutofit/>
          </a:bodyPr>
          <a:lstStyle>
            <a:lvl1pPr marL="0" indent="0">
              <a:buFontTx/>
              <a:buNone/>
              <a:defRPr sz="2000">
                <a:latin typeface="微软雅黑" panose="020B0503020204020204" pitchFamily="34" charset="-122"/>
                <a:ea typeface="微软雅黑" panose="020B0503020204020204" pitchFamily="34" charset="-122"/>
              </a:defRPr>
            </a:lvl1pPr>
            <a:lvl2pPr marL="457200" indent="0">
              <a:buFontTx/>
              <a:buNone/>
              <a:defRPr sz="2800"/>
            </a:lvl2pPr>
            <a:lvl3pPr marL="914400" indent="0">
              <a:buFontTx/>
              <a:buNone/>
              <a:defRPr sz="2400"/>
            </a:lvl3pPr>
            <a:lvl4pPr marL="1371600" indent="0">
              <a:buFontTx/>
              <a:buNone/>
              <a:defRPr sz="2000"/>
            </a:lvl4pPr>
            <a:lvl5pPr marL="1828800" indent="0">
              <a:buFontTx/>
              <a:buNone/>
              <a:defRPr sz="2000"/>
            </a:lvl5pPr>
            <a:lvl6pPr>
              <a:defRPr sz="2000"/>
            </a:lvl6pPr>
            <a:lvl7pPr>
              <a:defRPr sz="2000"/>
            </a:lvl7pPr>
            <a:lvl8pPr>
              <a:defRPr sz="2000"/>
            </a:lvl8pPr>
            <a:lvl9pPr>
              <a:defRPr sz="2000"/>
            </a:lvl9pPr>
          </a:lstStyle>
          <a:p>
            <a:pPr lvl="0"/>
            <a:r>
              <a:rPr lang="zh-CN" altLang="en-US" dirty="0"/>
              <a:t>单击此处编辑正文</a:t>
            </a:r>
          </a:p>
        </p:txBody>
      </p:sp>
    </p:spTree>
    <p:extLst>
      <p:ext uri="{BB962C8B-B14F-4D97-AF65-F5344CB8AC3E}">
        <p14:creationId xmlns:p14="http://schemas.microsoft.com/office/powerpoint/2010/main" val="116814230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cSld name="Content_slides">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9029229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6.xml"/><Relationship Id="rId7" Type="http://schemas.openxmlformats.org/officeDocument/2006/relationships/slideLayout" Target="../slideLayouts/slideLayout10.xml"/><Relationship Id="rId2" Type="http://schemas.openxmlformats.org/officeDocument/2006/relationships/slideLayout" Target="../slideLayouts/slideLayout5.xml"/><Relationship Id="rId1" Type="http://schemas.openxmlformats.org/officeDocument/2006/relationships/slideLayout" Target="../slideLayouts/slideLayout4.xml"/><Relationship Id="rId6" Type="http://schemas.openxmlformats.org/officeDocument/2006/relationships/slideLayout" Target="../slideLayouts/slideLayout9.xml"/><Relationship Id="rId5" Type="http://schemas.openxmlformats.org/officeDocument/2006/relationships/slideLayout" Target="../slideLayouts/slideLayout8.xml"/><Relationship Id="rId4" Type="http://schemas.openxmlformats.org/officeDocument/2006/relationships/slideLayout" Target="../slideLayouts/slideLayout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8.xml"/><Relationship Id="rId13" Type="http://schemas.openxmlformats.org/officeDocument/2006/relationships/slideLayout" Target="../slideLayouts/slideLayout23.xml"/><Relationship Id="rId3" Type="http://schemas.openxmlformats.org/officeDocument/2006/relationships/slideLayout" Target="../slideLayouts/slideLayout13.xml"/><Relationship Id="rId7" Type="http://schemas.openxmlformats.org/officeDocument/2006/relationships/slideLayout" Target="../slideLayouts/slideLayout17.xml"/><Relationship Id="rId12" Type="http://schemas.openxmlformats.org/officeDocument/2006/relationships/slideLayout" Target="../slideLayouts/slideLayout22.xml"/><Relationship Id="rId2" Type="http://schemas.openxmlformats.org/officeDocument/2006/relationships/slideLayout" Target="../slideLayouts/slideLayout12.xml"/><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5" Type="http://schemas.openxmlformats.org/officeDocument/2006/relationships/slideLayout" Target="../slideLayouts/slideLayout15.xml"/><Relationship Id="rId15" Type="http://schemas.openxmlformats.org/officeDocument/2006/relationships/theme" Target="../theme/theme3.xml"/><Relationship Id="rId10" Type="http://schemas.openxmlformats.org/officeDocument/2006/relationships/slideLayout" Target="../slideLayouts/slideLayout20.xml"/><Relationship Id="rId4" Type="http://schemas.openxmlformats.org/officeDocument/2006/relationships/slideLayout" Target="../slideLayouts/slideLayout14.xml"/><Relationship Id="rId9" Type="http://schemas.openxmlformats.org/officeDocument/2006/relationships/slideLayout" Target="../slideLayouts/slideLayout19.xml"/><Relationship Id="rId14"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1944290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743733847"/>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91" r:id="rId4"/>
    <p:sldLayoutId id="2147483692" r:id="rId5"/>
    <p:sldLayoutId id="2147483693" r:id="rId6"/>
    <p:sldLayoutId id="2147483694" r:id="rId7"/>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997B5FA-0921-464F-AAE1-844C04324D75}" type="datetimeFigureOut">
              <a:rPr lang="zh-CN" altLang="en-US" smtClean="0"/>
              <a:t>2026-04-17</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65CE74E-AB26-4998-AD42-012C4C1AD076}" type="slidenum">
              <a:rPr lang="zh-CN" altLang="en-US" smtClean="0"/>
              <a:t>‹#›</a:t>
            </a:fld>
            <a:endParaRPr lang="zh-CN" altLang="en-US"/>
          </a:p>
        </p:txBody>
      </p:sp>
    </p:spTree>
    <p:extLst>
      <p:ext uri="{BB962C8B-B14F-4D97-AF65-F5344CB8AC3E}">
        <p14:creationId xmlns:p14="http://schemas.microsoft.com/office/powerpoint/2010/main" val="4050144084"/>
      </p:ext>
    </p:extLst>
  </p:cSld>
  <p:clrMap bg1="lt1" tx1="dk1" bg2="lt2" tx2="dk2" accent1="accent1" accent2="accent2" accent3="accent3" accent4="accent4" accent5="accent5" accent6="accent6" hlink="hlink" folHlink="folHlink"/>
  <p:sldLayoutIdLst>
    <p:sldLayoutId id="2147483696"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 id="2147483707" r:id="rId12"/>
    <p:sldLayoutId id="2147483708" r:id="rId13"/>
    <p:sldLayoutId id="2147483709"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hyperlink" Target="mailto:zmk@tju.edu.cn" TargetMode="External"/></Relationships>
</file>

<file path=ppt/slides/_rels/slide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6.xml"/><Relationship Id="rId1" Type="http://schemas.openxmlformats.org/officeDocument/2006/relationships/slideLayout" Target="../slideLayouts/slideLayout9.xml"/><Relationship Id="rId4" Type="http://schemas.openxmlformats.org/officeDocument/2006/relationships/image" Target="../media/image11.png"/></Relationships>
</file>

<file path=ppt/slides/_rels/slide37.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7.xml"/><Relationship Id="rId1" Type="http://schemas.openxmlformats.org/officeDocument/2006/relationships/slideLayout" Target="../slideLayouts/slideLayout9.xml"/><Relationship Id="rId4" Type="http://schemas.openxmlformats.org/officeDocument/2006/relationships/image" Target="../media/image12.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4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4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4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5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8.xml"/><Relationship Id="rId1" Type="http://schemas.openxmlformats.org/officeDocument/2006/relationships/slideLayout" Target="../slideLayouts/slideLayout10.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5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7.xml"/><Relationship Id="rId1" Type="http://schemas.openxmlformats.org/officeDocument/2006/relationships/slideLayout" Target="../slideLayouts/slideLayout10.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0.xml"/></Relationships>
</file>

<file path=ppt/slides/_rels/slide6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5.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6.xml"/><Relationship Id="rId1" Type="http://schemas.openxmlformats.org/officeDocument/2006/relationships/vmlDrawing" Target="../drawings/vmlDrawing1.vml"/><Relationship Id="rId4" Type="http://schemas.openxmlformats.org/officeDocument/2006/relationships/image" Target="../media/image30.emf"/></Relationships>
</file>

<file path=ppt/slides/_rels/slide130.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6.xml"/><Relationship Id="rId1" Type="http://schemas.openxmlformats.org/officeDocument/2006/relationships/vmlDrawing" Target="../drawings/vmlDrawing2.vml"/><Relationship Id="rId4" Type="http://schemas.openxmlformats.org/officeDocument/2006/relationships/image" Target="../media/image31.wmf"/></Relationships>
</file>

<file path=ppt/slides/_rels/slide13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6.xml"/><Relationship Id="rId1" Type="http://schemas.openxmlformats.org/officeDocument/2006/relationships/vmlDrawing" Target="../drawings/vmlDrawing3.vml"/><Relationship Id="rId4" Type="http://schemas.openxmlformats.org/officeDocument/2006/relationships/image" Target="../media/image31.wmf"/></Relationships>
</file>

<file path=ppt/slides/_rels/slide13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6.xml"/><Relationship Id="rId1" Type="http://schemas.openxmlformats.org/officeDocument/2006/relationships/vmlDrawing" Target="../drawings/vmlDrawing4.vml"/><Relationship Id="rId4" Type="http://schemas.openxmlformats.org/officeDocument/2006/relationships/image" Target="../media/image31.wmf"/></Relationships>
</file>

<file path=ppt/slides/_rels/slide133.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6.xml"/><Relationship Id="rId1" Type="http://schemas.openxmlformats.org/officeDocument/2006/relationships/vmlDrawing" Target="../drawings/vmlDrawing5.vml"/><Relationship Id="rId4" Type="http://schemas.openxmlformats.org/officeDocument/2006/relationships/image" Target="../media/image31.wmf"/></Relationships>
</file>

<file path=ppt/slides/_rels/slide134.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6.xml"/><Relationship Id="rId1" Type="http://schemas.openxmlformats.org/officeDocument/2006/relationships/vmlDrawing" Target="../drawings/vmlDrawing6.vml"/><Relationship Id="rId4" Type="http://schemas.openxmlformats.org/officeDocument/2006/relationships/image" Target="../media/image31.wmf"/></Relationships>
</file>

<file path=ppt/slides/_rels/slide135.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6.xml"/><Relationship Id="rId1" Type="http://schemas.openxmlformats.org/officeDocument/2006/relationships/vmlDrawing" Target="../drawings/vmlDrawing7.vml"/><Relationship Id="rId4" Type="http://schemas.openxmlformats.org/officeDocument/2006/relationships/image" Target="../media/image31.wmf"/></Relationships>
</file>

<file path=ppt/slides/_rels/slide136.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Layout" Target="../slideLayouts/slideLayout6.xml"/><Relationship Id="rId1" Type="http://schemas.openxmlformats.org/officeDocument/2006/relationships/vmlDrawing" Target="../drawings/vmlDrawing8.vml"/><Relationship Id="rId4" Type="http://schemas.openxmlformats.org/officeDocument/2006/relationships/image" Target="../media/image31.wmf"/></Relationships>
</file>

<file path=ppt/slides/_rels/slide137.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Layout" Target="../slideLayouts/slideLayout6.xml"/><Relationship Id="rId1" Type="http://schemas.openxmlformats.org/officeDocument/2006/relationships/vmlDrawing" Target="../drawings/vmlDrawing9.vml"/><Relationship Id="rId4" Type="http://schemas.openxmlformats.org/officeDocument/2006/relationships/image" Target="../media/image31.wmf"/></Relationships>
</file>

<file path=ppt/slides/_rels/slide138.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Layout" Target="../slideLayouts/slideLayout6.xml"/><Relationship Id="rId1" Type="http://schemas.openxmlformats.org/officeDocument/2006/relationships/vmlDrawing" Target="../drawings/vmlDrawing10.vml"/><Relationship Id="rId4" Type="http://schemas.openxmlformats.org/officeDocument/2006/relationships/image" Target="../media/image31.wmf"/></Relationships>
</file>

<file path=ppt/slides/_rels/slide139.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slideLayout" Target="../slideLayouts/slideLayout6.xml"/><Relationship Id="rId1" Type="http://schemas.openxmlformats.org/officeDocument/2006/relationships/vmlDrawing" Target="../drawings/vmlDrawing11.vml"/><Relationship Id="rId4" Type="http://schemas.openxmlformats.org/officeDocument/2006/relationships/image" Target="../media/image31.wmf"/></Relationships>
</file>

<file path=ppt/slides/_rels/slide140.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Layout" Target="../slideLayouts/slideLayout6.xml"/><Relationship Id="rId1" Type="http://schemas.openxmlformats.org/officeDocument/2006/relationships/vmlDrawing" Target="../drawings/vmlDrawing12.vml"/><Relationship Id="rId4" Type="http://schemas.openxmlformats.org/officeDocument/2006/relationships/image" Target="../media/image31.wmf"/></Relationships>
</file>

<file path=ppt/slides/_rels/slide141.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Layout" Target="../slideLayouts/slideLayout6.xml"/><Relationship Id="rId1" Type="http://schemas.openxmlformats.org/officeDocument/2006/relationships/vmlDrawing" Target="../drawings/vmlDrawing13.vml"/><Relationship Id="rId4" Type="http://schemas.openxmlformats.org/officeDocument/2006/relationships/image" Target="../media/image31.wmf"/></Relationships>
</file>

<file path=ppt/slides/_rels/slide142.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6.xml"/><Relationship Id="rId1" Type="http://schemas.openxmlformats.org/officeDocument/2006/relationships/vmlDrawing" Target="../drawings/vmlDrawing14.vml"/><Relationship Id="rId4" Type="http://schemas.openxmlformats.org/officeDocument/2006/relationships/image" Target="../media/image31.wmf"/></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5.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2" Type="http://schemas.openxmlformats.org/officeDocument/2006/relationships/hyperlink" Target="http://poj.org/problem?id=1011" TargetMode="External"/><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30.xml"/><Relationship Id="rId1" Type="http://schemas.openxmlformats.org/officeDocument/2006/relationships/slideLayout" Target="../slideLayouts/slideLayout6.xml"/><Relationship Id="rId5" Type="http://schemas.openxmlformats.org/officeDocument/2006/relationships/image" Target="../media/image43.png"/><Relationship Id="rId4" Type="http://schemas.openxmlformats.org/officeDocument/2006/relationships/image" Target="../media/image42.png"/></Relationships>
</file>

<file path=ppt/slides/_rels/slide157.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3" Type="http://schemas.openxmlformats.org/officeDocument/2006/relationships/image" Target="../media/image46.emf"/><Relationship Id="rId2" Type="http://schemas.openxmlformats.org/officeDocument/2006/relationships/image" Target="../media/image45.emf"/><Relationship Id="rId1" Type="http://schemas.openxmlformats.org/officeDocument/2006/relationships/slideLayout" Target="../slideLayouts/slideLayout6.xml"/><Relationship Id="rId4" Type="http://schemas.openxmlformats.org/officeDocument/2006/relationships/image" Target="../media/image47.emf"/></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nvPicPr>
        <p:blipFill rotWithShape="1">
          <a:blip r:embed="rId3" cstate="print">
            <a:biLevel thresh="25000"/>
            <a:extLst>
              <a:ext uri="{28A0092B-C50C-407E-A947-70E740481C1C}">
                <a14:useLocalDpi xmlns:a14="http://schemas.microsoft.com/office/drawing/2010/main" val="0"/>
              </a:ext>
            </a:extLst>
          </a:blip>
          <a:srcRect t="55949" b="20928"/>
          <a:stretch>
            <a:fillRect/>
          </a:stretch>
        </p:blipFill>
        <p:spPr>
          <a:xfrm>
            <a:off x="0" y="5272269"/>
            <a:ext cx="12192000" cy="1585731"/>
          </a:xfrm>
          <a:prstGeom prst="rect">
            <a:avLst/>
          </a:prstGeom>
        </p:spPr>
      </p:pic>
      <p:sp>
        <p:nvSpPr>
          <p:cNvPr id="2" name="灯片编号占位符 1"/>
          <p:cNvSpPr>
            <a:spLocks noGrp="1"/>
          </p:cNvSpPr>
          <p:nvPr>
            <p:ph type="sldNum" sz="quarter" idx="4294967295"/>
          </p:nvPr>
        </p:nvSpPr>
        <p:spPr>
          <a:xfrm>
            <a:off x="9448800" y="6492875"/>
            <a:ext cx="2743200" cy="365125"/>
          </a:xfrm>
          <a:prstGeom prst="rect">
            <a:avLst/>
          </a:prstGeom>
        </p:spPr>
        <p:txBody>
          <a:bodyPr/>
          <a:lstStyle/>
          <a:p>
            <a:fld id="{CFD2B472-FC81-4D56-BB73-EBB478A21F5E}" type="slidenum">
              <a:rPr lang="zh-CN" altLang="en-US" smtClean="0"/>
              <a:t>1</a:t>
            </a:fld>
            <a:endParaRPr lang="zh-CN" altLang="en-US"/>
          </a:p>
        </p:txBody>
      </p:sp>
      <p:sp>
        <p:nvSpPr>
          <p:cNvPr id="5" name="文本框 5">
            <a:extLst>
              <a:ext uri="{FF2B5EF4-FFF2-40B4-BE49-F238E27FC236}">
                <a16:creationId xmlns:a16="http://schemas.microsoft.com/office/drawing/2014/main" id="{084FCB18-6666-4468-AED9-6CAD5EFC1AAB}"/>
              </a:ext>
            </a:extLst>
          </p:cNvPr>
          <p:cNvSpPr txBox="1">
            <a:spLocks noChangeArrowheads="1"/>
          </p:cNvSpPr>
          <p:nvPr/>
        </p:nvSpPr>
        <p:spPr bwMode="auto">
          <a:xfrm>
            <a:off x="1032671" y="2051405"/>
            <a:ext cx="10311215" cy="2343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nchor="ctr"/>
          <a:lstStyle>
            <a:lvl1pPr defTabSz="6858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1pPr>
            <a:lvl2pPr marL="742950" indent="-285750" defTabSz="685800">
              <a:spcBef>
                <a:spcPct val="20000"/>
              </a:spcBef>
              <a:buFont typeface="Arial" panose="020B0604020202020204" pitchFamily="34" charset="0"/>
              <a:buChar char="–"/>
              <a:defRPr sz="2100">
                <a:solidFill>
                  <a:schemeClr val="tx1"/>
                </a:solidFill>
                <a:latin typeface="Calibri" panose="020F0502020204030204" pitchFamily="34" charset="0"/>
                <a:ea typeface="宋体" panose="02010600030101010101" pitchFamily="2" charset="-122"/>
              </a:defRPr>
            </a:lvl2pPr>
            <a:lvl3pPr marL="1143000" indent="-228600" defTabSz="6858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defTabSz="685800">
              <a:spcBef>
                <a:spcPct val="20000"/>
              </a:spcBef>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4pPr>
            <a:lvl5pPr marL="2057400" indent="-228600" defTabSz="685800">
              <a:spcBef>
                <a:spcPct val="20000"/>
              </a:spcBef>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9pPr>
          </a:lstStyle>
          <a:p>
            <a:pPr algn="ctr">
              <a:buNone/>
            </a:pPr>
            <a:r>
              <a:rPr lang="zh-CN" altLang="en-US" sz="36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rPr>
              <a:t>程序设计综合实践</a:t>
            </a:r>
            <a:endParaRPr lang="en-US" altLang="zh-CN" sz="36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endParaRPr>
          </a:p>
          <a:p>
            <a:pPr algn="ctr">
              <a:buNone/>
            </a:pPr>
            <a:endParaRPr lang="en-US" altLang="zh-CN" sz="36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endParaRPr>
          </a:p>
          <a:p>
            <a:pPr algn="ctr">
              <a:buNone/>
            </a:pPr>
            <a:r>
              <a:rPr lang="en-US" altLang="zh-CN" sz="20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hlinkClick r:id="rId4"/>
              </a:rPr>
              <a:t>zmk@tju.edu.cn</a:t>
            </a:r>
            <a:endParaRPr lang="en-US" altLang="zh-CN" sz="20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endParaRPr>
          </a:p>
          <a:p>
            <a:pPr algn="ctr">
              <a:buNone/>
            </a:pPr>
            <a:r>
              <a:rPr lang="zh-CN" altLang="en-US" sz="20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rPr>
              <a:t>喻梅，于瑞国，王建荣，李雪威，赵满坤，应翔</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8" name="Text Box 4">
            <a:extLst>
              <a:ext uri="{FF2B5EF4-FFF2-40B4-BE49-F238E27FC236}">
                <a16:creationId xmlns:a16="http://schemas.microsoft.com/office/drawing/2014/main" id="{8B834CEA-6E98-4546-8A2A-702BF7C84936}"/>
              </a:ext>
            </a:extLst>
          </p:cNvPr>
          <p:cNvSpPr txBox="1">
            <a:spLocks noChangeArrowheads="1"/>
          </p:cNvSpPr>
          <p:nvPr/>
        </p:nvSpPr>
        <p:spPr bwMode="auto">
          <a:xfrm>
            <a:off x="898741" y="1215157"/>
            <a:ext cx="11048567" cy="11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题意：给出一个柱形统计图(histogram), 它的每个柱子的宽度是1， 高度和具体问题有关。 求在这个柱形图中的最大面积的长方形（n&lt;=1e5)</a:t>
            </a:r>
          </a:p>
        </p:txBody>
      </p:sp>
      <p:sp>
        <p:nvSpPr>
          <p:cNvPr id="6149" name="Text Box 5">
            <a:extLst>
              <a:ext uri="{FF2B5EF4-FFF2-40B4-BE49-F238E27FC236}">
                <a16:creationId xmlns:a16="http://schemas.microsoft.com/office/drawing/2014/main" id="{7657E359-EA81-4271-93A3-F3D1A8FA967B}"/>
              </a:ext>
            </a:extLst>
          </p:cNvPr>
          <p:cNvSpPr txBox="1">
            <a:spLocks noChangeArrowheads="1"/>
          </p:cNvSpPr>
          <p:nvPr/>
        </p:nvSpPr>
        <p:spPr bwMode="auto">
          <a:xfrm>
            <a:off x="2195822" y="2714279"/>
            <a:ext cx="6850062"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rPr>
              <a:t>例如：2, 1, 4, 5, 1, 3, 3</a:t>
            </a:r>
          </a:p>
        </p:txBody>
      </p:sp>
      <p:pic>
        <p:nvPicPr>
          <p:cNvPr id="6150" name="Picture 6" descr="QQ截图20150705144608">
            <a:extLst>
              <a:ext uri="{FF2B5EF4-FFF2-40B4-BE49-F238E27FC236}">
                <a16:creationId xmlns:a16="http://schemas.microsoft.com/office/drawing/2014/main" id="{A08F9B0C-ABAC-4DA4-9C94-0A5AC17C960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0122" y="3152025"/>
            <a:ext cx="4846637"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1" name="Text Box 7">
            <a:extLst>
              <a:ext uri="{FF2B5EF4-FFF2-40B4-BE49-F238E27FC236}">
                <a16:creationId xmlns:a16="http://schemas.microsoft.com/office/drawing/2014/main" id="{766AE84B-71B0-4017-8ED2-5505CD87ADD6}"/>
              </a:ext>
            </a:extLst>
          </p:cNvPr>
          <p:cNvSpPr txBox="1">
            <a:spLocks noChangeArrowheads="1"/>
          </p:cNvSpPr>
          <p:nvPr/>
        </p:nvSpPr>
        <p:spPr bwMode="auto">
          <a:xfrm>
            <a:off x="7434572" y="4237875"/>
            <a:ext cx="27463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Calibri"/>
                <a:ea typeface="微软雅黑" panose="020B0503020204020204" pitchFamily="34" charset="-122"/>
                <a:cs typeface="+mn-cs"/>
              </a:rPr>
              <a:t>最大面积：8</a:t>
            </a:r>
          </a:p>
        </p:txBody>
      </p:sp>
      <p:sp>
        <p:nvSpPr>
          <p:cNvPr id="9" name="TextBox 36">
            <a:extLst>
              <a:ext uri="{FF2B5EF4-FFF2-40B4-BE49-F238E27FC236}">
                <a16:creationId xmlns:a16="http://schemas.microsoft.com/office/drawing/2014/main" id="{7D722CA7-A7EA-418C-AF65-4DB0B2009255}"/>
              </a:ext>
            </a:extLst>
          </p:cNvPr>
          <p:cNvSpPr txBox="1"/>
          <p:nvPr/>
        </p:nvSpPr>
        <p:spPr>
          <a:xfrm>
            <a:off x="334800" y="320400"/>
            <a:ext cx="3722045"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思考问题</a:t>
            </a:r>
            <a:endPar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148">
                                            <p:txEl>
                                              <p:pRg st="0" end="0"/>
                                            </p:txEl>
                                          </p:spTgt>
                                        </p:tgtEl>
                                        <p:attrNameLst>
                                          <p:attrName>style.visibility</p:attrName>
                                        </p:attrNameLst>
                                      </p:cBhvr>
                                      <p:to>
                                        <p:strVal val="visible"/>
                                      </p:to>
                                    </p:set>
                                    <p:anim calcmode="lin" valueType="num">
                                      <p:cBhvr additive="base">
                                        <p:cTn id="7" dur="500" fill="hold"/>
                                        <p:tgtEl>
                                          <p:spTgt spid="6148">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14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9" presetClass="entr" presetSubtype="0" fill="hold" grpId="0" nodeType="clickEffect">
                                  <p:stCondLst>
                                    <p:cond delay="0"/>
                                  </p:stCondLst>
                                  <p:childTnLst>
                                    <p:set>
                                      <p:cBhvr>
                                        <p:cTn id="12" dur="1" fill="hold">
                                          <p:stCondLst>
                                            <p:cond delay="0"/>
                                          </p:stCondLst>
                                        </p:cTn>
                                        <p:tgtEl>
                                          <p:spTgt spid="6149"/>
                                        </p:tgtEl>
                                        <p:attrNameLst>
                                          <p:attrName>style.visibility</p:attrName>
                                        </p:attrNameLst>
                                      </p:cBhvr>
                                      <p:to>
                                        <p:strVal val="visible"/>
                                      </p:to>
                                    </p:set>
                                    <p:anim calcmode="lin" valueType="num">
                                      <p:cBhvr>
                                        <p:cTn id="13" dur="1000" fill="hold"/>
                                        <p:tgtEl>
                                          <p:spTgt spid="6149"/>
                                        </p:tgtEl>
                                        <p:attrNameLst>
                                          <p:attrName>ppt_x</p:attrName>
                                        </p:attrNameLst>
                                      </p:cBhvr>
                                      <p:tavLst>
                                        <p:tav tm="0">
                                          <p:val>
                                            <p:strVal val="#ppt_x-.2"/>
                                          </p:val>
                                        </p:tav>
                                        <p:tav tm="100000">
                                          <p:val>
                                            <p:strVal val="#ppt_x"/>
                                          </p:val>
                                        </p:tav>
                                      </p:tavLst>
                                    </p:anim>
                                    <p:anim calcmode="lin" valueType="num">
                                      <p:cBhvr>
                                        <p:cTn id="14" dur="1000" fill="hold"/>
                                        <p:tgtEl>
                                          <p:spTgt spid="6149"/>
                                        </p:tgtEl>
                                        <p:attrNameLst>
                                          <p:attrName>ppt_y</p:attrName>
                                        </p:attrNameLst>
                                      </p:cBhvr>
                                      <p:tavLst>
                                        <p:tav tm="0">
                                          <p:val>
                                            <p:strVal val="#ppt_y"/>
                                          </p:val>
                                        </p:tav>
                                        <p:tav tm="100000">
                                          <p:val>
                                            <p:strVal val="#ppt_y"/>
                                          </p:val>
                                        </p:tav>
                                      </p:tavLst>
                                    </p:anim>
                                    <p:animEffect transition="in" filter="wipe(right)" prLst="gradientSize: 0.1">
                                      <p:cBhvr>
                                        <p:cTn id="15" dur="1000"/>
                                        <p:tgtEl>
                                          <p:spTgt spid="6149"/>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9" presetClass="entr" presetSubtype="0" fill="hold" nodeType="clickEffect">
                                  <p:stCondLst>
                                    <p:cond delay="0"/>
                                  </p:stCondLst>
                                  <p:childTnLst>
                                    <p:set>
                                      <p:cBhvr>
                                        <p:cTn id="19" dur="1" fill="hold">
                                          <p:stCondLst>
                                            <p:cond delay="0"/>
                                          </p:stCondLst>
                                        </p:cTn>
                                        <p:tgtEl>
                                          <p:spTgt spid="6150"/>
                                        </p:tgtEl>
                                        <p:attrNameLst>
                                          <p:attrName>style.visibility</p:attrName>
                                        </p:attrNameLst>
                                      </p:cBhvr>
                                      <p:to>
                                        <p:strVal val="visible"/>
                                      </p:to>
                                    </p:set>
                                    <p:anim calcmode="lin" valueType="num">
                                      <p:cBhvr>
                                        <p:cTn id="20" dur="500" fill="hold"/>
                                        <p:tgtEl>
                                          <p:spTgt spid="6150"/>
                                        </p:tgtEl>
                                        <p:attrNameLst>
                                          <p:attrName>ppt_x</p:attrName>
                                        </p:attrNameLst>
                                      </p:cBhvr>
                                      <p:tavLst>
                                        <p:tav tm="0">
                                          <p:val>
                                            <p:strVal val="#ppt_x-.2"/>
                                          </p:val>
                                        </p:tav>
                                        <p:tav tm="100000">
                                          <p:val>
                                            <p:strVal val="#ppt_x"/>
                                          </p:val>
                                        </p:tav>
                                      </p:tavLst>
                                    </p:anim>
                                    <p:anim calcmode="lin" valueType="num">
                                      <p:cBhvr>
                                        <p:cTn id="21" dur="500" fill="hold"/>
                                        <p:tgtEl>
                                          <p:spTgt spid="6150"/>
                                        </p:tgtEl>
                                        <p:attrNameLst>
                                          <p:attrName>ppt_y</p:attrName>
                                        </p:attrNameLst>
                                      </p:cBhvr>
                                      <p:tavLst>
                                        <p:tav tm="0">
                                          <p:val>
                                            <p:strVal val="#ppt_y"/>
                                          </p:val>
                                        </p:tav>
                                        <p:tav tm="100000">
                                          <p:val>
                                            <p:strVal val="#ppt_y"/>
                                          </p:val>
                                        </p:tav>
                                      </p:tavLst>
                                    </p:anim>
                                    <p:animEffect transition="in" filter="wipe(right)" prLst="gradientSize: 0.1">
                                      <p:cBhvr>
                                        <p:cTn id="22" dur="500"/>
                                        <p:tgtEl>
                                          <p:spTgt spid="615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6151"/>
                                        </p:tgtEl>
                                        <p:attrNameLst>
                                          <p:attrName>style.visibility</p:attrName>
                                        </p:attrNameLst>
                                      </p:cBhvr>
                                      <p:to>
                                        <p:strVal val="visible"/>
                                      </p:to>
                                    </p:set>
                                    <p:anim calcmode="lin" valueType="num">
                                      <p:cBhvr additive="base">
                                        <p:cTn id="27" dur="500" fill="hold"/>
                                        <p:tgtEl>
                                          <p:spTgt spid="6151"/>
                                        </p:tgtEl>
                                        <p:attrNameLst>
                                          <p:attrName>ppt_x</p:attrName>
                                        </p:attrNameLst>
                                      </p:cBhvr>
                                      <p:tavLst>
                                        <p:tav tm="0">
                                          <p:val>
                                            <p:strVal val="#ppt_x"/>
                                          </p:val>
                                        </p:tav>
                                        <p:tav tm="100000">
                                          <p:val>
                                            <p:strVal val="#ppt_x"/>
                                          </p:val>
                                        </p:tav>
                                      </p:tavLst>
                                    </p:anim>
                                    <p:anim calcmode="lin" valueType="num">
                                      <p:cBhvr additive="base">
                                        <p:cTn id="28" dur="500" fill="hold"/>
                                        <p:tgtEl>
                                          <p:spTgt spid="61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9" grpId="0" bldLvl="0" autoUpdateAnimBg="0"/>
      <p:bldP spid="6151" grpId="0" bldLvl="0" autoUpdateAnimBg="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2">
            <a:extLst>
              <a:ext uri="{FF2B5EF4-FFF2-40B4-BE49-F238E27FC236}">
                <a16:creationId xmlns:a16="http://schemas.microsoft.com/office/drawing/2014/main" id="{4BC284B7-5F8E-4226-B982-FB4F6DBB1361}"/>
              </a:ext>
            </a:extLst>
          </p:cNvPr>
          <p:cNvSpPr txBox="1">
            <a:spLocks noChangeArrowheads="1"/>
          </p:cNvSpPr>
          <p:nvPr/>
        </p:nvSpPr>
        <p:spPr bwMode="auto">
          <a:xfrm>
            <a:off x="1860550" y="1333500"/>
            <a:ext cx="7985125" cy="642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170" tIns="46990" rIns="90170" bIns="4699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3600" b="1" i="0" u="none" strike="noStrike" kern="1200" cap="none" spc="0" normalizeH="0" baseline="0" noProof="0">
                <a:ln>
                  <a:noFill/>
                </a:ln>
                <a:solidFill>
                  <a:srgbClr val="FA3697"/>
                </a:solidFill>
                <a:effectLst/>
                <a:uLnTx/>
                <a:uFillTx/>
                <a:latin typeface="Calibri"/>
                <a:ea typeface="微软雅黑" panose="020B0503020204020204" pitchFamily="34" charset="-122"/>
                <a:cs typeface="+mn-cs"/>
              </a:rPr>
              <a:t> </a:t>
            </a:r>
          </a:p>
        </p:txBody>
      </p:sp>
      <p:sp>
        <p:nvSpPr>
          <p:cNvPr id="4100" name="Text Box 4">
            <a:extLst>
              <a:ext uri="{FF2B5EF4-FFF2-40B4-BE49-F238E27FC236}">
                <a16:creationId xmlns:a16="http://schemas.microsoft.com/office/drawing/2014/main" id="{97935E66-7E36-4C8A-8AAA-6239A82FE916}"/>
              </a:ext>
            </a:extLst>
          </p:cNvPr>
          <p:cNvSpPr txBox="1">
            <a:spLocks noChangeArrowheads="1"/>
          </p:cNvSpPr>
          <p:nvPr/>
        </p:nvSpPr>
        <p:spPr bwMode="auto">
          <a:xfrm>
            <a:off x="835024" y="1079032"/>
            <a:ext cx="10594976" cy="11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50000"/>
              </a:lnSpc>
              <a:spcBef>
                <a:spcPts val="0"/>
              </a:spcBef>
              <a:spcAft>
                <a:spcPts val="0"/>
              </a:spcAft>
              <a:buClrTx/>
              <a:buSzTx/>
              <a:buFont typeface="Wingdings" panose="05000000000000000000" pitchFamily="2" charset="2"/>
              <a:buChar char="n"/>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单调栈：栈内的元素，按照某种方式排序（按出栈顺序单调递增或者单调递减），如果新入栈的元素破坏了单调性，就弹出栈内元素，直到满足单调性</a:t>
            </a:r>
          </a:p>
        </p:txBody>
      </p:sp>
      <p:sp>
        <p:nvSpPr>
          <p:cNvPr id="7" name="TextBox 36">
            <a:extLst>
              <a:ext uri="{FF2B5EF4-FFF2-40B4-BE49-F238E27FC236}">
                <a16:creationId xmlns:a16="http://schemas.microsoft.com/office/drawing/2014/main" id="{A1CE0175-5EE5-4BAE-8D79-FD99990983B0}"/>
              </a:ext>
            </a:extLst>
          </p:cNvPr>
          <p:cNvSpPr txBox="1"/>
          <p:nvPr/>
        </p:nvSpPr>
        <p:spPr>
          <a:xfrm>
            <a:off x="334800" y="320400"/>
            <a:ext cx="3722045"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单调栈</a:t>
            </a:r>
            <a:endPar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endParaRPr>
          </a:p>
        </p:txBody>
      </p:sp>
      <p:sp>
        <p:nvSpPr>
          <p:cNvPr id="8" name="Text Box 2">
            <a:extLst>
              <a:ext uri="{FF2B5EF4-FFF2-40B4-BE49-F238E27FC236}">
                <a16:creationId xmlns:a16="http://schemas.microsoft.com/office/drawing/2014/main" id="{2D45A67F-DF0C-470C-A3E7-D55BCF5BB0CD}"/>
              </a:ext>
            </a:extLst>
          </p:cNvPr>
          <p:cNvSpPr txBox="1">
            <a:spLocks noChangeArrowheads="1"/>
          </p:cNvSpPr>
          <p:nvPr/>
        </p:nvSpPr>
        <p:spPr bwMode="auto">
          <a:xfrm>
            <a:off x="1040621" y="4132139"/>
            <a:ext cx="75834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srgbClr val="1D5F95"/>
                </a:solidFill>
                <a:effectLst/>
                <a:uLnTx/>
                <a:uFillTx/>
                <a:latin typeface="Calibri"/>
                <a:ea typeface="微软雅黑" panose="020B0503020204020204" pitchFamily="34" charset="-122"/>
                <a:cs typeface="+mn-cs"/>
              </a:rPr>
              <a:t>如何维护单调栈：（以维护单调递减栈为例）</a:t>
            </a:r>
          </a:p>
        </p:txBody>
      </p:sp>
      <p:sp>
        <p:nvSpPr>
          <p:cNvPr id="9" name="Text Box 3">
            <a:extLst>
              <a:ext uri="{FF2B5EF4-FFF2-40B4-BE49-F238E27FC236}">
                <a16:creationId xmlns:a16="http://schemas.microsoft.com/office/drawing/2014/main" id="{D7181C1F-AE5B-495B-B79F-E27C7FF826DA}"/>
              </a:ext>
            </a:extLst>
          </p:cNvPr>
          <p:cNvSpPr txBox="1">
            <a:spLocks noChangeArrowheads="1"/>
          </p:cNvSpPr>
          <p:nvPr/>
        </p:nvSpPr>
        <p:spPr bwMode="auto">
          <a:xfrm>
            <a:off x="1040621" y="4637630"/>
            <a:ext cx="10819505" cy="11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进栈操作：每次入栈前先检验进栈元素(x)和栈顶元素的大小，如果</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x</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小于栈顶元素，那么出栈，直到栈空或</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x</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大于栈顶元素，然后</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x</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进栈</a:t>
            </a: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7" presetClass="entr" presetSubtype="0" fill="hold" nodeType="clickEffect">
                                  <p:stCondLst>
                                    <p:cond delay="0"/>
                                  </p:stCondLst>
                                  <p:childTnLst>
                                    <p:set>
                                      <p:cBhvr>
                                        <p:cTn id="6" dur="1" fill="hold">
                                          <p:stCondLst>
                                            <p:cond delay="0"/>
                                          </p:stCondLst>
                                        </p:cTn>
                                        <p:tgtEl>
                                          <p:spTgt spid="4098">
                                            <p:txEl>
                                              <p:pRg st="0" end="0"/>
                                            </p:txEl>
                                          </p:spTgt>
                                        </p:tgtEl>
                                        <p:attrNameLst>
                                          <p:attrName>style.visibility</p:attrName>
                                        </p:attrNameLst>
                                      </p:cBhvr>
                                      <p:to>
                                        <p:strVal val="visible"/>
                                      </p:to>
                                    </p:set>
                                    <p:animEffect transition="in" filter="fade">
                                      <p:cBhvr>
                                        <p:cTn id="7" dur="1000"/>
                                        <p:tgtEl>
                                          <p:spTgt spid="4098">
                                            <p:txEl>
                                              <p:pRg st="0" end="0"/>
                                            </p:txEl>
                                          </p:spTgt>
                                        </p:tgtEl>
                                      </p:cBhvr>
                                    </p:animEffect>
                                    <p:anim calcmode="lin" valueType="num">
                                      <p:cBhvr>
                                        <p:cTn id="8" dur="1000" fill="hold"/>
                                        <p:tgtEl>
                                          <p:spTgt spid="4098">
                                            <p:txEl>
                                              <p:pRg st="0" end="0"/>
                                            </p:txEl>
                                          </p:spTgt>
                                        </p:tgtEl>
                                        <p:attrNameLst>
                                          <p:attrName>ppt_x</p:attrName>
                                        </p:attrNameLst>
                                      </p:cBhvr>
                                      <p:tavLst>
                                        <p:tav tm="0">
                                          <p:val>
                                            <p:strVal val="#ppt_x"/>
                                          </p:val>
                                        </p:tav>
                                        <p:tav tm="100000">
                                          <p:val>
                                            <p:strVal val="#ppt_x"/>
                                          </p:val>
                                        </p:tav>
                                      </p:tavLst>
                                    </p:anim>
                                    <p:anim calcmode="lin" valueType="num">
                                      <p:cBhvr>
                                        <p:cTn id="9" dur="900" decel="100000" fill="hold"/>
                                        <p:tgtEl>
                                          <p:spTgt spid="4098">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098">
                                            <p:txEl>
                                              <p:pRg st="0" end="0"/>
                                            </p:txEl>
                                          </p:spTgt>
                                        </p:tgtEl>
                                        <p:attrNameLst>
                                          <p:attrName>ppt_y</p:attrName>
                                        </p:attrNameLst>
                                      </p:cBhvr>
                                      <p:tavLst>
                                        <p:tav tm="0">
                                          <p:val>
                                            <p:strVal val="#ppt_y-.03"/>
                                          </p:val>
                                        </p:tav>
                                        <p:tav tm="100000">
                                          <p:val>
                                            <p:strVal val="#ppt_y"/>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8" presetClass="entr" presetSubtype="16" fill="hold" nodeType="clickEffect">
                                  <p:stCondLst>
                                    <p:cond delay="0"/>
                                  </p:stCondLst>
                                  <p:childTnLst>
                                    <p:set>
                                      <p:cBhvr>
                                        <p:cTn id="14" dur="1" fill="hold">
                                          <p:stCondLst>
                                            <p:cond delay="0"/>
                                          </p:stCondLst>
                                        </p:cTn>
                                        <p:tgtEl>
                                          <p:spTgt spid="4100">
                                            <p:txEl>
                                              <p:pRg st="0" end="0"/>
                                            </p:txEl>
                                          </p:spTgt>
                                        </p:tgtEl>
                                        <p:attrNameLst>
                                          <p:attrName>style.visibility</p:attrName>
                                        </p:attrNameLst>
                                      </p:cBhvr>
                                      <p:to>
                                        <p:strVal val="visible"/>
                                      </p:to>
                                    </p:set>
                                    <p:animEffect transition="in" filter="diamond(in)">
                                      <p:cBhvr>
                                        <p:cTn id="15" dur="500"/>
                                        <p:tgtEl>
                                          <p:spTgt spid="4100">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additive="base">
                                        <p:cTn id="20" dur="500" fill="hold"/>
                                        <p:tgtEl>
                                          <p:spTgt spid="8"/>
                                        </p:tgtEl>
                                        <p:attrNameLst>
                                          <p:attrName>ppt_x</p:attrName>
                                        </p:attrNameLst>
                                      </p:cBhvr>
                                      <p:tavLst>
                                        <p:tav tm="0">
                                          <p:val>
                                            <p:strVal val="#ppt_x"/>
                                          </p:val>
                                        </p:tav>
                                        <p:tav tm="100000">
                                          <p:val>
                                            <p:strVal val="#ppt_x"/>
                                          </p:val>
                                        </p:tav>
                                      </p:tavLst>
                                    </p:anim>
                                    <p:anim calcmode="lin" valueType="num">
                                      <p:cBhvr additive="base">
                                        <p:cTn id="21"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9"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500" fill="hold"/>
                                        <p:tgtEl>
                                          <p:spTgt spid="9"/>
                                        </p:tgtEl>
                                        <p:attrNameLst>
                                          <p:attrName>ppt_x</p:attrName>
                                        </p:attrNameLst>
                                      </p:cBhvr>
                                      <p:tavLst>
                                        <p:tav tm="0">
                                          <p:val>
                                            <p:strVal val="#ppt_x-.2"/>
                                          </p:val>
                                        </p:tav>
                                        <p:tav tm="100000">
                                          <p:val>
                                            <p:strVal val="#ppt_x"/>
                                          </p:val>
                                        </p:tav>
                                      </p:tavLst>
                                    </p:anim>
                                    <p:anim calcmode="lin" valueType="num">
                                      <p:cBhvr>
                                        <p:cTn id="27" dur="5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2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ldLvl="0" autoUpdateAnimBg="0"/>
      <p:bldP spid="9" grpId="0" bldLvl="0" autoUpdateAnimBg="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a:extLst>
              <a:ext uri="{FF2B5EF4-FFF2-40B4-BE49-F238E27FC236}">
                <a16:creationId xmlns:a16="http://schemas.microsoft.com/office/drawing/2014/main" id="{4BAEB388-7C48-49D0-8BBF-2347F2D64995}"/>
              </a:ext>
            </a:extLst>
          </p:cNvPr>
          <p:cNvSpPr txBox="1">
            <a:spLocks noChangeArrowheads="1"/>
          </p:cNvSpPr>
          <p:nvPr/>
        </p:nvSpPr>
        <p:spPr bwMode="auto">
          <a:xfrm>
            <a:off x="1231814" y="1285767"/>
            <a:ext cx="30511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srgbClr val="1D5F95"/>
                </a:solidFill>
                <a:effectLst/>
                <a:uLnTx/>
                <a:uFillTx/>
                <a:latin typeface="Calibri"/>
                <a:ea typeface="微软雅黑" panose="020B0503020204020204" pitchFamily="34" charset="-122"/>
                <a:cs typeface="+mn-cs"/>
              </a:rPr>
              <a:t>例如：</a:t>
            </a:r>
            <a:r>
              <a:rPr kumimoji="0" lang="zh-CN" altLang="en-US" sz="2400" b="0" i="0" u="none" strike="noStrike" kern="1200" cap="none" spc="0" normalizeH="0" baseline="0" noProof="0" dirty="0">
                <a:ln>
                  <a:noFill/>
                </a:ln>
                <a:solidFill>
                  <a:prstClr val="black"/>
                </a:solidFill>
                <a:effectLst/>
                <a:uLnTx/>
                <a:uFillTx/>
                <a:latin typeface="Calibri"/>
                <a:ea typeface="微软雅黑" panose="020B0503020204020204" pitchFamily="34" charset="-122"/>
                <a:cs typeface="+mn-cs"/>
              </a:rPr>
              <a:t>1 4 3  6  0</a:t>
            </a:r>
          </a:p>
        </p:txBody>
      </p:sp>
      <p:sp>
        <p:nvSpPr>
          <p:cNvPr id="5125" name="Text Box 5">
            <a:extLst>
              <a:ext uri="{FF2B5EF4-FFF2-40B4-BE49-F238E27FC236}">
                <a16:creationId xmlns:a16="http://schemas.microsoft.com/office/drawing/2014/main" id="{6A79249D-6AE6-474E-91FC-4865205424F8}"/>
              </a:ext>
            </a:extLst>
          </p:cNvPr>
          <p:cNvSpPr txBox="1">
            <a:spLocks noChangeArrowheads="1"/>
          </p:cNvSpPr>
          <p:nvPr/>
        </p:nvSpPr>
        <p:spPr bwMode="auto">
          <a:xfrm>
            <a:off x="1866814" y="1754080"/>
            <a:ext cx="7416800" cy="395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rPr>
              <a:t>初始时刻栈空，1入栈。----------------------栈内元素(1)</a:t>
            </a:r>
          </a:p>
        </p:txBody>
      </p:sp>
      <p:sp>
        <p:nvSpPr>
          <p:cNvPr id="5126" name="Text Box 6">
            <a:extLst>
              <a:ext uri="{FF2B5EF4-FFF2-40B4-BE49-F238E27FC236}">
                <a16:creationId xmlns:a16="http://schemas.microsoft.com/office/drawing/2014/main" id="{15BA3DF9-EE06-46FE-866B-B796CDE6993F}"/>
              </a:ext>
            </a:extLst>
          </p:cNvPr>
          <p:cNvSpPr txBox="1">
            <a:spLocks noChangeArrowheads="1"/>
          </p:cNvSpPr>
          <p:nvPr/>
        </p:nvSpPr>
        <p:spPr bwMode="auto">
          <a:xfrm>
            <a:off x="1866814" y="2343042"/>
            <a:ext cx="75533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4要进栈，4大于1，所以直接进栈.-----------栈内元素(1,4)</a:t>
            </a:r>
          </a:p>
        </p:txBody>
      </p:sp>
      <p:sp>
        <p:nvSpPr>
          <p:cNvPr id="5127" name="Text Box 7">
            <a:extLst>
              <a:ext uri="{FF2B5EF4-FFF2-40B4-BE49-F238E27FC236}">
                <a16:creationId xmlns:a16="http://schemas.microsoft.com/office/drawing/2014/main" id="{39F0A273-8AE9-4896-8A0B-9DA97018F214}"/>
              </a:ext>
            </a:extLst>
          </p:cNvPr>
          <p:cNvSpPr txBox="1">
            <a:spLocks noChangeArrowheads="1"/>
          </p:cNvSpPr>
          <p:nvPr/>
        </p:nvSpPr>
        <p:spPr bwMode="auto">
          <a:xfrm>
            <a:off x="1911264" y="2946292"/>
            <a:ext cx="50323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zh-CN" sz="1800" b="0" i="0" u="none" strike="noStrike" kern="1200" cap="none" spc="0" normalizeH="0" baseline="0" noProof="0">
              <a:ln>
                <a:noFill/>
              </a:ln>
              <a:solidFill>
                <a:prstClr val="black"/>
              </a:solidFill>
              <a:effectLst/>
              <a:uLnTx/>
              <a:uFillTx/>
              <a:latin typeface="Calibri"/>
              <a:ea typeface="微软雅黑" panose="020B0503020204020204" pitchFamily="34" charset="-122"/>
              <a:cs typeface="+mn-cs"/>
            </a:endParaRPr>
          </a:p>
        </p:txBody>
      </p:sp>
      <p:sp>
        <p:nvSpPr>
          <p:cNvPr id="5128" name="Text Box 8">
            <a:extLst>
              <a:ext uri="{FF2B5EF4-FFF2-40B4-BE49-F238E27FC236}">
                <a16:creationId xmlns:a16="http://schemas.microsoft.com/office/drawing/2014/main" id="{AE32EA7B-BF36-40A6-B36A-60AA88FDBEB8}"/>
              </a:ext>
            </a:extLst>
          </p:cNvPr>
          <p:cNvSpPr txBox="1">
            <a:spLocks noChangeArrowheads="1"/>
          </p:cNvSpPr>
          <p:nvPr/>
        </p:nvSpPr>
        <p:spPr bwMode="auto">
          <a:xfrm>
            <a:off x="1852527" y="2871680"/>
            <a:ext cx="732631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3要进栈，3小于4,4出栈，3进栈.-----------栈内元素(1</a:t>
            </a:r>
            <a:r>
              <a:rPr kumimoji="0" lang="en-US" altLang="zh-CN"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a:t>
            </a: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3)</a:t>
            </a:r>
          </a:p>
        </p:txBody>
      </p:sp>
      <p:sp>
        <p:nvSpPr>
          <p:cNvPr id="5129" name="Text Box 9">
            <a:extLst>
              <a:ext uri="{FF2B5EF4-FFF2-40B4-BE49-F238E27FC236}">
                <a16:creationId xmlns:a16="http://schemas.microsoft.com/office/drawing/2014/main" id="{D2CBD503-5839-474D-93C2-78C9681CB244}"/>
              </a:ext>
            </a:extLst>
          </p:cNvPr>
          <p:cNvSpPr txBox="1">
            <a:spLocks noChangeArrowheads="1"/>
          </p:cNvSpPr>
          <p:nvPr/>
        </p:nvSpPr>
        <p:spPr bwMode="auto">
          <a:xfrm>
            <a:off x="1836652" y="3446355"/>
            <a:ext cx="7177087" cy="395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rPr>
              <a:t>6要进栈，6大于3,6直接进栈。-------------栈内元素(1,3,6)</a:t>
            </a:r>
          </a:p>
        </p:txBody>
      </p:sp>
      <p:sp>
        <p:nvSpPr>
          <p:cNvPr id="5130" name="Text Box 10">
            <a:extLst>
              <a:ext uri="{FF2B5EF4-FFF2-40B4-BE49-F238E27FC236}">
                <a16:creationId xmlns:a16="http://schemas.microsoft.com/office/drawing/2014/main" id="{BFE6752A-FE4A-498B-AEDF-E0A5BAE2533C}"/>
              </a:ext>
            </a:extLst>
          </p:cNvPr>
          <p:cNvSpPr txBox="1">
            <a:spLocks noChangeArrowheads="1"/>
          </p:cNvSpPr>
          <p:nvPr/>
        </p:nvSpPr>
        <p:spPr bwMode="auto">
          <a:xfrm>
            <a:off x="1822364" y="3944830"/>
            <a:ext cx="85820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rPr>
              <a:t>0要入栈，1,3,6都出栈，-------------------栈内元素(0)</a:t>
            </a:r>
          </a:p>
        </p:txBody>
      </p:sp>
      <p:sp>
        <p:nvSpPr>
          <p:cNvPr id="11" name="TextBox 36">
            <a:extLst>
              <a:ext uri="{FF2B5EF4-FFF2-40B4-BE49-F238E27FC236}">
                <a16:creationId xmlns:a16="http://schemas.microsoft.com/office/drawing/2014/main" id="{EA3C8581-A4EE-4FBB-B263-241E25B76576}"/>
              </a:ext>
            </a:extLst>
          </p:cNvPr>
          <p:cNvSpPr txBox="1"/>
          <p:nvPr/>
        </p:nvSpPr>
        <p:spPr>
          <a:xfrm>
            <a:off x="334800" y="320400"/>
            <a:ext cx="3722045"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单调栈</a:t>
            </a:r>
            <a:endPar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endParaRPr>
          </a:p>
        </p:txBody>
      </p:sp>
      <p:sp>
        <p:nvSpPr>
          <p:cNvPr id="12" name="Text Box 6">
            <a:extLst>
              <a:ext uri="{FF2B5EF4-FFF2-40B4-BE49-F238E27FC236}">
                <a16:creationId xmlns:a16="http://schemas.microsoft.com/office/drawing/2014/main" id="{193E5DD6-F252-48C7-B11B-4765AED7B488}"/>
              </a:ext>
            </a:extLst>
          </p:cNvPr>
          <p:cNvSpPr txBox="1">
            <a:spLocks noChangeArrowheads="1"/>
          </p:cNvSpPr>
          <p:nvPr/>
        </p:nvSpPr>
        <p:spPr bwMode="auto">
          <a:xfrm>
            <a:off x="702915" y="4682975"/>
            <a:ext cx="10786169" cy="11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50000"/>
              </a:lnSpc>
              <a:spcBef>
                <a:spcPts val="0"/>
              </a:spcBef>
              <a:spcAft>
                <a:spcPts val="0"/>
              </a:spcAft>
              <a:buClrTx/>
              <a:buSzTx/>
              <a:buFont typeface="Wingdings" panose="05000000000000000000" pitchFamily="2" charset="2"/>
              <a:buChar char="n"/>
              <a:tabLst/>
              <a:defRPr/>
            </a:pPr>
            <a:r>
              <a:rPr kumimoji="0" lang="zh-CN"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它可以很方便地求出某个数的左边或者右边第一个比它大或者小的元素，而且总时间复杂度O(N)。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5124"/>
                                        </p:tgtEl>
                                        <p:attrNameLst>
                                          <p:attrName>style.visibility</p:attrName>
                                        </p:attrNameLst>
                                      </p:cBhvr>
                                      <p:to>
                                        <p:strVal val="visible"/>
                                      </p:to>
                                    </p:set>
                                    <p:anim calcmode="lin" valueType="num">
                                      <p:cBhvr>
                                        <p:cTn id="7" dur="500" fill="hold"/>
                                        <p:tgtEl>
                                          <p:spTgt spid="5124"/>
                                        </p:tgtEl>
                                        <p:attrNameLst>
                                          <p:attrName>ppt_x</p:attrName>
                                        </p:attrNameLst>
                                      </p:cBhvr>
                                      <p:tavLst>
                                        <p:tav tm="0">
                                          <p:val>
                                            <p:strVal val="#ppt_x-.2"/>
                                          </p:val>
                                        </p:tav>
                                        <p:tav tm="100000">
                                          <p:val>
                                            <p:strVal val="#ppt_x"/>
                                          </p:val>
                                        </p:tav>
                                      </p:tavLst>
                                    </p:anim>
                                    <p:anim calcmode="lin" valueType="num">
                                      <p:cBhvr>
                                        <p:cTn id="8" dur="500" fill="hold"/>
                                        <p:tgtEl>
                                          <p:spTgt spid="5124"/>
                                        </p:tgtEl>
                                        <p:attrNameLst>
                                          <p:attrName>ppt_y</p:attrName>
                                        </p:attrNameLst>
                                      </p:cBhvr>
                                      <p:tavLst>
                                        <p:tav tm="0">
                                          <p:val>
                                            <p:strVal val="#ppt_y"/>
                                          </p:val>
                                        </p:tav>
                                        <p:tav tm="100000">
                                          <p:val>
                                            <p:strVal val="#ppt_y"/>
                                          </p:val>
                                        </p:tav>
                                      </p:tavLst>
                                    </p:anim>
                                    <p:animEffect transition="in" filter="wipe(right)" prLst="gradientSize: 0.1">
                                      <p:cBhvr>
                                        <p:cTn id="9" dur="500"/>
                                        <p:tgtEl>
                                          <p:spTgt spid="512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5125"/>
                                        </p:tgtEl>
                                        <p:attrNameLst>
                                          <p:attrName>style.visibility</p:attrName>
                                        </p:attrNameLst>
                                      </p:cBhvr>
                                      <p:to>
                                        <p:strVal val="visible"/>
                                      </p:to>
                                    </p:set>
                                    <p:anim calcmode="lin" valueType="num">
                                      <p:cBhvr>
                                        <p:cTn id="14" dur="500" fill="hold"/>
                                        <p:tgtEl>
                                          <p:spTgt spid="5125"/>
                                        </p:tgtEl>
                                        <p:attrNameLst>
                                          <p:attrName>ppt_x</p:attrName>
                                        </p:attrNameLst>
                                      </p:cBhvr>
                                      <p:tavLst>
                                        <p:tav tm="0">
                                          <p:val>
                                            <p:strVal val="#ppt_x-.2"/>
                                          </p:val>
                                        </p:tav>
                                        <p:tav tm="100000">
                                          <p:val>
                                            <p:strVal val="#ppt_x"/>
                                          </p:val>
                                        </p:tav>
                                      </p:tavLst>
                                    </p:anim>
                                    <p:anim calcmode="lin" valueType="num">
                                      <p:cBhvr>
                                        <p:cTn id="15" dur="500" fill="hold"/>
                                        <p:tgtEl>
                                          <p:spTgt spid="5125"/>
                                        </p:tgtEl>
                                        <p:attrNameLst>
                                          <p:attrName>ppt_y</p:attrName>
                                        </p:attrNameLst>
                                      </p:cBhvr>
                                      <p:tavLst>
                                        <p:tav tm="0">
                                          <p:val>
                                            <p:strVal val="#ppt_y"/>
                                          </p:val>
                                        </p:tav>
                                        <p:tav tm="100000">
                                          <p:val>
                                            <p:strVal val="#ppt_y"/>
                                          </p:val>
                                        </p:tav>
                                      </p:tavLst>
                                    </p:anim>
                                    <p:animEffect transition="in" filter="wipe(right)" prLst="gradientSize: 0.1">
                                      <p:cBhvr>
                                        <p:cTn id="16" dur="500"/>
                                        <p:tgtEl>
                                          <p:spTgt spid="512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9" presetClass="entr" presetSubtype="0" fill="hold" grpId="0" nodeType="clickEffect">
                                  <p:stCondLst>
                                    <p:cond delay="0"/>
                                  </p:stCondLst>
                                  <p:childTnLst>
                                    <p:set>
                                      <p:cBhvr>
                                        <p:cTn id="20" dur="1" fill="hold">
                                          <p:stCondLst>
                                            <p:cond delay="0"/>
                                          </p:stCondLst>
                                        </p:cTn>
                                        <p:tgtEl>
                                          <p:spTgt spid="5126"/>
                                        </p:tgtEl>
                                        <p:attrNameLst>
                                          <p:attrName>style.visibility</p:attrName>
                                        </p:attrNameLst>
                                      </p:cBhvr>
                                      <p:to>
                                        <p:strVal val="visible"/>
                                      </p:to>
                                    </p:set>
                                    <p:anim calcmode="lin" valueType="num">
                                      <p:cBhvr>
                                        <p:cTn id="21" dur="500" fill="hold"/>
                                        <p:tgtEl>
                                          <p:spTgt spid="5126"/>
                                        </p:tgtEl>
                                        <p:attrNameLst>
                                          <p:attrName>ppt_x</p:attrName>
                                        </p:attrNameLst>
                                      </p:cBhvr>
                                      <p:tavLst>
                                        <p:tav tm="0">
                                          <p:val>
                                            <p:strVal val="#ppt_x-.2"/>
                                          </p:val>
                                        </p:tav>
                                        <p:tav tm="100000">
                                          <p:val>
                                            <p:strVal val="#ppt_x"/>
                                          </p:val>
                                        </p:tav>
                                      </p:tavLst>
                                    </p:anim>
                                    <p:anim calcmode="lin" valueType="num">
                                      <p:cBhvr>
                                        <p:cTn id="22" dur="500" fill="hold"/>
                                        <p:tgtEl>
                                          <p:spTgt spid="5126"/>
                                        </p:tgtEl>
                                        <p:attrNameLst>
                                          <p:attrName>ppt_y</p:attrName>
                                        </p:attrNameLst>
                                      </p:cBhvr>
                                      <p:tavLst>
                                        <p:tav tm="0">
                                          <p:val>
                                            <p:strVal val="#ppt_y"/>
                                          </p:val>
                                        </p:tav>
                                        <p:tav tm="100000">
                                          <p:val>
                                            <p:strVal val="#ppt_y"/>
                                          </p:val>
                                        </p:tav>
                                      </p:tavLst>
                                    </p:anim>
                                    <p:animEffect transition="in" filter="wipe(right)" prLst="gradientSize: 0.1">
                                      <p:cBhvr>
                                        <p:cTn id="23" dur="500"/>
                                        <p:tgtEl>
                                          <p:spTgt spid="512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9" presetClass="entr" presetSubtype="0" fill="hold" grpId="0" nodeType="clickEffect">
                                  <p:stCondLst>
                                    <p:cond delay="0"/>
                                  </p:stCondLst>
                                  <p:childTnLst>
                                    <p:set>
                                      <p:cBhvr>
                                        <p:cTn id="27" dur="1" fill="hold">
                                          <p:stCondLst>
                                            <p:cond delay="0"/>
                                          </p:stCondLst>
                                        </p:cTn>
                                        <p:tgtEl>
                                          <p:spTgt spid="5128"/>
                                        </p:tgtEl>
                                        <p:attrNameLst>
                                          <p:attrName>style.visibility</p:attrName>
                                        </p:attrNameLst>
                                      </p:cBhvr>
                                      <p:to>
                                        <p:strVal val="visible"/>
                                      </p:to>
                                    </p:set>
                                    <p:anim calcmode="lin" valueType="num">
                                      <p:cBhvr>
                                        <p:cTn id="28" dur="500" fill="hold"/>
                                        <p:tgtEl>
                                          <p:spTgt spid="5128"/>
                                        </p:tgtEl>
                                        <p:attrNameLst>
                                          <p:attrName>ppt_x</p:attrName>
                                        </p:attrNameLst>
                                      </p:cBhvr>
                                      <p:tavLst>
                                        <p:tav tm="0">
                                          <p:val>
                                            <p:strVal val="#ppt_x-.2"/>
                                          </p:val>
                                        </p:tav>
                                        <p:tav tm="100000">
                                          <p:val>
                                            <p:strVal val="#ppt_x"/>
                                          </p:val>
                                        </p:tav>
                                      </p:tavLst>
                                    </p:anim>
                                    <p:anim calcmode="lin" valueType="num">
                                      <p:cBhvr>
                                        <p:cTn id="29" dur="500" fill="hold"/>
                                        <p:tgtEl>
                                          <p:spTgt spid="5128"/>
                                        </p:tgtEl>
                                        <p:attrNameLst>
                                          <p:attrName>ppt_y</p:attrName>
                                        </p:attrNameLst>
                                      </p:cBhvr>
                                      <p:tavLst>
                                        <p:tav tm="0">
                                          <p:val>
                                            <p:strVal val="#ppt_y"/>
                                          </p:val>
                                        </p:tav>
                                        <p:tav tm="100000">
                                          <p:val>
                                            <p:strVal val="#ppt_y"/>
                                          </p:val>
                                        </p:tav>
                                      </p:tavLst>
                                    </p:anim>
                                    <p:animEffect transition="in" filter="wipe(right)" prLst="gradientSize: 0.1">
                                      <p:cBhvr>
                                        <p:cTn id="30" dur="500"/>
                                        <p:tgtEl>
                                          <p:spTgt spid="512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9" presetClass="entr" presetSubtype="0" fill="hold" grpId="0" nodeType="clickEffect">
                                  <p:stCondLst>
                                    <p:cond delay="0"/>
                                  </p:stCondLst>
                                  <p:childTnLst>
                                    <p:set>
                                      <p:cBhvr>
                                        <p:cTn id="34" dur="1" fill="hold">
                                          <p:stCondLst>
                                            <p:cond delay="0"/>
                                          </p:stCondLst>
                                        </p:cTn>
                                        <p:tgtEl>
                                          <p:spTgt spid="5129"/>
                                        </p:tgtEl>
                                        <p:attrNameLst>
                                          <p:attrName>style.visibility</p:attrName>
                                        </p:attrNameLst>
                                      </p:cBhvr>
                                      <p:to>
                                        <p:strVal val="visible"/>
                                      </p:to>
                                    </p:set>
                                    <p:anim calcmode="lin" valueType="num">
                                      <p:cBhvr>
                                        <p:cTn id="35" dur="500" fill="hold"/>
                                        <p:tgtEl>
                                          <p:spTgt spid="5129"/>
                                        </p:tgtEl>
                                        <p:attrNameLst>
                                          <p:attrName>ppt_x</p:attrName>
                                        </p:attrNameLst>
                                      </p:cBhvr>
                                      <p:tavLst>
                                        <p:tav tm="0">
                                          <p:val>
                                            <p:strVal val="#ppt_x-.2"/>
                                          </p:val>
                                        </p:tav>
                                        <p:tav tm="100000">
                                          <p:val>
                                            <p:strVal val="#ppt_x"/>
                                          </p:val>
                                        </p:tav>
                                      </p:tavLst>
                                    </p:anim>
                                    <p:anim calcmode="lin" valueType="num">
                                      <p:cBhvr>
                                        <p:cTn id="36" dur="500" fill="hold"/>
                                        <p:tgtEl>
                                          <p:spTgt spid="5129"/>
                                        </p:tgtEl>
                                        <p:attrNameLst>
                                          <p:attrName>ppt_y</p:attrName>
                                        </p:attrNameLst>
                                      </p:cBhvr>
                                      <p:tavLst>
                                        <p:tav tm="0">
                                          <p:val>
                                            <p:strVal val="#ppt_y"/>
                                          </p:val>
                                        </p:tav>
                                        <p:tav tm="100000">
                                          <p:val>
                                            <p:strVal val="#ppt_y"/>
                                          </p:val>
                                        </p:tav>
                                      </p:tavLst>
                                    </p:anim>
                                    <p:animEffect transition="in" filter="wipe(right)" prLst="gradientSize: 0.1">
                                      <p:cBhvr>
                                        <p:cTn id="37" dur="500"/>
                                        <p:tgtEl>
                                          <p:spTgt spid="512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9" presetClass="entr" presetSubtype="0" fill="hold" grpId="0" nodeType="clickEffect">
                                  <p:stCondLst>
                                    <p:cond delay="0"/>
                                  </p:stCondLst>
                                  <p:childTnLst>
                                    <p:set>
                                      <p:cBhvr>
                                        <p:cTn id="41" dur="1" fill="hold">
                                          <p:stCondLst>
                                            <p:cond delay="0"/>
                                          </p:stCondLst>
                                        </p:cTn>
                                        <p:tgtEl>
                                          <p:spTgt spid="5130"/>
                                        </p:tgtEl>
                                        <p:attrNameLst>
                                          <p:attrName>style.visibility</p:attrName>
                                        </p:attrNameLst>
                                      </p:cBhvr>
                                      <p:to>
                                        <p:strVal val="visible"/>
                                      </p:to>
                                    </p:set>
                                    <p:anim calcmode="lin" valueType="num">
                                      <p:cBhvr>
                                        <p:cTn id="42" dur="500" fill="hold"/>
                                        <p:tgtEl>
                                          <p:spTgt spid="5130"/>
                                        </p:tgtEl>
                                        <p:attrNameLst>
                                          <p:attrName>ppt_x</p:attrName>
                                        </p:attrNameLst>
                                      </p:cBhvr>
                                      <p:tavLst>
                                        <p:tav tm="0">
                                          <p:val>
                                            <p:strVal val="#ppt_x-.2"/>
                                          </p:val>
                                        </p:tav>
                                        <p:tav tm="100000">
                                          <p:val>
                                            <p:strVal val="#ppt_x"/>
                                          </p:val>
                                        </p:tav>
                                      </p:tavLst>
                                    </p:anim>
                                    <p:anim calcmode="lin" valueType="num">
                                      <p:cBhvr>
                                        <p:cTn id="43" dur="500" fill="hold"/>
                                        <p:tgtEl>
                                          <p:spTgt spid="5130"/>
                                        </p:tgtEl>
                                        <p:attrNameLst>
                                          <p:attrName>ppt_y</p:attrName>
                                        </p:attrNameLst>
                                      </p:cBhvr>
                                      <p:tavLst>
                                        <p:tav tm="0">
                                          <p:val>
                                            <p:strVal val="#ppt_y"/>
                                          </p:val>
                                        </p:tav>
                                        <p:tav tm="100000">
                                          <p:val>
                                            <p:strVal val="#ppt_y"/>
                                          </p:val>
                                        </p:tav>
                                      </p:tavLst>
                                    </p:anim>
                                    <p:animEffect transition="in" filter="wipe(right)" prLst="gradientSize: 0.1">
                                      <p:cBhvr>
                                        <p:cTn id="44" dur="500"/>
                                        <p:tgtEl>
                                          <p:spTgt spid="513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4" grpId="0" bldLvl="0" autoUpdateAnimBg="0"/>
      <p:bldP spid="5125" grpId="0" bldLvl="0" autoUpdateAnimBg="0"/>
      <p:bldP spid="5126" grpId="0" bldLvl="0" autoUpdateAnimBg="0"/>
      <p:bldP spid="5128" grpId="0" bldLvl="0" autoUpdateAnimBg="0"/>
      <p:bldP spid="5129" grpId="0" bldLvl="0" autoUpdateAnimBg="0"/>
      <p:bldP spid="5130" grpId="0" bldLvl="0" autoUpdateAnimBg="0"/>
      <p:bldP spid="1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Text Box 3">
            <a:extLst>
              <a:ext uri="{FF2B5EF4-FFF2-40B4-BE49-F238E27FC236}">
                <a16:creationId xmlns:a16="http://schemas.microsoft.com/office/drawing/2014/main" id="{C9D9299F-9293-406C-9F49-D670FC5A0658}"/>
              </a:ext>
            </a:extLst>
          </p:cNvPr>
          <p:cNvSpPr txBox="1">
            <a:spLocks noChangeArrowheads="1"/>
          </p:cNvSpPr>
          <p:nvPr/>
        </p:nvSpPr>
        <p:spPr bwMode="auto">
          <a:xfrm>
            <a:off x="834477" y="1127969"/>
            <a:ext cx="1065876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考虑一个柱子</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X</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，其高度为</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h</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，将柱子向左右延伸，找到左边第一个低于它的柱子</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L</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，右边第一个低于它的柱子</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R</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，那么</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L</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和</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R</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之间的柱子可以构成一个高为</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h</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，宽为（</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R-L-1</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）的矩阵。</a:t>
            </a:r>
          </a:p>
        </p:txBody>
      </p:sp>
      <p:sp>
        <p:nvSpPr>
          <p:cNvPr id="7172" name="Text Box 4">
            <a:extLst>
              <a:ext uri="{FF2B5EF4-FFF2-40B4-BE49-F238E27FC236}">
                <a16:creationId xmlns:a16="http://schemas.microsoft.com/office/drawing/2014/main" id="{FC361202-DC59-478C-BCB7-0B3A3841333D}"/>
              </a:ext>
            </a:extLst>
          </p:cNvPr>
          <p:cNvSpPr txBox="1">
            <a:spLocks noChangeArrowheads="1"/>
          </p:cNvSpPr>
          <p:nvPr/>
        </p:nvSpPr>
        <p:spPr bwMode="auto">
          <a:xfrm>
            <a:off x="834477" y="2234799"/>
            <a:ext cx="10658764" cy="1135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50000"/>
              </a:lnSpc>
              <a:spcBef>
                <a:spcPts val="0"/>
              </a:spcBef>
              <a:spcAft>
                <a:spcPts val="0"/>
              </a:spcAft>
              <a:buClrTx/>
              <a:buSzTx/>
              <a:buFont typeface="Wingdings" panose="05000000000000000000" pitchFamily="2" charset="2"/>
              <a:buChar char="n"/>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从每个柱子出发向左右延伸到不能再延伸形成矩形，找到面积最大的那个矩形即可。</a:t>
            </a:r>
          </a:p>
        </p:txBody>
      </p:sp>
      <p:sp>
        <p:nvSpPr>
          <p:cNvPr id="7174" name="Text Box 6">
            <a:extLst>
              <a:ext uri="{FF2B5EF4-FFF2-40B4-BE49-F238E27FC236}">
                <a16:creationId xmlns:a16="http://schemas.microsoft.com/office/drawing/2014/main" id="{FFD0F763-9146-4FAF-A0DA-1F9D192D99E4}"/>
              </a:ext>
            </a:extLst>
          </p:cNvPr>
          <p:cNvSpPr txBox="1">
            <a:spLocks noChangeArrowheads="1"/>
          </p:cNvSpPr>
          <p:nvPr/>
        </p:nvSpPr>
        <p:spPr bwMode="auto">
          <a:xfrm>
            <a:off x="767975" y="3271058"/>
            <a:ext cx="11052723" cy="3351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50000"/>
              </a:lnSpc>
              <a:spcBef>
                <a:spcPts val="0"/>
              </a:spcBef>
              <a:spcAft>
                <a:spcPts val="0"/>
              </a:spcAft>
              <a:buClrTx/>
              <a:buSzPct val="100000"/>
              <a:buFont typeface="Wingdings" panose="05000000000000000000" pitchFamily="2" charset="2"/>
              <a:buChar char="Ø"/>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建立一个单调递减栈</a:t>
            </a:r>
            <a:endPar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endParaRPr>
          </a:p>
          <a:p>
            <a:pPr marL="800100" marR="0" lvl="1" indent="-342900" algn="l" defTabSz="914400" rtl="0" eaLnBrk="1" fontAlgn="auto" latinLnBrk="0" hangingPunct="1">
              <a:lnSpc>
                <a:spcPct val="150000"/>
              </a:lnSpc>
              <a:spcBef>
                <a:spcPts val="0"/>
              </a:spcBef>
              <a:spcAft>
                <a:spcPts val="0"/>
              </a:spcAft>
              <a:buClrTx/>
              <a:buSzPct val="100000"/>
              <a:buFont typeface="Wingdings" panose="05000000000000000000" pitchFamily="2" charset="2"/>
              <a:buChar char="Ø"/>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每次需要弹出的栈顶元素（因为比进栈元素大，所以需要弹出）的</a:t>
            </a:r>
            <a:r>
              <a:rPr kumimoji="0" lang="zh-CN" altLang="en-US" sz="2400" b="1" i="0" u="none" strike="noStrike" kern="100" cap="none" spc="0" normalizeH="0" baseline="0" noProof="0" dirty="0">
                <a:ln>
                  <a:noFill/>
                </a:ln>
                <a:solidFill>
                  <a:srgbClr val="C00000"/>
                </a:solidFill>
                <a:effectLst/>
                <a:uLnTx/>
                <a:uFillTx/>
                <a:latin typeface="仿宋_GB2312"/>
                <a:ea typeface="微软雅黑" panose="020B0503020204020204" pitchFamily="34" charset="-122"/>
                <a:cs typeface="Times New Roman" panose="02020603050405020304" pitchFamily="18" charset="0"/>
              </a:rPr>
              <a:t>右边第一个比它小的</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即为当前进栈元素</a:t>
            </a:r>
            <a:endPar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endParaRPr>
          </a:p>
          <a:p>
            <a:pPr marL="800100" marR="0" lvl="1" indent="-342900" algn="l" defTabSz="914400" rtl="0" eaLnBrk="1" fontAlgn="auto" latinLnBrk="0" hangingPunct="1">
              <a:lnSpc>
                <a:spcPct val="150000"/>
              </a:lnSpc>
              <a:spcBef>
                <a:spcPts val="0"/>
              </a:spcBef>
              <a:spcAft>
                <a:spcPts val="0"/>
              </a:spcAft>
              <a:buClrTx/>
              <a:buSzPct val="100000"/>
              <a:buFont typeface="Wingdings" panose="05000000000000000000" pitchFamily="2" charset="2"/>
              <a:buChar char="Ø"/>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当前栈顶元素比当前进栈元素小，则当前进栈元素</a:t>
            </a:r>
            <a:r>
              <a:rPr kumimoji="0" lang="zh-CN" altLang="en-US" sz="2400" b="1" i="0" u="none" strike="noStrike" kern="100" cap="none" spc="0" normalizeH="0" baseline="0" noProof="0" dirty="0">
                <a:ln>
                  <a:noFill/>
                </a:ln>
                <a:solidFill>
                  <a:srgbClr val="C00000"/>
                </a:solidFill>
                <a:effectLst/>
                <a:uLnTx/>
                <a:uFillTx/>
                <a:latin typeface="仿宋_GB2312"/>
                <a:ea typeface="微软雅黑" panose="020B0503020204020204" pitchFamily="34" charset="-122"/>
                <a:cs typeface="Times New Roman" panose="02020603050405020304" pitchFamily="18" charset="0"/>
              </a:rPr>
              <a:t>左边第一个比它小的</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即为当前栈顶元素；若当前栈顶元素与当前进栈元素相等，则当前进栈元素</a:t>
            </a:r>
            <a:r>
              <a:rPr kumimoji="0" lang="zh-CN" altLang="en-US" sz="2400" b="1" i="0" u="none" strike="noStrike" kern="100" cap="none" spc="0" normalizeH="0" baseline="0" noProof="0" dirty="0">
                <a:ln>
                  <a:noFill/>
                </a:ln>
                <a:solidFill>
                  <a:srgbClr val="C00000"/>
                </a:solidFill>
                <a:effectLst/>
                <a:uLnTx/>
                <a:uFillTx/>
                <a:latin typeface="仿宋_GB2312"/>
                <a:ea typeface="微软雅黑" panose="020B0503020204020204" pitchFamily="34" charset="-122"/>
                <a:cs typeface="Times New Roman" panose="02020603050405020304" pitchFamily="18" charset="0"/>
              </a:rPr>
              <a:t>左边第一个比它小的</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即为当前栈顶元素</a:t>
            </a:r>
            <a:r>
              <a:rPr kumimoji="0" lang="zh-CN" altLang="en-US" sz="2400" b="1" i="0" u="none" strike="noStrike" kern="100" cap="none" spc="0" normalizeH="0" baseline="0" noProof="0" dirty="0">
                <a:ln>
                  <a:noFill/>
                </a:ln>
                <a:solidFill>
                  <a:srgbClr val="C00000"/>
                </a:solidFill>
                <a:effectLst/>
                <a:uLnTx/>
                <a:uFillTx/>
                <a:latin typeface="仿宋_GB2312"/>
                <a:ea typeface="微软雅黑" panose="020B0503020204020204" pitchFamily="34" charset="-122"/>
                <a:cs typeface="Times New Roman" panose="02020603050405020304" pitchFamily="18" charset="0"/>
              </a:rPr>
              <a:t>左边第一个比它小的</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元素</a:t>
            </a:r>
          </a:p>
        </p:txBody>
      </p:sp>
      <p:sp>
        <p:nvSpPr>
          <p:cNvPr id="9" name="TextBox 36">
            <a:extLst>
              <a:ext uri="{FF2B5EF4-FFF2-40B4-BE49-F238E27FC236}">
                <a16:creationId xmlns:a16="http://schemas.microsoft.com/office/drawing/2014/main" id="{411768E9-FF32-4DEE-9E63-1B6B582E49E7}"/>
              </a:ext>
            </a:extLst>
          </p:cNvPr>
          <p:cNvSpPr txBox="1"/>
          <p:nvPr/>
        </p:nvSpPr>
        <p:spPr>
          <a:xfrm>
            <a:off x="334800" y="320400"/>
            <a:ext cx="5575549"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单调栈 </a:t>
            </a:r>
            <a:r>
              <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 </a:t>
            </a: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思考问题解法</a:t>
            </a:r>
            <a:r>
              <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7171"/>
                                        </p:tgtEl>
                                        <p:attrNameLst>
                                          <p:attrName>style.visibility</p:attrName>
                                        </p:attrNameLst>
                                      </p:cBhvr>
                                      <p:to>
                                        <p:strVal val="visible"/>
                                      </p:to>
                                    </p:set>
                                    <p:anim calcmode="lin" valueType="num">
                                      <p:cBhvr>
                                        <p:cTn id="7" dur="500" fill="hold"/>
                                        <p:tgtEl>
                                          <p:spTgt spid="7171"/>
                                        </p:tgtEl>
                                        <p:attrNameLst>
                                          <p:attrName>ppt_x</p:attrName>
                                        </p:attrNameLst>
                                      </p:cBhvr>
                                      <p:tavLst>
                                        <p:tav tm="0">
                                          <p:val>
                                            <p:strVal val="#ppt_x-.2"/>
                                          </p:val>
                                        </p:tav>
                                        <p:tav tm="100000">
                                          <p:val>
                                            <p:strVal val="#ppt_x"/>
                                          </p:val>
                                        </p:tav>
                                      </p:tavLst>
                                    </p:anim>
                                    <p:anim calcmode="lin" valueType="num">
                                      <p:cBhvr>
                                        <p:cTn id="8" dur="500" fill="hold"/>
                                        <p:tgtEl>
                                          <p:spTgt spid="7171"/>
                                        </p:tgtEl>
                                        <p:attrNameLst>
                                          <p:attrName>ppt_y</p:attrName>
                                        </p:attrNameLst>
                                      </p:cBhvr>
                                      <p:tavLst>
                                        <p:tav tm="0">
                                          <p:val>
                                            <p:strVal val="#ppt_y"/>
                                          </p:val>
                                        </p:tav>
                                        <p:tav tm="100000">
                                          <p:val>
                                            <p:strVal val="#ppt_y"/>
                                          </p:val>
                                        </p:tav>
                                      </p:tavLst>
                                    </p:anim>
                                    <p:animEffect transition="in" filter="wipe(right)" prLst="gradientSize: 0.1">
                                      <p:cBhvr>
                                        <p:cTn id="9" dur="500"/>
                                        <p:tgtEl>
                                          <p:spTgt spid="7171"/>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7172"/>
                                        </p:tgtEl>
                                        <p:attrNameLst>
                                          <p:attrName>style.visibility</p:attrName>
                                        </p:attrNameLst>
                                      </p:cBhvr>
                                      <p:to>
                                        <p:strVal val="visible"/>
                                      </p:to>
                                    </p:set>
                                    <p:anim calcmode="lin" valueType="num">
                                      <p:cBhvr>
                                        <p:cTn id="14" dur="1000" fill="hold"/>
                                        <p:tgtEl>
                                          <p:spTgt spid="7172"/>
                                        </p:tgtEl>
                                        <p:attrNameLst>
                                          <p:attrName>ppt_x</p:attrName>
                                        </p:attrNameLst>
                                      </p:cBhvr>
                                      <p:tavLst>
                                        <p:tav tm="0">
                                          <p:val>
                                            <p:strVal val="#ppt_x-.2"/>
                                          </p:val>
                                        </p:tav>
                                        <p:tav tm="100000">
                                          <p:val>
                                            <p:strVal val="#ppt_x"/>
                                          </p:val>
                                        </p:tav>
                                      </p:tavLst>
                                    </p:anim>
                                    <p:anim calcmode="lin" valueType="num">
                                      <p:cBhvr>
                                        <p:cTn id="15" dur="1000" fill="hold"/>
                                        <p:tgtEl>
                                          <p:spTgt spid="7172"/>
                                        </p:tgtEl>
                                        <p:attrNameLst>
                                          <p:attrName>ppt_y</p:attrName>
                                        </p:attrNameLst>
                                      </p:cBhvr>
                                      <p:tavLst>
                                        <p:tav tm="0">
                                          <p:val>
                                            <p:strVal val="#ppt_y"/>
                                          </p:val>
                                        </p:tav>
                                        <p:tav tm="100000">
                                          <p:val>
                                            <p:strVal val="#ppt_y"/>
                                          </p:val>
                                        </p:tav>
                                      </p:tavLst>
                                    </p:anim>
                                    <p:animEffect transition="in" filter="wipe(right)" prLst="gradientSize: 0.1">
                                      <p:cBhvr>
                                        <p:cTn id="16" dur="1000"/>
                                        <p:tgtEl>
                                          <p:spTgt spid="717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9" presetClass="entr" presetSubtype="0" fill="hold" grpId="0" nodeType="clickEffect">
                                  <p:stCondLst>
                                    <p:cond delay="0"/>
                                  </p:stCondLst>
                                  <p:childTnLst>
                                    <p:set>
                                      <p:cBhvr>
                                        <p:cTn id="20" dur="1" fill="hold">
                                          <p:stCondLst>
                                            <p:cond delay="0"/>
                                          </p:stCondLst>
                                        </p:cTn>
                                        <p:tgtEl>
                                          <p:spTgt spid="7174"/>
                                        </p:tgtEl>
                                        <p:attrNameLst>
                                          <p:attrName>style.visibility</p:attrName>
                                        </p:attrNameLst>
                                      </p:cBhvr>
                                      <p:to>
                                        <p:strVal val="visible"/>
                                      </p:to>
                                    </p:set>
                                    <p:anim calcmode="lin" valueType="num">
                                      <p:cBhvr>
                                        <p:cTn id="21" dur="1000" fill="hold"/>
                                        <p:tgtEl>
                                          <p:spTgt spid="7174"/>
                                        </p:tgtEl>
                                        <p:attrNameLst>
                                          <p:attrName>ppt_x</p:attrName>
                                        </p:attrNameLst>
                                      </p:cBhvr>
                                      <p:tavLst>
                                        <p:tav tm="0">
                                          <p:val>
                                            <p:strVal val="#ppt_x-.2"/>
                                          </p:val>
                                        </p:tav>
                                        <p:tav tm="100000">
                                          <p:val>
                                            <p:strVal val="#ppt_x"/>
                                          </p:val>
                                        </p:tav>
                                      </p:tavLst>
                                    </p:anim>
                                    <p:anim calcmode="lin" valueType="num">
                                      <p:cBhvr>
                                        <p:cTn id="22" dur="1000" fill="hold"/>
                                        <p:tgtEl>
                                          <p:spTgt spid="7174"/>
                                        </p:tgtEl>
                                        <p:attrNameLst>
                                          <p:attrName>ppt_y</p:attrName>
                                        </p:attrNameLst>
                                      </p:cBhvr>
                                      <p:tavLst>
                                        <p:tav tm="0">
                                          <p:val>
                                            <p:strVal val="#ppt_y"/>
                                          </p:val>
                                        </p:tav>
                                        <p:tav tm="100000">
                                          <p:val>
                                            <p:strVal val="#ppt_y"/>
                                          </p:val>
                                        </p:tav>
                                      </p:tavLst>
                                    </p:anim>
                                    <p:animEffect transition="in" filter="wipe(right)" prLst="gradientSize: 0.1">
                                      <p:cBhvr>
                                        <p:cTn id="23" dur="1000"/>
                                        <p:tgtEl>
                                          <p:spTgt spid="7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1" grpId="0" bldLvl="0" autoUpdateAnimBg="0"/>
      <p:bldP spid="7172" grpId="0" bldLvl="0" autoUpdateAnimBg="0"/>
      <p:bldP spid="7174" grpId="0" bldLvl="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Text Box 3">
            <a:extLst>
              <a:ext uri="{FF2B5EF4-FFF2-40B4-BE49-F238E27FC236}">
                <a16:creationId xmlns:a16="http://schemas.microsoft.com/office/drawing/2014/main" id="{8A4B1607-D0A8-4260-A6FF-F987B58E950C}"/>
              </a:ext>
            </a:extLst>
          </p:cNvPr>
          <p:cNvSpPr txBox="1">
            <a:spLocks noChangeArrowheads="1"/>
          </p:cNvSpPr>
          <p:nvPr/>
        </p:nvSpPr>
        <p:spPr bwMode="auto">
          <a:xfrm>
            <a:off x="1018510" y="1108868"/>
            <a:ext cx="10677495" cy="11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50000"/>
              </a:lnSpc>
              <a:spcBef>
                <a:spcPts val="0"/>
              </a:spcBef>
              <a:spcAft>
                <a:spcPts val="0"/>
              </a:spcAft>
              <a:buClrTx/>
              <a:buSzTx/>
              <a:buFont typeface="Wingdings" panose="05000000000000000000" pitchFamily="2" charset="2"/>
              <a:buChar char="n"/>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单调队列：队列中元素之间的关系具有单调性，而且，队首和队尾都可以进行出队操作，只有队尾可以进行入队操作。</a:t>
            </a:r>
          </a:p>
        </p:txBody>
      </p:sp>
      <p:sp>
        <p:nvSpPr>
          <p:cNvPr id="9221" name="Text Box 5">
            <a:extLst>
              <a:ext uri="{FF2B5EF4-FFF2-40B4-BE49-F238E27FC236}">
                <a16:creationId xmlns:a16="http://schemas.microsoft.com/office/drawing/2014/main" id="{EBA8D84D-EE3D-44C9-A347-8FAF51C773DD}"/>
              </a:ext>
            </a:extLst>
          </p:cNvPr>
          <p:cNvSpPr txBox="1">
            <a:spLocks noChangeArrowheads="1"/>
          </p:cNvSpPr>
          <p:nvPr/>
        </p:nvSpPr>
        <p:spPr bwMode="auto">
          <a:xfrm>
            <a:off x="1018511" y="2484689"/>
            <a:ext cx="10677496" cy="11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50000"/>
              </a:lnSpc>
              <a:spcBef>
                <a:spcPts val="0"/>
              </a:spcBef>
              <a:spcAft>
                <a:spcPts val="0"/>
              </a:spcAft>
              <a:buClrTx/>
              <a:buSzTx/>
              <a:buFont typeface="Wingdings" panose="05000000000000000000" pitchFamily="2" charset="2"/>
              <a:buChar char="n"/>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对于维护好的单调队列，队内元素是有序的，那么取出最大值（最小值）的复杂度是O(1)</a:t>
            </a:r>
          </a:p>
        </p:txBody>
      </p:sp>
      <p:sp>
        <p:nvSpPr>
          <p:cNvPr id="9223" name="Text Box 7">
            <a:extLst>
              <a:ext uri="{FF2B5EF4-FFF2-40B4-BE49-F238E27FC236}">
                <a16:creationId xmlns:a16="http://schemas.microsoft.com/office/drawing/2014/main" id="{9FA929AA-6B3C-4AD0-B7E5-B7801FF735D9}"/>
              </a:ext>
            </a:extLst>
          </p:cNvPr>
          <p:cNvSpPr txBox="1">
            <a:spLocks noChangeArrowheads="1"/>
          </p:cNvSpPr>
          <p:nvPr/>
        </p:nvSpPr>
        <p:spPr bwMode="auto">
          <a:xfrm>
            <a:off x="695325" y="4819650"/>
            <a:ext cx="79168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如何维护单调队列：</a:t>
            </a:r>
          </a:p>
        </p:txBody>
      </p:sp>
      <p:sp>
        <p:nvSpPr>
          <p:cNvPr id="9224" name="Text Box 8">
            <a:extLst>
              <a:ext uri="{FF2B5EF4-FFF2-40B4-BE49-F238E27FC236}">
                <a16:creationId xmlns:a16="http://schemas.microsoft.com/office/drawing/2014/main" id="{F27D19E4-98CD-4C01-A367-B97E0A3B9D5C}"/>
              </a:ext>
            </a:extLst>
          </p:cNvPr>
          <p:cNvSpPr txBox="1">
            <a:spLocks noChangeArrowheads="1"/>
          </p:cNvSpPr>
          <p:nvPr/>
        </p:nvSpPr>
        <p:spPr bwMode="auto">
          <a:xfrm>
            <a:off x="1420813" y="5438775"/>
            <a:ext cx="9426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队尾入队的时候维护单调性。</a:t>
            </a:r>
          </a:p>
        </p:txBody>
      </p:sp>
      <p:sp>
        <p:nvSpPr>
          <p:cNvPr id="9" name="TextBox 36">
            <a:extLst>
              <a:ext uri="{FF2B5EF4-FFF2-40B4-BE49-F238E27FC236}">
                <a16:creationId xmlns:a16="http://schemas.microsoft.com/office/drawing/2014/main" id="{85410C5B-74BB-431E-A9B4-8F653ED0C290}"/>
              </a:ext>
            </a:extLst>
          </p:cNvPr>
          <p:cNvSpPr txBox="1"/>
          <p:nvPr/>
        </p:nvSpPr>
        <p:spPr>
          <a:xfrm>
            <a:off x="334800" y="320400"/>
            <a:ext cx="3722045"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单调队列</a:t>
            </a:r>
            <a:endPar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13" nodeType="clickEffect">
                                  <p:stCondLst>
                                    <p:cond delay="0"/>
                                  </p:stCondLst>
                                  <p:childTnLst>
                                    <p:set>
                                      <p:cBhvr>
                                        <p:cTn id="6" dur="1" fill="hold">
                                          <p:stCondLst>
                                            <p:cond delay="0"/>
                                          </p:stCondLst>
                                        </p:cTn>
                                        <p:tgtEl>
                                          <p:spTgt spid="9219"/>
                                        </p:tgtEl>
                                        <p:attrNameLst>
                                          <p:attrName>style.visibility</p:attrName>
                                        </p:attrNameLst>
                                      </p:cBhvr>
                                      <p:to>
                                        <p:strVal val="visible"/>
                                      </p:to>
                                    </p:set>
                                    <p:anim calcmode="lin" valueType="num">
                                      <p:cBhvr>
                                        <p:cTn id="7" dur="500" fill="hold"/>
                                        <p:tgtEl>
                                          <p:spTgt spid="9219"/>
                                        </p:tgtEl>
                                        <p:attrNameLst>
                                          <p:attrName>ppt_w</p:attrName>
                                        </p:attrNameLst>
                                      </p:cBhvr>
                                      <p:tavLst>
                                        <p:tav tm="0">
                                          <p:val>
                                            <p:fltVal val="0"/>
                                          </p:val>
                                        </p:tav>
                                        <p:tav tm="100000">
                                          <p:val>
                                            <p:strVal val="#ppt_w"/>
                                          </p:val>
                                        </p:tav>
                                      </p:tavLst>
                                    </p:anim>
                                    <p:anim calcmode="lin" valueType="num">
                                      <p:cBhvr>
                                        <p:cTn id="8" dur="500" fill="hold"/>
                                        <p:tgtEl>
                                          <p:spTgt spid="9219"/>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9221"/>
                                        </p:tgtEl>
                                        <p:attrNameLst>
                                          <p:attrName>style.visibility</p:attrName>
                                        </p:attrNameLst>
                                      </p:cBhvr>
                                      <p:to>
                                        <p:strVal val="visible"/>
                                      </p:to>
                                    </p:set>
                                    <p:animEffect transition="in" filter="blinds(horizontal)">
                                      <p:cBhvr>
                                        <p:cTn id="13" dur="500"/>
                                        <p:tgtEl>
                                          <p:spTgt spid="9221"/>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37" presetClass="entr" presetSubtype="0" fill="hold" grpId="0" nodeType="clickEffect">
                                  <p:stCondLst>
                                    <p:cond delay="0"/>
                                  </p:stCondLst>
                                  <p:childTnLst>
                                    <p:set>
                                      <p:cBhvr>
                                        <p:cTn id="17" dur="1" fill="hold">
                                          <p:stCondLst>
                                            <p:cond delay="0"/>
                                          </p:stCondLst>
                                        </p:cTn>
                                        <p:tgtEl>
                                          <p:spTgt spid="9223"/>
                                        </p:tgtEl>
                                        <p:attrNameLst>
                                          <p:attrName>style.visibility</p:attrName>
                                        </p:attrNameLst>
                                      </p:cBhvr>
                                      <p:to>
                                        <p:strVal val="visible"/>
                                      </p:to>
                                    </p:set>
                                    <p:animEffect transition="in" filter="fade">
                                      <p:cBhvr>
                                        <p:cTn id="18" dur="500"/>
                                        <p:tgtEl>
                                          <p:spTgt spid="9223"/>
                                        </p:tgtEl>
                                      </p:cBhvr>
                                    </p:animEffect>
                                    <p:anim calcmode="lin" valueType="num">
                                      <p:cBhvr>
                                        <p:cTn id="19" dur="500" fill="hold"/>
                                        <p:tgtEl>
                                          <p:spTgt spid="9223"/>
                                        </p:tgtEl>
                                        <p:attrNameLst>
                                          <p:attrName>ppt_x</p:attrName>
                                        </p:attrNameLst>
                                      </p:cBhvr>
                                      <p:tavLst>
                                        <p:tav tm="0">
                                          <p:val>
                                            <p:strVal val="#ppt_x"/>
                                          </p:val>
                                        </p:tav>
                                        <p:tav tm="100000">
                                          <p:val>
                                            <p:strVal val="#ppt_x"/>
                                          </p:val>
                                        </p:tav>
                                      </p:tavLst>
                                    </p:anim>
                                    <p:anim calcmode="lin" valueType="num">
                                      <p:cBhvr>
                                        <p:cTn id="20" dur="450" decel="100000" fill="hold"/>
                                        <p:tgtEl>
                                          <p:spTgt spid="9223"/>
                                        </p:tgtEl>
                                        <p:attrNameLst>
                                          <p:attrName>ppt_y</p:attrName>
                                        </p:attrNameLst>
                                      </p:cBhvr>
                                      <p:tavLst>
                                        <p:tav tm="0">
                                          <p:val>
                                            <p:strVal val="#ppt_y+1"/>
                                          </p:val>
                                        </p:tav>
                                        <p:tav tm="100000">
                                          <p:val>
                                            <p:strVal val="#ppt_y-.03"/>
                                          </p:val>
                                        </p:tav>
                                      </p:tavLst>
                                    </p:anim>
                                    <p:anim calcmode="lin" valueType="num">
                                      <p:cBhvr>
                                        <p:cTn id="21" dur="50" accel="100000" fill="hold">
                                          <p:stCondLst>
                                            <p:cond delay="450"/>
                                          </p:stCondLst>
                                        </p:cTn>
                                        <p:tgtEl>
                                          <p:spTgt spid="9223"/>
                                        </p:tgtEl>
                                        <p:attrNameLst>
                                          <p:attrName>ppt_y</p:attrName>
                                        </p:attrNameLst>
                                      </p:cBhvr>
                                      <p:tavLst>
                                        <p:tav tm="0">
                                          <p:val>
                                            <p:strVal val="#ppt_y-.03"/>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37" presetClass="entr" presetSubtype="0" fill="hold" grpId="0" nodeType="clickEffect">
                                  <p:stCondLst>
                                    <p:cond delay="0"/>
                                  </p:stCondLst>
                                  <p:childTnLst>
                                    <p:set>
                                      <p:cBhvr>
                                        <p:cTn id="25" dur="1" fill="hold">
                                          <p:stCondLst>
                                            <p:cond delay="0"/>
                                          </p:stCondLst>
                                        </p:cTn>
                                        <p:tgtEl>
                                          <p:spTgt spid="9224"/>
                                        </p:tgtEl>
                                        <p:attrNameLst>
                                          <p:attrName>style.visibility</p:attrName>
                                        </p:attrNameLst>
                                      </p:cBhvr>
                                      <p:to>
                                        <p:strVal val="visible"/>
                                      </p:to>
                                    </p:set>
                                    <p:animEffect transition="in" filter="fade">
                                      <p:cBhvr>
                                        <p:cTn id="26" dur="500"/>
                                        <p:tgtEl>
                                          <p:spTgt spid="9224"/>
                                        </p:tgtEl>
                                      </p:cBhvr>
                                    </p:animEffect>
                                    <p:anim calcmode="lin" valueType="num">
                                      <p:cBhvr>
                                        <p:cTn id="27" dur="500" fill="hold"/>
                                        <p:tgtEl>
                                          <p:spTgt spid="9224"/>
                                        </p:tgtEl>
                                        <p:attrNameLst>
                                          <p:attrName>ppt_x</p:attrName>
                                        </p:attrNameLst>
                                      </p:cBhvr>
                                      <p:tavLst>
                                        <p:tav tm="0">
                                          <p:val>
                                            <p:strVal val="#ppt_x"/>
                                          </p:val>
                                        </p:tav>
                                        <p:tav tm="100000">
                                          <p:val>
                                            <p:strVal val="#ppt_x"/>
                                          </p:val>
                                        </p:tav>
                                      </p:tavLst>
                                    </p:anim>
                                    <p:anim calcmode="lin" valueType="num">
                                      <p:cBhvr>
                                        <p:cTn id="28" dur="450" decel="100000" fill="hold"/>
                                        <p:tgtEl>
                                          <p:spTgt spid="9224"/>
                                        </p:tgtEl>
                                        <p:attrNameLst>
                                          <p:attrName>ppt_y</p:attrName>
                                        </p:attrNameLst>
                                      </p:cBhvr>
                                      <p:tavLst>
                                        <p:tav tm="0">
                                          <p:val>
                                            <p:strVal val="#ppt_y+1"/>
                                          </p:val>
                                        </p:tav>
                                        <p:tav tm="100000">
                                          <p:val>
                                            <p:strVal val="#ppt_y-.03"/>
                                          </p:val>
                                        </p:tav>
                                      </p:tavLst>
                                    </p:anim>
                                    <p:anim calcmode="lin" valueType="num">
                                      <p:cBhvr>
                                        <p:cTn id="29" dur="50" accel="100000" fill="hold">
                                          <p:stCondLst>
                                            <p:cond delay="450"/>
                                          </p:stCondLst>
                                        </p:cTn>
                                        <p:tgtEl>
                                          <p:spTgt spid="9224"/>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bldLvl="0" autoUpdateAnimBg="0"/>
      <p:bldP spid="9219" grpId="1" bldLvl="0" autoUpdateAnimBg="0"/>
      <p:bldP spid="9219" grpId="2" bldLvl="0" autoUpdateAnimBg="0"/>
      <p:bldP spid="9219" grpId="3" bldLvl="0" autoUpdateAnimBg="0"/>
      <p:bldP spid="9219" grpId="4" bldLvl="0" autoUpdateAnimBg="0"/>
      <p:bldP spid="9219" grpId="5" bldLvl="0" autoUpdateAnimBg="0"/>
      <p:bldP spid="9219" grpId="6" bldLvl="0" autoUpdateAnimBg="0"/>
      <p:bldP spid="9219" grpId="7" bldLvl="0" autoUpdateAnimBg="0"/>
      <p:bldP spid="9219" grpId="8" bldLvl="0" autoUpdateAnimBg="0"/>
      <p:bldP spid="9219" grpId="9" bldLvl="0" autoUpdateAnimBg="0"/>
      <p:bldP spid="9219" grpId="10" bldLvl="0" autoUpdateAnimBg="0"/>
      <p:bldP spid="9219" grpId="11" bldLvl="0" autoUpdateAnimBg="0"/>
      <p:bldP spid="9219" grpId="12" bldLvl="0" autoUpdateAnimBg="0"/>
      <p:bldP spid="9219" grpId="13" bldLvl="0" autoUpdateAnimBg="0"/>
      <p:bldP spid="9221" grpId="0" bldLvl="0" autoUpdateAnimBg="0"/>
      <p:bldP spid="9223" grpId="0" bldLvl="0" autoUpdateAnimBg="0"/>
      <p:bldP spid="9224" grpId="0" bldLvl="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Text Box 4">
            <a:extLst>
              <a:ext uri="{FF2B5EF4-FFF2-40B4-BE49-F238E27FC236}">
                <a16:creationId xmlns:a16="http://schemas.microsoft.com/office/drawing/2014/main" id="{365AE266-5A0D-459A-B408-A2D1319F807F}"/>
              </a:ext>
            </a:extLst>
          </p:cNvPr>
          <p:cNvSpPr txBox="1">
            <a:spLocks noChangeArrowheads="1"/>
          </p:cNvSpPr>
          <p:nvPr/>
        </p:nvSpPr>
        <p:spPr bwMode="auto">
          <a:xfrm>
            <a:off x="985752" y="1241500"/>
            <a:ext cx="10264948" cy="11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给定一个大小已知的数组以及一个大小已知的滑动窗口，窗口每个时刻向后移动一位，求出每个时刻窗口中数字的最大值和最小值。(n&lt;=1e6)</a:t>
            </a:r>
          </a:p>
        </p:txBody>
      </p:sp>
      <p:sp>
        <p:nvSpPr>
          <p:cNvPr id="10245" name="Text Box 5">
            <a:extLst>
              <a:ext uri="{FF2B5EF4-FFF2-40B4-BE49-F238E27FC236}">
                <a16:creationId xmlns:a16="http://schemas.microsoft.com/office/drawing/2014/main" id="{ADC58CE1-2C63-40D2-90B8-B7738700D0AA}"/>
              </a:ext>
            </a:extLst>
          </p:cNvPr>
          <p:cNvSpPr txBox="1">
            <a:spLocks noChangeArrowheads="1"/>
          </p:cNvSpPr>
          <p:nvPr/>
        </p:nvSpPr>
        <p:spPr bwMode="auto">
          <a:xfrm>
            <a:off x="1288040" y="2652285"/>
            <a:ext cx="4456113"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例如：  input</a:t>
            </a:r>
          </a:p>
          <a:p>
            <a:pPr marL="914400" marR="0" lvl="2"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8 3</a:t>
            </a:r>
          </a:p>
          <a:p>
            <a:pPr marL="914400" marR="0" lvl="2"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1 3 -1 -3 5 3 6 7</a:t>
            </a:r>
          </a:p>
        </p:txBody>
      </p:sp>
      <p:sp>
        <p:nvSpPr>
          <p:cNvPr id="10246" name="Text Box 6">
            <a:extLst>
              <a:ext uri="{FF2B5EF4-FFF2-40B4-BE49-F238E27FC236}">
                <a16:creationId xmlns:a16="http://schemas.microsoft.com/office/drawing/2014/main" id="{A545F1D1-707E-4747-945D-35944EB464BE}"/>
              </a:ext>
            </a:extLst>
          </p:cNvPr>
          <p:cNvSpPr txBox="1">
            <a:spLocks noChangeArrowheads="1"/>
          </p:cNvSpPr>
          <p:nvPr/>
        </p:nvSpPr>
        <p:spPr bwMode="auto">
          <a:xfrm>
            <a:off x="5983318" y="2652284"/>
            <a:ext cx="3732212"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output：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-1 -3 -3 -3 3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3 3 5 5 6 7</a:t>
            </a:r>
          </a:p>
        </p:txBody>
      </p:sp>
      <p:sp>
        <p:nvSpPr>
          <p:cNvPr id="10248" name="Text Box 8">
            <a:extLst>
              <a:ext uri="{FF2B5EF4-FFF2-40B4-BE49-F238E27FC236}">
                <a16:creationId xmlns:a16="http://schemas.microsoft.com/office/drawing/2014/main" id="{D5F2CCC3-13E9-446C-9D78-3471BBD64F28}"/>
              </a:ext>
            </a:extLst>
          </p:cNvPr>
          <p:cNvSpPr txBox="1">
            <a:spLocks noChangeArrowheads="1"/>
          </p:cNvSpPr>
          <p:nvPr/>
        </p:nvSpPr>
        <p:spPr bwMode="auto">
          <a:xfrm>
            <a:off x="985752" y="4392962"/>
            <a:ext cx="68437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区间最值问题：</a:t>
            </a:r>
            <a:r>
              <a:rPr kumimoji="0" lang="en-US" altLang="zh-CN"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ST</a:t>
            </a: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算法？</a:t>
            </a:r>
          </a:p>
        </p:txBody>
      </p:sp>
      <p:sp>
        <p:nvSpPr>
          <p:cNvPr id="11" name="TextBox 36">
            <a:extLst>
              <a:ext uri="{FF2B5EF4-FFF2-40B4-BE49-F238E27FC236}">
                <a16:creationId xmlns:a16="http://schemas.microsoft.com/office/drawing/2014/main" id="{D7F83D73-2A6C-4381-B996-23B78EEB380D}"/>
              </a:ext>
            </a:extLst>
          </p:cNvPr>
          <p:cNvSpPr txBox="1"/>
          <p:nvPr/>
        </p:nvSpPr>
        <p:spPr>
          <a:xfrm>
            <a:off x="334800" y="320400"/>
            <a:ext cx="3722045"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单调队列 </a:t>
            </a:r>
            <a:r>
              <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 </a:t>
            </a: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例</a:t>
            </a:r>
            <a:endPar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Effect transition="in" filter="diamond(in)">
                                      <p:cBhvr>
                                        <p:cTn id="7" dur="500"/>
                                        <p:tgtEl>
                                          <p:spTgt spid="1024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grpId="0" nodeType="clickEffect">
                                  <p:stCondLst>
                                    <p:cond delay="0"/>
                                  </p:stCondLst>
                                  <p:childTnLst>
                                    <p:set>
                                      <p:cBhvr>
                                        <p:cTn id="11" dur="1" fill="hold">
                                          <p:stCondLst>
                                            <p:cond delay="0"/>
                                          </p:stCondLst>
                                        </p:cTn>
                                        <p:tgtEl>
                                          <p:spTgt spid="10245"/>
                                        </p:tgtEl>
                                        <p:attrNameLst>
                                          <p:attrName>style.visibility</p:attrName>
                                        </p:attrNameLst>
                                      </p:cBhvr>
                                      <p:to>
                                        <p:strVal val="visible"/>
                                      </p:to>
                                    </p:set>
                                    <p:anim calcmode="lin" valueType="num">
                                      <p:cBhvr>
                                        <p:cTn id="12" dur="500" fill="hold"/>
                                        <p:tgtEl>
                                          <p:spTgt spid="10245"/>
                                        </p:tgtEl>
                                        <p:attrNameLst>
                                          <p:attrName>ppt_x</p:attrName>
                                        </p:attrNameLst>
                                      </p:cBhvr>
                                      <p:tavLst>
                                        <p:tav tm="0">
                                          <p:val>
                                            <p:strVal val="#ppt_x-.2"/>
                                          </p:val>
                                        </p:tav>
                                        <p:tav tm="100000">
                                          <p:val>
                                            <p:strVal val="#ppt_x"/>
                                          </p:val>
                                        </p:tav>
                                      </p:tavLst>
                                    </p:anim>
                                    <p:anim calcmode="lin" valueType="num">
                                      <p:cBhvr>
                                        <p:cTn id="13" dur="500" fill="hold"/>
                                        <p:tgtEl>
                                          <p:spTgt spid="10245"/>
                                        </p:tgtEl>
                                        <p:attrNameLst>
                                          <p:attrName>ppt_y</p:attrName>
                                        </p:attrNameLst>
                                      </p:cBhvr>
                                      <p:tavLst>
                                        <p:tav tm="0">
                                          <p:val>
                                            <p:strVal val="#ppt_y"/>
                                          </p:val>
                                        </p:tav>
                                        <p:tav tm="100000">
                                          <p:val>
                                            <p:strVal val="#ppt_y"/>
                                          </p:val>
                                        </p:tav>
                                      </p:tavLst>
                                    </p:anim>
                                    <p:animEffect transition="in" filter="wipe(right)" prLst="gradientSize: 0.1">
                                      <p:cBhvr>
                                        <p:cTn id="14" dur="500"/>
                                        <p:tgtEl>
                                          <p:spTgt spid="10245"/>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grpId="0" nodeType="clickEffect">
                                  <p:stCondLst>
                                    <p:cond delay="0"/>
                                  </p:stCondLst>
                                  <p:childTnLst>
                                    <p:set>
                                      <p:cBhvr>
                                        <p:cTn id="18" dur="1" fill="hold">
                                          <p:stCondLst>
                                            <p:cond delay="0"/>
                                          </p:stCondLst>
                                        </p:cTn>
                                        <p:tgtEl>
                                          <p:spTgt spid="10246"/>
                                        </p:tgtEl>
                                        <p:attrNameLst>
                                          <p:attrName>style.visibility</p:attrName>
                                        </p:attrNameLst>
                                      </p:cBhvr>
                                      <p:to>
                                        <p:strVal val="visible"/>
                                      </p:to>
                                    </p:set>
                                    <p:anim calcmode="lin" valueType="num">
                                      <p:cBhvr>
                                        <p:cTn id="19" dur="500" fill="hold"/>
                                        <p:tgtEl>
                                          <p:spTgt spid="10246"/>
                                        </p:tgtEl>
                                        <p:attrNameLst>
                                          <p:attrName>ppt_x</p:attrName>
                                        </p:attrNameLst>
                                      </p:cBhvr>
                                      <p:tavLst>
                                        <p:tav tm="0">
                                          <p:val>
                                            <p:strVal val="#ppt_x-.2"/>
                                          </p:val>
                                        </p:tav>
                                        <p:tav tm="100000">
                                          <p:val>
                                            <p:strVal val="#ppt_x"/>
                                          </p:val>
                                        </p:tav>
                                      </p:tavLst>
                                    </p:anim>
                                    <p:anim calcmode="lin" valueType="num">
                                      <p:cBhvr>
                                        <p:cTn id="20" dur="500" fill="hold"/>
                                        <p:tgtEl>
                                          <p:spTgt spid="10246"/>
                                        </p:tgtEl>
                                        <p:attrNameLst>
                                          <p:attrName>ppt_y</p:attrName>
                                        </p:attrNameLst>
                                      </p:cBhvr>
                                      <p:tavLst>
                                        <p:tav tm="0">
                                          <p:val>
                                            <p:strVal val="#ppt_y"/>
                                          </p:val>
                                        </p:tav>
                                        <p:tav tm="100000">
                                          <p:val>
                                            <p:strVal val="#ppt_y"/>
                                          </p:val>
                                        </p:tav>
                                      </p:tavLst>
                                    </p:anim>
                                    <p:animEffect transition="in" filter="wipe(right)" prLst="gradientSize: 0.1">
                                      <p:cBhvr>
                                        <p:cTn id="21" dur="500"/>
                                        <p:tgtEl>
                                          <p:spTgt spid="1024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37" presetClass="entr" presetSubtype="0" fill="hold" grpId="0" nodeType="clickEffect">
                                  <p:stCondLst>
                                    <p:cond delay="0"/>
                                  </p:stCondLst>
                                  <p:childTnLst>
                                    <p:set>
                                      <p:cBhvr>
                                        <p:cTn id="25" dur="1" fill="hold">
                                          <p:stCondLst>
                                            <p:cond delay="0"/>
                                          </p:stCondLst>
                                        </p:cTn>
                                        <p:tgtEl>
                                          <p:spTgt spid="10248"/>
                                        </p:tgtEl>
                                        <p:attrNameLst>
                                          <p:attrName>style.visibility</p:attrName>
                                        </p:attrNameLst>
                                      </p:cBhvr>
                                      <p:to>
                                        <p:strVal val="visible"/>
                                      </p:to>
                                    </p:set>
                                    <p:animEffect transition="in" filter="fade">
                                      <p:cBhvr>
                                        <p:cTn id="26" dur="1000"/>
                                        <p:tgtEl>
                                          <p:spTgt spid="10248"/>
                                        </p:tgtEl>
                                      </p:cBhvr>
                                    </p:animEffect>
                                    <p:anim calcmode="lin" valueType="num">
                                      <p:cBhvr>
                                        <p:cTn id="27" dur="1000" fill="hold"/>
                                        <p:tgtEl>
                                          <p:spTgt spid="10248"/>
                                        </p:tgtEl>
                                        <p:attrNameLst>
                                          <p:attrName>ppt_x</p:attrName>
                                        </p:attrNameLst>
                                      </p:cBhvr>
                                      <p:tavLst>
                                        <p:tav tm="0">
                                          <p:val>
                                            <p:strVal val="#ppt_x"/>
                                          </p:val>
                                        </p:tav>
                                        <p:tav tm="100000">
                                          <p:val>
                                            <p:strVal val="#ppt_x"/>
                                          </p:val>
                                        </p:tav>
                                      </p:tavLst>
                                    </p:anim>
                                    <p:anim calcmode="lin" valueType="num">
                                      <p:cBhvr>
                                        <p:cTn id="28" dur="900" decel="100000" fill="hold"/>
                                        <p:tgtEl>
                                          <p:spTgt spid="10248"/>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1024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4" grpId="0" bldLvl="0" autoUpdateAnimBg="0"/>
      <p:bldP spid="10245" grpId="0" bldLvl="0" autoUpdateAnimBg="0"/>
      <p:bldP spid="10246" grpId="0" bldLvl="0" autoUpdateAnimBg="0"/>
      <p:bldP spid="10248" grpId="0" bldLvl="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 Box 2">
            <a:extLst>
              <a:ext uri="{FF2B5EF4-FFF2-40B4-BE49-F238E27FC236}">
                <a16:creationId xmlns:a16="http://schemas.microsoft.com/office/drawing/2014/main" id="{E0477B80-4150-4301-9056-570A02AC2B3B}"/>
              </a:ext>
            </a:extLst>
          </p:cNvPr>
          <p:cNvSpPr txBox="1">
            <a:spLocks noChangeArrowheads="1"/>
          </p:cNvSpPr>
          <p:nvPr/>
        </p:nvSpPr>
        <p:spPr bwMode="auto">
          <a:xfrm>
            <a:off x="750888" y="361950"/>
            <a:ext cx="457200" cy="2160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zh-CN" sz="1800" b="0" i="0" u="none" strike="noStrike" kern="1200" cap="none" spc="0" normalizeH="0" baseline="0" noProof="0">
              <a:ln>
                <a:noFill/>
              </a:ln>
              <a:solidFill>
                <a:prstClr val="black"/>
              </a:solidFill>
              <a:effectLst/>
              <a:uLnTx/>
              <a:uFillTx/>
              <a:latin typeface="Calibri"/>
              <a:ea typeface="微软雅黑" panose="020B0503020204020204" pitchFamily="34" charset="-122"/>
              <a:cs typeface="+mn-cs"/>
            </a:endParaRPr>
          </a:p>
        </p:txBody>
      </p:sp>
      <p:sp>
        <p:nvSpPr>
          <p:cNvPr id="11268" name="Text Box 4">
            <a:extLst>
              <a:ext uri="{FF2B5EF4-FFF2-40B4-BE49-F238E27FC236}">
                <a16:creationId xmlns:a16="http://schemas.microsoft.com/office/drawing/2014/main" id="{193D859A-4C02-4B36-9CF8-7A13A4EDE82E}"/>
              </a:ext>
            </a:extLst>
          </p:cNvPr>
          <p:cNvSpPr txBox="1">
            <a:spLocks noChangeArrowheads="1"/>
          </p:cNvSpPr>
          <p:nvPr/>
        </p:nvSpPr>
        <p:spPr bwMode="auto">
          <a:xfrm>
            <a:off x="948170" y="1370792"/>
            <a:ext cx="522019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以得到最小值为例：</a:t>
            </a:r>
          </a:p>
        </p:txBody>
      </p:sp>
      <p:sp>
        <p:nvSpPr>
          <p:cNvPr id="11269" name="Text Box 5">
            <a:extLst>
              <a:ext uri="{FF2B5EF4-FFF2-40B4-BE49-F238E27FC236}">
                <a16:creationId xmlns:a16="http://schemas.microsoft.com/office/drawing/2014/main" id="{AF65AF3C-9535-4D56-8208-B4AF4D11F559}"/>
              </a:ext>
            </a:extLst>
          </p:cNvPr>
          <p:cNvSpPr txBox="1">
            <a:spLocks noChangeArrowheads="1"/>
          </p:cNvSpPr>
          <p:nvPr/>
        </p:nvSpPr>
        <p:spPr bwMode="auto">
          <a:xfrm>
            <a:off x="1008494" y="1883555"/>
            <a:ext cx="106542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400" b="0" i="0" u="none" strike="noStrike" kern="1200" cap="none" spc="0" normalizeH="0" baseline="0" noProof="0" dirty="0">
                <a:ln>
                  <a:noFill/>
                </a:ln>
                <a:solidFill>
                  <a:prstClr val="black"/>
                </a:solidFill>
                <a:effectLst/>
                <a:uLnTx/>
                <a:uFillTx/>
                <a:latin typeface="Calibri"/>
                <a:ea typeface="微软雅黑" panose="020B0503020204020204" pitchFamily="34" charset="-122"/>
                <a:cs typeface="+mn-cs"/>
              </a:rPr>
              <a:t>维护一个单增的队列，那么每次滑动窗口入队之后就要得到一个区间最小值，直接取队首元素就可以了</a:t>
            </a:r>
          </a:p>
        </p:txBody>
      </p:sp>
      <p:sp>
        <p:nvSpPr>
          <p:cNvPr id="11270" name="Text Box 6">
            <a:extLst>
              <a:ext uri="{FF2B5EF4-FFF2-40B4-BE49-F238E27FC236}">
                <a16:creationId xmlns:a16="http://schemas.microsoft.com/office/drawing/2014/main" id="{E4DCBA94-0754-460A-A720-4EB25F890726}"/>
              </a:ext>
            </a:extLst>
          </p:cNvPr>
          <p:cNvSpPr txBox="1">
            <a:spLocks noChangeArrowheads="1"/>
          </p:cNvSpPr>
          <p:nvPr/>
        </p:nvSpPr>
        <p:spPr bwMode="auto">
          <a:xfrm>
            <a:off x="976745" y="3107517"/>
            <a:ext cx="1037158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400" b="0" i="0" u="none" strike="noStrike" kern="1200" cap="none" spc="0" normalizeH="0" baseline="0" noProof="0" dirty="0">
                <a:ln>
                  <a:noFill/>
                </a:ln>
                <a:solidFill>
                  <a:prstClr val="black"/>
                </a:solidFill>
                <a:effectLst/>
                <a:uLnTx/>
                <a:uFillTx/>
                <a:latin typeface="Calibri"/>
                <a:ea typeface="微软雅黑" panose="020B0503020204020204" pitchFamily="34" charset="-122"/>
                <a:cs typeface="+mn-cs"/>
              </a:rPr>
              <a:t>具体做法：每次滑动窗口要得到最小值的时候，判断队首元素是否过期，如果过期，就从队首出队，继续找。</a:t>
            </a:r>
          </a:p>
        </p:txBody>
      </p:sp>
      <p:sp>
        <p:nvSpPr>
          <p:cNvPr id="11271" name="Text Box 7">
            <a:extLst>
              <a:ext uri="{FF2B5EF4-FFF2-40B4-BE49-F238E27FC236}">
                <a16:creationId xmlns:a16="http://schemas.microsoft.com/office/drawing/2014/main" id="{EACBE372-F204-4FAF-9D48-A92721EE1953}"/>
              </a:ext>
            </a:extLst>
          </p:cNvPr>
          <p:cNvSpPr txBox="1">
            <a:spLocks noChangeArrowheads="1"/>
          </p:cNvSpPr>
          <p:nvPr/>
        </p:nvSpPr>
        <p:spPr bwMode="auto">
          <a:xfrm>
            <a:off x="1008495" y="4317192"/>
            <a:ext cx="8231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最大值做法同上：维护一个单调递减队列。</a:t>
            </a:r>
          </a:p>
        </p:txBody>
      </p:sp>
      <p:sp>
        <p:nvSpPr>
          <p:cNvPr id="8" name="TextBox 36">
            <a:extLst>
              <a:ext uri="{FF2B5EF4-FFF2-40B4-BE49-F238E27FC236}">
                <a16:creationId xmlns:a16="http://schemas.microsoft.com/office/drawing/2014/main" id="{5AA8F1DC-D9AC-4AD5-B4C1-324FA4F38C92}"/>
              </a:ext>
            </a:extLst>
          </p:cNvPr>
          <p:cNvSpPr txBox="1"/>
          <p:nvPr/>
        </p:nvSpPr>
        <p:spPr>
          <a:xfrm>
            <a:off x="334800" y="320400"/>
            <a:ext cx="3722045"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单调队列 </a:t>
            </a:r>
            <a:r>
              <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 </a:t>
            </a: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例</a:t>
            </a:r>
            <a:endPar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1268"/>
                                        </p:tgtEl>
                                        <p:attrNameLst>
                                          <p:attrName>style.visibility</p:attrName>
                                        </p:attrNameLst>
                                      </p:cBhvr>
                                      <p:to>
                                        <p:strVal val="visible"/>
                                      </p:to>
                                    </p:set>
                                    <p:animEffect transition="in" filter="box(in)">
                                      <p:cBhvr>
                                        <p:cTn id="7" dur="500"/>
                                        <p:tgtEl>
                                          <p:spTgt spid="112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11269">
                                            <p:txEl>
                                              <p:pRg st="0" end="0"/>
                                            </p:txEl>
                                          </p:spTgt>
                                        </p:tgtEl>
                                        <p:attrNameLst>
                                          <p:attrName>style.visibility</p:attrName>
                                        </p:attrNameLst>
                                      </p:cBhvr>
                                      <p:to>
                                        <p:strVal val="visible"/>
                                      </p:to>
                                    </p:set>
                                    <p:animEffect transition="in" filter="fade">
                                      <p:cBhvr>
                                        <p:cTn id="12" dur="1000"/>
                                        <p:tgtEl>
                                          <p:spTgt spid="11269">
                                            <p:txEl>
                                              <p:pRg st="0" end="0"/>
                                            </p:txEl>
                                          </p:spTgt>
                                        </p:tgtEl>
                                      </p:cBhvr>
                                    </p:animEffect>
                                    <p:anim calcmode="lin" valueType="num">
                                      <p:cBhvr>
                                        <p:cTn id="13" dur="1000" fill="hold"/>
                                        <p:tgtEl>
                                          <p:spTgt spid="11269">
                                            <p:txEl>
                                              <p:pRg st="0" end="0"/>
                                            </p:txEl>
                                          </p:spTgt>
                                        </p:tgtEl>
                                        <p:attrNameLst>
                                          <p:attrName>ppt_x</p:attrName>
                                        </p:attrNameLst>
                                      </p:cBhvr>
                                      <p:tavLst>
                                        <p:tav tm="0">
                                          <p:val>
                                            <p:strVal val="#ppt_x"/>
                                          </p:val>
                                        </p:tav>
                                        <p:tav tm="100000">
                                          <p:val>
                                            <p:strVal val="#ppt_x"/>
                                          </p:val>
                                        </p:tav>
                                      </p:tavLst>
                                    </p:anim>
                                    <p:anim calcmode="lin" valueType="num">
                                      <p:cBhvr>
                                        <p:cTn id="14" dur="1000" fill="hold"/>
                                        <p:tgtEl>
                                          <p:spTgt spid="1126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7" presetClass="entr" presetSubtype="0" fill="hold" grpId="0" nodeType="clickEffect">
                                  <p:stCondLst>
                                    <p:cond delay="0"/>
                                  </p:stCondLst>
                                  <p:childTnLst>
                                    <p:set>
                                      <p:cBhvr>
                                        <p:cTn id="18" dur="1" fill="hold">
                                          <p:stCondLst>
                                            <p:cond delay="0"/>
                                          </p:stCondLst>
                                        </p:cTn>
                                        <p:tgtEl>
                                          <p:spTgt spid="11270"/>
                                        </p:tgtEl>
                                        <p:attrNameLst>
                                          <p:attrName>style.visibility</p:attrName>
                                        </p:attrNameLst>
                                      </p:cBhvr>
                                      <p:to>
                                        <p:strVal val="visible"/>
                                      </p:to>
                                    </p:set>
                                    <p:animEffect transition="in" filter="fade">
                                      <p:cBhvr>
                                        <p:cTn id="19" dur="1000"/>
                                        <p:tgtEl>
                                          <p:spTgt spid="11270"/>
                                        </p:tgtEl>
                                      </p:cBhvr>
                                    </p:animEffect>
                                    <p:anim calcmode="lin" valueType="num">
                                      <p:cBhvr>
                                        <p:cTn id="20" dur="1000" fill="hold"/>
                                        <p:tgtEl>
                                          <p:spTgt spid="11270"/>
                                        </p:tgtEl>
                                        <p:attrNameLst>
                                          <p:attrName>ppt_x</p:attrName>
                                        </p:attrNameLst>
                                      </p:cBhvr>
                                      <p:tavLst>
                                        <p:tav tm="0">
                                          <p:val>
                                            <p:strVal val="#ppt_x"/>
                                          </p:val>
                                        </p:tav>
                                        <p:tav tm="100000">
                                          <p:val>
                                            <p:strVal val="#ppt_x"/>
                                          </p:val>
                                        </p:tav>
                                      </p:tavLst>
                                    </p:anim>
                                    <p:anim calcmode="lin" valueType="num">
                                      <p:cBhvr>
                                        <p:cTn id="21" dur="1000" fill="hold"/>
                                        <p:tgtEl>
                                          <p:spTgt spid="11270"/>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37" presetClass="entr" presetSubtype="0" fill="hold" grpId="0" nodeType="clickEffect">
                                  <p:stCondLst>
                                    <p:cond delay="0"/>
                                  </p:stCondLst>
                                  <p:childTnLst>
                                    <p:set>
                                      <p:cBhvr>
                                        <p:cTn id="25" dur="1" fill="hold">
                                          <p:stCondLst>
                                            <p:cond delay="0"/>
                                          </p:stCondLst>
                                        </p:cTn>
                                        <p:tgtEl>
                                          <p:spTgt spid="11271"/>
                                        </p:tgtEl>
                                        <p:attrNameLst>
                                          <p:attrName>style.visibility</p:attrName>
                                        </p:attrNameLst>
                                      </p:cBhvr>
                                      <p:to>
                                        <p:strVal val="visible"/>
                                      </p:to>
                                    </p:set>
                                    <p:animEffect transition="in" filter="fade">
                                      <p:cBhvr>
                                        <p:cTn id="26" dur="1000"/>
                                        <p:tgtEl>
                                          <p:spTgt spid="11271"/>
                                        </p:tgtEl>
                                      </p:cBhvr>
                                    </p:animEffect>
                                    <p:anim calcmode="lin" valueType="num">
                                      <p:cBhvr>
                                        <p:cTn id="27" dur="1000" fill="hold"/>
                                        <p:tgtEl>
                                          <p:spTgt spid="11271"/>
                                        </p:tgtEl>
                                        <p:attrNameLst>
                                          <p:attrName>ppt_x</p:attrName>
                                        </p:attrNameLst>
                                      </p:cBhvr>
                                      <p:tavLst>
                                        <p:tav tm="0">
                                          <p:val>
                                            <p:strVal val="#ppt_x"/>
                                          </p:val>
                                        </p:tav>
                                        <p:tav tm="100000">
                                          <p:val>
                                            <p:strVal val="#ppt_x"/>
                                          </p:val>
                                        </p:tav>
                                      </p:tavLst>
                                    </p:anim>
                                    <p:anim calcmode="lin" valueType="num">
                                      <p:cBhvr>
                                        <p:cTn id="28" dur="900" decel="100000" fill="hold"/>
                                        <p:tgtEl>
                                          <p:spTgt spid="11271"/>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1127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bldLvl="0" autoUpdateAnimBg="0"/>
      <p:bldP spid="11270" grpId="0" bldLvl="0" autoUpdateAnimBg="0"/>
      <p:bldP spid="11271" grpId="0" bldLvl="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 Box 2">
            <a:extLst>
              <a:ext uri="{FF2B5EF4-FFF2-40B4-BE49-F238E27FC236}">
                <a16:creationId xmlns:a16="http://schemas.microsoft.com/office/drawing/2014/main" id="{E0477B80-4150-4301-9056-570A02AC2B3B}"/>
              </a:ext>
            </a:extLst>
          </p:cNvPr>
          <p:cNvSpPr txBox="1">
            <a:spLocks noChangeArrowheads="1"/>
          </p:cNvSpPr>
          <p:nvPr/>
        </p:nvSpPr>
        <p:spPr bwMode="auto">
          <a:xfrm>
            <a:off x="750888" y="361950"/>
            <a:ext cx="457200" cy="2160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zh-CN" sz="1800" b="0" i="0" u="none" strike="noStrike" kern="1200" cap="none" spc="0" normalizeH="0" baseline="0" noProof="0">
              <a:ln>
                <a:noFill/>
              </a:ln>
              <a:solidFill>
                <a:prstClr val="black"/>
              </a:solidFill>
              <a:effectLst/>
              <a:uLnTx/>
              <a:uFillTx/>
              <a:latin typeface="Calibri"/>
              <a:ea typeface="微软雅黑" panose="020B0503020204020204" pitchFamily="34" charset="-122"/>
              <a:cs typeface="+mn-cs"/>
            </a:endParaRPr>
          </a:p>
        </p:txBody>
      </p:sp>
      <p:sp>
        <p:nvSpPr>
          <p:cNvPr id="11268" name="Text Box 4">
            <a:extLst>
              <a:ext uri="{FF2B5EF4-FFF2-40B4-BE49-F238E27FC236}">
                <a16:creationId xmlns:a16="http://schemas.microsoft.com/office/drawing/2014/main" id="{193D859A-4C02-4B36-9CF8-7A13A4EDE82E}"/>
              </a:ext>
            </a:extLst>
          </p:cNvPr>
          <p:cNvSpPr txBox="1">
            <a:spLocks noChangeArrowheads="1"/>
          </p:cNvSpPr>
          <p:nvPr/>
        </p:nvSpPr>
        <p:spPr bwMode="auto">
          <a:xfrm>
            <a:off x="948170" y="1370792"/>
            <a:ext cx="522019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以得到最小值为例：</a:t>
            </a:r>
          </a:p>
        </p:txBody>
      </p:sp>
      <p:sp>
        <p:nvSpPr>
          <p:cNvPr id="11269" name="Text Box 5">
            <a:extLst>
              <a:ext uri="{FF2B5EF4-FFF2-40B4-BE49-F238E27FC236}">
                <a16:creationId xmlns:a16="http://schemas.microsoft.com/office/drawing/2014/main" id="{AF65AF3C-9535-4D56-8208-B4AF4D11F559}"/>
              </a:ext>
            </a:extLst>
          </p:cNvPr>
          <p:cNvSpPr txBox="1">
            <a:spLocks noChangeArrowheads="1"/>
          </p:cNvSpPr>
          <p:nvPr/>
        </p:nvSpPr>
        <p:spPr bwMode="auto">
          <a:xfrm>
            <a:off x="1008494" y="1883555"/>
            <a:ext cx="106542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400" b="0" i="0" u="none" strike="noStrike" kern="1200" cap="none" spc="0" normalizeH="0" baseline="0" noProof="0" dirty="0">
                <a:ln>
                  <a:noFill/>
                </a:ln>
                <a:solidFill>
                  <a:prstClr val="black"/>
                </a:solidFill>
                <a:effectLst/>
                <a:uLnTx/>
                <a:uFillTx/>
                <a:latin typeface="Calibri"/>
                <a:ea typeface="微软雅黑" panose="020B0503020204020204" pitchFamily="34" charset="-122"/>
                <a:cs typeface="+mn-cs"/>
              </a:rPr>
              <a:t>维护一个单增的队列，那么每次滑动窗口入队之后就要得到一个区间最小值，直接取队首元素就可以了</a:t>
            </a:r>
          </a:p>
        </p:txBody>
      </p:sp>
      <p:sp>
        <p:nvSpPr>
          <p:cNvPr id="11270" name="Text Box 6">
            <a:extLst>
              <a:ext uri="{FF2B5EF4-FFF2-40B4-BE49-F238E27FC236}">
                <a16:creationId xmlns:a16="http://schemas.microsoft.com/office/drawing/2014/main" id="{E4DCBA94-0754-460A-A720-4EB25F890726}"/>
              </a:ext>
            </a:extLst>
          </p:cNvPr>
          <p:cNvSpPr txBox="1">
            <a:spLocks noChangeArrowheads="1"/>
          </p:cNvSpPr>
          <p:nvPr/>
        </p:nvSpPr>
        <p:spPr bwMode="auto">
          <a:xfrm>
            <a:off x="976745" y="3107517"/>
            <a:ext cx="1037158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2400" b="0" i="0" u="none" strike="noStrike" kern="1200" cap="none" spc="0" normalizeH="0" baseline="0" noProof="0" dirty="0">
                <a:ln>
                  <a:noFill/>
                </a:ln>
                <a:solidFill>
                  <a:prstClr val="black"/>
                </a:solidFill>
                <a:effectLst/>
                <a:uLnTx/>
                <a:uFillTx/>
                <a:latin typeface="Calibri"/>
                <a:ea typeface="微软雅黑" panose="020B0503020204020204" pitchFamily="34" charset="-122"/>
                <a:cs typeface="+mn-cs"/>
              </a:rPr>
              <a:t>具体做法：每次滑动窗口要得到最小值的时候，判断队首元素是否过期，如果过期，就从队首出队，继续找。</a:t>
            </a:r>
          </a:p>
        </p:txBody>
      </p:sp>
      <p:sp>
        <p:nvSpPr>
          <p:cNvPr id="11271" name="Text Box 7">
            <a:extLst>
              <a:ext uri="{FF2B5EF4-FFF2-40B4-BE49-F238E27FC236}">
                <a16:creationId xmlns:a16="http://schemas.microsoft.com/office/drawing/2014/main" id="{EACBE372-F204-4FAF-9D48-A92721EE1953}"/>
              </a:ext>
            </a:extLst>
          </p:cNvPr>
          <p:cNvSpPr txBox="1">
            <a:spLocks noChangeArrowheads="1"/>
          </p:cNvSpPr>
          <p:nvPr/>
        </p:nvSpPr>
        <p:spPr bwMode="auto">
          <a:xfrm>
            <a:off x="1008495" y="4317192"/>
            <a:ext cx="8231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1" i="0" u="none" strike="noStrike" kern="100" cap="none" spc="0" normalizeH="0" baseline="0" noProof="0" dirty="0">
                <a:ln>
                  <a:noFill/>
                </a:ln>
                <a:solidFill>
                  <a:srgbClr val="014B88"/>
                </a:solidFill>
                <a:effectLst/>
                <a:uLnTx/>
                <a:uFillTx/>
                <a:latin typeface="仿宋_GB2312"/>
                <a:ea typeface="微软雅黑" panose="020B0503020204020204" pitchFamily="34" charset="-122"/>
                <a:cs typeface="Times New Roman" panose="02020603050405020304" pitchFamily="18" charset="0"/>
              </a:rPr>
              <a:t>最大值做法同上：维护一个单调递减队列。</a:t>
            </a:r>
          </a:p>
        </p:txBody>
      </p:sp>
      <p:sp>
        <p:nvSpPr>
          <p:cNvPr id="8" name="TextBox 36">
            <a:extLst>
              <a:ext uri="{FF2B5EF4-FFF2-40B4-BE49-F238E27FC236}">
                <a16:creationId xmlns:a16="http://schemas.microsoft.com/office/drawing/2014/main" id="{5AA8F1DC-D9AC-4AD5-B4C1-324FA4F38C92}"/>
              </a:ext>
            </a:extLst>
          </p:cNvPr>
          <p:cNvSpPr txBox="1"/>
          <p:nvPr/>
        </p:nvSpPr>
        <p:spPr>
          <a:xfrm>
            <a:off x="334800" y="320400"/>
            <a:ext cx="3722045" cy="651653"/>
          </a:xfrm>
          <a:prstGeom prst="rect">
            <a:avLst/>
          </a:prstGeom>
          <a:noFill/>
        </p:spPr>
        <p:txBody>
          <a:bodyPr wrap="square" rtlCol="0">
            <a:spAutoFit/>
          </a:bodyPr>
          <a:lstStyle/>
          <a:p>
            <a:pPr marL="457200" marR="0" lvl="0" indent="-457200" algn="l" defTabSz="914400" rtl="0" eaLnBrk="1" fontAlgn="auto" latinLnBrk="0" hangingPunct="1">
              <a:lnSpc>
                <a:spcPct val="125000"/>
              </a:lnSpc>
              <a:spcBef>
                <a:spcPts val="0"/>
              </a:spcBef>
              <a:spcAft>
                <a:spcPts val="1200"/>
              </a:spcAft>
              <a:buClrTx/>
              <a:buSzTx/>
              <a:buFont typeface="Wingdings" panose="05000000000000000000" pitchFamily="2" charset="2"/>
              <a:buChar char="n"/>
              <a:tabLst/>
              <a:defRPr/>
            </a:pP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单调队列 </a:t>
            </a:r>
            <a:r>
              <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 </a:t>
            </a:r>
            <a:r>
              <a:rPr kumimoji="0" lang="zh-CN" altLang="en-US"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rPr>
              <a:t>例</a:t>
            </a:r>
            <a:endParaRPr kumimoji="0" lang="en-US" altLang="zh-CN" sz="3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mn-cs"/>
            </a:endParaRPr>
          </a:p>
        </p:txBody>
      </p:sp>
    </p:spTree>
    <p:extLst>
      <p:ext uri="{BB962C8B-B14F-4D97-AF65-F5344CB8AC3E}">
        <p14:creationId xmlns:p14="http://schemas.microsoft.com/office/powerpoint/2010/main" val="8803082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1268"/>
                                        </p:tgtEl>
                                        <p:attrNameLst>
                                          <p:attrName>style.visibility</p:attrName>
                                        </p:attrNameLst>
                                      </p:cBhvr>
                                      <p:to>
                                        <p:strVal val="visible"/>
                                      </p:to>
                                    </p:set>
                                    <p:animEffect transition="in" filter="box(in)">
                                      <p:cBhvr>
                                        <p:cTn id="7" dur="500"/>
                                        <p:tgtEl>
                                          <p:spTgt spid="112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11269">
                                            <p:txEl>
                                              <p:pRg st="0" end="0"/>
                                            </p:txEl>
                                          </p:spTgt>
                                        </p:tgtEl>
                                        <p:attrNameLst>
                                          <p:attrName>style.visibility</p:attrName>
                                        </p:attrNameLst>
                                      </p:cBhvr>
                                      <p:to>
                                        <p:strVal val="visible"/>
                                      </p:to>
                                    </p:set>
                                    <p:animEffect transition="in" filter="fade">
                                      <p:cBhvr>
                                        <p:cTn id="12" dur="1000"/>
                                        <p:tgtEl>
                                          <p:spTgt spid="11269">
                                            <p:txEl>
                                              <p:pRg st="0" end="0"/>
                                            </p:txEl>
                                          </p:spTgt>
                                        </p:tgtEl>
                                      </p:cBhvr>
                                    </p:animEffect>
                                    <p:anim calcmode="lin" valueType="num">
                                      <p:cBhvr>
                                        <p:cTn id="13" dur="1000" fill="hold"/>
                                        <p:tgtEl>
                                          <p:spTgt spid="11269">
                                            <p:txEl>
                                              <p:pRg st="0" end="0"/>
                                            </p:txEl>
                                          </p:spTgt>
                                        </p:tgtEl>
                                        <p:attrNameLst>
                                          <p:attrName>ppt_x</p:attrName>
                                        </p:attrNameLst>
                                      </p:cBhvr>
                                      <p:tavLst>
                                        <p:tav tm="0">
                                          <p:val>
                                            <p:strVal val="#ppt_x"/>
                                          </p:val>
                                        </p:tav>
                                        <p:tav tm="100000">
                                          <p:val>
                                            <p:strVal val="#ppt_x"/>
                                          </p:val>
                                        </p:tav>
                                      </p:tavLst>
                                    </p:anim>
                                    <p:anim calcmode="lin" valueType="num">
                                      <p:cBhvr>
                                        <p:cTn id="14" dur="1000" fill="hold"/>
                                        <p:tgtEl>
                                          <p:spTgt spid="1126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7" presetClass="entr" presetSubtype="0" fill="hold" grpId="0" nodeType="clickEffect">
                                  <p:stCondLst>
                                    <p:cond delay="0"/>
                                  </p:stCondLst>
                                  <p:childTnLst>
                                    <p:set>
                                      <p:cBhvr>
                                        <p:cTn id="18" dur="1" fill="hold">
                                          <p:stCondLst>
                                            <p:cond delay="0"/>
                                          </p:stCondLst>
                                        </p:cTn>
                                        <p:tgtEl>
                                          <p:spTgt spid="11270"/>
                                        </p:tgtEl>
                                        <p:attrNameLst>
                                          <p:attrName>style.visibility</p:attrName>
                                        </p:attrNameLst>
                                      </p:cBhvr>
                                      <p:to>
                                        <p:strVal val="visible"/>
                                      </p:to>
                                    </p:set>
                                    <p:animEffect transition="in" filter="fade">
                                      <p:cBhvr>
                                        <p:cTn id="19" dur="1000"/>
                                        <p:tgtEl>
                                          <p:spTgt spid="11270"/>
                                        </p:tgtEl>
                                      </p:cBhvr>
                                    </p:animEffect>
                                    <p:anim calcmode="lin" valueType="num">
                                      <p:cBhvr>
                                        <p:cTn id="20" dur="1000" fill="hold"/>
                                        <p:tgtEl>
                                          <p:spTgt spid="11270"/>
                                        </p:tgtEl>
                                        <p:attrNameLst>
                                          <p:attrName>ppt_x</p:attrName>
                                        </p:attrNameLst>
                                      </p:cBhvr>
                                      <p:tavLst>
                                        <p:tav tm="0">
                                          <p:val>
                                            <p:strVal val="#ppt_x"/>
                                          </p:val>
                                        </p:tav>
                                        <p:tav tm="100000">
                                          <p:val>
                                            <p:strVal val="#ppt_x"/>
                                          </p:val>
                                        </p:tav>
                                      </p:tavLst>
                                    </p:anim>
                                    <p:anim calcmode="lin" valueType="num">
                                      <p:cBhvr>
                                        <p:cTn id="21" dur="1000" fill="hold"/>
                                        <p:tgtEl>
                                          <p:spTgt spid="11270"/>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37" presetClass="entr" presetSubtype="0" fill="hold" grpId="0" nodeType="clickEffect">
                                  <p:stCondLst>
                                    <p:cond delay="0"/>
                                  </p:stCondLst>
                                  <p:childTnLst>
                                    <p:set>
                                      <p:cBhvr>
                                        <p:cTn id="25" dur="1" fill="hold">
                                          <p:stCondLst>
                                            <p:cond delay="0"/>
                                          </p:stCondLst>
                                        </p:cTn>
                                        <p:tgtEl>
                                          <p:spTgt spid="11271"/>
                                        </p:tgtEl>
                                        <p:attrNameLst>
                                          <p:attrName>style.visibility</p:attrName>
                                        </p:attrNameLst>
                                      </p:cBhvr>
                                      <p:to>
                                        <p:strVal val="visible"/>
                                      </p:to>
                                    </p:set>
                                    <p:animEffect transition="in" filter="fade">
                                      <p:cBhvr>
                                        <p:cTn id="26" dur="1000"/>
                                        <p:tgtEl>
                                          <p:spTgt spid="11271"/>
                                        </p:tgtEl>
                                      </p:cBhvr>
                                    </p:animEffect>
                                    <p:anim calcmode="lin" valueType="num">
                                      <p:cBhvr>
                                        <p:cTn id="27" dur="1000" fill="hold"/>
                                        <p:tgtEl>
                                          <p:spTgt spid="11271"/>
                                        </p:tgtEl>
                                        <p:attrNameLst>
                                          <p:attrName>ppt_x</p:attrName>
                                        </p:attrNameLst>
                                      </p:cBhvr>
                                      <p:tavLst>
                                        <p:tav tm="0">
                                          <p:val>
                                            <p:strVal val="#ppt_x"/>
                                          </p:val>
                                        </p:tav>
                                        <p:tav tm="100000">
                                          <p:val>
                                            <p:strVal val="#ppt_x"/>
                                          </p:val>
                                        </p:tav>
                                      </p:tavLst>
                                    </p:anim>
                                    <p:anim calcmode="lin" valueType="num">
                                      <p:cBhvr>
                                        <p:cTn id="28" dur="900" decel="100000" fill="hold"/>
                                        <p:tgtEl>
                                          <p:spTgt spid="11271"/>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1127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bldLvl="0" autoUpdateAnimBg="0"/>
      <p:bldP spid="11270" grpId="0" bldLvl="0" autoUpdateAnimBg="0"/>
      <p:bldP spid="11271" grpId="0" bldLvl="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3" name="Picture 7" descr="树2">
            <a:extLst>
              <a:ext uri="{FF2B5EF4-FFF2-40B4-BE49-F238E27FC236}">
                <a16:creationId xmlns:a16="http://schemas.microsoft.com/office/drawing/2014/main" id="{DCF7F248-466D-4105-B2D9-75D7A48C00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8" y="1268413"/>
            <a:ext cx="5021262" cy="3765550"/>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树3">
            <a:extLst>
              <a:ext uri="{FF2B5EF4-FFF2-40B4-BE49-F238E27FC236}">
                <a16:creationId xmlns:a16="http://schemas.microsoft.com/office/drawing/2014/main" id="{1A4B633F-0EB7-4EEB-A4A0-88AAC696A5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92539" y="1773239"/>
            <a:ext cx="4516437" cy="3387725"/>
          </a:xfrm>
          <a:prstGeom prst="rect">
            <a:avLst/>
          </a:prstGeom>
          <a:noFill/>
          <a:extLst>
            <a:ext uri="{909E8E84-426E-40DD-AFC4-6F175D3DCCD1}">
              <a14:hiddenFill xmlns:a14="http://schemas.microsoft.com/office/drawing/2010/main">
                <a:solidFill>
                  <a:srgbClr val="FFFFFF"/>
                </a:solidFill>
              </a14:hiddenFill>
            </a:ext>
          </a:extLst>
        </p:spPr>
      </p:pic>
      <p:pic>
        <p:nvPicPr>
          <p:cNvPr id="4105" name="Picture 9" descr="20041112072430262">
            <a:extLst>
              <a:ext uri="{FF2B5EF4-FFF2-40B4-BE49-F238E27FC236}">
                <a16:creationId xmlns:a16="http://schemas.microsoft.com/office/drawing/2014/main" id="{6117B2FE-DB4D-4FBF-8ACD-57BB75D18A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0021" t="51680"/>
          <a:stretch>
            <a:fillRect/>
          </a:stretch>
        </p:blipFill>
        <p:spPr bwMode="auto">
          <a:xfrm>
            <a:off x="5735639" y="2924176"/>
            <a:ext cx="4249737"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36">
            <a:extLst>
              <a:ext uri="{FF2B5EF4-FFF2-40B4-BE49-F238E27FC236}">
                <a16:creationId xmlns:a16="http://schemas.microsoft.com/office/drawing/2014/main" id="{E6A0A0C3-04D4-49C7-99B1-DF89CB2A6F85}"/>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什么是树？</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4103"/>
                                        </p:tgtEl>
                                        <p:attrNameLst>
                                          <p:attrName>style.visibility</p:attrName>
                                        </p:attrNameLst>
                                      </p:cBhvr>
                                      <p:to>
                                        <p:strVal val="visible"/>
                                      </p:to>
                                    </p:set>
                                    <p:animEffect transition="in" filter="fade">
                                      <p:cBhvr>
                                        <p:cTn id="7" dur="1000"/>
                                        <p:tgtEl>
                                          <p:spTgt spid="4103"/>
                                        </p:tgtEl>
                                      </p:cBhvr>
                                    </p:animEffect>
                                    <p:anim calcmode="lin" valueType="num">
                                      <p:cBhvr>
                                        <p:cTn id="8" dur="1000" fill="hold"/>
                                        <p:tgtEl>
                                          <p:spTgt spid="4103"/>
                                        </p:tgtEl>
                                        <p:attrNameLst>
                                          <p:attrName>ppt_x</p:attrName>
                                        </p:attrNameLst>
                                      </p:cBhvr>
                                      <p:tavLst>
                                        <p:tav tm="0">
                                          <p:val>
                                            <p:strVal val="#ppt_x"/>
                                          </p:val>
                                        </p:tav>
                                        <p:tav tm="100000">
                                          <p:val>
                                            <p:strVal val="#ppt_x"/>
                                          </p:val>
                                        </p:tav>
                                      </p:tavLst>
                                    </p:anim>
                                    <p:anim calcmode="lin" valueType="num">
                                      <p:cBhvr>
                                        <p:cTn id="9" dur="1000" fill="hold"/>
                                        <p:tgtEl>
                                          <p:spTgt spid="4103"/>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7" presetClass="exit" presetSubtype="0" fill="hold" nodeType="clickEffect">
                                  <p:stCondLst>
                                    <p:cond delay="0"/>
                                  </p:stCondLst>
                                  <p:childTnLst>
                                    <p:animEffect transition="out" filter="fade">
                                      <p:cBhvr>
                                        <p:cTn id="13" dur="1000"/>
                                        <p:tgtEl>
                                          <p:spTgt spid="4103"/>
                                        </p:tgtEl>
                                      </p:cBhvr>
                                    </p:animEffect>
                                    <p:anim calcmode="lin" valueType="num">
                                      <p:cBhvr>
                                        <p:cTn id="14" dur="1000"/>
                                        <p:tgtEl>
                                          <p:spTgt spid="4103"/>
                                        </p:tgtEl>
                                        <p:attrNameLst>
                                          <p:attrName>ppt_x</p:attrName>
                                        </p:attrNameLst>
                                      </p:cBhvr>
                                      <p:tavLst>
                                        <p:tav tm="0">
                                          <p:val>
                                            <p:strVal val="ppt_x"/>
                                          </p:val>
                                        </p:tav>
                                        <p:tav tm="100000">
                                          <p:val>
                                            <p:strVal val="ppt_x"/>
                                          </p:val>
                                        </p:tav>
                                      </p:tavLst>
                                    </p:anim>
                                    <p:anim calcmode="lin" valueType="num">
                                      <p:cBhvr>
                                        <p:cTn id="15" dur="1000"/>
                                        <p:tgtEl>
                                          <p:spTgt spid="4103"/>
                                        </p:tgtEl>
                                        <p:attrNameLst>
                                          <p:attrName>ppt_y</p:attrName>
                                        </p:attrNameLst>
                                      </p:cBhvr>
                                      <p:tavLst>
                                        <p:tav tm="0">
                                          <p:val>
                                            <p:strVal val="ppt_y"/>
                                          </p:val>
                                        </p:tav>
                                        <p:tav tm="100000">
                                          <p:val>
                                            <p:strVal val="ppt_y-.1"/>
                                          </p:val>
                                        </p:tav>
                                      </p:tavLst>
                                    </p:anim>
                                    <p:set>
                                      <p:cBhvr>
                                        <p:cTn id="16" dur="1" fill="hold">
                                          <p:stCondLst>
                                            <p:cond delay="999"/>
                                          </p:stCondLst>
                                        </p:cTn>
                                        <p:tgtEl>
                                          <p:spTgt spid="4103"/>
                                        </p:tgtEl>
                                        <p:attrNameLst>
                                          <p:attrName>style.visibility</p:attrName>
                                        </p:attrNameLst>
                                      </p:cBhvr>
                                      <p:to>
                                        <p:strVal val="hidden"/>
                                      </p:to>
                                    </p:set>
                                  </p:childTnLst>
                                </p:cTn>
                              </p:par>
                            </p:childTnLst>
                          </p:cTn>
                        </p:par>
                        <p:par>
                          <p:cTn id="17" fill="hold" nodeType="afterGroup">
                            <p:stCondLst>
                              <p:cond delay="1000"/>
                            </p:stCondLst>
                            <p:childTnLst>
                              <p:par>
                                <p:cTn id="18" presetID="42" presetClass="entr" presetSubtype="0" fill="hold" nodeType="afterEffect">
                                  <p:stCondLst>
                                    <p:cond delay="0"/>
                                  </p:stCondLst>
                                  <p:childTnLst>
                                    <p:set>
                                      <p:cBhvr>
                                        <p:cTn id="19" dur="1" fill="hold">
                                          <p:stCondLst>
                                            <p:cond delay="0"/>
                                          </p:stCondLst>
                                        </p:cTn>
                                        <p:tgtEl>
                                          <p:spTgt spid="4104"/>
                                        </p:tgtEl>
                                        <p:attrNameLst>
                                          <p:attrName>style.visibility</p:attrName>
                                        </p:attrNameLst>
                                      </p:cBhvr>
                                      <p:to>
                                        <p:strVal val="visible"/>
                                      </p:to>
                                    </p:set>
                                    <p:animEffect transition="in" filter="fade">
                                      <p:cBhvr>
                                        <p:cTn id="20" dur="1000"/>
                                        <p:tgtEl>
                                          <p:spTgt spid="4104"/>
                                        </p:tgtEl>
                                      </p:cBhvr>
                                    </p:animEffect>
                                    <p:anim calcmode="lin" valueType="num">
                                      <p:cBhvr>
                                        <p:cTn id="21" dur="1000" fill="hold"/>
                                        <p:tgtEl>
                                          <p:spTgt spid="4104"/>
                                        </p:tgtEl>
                                        <p:attrNameLst>
                                          <p:attrName>ppt_x</p:attrName>
                                        </p:attrNameLst>
                                      </p:cBhvr>
                                      <p:tavLst>
                                        <p:tav tm="0">
                                          <p:val>
                                            <p:strVal val="#ppt_x"/>
                                          </p:val>
                                        </p:tav>
                                        <p:tav tm="100000">
                                          <p:val>
                                            <p:strVal val="#ppt_x"/>
                                          </p:val>
                                        </p:tav>
                                      </p:tavLst>
                                    </p:anim>
                                    <p:anim calcmode="lin" valueType="num">
                                      <p:cBhvr>
                                        <p:cTn id="22" dur="1000" fill="hold"/>
                                        <p:tgtEl>
                                          <p:spTgt spid="4104"/>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7" presetClass="exit" presetSubtype="0" fill="hold" nodeType="clickEffect">
                                  <p:stCondLst>
                                    <p:cond delay="0"/>
                                  </p:stCondLst>
                                  <p:childTnLst>
                                    <p:animEffect transition="out" filter="fade">
                                      <p:cBhvr>
                                        <p:cTn id="26" dur="1000"/>
                                        <p:tgtEl>
                                          <p:spTgt spid="4104"/>
                                        </p:tgtEl>
                                      </p:cBhvr>
                                    </p:animEffect>
                                    <p:anim calcmode="lin" valueType="num">
                                      <p:cBhvr>
                                        <p:cTn id="27" dur="1000"/>
                                        <p:tgtEl>
                                          <p:spTgt spid="4104"/>
                                        </p:tgtEl>
                                        <p:attrNameLst>
                                          <p:attrName>ppt_x</p:attrName>
                                        </p:attrNameLst>
                                      </p:cBhvr>
                                      <p:tavLst>
                                        <p:tav tm="0">
                                          <p:val>
                                            <p:strVal val="ppt_x"/>
                                          </p:val>
                                        </p:tav>
                                        <p:tav tm="100000">
                                          <p:val>
                                            <p:strVal val="ppt_x"/>
                                          </p:val>
                                        </p:tav>
                                      </p:tavLst>
                                    </p:anim>
                                    <p:anim calcmode="lin" valueType="num">
                                      <p:cBhvr>
                                        <p:cTn id="28" dur="1000"/>
                                        <p:tgtEl>
                                          <p:spTgt spid="4104"/>
                                        </p:tgtEl>
                                        <p:attrNameLst>
                                          <p:attrName>ppt_y</p:attrName>
                                        </p:attrNameLst>
                                      </p:cBhvr>
                                      <p:tavLst>
                                        <p:tav tm="0">
                                          <p:val>
                                            <p:strVal val="ppt_y"/>
                                          </p:val>
                                        </p:tav>
                                        <p:tav tm="100000">
                                          <p:val>
                                            <p:strVal val="ppt_y-.1"/>
                                          </p:val>
                                        </p:tav>
                                      </p:tavLst>
                                    </p:anim>
                                    <p:set>
                                      <p:cBhvr>
                                        <p:cTn id="29" dur="1" fill="hold">
                                          <p:stCondLst>
                                            <p:cond delay="999"/>
                                          </p:stCondLst>
                                        </p:cTn>
                                        <p:tgtEl>
                                          <p:spTgt spid="4104"/>
                                        </p:tgtEl>
                                        <p:attrNameLst>
                                          <p:attrName>style.visibility</p:attrName>
                                        </p:attrNameLst>
                                      </p:cBhvr>
                                      <p:to>
                                        <p:strVal val="hidden"/>
                                      </p:to>
                                    </p:set>
                                  </p:childTnLst>
                                </p:cTn>
                              </p:par>
                            </p:childTnLst>
                          </p:cTn>
                        </p:par>
                        <p:par>
                          <p:cTn id="30" fill="hold" nodeType="afterGroup">
                            <p:stCondLst>
                              <p:cond delay="1000"/>
                            </p:stCondLst>
                            <p:childTnLst>
                              <p:par>
                                <p:cTn id="31" presetID="42" presetClass="entr" presetSubtype="0" fill="hold" nodeType="afterEffect">
                                  <p:stCondLst>
                                    <p:cond delay="0"/>
                                  </p:stCondLst>
                                  <p:childTnLst>
                                    <p:set>
                                      <p:cBhvr>
                                        <p:cTn id="32" dur="1" fill="hold">
                                          <p:stCondLst>
                                            <p:cond delay="0"/>
                                          </p:stCondLst>
                                        </p:cTn>
                                        <p:tgtEl>
                                          <p:spTgt spid="4105"/>
                                        </p:tgtEl>
                                        <p:attrNameLst>
                                          <p:attrName>style.visibility</p:attrName>
                                        </p:attrNameLst>
                                      </p:cBhvr>
                                      <p:to>
                                        <p:strVal val="visible"/>
                                      </p:to>
                                    </p:set>
                                    <p:animEffect transition="in" filter="fade">
                                      <p:cBhvr>
                                        <p:cTn id="33" dur="1000"/>
                                        <p:tgtEl>
                                          <p:spTgt spid="4105"/>
                                        </p:tgtEl>
                                      </p:cBhvr>
                                    </p:animEffect>
                                    <p:anim calcmode="lin" valueType="num">
                                      <p:cBhvr>
                                        <p:cTn id="34" dur="1000" fill="hold"/>
                                        <p:tgtEl>
                                          <p:spTgt spid="4105"/>
                                        </p:tgtEl>
                                        <p:attrNameLst>
                                          <p:attrName>ppt_x</p:attrName>
                                        </p:attrNameLst>
                                      </p:cBhvr>
                                      <p:tavLst>
                                        <p:tav tm="0">
                                          <p:val>
                                            <p:strVal val="#ppt_x"/>
                                          </p:val>
                                        </p:tav>
                                        <p:tav tm="100000">
                                          <p:val>
                                            <p:strVal val="#ppt_x"/>
                                          </p:val>
                                        </p:tav>
                                      </p:tavLst>
                                    </p:anim>
                                    <p:anim calcmode="lin" valueType="num">
                                      <p:cBhvr>
                                        <p:cTn id="35" dur="1000" fill="hold"/>
                                        <p:tgtEl>
                                          <p:spTgt spid="4105"/>
                                        </p:tgtEl>
                                        <p:attrNameLst>
                                          <p:attrName>ppt_y</p:attrName>
                                        </p:attrNameLst>
                                      </p:cBhvr>
                                      <p:tavLst>
                                        <p:tav tm="0">
                                          <p:val>
                                            <p:strVal val="#ppt_y+.1"/>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47" presetClass="exit" presetSubtype="0" fill="hold" nodeType="clickEffect">
                                  <p:stCondLst>
                                    <p:cond delay="0"/>
                                  </p:stCondLst>
                                  <p:childTnLst>
                                    <p:animEffect transition="out" filter="fade">
                                      <p:cBhvr>
                                        <p:cTn id="39" dur="1000"/>
                                        <p:tgtEl>
                                          <p:spTgt spid="4105"/>
                                        </p:tgtEl>
                                      </p:cBhvr>
                                    </p:animEffect>
                                    <p:anim calcmode="lin" valueType="num">
                                      <p:cBhvr>
                                        <p:cTn id="40" dur="1000"/>
                                        <p:tgtEl>
                                          <p:spTgt spid="4105"/>
                                        </p:tgtEl>
                                        <p:attrNameLst>
                                          <p:attrName>ppt_x</p:attrName>
                                        </p:attrNameLst>
                                      </p:cBhvr>
                                      <p:tavLst>
                                        <p:tav tm="0">
                                          <p:val>
                                            <p:strVal val="ppt_x"/>
                                          </p:val>
                                        </p:tav>
                                        <p:tav tm="100000">
                                          <p:val>
                                            <p:strVal val="ppt_x"/>
                                          </p:val>
                                        </p:tav>
                                      </p:tavLst>
                                    </p:anim>
                                    <p:anim calcmode="lin" valueType="num">
                                      <p:cBhvr>
                                        <p:cTn id="41" dur="1000"/>
                                        <p:tgtEl>
                                          <p:spTgt spid="4105"/>
                                        </p:tgtEl>
                                        <p:attrNameLst>
                                          <p:attrName>ppt_y</p:attrName>
                                        </p:attrNameLst>
                                      </p:cBhvr>
                                      <p:tavLst>
                                        <p:tav tm="0">
                                          <p:val>
                                            <p:strVal val="ppt_y"/>
                                          </p:val>
                                        </p:tav>
                                        <p:tav tm="100000">
                                          <p:val>
                                            <p:strVal val="ppt_y-.1"/>
                                          </p:val>
                                        </p:tav>
                                      </p:tavLst>
                                    </p:anim>
                                    <p:set>
                                      <p:cBhvr>
                                        <p:cTn id="42" dur="1" fill="hold">
                                          <p:stCondLst>
                                            <p:cond delay="999"/>
                                          </p:stCondLst>
                                        </p:cTn>
                                        <p:tgtEl>
                                          <p:spTgt spid="410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9" name="Picture 5" descr="20041112072430262">
            <a:extLst>
              <a:ext uri="{FF2B5EF4-FFF2-40B4-BE49-F238E27FC236}">
                <a16:creationId xmlns:a16="http://schemas.microsoft.com/office/drawing/2014/main" id="{B1705D96-B963-41E9-8E3D-3DE520B8503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021" t="51680"/>
          <a:stretch>
            <a:fillRect/>
          </a:stretch>
        </p:blipFill>
        <p:spPr bwMode="auto">
          <a:xfrm rot="10800000">
            <a:off x="334800" y="1658290"/>
            <a:ext cx="4249738"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0" name="Text Box 6">
            <a:extLst>
              <a:ext uri="{FF2B5EF4-FFF2-40B4-BE49-F238E27FC236}">
                <a16:creationId xmlns:a16="http://schemas.microsoft.com/office/drawing/2014/main" id="{44C6B202-7C40-436C-BE35-AFBA1C8C80C0}"/>
              </a:ext>
            </a:extLst>
          </p:cNvPr>
          <p:cNvSpPr txBox="1">
            <a:spLocks noChangeArrowheads="1"/>
          </p:cNvSpPr>
          <p:nvPr/>
        </p:nvSpPr>
        <p:spPr bwMode="auto">
          <a:xfrm>
            <a:off x="4646027" y="1475099"/>
            <a:ext cx="6938519" cy="39078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anose="020B0604020202020204" pitchFamily="34" charset="0"/>
                <a:ea typeface="宋体" panose="02010600030101010101" pitchFamily="2" charset="-122"/>
              </a:defRPr>
            </a:lvl1pPr>
            <a:lvl2pPr marL="800100" indent="-342900">
              <a:defRPr>
                <a:solidFill>
                  <a:schemeClr val="tx1"/>
                </a:solidFill>
                <a:latin typeface="Arial" panose="020B0604020202020204" pitchFamily="34" charset="0"/>
                <a:ea typeface="宋体" panose="02010600030101010101" pitchFamily="2" charset="-122"/>
              </a:defRPr>
            </a:lvl2pPr>
            <a:lvl3pPr marL="1257300" indent="-342900">
              <a:defRPr>
                <a:solidFill>
                  <a:schemeClr val="tx1"/>
                </a:solidFill>
                <a:latin typeface="Arial" panose="020B0604020202020204" pitchFamily="34" charset="0"/>
                <a:ea typeface="宋体" panose="02010600030101010101" pitchFamily="2" charset="-122"/>
              </a:defRPr>
            </a:lvl3pPr>
            <a:lvl4pPr marL="1714500" indent="-342900">
              <a:defRPr>
                <a:solidFill>
                  <a:schemeClr val="tx1"/>
                </a:solidFill>
                <a:latin typeface="Arial" panose="020B0604020202020204" pitchFamily="34" charset="0"/>
                <a:ea typeface="宋体" panose="02010600030101010101" pitchFamily="2" charset="-122"/>
              </a:defRPr>
            </a:lvl4pPr>
            <a:lvl5pPr marL="2171700" indent="-342900">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50000"/>
              </a:lnSpc>
              <a:buFontTx/>
              <a:buChar char="•"/>
            </a:pPr>
            <a:r>
              <a:rPr lang="zh-CN" altLang="en-US" sz="2400" b="1" kern="100" dirty="0">
                <a:solidFill>
                  <a:srgbClr val="014B88"/>
                </a:solidFill>
                <a:latin typeface="仿宋_GB2312"/>
                <a:ea typeface="+mn-ea"/>
                <a:cs typeface="Times New Roman" panose="02020603050405020304" pitchFamily="18" charset="0"/>
              </a:rPr>
              <a:t>树是无回路的有向连通图</a:t>
            </a:r>
          </a:p>
          <a:p>
            <a:pPr>
              <a:lnSpc>
                <a:spcPct val="150000"/>
              </a:lnSpc>
              <a:buFontTx/>
              <a:buChar char="•"/>
            </a:pPr>
            <a:r>
              <a:rPr lang="zh-CN" altLang="en-US" sz="2400" b="1" kern="100" dirty="0">
                <a:solidFill>
                  <a:srgbClr val="014B88"/>
                </a:solidFill>
                <a:latin typeface="仿宋_GB2312"/>
                <a:ea typeface="+mn-ea"/>
                <a:cs typeface="Times New Roman" panose="02020603050405020304" pitchFamily="18" charset="0"/>
              </a:rPr>
              <a:t>树是</a:t>
            </a:r>
            <a:r>
              <a:rPr lang="en-US" altLang="zh-CN" sz="2400" b="1" kern="100" dirty="0">
                <a:solidFill>
                  <a:srgbClr val="014B88"/>
                </a:solidFill>
                <a:latin typeface="仿宋_GB2312"/>
                <a:ea typeface="+mn-ea"/>
                <a:cs typeface="Times New Roman" panose="02020603050405020304" pitchFamily="18" charset="0"/>
              </a:rPr>
              <a:t>n(n&gt;=0)</a:t>
            </a:r>
            <a:r>
              <a:rPr lang="zh-CN" altLang="en-US" sz="2400" b="1" kern="100" dirty="0">
                <a:solidFill>
                  <a:srgbClr val="014B88"/>
                </a:solidFill>
                <a:latin typeface="仿宋_GB2312"/>
                <a:ea typeface="+mn-ea"/>
                <a:cs typeface="Times New Roman" panose="02020603050405020304" pitchFamily="18" charset="0"/>
              </a:rPr>
              <a:t>个结点的有限集。</a:t>
            </a:r>
          </a:p>
          <a:p>
            <a:pPr>
              <a:lnSpc>
                <a:spcPct val="150000"/>
              </a:lnSpc>
            </a:pPr>
            <a:r>
              <a:rPr lang="zh-CN" altLang="en-US" sz="2400" b="1" kern="100" dirty="0">
                <a:solidFill>
                  <a:srgbClr val="014B88"/>
                </a:solidFill>
                <a:latin typeface="仿宋_GB2312"/>
                <a:ea typeface="+mn-ea"/>
                <a:cs typeface="Times New Roman" panose="02020603050405020304" pitchFamily="18" charset="0"/>
              </a:rPr>
              <a:t>在任意一棵非空树中：</a:t>
            </a:r>
          </a:p>
          <a:p>
            <a:pPr>
              <a:lnSpc>
                <a:spcPct val="150000"/>
              </a:lnSpc>
            </a:pPr>
            <a:r>
              <a:rPr lang="en-US" altLang="zh-CN" sz="2400" b="1" kern="100" dirty="0">
                <a:solidFill>
                  <a:srgbClr val="014B88"/>
                </a:solidFill>
                <a:latin typeface="仿宋_GB2312"/>
                <a:ea typeface="+mn-ea"/>
                <a:cs typeface="Times New Roman" panose="02020603050405020304" pitchFamily="18" charset="0"/>
              </a:rPr>
              <a:t>(1)</a:t>
            </a:r>
            <a:r>
              <a:rPr lang="zh-CN" altLang="en-US" sz="2400" b="1" kern="100" dirty="0">
                <a:solidFill>
                  <a:srgbClr val="014B88"/>
                </a:solidFill>
                <a:latin typeface="仿宋_GB2312"/>
                <a:ea typeface="+mn-ea"/>
                <a:cs typeface="Times New Roman" panose="02020603050405020304" pitchFamily="18" charset="0"/>
              </a:rPr>
              <a:t>有且仅有一个特定的称为根的结点；</a:t>
            </a:r>
          </a:p>
          <a:p>
            <a:pPr>
              <a:lnSpc>
                <a:spcPct val="150000"/>
              </a:lnSpc>
            </a:pPr>
            <a:r>
              <a:rPr lang="en-US" altLang="zh-CN" sz="2400" b="1" kern="100" dirty="0">
                <a:solidFill>
                  <a:srgbClr val="014B88"/>
                </a:solidFill>
                <a:latin typeface="仿宋_GB2312"/>
                <a:ea typeface="+mn-ea"/>
                <a:cs typeface="Times New Roman" panose="02020603050405020304" pitchFamily="18" charset="0"/>
              </a:rPr>
              <a:t>(2)</a:t>
            </a:r>
            <a:r>
              <a:rPr lang="zh-CN" altLang="en-US" sz="2400" b="1" kern="100" dirty="0">
                <a:solidFill>
                  <a:srgbClr val="014B88"/>
                </a:solidFill>
                <a:latin typeface="仿宋_GB2312"/>
                <a:ea typeface="+mn-ea"/>
                <a:cs typeface="Times New Roman" panose="02020603050405020304" pitchFamily="18" charset="0"/>
              </a:rPr>
              <a:t>当</a:t>
            </a:r>
            <a:r>
              <a:rPr lang="en-US" altLang="zh-CN" sz="2400" b="1" kern="100" dirty="0">
                <a:solidFill>
                  <a:srgbClr val="014B88"/>
                </a:solidFill>
                <a:latin typeface="仿宋_GB2312"/>
                <a:ea typeface="+mn-ea"/>
                <a:cs typeface="Times New Roman" panose="02020603050405020304" pitchFamily="18" charset="0"/>
              </a:rPr>
              <a:t>n&gt;1</a:t>
            </a:r>
            <a:r>
              <a:rPr lang="zh-CN" altLang="en-US" sz="2400" b="1" kern="100" dirty="0">
                <a:solidFill>
                  <a:srgbClr val="014B88"/>
                </a:solidFill>
                <a:latin typeface="仿宋_GB2312"/>
                <a:ea typeface="+mn-ea"/>
                <a:cs typeface="Times New Roman" panose="02020603050405020304" pitchFamily="18" charset="0"/>
              </a:rPr>
              <a:t>时</a:t>
            </a:r>
            <a:r>
              <a:rPr lang="en-US" altLang="zh-CN" sz="2400" b="1" kern="100" dirty="0">
                <a:solidFill>
                  <a:srgbClr val="014B88"/>
                </a:solidFill>
                <a:latin typeface="仿宋_GB2312"/>
                <a:ea typeface="+mn-ea"/>
                <a:cs typeface="Times New Roman" panose="02020603050405020304" pitchFamily="18" charset="0"/>
              </a:rPr>
              <a:t>,</a:t>
            </a:r>
            <a:r>
              <a:rPr lang="zh-CN" altLang="en-US" sz="2400" b="1" kern="100" dirty="0">
                <a:solidFill>
                  <a:srgbClr val="014B88"/>
                </a:solidFill>
                <a:latin typeface="仿宋_GB2312"/>
                <a:ea typeface="+mn-ea"/>
                <a:cs typeface="Times New Roman" panose="02020603050405020304" pitchFamily="18" charset="0"/>
              </a:rPr>
              <a:t>其余结点可分为</a:t>
            </a:r>
            <a:r>
              <a:rPr lang="en-US" altLang="zh-CN" sz="2400" b="1" kern="100" dirty="0">
                <a:solidFill>
                  <a:srgbClr val="014B88"/>
                </a:solidFill>
                <a:latin typeface="仿宋_GB2312"/>
                <a:ea typeface="+mn-ea"/>
                <a:cs typeface="Times New Roman" panose="02020603050405020304" pitchFamily="18" charset="0"/>
              </a:rPr>
              <a:t>m(m&gt;0)</a:t>
            </a:r>
            <a:r>
              <a:rPr lang="zh-CN" altLang="en-US" sz="2400" b="1" kern="100" dirty="0">
                <a:solidFill>
                  <a:srgbClr val="014B88"/>
                </a:solidFill>
                <a:latin typeface="仿宋_GB2312"/>
                <a:ea typeface="+mn-ea"/>
                <a:cs typeface="Times New Roman" panose="02020603050405020304" pitchFamily="18" charset="0"/>
              </a:rPr>
              <a:t>个互不相交的有限集</a:t>
            </a:r>
            <a:r>
              <a:rPr lang="en-US" altLang="zh-CN" sz="2400" b="1" kern="100" dirty="0">
                <a:solidFill>
                  <a:srgbClr val="014B88"/>
                </a:solidFill>
                <a:latin typeface="仿宋_GB2312"/>
                <a:ea typeface="+mn-ea"/>
                <a:cs typeface="Times New Roman" panose="02020603050405020304" pitchFamily="18" charset="0"/>
              </a:rPr>
              <a:t>T1,T2,...Tm,</a:t>
            </a:r>
            <a:r>
              <a:rPr lang="zh-CN" altLang="en-US" sz="2400" b="1" dirty="0">
                <a:solidFill>
                  <a:srgbClr val="FF0000"/>
                </a:solidFill>
              </a:rPr>
              <a:t>其中每一个集合本身又是一棵树</a:t>
            </a:r>
            <a:r>
              <a:rPr lang="en-US" altLang="zh-CN" sz="2400" b="1" kern="100" dirty="0">
                <a:solidFill>
                  <a:srgbClr val="014B88"/>
                </a:solidFill>
                <a:latin typeface="仿宋_GB2312"/>
                <a:ea typeface="+mn-ea"/>
                <a:cs typeface="Times New Roman" panose="02020603050405020304" pitchFamily="18" charset="0"/>
              </a:rPr>
              <a:t>,</a:t>
            </a:r>
            <a:r>
              <a:rPr lang="zh-CN" altLang="en-US" sz="2400" b="1" kern="100" dirty="0">
                <a:solidFill>
                  <a:srgbClr val="014B88"/>
                </a:solidFill>
                <a:latin typeface="仿宋_GB2312"/>
                <a:ea typeface="+mn-ea"/>
                <a:cs typeface="Times New Roman" panose="02020603050405020304" pitchFamily="18" charset="0"/>
              </a:rPr>
              <a:t>并且称为根的子树</a:t>
            </a:r>
            <a:r>
              <a:rPr lang="en-US" altLang="zh-CN" sz="2400" b="1" kern="100" dirty="0">
                <a:solidFill>
                  <a:srgbClr val="014B88"/>
                </a:solidFill>
                <a:latin typeface="仿宋_GB2312"/>
                <a:ea typeface="+mn-ea"/>
                <a:cs typeface="Times New Roman" panose="02020603050405020304" pitchFamily="18" charset="0"/>
              </a:rPr>
              <a:t>.</a:t>
            </a:r>
          </a:p>
        </p:txBody>
      </p:sp>
      <p:sp>
        <p:nvSpPr>
          <p:cNvPr id="8" name="TextBox 36">
            <a:extLst>
              <a:ext uri="{FF2B5EF4-FFF2-40B4-BE49-F238E27FC236}">
                <a16:creationId xmlns:a16="http://schemas.microsoft.com/office/drawing/2014/main" id="{B0D4DD09-519D-4F4B-A830-47D1B621918C}"/>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什么是树？</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149"/>
                                        </p:tgtEl>
                                        <p:attrNameLst>
                                          <p:attrName>style.visibility</p:attrName>
                                        </p:attrNameLst>
                                      </p:cBhvr>
                                      <p:to>
                                        <p:strVal val="visible"/>
                                      </p:to>
                                    </p:set>
                                  </p:childTnLst>
                                </p:cTn>
                              </p:par>
                              <p:par>
                                <p:cTn id="7" presetID="10" presetClass="exit" presetSubtype="0" fill="hold" nodeType="withEffect">
                                  <p:stCondLst>
                                    <p:cond delay="0"/>
                                  </p:stCondLst>
                                  <p:childTnLst>
                                    <p:animEffect transition="out" filter="fade">
                                      <p:cBhvr>
                                        <p:cTn id="8" dur="500"/>
                                        <p:tgtEl>
                                          <p:spTgt spid="6149"/>
                                        </p:tgtEl>
                                      </p:cBhvr>
                                    </p:animEffect>
                                    <p:set>
                                      <p:cBhvr>
                                        <p:cTn id="9" dur="1" fill="hold">
                                          <p:stCondLst>
                                            <p:cond delay="499"/>
                                          </p:stCondLst>
                                        </p:cTn>
                                        <p:tgtEl>
                                          <p:spTgt spid="6149"/>
                                        </p:tgtEl>
                                        <p:attrNameLst>
                                          <p:attrName>style.visibility</p:attrName>
                                        </p:attrNameLst>
                                      </p:cBhvr>
                                      <p:to>
                                        <p:strVal val="hidden"/>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150">
                                            <p:txEl>
                                              <p:pRg st="0" end="0"/>
                                            </p:txEl>
                                          </p:spTgt>
                                        </p:tgtEl>
                                        <p:attrNameLst>
                                          <p:attrName>style.visibility</p:attrName>
                                        </p:attrNameLst>
                                      </p:cBhvr>
                                      <p:to>
                                        <p:strVal val="visible"/>
                                      </p:to>
                                    </p:set>
                                    <p:animEffect transition="in" filter="fade">
                                      <p:cBhvr>
                                        <p:cTn id="14" dur="1000"/>
                                        <p:tgtEl>
                                          <p:spTgt spid="6150">
                                            <p:txEl>
                                              <p:pRg st="0" end="0"/>
                                            </p:txEl>
                                          </p:spTgt>
                                        </p:tgtEl>
                                      </p:cBhvr>
                                    </p:animEffect>
                                    <p:anim calcmode="lin" valueType="num">
                                      <p:cBhvr>
                                        <p:cTn id="15" dur="1000" fill="hold"/>
                                        <p:tgtEl>
                                          <p:spTgt spid="6150">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615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150">
                                            <p:txEl>
                                              <p:pRg st="1" end="1"/>
                                            </p:txEl>
                                          </p:spTgt>
                                        </p:tgtEl>
                                        <p:attrNameLst>
                                          <p:attrName>style.visibility</p:attrName>
                                        </p:attrNameLst>
                                      </p:cBhvr>
                                      <p:to>
                                        <p:strVal val="visible"/>
                                      </p:to>
                                    </p:set>
                                    <p:animEffect transition="in" filter="fade">
                                      <p:cBhvr>
                                        <p:cTn id="21" dur="1000"/>
                                        <p:tgtEl>
                                          <p:spTgt spid="6150">
                                            <p:txEl>
                                              <p:pRg st="1" end="1"/>
                                            </p:txEl>
                                          </p:spTgt>
                                        </p:tgtEl>
                                      </p:cBhvr>
                                    </p:animEffect>
                                    <p:anim calcmode="lin" valueType="num">
                                      <p:cBhvr>
                                        <p:cTn id="22" dur="1000" fill="hold"/>
                                        <p:tgtEl>
                                          <p:spTgt spid="6150">
                                            <p:txEl>
                                              <p:pRg st="1" end="1"/>
                                            </p:txEl>
                                          </p:spTgt>
                                        </p:tgtEl>
                                        <p:attrNameLst>
                                          <p:attrName>ppt_x</p:attrName>
                                        </p:attrNameLst>
                                      </p:cBhvr>
                                      <p:tavLst>
                                        <p:tav tm="0">
                                          <p:val>
                                            <p:strVal val="#ppt_x"/>
                                          </p:val>
                                        </p:tav>
                                        <p:tav tm="100000">
                                          <p:val>
                                            <p:strVal val="#ppt_x"/>
                                          </p:val>
                                        </p:tav>
                                      </p:tavLst>
                                    </p:anim>
                                    <p:anim calcmode="lin" valueType="num">
                                      <p:cBhvr>
                                        <p:cTn id="23" dur="1000" fill="hold"/>
                                        <p:tgtEl>
                                          <p:spTgt spid="615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150">
                                            <p:txEl>
                                              <p:pRg st="2" end="2"/>
                                            </p:txEl>
                                          </p:spTgt>
                                        </p:tgtEl>
                                        <p:attrNameLst>
                                          <p:attrName>style.visibility</p:attrName>
                                        </p:attrNameLst>
                                      </p:cBhvr>
                                      <p:to>
                                        <p:strVal val="visible"/>
                                      </p:to>
                                    </p:set>
                                    <p:animEffect transition="in" filter="fade">
                                      <p:cBhvr>
                                        <p:cTn id="28" dur="1000"/>
                                        <p:tgtEl>
                                          <p:spTgt spid="6150">
                                            <p:txEl>
                                              <p:pRg st="2" end="2"/>
                                            </p:txEl>
                                          </p:spTgt>
                                        </p:tgtEl>
                                      </p:cBhvr>
                                    </p:animEffect>
                                    <p:anim calcmode="lin" valueType="num">
                                      <p:cBhvr>
                                        <p:cTn id="29" dur="1000" fill="hold"/>
                                        <p:tgtEl>
                                          <p:spTgt spid="6150">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6150">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150">
                                            <p:txEl>
                                              <p:pRg st="3" end="3"/>
                                            </p:txEl>
                                          </p:spTgt>
                                        </p:tgtEl>
                                        <p:attrNameLst>
                                          <p:attrName>style.visibility</p:attrName>
                                        </p:attrNameLst>
                                      </p:cBhvr>
                                      <p:to>
                                        <p:strVal val="visible"/>
                                      </p:to>
                                    </p:set>
                                    <p:animEffect transition="in" filter="fade">
                                      <p:cBhvr>
                                        <p:cTn id="35" dur="1000"/>
                                        <p:tgtEl>
                                          <p:spTgt spid="6150">
                                            <p:txEl>
                                              <p:pRg st="3" end="3"/>
                                            </p:txEl>
                                          </p:spTgt>
                                        </p:tgtEl>
                                      </p:cBhvr>
                                    </p:animEffect>
                                    <p:anim calcmode="lin" valueType="num">
                                      <p:cBhvr>
                                        <p:cTn id="36" dur="1000" fill="hold"/>
                                        <p:tgtEl>
                                          <p:spTgt spid="6150">
                                            <p:txEl>
                                              <p:pRg st="3" end="3"/>
                                            </p:txEl>
                                          </p:spTgt>
                                        </p:tgtEl>
                                        <p:attrNameLst>
                                          <p:attrName>ppt_x</p:attrName>
                                        </p:attrNameLst>
                                      </p:cBhvr>
                                      <p:tavLst>
                                        <p:tav tm="0">
                                          <p:val>
                                            <p:strVal val="#ppt_x"/>
                                          </p:val>
                                        </p:tav>
                                        <p:tav tm="100000">
                                          <p:val>
                                            <p:strVal val="#ppt_x"/>
                                          </p:val>
                                        </p:tav>
                                      </p:tavLst>
                                    </p:anim>
                                    <p:anim calcmode="lin" valueType="num">
                                      <p:cBhvr>
                                        <p:cTn id="37" dur="1000" fill="hold"/>
                                        <p:tgtEl>
                                          <p:spTgt spid="6150">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150">
                                            <p:txEl>
                                              <p:pRg st="4" end="4"/>
                                            </p:txEl>
                                          </p:spTgt>
                                        </p:tgtEl>
                                        <p:attrNameLst>
                                          <p:attrName>style.visibility</p:attrName>
                                        </p:attrNameLst>
                                      </p:cBhvr>
                                      <p:to>
                                        <p:strVal val="visible"/>
                                      </p:to>
                                    </p:set>
                                    <p:animEffect transition="in" filter="fade">
                                      <p:cBhvr>
                                        <p:cTn id="42" dur="1000"/>
                                        <p:tgtEl>
                                          <p:spTgt spid="6150">
                                            <p:txEl>
                                              <p:pRg st="4" end="4"/>
                                            </p:txEl>
                                          </p:spTgt>
                                        </p:tgtEl>
                                      </p:cBhvr>
                                    </p:animEffect>
                                    <p:anim calcmode="lin" valueType="num">
                                      <p:cBhvr>
                                        <p:cTn id="43" dur="1000" fill="hold"/>
                                        <p:tgtEl>
                                          <p:spTgt spid="6150">
                                            <p:txEl>
                                              <p:pRg st="4" end="4"/>
                                            </p:txEl>
                                          </p:spTgt>
                                        </p:tgtEl>
                                        <p:attrNameLst>
                                          <p:attrName>ppt_x</p:attrName>
                                        </p:attrNameLst>
                                      </p:cBhvr>
                                      <p:tavLst>
                                        <p:tav tm="0">
                                          <p:val>
                                            <p:strVal val="#ppt_x"/>
                                          </p:val>
                                        </p:tav>
                                        <p:tav tm="100000">
                                          <p:val>
                                            <p:strVal val="#ppt_x"/>
                                          </p:val>
                                        </p:tav>
                                      </p:tavLst>
                                    </p:anim>
                                    <p:anim calcmode="lin" valueType="num">
                                      <p:cBhvr>
                                        <p:cTn id="44" dur="1000" fill="hold"/>
                                        <p:tgtEl>
                                          <p:spTgt spid="6150">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50" grpId="0" uiExpand="1" build="allAtOnce"/>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9" name="Text Box 7">
            <a:extLst>
              <a:ext uri="{FF2B5EF4-FFF2-40B4-BE49-F238E27FC236}">
                <a16:creationId xmlns:a16="http://schemas.microsoft.com/office/drawing/2014/main" id="{7343BE37-1F91-4FF5-A0CA-DDBA22414400}"/>
              </a:ext>
            </a:extLst>
          </p:cNvPr>
          <p:cNvSpPr txBox="1">
            <a:spLocks noChangeArrowheads="1"/>
          </p:cNvSpPr>
          <p:nvPr/>
        </p:nvSpPr>
        <p:spPr bwMode="auto">
          <a:xfrm>
            <a:off x="5033972" y="1480311"/>
            <a:ext cx="6550562" cy="41549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buFontTx/>
              <a:buChar char="•"/>
            </a:pPr>
            <a:r>
              <a:rPr lang="zh-CN" altLang="en-US" sz="2400" dirty="0"/>
              <a:t>结点拥有的子树数目称为结点的</a:t>
            </a:r>
            <a:r>
              <a:rPr lang="zh-CN" altLang="en-US" sz="2400" b="1" dirty="0">
                <a:solidFill>
                  <a:srgbClr val="FF0000"/>
                </a:solidFill>
              </a:rPr>
              <a:t>度</a:t>
            </a:r>
            <a:r>
              <a:rPr lang="zh-CN" altLang="en-US" sz="2400" dirty="0"/>
              <a:t>。</a:t>
            </a:r>
          </a:p>
          <a:p>
            <a:pPr>
              <a:buFontTx/>
              <a:buChar char="•"/>
            </a:pPr>
            <a:r>
              <a:rPr lang="zh-CN" altLang="en-US" sz="2400" dirty="0"/>
              <a:t>度为</a:t>
            </a:r>
            <a:r>
              <a:rPr lang="en-US" altLang="zh-CN" sz="2400" dirty="0"/>
              <a:t>0</a:t>
            </a:r>
            <a:r>
              <a:rPr lang="zh-CN" altLang="en-US" sz="2400" dirty="0"/>
              <a:t>的结点称为</a:t>
            </a:r>
            <a:r>
              <a:rPr lang="zh-CN" altLang="en-US" sz="2400" b="1" dirty="0">
                <a:solidFill>
                  <a:srgbClr val="FF0000"/>
                </a:solidFill>
              </a:rPr>
              <a:t>叶子结点</a:t>
            </a:r>
            <a:r>
              <a:rPr lang="zh-CN" altLang="en-US" sz="2400" dirty="0"/>
              <a:t>。</a:t>
            </a:r>
          </a:p>
          <a:p>
            <a:pPr>
              <a:buFontTx/>
              <a:buChar char="•"/>
            </a:pPr>
            <a:r>
              <a:rPr lang="zh-CN" altLang="en-US" sz="2400" b="1" dirty="0">
                <a:solidFill>
                  <a:srgbClr val="FF0000"/>
                </a:solidFill>
              </a:rPr>
              <a:t>树的度</a:t>
            </a:r>
            <a:r>
              <a:rPr lang="zh-CN" altLang="en-US" sz="2400" dirty="0"/>
              <a:t>是树内各结点的度最大值。</a:t>
            </a:r>
          </a:p>
          <a:p>
            <a:pPr>
              <a:buFontTx/>
              <a:buChar char="•"/>
            </a:pPr>
            <a:r>
              <a:rPr lang="zh-CN" altLang="en-US" sz="2400" dirty="0"/>
              <a:t>结点的子树的根称为该结点的</a:t>
            </a:r>
            <a:r>
              <a:rPr lang="zh-CN" altLang="en-US" sz="2400" b="1" dirty="0">
                <a:solidFill>
                  <a:srgbClr val="FF0000"/>
                </a:solidFill>
              </a:rPr>
              <a:t>儿子</a:t>
            </a:r>
            <a:r>
              <a:rPr lang="zh-CN" altLang="en-US" sz="2400" dirty="0"/>
              <a:t>，相应地，该结点称为儿子的</a:t>
            </a:r>
            <a:r>
              <a:rPr lang="zh-CN" altLang="en-US" sz="2400" b="1" dirty="0">
                <a:solidFill>
                  <a:srgbClr val="FF0000"/>
                </a:solidFill>
              </a:rPr>
              <a:t>父亲</a:t>
            </a:r>
            <a:r>
              <a:rPr lang="zh-CN" altLang="en-US" sz="2400" dirty="0"/>
              <a:t>。</a:t>
            </a:r>
          </a:p>
          <a:p>
            <a:pPr>
              <a:buFontTx/>
              <a:buChar char="•"/>
            </a:pPr>
            <a:r>
              <a:rPr lang="zh-CN" altLang="en-US" sz="2400" dirty="0"/>
              <a:t>同一个父亲的孩子之间互称</a:t>
            </a:r>
            <a:r>
              <a:rPr lang="zh-CN" altLang="en-US" sz="2400" b="1" dirty="0">
                <a:solidFill>
                  <a:srgbClr val="FF0000"/>
                </a:solidFill>
              </a:rPr>
              <a:t>兄弟</a:t>
            </a:r>
            <a:r>
              <a:rPr lang="zh-CN" altLang="en-US" sz="2400" dirty="0"/>
              <a:t>。</a:t>
            </a:r>
          </a:p>
          <a:p>
            <a:pPr>
              <a:buFontTx/>
              <a:buChar char="•"/>
            </a:pPr>
            <a:r>
              <a:rPr lang="zh-CN" altLang="en-US" sz="2400" dirty="0"/>
              <a:t>结点的</a:t>
            </a:r>
            <a:r>
              <a:rPr lang="zh-CN" altLang="en-US" sz="2400" b="1" dirty="0">
                <a:solidFill>
                  <a:srgbClr val="FF0000"/>
                </a:solidFill>
              </a:rPr>
              <a:t>祖先</a:t>
            </a:r>
            <a:r>
              <a:rPr lang="zh-CN" altLang="en-US" sz="2400" dirty="0"/>
              <a:t>是从根到该结点所经分支上的所有结点。</a:t>
            </a:r>
          </a:p>
          <a:p>
            <a:pPr>
              <a:buFontTx/>
              <a:buChar char="•"/>
            </a:pPr>
            <a:r>
              <a:rPr lang="zh-CN" altLang="en-US" sz="2400" dirty="0"/>
              <a:t>以某结点为根的子树中的任一结点都称为该结点的</a:t>
            </a:r>
            <a:r>
              <a:rPr lang="zh-CN" altLang="en-US" sz="2400" b="1" dirty="0">
                <a:solidFill>
                  <a:srgbClr val="FF0000"/>
                </a:solidFill>
              </a:rPr>
              <a:t>子孙</a:t>
            </a:r>
            <a:r>
              <a:rPr lang="zh-CN" altLang="en-US" sz="2400" dirty="0"/>
              <a:t>。</a:t>
            </a:r>
          </a:p>
          <a:p>
            <a:pPr>
              <a:buFontTx/>
              <a:buChar char="•"/>
            </a:pPr>
            <a:r>
              <a:rPr lang="zh-CN" altLang="en-US" sz="2400" dirty="0"/>
              <a:t>树中结点的最大层次称为树的</a:t>
            </a:r>
            <a:r>
              <a:rPr lang="zh-CN" altLang="en-US" sz="2400" b="1" dirty="0">
                <a:solidFill>
                  <a:srgbClr val="FF0000"/>
                </a:solidFill>
              </a:rPr>
              <a:t>深度</a:t>
            </a:r>
            <a:r>
              <a:rPr lang="zh-CN" altLang="en-US" sz="2400" dirty="0"/>
              <a:t>或</a:t>
            </a:r>
            <a:r>
              <a:rPr lang="zh-CN" altLang="en-US" sz="2400" b="1" dirty="0">
                <a:solidFill>
                  <a:srgbClr val="FF0000"/>
                </a:solidFill>
              </a:rPr>
              <a:t>高度</a:t>
            </a:r>
            <a:r>
              <a:rPr lang="zh-CN" altLang="en-US" sz="2400" dirty="0"/>
              <a:t>。</a:t>
            </a:r>
          </a:p>
        </p:txBody>
      </p:sp>
      <p:grpSp>
        <p:nvGrpSpPr>
          <p:cNvPr id="8253" name="Group 61">
            <a:extLst>
              <a:ext uri="{FF2B5EF4-FFF2-40B4-BE49-F238E27FC236}">
                <a16:creationId xmlns:a16="http://schemas.microsoft.com/office/drawing/2014/main" id="{5A2D7EB7-01EA-4CDE-8393-B1CA2BC82E08}"/>
              </a:ext>
            </a:extLst>
          </p:cNvPr>
          <p:cNvGrpSpPr>
            <a:grpSpLocks/>
          </p:cNvGrpSpPr>
          <p:nvPr/>
        </p:nvGrpSpPr>
        <p:grpSpPr bwMode="auto">
          <a:xfrm>
            <a:off x="467015" y="1377156"/>
            <a:ext cx="4150061" cy="4103687"/>
            <a:chOff x="113" y="1117"/>
            <a:chExt cx="2857" cy="2630"/>
          </a:xfrm>
        </p:grpSpPr>
        <p:sp>
          <p:nvSpPr>
            <p:cNvPr id="8210" name="Oval 18">
              <a:extLst>
                <a:ext uri="{FF2B5EF4-FFF2-40B4-BE49-F238E27FC236}">
                  <a16:creationId xmlns:a16="http://schemas.microsoft.com/office/drawing/2014/main" id="{2F12AA57-7DF2-4EE1-8AFE-E23ED1C9770B}"/>
                </a:ext>
              </a:extLst>
            </p:cNvPr>
            <p:cNvSpPr>
              <a:spLocks noChangeArrowheads="1"/>
            </p:cNvSpPr>
            <p:nvPr/>
          </p:nvSpPr>
          <p:spPr bwMode="auto">
            <a:xfrm>
              <a:off x="1247" y="1117"/>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A</a:t>
              </a:r>
            </a:p>
          </p:txBody>
        </p:sp>
        <p:sp>
          <p:nvSpPr>
            <p:cNvPr id="8211" name="Oval 19">
              <a:extLst>
                <a:ext uri="{FF2B5EF4-FFF2-40B4-BE49-F238E27FC236}">
                  <a16:creationId xmlns:a16="http://schemas.microsoft.com/office/drawing/2014/main" id="{D9BF2E77-F856-469D-808E-FBC7A37BD512}"/>
                </a:ext>
              </a:extLst>
            </p:cNvPr>
            <p:cNvSpPr>
              <a:spLocks noChangeArrowheads="1"/>
            </p:cNvSpPr>
            <p:nvPr/>
          </p:nvSpPr>
          <p:spPr bwMode="auto">
            <a:xfrm>
              <a:off x="431" y="1978"/>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B</a:t>
              </a:r>
            </a:p>
          </p:txBody>
        </p:sp>
        <p:cxnSp>
          <p:nvCxnSpPr>
            <p:cNvPr id="8224" name="AutoShape 32">
              <a:extLst>
                <a:ext uri="{FF2B5EF4-FFF2-40B4-BE49-F238E27FC236}">
                  <a16:creationId xmlns:a16="http://schemas.microsoft.com/office/drawing/2014/main" id="{B0606D42-4A0C-4C54-9C68-068BD03C14C9}"/>
                </a:ext>
              </a:extLst>
            </p:cNvPr>
            <p:cNvCxnSpPr>
              <a:cxnSpLocks noChangeShapeType="1"/>
              <a:stCxn id="8211" idx="3"/>
              <a:endCxn id="8235" idx="0"/>
            </p:cNvCxnSpPr>
            <p:nvPr/>
          </p:nvCxnSpPr>
          <p:spPr bwMode="auto">
            <a:xfrm flipH="1">
              <a:off x="317" y="2326"/>
              <a:ext cx="174" cy="10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25" name="AutoShape 33">
              <a:extLst>
                <a:ext uri="{FF2B5EF4-FFF2-40B4-BE49-F238E27FC236}">
                  <a16:creationId xmlns:a16="http://schemas.microsoft.com/office/drawing/2014/main" id="{70BADF99-DCF8-4BA6-A4CD-039223D31480}"/>
                </a:ext>
              </a:extLst>
            </p:cNvPr>
            <p:cNvCxnSpPr>
              <a:cxnSpLocks noChangeShapeType="1"/>
              <a:stCxn id="8211" idx="5"/>
              <a:endCxn id="8236" idx="0"/>
            </p:cNvCxnSpPr>
            <p:nvPr/>
          </p:nvCxnSpPr>
          <p:spPr bwMode="auto">
            <a:xfrm>
              <a:off x="779" y="2326"/>
              <a:ext cx="173" cy="10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26" name="AutoShape 34">
              <a:extLst>
                <a:ext uri="{FF2B5EF4-FFF2-40B4-BE49-F238E27FC236}">
                  <a16:creationId xmlns:a16="http://schemas.microsoft.com/office/drawing/2014/main" id="{8663F610-E72D-4517-A807-E0CBA63BF64B}"/>
                </a:ext>
              </a:extLst>
            </p:cNvPr>
            <p:cNvCxnSpPr>
              <a:cxnSpLocks noChangeShapeType="1"/>
            </p:cNvCxnSpPr>
            <p:nvPr/>
          </p:nvCxnSpPr>
          <p:spPr bwMode="auto">
            <a:xfrm flipH="1">
              <a:off x="1587" y="2281"/>
              <a:ext cx="491" cy="110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28" name="AutoShape 36">
              <a:extLst>
                <a:ext uri="{FF2B5EF4-FFF2-40B4-BE49-F238E27FC236}">
                  <a16:creationId xmlns:a16="http://schemas.microsoft.com/office/drawing/2014/main" id="{B274BBFA-0A15-4911-89B7-9553AE8A8FBB}"/>
                </a:ext>
              </a:extLst>
            </p:cNvPr>
            <p:cNvCxnSpPr>
              <a:cxnSpLocks noChangeShapeType="1"/>
              <a:endCxn id="8239" idx="0"/>
            </p:cNvCxnSpPr>
            <p:nvPr/>
          </p:nvCxnSpPr>
          <p:spPr bwMode="auto">
            <a:xfrm>
              <a:off x="2366" y="2281"/>
              <a:ext cx="400" cy="105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29" name="AutoShape 37">
              <a:extLst>
                <a:ext uri="{FF2B5EF4-FFF2-40B4-BE49-F238E27FC236}">
                  <a16:creationId xmlns:a16="http://schemas.microsoft.com/office/drawing/2014/main" id="{71823C00-3D16-4E15-893A-869DFD8753EA}"/>
                </a:ext>
              </a:extLst>
            </p:cNvPr>
            <p:cNvCxnSpPr>
              <a:cxnSpLocks noChangeShapeType="1"/>
              <a:stCxn id="8210" idx="3"/>
              <a:endCxn id="8211" idx="0"/>
            </p:cNvCxnSpPr>
            <p:nvPr/>
          </p:nvCxnSpPr>
          <p:spPr bwMode="auto">
            <a:xfrm flipH="1">
              <a:off x="635" y="1465"/>
              <a:ext cx="672" cy="5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30" name="AutoShape 38">
              <a:extLst>
                <a:ext uri="{FF2B5EF4-FFF2-40B4-BE49-F238E27FC236}">
                  <a16:creationId xmlns:a16="http://schemas.microsoft.com/office/drawing/2014/main" id="{43573E37-5B7E-486C-B848-52D9E3E9E5F0}"/>
                </a:ext>
              </a:extLst>
            </p:cNvPr>
            <p:cNvCxnSpPr>
              <a:cxnSpLocks noChangeShapeType="1"/>
              <a:stCxn id="8210" idx="5"/>
              <a:endCxn id="8233" idx="0"/>
            </p:cNvCxnSpPr>
            <p:nvPr/>
          </p:nvCxnSpPr>
          <p:spPr bwMode="auto">
            <a:xfrm>
              <a:off x="1595" y="1465"/>
              <a:ext cx="627" cy="5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33" name="Oval 41">
              <a:extLst>
                <a:ext uri="{FF2B5EF4-FFF2-40B4-BE49-F238E27FC236}">
                  <a16:creationId xmlns:a16="http://schemas.microsoft.com/office/drawing/2014/main" id="{7F2164EC-9C0A-46F0-A364-5169273836F9}"/>
                </a:ext>
              </a:extLst>
            </p:cNvPr>
            <p:cNvSpPr>
              <a:spLocks noChangeArrowheads="1"/>
            </p:cNvSpPr>
            <p:nvPr/>
          </p:nvSpPr>
          <p:spPr bwMode="auto">
            <a:xfrm>
              <a:off x="2018" y="1978"/>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C</a:t>
              </a:r>
            </a:p>
          </p:txBody>
        </p:sp>
        <p:sp>
          <p:nvSpPr>
            <p:cNvPr id="8235" name="Oval 43">
              <a:extLst>
                <a:ext uri="{FF2B5EF4-FFF2-40B4-BE49-F238E27FC236}">
                  <a16:creationId xmlns:a16="http://schemas.microsoft.com/office/drawing/2014/main" id="{D7D003D0-14CF-4F7E-A5FE-0CE412BA0950}"/>
                </a:ext>
              </a:extLst>
            </p:cNvPr>
            <p:cNvSpPr>
              <a:spLocks noChangeArrowheads="1"/>
            </p:cNvSpPr>
            <p:nvPr/>
          </p:nvSpPr>
          <p:spPr bwMode="auto">
            <a:xfrm>
              <a:off x="113" y="3339"/>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D</a:t>
              </a:r>
            </a:p>
          </p:txBody>
        </p:sp>
        <p:sp>
          <p:nvSpPr>
            <p:cNvPr id="8236" name="Oval 44">
              <a:extLst>
                <a:ext uri="{FF2B5EF4-FFF2-40B4-BE49-F238E27FC236}">
                  <a16:creationId xmlns:a16="http://schemas.microsoft.com/office/drawing/2014/main" id="{CF6A30B4-5978-4C16-9FC5-F7DDC4C8E16E}"/>
                </a:ext>
              </a:extLst>
            </p:cNvPr>
            <p:cNvSpPr>
              <a:spLocks noChangeArrowheads="1"/>
            </p:cNvSpPr>
            <p:nvPr/>
          </p:nvSpPr>
          <p:spPr bwMode="auto">
            <a:xfrm>
              <a:off x="748" y="3339"/>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E</a:t>
              </a:r>
            </a:p>
          </p:txBody>
        </p:sp>
        <p:sp>
          <p:nvSpPr>
            <p:cNvPr id="8237" name="Oval 45">
              <a:extLst>
                <a:ext uri="{FF2B5EF4-FFF2-40B4-BE49-F238E27FC236}">
                  <a16:creationId xmlns:a16="http://schemas.microsoft.com/office/drawing/2014/main" id="{5665DE3A-FA3D-4BC2-BA8C-726B80CCFB81}"/>
                </a:ext>
              </a:extLst>
            </p:cNvPr>
            <p:cNvSpPr>
              <a:spLocks noChangeArrowheads="1"/>
            </p:cNvSpPr>
            <p:nvPr/>
          </p:nvSpPr>
          <p:spPr bwMode="auto">
            <a:xfrm>
              <a:off x="1383" y="3339"/>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F</a:t>
              </a:r>
            </a:p>
          </p:txBody>
        </p:sp>
        <p:sp>
          <p:nvSpPr>
            <p:cNvPr id="8238" name="Oval 46">
              <a:extLst>
                <a:ext uri="{FF2B5EF4-FFF2-40B4-BE49-F238E27FC236}">
                  <a16:creationId xmlns:a16="http://schemas.microsoft.com/office/drawing/2014/main" id="{D7712328-5A27-4D73-8779-F1E352A322DB}"/>
                </a:ext>
              </a:extLst>
            </p:cNvPr>
            <p:cNvSpPr>
              <a:spLocks noChangeArrowheads="1"/>
            </p:cNvSpPr>
            <p:nvPr/>
          </p:nvSpPr>
          <p:spPr bwMode="auto">
            <a:xfrm>
              <a:off x="1973" y="3339"/>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G</a:t>
              </a:r>
            </a:p>
          </p:txBody>
        </p:sp>
        <p:sp>
          <p:nvSpPr>
            <p:cNvPr id="8239" name="Oval 47">
              <a:extLst>
                <a:ext uri="{FF2B5EF4-FFF2-40B4-BE49-F238E27FC236}">
                  <a16:creationId xmlns:a16="http://schemas.microsoft.com/office/drawing/2014/main" id="{9EF1E42A-586B-48A3-97B9-9B6746CDA56A}"/>
                </a:ext>
              </a:extLst>
            </p:cNvPr>
            <p:cNvSpPr>
              <a:spLocks noChangeArrowheads="1"/>
            </p:cNvSpPr>
            <p:nvPr/>
          </p:nvSpPr>
          <p:spPr bwMode="auto">
            <a:xfrm>
              <a:off x="2562" y="3339"/>
              <a:ext cx="408" cy="40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H</a:t>
              </a:r>
            </a:p>
          </p:txBody>
        </p:sp>
        <p:cxnSp>
          <p:nvCxnSpPr>
            <p:cNvPr id="8240" name="AutoShape 48">
              <a:extLst>
                <a:ext uri="{FF2B5EF4-FFF2-40B4-BE49-F238E27FC236}">
                  <a16:creationId xmlns:a16="http://schemas.microsoft.com/office/drawing/2014/main" id="{30A8350C-E2A2-4AA7-BBB7-0CA8AF219F2B}"/>
                </a:ext>
              </a:extLst>
            </p:cNvPr>
            <p:cNvCxnSpPr>
              <a:cxnSpLocks noChangeShapeType="1"/>
              <a:stCxn id="8233" idx="4"/>
              <a:endCxn id="8238" idx="0"/>
            </p:cNvCxnSpPr>
            <p:nvPr/>
          </p:nvCxnSpPr>
          <p:spPr bwMode="auto">
            <a:xfrm flipH="1">
              <a:off x="2177" y="2386"/>
              <a:ext cx="45" cy="95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2" name="TextBox 36">
            <a:extLst>
              <a:ext uri="{FF2B5EF4-FFF2-40B4-BE49-F238E27FC236}">
                <a16:creationId xmlns:a16="http://schemas.microsoft.com/office/drawing/2014/main" id="{52CF3818-4461-4806-963B-3BCB2E568C33}"/>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树的相关定义</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199">
                                            <p:txEl>
                                              <p:pRg st="0" end="0"/>
                                            </p:txEl>
                                          </p:spTgt>
                                        </p:tgtEl>
                                        <p:attrNameLst>
                                          <p:attrName>style.visibility</p:attrName>
                                        </p:attrNameLst>
                                      </p:cBhvr>
                                      <p:to>
                                        <p:strVal val="visible"/>
                                      </p:to>
                                    </p:set>
                                    <p:animEffect transition="in" filter="fade">
                                      <p:cBhvr>
                                        <p:cTn id="7" dur="1000"/>
                                        <p:tgtEl>
                                          <p:spTgt spid="8199">
                                            <p:txEl>
                                              <p:pRg st="0" end="0"/>
                                            </p:txEl>
                                          </p:spTgt>
                                        </p:tgtEl>
                                      </p:cBhvr>
                                    </p:animEffect>
                                    <p:anim calcmode="lin" valueType="num">
                                      <p:cBhvr>
                                        <p:cTn id="8" dur="1000" fill="hold"/>
                                        <p:tgtEl>
                                          <p:spTgt spid="819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19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8199">
                                            <p:txEl>
                                              <p:pRg st="1" end="1"/>
                                            </p:txEl>
                                          </p:spTgt>
                                        </p:tgtEl>
                                        <p:attrNameLst>
                                          <p:attrName>style.visibility</p:attrName>
                                        </p:attrNameLst>
                                      </p:cBhvr>
                                      <p:to>
                                        <p:strVal val="visible"/>
                                      </p:to>
                                    </p:set>
                                    <p:animEffect transition="in" filter="fade">
                                      <p:cBhvr>
                                        <p:cTn id="14" dur="1000"/>
                                        <p:tgtEl>
                                          <p:spTgt spid="8199">
                                            <p:txEl>
                                              <p:pRg st="1" end="1"/>
                                            </p:txEl>
                                          </p:spTgt>
                                        </p:tgtEl>
                                      </p:cBhvr>
                                    </p:animEffect>
                                    <p:anim calcmode="lin" valueType="num">
                                      <p:cBhvr>
                                        <p:cTn id="15" dur="1000" fill="hold"/>
                                        <p:tgtEl>
                                          <p:spTgt spid="8199">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8199">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199">
                                            <p:txEl>
                                              <p:pRg st="2" end="2"/>
                                            </p:txEl>
                                          </p:spTgt>
                                        </p:tgtEl>
                                        <p:attrNameLst>
                                          <p:attrName>style.visibility</p:attrName>
                                        </p:attrNameLst>
                                      </p:cBhvr>
                                      <p:to>
                                        <p:strVal val="visible"/>
                                      </p:to>
                                    </p:set>
                                    <p:animEffect transition="in" filter="fade">
                                      <p:cBhvr>
                                        <p:cTn id="21" dur="1000"/>
                                        <p:tgtEl>
                                          <p:spTgt spid="8199">
                                            <p:txEl>
                                              <p:pRg st="2" end="2"/>
                                            </p:txEl>
                                          </p:spTgt>
                                        </p:tgtEl>
                                      </p:cBhvr>
                                    </p:animEffect>
                                    <p:anim calcmode="lin" valueType="num">
                                      <p:cBhvr>
                                        <p:cTn id="22" dur="1000" fill="hold"/>
                                        <p:tgtEl>
                                          <p:spTgt spid="8199">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8199">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199">
                                            <p:txEl>
                                              <p:pRg st="3" end="3"/>
                                            </p:txEl>
                                          </p:spTgt>
                                        </p:tgtEl>
                                        <p:attrNameLst>
                                          <p:attrName>style.visibility</p:attrName>
                                        </p:attrNameLst>
                                      </p:cBhvr>
                                      <p:to>
                                        <p:strVal val="visible"/>
                                      </p:to>
                                    </p:set>
                                    <p:animEffect transition="in" filter="fade">
                                      <p:cBhvr>
                                        <p:cTn id="28" dur="1000"/>
                                        <p:tgtEl>
                                          <p:spTgt spid="8199">
                                            <p:txEl>
                                              <p:pRg st="3" end="3"/>
                                            </p:txEl>
                                          </p:spTgt>
                                        </p:tgtEl>
                                      </p:cBhvr>
                                    </p:animEffect>
                                    <p:anim calcmode="lin" valueType="num">
                                      <p:cBhvr>
                                        <p:cTn id="29" dur="1000" fill="hold"/>
                                        <p:tgtEl>
                                          <p:spTgt spid="8199">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8199">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8199">
                                            <p:txEl>
                                              <p:pRg st="4" end="4"/>
                                            </p:txEl>
                                          </p:spTgt>
                                        </p:tgtEl>
                                        <p:attrNameLst>
                                          <p:attrName>style.visibility</p:attrName>
                                        </p:attrNameLst>
                                      </p:cBhvr>
                                      <p:to>
                                        <p:strVal val="visible"/>
                                      </p:to>
                                    </p:set>
                                    <p:animEffect transition="in" filter="fade">
                                      <p:cBhvr>
                                        <p:cTn id="35" dur="1000"/>
                                        <p:tgtEl>
                                          <p:spTgt spid="8199">
                                            <p:txEl>
                                              <p:pRg st="4" end="4"/>
                                            </p:txEl>
                                          </p:spTgt>
                                        </p:tgtEl>
                                      </p:cBhvr>
                                    </p:animEffect>
                                    <p:anim calcmode="lin" valueType="num">
                                      <p:cBhvr>
                                        <p:cTn id="36" dur="1000" fill="hold"/>
                                        <p:tgtEl>
                                          <p:spTgt spid="8199">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8199">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8199">
                                            <p:txEl>
                                              <p:pRg st="5" end="5"/>
                                            </p:txEl>
                                          </p:spTgt>
                                        </p:tgtEl>
                                        <p:attrNameLst>
                                          <p:attrName>style.visibility</p:attrName>
                                        </p:attrNameLst>
                                      </p:cBhvr>
                                      <p:to>
                                        <p:strVal val="visible"/>
                                      </p:to>
                                    </p:set>
                                    <p:animEffect transition="in" filter="fade">
                                      <p:cBhvr>
                                        <p:cTn id="42" dur="1000"/>
                                        <p:tgtEl>
                                          <p:spTgt spid="8199">
                                            <p:txEl>
                                              <p:pRg st="5" end="5"/>
                                            </p:txEl>
                                          </p:spTgt>
                                        </p:tgtEl>
                                      </p:cBhvr>
                                    </p:animEffect>
                                    <p:anim calcmode="lin" valueType="num">
                                      <p:cBhvr>
                                        <p:cTn id="43" dur="1000" fill="hold"/>
                                        <p:tgtEl>
                                          <p:spTgt spid="8199">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8199">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8199">
                                            <p:txEl>
                                              <p:pRg st="6" end="6"/>
                                            </p:txEl>
                                          </p:spTgt>
                                        </p:tgtEl>
                                        <p:attrNameLst>
                                          <p:attrName>style.visibility</p:attrName>
                                        </p:attrNameLst>
                                      </p:cBhvr>
                                      <p:to>
                                        <p:strVal val="visible"/>
                                      </p:to>
                                    </p:set>
                                    <p:animEffect transition="in" filter="fade">
                                      <p:cBhvr>
                                        <p:cTn id="49" dur="1000"/>
                                        <p:tgtEl>
                                          <p:spTgt spid="8199">
                                            <p:txEl>
                                              <p:pRg st="6" end="6"/>
                                            </p:txEl>
                                          </p:spTgt>
                                        </p:tgtEl>
                                      </p:cBhvr>
                                    </p:animEffect>
                                    <p:anim calcmode="lin" valueType="num">
                                      <p:cBhvr>
                                        <p:cTn id="50" dur="1000" fill="hold"/>
                                        <p:tgtEl>
                                          <p:spTgt spid="8199">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8199">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8199">
                                            <p:txEl>
                                              <p:pRg st="7" end="7"/>
                                            </p:txEl>
                                          </p:spTgt>
                                        </p:tgtEl>
                                        <p:attrNameLst>
                                          <p:attrName>style.visibility</p:attrName>
                                        </p:attrNameLst>
                                      </p:cBhvr>
                                      <p:to>
                                        <p:strVal val="visible"/>
                                      </p:to>
                                    </p:set>
                                    <p:animEffect transition="in" filter="fade">
                                      <p:cBhvr>
                                        <p:cTn id="56" dur="1000"/>
                                        <p:tgtEl>
                                          <p:spTgt spid="8199">
                                            <p:txEl>
                                              <p:pRg st="7" end="7"/>
                                            </p:txEl>
                                          </p:spTgt>
                                        </p:tgtEl>
                                      </p:cBhvr>
                                    </p:animEffect>
                                    <p:anim calcmode="lin" valueType="num">
                                      <p:cBhvr>
                                        <p:cTn id="57" dur="1000" fill="hold"/>
                                        <p:tgtEl>
                                          <p:spTgt spid="8199">
                                            <p:txEl>
                                              <p:pRg st="7" end="7"/>
                                            </p:txEl>
                                          </p:spTgt>
                                        </p:tgtEl>
                                        <p:attrNameLst>
                                          <p:attrName>ppt_x</p:attrName>
                                        </p:attrNameLst>
                                      </p:cBhvr>
                                      <p:tavLst>
                                        <p:tav tm="0">
                                          <p:val>
                                            <p:strVal val="#ppt_x"/>
                                          </p:val>
                                        </p:tav>
                                        <p:tav tm="100000">
                                          <p:val>
                                            <p:strVal val="#ppt_x"/>
                                          </p:val>
                                        </p:tav>
                                      </p:tavLst>
                                    </p:anim>
                                    <p:anim calcmode="lin" valueType="num">
                                      <p:cBhvr>
                                        <p:cTn id="58" dur="1000" fill="hold"/>
                                        <p:tgtEl>
                                          <p:spTgt spid="8199">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9" grpId="0" build="allAtOnce"/>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99" name="Oval 43">
            <a:extLst>
              <a:ext uri="{FF2B5EF4-FFF2-40B4-BE49-F238E27FC236}">
                <a16:creationId xmlns:a16="http://schemas.microsoft.com/office/drawing/2014/main" id="{310D5F95-B6B9-4AEC-A455-A53F445EC44E}"/>
              </a:ext>
            </a:extLst>
          </p:cNvPr>
          <p:cNvSpPr>
            <a:spLocks noChangeArrowheads="1"/>
          </p:cNvSpPr>
          <p:nvPr/>
        </p:nvSpPr>
        <p:spPr bwMode="auto">
          <a:xfrm>
            <a:off x="2855914" y="3068639"/>
            <a:ext cx="503237" cy="50323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cxnSp>
        <p:nvCxnSpPr>
          <p:cNvPr id="19478" name="AutoShape 22">
            <a:extLst>
              <a:ext uri="{FF2B5EF4-FFF2-40B4-BE49-F238E27FC236}">
                <a16:creationId xmlns:a16="http://schemas.microsoft.com/office/drawing/2014/main" id="{E71F0475-AD1A-4001-9D5B-B76F1262C51B}"/>
              </a:ext>
            </a:extLst>
          </p:cNvPr>
          <p:cNvCxnSpPr>
            <a:cxnSpLocks noChangeShapeType="1"/>
          </p:cNvCxnSpPr>
          <p:nvPr/>
        </p:nvCxnSpPr>
        <p:spPr bwMode="auto">
          <a:xfrm>
            <a:off x="3109913" y="2743201"/>
            <a:ext cx="0" cy="1152525"/>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487" name="Oval 31">
            <a:extLst>
              <a:ext uri="{FF2B5EF4-FFF2-40B4-BE49-F238E27FC236}">
                <a16:creationId xmlns:a16="http://schemas.microsoft.com/office/drawing/2014/main" id="{0210A797-AAF2-457A-880B-BA9B5FBF1209}"/>
              </a:ext>
            </a:extLst>
          </p:cNvPr>
          <p:cNvSpPr>
            <a:spLocks noChangeArrowheads="1"/>
          </p:cNvSpPr>
          <p:nvPr/>
        </p:nvSpPr>
        <p:spPr bwMode="auto">
          <a:xfrm>
            <a:off x="5303839" y="3068639"/>
            <a:ext cx="503237" cy="50323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cxnSp>
        <p:nvCxnSpPr>
          <p:cNvPr id="19489" name="AutoShape 33">
            <a:extLst>
              <a:ext uri="{FF2B5EF4-FFF2-40B4-BE49-F238E27FC236}">
                <a16:creationId xmlns:a16="http://schemas.microsoft.com/office/drawing/2014/main" id="{55DABAEC-73F6-425E-AEBD-B67E9D1B9CBF}"/>
              </a:ext>
            </a:extLst>
          </p:cNvPr>
          <p:cNvCxnSpPr>
            <a:cxnSpLocks noChangeShapeType="1"/>
            <a:stCxn id="19487" idx="4"/>
            <a:endCxn id="19503" idx="0"/>
          </p:cNvCxnSpPr>
          <p:nvPr/>
        </p:nvCxnSpPr>
        <p:spPr bwMode="auto">
          <a:xfrm flipH="1">
            <a:off x="5195888" y="3571876"/>
            <a:ext cx="360362" cy="9366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490" name="Oval 34">
            <a:extLst>
              <a:ext uri="{FF2B5EF4-FFF2-40B4-BE49-F238E27FC236}">
                <a16:creationId xmlns:a16="http://schemas.microsoft.com/office/drawing/2014/main" id="{3F1B7253-02D8-4F99-8116-A4A8B5D276A1}"/>
              </a:ext>
            </a:extLst>
          </p:cNvPr>
          <p:cNvSpPr>
            <a:spLocks noChangeArrowheads="1"/>
          </p:cNvSpPr>
          <p:nvPr/>
        </p:nvSpPr>
        <p:spPr bwMode="auto">
          <a:xfrm>
            <a:off x="6456364" y="3068639"/>
            <a:ext cx="503237" cy="50323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cxnSp>
        <p:nvCxnSpPr>
          <p:cNvPr id="19492" name="AutoShape 36">
            <a:extLst>
              <a:ext uri="{FF2B5EF4-FFF2-40B4-BE49-F238E27FC236}">
                <a16:creationId xmlns:a16="http://schemas.microsoft.com/office/drawing/2014/main" id="{34B62E8E-0A93-4033-90DA-97299BB6AE06}"/>
              </a:ext>
            </a:extLst>
          </p:cNvPr>
          <p:cNvCxnSpPr>
            <a:cxnSpLocks noChangeShapeType="1"/>
            <a:stCxn id="19490" idx="4"/>
            <a:endCxn id="19507" idx="0"/>
          </p:cNvCxnSpPr>
          <p:nvPr/>
        </p:nvCxnSpPr>
        <p:spPr bwMode="auto">
          <a:xfrm>
            <a:off x="6708776" y="3571876"/>
            <a:ext cx="360363" cy="936625"/>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494" name="Oval 38">
            <a:extLst>
              <a:ext uri="{FF2B5EF4-FFF2-40B4-BE49-F238E27FC236}">
                <a16:creationId xmlns:a16="http://schemas.microsoft.com/office/drawing/2014/main" id="{029E50B9-8DFC-44E8-82A5-B5E40F6BC9B0}"/>
              </a:ext>
            </a:extLst>
          </p:cNvPr>
          <p:cNvSpPr>
            <a:spLocks noChangeArrowheads="1"/>
          </p:cNvSpPr>
          <p:nvPr/>
        </p:nvSpPr>
        <p:spPr bwMode="auto">
          <a:xfrm>
            <a:off x="8759825" y="3068639"/>
            <a:ext cx="503238" cy="50323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498" name="Oval 42">
            <a:extLst>
              <a:ext uri="{FF2B5EF4-FFF2-40B4-BE49-F238E27FC236}">
                <a16:creationId xmlns:a16="http://schemas.microsoft.com/office/drawing/2014/main" id="{DDF900B8-2E43-4B30-AF76-82935EF7BC03}"/>
              </a:ext>
            </a:extLst>
          </p:cNvPr>
          <p:cNvSpPr>
            <a:spLocks noChangeArrowheads="1"/>
          </p:cNvSpPr>
          <p:nvPr/>
        </p:nvSpPr>
        <p:spPr bwMode="auto">
          <a:xfrm>
            <a:off x="4008439" y="3068639"/>
            <a:ext cx="503237" cy="50323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cxnSp>
        <p:nvCxnSpPr>
          <p:cNvPr id="19500" name="AutoShape 44">
            <a:extLst>
              <a:ext uri="{FF2B5EF4-FFF2-40B4-BE49-F238E27FC236}">
                <a16:creationId xmlns:a16="http://schemas.microsoft.com/office/drawing/2014/main" id="{571E87DC-6863-48F3-BE90-279825403B54}"/>
              </a:ext>
            </a:extLst>
          </p:cNvPr>
          <p:cNvCxnSpPr>
            <a:cxnSpLocks noChangeShapeType="1"/>
            <a:stCxn id="19494" idx="3"/>
          </p:cNvCxnSpPr>
          <p:nvPr/>
        </p:nvCxnSpPr>
        <p:spPr bwMode="auto">
          <a:xfrm flipH="1">
            <a:off x="8364538" y="3498850"/>
            <a:ext cx="468312" cy="10096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01" name="AutoShape 45">
            <a:extLst>
              <a:ext uri="{FF2B5EF4-FFF2-40B4-BE49-F238E27FC236}">
                <a16:creationId xmlns:a16="http://schemas.microsoft.com/office/drawing/2014/main" id="{6806FB53-949C-4E98-8308-912F70962FDC}"/>
              </a:ext>
            </a:extLst>
          </p:cNvPr>
          <p:cNvCxnSpPr>
            <a:cxnSpLocks noChangeShapeType="1"/>
            <a:stCxn id="19494" idx="5"/>
          </p:cNvCxnSpPr>
          <p:nvPr/>
        </p:nvCxnSpPr>
        <p:spPr bwMode="auto">
          <a:xfrm>
            <a:off x="9190039" y="3498850"/>
            <a:ext cx="758825" cy="100965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502" name="Text Box 46">
            <a:extLst>
              <a:ext uri="{FF2B5EF4-FFF2-40B4-BE49-F238E27FC236}">
                <a16:creationId xmlns:a16="http://schemas.microsoft.com/office/drawing/2014/main" id="{79A3C99F-D31E-464D-B878-DD5B8D4E5879}"/>
              </a:ext>
            </a:extLst>
          </p:cNvPr>
          <p:cNvSpPr txBox="1">
            <a:spLocks noChangeArrowheads="1"/>
          </p:cNvSpPr>
          <p:nvPr/>
        </p:nvSpPr>
        <p:spPr bwMode="auto">
          <a:xfrm>
            <a:off x="908510" y="1246690"/>
            <a:ext cx="4895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342900" indent="-342900">
              <a:spcBef>
                <a:spcPct val="50000"/>
              </a:spcBef>
              <a:buFont typeface="Wingdings" panose="05000000000000000000" pitchFamily="2" charset="2"/>
              <a:buChar char="l"/>
            </a:pPr>
            <a:r>
              <a:rPr lang="zh-CN" altLang="en-US" sz="2400" b="1" dirty="0">
                <a:solidFill>
                  <a:srgbClr val="014B88"/>
                </a:solidFill>
              </a:rPr>
              <a:t>二叉树的五种基本形态</a:t>
            </a:r>
          </a:p>
        </p:txBody>
      </p:sp>
      <p:sp>
        <p:nvSpPr>
          <p:cNvPr id="19503" name="AutoShape 47">
            <a:extLst>
              <a:ext uri="{FF2B5EF4-FFF2-40B4-BE49-F238E27FC236}">
                <a16:creationId xmlns:a16="http://schemas.microsoft.com/office/drawing/2014/main" id="{F0443AC9-5330-4306-8D7F-15514E18F3C2}"/>
              </a:ext>
            </a:extLst>
          </p:cNvPr>
          <p:cNvSpPr>
            <a:spLocks noChangeArrowheads="1"/>
          </p:cNvSpPr>
          <p:nvPr/>
        </p:nvSpPr>
        <p:spPr bwMode="auto">
          <a:xfrm>
            <a:off x="4943475" y="4508500"/>
            <a:ext cx="503238" cy="647700"/>
          </a:xfrm>
          <a:prstGeom prst="triangle">
            <a:avLst>
              <a:gd name="adj" fmla="val 50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507" name="AutoShape 51">
            <a:extLst>
              <a:ext uri="{FF2B5EF4-FFF2-40B4-BE49-F238E27FC236}">
                <a16:creationId xmlns:a16="http://schemas.microsoft.com/office/drawing/2014/main" id="{B83D022B-0B20-4FDA-939A-E8947B2275A9}"/>
              </a:ext>
            </a:extLst>
          </p:cNvPr>
          <p:cNvSpPr>
            <a:spLocks noChangeArrowheads="1"/>
          </p:cNvSpPr>
          <p:nvPr/>
        </p:nvSpPr>
        <p:spPr bwMode="auto">
          <a:xfrm>
            <a:off x="6816725" y="4508500"/>
            <a:ext cx="503238" cy="647700"/>
          </a:xfrm>
          <a:prstGeom prst="triangle">
            <a:avLst>
              <a:gd name="adj" fmla="val 50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508" name="AutoShape 52">
            <a:extLst>
              <a:ext uri="{FF2B5EF4-FFF2-40B4-BE49-F238E27FC236}">
                <a16:creationId xmlns:a16="http://schemas.microsoft.com/office/drawing/2014/main" id="{EAEB7DAD-651C-459A-9903-5837AC3F37FA}"/>
              </a:ext>
            </a:extLst>
          </p:cNvPr>
          <p:cNvSpPr>
            <a:spLocks noChangeArrowheads="1"/>
          </p:cNvSpPr>
          <p:nvPr/>
        </p:nvSpPr>
        <p:spPr bwMode="auto">
          <a:xfrm>
            <a:off x="8112125" y="4508500"/>
            <a:ext cx="503238" cy="647700"/>
          </a:xfrm>
          <a:prstGeom prst="triangle">
            <a:avLst>
              <a:gd name="adj" fmla="val 50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509" name="AutoShape 53">
            <a:extLst>
              <a:ext uri="{FF2B5EF4-FFF2-40B4-BE49-F238E27FC236}">
                <a16:creationId xmlns:a16="http://schemas.microsoft.com/office/drawing/2014/main" id="{C199D962-9732-449F-953C-99DD92F56544}"/>
              </a:ext>
            </a:extLst>
          </p:cNvPr>
          <p:cNvSpPr>
            <a:spLocks noChangeArrowheads="1"/>
          </p:cNvSpPr>
          <p:nvPr/>
        </p:nvSpPr>
        <p:spPr bwMode="auto">
          <a:xfrm>
            <a:off x="9696450" y="4508500"/>
            <a:ext cx="503238" cy="647700"/>
          </a:xfrm>
          <a:prstGeom prst="triangle">
            <a:avLst>
              <a:gd name="adj" fmla="val 50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TextBox 36">
            <a:extLst>
              <a:ext uri="{FF2B5EF4-FFF2-40B4-BE49-F238E27FC236}">
                <a16:creationId xmlns:a16="http://schemas.microsoft.com/office/drawing/2014/main" id="{5DEADE57-18E3-40AD-91F5-C3254F92A2DB}"/>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949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9478"/>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0"/>
                                          </p:stCondLst>
                                        </p:cTn>
                                        <p:tgtEl>
                                          <p:spTgt spid="1949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1948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948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9503"/>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19490"/>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9492"/>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9507"/>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19494"/>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9500"/>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950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9508"/>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95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descr="20041112072430262">
            <a:extLst>
              <a:ext uri="{FF2B5EF4-FFF2-40B4-BE49-F238E27FC236}">
                <a16:creationId xmlns:a16="http://schemas.microsoft.com/office/drawing/2014/main" id="{63994FC5-04B8-4B42-BFB4-911B5AB9204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47851" y="1557338"/>
            <a:ext cx="8208963" cy="504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8" name="Text Box 6">
            <a:extLst>
              <a:ext uri="{FF2B5EF4-FFF2-40B4-BE49-F238E27FC236}">
                <a16:creationId xmlns:a16="http://schemas.microsoft.com/office/drawing/2014/main" id="{ABADB283-C72A-40F5-AA18-9BD6787E8AB6}"/>
              </a:ext>
            </a:extLst>
          </p:cNvPr>
          <p:cNvSpPr txBox="1">
            <a:spLocks noChangeArrowheads="1"/>
          </p:cNvSpPr>
          <p:nvPr/>
        </p:nvSpPr>
        <p:spPr bwMode="auto">
          <a:xfrm>
            <a:off x="1919288" y="1341438"/>
            <a:ext cx="61214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zh-CN" altLang="en-US"/>
              <a:t>每个结点至多只有二棵子树。且子树有左右之分。</a:t>
            </a:r>
          </a:p>
        </p:txBody>
      </p:sp>
      <p:sp>
        <p:nvSpPr>
          <p:cNvPr id="13319" name="Text Box 7">
            <a:extLst>
              <a:ext uri="{FF2B5EF4-FFF2-40B4-BE49-F238E27FC236}">
                <a16:creationId xmlns:a16="http://schemas.microsoft.com/office/drawing/2014/main" id="{3406AC19-0B5F-45A5-A78A-942995386576}"/>
              </a:ext>
            </a:extLst>
          </p:cNvPr>
          <p:cNvSpPr txBox="1">
            <a:spLocks noChangeArrowheads="1"/>
          </p:cNvSpPr>
          <p:nvPr/>
        </p:nvSpPr>
        <p:spPr bwMode="auto">
          <a:xfrm rot="2495489">
            <a:off x="3540125" y="2594918"/>
            <a:ext cx="1512888" cy="461665"/>
          </a:xfrm>
          <a:prstGeom prst="rect">
            <a:avLst/>
          </a:prstGeom>
          <a:noFill/>
          <a:ln w="38100">
            <a:solidFill>
              <a:srgbClr val="FF00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zh-CN" altLang="en-US" sz="2400">
                <a:solidFill>
                  <a:srgbClr val="FF0000"/>
                </a:solidFill>
                <a:ea typeface="华文琥珀" panose="02010800040101010101" pitchFamily="2" charset="-122"/>
              </a:rPr>
              <a:t>满二叉树</a:t>
            </a:r>
          </a:p>
        </p:txBody>
      </p:sp>
      <p:sp>
        <p:nvSpPr>
          <p:cNvPr id="13320" name="Text Box 8">
            <a:extLst>
              <a:ext uri="{FF2B5EF4-FFF2-40B4-BE49-F238E27FC236}">
                <a16:creationId xmlns:a16="http://schemas.microsoft.com/office/drawing/2014/main" id="{C4647629-F85F-4CCB-AABA-3B0D5319BF0A}"/>
              </a:ext>
            </a:extLst>
          </p:cNvPr>
          <p:cNvSpPr txBox="1">
            <a:spLocks noChangeArrowheads="1"/>
          </p:cNvSpPr>
          <p:nvPr/>
        </p:nvSpPr>
        <p:spPr bwMode="auto">
          <a:xfrm rot="20486381">
            <a:off x="7336076" y="2358381"/>
            <a:ext cx="1723549" cy="461665"/>
          </a:xfrm>
          <a:prstGeom prst="rect">
            <a:avLst/>
          </a:prstGeom>
          <a:noFill/>
          <a:ln w="38100">
            <a:solidFill>
              <a:srgbClr val="FF00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a:solidFill>
                  <a:srgbClr val="FF0000"/>
                </a:solidFill>
                <a:ea typeface="华文琥珀" panose="02010800040101010101" pitchFamily="2" charset="-122"/>
              </a:rPr>
              <a:t>完全二叉树</a:t>
            </a:r>
          </a:p>
        </p:txBody>
      </p:sp>
      <p:sp>
        <p:nvSpPr>
          <p:cNvPr id="9" name="TextBox 36">
            <a:extLst>
              <a:ext uri="{FF2B5EF4-FFF2-40B4-BE49-F238E27FC236}">
                <a16:creationId xmlns:a16="http://schemas.microsoft.com/office/drawing/2014/main" id="{8D46FF72-B80A-4140-AB2A-405E9B46FABD}"/>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31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3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9" grpId="0" animBg="1"/>
      <p:bldP spid="1332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117" name="Group 757">
            <a:extLst>
              <a:ext uri="{FF2B5EF4-FFF2-40B4-BE49-F238E27FC236}">
                <a16:creationId xmlns:a16="http://schemas.microsoft.com/office/drawing/2014/main" id="{B1279FD7-B9FC-413E-A07F-657C2823F286}"/>
              </a:ext>
            </a:extLst>
          </p:cNvPr>
          <p:cNvGraphicFramePr>
            <a:graphicFrameLocks noGrp="1"/>
          </p:cNvGraphicFramePr>
          <p:nvPr>
            <p:extLst/>
          </p:nvPr>
        </p:nvGraphicFramePr>
        <p:xfrm>
          <a:off x="1281180" y="4695570"/>
          <a:ext cx="9266618" cy="1168654"/>
        </p:xfrm>
        <a:graphic>
          <a:graphicData uri="http://schemas.openxmlformats.org/drawingml/2006/table">
            <a:tbl>
              <a:tblPr/>
              <a:tblGrid>
                <a:gridCol w="1853671">
                  <a:extLst>
                    <a:ext uri="{9D8B030D-6E8A-4147-A177-3AD203B41FA5}">
                      <a16:colId xmlns:a16="http://schemas.microsoft.com/office/drawing/2014/main" val="18089064"/>
                    </a:ext>
                  </a:extLst>
                </a:gridCol>
                <a:gridCol w="7412947">
                  <a:extLst>
                    <a:ext uri="{9D8B030D-6E8A-4147-A177-3AD203B41FA5}">
                      <a16:colId xmlns:a16="http://schemas.microsoft.com/office/drawing/2014/main" val="603183035"/>
                    </a:ext>
                  </a:extLst>
                </a:gridCol>
              </a:tblGrid>
              <a:tr h="180975">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cap="none" normalizeH="0" baseline="0">
                          <a:ln>
                            <a:noFill/>
                          </a:ln>
                          <a:solidFill>
                            <a:srgbClr val="014B88"/>
                          </a:solidFill>
                          <a:effectLst/>
                          <a:latin typeface="+mn-ea"/>
                          <a:ea typeface="+mn-ea"/>
                        </a:rPr>
                        <a:t>性质１：</a:t>
                      </a:r>
                      <a:endParaRPr kumimoji="0" lang="zh-CN" altLang="en-US" sz="3600" b="1" i="0" u="none" strike="noStrike" cap="none" normalizeH="0" baseline="0">
                        <a:ln>
                          <a:noFill/>
                        </a:ln>
                        <a:solidFill>
                          <a:srgbClr val="014B88"/>
                        </a:solidFill>
                        <a:effectLst/>
                        <a:latin typeface="+mn-ea"/>
                        <a:ea typeface="+mn-ea"/>
                      </a:endParaRPr>
                    </a:p>
                  </a:txBody>
                  <a:tcPr anchor="ctr" horzOverflow="overflow">
                    <a:lnL cap="flat">
                      <a:noFill/>
                    </a:lnL>
                    <a:lnR>
                      <a:noFill/>
                    </a:lnR>
                    <a:lnT cap="flat">
                      <a:noFill/>
                    </a:lnT>
                    <a:lnB>
                      <a:noFill/>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cap="none" normalizeH="0" baseline="0" dirty="0">
                          <a:ln>
                            <a:noFill/>
                          </a:ln>
                          <a:solidFill>
                            <a:srgbClr val="014B88"/>
                          </a:solidFill>
                          <a:effectLst/>
                          <a:latin typeface="+mn-ea"/>
                          <a:ea typeface="+mn-ea"/>
                        </a:rPr>
                        <a:t>在二叉树的第</a:t>
                      </a:r>
                      <a:r>
                        <a:rPr kumimoji="0" lang="en-US" altLang="zh-CN" sz="2400" b="1" i="0" u="none" strike="noStrike" cap="none" normalizeH="0" baseline="0" dirty="0" err="1">
                          <a:ln>
                            <a:noFill/>
                          </a:ln>
                          <a:solidFill>
                            <a:srgbClr val="014B88"/>
                          </a:solidFill>
                          <a:effectLst/>
                          <a:latin typeface="+mn-ea"/>
                          <a:ea typeface="+mn-ea"/>
                        </a:rPr>
                        <a:t>i</a:t>
                      </a:r>
                      <a:r>
                        <a:rPr kumimoji="0" lang="zh-CN" altLang="en-US" sz="2400" b="1" i="0" u="none" strike="noStrike" cap="none" normalizeH="0" baseline="0" dirty="0">
                          <a:ln>
                            <a:noFill/>
                          </a:ln>
                          <a:solidFill>
                            <a:srgbClr val="014B88"/>
                          </a:solidFill>
                          <a:effectLst/>
                          <a:latin typeface="+mn-ea"/>
                          <a:ea typeface="+mn-ea"/>
                        </a:rPr>
                        <a:t>层上至多有</a:t>
                      </a:r>
                      <a:r>
                        <a:rPr kumimoji="0" lang="en-US" altLang="zh-CN" sz="2400" b="1" i="0" u="none" strike="noStrike" cap="none" normalizeH="0" baseline="0" dirty="0">
                          <a:ln>
                            <a:noFill/>
                          </a:ln>
                          <a:solidFill>
                            <a:srgbClr val="FF0000"/>
                          </a:solidFill>
                          <a:effectLst/>
                          <a:latin typeface="+mn-ea"/>
                          <a:ea typeface="+mn-ea"/>
                        </a:rPr>
                        <a:t>2^(i-1)</a:t>
                      </a:r>
                      <a:r>
                        <a:rPr kumimoji="0" lang="zh-CN" altLang="en-US" sz="2400" b="1" i="0" u="none" strike="noStrike" cap="none" normalizeH="0" baseline="0" dirty="0">
                          <a:ln>
                            <a:noFill/>
                          </a:ln>
                          <a:solidFill>
                            <a:srgbClr val="FF0000"/>
                          </a:solidFill>
                          <a:effectLst/>
                          <a:latin typeface="+mn-ea"/>
                          <a:ea typeface="+mn-ea"/>
                        </a:rPr>
                        <a:t>次方</a:t>
                      </a:r>
                      <a:r>
                        <a:rPr kumimoji="0" lang="zh-CN" altLang="en-US" sz="2400" b="1" i="0" u="none" strike="noStrike" cap="none" normalizeH="0" baseline="0" dirty="0">
                          <a:ln>
                            <a:noFill/>
                          </a:ln>
                          <a:solidFill>
                            <a:srgbClr val="014B88"/>
                          </a:solidFill>
                          <a:effectLst/>
                          <a:latin typeface="+mn-ea"/>
                          <a:ea typeface="+mn-ea"/>
                        </a:rPr>
                        <a:t>个结点</a:t>
                      </a:r>
                      <a:r>
                        <a:rPr kumimoji="0" lang="en-US" altLang="zh-CN" sz="2400" b="1" i="0" u="none" strike="noStrike" cap="none" normalizeH="0" baseline="0" dirty="0">
                          <a:ln>
                            <a:noFill/>
                          </a:ln>
                          <a:solidFill>
                            <a:srgbClr val="014B88"/>
                          </a:solidFill>
                          <a:effectLst/>
                          <a:latin typeface="+mn-ea"/>
                          <a:ea typeface="+mn-ea"/>
                        </a:rPr>
                        <a:t>(</a:t>
                      </a:r>
                      <a:r>
                        <a:rPr kumimoji="0" lang="en-US" altLang="zh-CN" sz="2400" b="1" i="0" u="none" strike="noStrike" cap="none" normalizeH="0" baseline="0" dirty="0" err="1">
                          <a:ln>
                            <a:noFill/>
                          </a:ln>
                          <a:solidFill>
                            <a:srgbClr val="014B88"/>
                          </a:solidFill>
                          <a:effectLst/>
                          <a:latin typeface="+mn-ea"/>
                          <a:ea typeface="+mn-ea"/>
                        </a:rPr>
                        <a:t>i</a:t>
                      </a:r>
                      <a:r>
                        <a:rPr kumimoji="0" lang="en-US" altLang="zh-CN" sz="2400" b="1" i="0" u="none" strike="noStrike" cap="none" normalizeH="0" baseline="0" dirty="0">
                          <a:ln>
                            <a:noFill/>
                          </a:ln>
                          <a:solidFill>
                            <a:srgbClr val="014B88"/>
                          </a:solidFill>
                          <a:effectLst/>
                          <a:latin typeface="+mn-ea"/>
                          <a:ea typeface="+mn-ea"/>
                        </a:rPr>
                        <a:t>&gt;=1)</a:t>
                      </a:r>
                      <a:r>
                        <a:rPr kumimoji="0" lang="zh-CN" altLang="en-US" sz="2400" b="1" i="0" u="none" strike="noStrike" cap="none" normalizeH="0" baseline="0" dirty="0">
                          <a:ln>
                            <a:noFill/>
                          </a:ln>
                          <a:solidFill>
                            <a:srgbClr val="014B88"/>
                          </a:solidFill>
                          <a:effectLst/>
                          <a:latin typeface="+mn-ea"/>
                          <a:ea typeface="+mn-ea"/>
                        </a:rPr>
                        <a:t>。</a:t>
                      </a:r>
                      <a:endParaRPr kumimoji="0" lang="zh-CN" altLang="en-US" sz="3600" b="1" i="0" u="none" strike="noStrike" cap="none" normalizeH="0" baseline="0" dirty="0">
                        <a:ln>
                          <a:noFill/>
                        </a:ln>
                        <a:solidFill>
                          <a:srgbClr val="014B88"/>
                        </a:solidFill>
                        <a:effectLst/>
                        <a:latin typeface="+mn-ea"/>
                        <a:ea typeface="+mn-ea"/>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270210590"/>
                  </a:ext>
                </a:extLst>
              </a:tr>
              <a:tr h="395288">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cap="none" normalizeH="0" baseline="0">
                          <a:ln>
                            <a:noFill/>
                          </a:ln>
                          <a:solidFill>
                            <a:srgbClr val="014B88"/>
                          </a:solidFill>
                          <a:effectLst/>
                          <a:latin typeface="+mn-ea"/>
                          <a:ea typeface="+mn-ea"/>
                        </a:rPr>
                        <a:t>性质２：</a:t>
                      </a:r>
                      <a:endParaRPr kumimoji="0" lang="zh-CN" altLang="en-US" sz="3600" b="1" i="0" u="none" strike="noStrike" cap="none" normalizeH="0" baseline="0">
                        <a:ln>
                          <a:noFill/>
                        </a:ln>
                        <a:solidFill>
                          <a:srgbClr val="014B88"/>
                        </a:solidFill>
                        <a:effectLst/>
                        <a:latin typeface="+mn-ea"/>
                        <a:ea typeface="+mn-ea"/>
                      </a:endParaRPr>
                    </a:p>
                  </a:txBody>
                  <a:tcPr anchor="ctr" horzOverflow="overflow">
                    <a:lnL cap="flat">
                      <a:noFill/>
                    </a:lnL>
                    <a:lnR>
                      <a:noFill/>
                    </a:lnR>
                    <a:lnT>
                      <a:noFill/>
                    </a:lnT>
                    <a:lnB cap="flat">
                      <a:noFill/>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cap="none" normalizeH="0" baseline="0" dirty="0">
                          <a:ln>
                            <a:noFill/>
                          </a:ln>
                          <a:solidFill>
                            <a:srgbClr val="014B88"/>
                          </a:solidFill>
                          <a:effectLst/>
                          <a:latin typeface="+mn-ea"/>
                          <a:ea typeface="+mn-ea"/>
                        </a:rPr>
                        <a:t>深度为</a:t>
                      </a:r>
                      <a:r>
                        <a:rPr kumimoji="0" lang="en-US" altLang="zh-CN" sz="2400" b="1" i="0" u="none" strike="noStrike" cap="none" normalizeH="0" baseline="0" dirty="0">
                          <a:ln>
                            <a:noFill/>
                          </a:ln>
                          <a:solidFill>
                            <a:srgbClr val="014B88"/>
                          </a:solidFill>
                          <a:effectLst/>
                          <a:latin typeface="+mn-ea"/>
                          <a:ea typeface="+mn-ea"/>
                        </a:rPr>
                        <a:t>k</a:t>
                      </a:r>
                      <a:r>
                        <a:rPr kumimoji="0" lang="zh-CN" altLang="en-US" sz="2400" b="1" i="0" u="none" strike="noStrike" cap="none" normalizeH="0" baseline="0" dirty="0">
                          <a:ln>
                            <a:noFill/>
                          </a:ln>
                          <a:solidFill>
                            <a:srgbClr val="014B88"/>
                          </a:solidFill>
                          <a:effectLst/>
                          <a:latin typeface="+mn-ea"/>
                          <a:ea typeface="+mn-ea"/>
                        </a:rPr>
                        <a:t>的二叉树至多有</a:t>
                      </a:r>
                      <a:r>
                        <a:rPr kumimoji="0" lang="en-US" altLang="zh-CN" sz="2400" b="1" i="0" u="none" strike="noStrike" cap="none" normalizeH="0" baseline="0" dirty="0">
                          <a:ln>
                            <a:noFill/>
                          </a:ln>
                          <a:solidFill>
                            <a:srgbClr val="FF0000"/>
                          </a:solidFill>
                          <a:effectLst/>
                          <a:latin typeface="+mn-ea"/>
                          <a:ea typeface="+mn-ea"/>
                        </a:rPr>
                        <a:t>2</a:t>
                      </a:r>
                      <a:r>
                        <a:rPr kumimoji="0" lang="zh-CN" altLang="en-US" sz="2400" b="1" i="0" u="none" strike="noStrike" cap="none" normalizeH="0" baseline="0" dirty="0">
                          <a:ln>
                            <a:noFill/>
                          </a:ln>
                          <a:solidFill>
                            <a:srgbClr val="FF0000"/>
                          </a:solidFill>
                          <a:effectLst/>
                          <a:latin typeface="+mn-ea"/>
                          <a:ea typeface="+mn-ea"/>
                        </a:rPr>
                        <a:t>的</a:t>
                      </a:r>
                      <a:r>
                        <a:rPr kumimoji="0" lang="en-US" altLang="zh-CN" sz="2400" b="1" i="0" u="none" strike="noStrike" cap="none" normalizeH="0" baseline="0" dirty="0">
                          <a:ln>
                            <a:noFill/>
                          </a:ln>
                          <a:solidFill>
                            <a:srgbClr val="FF0000"/>
                          </a:solidFill>
                          <a:effectLst/>
                          <a:latin typeface="+mn-ea"/>
                          <a:ea typeface="+mn-ea"/>
                        </a:rPr>
                        <a:t>k</a:t>
                      </a:r>
                      <a:r>
                        <a:rPr kumimoji="0" lang="zh-CN" altLang="en-US" sz="2400" b="1" i="0" u="none" strike="noStrike" cap="none" normalizeH="0" baseline="0" dirty="0">
                          <a:ln>
                            <a:noFill/>
                          </a:ln>
                          <a:solidFill>
                            <a:srgbClr val="FF0000"/>
                          </a:solidFill>
                          <a:effectLst/>
                          <a:latin typeface="+mn-ea"/>
                          <a:ea typeface="+mn-ea"/>
                        </a:rPr>
                        <a:t>次方减</a:t>
                      </a:r>
                      <a:r>
                        <a:rPr kumimoji="0" lang="en-US" altLang="zh-CN" sz="2400" b="1" i="0" u="none" strike="noStrike" cap="none" normalizeH="0" baseline="0" dirty="0">
                          <a:ln>
                            <a:noFill/>
                          </a:ln>
                          <a:solidFill>
                            <a:srgbClr val="FF0000"/>
                          </a:solidFill>
                          <a:effectLst/>
                          <a:latin typeface="+mn-ea"/>
                          <a:ea typeface="+mn-ea"/>
                        </a:rPr>
                        <a:t>1</a:t>
                      </a:r>
                      <a:r>
                        <a:rPr kumimoji="0" lang="zh-CN" altLang="en-US" sz="2400" b="1" i="0" u="none" strike="noStrike" cap="none" normalizeH="0" baseline="0" dirty="0">
                          <a:ln>
                            <a:noFill/>
                          </a:ln>
                          <a:solidFill>
                            <a:srgbClr val="FF0000"/>
                          </a:solidFill>
                          <a:effectLst/>
                          <a:latin typeface="+mn-ea"/>
                          <a:ea typeface="+mn-ea"/>
                        </a:rPr>
                        <a:t>个结点</a:t>
                      </a:r>
                      <a:r>
                        <a:rPr kumimoji="0" lang="en-US" altLang="zh-CN" sz="2400" b="1" i="0" u="none" strike="noStrike" cap="none" normalizeH="0" baseline="0" dirty="0">
                          <a:ln>
                            <a:noFill/>
                          </a:ln>
                          <a:solidFill>
                            <a:srgbClr val="014B88"/>
                          </a:solidFill>
                          <a:effectLst/>
                          <a:latin typeface="+mn-ea"/>
                          <a:ea typeface="+mn-ea"/>
                        </a:rPr>
                        <a:t>(k&gt;=1)</a:t>
                      </a:r>
                      <a:r>
                        <a:rPr kumimoji="0" lang="zh-CN" altLang="en-US" sz="2400" b="1" i="0" u="none" strike="noStrike" cap="none" normalizeH="0" baseline="0" dirty="0">
                          <a:ln>
                            <a:noFill/>
                          </a:ln>
                          <a:solidFill>
                            <a:srgbClr val="014B88"/>
                          </a:solidFill>
                          <a:effectLst/>
                          <a:latin typeface="+mn-ea"/>
                          <a:ea typeface="+mn-ea"/>
                        </a:rPr>
                        <a:t>。</a:t>
                      </a:r>
                      <a:endParaRPr kumimoji="0" lang="zh-CN" altLang="en-US" sz="3600" b="1" i="0" u="none" strike="noStrike" cap="none" normalizeH="0" baseline="0" dirty="0">
                        <a:ln>
                          <a:noFill/>
                        </a:ln>
                        <a:solidFill>
                          <a:srgbClr val="014B88"/>
                        </a:solidFill>
                        <a:effectLst/>
                        <a:latin typeface="+mn-ea"/>
                        <a:ea typeface="+mn-ea"/>
                      </a:endParaRPr>
                    </a:p>
                  </a:txBody>
                  <a:tcPr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6114684"/>
                  </a:ext>
                </a:extLst>
              </a:tr>
            </a:tbl>
          </a:graphicData>
        </a:graphic>
      </p:graphicFrame>
      <p:pic>
        <p:nvPicPr>
          <p:cNvPr id="16100" name="Picture 740" descr="20041112072430262">
            <a:extLst>
              <a:ext uri="{FF2B5EF4-FFF2-40B4-BE49-F238E27FC236}">
                <a16:creationId xmlns:a16="http://schemas.microsoft.com/office/drawing/2014/main" id="{FBC4B004-44D6-429B-BD11-FEA5A16EA847}"/>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r="50021" b="51680"/>
          <a:stretch>
            <a:fillRect/>
          </a:stretch>
        </p:blipFill>
        <p:spPr bwMode="auto">
          <a:xfrm>
            <a:off x="3071814" y="993776"/>
            <a:ext cx="5545137"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36">
            <a:extLst>
              <a:ext uri="{FF2B5EF4-FFF2-40B4-BE49-F238E27FC236}">
                <a16:creationId xmlns:a16="http://schemas.microsoft.com/office/drawing/2014/main" id="{DC595D08-4FF4-49E5-97F9-606E41A7F9E6}"/>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二叉树的性质</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001" name="Group 41">
            <a:extLst>
              <a:ext uri="{FF2B5EF4-FFF2-40B4-BE49-F238E27FC236}">
                <a16:creationId xmlns:a16="http://schemas.microsoft.com/office/drawing/2014/main" id="{8FAB7E5B-4541-41EA-8F57-BB1DE64B0506}"/>
              </a:ext>
            </a:extLst>
          </p:cNvPr>
          <p:cNvGraphicFramePr>
            <a:graphicFrameLocks noGrp="1"/>
          </p:cNvGraphicFramePr>
          <p:nvPr>
            <p:extLst>
              <p:ext uri="{D42A27DB-BD31-4B8C-83A1-F6EECF244321}">
                <p14:modId xmlns:p14="http://schemas.microsoft.com/office/powerpoint/2010/main" val="2345036195"/>
              </p:ext>
            </p:extLst>
          </p:nvPr>
        </p:nvGraphicFramePr>
        <p:xfrm>
          <a:off x="407325" y="4743471"/>
          <a:ext cx="11692376" cy="1717294"/>
        </p:xfrm>
        <a:graphic>
          <a:graphicData uri="http://schemas.openxmlformats.org/drawingml/2006/table">
            <a:tbl>
              <a:tblPr/>
              <a:tblGrid>
                <a:gridCol w="2337997">
                  <a:extLst>
                    <a:ext uri="{9D8B030D-6E8A-4147-A177-3AD203B41FA5}">
                      <a16:colId xmlns:a16="http://schemas.microsoft.com/office/drawing/2014/main" val="2256947547"/>
                    </a:ext>
                  </a:extLst>
                </a:gridCol>
                <a:gridCol w="9354379">
                  <a:extLst>
                    <a:ext uri="{9D8B030D-6E8A-4147-A177-3AD203B41FA5}">
                      <a16:colId xmlns:a16="http://schemas.microsoft.com/office/drawing/2014/main" val="3047075311"/>
                    </a:ext>
                  </a:extLst>
                </a:gridCol>
              </a:tblGrid>
              <a:tr h="719138">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kern="1200" cap="none" normalizeH="0" baseline="0" dirty="0">
                          <a:ln>
                            <a:noFill/>
                          </a:ln>
                          <a:solidFill>
                            <a:srgbClr val="014B88"/>
                          </a:solidFill>
                          <a:effectLst/>
                          <a:latin typeface="+mn-ea"/>
                          <a:ea typeface="+mn-ea"/>
                          <a:cs typeface="+mn-cs"/>
                        </a:rPr>
                        <a:t>性质３：</a:t>
                      </a:r>
                    </a:p>
                  </a:txBody>
                  <a:tcPr anchor="ctr" horzOverflow="overflow">
                    <a:lnL cap="flat">
                      <a:noFill/>
                    </a:lnL>
                    <a:lnR>
                      <a:noFill/>
                    </a:lnR>
                    <a:lnT cap="flat">
                      <a:noFill/>
                    </a:lnT>
                    <a:lnB>
                      <a:noFill/>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kern="1200" cap="none" normalizeH="0" baseline="0" dirty="0">
                          <a:ln>
                            <a:noFill/>
                          </a:ln>
                          <a:solidFill>
                            <a:srgbClr val="014B88"/>
                          </a:solidFill>
                          <a:effectLst/>
                          <a:latin typeface="+mn-ea"/>
                          <a:ea typeface="+mn-ea"/>
                          <a:cs typeface="+mn-cs"/>
                        </a:rPr>
                        <a:t>对任何一棵二叉树</a:t>
                      </a:r>
                      <a:r>
                        <a:rPr kumimoji="0" lang="en-US" altLang="zh-CN" sz="2400" b="1" i="0" u="none" strike="noStrike" kern="1200" cap="none" normalizeH="0" baseline="0" dirty="0">
                          <a:ln>
                            <a:noFill/>
                          </a:ln>
                          <a:solidFill>
                            <a:srgbClr val="014B88"/>
                          </a:solidFill>
                          <a:effectLst/>
                          <a:latin typeface="+mn-ea"/>
                          <a:ea typeface="+mn-ea"/>
                          <a:cs typeface="+mn-cs"/>
                        </a:rPr>
                        <a:t>T</a:t>
                      </a:r>
                      <a:r>
                        <a:rPr kumimoji="0" lang="zh-CN" altLang="en-US" sz="2400" b="1" i="0" u="none" strike="noStrike" kern="1200" cap="none" normalizeH="0" baseline="0" dirty="0">
                          <a:ln>
                            <a:noFill/>
                          </a:ln>
                          <a:solidFill>
                            <a:srgbClr val="014B88"/>
                          </a:solidFill>
                          <a:effectLst/>
                          <a:latin typeface="+mn-ea"/>
                          <a:ea typeface="+mn-ea"/>
                          <a:cs typeface="+mn-cs"/>
                        </a:rPr>
                        <a:t>，如果其叶子结点数为</a:t>
                      </a:r>
                      <a:r>
                        <a:rPr kumimoji="0" lang="en-US" altLang="zh-CN" sz="2400" b="1" i="0" u="none" strike="noStrike" kern="1200" cap="none" normalizeH="0" baseline="0" dirty="0">
                          <a:ln>
                            <a:noFill/>
                          </a:ln>
                          <a:solidFill>
                            <a:srgbClr val="014B88"/>
                          </a:solidFill>
                          <a:effectLst/>
                          <a:latin typeface="+mn-ea"/>
                          <a:ea typeface="+mn-ea"/>
                          <a:cs typeface="+mn-cs"/>
                        </a:rPr>
                        <a:t>n0</a:t>
                      </a:r>
                      <a:r>
                        <a:rPr kumimoji="0" lang="zh-CN" altLang="en-US" sz="2400" b="1" i="0" u="none" strike="noStrike" kern="1200" cap="none" normalizeH="0" baseline="0" dirty="0">
                          <a:ln>
                            <a:noFill/>
                          </a:ln>
                          <a:solidFill>
                            <a:srgbClr val="014B88"/>
                          </a:solidFill>
                          <a:effectLst/>
                          <a:latin typeface="+mn-ea"/>
                          <a:ea typeface="+mn-ea"/>
                          <a:cs typeface="+mn-cs"/>
                        </a:rPr>
                        <a:t>，度为</a:t>
                      </a:r>
                      <a:r>
                        <a:rPr kumimoji="0" lang="en-US" altLang="zh-CN" sz="2400" b="1" i="0" u="none" strike="noStrike" kern="1200" cap="none" normalizeH="0" baseline="0" dirty="0">
                          <a:ln>
                            <a:noFill/>
                          </a:ln>
                          <a:solidFill>
                            <a:srgbClr val="014B88"/>
                          </a:solidFill>
                          <a:effectLst/>
                          <a:latin typeface="+mn-ea"/>
                          <a:ea typeface="+mn-ea"/>
                          <a:cs typeface="+mn-cs"/>
                        </a:rPr>
                        <a:t>2</a:t>
                      </a:r>
                      <a:r>
                        <a:rPr kumimoji="0" lang="zh-CN" altLang="en-US" sz="2400" b="1" i="0" u="none" strike="noStrike" kern="1200" cap="none" normalizeH="0" baseline="0" dirty="0">
                          <a:ln>
                            <a:noFill/>
                          </a:ln>
                          <a:solidFill>
                            <a:srgbClr val="014B88"/>
                          </a:solidFill>
                          <a:effectLst/>
                          <a:latin typeface="+mn-ea"/>
                          <a:ea typeface="+mn-ea"/>
                          <a:cs typeface="+mn-cs"/>
                        </a:rPr>
                        <a:t>的结点数为</a:t>
                      </a:r>
                      <a:r>
                        <a:rPr kumimoji="0" lang="en-US" altLang="zh-CN" sz="2400" b="1" i="0" u="none" strike="noStrike" kern="1200" cap="none" normalizeH="0" baseline="0" dirty="0">
                          <a:ln>
                            <a:noFill/>
                          </a:ln>
                          <a:solidFill>
                            <a:srgbClr val="014B88"/>
                          </a:solidFill>
                          <a:effectLst/>
                          <a:latin typeface="+mn-ea"/>
                          <a:ea typeface="+mn-ea"/>
                          <a:cs typeface="+mn-cs"/>
                        </a:rPr>
                        <a:t>n2</a:t>
                      </a:r>
                      <a:r>
                        <a:rPr kumimoji="0" lang="zh-CN" altLang="en-US" sz="2400" b="1" i="0" u="none" strike="noStrike" kern="1200" cap="none" normalizeH="0" baseline="0" dirty="0">
                          <a:ln>
                            <a:noFill/>
                          </a:ln>
                          <a:solidFill>
                            <a:srgbClr val="014B88"/>
                          </a:solidFill>
                          <a:effectLst/>
                          <a:latin typeface="+mn-ea"/>
                          <a:ea typeface="+mn-ea"/>
                          <a:cs typeface="+mn-cs"/>
                        </a:rPr>
                        <a:t>，则</a:t>
                      </a:r>
                      <a:r>
                        <a:rPr kumimoji="0" lang="en-US" altLang="zh-CN" sz="2400" b="1" i="0" u="none" strike="noStrike" kern="1200" cap="none" normalizeH="0" baseline="0" dirty="0">
                          <a:ln>
                            <a:noFill/>
                          </a:ln>
                          <a:solidFill>
                            <a:srgbClr val="FF0000"/>
                          </a:solidFill>
                          <a:effectLst/>
                          <a:latin typeface="+mn-ea"/>
                          <a:ea typeface="+mn-ea"/>
                          <a:cs typeface="+mn-cs"/>
                        </a:rPr>
                        <a:t>n0=n2+1</a:t>
                      </a:r>
                      <a:r>
                        <a:rPr kumimoji="0" lang="zh-CN" altLang="en-US" sz="2400" b="1" i="0" u="none" strike="noStrike" kern="1200" cap="none" normalizeH="0" baseline="0" dirty="0">
                          <a:ln>
                            <a:noFill/>
                          </a:ln>
                          <a:solidFill>
                            <a:srgbClr val="014B88"/>
                          </a:solidFill>
                          <a:effectLst/>
                          <a:latin typeface="+mn-ea"/>
                          <a:ea typeface="+mn-ea"/>
                          <a:cs typeface="+mn-cs"/>
                        </a:rPr>
                        <a:t>。</a:t>
                      </a:r>
                    </a:p>
                  </a:txBody>
                  <a:tcPr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457745208"/>
                  </a:ext>
                </a:extLst>
              </a:tr>
              <a:tr h="577850">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kern="1200" cap="none" normalizeH="0" baseline="0">
                          <a:ln>
                            <a:noFill/>
                          </a:ln>
                          <a:solidFill>
                            <a:srgbClr val="014B88"/>
                          </a:solidFill>
                          <a:effectLst/>
                          <a:latin typeface="+mn-ea"/>
                          <a:ea typeface="+mn-ea"/>
                          <a:cs typeface="+mn-cs"/>
                        </a:rPr>
                        <a:t>性质４：</a:t>
                      </a:r>
                    </a:p>
                  </a:txBody>
                  <a:tcPr anchor="ctr" horzOverflow="overflow">
                    <a:lnL cap="flat">
                      <a:noFill/>
                    </a:lnL>
                    <a:lnR>
                      <a:noFill/>
                    </a:lnR>
                    <a:lnT>
                      <a:noFill/>
                    </a:lnT>
                    <a:lnB cap="flat">
                      <a:noFill/>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a:spcBef>
                          <a:spcPct val="20000"/>
                        </a:spcBef>
                        <a:defRPr sz="2400">
                          <a:solidFill>
                            <a:schemeClr val="tx1"/>
                          </a:solidFill>
                          <a:latin typeface="Arial" panose="020B0604020202020204" pitchFamily="34" charset="0"/>
                          <a:ea typeface="宋体" panose="02010600030101010101" pitchFamily="2" charset="-122"/>
                        </a:defRPr>
                      </a:lvl2pPr>
                      <a:lvl3pPr>
                        <a:spcBef>
                          <a:spcPct val="20000"/>
                        </a:spcBef>
                        <a:defRPr sz="2000">
                          <a:solidFill>
                            <a:schemeClr val="tx1"/>
                          </a:solidFill>
                          <a:latin typeface="Arial" panose="020B0604020202020204" pitchFamily="34" charset="0"/>
                          <a:ea typeface="宋体" panose="02010600030101010101" pitchFamily="2" charset="-122"/>
                        </a:defRPr>
                      </a:lvl3pPr>
                      <a:lvl4pPr>
                        <a:spcBef>
                          <a:spcPct val="20000"/>
                        </a:spcBef>
                        <a:defRPr>
                          <a:solidFill>
                            <a:schemeClr val="tx1"/>
                          </a:solidFill>
                          <a:latin typeface="Arial" panose="020B0604020202020204" pitchFamily="34" charset="0"/>
                          <a:ea typeface="宋体" panose="02010600030101010101" pitchFamily="2" charset="-122"/>
                        </a:defRPr>
                      </a:lvl4pPr>
                      <a:lvl5pPr>
                        <a:spcBef>
                          <a:spcPct val="20000"/>
                        </a:spcBef>
                        <a:defRPr>
                          <a:solidFill>
                            <a:schemeClr val="tx1"/>
                          </a:solidFill>
                          <a:latin typeface="Arial" panose="020B0604020202020204" pitchFamily="34" charset="0"/>
                          <a:ea typeface="宋体" panose="02010600030101010101" pitchFamily="2" charset="-122"/>
                        </a:defRPr>
                      </a:lvl5pPr>
                      <a:lvl6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CN" altLang="en-US" sz="2400" b="1" i="0" u="none" strike="noStrike" kern="1200" cap="none" normalizeH="0" baseline="0" dirty="0">
                          <a:ln>
                            <a:noFill/>
                          </a:ln>
                          <a:solidFill>
                            <a:srgbClr val="014B88"/>
                          </a:solidFill>
                          <a:effectLst/>
                          <a:latin typeface="+mn-ea"/>
                          <a:ea typeface="+mn-ea"/>
                          <a:cs typeface="+mn-cs"/>
                        </a:rPr>
                        <a:t>具有</a:t>
                      </a:r>
                      <a:r>
                        <a:rPr kumimoji="0" lang="en-US" altLang="zh-CN" sz="2400" b="1" i="0" u="none" strike="noStrike" kern="1200" cap="none" normalizeH="0" baseline="0" dirty="0">
                          <a:ln>
                            <a:noFill/>
                          </a:ln>
                          <a:solidFill>
                            <a:srgbClr val="014B88"/>
                          </a:solidFill>
                          <a:effectLst/>
                          <a:latin typeface="+mn-ea"/>
                          <a:ea typeface="+mn-ea"/>
                          <a:cs typeface="+mn-cs"/>
                        </a:rPr>
                        <a:t>n</a:t>
                      </a:r>
                      <a:r>
                        <a:rPr kumimoji="0" lang="zh-CN" altLang="en-US" sz="2400" b="1" i="0" u="none" strike="noStrike" kern="1200" cap="none" normalizeH="0" baseline="0" dirty="0">
                          <a:ln>
                            <a:noFill/>
                          </a:ln>
                          <a:solidFill>
                            <a:srgbClr val="014B88"/>
                          </a:solidFill>
                          <a:effectLst/>
                          <a:latin typeface="+mn-ea"/>
                          <a:ea typeface="+mn-ea"/>
                          <a:cs typeface="+mn-cs"/>
                        </a:rPr>
                        <a:t>个结点的完全二叉树的深度为</a:t>
                      </a:r>
                      <a:r>
                        <a:rPr kumimoji="0" lang="en-US" altLang="zh-CN" sz="2400" b="1" i="0" u="none" strike="noStrike" kern="1200" cap="none" normalizeH="0" baseline="0" dirty="0">
                          <a:ln>
                            <a:noFill/>
                          </a:ln>
                          <a:solidFill>
                            <a:srgbClr val="FF0000"/>
                          </a:solidFill>
                          <a:effectLst/>
                          <a:latin typeface="+mn-ea"/>
                          <a:ea typeface="+mn-ea"/>
                          <a:cs typeface="+mn-cs"/>
                        </a:rPr>
                        <a:t>|Log2n|+1</a:t>
                      </a:r>
                    </a:p>
                  </a:txBody>
                  <a:tcPr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876782481"/>
                  </a:ext>
                </a:extLst>
              </a:tr>
            </a:tbl>
          </a:graphicData>
        </a:graphic>
      </p:graphicFrame>
      <p:sp>
        <p:nvSpPr>
          <p:cNvPr id="40990" name="Text Box 30">
            <a:extLst>
              <a:ext uri="{FF2B5EF4-FFF2-40B4-BE49-F238E27FC236}">
                <a16:creationId xmlns:a16="http://schemas.microsoft.com/office/drawing/2014/main" id="{7BAA67BB-A6F5-4B9A-AF7D-075829B056FD}"/>
              </a:ext>
            </a:extLst>
          </p:cNvPr>
          <p:cNvSpPr txBox="1">
            <a:spLocks noChangeArrowheads="1"/>
          </p:cNvSpPr>
          <p:nvPr/>
        </p:nvSpPr>
        <p:spPr bwMode="auto">
          <a:xfrm>
            <a:off x="8062663" y="2823448"/>
            <a:ext cx="256192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800" dirty="0"/>
              <a:t>n=n</a:t>
            </a:r>
            <a:r>
              <a:rPr lang="en-US" altLang="zh-CN" sz="2800" b="1" baseline="-25000" dirty="0"/>
              <a:t>0</a:t>
            </a:r>
            <a:r>
              <a:rPr lang="en-US" altLang="zh-CN" sz="2800" dirty="0"/>
              <a:t>+n</a:t>
            </a:r>
            <a:r>
              <a:rPr lang="en-US" altLang="zh-CN" sz="2800" b="1" baseline="-25000" dirty="0"/>
              <a:t>1</a:t>
            </a:r>
            <a:r>
              <a:rPr lang="en-US" altLang="zh-CN" sz="2800" dirty="0"/>
              <a:t>+n</a:t>
            </a:r>
            <a:r>
              <a:rPr lang="en-US" altLang="zh-CN" sz="2800" b="1" baseline="-25000" dirty="0"/>
              <a:t>2</a:t>
            </a:r>
          </a:p>
          <a:p>
            <a:r>
              <a:rPr lang="en-US" altLang="zh-CN" sz="2800" dirty="0"/>
              <a:t>n-1=n</a:t>
            </a:r>
            <a:r>
              <a:rPr lang="en-US" altLang="zh-CN" sz="2800" b="1" baseline="-25000" dirty="0"/>
              <a:t>1</a:t>
            </a:r>
            <a:r>
              <a:rPr lang="en-US" altLang="zh-CN" sz="2800" dirty="0"/>
              <a:t>*1+n</a:t>
            </a:r>
            <a:r>
              <a:rPr lang="en-US" altLang="zh-CN" sz="2800" b="1" baseline="-25000" dirty="0"/>
              <a:t>2</a:t>
            </a:r>
            <a:r>
              <a:rPr lang="en-US" altLang="zh-CN" sz="2800" dirty="0"/>
              <a:t>*2</a:t>
            </a:r>
          </a:p>
        </p:txBody>
      </p:sp>
      <p:sp>
        <p:nvSpPr>
          <p:cNvPr id="40991" name="AutoShape 31">
            <a:extLst>
              <a:ext uri="{FF2B5EF4-FFF2-40B4-BE49-F238E27FC236}">
                <a16:creationId xmlns:a16="http://schemas.microsoft.com/office/drawing/2014/main" id="{C09F5FBE-93D7-413E-B499-85E364C60642}"/>
              </a:ext>
            </a:extLst>
          </p:cNvPr>
          <p:cNvSpPr>
            <a:spLocks/>
          </p:cNvSpPr>
          <p:nvPr/>
        </p:nvSpPr>
        <p:spPr bwMode="auto">
          <a:xfrm>
            <a:off x="7918200" y="2966323"/>
            <a:ext cx="71438" cy="720725"/>
          </a:xfrm>
          <a:prstGeom prst="leftBrace">
            <a:avLst>
              <a:gd name="adj1" fmla="val 84073"/>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41000" name="Picture 40" descr="20041112072430262">
            <a:extLst>
              <a:ext uri="{FF2B5EF4-FFF2-40B4-BE49-F238E27FC236}">
                <a16:creationId xmlns:a16="http://schemas.microsoft.com/office/drawing/2014/main" id="{ADBA5CC0-7E7F-4196-A9DA-660338AF7822}"/>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896" t="55730" r="56166"/>
          <a:stretch>
            <a:fillRect/>
          </a:stretch>
        </p:blipFill>
        <p:spPr bwMode="auto">
          <a:xfrm>
            <a:off x="2279650" y="1557338"/>
            <a:ext cx="4895850" cy="309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36">
            <a:extLst>
              <a:ext uri="{FF2B5EF4-FFF2-40B4-BE49-F238E27FC236}">
                <a16:creationId xmlns:a16="http://schemas.microsoft.com/office/drawing/2014/main" id="{26F45893-35A4-4809-A118-C1DFC3FECBE6}"/>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二叉树的性质</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99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9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73" name="Text Box 37">
            <a:extLst>
              <a:ext uri="{FF2B5EF4-FFF2-40B4-BE49-F238E27FC236}">
                <a16:creationId xmlns:a16="http://schemas.microsoft.com/office/drawing/2014/main" id="{817BC996-BD55-4153-8124-6C2F10DF2CD1}"/>
              </a:ext>
            </a:extLst>
          </p:cNvPr>
          <p:cNvSpPr txBox="1">
            <a:spLocks noChangeArrowheads="1"/>
          </p:cNvSpPr>
          <p:nvPr/>
        </p:nvSpPr>
        <p:spPr bwMode="auto">
          <a:xfrm>
            <a:off x="5232237" y="972053"/>
            <a:ext cx="5849401" cy="16980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50000"/>
              </a:lnSpc>
            </a:pPr>
            <a:r>
              <a:rPr lang="zh-CN" altLang="en-US" sz="2400" b="1" dirty="0">
                <a:solidFill>
                  <a:srgbClr val="014B88"/>
                </a:solidFill>
                <a:latin typeface="+mn-ea"/>
              </a:rPr>
              <a:t>性质</a:t>
            </a:r>
            <a:r>
              <a:rPr lang="en-US" altLang="zh-CN" sz="2400" b="1" dirty="0">
                <a:solidFill>
                  <a:srgbClr val="014B88"/>
                </a:solidFill>
                <a:latin typeface="+mn-ea"/>
              </a:rPr>
              <a:t>5</a:t>
            </a:r>
            <a:r>
              <a:rPr lang="zh-CN" altLang="en-US" sz="2400" b="1" dirty="0">
                <a:solidFill>
                  <a:srgbClr val="014B88"/>
                </a:solidFill>
                <a:latin typeface="+mn-ea"/>
              </a:rPr>
              <a:t>：</a:t>
            </a:r>
          </a:p>
          <a:p>
            <a:pPr>
              <a:lnSpc>
                <a:spcPct val="150000"/>
              </a:lnSpc>
            </a:pPr>
            <a:r>
              <a:rPr lang="zh-CN" altLang="en-US" sz="2400" b="1" dirty="0">
                <a:solidFill>
                  <a:srgbClr val="014B88"/>
                </a:solidFill>
                <a:latin typeface="+mn-ea"/>
              </a:rPr>
              <a:t>如果对一棵有</a:t>
            </a:r>
            <a:r>
              <a:rPr lang="en-US" altLang="zh-CN" sz="2400" b="1" dirty="0">
                <a:solidFill>
                  <a:srgbClr val="014B88"/>
                </a:solidFill>
                <a:latin typeface="+mn-ea"/>
              </a:rPr>
              <a:t>n</a:t>
            </a:r>
            <a:r>
              <a:rPr lang="zh-CN" altLang="en-US" sz="2400" b="1" dirty="0">
                <a:solidFill>
                  <a:srgbClr val="014B88"/>
                </a:solidFill>
                <a:latin typeface="+mn-ea"/>
              </a:rPr>
              <a:t>个结点的完全二叉树的结点按层序编号，则对任一结点</a:t>
            </a:r>
            <a:r>
              <a:rPr lang="en-US" altLang="zh-CN" sz="2400" b="1" dirty="0" err="1">
                <a:solidFill>
                  <a:srgbClr val="014B88"/>
                </a:solidFill>
                <a:latin typeface="+mn-ea"/>
              </a:rPr>
              <a:t>i</a:t>
            </a:r>
            <a:r>
              <a:rPr lang="en-US" altLang="zh-CN" sz="2400" b="1" dirty="0">
                <a:solidFill>
                  <a:srgbClr val="014B88"/>
                </a:solidFill>
                <a:latin typeface="+mn-ea"/>
              </a:rPr>
              <a:t>(1=&lt;</a:t>
            </a:r>
            <a:r>
              <a:rPr lang="en-US" altLang="zh-CN" sz="2400" b="1" dirty="0" err="1">
                <a:solidFill>
                  <a:srgbClr val="014B88"/>
                </a:solidFill>
                <a:latin typeface="+mn-ea"/>
              </a:rPr>
              <a:t>i</a:t>
            </a:r>
            <a:r>
              <a:rPr lang="en-US" altLang="zh-CN" sz="2400" b="1" dirty="0">
                <a:solidFill>
                  <a:srgbClr val="014B88"/>
                </a:solidFill>
                <a:latin typeface="+mn-ea"/>
              </a:rPr>
              <a:t>=&lt;n)</a:t>
            </a:r>
            <a:r>
              <a:rPr lang="zh-CN" altLang="en-US" sz="2400" b="1" dirty="0">
                <a:solidFill>
                  <a:srgbClr val="014B88"/>
                </a:solidFill>
                <a:latin typeface="+mn-ea"/>
              </a:rPr>
              <a:t>有：</a:t>
            </a:r>
          </a:p>
        </p:txBody>
      </p:sp>
      <p:sp>
        <p:nvSpPr>
          <p:cNvPr id="39974" name="Text Box 38">
            <a:extLst>
              <a:ext uri="{FF2B5EF4-FFF2-40B4-BE49-F238E27FC236}">
                <a16:creationId xmlns:a16="http://schemas.microsoft.com/office/drawing/2014/main" id="{CFECA414-1003-4528-BC45-2EB4E46C831C}"/>
              </a:ext>
            </a:extLst>
          </p:cNvPr>
          <p:cNvSpPr txBox="1">
            <a:spLocks noChangeArrowheads="1"/>
          </p:cNvSpPr>
          <p:nvPr/>
        </p:nvSpPr>
        <p:spPr bwMode="auto">
          <a:xfrm>
            <a:off x="5232236" y="2670082"/>
            <a:ext cx="6624963" cy="33600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50000"/>
              </a:lnSpc>
              <a:buFontTx/>
              <a:buChar char="•"/>
            </a:pPr>
            <a:r>
              <a:rPr lang="zh-CN" altLang="en-US" sz="2400" dirty="0"/>
              <a:t>如果</a:t>
            </a:r>
            <a:r>
              <a:rPr lang="en-US" altLang="zh-CN" sz="2400" dirty="0" err="1"/>
              <a:t>i</a:t>
            </a:r>
            <a:r>
              <a:rPr lang="en-US" altLang="zh-CN" sz="2400" dirty="0"/>
              <a:t>=1,</a:t>
            </a:r>
            <a:r>
              <a:rPr lang="zh-CN" altLang="en-US" sz="2400" dirty="0"/>
              <a:t>则结点</a:t>
            </a:r>
            <a:r>
              <a:rPr lang="en-US" altLang="zh-CN" sz="2400" dirty="0" err="1"/>
              <a:t>i</a:t>
            </a:r>
            <a:r>
              <a:rPr lang="zh-CN" altLang="en-US" sz="2400" dirty="0"/>
              <a:t>是二叉树的根</a:t>
            </a:r>
            <a:r>
              <a:rPr lang="en-US" altLang="zh-CN" sz="2400" dirty="0"/>
              <a:t>,</a:t>
            </a:r>
            <a:r>
              <a:rPr lang="zh-CN" altLang="en-US" sz="2400" dirty="0"/>
              <a:t>无父亲结点</a:t>
            </a:r>
            <a:r>
              <a:rPr lang="en-US" altLang="zh-CN" sz="2400" dirty="0"/>
              <a:t>;</a:t>
            </a:r>
            <a:r>
              <a:rPr lang="zh-CN" altLang="en-US" sz="2400" dirty="0"/>
              <a:t>如果</a:t>
            </a:r>
            <a:r>
              <a:rPr lang="en-US" altLang="zh-CN" sz="2400" dirty="0" err="1"/>
              <a:t>i</a:t>
            </a:r>
            <a:r>
              <a:rPr lang="en-US" altLang="zh-CN" sz="2400" dirty="0"/>
              <a:t>&gt;1,</a:t>
            </a:r>
            <a:r>
              <a:rPr lang="zh-CN" altLang="en-US" sz="2400" dirty="0"/>
              <a:t>则父亲是结点</a:t>
            </a:r>
            <a:r>
              <a:rPr lang="en-US" altLang="zh-CN" sz="2400" b="1" dirty="0" err="1">
                <a:solidFill>
                  <a:srgbClr val="FF0000"/>
                </a:solidFill>
              </a:rPr>
              <a:t>i</a:t>
            </a:r>
            <a:r>
              <a:rPr lang="en-US" altLang="zh-CN" sz="2400" b="1" dirty="0">
                <a:solidFill>
                  <a:srgbClr val="FF0000"/>
                </a:solidFill>
              </a:rPr>
              <a:t>/2</a:t>
            </a:r>
            <a:r>
              <a:rPr lang="en-US" altLang="zh-CN" sz="2400" b="1" dirty="0"/>
              <a:t>;</a:t>
            </a:r>
          </a:p>
          <a:p>
            <a:pPr>
              <a:lnSpc>
                <a:spcPct val="150000"/>
              </a:lnSpc>
              <a:buFontTx/>
              <a:buChar char="•"/>
            </a:pPr>
            <a:r>
              <a:rPr lang="zh-CN" altLang="en-US" sz="2400" dirty="0"/>
              <a:t>如果</a:t>
            </a:r>
            <a:r>
              <a:rPr lang="en-US" altLang="zh-CN" sz="2400" dirty="0"/>
              <a:t>2i&gt;n,</a:t>
            </a:r>
            <a:r>
              <a:rPr lang="zh-CN" altLang="en-US" sz="2400" dirty="0"/>
              <a:t>则结点</a:t>
            </a:r>
            <a:r>
              <a:rPr lang="en-US" altLang="zh-CN" sz="2400" dirty="0" err="1"/>
              <a:t>i</a:t>
            </a:r>
            <a:r>
              <a:rPr lang="zh-CN" altLang="en-US" sz="2400" dirty="0"/>
              <a:t>无左儿子</a:t>
            </a:r>
            <a:r>
              <a:rPr lang="en-US" altLang="zh-CN" sz="2400" dirty="0"/>
              <a:t>(</a:t>
            </a:r>
            <a:r>
              <a:rPr lang="zh-CN" altLang="en-US" sz="2400" dirty="0"/>
              <a:t>结点</a:t>
            </a:r>
            <a:r>
              <a:rPr lang="en-US" altLang="zh-CN" sz="2400" dirty="0" err="1"/>
              <a:t>i</a:t>
            </a:r>
            <a:r>
              <a:rPr lang="zh-CN" altLang="en-US" sz="2400" dirty="0"/>
              <a:t>为叶子结点</a:t>
            </a:r>
            <a:r>
              <a:rPr lang="en-US" altLang="zh-CN" sz="2400" dirty="0"/>
              <a:t>);</a:t>
            </a:r>
            <a:r>
              <a:rPr lang="zh-CN" altLang="en-US" sz="2400" dirty="0"/>
              <a:t>否则其左儿子是结点</a:t>
            </a:r>
            <a:r>
              <a:rPr lang="en-US" altLang="zh-CN" sz="2400" b="1" dirty="0">
                <a:solidFill>
                  <a:srgbClr val="FF0000"/>
                </a:solidFill>
              </a:rPr>
              <a:t>2i;</a:t>
            </a:r>
            <a:endParaRPr lang="en-US" altLang="zh-CN" sz="2400" b="1" dirty="0"/>
          </a:p>
          <a:p>
            <a:pPr>
              <a:lnSpc>
                <a:spcPct val="150000"/>
              </a:lnSpc>
              <a:buFontTx/>
              <a:buChar char="•"/>
            </a:pPr>
            <a:r>
              <a:rPr lang="zh-CN" altLang="en-US" sz="2400" dirty="0"/>
              <a:t>如果</a:t>
            </a:r>
            <a:r>
              <a:rPr lang="en-US" altLang="zh-CN" sz="2400" dirty="0"/>
              <a:t>2i+1&gt;n,</a:t>
            </a:r>
            <a:r>
              <a:rPr lang="zh-CN" altLang="en-US" sz="2400" dirty="0"/>
              <a:t>则结点</a:t>
            </a:r>
            <a:r>
              <a:rPr lang="en-US" altLang="zh-CN" sz="2400" dirty="0" err="1"/>
              <a:t>i</a:t>
            </a:r>
            <a:r>
              <a:rPr lang="zh-CN" altLang="en-US" sz="2400" dirty="0"/>
              <a:t>无右儿子</a:t>
            </a:r>
            <a:r>
              <a:rPr lang="en-US" altLang="zh-CN" sz="2400" dirty="0"/>
              <a:t>;</a:t>
            </a:r>
            <a:r>
              <a:rPr lang="zh-CN" altLang="en-US" sz="2400" dirty="0"/>
              <a:t>否则其右儿子是结点</a:t>
            </a:r>
            <a:r>
              <a:rPr lang="en-US" altLang="zh-CN" sz="2400" b="1" dirty="0">
                <a:solidFill>
                  <a:srgbClr val="FF0000"/>
                </a:solidFill>
              </a:rPr>
              <a:t>2i+1</a:t>
            </a:r>
            <a:r>
              <a:rPr lang="en-US" altLang="zh-CN" sz="2400" b="1" dirty="0"/>
              <a:t>;</a:t>
            </a:r>
            <a:endParaRPr lang="en-US" altLang="zh-CN" sz="2400" dirty="0"/>
          </a:p>
        </p:txBody>
      </p:sp>
      <p:pic>
        <p:nvPicPr>
          <p:cNvPr id="39975" name="Picture 39" descr="20041112072430262">
            <a:extLst>
              <a:ext uri="{FF2B5EF4-FFF2-40B4-BE49-F238E27FC236}">
                <a16:creationId xmlns:a16="http://schemas.microsoft.com/office/drawing/2014/main" id="{8D38A09F-38CC-46ED-A5C6-5BAADBC6565C}"/>
              </a:ext>
            </a:extLst>
          </p:cNvPr>
          <p:cNvPicPr>
            <a:picLocks noChangeAspect="1" noChangeArrowheads="1"/>
          </p:cNvPicPr>
          <p:nvPr/>
        </p:nvPicPr>
        <p:blipFill>
          <a:blip r:embed="rId2">
            <a:clrChange>
              <a:clrFrom>
                <a:srgbClr val="FEFEFE"/>
              </a:clrFrom>
              <a:clrTo>
                <a:srgbClr val="FEFEFE">
                  <a:alpha val="0"/>
                </a:srgbClr>
              </a:clrTo>
            </a:clrChange>
            <a:extLst>
              <a:ext uri="{28A0092B-C50C-407E-A947-70E740481C1C}">
                <a14:useLocalDpi xmlns:a14="http://schemas.microsoft.com/office/drawing/2010/main" val="0"/>
              </a:ext>
            </a:extLst>
          </a:blip>
          <a:srcRect l="49120" t="-1448" b="52370"/>
          <a:stretch>
            <a:fillRect/>
          </a:stretch>
        </p:blipFill>
        <p:spPr bwMode="auto">
          <a:xfrm>
            <a:off x="334800" y="1297564"/>
            <a:ext cx="4897437" cy="439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36">
            <a:extLst>
              <a:ext uri="{FF2B5EF4-FFF2-40B4-BE49-F238E27FC236}">
                <a16:creationId xmlns:a16="http://schemas.microsoft.com/office/drawing/2014/main" id="{76B087FA-9F13-4F52-8EAE-05C81E974232}"/>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二叉树的性质</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974">
                                            <p:txEl>
                                              <p:pRg st="0" end="0"/>
                                            </p:txEl>
                                          </p:spTgt>
                                        </p:tgtEl>
                                        <p:attrNameLst>
                                          <p:attrName>style.visibility</p:attrName>
                                        </p:attrNameLst>
                                      </p:cBhvr>
                                      <p:to>
                                        <p:strVal val="visible"/>
                                      </p:to>
                                    </p:set>
                                    <p:animEffect transition="in" filter="fade">
                                      <p:cBhvr>
                                        <p:cTn id="7" dur="1000"/>
                                        <p:tgtEl>
                                          <p:spTgt spid="39974">
                                            <p:txEl>
                                              <p:pRg st="0" end="0"/>
                                            </p:txEl>
                                          </p:spTgt>
                                        </p:tgtEl>
                                      </p:cBhvr>
                                    </p:animEffect>
                                    <p:anim calcmode="lin" valueType="num">
                                      <p:cBhvr>
                                        <p:cTn id="8" dur="1000" fill="hold"/>
                                        <p:tgtEl>
                                          <p:spTgt spid="3997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997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9974">
                                            <p:txEl>
                                              <p:pRg st="1" end="1"/>
                                            </p:txEl>
                                          </p:spTgt>
                                        </p:tgtEl>
                                        <p:attrNameLst>
                                          <p:attrName>style.visibility</p:attrName>
                                        </p:attrNameLst>
                                      </p:cBhvr>
                                      <p:to>
                                        <p:strVal val="visible"/>
                                      </p:to>
                                    </p:set>
                                    <p:animEffect transition="in" filter="fade">
                                      <p:cBhvr>
                                        <p:cTn id="14" dur="1000"/>
                                        <p:tgtEl>
                                          <p:spTgt spid="39974">
                                            <p:txEl>
                                              <p:pRg st="1" end="1"/>
                                            </p:txEl>
                                          </p:spTgt>
                                        </p:tgtEl>
                                      </p:cBhvr>
                                    </p:animEffect>
                                    <p:anim calcmode="lin" valueType="num">
                                      <p:cBhvr>
                                        <p:cTn id="15" dur="1000" fill="hold"/>
                                        <p:tgtEl>
                                          <p:spTgt spid="3997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997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9974">
                                            <p:txEl>
                                              <p:pRg st="2" end="2"/>
                                            </p:txEl>
                                          </p:spTgt>
                                        </p:tgtEl>
                                        <p:attrNameLst>
                                          <p:attrName>style.visibility</p:attrName>
                                        </p:attrNameLst>
                                      </p:cBhvr>
                                      <p:to>
                                        <p:strVal val="visible"/>
                                      </p:to>
                                    </p:set>
                                    <p:animEffect transition="in" filter="fade">
                                      <p:cBhvr>
                                        <p:cTn id="21" dur="1000"/>
                                        <p:tgtEl>
                                          <p:spTgt spid="39974">
                                            <p:txEl>
                                              <p:pRg st="2" end="2"/>
                                            </p:txEl>
                                          </p:spTgt>
                                        </p:tgtEl>
                                      </p:cBhvr>
                                    </p:animEffect>
                                    <p:anim calcmode="lin" valueType="num">
                                      <p:cBhvr>
                                        <p:cTn id="22" dur="1000" fill="hold"/>
                                        <p:tgtEl>
                                          <p:spTgt spid="3997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997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74" grpId="0" build="allAtOnce"/>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descr="20041112072736446">
            <a:extLst>
              <a:ext uri="{FF2B5EF4-FFF2-40B4-BE49-F238E27FC236}">
                <a16:creationId xmlns:a16="http://schemas.microsoft.com/office/drawing/2014/main" id="{8D4BAFFB-1891-468B-85B9-6C2F444EEFD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0738" y="1125539"/>
            <a:ext cx="5472112" cy="309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835" name="Group 283">
            <a:extLst>
              <a:ext uri="{FF2B5EF4-FFF2-40B4-BE49-F238E27FC236}">
                <a16:creationId xmlns:a16="http://schemas.microsoft.com/office/drawing/2014/main" id="{EE3347CA-27D6-4EBD-AE66-50A8DDDC1D44}"/>
              </a:ext>
            </a:extLst>
          </p:cNvPr>
          <p:cNvGraphicFramePr>
            <a:graphicFrameLocks noGrp="1"/>
          </p:cNvGraphicFramePr>
          <p:nvPr>
            <p:ph idx="1"/>
          </p:nvPr>
        </p:nvGraphicFramePr>
        <p:xfrm>
          <a:off x="1919288" y="4149726"/>
          <a:ext cx="8229600" cy="1006476"/>
        </p:xfrm>
        <a:graphic>
          <a:graphicData uri="http://schemas.openxmlformats.org/drawingml/2006/table">
            <a:tbl>
              <a:tblPr/>
              <a:tblGrid>
                <a:gridCol w="801687">
                  <a:extLst>
                    <a:ext uri="{9D8B030D-6E8A-4147-A177-3AD203B41FA5}">
                      <a16:colId xmlns:a16="http://schemas.microsoft.com/office/drawing/2014/main" val="1953622810"/>
                    </a:ext>
                  </a:extLst>
                </a:gridCol>
                <a:gridCol w="360363">
                  <a:extLst>
                    <a:ext uri="{9D8B030D-6E8A-4147-A177-3AD203B41FA5}">
                      <a16:colId xmlns:a16="http://schemas.microsoft.com/office/drawing/2014/main" val="4032593678"/>
                    </a:ext>
                  </a:extLst>
                </a:gridCol>
                <a:gridCol w="493712">
                  <a:extLst>
                    <a:ext uri="{9D8B030D-6E8A-4147-A177-3AD203B41FA5}">
                      <a16:colId xmlns:a16="http://schemas.microsoft.com/office/drawing/2014/main" val="16369976"/>
                    </a:ext>
                  </a:extLst>
                </a:gridCol>
                <a:gridCol w="401638">
                  <a:extLst>
                    <a:ext uri="{9D8B030D-6E8A-4147-A177-3AD203B41FA5}">
                      <a16:colId xmlns:a16="http://schemas.microsoft.com/office/drawing/2014/main" val="2536539713"/>
                    </a:ext>
                  </a:extLst>
                </a:gridCol>
                <a:gridCol w="514350">
                  <a:extLst>
                    <a:ext uri="{9D8B030D-6E8A-4147-A177-3AD203B41FA5}">
                      <a16:colId xmlns:a16="http://schemas.microsoft.com/office/drawing/2014/main" val="153416443"/>
                    </a:ext>
                  </a:extLst>
                </a:gridCol>
                <a:gridCol w="534987">
                  <a:extLst>
                    <a:ext uri="{9D8B030D-6E8A-4147-A177-3AD203B41FA5}">
                      <a16:colId xmlns:a16="http://schemas.microsoft.com/office/drawing/2014/main" val="2339706876"/>
                    </a:ext>
                  </a:extLst>
                </a:gridCol>
                <a:gridCol w="493713">
                  <a:extLst>
                    <a:ext uri="{9D8B030D-6E8A-4147-A177-3AD203B41FA5}">
                      <a16:colId xmlns:a16="http://schemas.microsoft.com/office/drawing/2014/main" val="3086643664"/>
                    </a:ext>
                  </a:extLst>
                </a:gridCol>
                <a:gridCol w="514350">
                  <a:extLst>
                    <a:ext uri="{9D8B030D-6E8A-4147-A177-3AD203B41FA5}">
                      <a16:colId xmlns:a16="http://schemas.microsoft.com/office/drawing/2014/main" val="225233734"/>
                    </a:ext>
                  </a:extLst>
                </a:gridCol>
                <a:gridCol w="493712">
                  <a:extLst>
                    <a:ext uri="{9D8B030D-6E8A-4147-A177-3AD203B41FA5}">
                      <a16:colId xmlns:a16="http://schemas.microsoft.com/office/drawing/2014/main" val="3378816781"/>
                    </a:ext>
                  </a:extLst>
                </a:gridCol>
                <a:gridCol w="504825">
                  <a:extLst>
                    <a:ext uri="{9D8B030D-6E8A-4147-A177-3AD203B41FA5}">
                      <a16:colId xmlns:a16="http://schemas.microsoft.com/office/drawing/2014/main" val="4257380539"/>
                    </a:ext>
                  </a:extLst>
                </a:gridCol>
                <a:gridCol w="544513">
                  <a:extLst>
                    <a:ext uri="{9D8B030D-6E8A-4147-A177-3AD203B41FA5}">
                      <a16:colId xmlns:a16="http://schemas.microsoft.com/office/drawing/2014/main" val="4140179030"/>
                    </a:ext>
                  </a:extLst>
                </a:gridCol>
                <a:gridCol w="514350">
                  <a:extLst>
                    <a:ext uri="{9D8B030D-6E8A-4147-A177-3AD203B41FA5}">
                      <a16:colId xmlns:a16="http://schemas.microsoft.com/office/drawing/2014/main" val="3725953761"/>
                    </a:ext>
                  </a:extLst>
                </a:gridCol>
                <a:gridCol w="514350">
                  <a:extLst>
                    <a:ext uri="{9D8B030D-6E8A-4147-A177-3AD203B41FA5}">
                      <a16:colId xmlns:a16="http://schemas.microsoft.com/office/drawing/2014/main" val="70680184"/>
                    </a:ext>
                  </a:extLst>
                </a:gridCol>
                <a:gridCol w="514350">
                  <a:extLst>
                    <a:ext uri="{9D8B030D-6E8A-4147-A177-3AD203B41FA5}">
                      <a16:colId xmlns:a16="http://schemas.microsoft.com/office/drawing/2014/main" val="4281685967"/>
                    </a:ext>
                  </a:extLst>
                </a:gridCol>
                <a:gridCol w="514350">
                  <a:extLst>
                    <a:ext uri="{9D8B030D-6E8A-4147-A177-3AD203B41FA5}">
                      <a16:colId xmlns:a16="http://schemas.microsoft.com/office/drawing/2014/main" val="2618786262"/>
                    </a:ext>
                  </a:extLst>
                </a:gridCol>
                <a:gridCol w="514350">
                  <a:extLst>
                    <a:ext uri="{9D8B030D-6E8A-4147-A177-3AD203B41FA5}">
                      <a16:colId xmlns:a16="http://schemas.microsoft.com/office/drawing/2014/main" val="1576358325"/>
                    </a:ext>
                  </a:extLst>
                </a:gridCol>
              </a:tblGrid>
              <a:tr h="503238">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13</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15</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13352710"/>
                  </a:ext>
                </a:extLst>
              </a:tr>
              <a:tr h="503238">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73C8E3">
                        <a:alpha val="50000"/>
                      </a:srgb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73C8E3">
                        <a:alpha val="50000"/>
                      </a:srgb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73C8E3">
                        <a:alpha val="50000"/>
                      </a:srgb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73C8E3">
                        <a:alpha val="50000"/>
                      </a:srgb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5</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73C8E3">
                        <a:alpha val="50000"/>
                      </a:srgb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accent1"/>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accent1"/>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endParaRPr kumimoji="0" lang="en-US" altLang="zh-CN" sz="3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tc>
                  <a:txBody>
                    <a:bodyPr/>
                    <a:lstStyle>
                      <a:lvl1pPr marL="342900" indent="-342900">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chemeClr val="tx1"/>
                          </a:solidFill>
                          <a:effectLst/>
                          <a:latin typeface="Arial" panose="020B060402020202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chemeClr val="bg2">
                        <a:alpha val="50000"/>
                      </a:schemeClr>
                    </a:solidFill>
                  </a:tcPr>
                </a:tc>
                <a:extLst>
                  <a:ext uri="{0D108BD9-81ED-4DB2-BD59-A6C34878D82A}">
                    <a16:rowId xmlns:a16="http://schemas.microsoft.com/office/drawing/2014/main" val="2384605876"/>
                  </a:ext>
                </a:extLst>
              </a:tr>
            </a:tbl>
          </a:graphicData>
        </a:graphic>
      </p:graphicFrame>
      <p:sp>
        <p:nvSpPr>
          <p:cNvPr id="23765" name="Text Box 213">
            <a:extLst>
              <a:ext uri="{FF2B5EF4-FFF2-40B4-BE49-F238E27FC236}">
                <a16:creationId xmlns:a16="http://schemas.microsoft.com/office/drawing/2014/main" id="{87B4AC16-18AF-4C31-A26E-DE7F20FCA0CF}"/>
              </a:ext>
            </a:extLst>
          </p:cNvPr>
          <p:cNvSpPr txBox="1">
            <a:spLocks noChangeArrowheads="1"/>
          </p:cNvSpPr>
          <p:nvPr/>
        </p:nvSpPr>
        <p:spPr bwMode="auto">
          <a:xfrm>
            <a:off x="1919288" y="5373688"/>
            <a:ext cx="455771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b="1"/>
              <a:t>优点：编程简单，安全</a:t>
            </a:r>
          </a:p>
          <a:p>
            <a:r>
              <a:rPr lang="zh-CN" altLang="en-US" b="1"/>
              <a:t>缺点：对非完全二叉树而言，浪费存储空间</a:t>
            </a:r>
          </a:p>
        </p:txBody>
      </p:sp>
      <p:sp>
        <p:nvSpPr>
          <p:cNvPr id="8" name="TextBox 36">
            <a:extLst>
              <a:ext uri="{FF2B5EF4-FFF2-40B4-BE49-F238E27FC236}">
                <a16:creationId xmlns:a16="http://schemas.microsoft.com/office/drawing/2014/main" id="{26EE0A0C-E4B3-40B2-ADBE-0333ADBA4C41}"/>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二叉树的顺序存储结构</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23835"/>
                                        </p:tgtEl>
                                        <p:attrNameLst>
                                          <p:attrName>style.visibility</p:attrName>
                                        </p:attrNameLst>
                                      </p:cBhvr>
                                      <p:to>
                                        <p:strVal val="visible"/>
                                      </p:to>
                                    </p:set>
                                    <p:animEffect transition="in" filter="fade">
                                      <p:cBhvr>
                                        <p:cTn id="7" dur="500"/>
                                        <p:tgtEl>
                                          <p:spTgt spid="23835"/>
                                        </p:tgtEl>
                                      </p:cBhvr>
                                    </p:animEffect>
                                    <p:anim calcmode="lin" valueType="num">
                                      <p:cBhvr>
                                        <p:cTn id="8" dur="500" fill="hold"/>
                                        <p:tgtEl>
                                          <p:spTgt spid="23835"/>
                                        </p:tgtEl>
                                        <p:attrNameLst>
                                          <p:attrName>ppt_x</p:attrName>
                                        </p:attrNameLst>
                                      </p:cBhvr>
                                      <p:tavLst>
                                        <p:tav tm="0">
                                          <p:val>
                                            <p:strVal val="#ppt_x"/>
                                          </p:val>
                                        </p:tav>
                                        <p:tav tm="100000">
                                          <p:val>
                                            <p:strVal val="#ppt_x"/>
                                          </p:val>
                                        </p:tav>
                                      </p:tavLst>
                                    </p:anim>
                                    <p:anim calcmode="lin" valueType="num">
                                      <p:cBhvr>
                                        <p:cTn id="9" dur="500" fill="hold"/>
                                        <p:tgtEl>
                                          <p:spTgt spid="2383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3765"/>
                                        </p:tgtEl>
                                        <p:attrNameLst>
                                          <p:attrName>style.visibility</p:attrName>
                                        </p:attrNameLst>
                                      </p:cBhvr>
                                      <p:to>
                                        <p:strVal val="visible"/>
                                      </p:to>
                                    </p:set>
                                    <p:animEffect transition="in" filter="fade">
                                      <p:cBhvr>
                                        <p:cTn id="14" dur="500"/>
                                        <p:tgtEl>
                                          <p:spTgt spid="23765"/>
                                        </p:tgtEl>
                                      </p:cBhvr>
                                    </p:animEffect>
                                    <p:anim calcmode="lin" valueType="num">
                                      <p:cBhvr>
                                        <p:cTn id="15" dur="500" fill="hold"/>
                                        <p:tgtEl>
                                          <p:spTgt spid="23765"/>
                                        </p:tgtEl>
                                        <p:attrNameLst>
                                          <p:attrName>ppt_x</p:attrName>
                                        </p:attrNameLst>
                                      </p:cBhvr>
                                      <p:tavLst>
                                        <p:tav tm="0">
                                          <p:val>
                                            <p:strVal val="#ppt_x"/>
                                          </p:val>
                                        </p:tav>
                                        <p:tav tm="100000">
                                          <p:val>
                                            <p:strVal val="#ppt_x"/>
                                          </p:val>
                                        </p:tav>
                                      </p:tavLst>
                                    </p:anim>
                                    <p:anim calcmode="lin" valueType="num">
                                      <p:cBhvr>
                                        <p:cTn id="16" dur="500" fill="hold"/>
                                        <p:tgtEl>
                                          <p:spTgt spid="2376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6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9" name="Picture 5" descr="20041112072738536">
            <a:extLst>
              <a:ext uri="{FF2B5EF4-FFF2-40B4-BE49-F238E27FC236}">
                <a16:creationId xmlns:a16="http://schemas.microsoft.com/office/drawing/2014/main" id="{4200A308-7CCF-46FD-952E-E3E2A056620F}"/>
              </a:ext>
            </a:extLst>
          </p:cNvPr>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16050" y="1125539"/>
            <a:ext cx="4897438" cy="453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30" name="Text Box 6">
            <a:extLst>
              <a:ext uri="{FF2B5EF4-FFF2-40B4-BE49-F238E27FC236}">
                <a16:creationId xmlns:a16="http://schemas.microsoft.com/office/drawing/2014/main" id="{4B9D2296-4A38-4211-97B5-F5D6E4F2F233}"/>
              </a:ext>
            </a:extLst>
          </p:cNvPr>
          <p:cNvSpPr txBox="1">
            <a:spLocks noChangeArrowheads="1"/>
          </p:cNvSpPr>
          <p:nvPr/>
        </p:nvSpPr>
        <p:spPr bwMode="auto">
          <a:xfrm>
            <a:off x="6215064" y="1557338"/>
            <a:ext cx="4198585" cy="35394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800" b="1">
                <a:ea typeface="MS UI Gothic" panose="020B0600070205080204" pitchFamily="34" charset="-128"/>
              </a:rPr>
              <a:t>struct</a:t>
            </a:r>
            <a:r>
              <a:rPr lang="en-US" altLang="zh-CN" sz="2800">
                <a:ea typeface="MS UI Gothic" panose="020B0600070205080204" pitchFamily="34" charset="-128"/>
              </a:rPr>
              <a:t> node</a:t>
            </a:r>
          </a:p>
          <a:p>
            <a:r>
              <a:rPr lang="en-US" altLang="zh-CN" sz="2800">
                <a:ea typeface="MS UI Gothic" panose="020B0600070205080204" pitchFamily="34" charset="-128"/>
              </a:rPr>
              <a:t>{</a:t>
            </a:r>
          </a:p>
          <a:p>
            <a:r>
              <a:rPr lang="zh-CN" altLang="en-US" sz="2800">
                <a:ea typeface="MS UI Gothic" panose="020B0600070205080204" pitchFamily="34" charset="-128"/>
              </a:rPr>
              <a:t>　　</a:t>
            </a:r>
            <a:r>
              <a:rPr lang="en-US" altLang="zh-CN" sz="2800" b="1">
                <a:ea typeface="MS UI Gothic" panose="020B0600070205080204" pitchFamily="34" charset="-128"/>
              </a:rPr>
              <a:t>int</a:t>
            </a:r>
            <a:r>
              <a:rPr lang="en-US" altLang="zh-CN" sz="2800">
                <a:ea typeface="MS UI Gothic" panose="020B0600070205080204" pitchFamily="34" charset="-128"/>
              </a:rPr>
              <a:t> key;</a:t>
            </a:r>
          </a:p>
          <a:p>
            <a:r>
              <a:rPr lang="zh-CN" altLang="en-US" sz="2800">
                <a:ea typeface="MS UI Gothic" panose="020B0600070205080204" pitchFamily="34" charset="-128"/>
              </a:rPr>
              <a:t>　　</a:t>
            </a:r>
            <a:r>
              <a:rPr lang="en-US" altLang="zh-CN" sz="2800">
                <a:ea typeface="MS UI Gothic" panose="020B0600070205080204" pitchFamily="34" charset="-128"/>
              </a:rPr>
              <a:t>node *ls,*rs;</a:t>
            </a:r>
          </a:p>
          <a:p>
            <a:r>
              <a:rPr lang="en-US" altLang="zh-CN" sz="2800">
                <a:ea typeface="MS UI Gothic" panose="020B0600070205080204" pitchFamily="34" charset="-128"/>
              </a:rPr>
              <a:t>};</a:t>
            </a:r>
          </a:p>
          <a:p>
            <a:r>
              <a:rPr lang="en-US" altLang="zh-CN" sz="2800">
                <a:ea typeface="MS UI Gothic" panose="020B0600070205080204" pitchFamily="34" charset="-128"/>
              </a:rPr>
              <a:t>node *root=</a:t>
            </a:r>
            <a:r>
              <a:rPr lang="en-US" altLang="zh-CN" sz="2800" b="1">
                <a:ea typeface="MS UI Gothic" panose="020B0600070205080204" pitchFamily="34" charset="-128"/>
              </a:rPr>
              <a:t>new</a:t>
            </a:r>
            <a:r>
              <a:rPr lang="en-US" altLang="zh-CN" sz="2800">
                <a:ea typeface="MS UI Gothic" panose="020B0600070205080204" pitchFamily="34" charset="-128"/>
              </a:rPr>
              <a:t> node;</a:t>
            </a:r>
          </a:p>
          <a:p>
            <a:r>
              <a:rPr lang="en-US" altLang="zh-CN" sz="2800">
                <a:ea typeface="MS UI Gothic" panose="020B0600070205080204" pitchFamily="34" charset="-128"/>
              </a:rPr>
              <a:t>root-&gt;key=-1;</a:t>
            </a:r>
          </a:p>
          <a:p>
            <a:r>
              <a:rPr lang="en-US" altLang="zh-CN" sz="2800">
                <a:ea typeface="MS UI Gothic" panose="020B0600070205080204" pitchFamily="34" charset="-128"/>
              </a:rPr>
              <a:t>root-&gt;ls=root-&gt;rs=NULL;</a:t>
            </a:r>
          </a:p>
        </p:txBody>
      </p:sp>
      <p:sp>
        <p:nvSpPr>
          <p:cNvPr id="7" name="TextBox 36">
            <a:extLst>
              <a:ext uri="{FF2B5EF4-FFF2-40B4-BE49-F238E27FC236}">
                <a16:creationId xmlns:a16="http://schemas.microsoft.com/office/drawing/2014/main" id="{0A7C8191-B14E-4D9F-99DB-C199CA04D6EE}"/>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二叉树的链式存储结构</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6630"/>
                                        </p:tgtEl>
                                        <p:attrNameLst>
                                          <p:attrName>style.visibility</p:attrName>
                                        </p:attrNameLst>
                                      </p:cBhvr>
                                      <p:to>
                                        <p:strVal val="visible"/>
                                      </p:to>
                                    </p:set>
                                    <p:animEffect transition="in" filter="blinds(horizontal)">
                                      <p:cBhvr>
                                        <p:cTn id="7" dur="500"/>
                                        <p:tgtEl>
                                          <p:spTgt spid="266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3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7" name="Text Box 5">
            <a:extLst>
              <a:ext uri="{FF2B5EF4-FFF2-40B4-BE49-F238E27FC236}">
                <a16:creationId xmlns:a16="http://schemas.microsoft.com/office/drawing/2014/main" id="{23C01098-FD46-4971-B29E-5874EBE4205E}"/>
              </a:ext>
            </a:extLst>
          </p:cNvPr>
          <p:cNvSpPr txBox="1">
            <a:spLocks noChangeArrowheads="1"/>
          </p:cNvSpPr>
          <p:nvPr/>
        </p:nvSpPr>
        <p:spPr bwMode="auto">
          <a:xfrm>
            <a:off x="928246" y="1161509"/>
            <a:ext cx="7991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indent="-457200">
              <a:buFont typeface="Wingdings" panose="05000000000000000000" pitchFamily="2" charset="2"/>
              <a:buChar char="l"/>
            </a:pPr>
            <a:r>
              <a:rPr lang="zh-CN" altLang="en-US" sz="2400" b="1" dirty="0">
                <a:solidFill>
                  <a:srgbClr val="014B88"/>
                </a:solidFill>
              </a:rPr>
              <a:t>遍历：按照一定顺序访问且仅访问一次树中每一个结点。</a:t>
            </a:r>
          </a:p>
        </p:txBody>
      </p:sp>
      <p:sp>
        <p:nvSpPr>
          <p:cNvPr id="28678" name="Text Box 6">
            <a:extLst>
              <a:ext uri="{FF2B5EF4-FFF2-40B4-BE49-F238E27FC236}">
                <a16:creationId xmlns:a16="http://schemas.microsoft.com/office/drawing/2014/main" id="{0FEF37D2-EF49-4CEE-88D3-3975BC63819A}"/>
              </a:ext>
            </a:extLst>
          </p:cNvPr>
          <p:cNvSpPr txBox="1">
            <a:spLocks noChangeArrowheads="1"/>
          </p:cNvSpPr>
          <p:nvPr/>
        </p:nvSpPr>
        <p:spPr bwMode="auto">
          <a:xfrm>
            <a:off x="979487" y="4385966"/>
            <a:ext cx="9136867" cy="2123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200" dirty="0"/>
              <a:t>前序遍历</a:t>
            </a:r>
            <a:r>
              <a:rPr lang="en-US" altLang="zh-CN" sz="2200" dirty="0"/>
              <a:t>(VLR</a:t>
            </a:r>
            <a:r>
              <a:rPr lang="zh-CN" altLang="en-US" sz="2200" dirty="0"/>
              <a:t>次序</a:t>
            </a:r>
            <a:r>
              <a:rPr lang="en-US" altLang="zh-CN" sz="2200" dirty="0"/>
              <a:t>):</a:t>
            </a:r>
          </a:p>
          <a:p>
            <a:r>
              <a:rPr lang="zh-CN" altLang="en-US" sz="2200" dirty="0"/>
              <a:t>访问当前结点，前序遍历左子树，前序遍历右子树。</a:t>
            </a:r>
          </a:p>
          <a:p>
            <a:r>
              <a:rPr lang="zh-CN" altLang="en-US" sz="2200" dirty="0"/>
              <a:t>中序遍历</a:t>
            </a:r>
            <a:r>
              <a:rPr lang="en-US" altLang="zh-CN" sz="2200" dirty="0"/>
              <a:t>(LVR</a:t>
            </a:r>
            <a:r>
              <a:rPr lang="zh-CN" altLang="en-US" sz="2200" dirty="0"/>
              <a:t>次序</a:t>
            </a:r>
            <a:r>
              <a:rPr lang="en-US" altLang="zh-CN" sz="2200" dirty="0"/>
              <a:t>)</a:t>
            </a:r>
          </a:p>
          <a:p>
            <a:r>
              <a:rPr lang="zh-CN" altLang="en-US" sz="2200" dirty="0"/>
              <a:t>中序遍历左子树，访问当前结点，中序遍历右子树。</a:t>
            </a:r>
          </a:p>
          <a:p>
            <a:r>
              <a:rPr lang="zh-CN" altLang="en-US" sz="2200" dirty="0"/>
              <a:t>后续遍历</a:t>
            </a:r>
            <a:r>
              <a:rPr lang="en-US" altLang="zh-CN" sz="2200" dirty="0"/>
              <a:t>(LRV</a:t>
            </a:r>
            <a:r>
              <a:rPr lang="zh-CN" altLang="en-US" sz="2200" dirty="0"/>
              <a:t>次序</a:t>
            </a:r>
            <a:r>
              <a:rPr lang="en-US" altLang="zh-CN" sz="2200" dirty="0"/>
              <a:t>)</a:t>
            </a:r>
          </a:p>
          <a:p>
            <a:r>
              <a:rPr lang="zh-CN" altLang="en-US" sz="2200" dirty="0"/>
              <a:t>后序遍历左子树，后序遍历右子树，访问当前结点。</a:t>
            </a:r>
          </a:p>
        </p:txBody>
      </p:sp>
      <p:sp>
        <p:nvSpPr>
          <p:cNvPr id="28679" name="Text Box 7">
            <a:extLst>
              <a:ext uri="{FF2B5EF4-FFF2-40B4-BE49-F238E27FC236}">
                <a16:creationId xmlns:a16="http://schemas.microsoft.com/office/drawing/2014/main" id="{AFC5B5C7-BB8E-43CC-8833-C7EC1BCDB84A}"/>
              </a:ext>
            </a:extLst>
          </p:cNvPr>
          <p:cNvSpPr txBox="1">
            <a:spLocks noChangeArrowheads="1"/>
          </p:cNvSpPr>
          <p:nvPr/>
        </p:nvSpPr>
        <p:spPr bwMode="auto">
          <a:xfrm>
            <a:off x="1024565" y="2828835"/>
            <a:ext cx="290335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dirty="0"/>
              <a:t>V:</a:t>
            </a:r>
            <a:r>
              <a:rPr lang="zh-CN" altLang="en-US" sz="2400" dirty="0"/>
              <a:t>当前访问到的结点</a:t>
            </a:r>
          </a:p>
          <a:p>
            <a:r>
              <a:rPr lang="en-US" altLang="zh-CN" sz="2400" dirty="0"/>
              <a:t>L:</a:t>
            </a:r>
            <a:r>
              <a:rPr lang="zh-CN" altLang="en-US" sz="2400" dirty="0"/>
              <a:t>当前结点的左子树</a:t>
            </a:r>
          </a:p>
          <a:p>
            <a:r>
              <a:rPr lang="en-US" altLang="zh-CN" sz="2400" dirty="0"/>
              <a:t>R:</a:t>
            </a:r>
            <a:r>
              <a:rPr lang="zh-CN" altLang="en-US" sz="2400" dirty="0"/>
              <a:t>当前结点的右子树</a:t>
            </a:r>
          </a:p>
        </p:txBody>
      </p:sp>
      <p:grpSp>
        <p:nvGrpSpPr>
          <p:cNvPr id="28685" name="Group 13">
            <a:extLst>
              <a:ext uri="{FF2B5EF4-FFF2-40B4-BE49-F238E27FC236}">
                <a16:creationId xmlns:a16="http://schemas.microsoft.com/office/drawing/2014/main" id="{860F9806-2F9E-457A-9005-21219AAF2420}"/>
              </a:ext>
            </a:extLst>
          </p:cNvPr>
          <p:cNvGrpSpPr>
            <a:grpSpLocks/>
          </p:cNvGrpSpPr>
          <p:nvPr/>
        </p:nvGrpSpPr>
        <p:grpSpPr bwMode="auto">
          <a:xfrm>
            <a:off x="7608888" y="2205039"/>
            <a:ext cx="1727200" cy="2160587"/>
            <a:chOff x="3969" y="1117"/>
            <a:chExt cx="1315" cy="1315"/>
          </a:xfrm>
        </p:grpSpPr>
        <p:sp>
          <p:nvSpPr>
            <p:cNvPr id="28680" name="Oval 8">
              <a:extLst>
                <a:ext uri="{FF2B5EF4-FFF2-40B4-BE49-F238E27FC236}">
                  <a16:creationId xmlns:a16="http://schemas.microsoft.com/office/drawing/2014/main" id="{128D6E82-4520-46A5-8682-77E0CAF86BC5}"/>
                </a:ext>
              </a:extLst>
            </p:cNvPr>
            <p:cNvSpPr>
              <a:spLocks noChangeArrowheads="1"/>
            </p:cNvSpPr>
            <p:nvPr/>
          </p:nvSpPr>
          <p:spPr bwMode="auto">
            <a:xfrm>
              <a:off x="4377" y="1117"/>
              <a:ext cx="317" cy="31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cxnSp>
          <p:nvCxnSpPr>
            <p:cNvPr id="28681" name="AutoShape 9">
              <a:extLst>
                <a:ext uri="{FF2B5EF4-FFF2-40B4-BE49-F238E27FC236}">
                  <a16:creationId xmlns:a16="http://schemas.microsoft.com/office/drawing/2014/main" id="{B1C39244-6C5A-41C5-8D0C-992E0B13B58E}"/>
                </a:ext>
              </a:extLst>
            </p:cNvPr>
            <p:cNvCxnSpPr>
              <a:cxnSpLocks noChangeShapeType="1"/>
              <a:stCxn id="28680" idx="3"/>
            </p:cNvCxnSpPr>
            <p:nvPr/>
          </p:nvCxnSpPr>
          <p:spPr bwMode="auto">
            <a:xfrm flipH="1">
              <a:off x="4128" y="1388"/>
              <a:ext cx="295" cy="636"/>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682" name="AutoShape 10">
              <a:extLst>
                <a:ext uri="{FF2B5EF4-FFF2-40B4-BE49-F238E27FC236}">
                  <a16:creationId xmlns:a16="http://schemas.microsoft.com/office/drawing/2014/main" id="{F0E4728B-6BF3-4C09-A17C-05C05A3877B0}"/>
                </a:ext>
              </a:extLst>
            </p:cNvPr>
            <p:cNvCxnSpPr>
              <a:cxnSpLocks noChangeShapeType="1"/>
              <a:stCxn id="28680" idx="5"/>
            </p:cNvCxnSpPr>
            <p:nvPr/>
          </p:nvCxnSpPr>
          <p:spPr bwMode="auto">
            <a:xfrm>
              <a:off x="4648" y="1388"/>
              <a:ext cx="478" cy="636"/>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683" name="AutoShape 11">
              <a:extLst>
                <a:ext uri="{FF2B5EF4-FFF2-40B4-BE49-F238E27FC236}">
                  <a16:creationId xmlns:a16="http://schemas.microsoft.com/office/drawing/2014/main" id="{A13C478E-EE50-406A-9B8B-32A94FD06698}"/>
                </a:ext>
              </a:extLst>
            </p:cNvPr>
            <p:cNvSpPr>
              <a:spLocks noChangeArrowheads="1"/>
            </p:cNvSpPr>
            <p:nvPr/>
          </p:nvSpPr>
          <p:spPr bwMode="auto">
            <a:xfrm>
              <a:off x="3969" y="2024"/>
              <a:ext cx="317" cy="408"/>
            </a:xfrm>
            <a:prstGeom prst="triangle">
              <a:avLst>
                <a:gd name="adj" fmla="val 50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4" name="AutoShape 12">
              <a:extLst>
                <a:ext uri="{FF2B5EF4-FFF2-40B4-BE49-F238E27FC236}">
                  <a16:creationId xmlns:a16="http://schemas.microsoft.com/office/drawing/2014/main" id="{BA75CCCC-50B1-4C40-AD55-B3918D5B54BF}"/>
                </a:ext>
              </a:extLst>
            </p:cNvPr>
            <p:cNvSpPr>
              <a:spLocks noChangeArrowheads="1"/>
            </p:cNvSpPr>
            <p:nvPr/>
          </p:nvSpPr>
          <p:spPr bwMode="auto">
            <a:xfrm>
              <a:off x="4967" y="2024"/>
              <a:ext cx="317" cy="408"/>
            </a:xfrm>
            <a:prstGeom prst="triangle">
              <a:avLst>
                <a:gd name="adj" fmla="val 50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8686" name="Text Box 14">
            <a:extLst>
              <a:ext uri="{FF2B5EF4-FFF2-40B4-BE49-F238E27FC236}">
                <a16:creationId xmlns:a16="http://schemas.microsoft.com/office/drawing/2014/main" id="{81B068F2-4363-48BA-A212-868C9481AF83}"/>
              </a:ext>
            </a:extLst>
          </p:cNvPr>
          <p:cNvSpPr txBox="1">
            <a:spLocks noChangeArrowheads="1"/>
          </p:cNvSpPr>
          <p:nvPr/>
        </p:nvSpPr>
        <p:spPr bwMode="auto">
          <a:xfrm>
            <a:off x="8177213" y="2276476"/>
            <a:ext cx="354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t>V</a:t>
            </a:r>
          </a:p>
        </p:txBody>
      </p:sp>
      <p:sp>
        <p:nvSpPr>
          <p:cNvPr id="28687" name="Text Box 15">
            <a:extLst>
              <a:ext uri="{FF2B5EF4-FFF2-40B4-BE49-F238E27FC236}">
                <a16:creationId xmlns:a16="http://schemas.microsoft.com/office/drawing/2014/main" id="{4ED35388-78D2-4061-B0CD-A2E4B10ADC91}"/>
              </a:ext>
            </a:extLst>
          </p:cNvPr>
          <p:cNvSpPr txBox="1">
            <a:spLocks noChangeArrowheads="1"/>
          </p:cNvSpPr>
          <p:nvPr/>
        </p:nvSpPr>
        <p:spPr bwMode="auto">
          <a:xfrm>
            <a:off x="7643813" y="3924301"/>
            <a:ext cx="3353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t>L</a:t>
            </a:r>
          </a:p>
        </p:txBody>
      </p:sp>
      <p:sp>
        <p:nvSpPr>
          <p:cNvPr id="28688" name="Text Box 16">
            <a:extLst>
              <a:ext uri="{FF2B5EF4-FFF2-40B4-BE49-F238E27FC236}">
                <a16:creationId xmlns:a16="http://schemas.microsoft.com/office/drawing/2014/main" id="{94FB5E10-1929-43E9-831F-5BA57536E1D6}"/>
              </a:ext>
            </a:extLst>
          </p:cNvPr>
          <p:cNvSpPr txBox="1">
            <a:spLocks noChangeArrowheads="1"/>
          </p:cNvSpPr>
          <p:nvPr/>
        </p:nvSpPr>
        <p:spPr bwMode="auto">
          <a:xfrm>
            <a:off x="8931275" y="3924301"/>
            <a:ext cx="3770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t>R</a:t>
            </a:r>
          </a:p>
        </p:txBody>
      </p:sp>
      <p:sp>
        <p:nvSpPr>
          <p:cNvPr id="17" name="TextBox 36">
            <a:extLst>
              <a:ext uri="{FF2B5EF4-FFF2-40B4-BE49-F238E27FC236}">
                <a16:creationId xmlns:a16="http://schemas.microsoft.com/office/drawing/2014/main" id="{1D13A05F-02A7-4CF4-B441-CB81682A3DE1}"/>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8679"/>
                                        </p:tgtEl>
                                        <p:attrNameLst>
                                          <p:attrName>style.visibility</p:attrName>
                                        </p:attrNameLst>
                                      </p:cBhvr>
                                      <p:to>
                                        <p:strVal val="visible"/>
                                      </p:to>
                                    </p:set>
                                    <p:animEffect transition="in" filter="fade">
                                      <p:cBhvr>
                                        <p:cTn id="7" dur="1000"/>
                                        <p:tgtEl>
                                          <p:spTgt spid="28679"/>
                                        </p:tgtEl>
                                      </p:cBhvr>
                                    </p:animEffect>
                                  </p:childTnLst>
                                </p:cTn>
                              </p:par>
                              <p:par>
                                <p:cTn id="8" presetID="10" presetClass="entr" presetSubtype="0" fill="hold" nodeType="withEffect">
                                  <p:stCondLst>
                                    <p:cond delay="0"/>
                                  </p:stCondLst>
                                  <p:childTnLst>
                                    <p:set>
                                      <p:cBhvr>
                                        <p:cTn id="9" dur="1" fill="hold">
                                          <p:stCondLst>
                                            <p:cond delay="0"/>
                                          </p:stCondLst>
                                        </p:cTn>
                                        <p:tgtEl>
                                          <p:spTgt spid="28685"/>
                                        </p:tgtEl>
                                        <p:attrNameLst>
                                          <p:attrName>style.visibility</p:attrName>
                                        </p:attrNameLst>
                                      </p:cBhvr>
                                      <p:to>
                                        <p:strVal val="visible"/>
                                      </p:to>
                                    </p:set>
                                    <p:animEffect transition="in" filter="fade">
                                      <p:cBhvr>
                                        <p:cTn id="10" dur="1000"/>
                                        <p:tgtEl>
                                          <p:spTgt spid="2868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686"/>
                                        </p:tgtEl>
                                        <p:attrNameLst>
                                          <p:attrName>style.visibility</p:attrName>
                                        </p:attrNameLst>
                                      </p:cBhvr>
                                      <p:to>
                                        <p:strVal val="visible"/>
                                      </p:to>
                                    </p:set>
                                    <p:animEffect transition="in" filter="fade">
                                      <p:cBhvr>
                                        <p:cTn id="13" dur="1000"/>
                                        <p:tgtEl>
                                          <p:spTgt spid="2868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8687"/>
                                        </p:tgtEl>
                                        <p:attrNameLst>
                                          <p:attrName>style.visibility</p:attrName>
                                        </p:attrNameLst>
                                      </p:cBhvr>
                                      <p:to>
                                        <p:strVal val="visible"/>
                                      </p:to>
                                    </p:set>
                                    <p:animEffect transition="in" filter="fade">
                                      <p:cBhvr>
                                        <p:cTn id="16" dur="1000"/>
                                        <p:tgtEl>
                                          <p:spTgt spid="2868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8688"/>
                                        </p:tgtEl>
                                        <p:attrNameLst>
                                          <p:attrName>style.visibility</p:attrName>
                                        </p:attrNameLst>
                                      </p:cBhvr>
                                      <p:to>
                                        <p:strVal val="visible"/>
                                      </p:to>
                                    </p:set>
                                    <p:animEffect transition="in" filter="fade">
                                      <p:cBhvr>
                                        <p:cTn id="19" dur="1000"/>
                                        <p:tgtEl>
                                          <p:spTgt spid="28688"/>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28678">
                                            <p:txEl>
                                              <p:pRg st="0" end="0"/>
                                            </p:txEl>
                                          </p:spTgt>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28678">
                                            <p:txEl>
                                              <p:pRg st="1" end="1"/>
                                            </p:txEl>
                                          </p:spTgt>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28678">
                                            <p:txEl>
                                              <p:pRg st="2" end="2"/>
                                            </p:txEl>
                                          </p:spTgt>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28678">
                                            <p:txEl>
                                              <p:pRg st="3" end="3"/>
                                            </p:txEl>
                                          </p:spTgt>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678">
                                            <p:txEl>
                                              <p:pRg st="4" end="4"/>
                                            </p:txEl>
                                          </p:spTgt>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28678">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8" grpId="0" uiExpand="1" build="allAtOnce"/>
      <p:bldP spid="28679" grpId="0"/>
      <p:bldP spid="28686" grpId="0"/>
      <p:bldP spid="28687" grpId="0"/>
      <p:bldP spid="2868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731" name="AutoShape 11">
            <a:extLst>
              <a:ext uri="{FF2B5EF4-FFF2-40B4-BE49-F238E27FC236}">
                <a16:creationId xmlns:a16="http://schemas.microsoft.com/office/drawing/2014/main" id="{304DE939-DC81-4898-8407-738FE3DB81B4}"/>
              </a:ext>
            </a:extLst>
          </p:cNvPr>
          <p:cNvCxnSpPr>
            <a:cxnSpLocks noChangeShapeType="1"/>
            <a:stCxn id="30735" idx="5"/>
            <a:endCxn id="30739" idx="0"/>
          </p:cNvCxnSpPr>
          <p:nvPr/>
        </p:nvCxnSpPr>
        <p:spPr bwMode="auto">
          <a:xfrm>
            <a:off x="2292610" y="4384789"/>
            <a:ext cx="434138" cy="624071"/>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0744" name="Group 24">
            <a:extLst>
              <a:ext uri="{FF2B5EF4-FFF2-40B4-BE49-F238E27FC236}">
                <a16:creationId xmlns:a16="http://schemas.microsoft.com/office/drawing/2014/main" id="{F3E7B2EF-337B-42B4-920A-55E9B8B4D68D}"/>
              </a:ext>
            </a:extLst>
          </p:cNvPr>
          <p:cNvGrpSpPr>
            <a:grpSpLocks/>
          </p:cNvGrpSpPr>
          <p:nvPr/>
        </p:nvGrpSpPr>
        <p:grpSpPr bwMode="auto">
          <a:xfrm>
            <a:off x="1770846" y="1616299"/>
            <a:ext cx="3029756" cy="4044726"/>
            <a:chOff x="204" y="845"/>
            <a:chExt cx="1477" cy="2487"/>
          </a:xfrm>
        </p:grpSpPr>
        <p:sp>
          <p:nvSpPr>
            <p:cNvPr id="30726" name="Oval 6">
              <a:extLst>
                <a:ext uri="{FF2B5EF4-FFF2-40B4-BE49-F238E27FC236}">
                  <a16:creationId xmlns:a16="http://schemas.microsoft.com/office/drawing/2014/main" id="{A2952039-6B18-467B-95E2-4A34A7EA3CBF}"/>
                </a:ext>
              </a:extLst>
            </p:cNvPr>
            <p:cNvSpPr>
              <a:spLocks noChangeArrowheads="1"/>
            </p:cNvSpPr>
            <p:nvPr/>
          </p:nvSpPr>
          <p:spPr bwMode="auto">
            <a:xfrm>
              <a:off x="941" y="84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A</a:t>
              </a:r>
            </a:p>
          </p:txBody>
        </p:sp>
        <p:sp>
          <p:nvSpPr>
            <p:cNvPr id="30727" name="Oval 7">
              <a:extLst>
                <a:ext uri="{FF2B5EF4-FFF2-40B4-BE49-F238E27FC236}">
                  <a16:creationId xmlns:a16="http://schemas.microsoft.com/office/drawing/2014/main" id="{83F6E3AF-8800-4EF4-B405-BBB6271DB388}"/>
                </a:ext>
              </a:extLst>
            </p:cNvPr>
            <p:cNvSpPr>
              <a:spLocks noChangeArrowheads="1"/>
            </p:cNvSpPr>
            <p:nvPr/>
          </p:nvSpPr>
          <p:spPr bwMode="auto">
            <a:xfrm>
              <a:off x="476"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B</a:t>
              </a:r>
            </a:p>
          </p:txBody>
        </p:sp>
        <p:cxnSp>
          <p:nvCxnSpPr>
            <p:cNvPr id="30728" name="AutoShape 8">
              <a:extLst>
                <a:ext uri="{FF2B5EF4-FFF2-40B4-BE49-F238E27FC236}">
                  <a16:creationId xmlns:a16="http://schemas.microsoft.com/office/drawing/2014/main" id="{C90470E5-F76A-49EA-BCE7-DB2F03FEECA3}"/>
                </a:ext>
              </a:extLst>
            </p:cNvPr>
            <p:cNvCxnSpPr>
              <a:cxnSpLocks noChangeShapeType="1"/>
              <a:stCxn id="30727" idx="3"/>
              <a:endCxn id="30735" idx="0"/>
            </p:cNvCxnSpPr>
            <p:nvPr/>
          </p:nvCxnSpPr>
          <p:spPr bwMode="auto">
            <a:xfrm flipH="1">
              <a:off x="353"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729" name="AutoShape 9">
              <a:extLst>
                <a:ext uri="{FF2B5EF4-FFF2-40B4-BE49-F238E27FC236}">
                  <a16:creationId xmlns:a16="http://schemas.microsoft.com/office/drawing/2014/main" id="{062B003D-D007-462D-BAD5-CA10529928E3}"/>
                </a:ext>
              </a:extLst>
            </p:cNvPr>
            <p:cNvCxnSpPr>
              <a:cxnSpLocks noChangeShapeType="1"/>
              <a:stCxn id="30727" idx="5"/>
              <a:endCxn id="30736" idx="0"/>
            </p:cNvCxnSpPr>
            <p:nvPr/>
          </p:nvCxnSpPr>
          <p:spPr bwMode="auto">
            <a:xfrm>
              <a:off x="730"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730" name="AutoShape 10">
              <a:extLst>
                <a:ext uri="{FF2B5EF4-FFF2-40B4-BE49-F238E27FC236}">
                  <a16:creationId xmlns:a16="http://schemas.microsoft.com/office/drawing/2014/main" id="{9227EFAB-8BB7-420F-86DF-B939E58F789A}"/>
                </a:ext>
              </a:extLst>
            </p:cNvPr>
            <p:cNvCxnSpPr>
              <a:cxnSpLocks noChangeShapeType="1"/>
              <a:stCxn id="30734" idx="3"/>
              <a:endCxn id="30737" idx="0"/>
            </p:cNvCxnSpPr>
            <p:nvPr/>
          </p:nvCxnSpPr>
          <p:spPr bwMode="auto">
            <a:xfrm flipH="1">
              <a:off x="1351" y="1776"/>
              <a:ext cx="76"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732" name="AutoShape 12">
              <a:extLst>
                <a:ext uri="{FF2B5EF4-FFF2-40B4-BE49-F238E27FC236}">
                  <a16:creationId xmlns:a16="http://schemas.microsoft.com/office/drawing/2014/main" id="{CE903A42-5E09-4A59-B946-83AF2C69AE3C}"/>
                </a:ext>
              </a:extLst>
            </p:cNvPr>
            <p:cNvCxnSpPr>
              <a:cxnSpLocks noChangeShapeType="1"/>
              <a:stCxn id="30726" idx="3"/>
              <a:endCxn id="30727" idx="0"/>
            </p:cNvCxnSpPr>
            <p:nvPr/>
          </p:nvCxnSpPr>
          <p:spPr bwMode="auto">
            <a:xfrm flipH="1">
              <a:off x="625" y="1187"/>
              <a:ext cx="360"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733" name="AutoShape 13">
              <a:extLst>
                <a:ext uri="{FF2B5EF4-FFF2-40B4-BE49-F238E27FC236}">
                  <a16:creationId xmlns:a16="http://schemas.microsoft.com/office/drawing/2014/main" id="{752F84A2-29D5-4D14-B6D7-D22116947AF6}"/>
                </a:ext>
              </a:extLst>
            </p:cNvPr>
            <p:cNvCxnSpPr>
              <a:cxnSpLocks noChangeShapeType="1"/>
              <a:stCxn id="30726" idx="5"/>
              <a:endCxn id="30734" idx="0"/>
            </p:cNvCxnSpPr>
            <p:nvPr/>
          </p:nvCxnSpPr>
          <p:spPr bwMode="auto">
            <a:xfrm>
              <a:off x="1195" y="1187"/>
              <a:ext cx="337"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734" name="Oval 14">
              <a:extLst>
                <a:ext uri="{FF2B5EF4-FFF2-40B4-BE49-F238E27FC236}">
                  <a16:creationId xmlns:a16="http://schemas.microsoft.com/office/drawing/2014/main" id="{D2A6937C-1626-41A8-A729-2215CF5E8736}"/>
                </a:ext>
              </a:extLst>
            </p:cNvPr>
            <p:cNvSpPr>
              <a:spLocks noChangeArrowheads="1"/>
            </p:cNvSpPr>
            <p:nvPr/>
          </p:nvSpPr>
          <p:spPr bwMode="auto">
            <a:xfrm>
              <a:off x="1383"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C</a:t>
              </a:r>
            </a:p>
          </p:txBody>
        </p:sp>
        <p:sp>
          <p:nvSpPr>
            <p:cNvPr id="30735" name="Oval 15">
              <a:extLst>
                <a:ext uri="{FF2B5EF4-FFF2-40B4-BE49-F238E27FC236}">
                  <a16:creationId xmlns:a16="http://schemas.microsoft.com/office/drawing/2014/main" id="{765FED11-6495-4B38-AB3D-8AFBE7001DBF}"/>
                </a:ext>
              </a:extLst>
            </p:cNvPr>
            <p:cNvSpPr>
              <a:spLocks noChangeArrowheads="1"/>
            </p:cNvSpPr>
            <p:nvPr/>
          </p:nvSpPr>
          <p:spPr bwMode="auto">
            <a:xfrm>
              <a:off x="204"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D</a:t>
              </a:r>
            </a:p>
          </p:txBody>
        </p:sp>
        <p:sp>
          <p:nvSpPr>
            <p:cNvPr id="30736" name="Oval 16">
              <a:extLst>
                <a:ext uri="{FF2B5EF4-FFF2-40B4-BE49-F238E27FC236}">
                  <a16:creationId xmlns:a16="http://schemas.microsoft.com/office/drawing/2014/main" id="{3F369D4F-143C-40AD-80E0-35A5F4C263F0}"/>
                </a:ext>
              </a:extLst>
            </p:cNvPr>
            <p:cNvSpPr>
              <a:spLocks noChangeArrowheads="1"/>
            </p:cNvSpPr>
            <p:nvPr/>
          </p:nvSpPr>
          <p:spPr bwMode="auto">
            <a:xfrm>
              <a:off x="748"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E</a:t>
              </a:r>
            </a:p>
          </p:txBody>
        </p:sp>
        <p:sp>
          <p:nvSpPr>
            <p:cNvPr id="30737" name="Oval 17">
              <a:extLst>
                <a:ext uri="{FF2B5EF4-FFF2-40B4-BE49-F238E27FC236}">
                  <a16:creationId xmlns:a16="http://schemas.microsoft.com/office/drawing/2014/main" id="{F1D866BC-3AC6-4465-AB1F-61763BE09EE8}"/>
                </a:ext>
              </a:extLst>
            </p:cNvPr>
            <p:cNvSpPr>
              <a:spLocks noChangeArrowheads="1"/>
            </p:cNvSpPr>
            <p:nvPr/>
          </p:nvSpPr>
          <p:spPr bwMode="auto">
            <a:xfrm>
              <a:off x="1202"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F</a:t>
              </a:r>
            </a:p>
          </p:txBody>
        </p:sp>
        <p:sp>
          <p:nvSpPr>
            <p:cNvPr id="30739" name="Oval 19">
              <a:extLst>
                <a:ext uri="{FF2B5EF4-FFF2-40B4-BE49-F238E27FC236}">
                  <a16:creationId xmlns:a16="http://schemas.microsoft.com/office/drawing/2014/main" id="{2587CD26-7671-43E4-A177-AB07DB96A0ED}"/>
                </a:ext>
              </a:extLst>
            </p:cNvPr>
            <p:cNvSpPr>
              <a:spLocks noChangeArrowheads="1"/>
            </p:cNvSpPr>
            <p:nvPr/>
          </p:nvSpPr>
          <p:spPr bwMode="auto">
            <a:xfrm>
              <a:off x="521" y="2931"/>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G</a:t>
              </a:r>
            </a:p>
          </p:txBody>
        </p:sp>
      </p:grpSp>
      <p:sp>
        <p:nvSpPr>
          <p:cNvPr id="30742" name="Text Box 22">
            <a:extLst>
              <a:ext uri="{FF2B5EF4-FFF2-40B4-BE49-F238E27FC236}">
                <a16:creationId xmlns:a16="http://schemas.microsoft.com/office/drawing/2014/main" id="{28BA61B8-AD96-43C2-A420-989BD12053BB}"/>
              </a:ext>
            </a:extLst>
          </p:cNvPr>
          <p:cNvSpPr txBox="1">
            <a:spLocks noChangeArrowheads="1"/>
          </p:cNvSpPr>
          <p:nvPr/>
        </p:nvSpPr>
        <p:spPr bwMode="auto">
          <a:xfrm>
            <a:off x="6096001" y="1770064"/>
            <a:ext cx="189186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3200" dirty="0"/>
              <a:t>ABDGECF</a:t>
            </a:r>
          </a:p>
        </p:txBody>
      </p:sp>
      <p:sp>
        <p:nvSpPr>
          <p:cNvPr id="30743" name="Text Box 23">
            <a:extLst>
              <a:ext uri="{FF2B5EF4-FFF2-40B4-BE49-F238E27FC236}">
                <a16:creationId xmlns:a16="http://schemas.microsoft.com/office/drawing/2014/main" id="{BDF96EBA-D690-4CD6-AEF6-4C5EAB86AD4E}"/>
              </a:ext>
            </a:extLst>
          </p:cNvPr>
          <p:cNvSpPr txBox="1">
            <a:spLocks noChangeArrowheads="1"/>
          </p:cNvSpPr>
          <p:nvPr/>
        </p:nvSpPr>
        <p:spPr bwMode="auto">
          <a:xfrm>
            <a:off x="6003925" y="2349501"/>
            <a:ext cx="3810000" cy="3935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800" b="1">
                <a:ea typeface="Dotum" panose="020B0503020000020004" pitchFamily="34" charset="-127"/>
              </a:rPr>
              <a:t>void</a:t>
            </a:r>
            <a:r>
              <a:rPr lang="en-US" altLang="zh-CN" sz="2800">
                <a:ea typeface="Dotum" panose="020B0503020000020004" pitchFamily="34" charset="-127"/>
              </a:rPr>
              <a:t> preoder(node * p)</a:t>
            </a:r>
          </a:p>
          <a:p>
            <a:r>
              <a:rPr lang="en-US" altLang="zh-CN" sz="2800">
                <a:ea typeface="Dotum" panose="020B0503020000020004" pitchFamily="34" charset="-127"/>
              </a:rPr>
              <a:t>{</a:t>
            </a:r>
          </a:p>
          <a:p>
            <a:r>
              <a:rPr lang="en-US" altLang="zh-CN" sz="2800">
                <a:ea typeface="Dotum" panose="020B0503020000020004" pitchFamily="34" charset="-127"/>
              </a:rPr>
              <a:t>    </a:t>
            </a:r>
            <a:r>
              <a:rPr lang="en-US" altLang="zh-CN" sz="2800" b="1">
                <a:ea typeface="Dotum" panose="020B0503020000020004" pitchFamily="34" charset="-127"/>
              </a:rPr>
              <a:t>if</a:t>
            </a:r>
            <a:r>
              <a:rPr lang="en-US" altLang="zh-CN" sz="2800">
                <a:ea typeface="Dotum" panose="020B0503020000020004" pitchFamily="34" charset="-127"/>
              </a:rPr>
              <a:t>(p==NULL)</a:t>
            </a:r>
          </a:p>
          <a:p>
            <a:r>
              <a:rPr lang="en-US" altLang="zh-CN" sz="2800">
                <a:ea typeface="Dotum" panose="020B0503020000020004" pitchFamily="34" charset="-127"/>
              </a:rPr>
              <a:t>        </a:t>
            </a:r>
            <a:r>
              <a:rPr lang="en-US" altLang="zh-CN" sz="2800" b="1">
                <a:ea typeface="Dotum" panose="020B0503020000020004" pitchFamily="34" charset="-127"/>
              </a:rPr>
              <a:t>return;</a:t>
            </a:r>
          </a:p>
          <a:p>
            <a:r>
              <a:rPr lang="en-US" altLang="zh-CN" sz="2800">
                <a:ea typeface="Dotum" panose="020B0503020000020004" pitchFamily="34" charset="-127"/>
              </a:rPr>
              <a:t>    cout&lt;&lt;p-&gt;key;</a:t>
            </a:r>
          </a:p>
          <a:p>
            <a:r>
              <a:rPr lang="en-US" altLang="zh-CN" sz="2800">
                <a:ea typeface="Dotum" panose="020B0503020000020004" pitchFamily="34" charset="-127"/>
              </a:rPr>
              <a:t>    preoder(p-&gt;ls);</a:t>
            </a:r>
          </a:p>
          <a:p>
            <a:r>
              <a:rPr lang="en-US" altLang="zh-CN" sz="2800">
                <a:ea typeface="Dotum" panose="020B0503020000020004" pitchFamily="34" charset="-127"/>
              </a:rPr>
              <a:t>    preoder(p-&gt;rs);</a:t>
            </a:r>
          </a:p>
          <a:p>
            <a:r>
              <a:rPr lang="en-US" altLang="zh-CN" sz="2800">
                <a:ea typeface="Dotum" panose="020B0503020000020004" pitchFamily="34" charset="-127"/>
              </a:rPr>
              <a:t>    </a:t>
            </a:r>
            <a:r>
              <a:rPr lang="en-US" altLang="zh-CN" sz="2800" b="1">
                <a:ea typeface="Dotum" panose="020B0503020000020004" pitchFamily="34" charset="-127"/>
              </a:rPr>
              <a:t>return</a:t>
            </a:r>
            <a:r>
              <a:rPr lang="en-US" altLang="zh-CN" sz="2800">
                <a:ea typeface="Dotum" panose="020B0503020000020004" pitchFamily="34" charset="-127"/>
              </a:rPr>
              <a:t>;</a:t>
            </a:r>
          </a:p>
          <a:p>
            <a:r>
              <a:rPr lang="en-US" altLang="zh-CN" sz="2800">
                <a:ea typeface="Dotum" panose="020B0503020000020004" pitchFamily="34" charset="-127"/>
              </a:rPr>
              <a:t>}</a:t>
            </a:r>
          </a:p>
        </p:txBody>
      </p:sp>
      <p:sp>
        <p:nvSpPr>
          <p:cNvPr id="21" name="TextBox 36">
            <a:extLst>
              <a:ext uri="{FF2B5EF4-FFF2-40B4-BE49-F238E27FC236}">
                <a16:creationId xmlns:a16="http://schemas.microsoft.com/office/drawing/2014/main" id="{C82A06EC-9B4E-43FF-9D05-8A5C7B72ED4A}"/>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二叉树的遍历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前序遍历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74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5" presetClass="entr" presetSubtype="10" fill="hold" grpId="0" nodeType="clickEffect">
                                  <p:stCondLst>
                                    <p:cond delay="0"/>
                                  </p:stCondLst>
                                  <p:childTnLst>
                                    <p:set>
                                      <p:cBhvr>
                                        <p:cTn id="10" dur="1" fill="hold">
                                          <p:stCondLst>
                                            <p:cond delay="0"/>
                                          </p:stCondLst>
                                        </p:cTn>
                                        <p:tgtEl>
                                          <p:spTgt spid="30743"/>
                                        </p:tgtEl>
                                        <p:attrNameLst>
                                          <p:attrName>style.visibility</p:attrName>
                                        </p:attrNameLst>
                                      </p:cBhvr>
                                      <p:to>
                                        <p:strVal val="visible"/>
                                      </p:to>
                                    </p:set>
                                    <p:animEffect transition="in" filter="checkerboard(across)">
                                      <p:cBhvr>
                                        <p:cTn id="11" dur="500"/>
                                        <p:tgtEl>
                                          <p:spTgt spid="307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2" grpId="0"/>
      <p:bldP spid="3074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771" name="Group 3">
            <a:extLst>
              <a:ext uri="{FF2B5EF4-FFF2-40B4-BE49-F238E27FC236}">
                <a16:creationId xmlns:a16="http://schemas.microsoft.com/office/drawing/2014/main" id="{91D74FE4-82FC-4CF5-B69F-A5EDB960DCB2}"/>
              </a:ext>
            </a:extLst>
          </p:cNvPr>
          <p:cNvGrpSpPr>
            <a:grpSpLocks/>
          </p:cNvGrpSpPr>
          <p:nvPr/>
        </p:nvGrpSpPr>
        <p:grpSpPr bwMode="auto">
          <a:xfrm>
            <a:off x="2455864" y="1712913"/>
            <a:ext cx="2344737" cy="3948112"/>
            <a:chOff x="204" y="845"/>
            <a:chExt cx="1477" cy="2487"/>
          </a:xfrm>
        </p:grpSpPr>
        <p:sp>
          <p:nvSpPr>
            <p:cNvPr id="32772" name="Oval 4">
              <a:extLst>
                <a:ext uri="{FF2B5EF4-FFF2-40B4-BE49-F238E27FC236}">
                  <a16:creationId xmlns:a16="http://schemas.microsoft.com/office/drawing/2014/main" id="{31B6B066-851B-4F76-9C24-AC7CA32D7B52}"/>
                </a:ext>
              </a:extLst>
            </p:cNvPr>
            <p:cNvSpPr>
              <a:spLocks noChangeArrowheads="1"/>
            </p:cNvSpPr>
            <p:nvPr/>
          </p:nvSpPr>
          <p:spPr bwMode="auto">
            <a:xfrm>
              <a:off x="941" y="84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A</a:t>
              </a:r>
            </a:p>
          </p:txBody>
        </p:sp>
        <p:sp>
          <p:nvSpPr>
            <p:cNvPr id="32773" name="Oval 5">
              <a:extLst>
                <a:ext uri="{FF2B5EF4-FFF2-40B4-BE49-F238E27FC236}">
                  <a16:creationId xmlns:a16="http://schemas.microsoft.com/office/drawing/2014/main" id="{EE91B431-2FAE-472F-8B00-968145E01F18}"/>
                </a:ext>
              </a:extLst>
            </p:cNvPr>
            <p:cNvSpPr>
              <a:spLocks noChangeArrowheads="1"/>
            </p:cNvSpPr>
            <p:nvPr/>
          </p:nvSpPr>
          <p:spPr bwMode="auto">
            <a:xfrm>
              <a:off x="476"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B</a:t>
              </a:r>
            </a:p>
          </p:txBody>
        </p:sp>
        <p:cxnSp>
          <p:nvCxnSpPr>
            <p:cNvPr id="32774" name="AutoShape 6">
              <a:extLst>
                <a:ext uri="{FF2B5EF4-FFF2-40B4-BE49-F238E27FC236}">
                  <a16:creationId xmlns:a16="http://schemas.microsoft.com/office/drawing/2014/main" id="{C5DD16C0-B7F6-490F-8CEF-588806DD2A99}"/>
                </a:ext>
              </a:extLst>
            </p:cNvPr>
            <p:cNvCxnSpPr>
              <a:cxnSpLocks noChangeShapeType="1"/>
              <a:stCxn id="32773" idx="3"/>
              <a:endCxn id="32780" idx="0"/>
            </p:cNvCxnSpPr>
            <p:nvPr/>
          </p:nvCxnSpPr>
          <p:spPr bwMode="auto">
            <a:xfrm flipH="1">
              <a:off x="353"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775" name="AutoShape 7">
              <a:extLst>
                <a:ext uri="{FF2B5EF4-FFF2-40B4-BE49-F238E27FC236}">
                  <a16:creationId xmlns:a16="http://schemas.microsoft.com/office/drawing/2014/main" id="{A93847A5-B219-403C-9EDF-AFD0FFB2CB85}"/>
                </a:ext>
              </a:extLst>
            </p:cNvPr>
            <p:cNvCxnSpPr>
              <a:cxnSpLocks noChangeShapeType="1"/>
              <a:stCxn id="32773" idx="5"/>
              <a:endCxn id="32781" idx="0"/>
            </p:cNvCxnSpPr>
            <p:nvPr/>
          </p:nvCxnSpPr>
          <p:spPr bwMode="auto">
            <a:xfrm>
              <a:off x="730"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776" name="AutoShape 8">
              <a:extLst>
                <a:ext uri="{FF2B5EF4-FFF2-40B4-BE49-F238E27FC236}">
                  <a16:creationId xmlns:a16="http://schemas.microsoft.com/office/drawing/2014/main" id="{C701741B-5B21-479A-91E0-66E8C37FCB8E}"/>
                </a:ext>
              </a:extLst>
            </p:cNvPr>
            <p:cNvCxnSpPr>
              <a:cxnSpLocks noChangeShapeType="1"/>
              <a:stCxn id="32779" idx="3"/>
              <a:endCxn id="32782" idx="0"/>
            </p:cNvCxnSpPr>
            <p:nvPr/>
          </p:nvCxnSpPr>
          <p:spPr bwMode="auto">
            <a:xfrm flipH="1">
              <a:off x="1351" y="1776"/>
              <a:ext cx="76"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777" name="AutoShape 9">
              <a:extLst>
                <a:ext uri="{FF2B5EF4-FFF2-40B4-BE49-F238E27FC236}">
                  <a16:creationId xmlns:a16="http://schemas.microsoft.com/office/drawing/2014/main" id="{4113A906-395C-40AC-AE4C-F058099617B3}"/>
                </a:ext>
              </a:extLst>
            </p:cNvPr>
            <p:cNvCxnSpPr>
              <a:cxnSpLocks noChangeShapeType="1"/>
              <a:stCxn id="32772" idx="3"/>
              <a:endCxn id="32773" idx="0"/>
            </p:cNvCxnSpPr>
            <p:nvPr/>
          </p:nvCxnSpPr>
          <p:spPr bwMode="auto">
            <a:xfrm flipH="1">
              <a:off x="625" y="1187"/>
              <a:ext cx="360"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778" name="AutoShape 10">
              <a:extLst>
                <a:ext uri="{FF2B5EF4-FFF2-40B4-BE49-F238E27FC236}">
                  <a16:creationId xmlns:a16="http://schemas.microsoft.com/office/drawing/2014/main" id="{012C17E4-20AD-43CC-B4AD-CAE940563DDE}"/>
                </a:ext>
              </a:extLst>
            </p:cNvPr>
            <p:cNvCxnSpPr>
              <a:cxnSpLocks noChangeShapeType="1"/>
              <a:stCxn id="32772" idx="5"/>
              <a:endCxn id="32779" idx="0"/>
            </p:cNvCxnSpPr>
            <p:nvPr/>
          </p:nvCxnSpPr>
          <p:spPr bwMode="auto">
            <a:xfrm>
              <a:off x="1195" y="1187"/>
              <a:ext cx="337"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779" name="Oval 11">
              <a:extLst>
                <a:ext uri="{FF2B5EF4-FFF2-40B4-BE49-F238E27FC236}">
                  <a16:creationId xmlns:a16="http://schemas.microsoft.com/office/drawing/2014/main" id="{9A35F187-0342-4B95-AD6B-B87EEA721BAA}"/>
                </a:ext>
              </a:extLst>
            </p:cNvPr>
            <p:cNvSpPr>
              <a:spLocks noChangeArrowheads="1"/>
            </p:cNvSpPr>
            <p:nvPr/>
          </p:nvSpPr>
          <p:spPr bwMode="auto">
            <a:xfrm>
              <a:off x="1383"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C</a:t>
              </a:r>
            </a:p>
          </p:txBody>
        </p:sp>
        <p:sp>
          <p:nvSpPr>
            <p:cNvPr id="32780" name="Oval 12">
              <a:extLst>
                <a:ext uri="{FF2B5EF4-FFF2-40B4-BE49-F238E27FC236}">
                  <a16:creationId xmlns:a16="http://schemas.microsoft.com/office/drawing/2014/main" id="{9774BB07-3F76-4E07-93AD-9FD08D84A350}"/>
                </a:ext>
              </a:extLst>
            </p:cNvPr>
            <p:cNvSpPr>
              <a:spLocks noChangeArrowheads="1"/>
            </p:cNvSpPr>
            <p:nvPr/>
          </p:nvSpPr>
          <p:spPr bwMode="auto">
            <a:xfrm>
              <a:off x="204"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D</a:t>
              </a:r>
            </a:p>
          </p:txBody>
        </p:sp>
        <p:sp>
          <p:nvSpPr>
            <p:cNvPr id="32781" name="Oval 13">
              <a:extLst>
                <a:ext uri="{FF2B5EF4-FFF2-40B4-BE49-F238E27FC236}">
                  <a16:creationId xmlns:a16="http://schemas.microsoft.com/office/drawing/2014/main" id="{71B3AE61-645C-4EC7-A34D-C6C3E7F6C57B}"/>
                </a:ext>
              </a:extLst>
            </p:cNvPr>
            <p:cNvSpPr>
              <a:spLocks noChangeArrowheads="1"/>
            </p:cNvSpPr>
            <p:nvPr/>
          </p:nvSpPr>
          <p:spPr bwMode="auto">
            <a:xfrm>
              <a:off x="748"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E</a:t>
              </a:r>
            </a:p>
          </p:txBody>
        </p:sp>
        <p:sp>
          <p:nvSpPr>
            <p:cNvPr id="32782" name="Oval 14">
              <a:extLst>
                <a:ext uri="{FF2B5EF4-FFF2-40B4-BE49-F238E27FC236}">
                  <a16:creationId xmlns:a16="http://schemas.microsoft.com/office/drawing/2014/main" id="{49BD7CF1-B0EC-462A-B7C0-3299C85FA26E}"/>
                </a:ext>
              </a:extLst>
            </p:cNvPr>
            <p:cNvSpPr>
              <a:spLocks noChangeArrowheads="1"/>
            </p:cNvSpPr>
            <p:nvPr/>
          </p:nvSpPr>
          <p:spPr bwMode="auto">
            <a:xfrm>
              <a:off x="1202"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F</a:t>
              </a:r>
            </a:p>
          </p:txBody>
        </p:sp>
        <p:sp>
          <p:nvSpPr>
            <p:cNvPr id="32783" name="Oval 15">
              <a:extLst>
                <a:ext uri="{FF2B5EF4-FFF2-40B4-BE49-F238E27FC236}">
                  <a16:creationId xmlns:a16="http://schemas.microsoft.com/office/drawing/2014/main" id="{A230FDE0-5F94-4ADF-8DBB-940C4954D425}"/>
                </a:ext>
              </a:extLst>
            </p:cNvPr>
            <p:cNvSpPr>
              <a:spLocks noChangeArrowheads="1"/>
            </p:cNvSpPr>
            <p:nvPr/>
          </p:nvSpPr>
          <p:spPr bwMode="auto">
            <a:xfrm>
              <a:off x="521" y="2931"/>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G</a:t>
              </a:r>
            </a:p>
          </p:txBody>
        </p:sp>
      </p:grpSp>
      <p:sp>
        <p:nvSpPr>
          <p:cNvPr id="32784" name="Text Box 16">
            <a:extLst>
              <a:ext uri="{FF2B5EF4-FFF2-40B4-BE49-F238E27FC236}">
                <a16:creationId xmlns:a16="http://schemas.microsoft.com/office/drawing/2014/main" id="{33C1FEEE-F294-4B6E-95ED-09916B33CB4A}"/>
              </a:ext>
            </a:extLst>
          </p:cNvPr>
          <p:cNvSpPr txBox="1">
            <a:spLocks noChangeArrowheads="1"/>
          </p:cNvSpPr>
          <p:nvPr/>
        </p:nvSpPr>
        <p:spPr bwMode="auto">
          <a:xfrm>
            <a:off x="6024564" y="2441576"/>
            <a:ext cx="3571875" cy="3935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800" b="1">
                <a:ea typeface="Dotum" panose="020B0503020000020004" pitchFamily="34" charset="-127"/>
              </a:rPr>
              <a:t>void</a:t>
            </a:r>
            <a:r>
              <a:rPr lang="en-US" altLang="zh-CN" sz="2800">
                <a:ea typeface="Dotum" panose="020B0503020000020004" pitchFamily="34" charset="-127"/>
              </a:rPr>
              <a:t> inoder(node * p)</a:t>
            </a:r>
          </a:p>
          <a:p>
            <a:r>
              <a:rPr lang="en-US" altLang="zh-CN" sz="2800">
                <a:ea typeface="Dotum" panose="020B0503020000020004" pitchFamily="34" charset="-127"/>
              </a:rPr>
              <a:t>{</a:t>
            </a:r>
          </a:p>
          <a:p>
            <a:r>
              <a:rPr lang="en-US" altLang="zh-CN" sz="2800" b="1">
                <a:ea typeface="Dotum" panose="020B0503020000020004" pitchFamily="34" charset="-127"/>
              </a:rPr>
              <a:t>    if</a:t>
            </a:r>
            <a:r>
              <a:rPr lang="en-US" altLang="zh-CN" sz="2800">
                <a:ea typeface="Dotum" panose="020B0503020000020004" pitchFamily="34" charset="-127"/>
              </a:rPr>
              <a:t>(p==NULL)</a:t>
            </a:r>
          </a:p>
          <a:p>
            <a:r>
              <a:rPr lang="en-US" altLang="zh-CN" sz="2800">
                <a:ea typeface="Dotum" panose="020B0503020000020004" pitchFamily="34" charset="-127"/>
              </a:rPr>
              <a:t>        </a:t>
            </a:r>
            <a:r>
              <a:rPr lang="en-US" altLang="zh-CN" sz="2800" b="1">
                <a:ea typeface="Dotum" panose="020B0503020000020004" pitchFamily="34" charset="-127"/>
              </a:rPr>
              <a:t>return;</a:t>
            </a:r>
            <a:endParaRPr lang="en-US" altLang="zh-CN" sz="2800">
              <a:ea typeface="Dotum" panose="020B0503020000020004" pitchFamily="34" charset="-127"/>
            </a:endParaRPr>
          </a:p>
          <a:p>
            <a:r>
              <a:rPr lang="en-US" altLang="zh-CN" sz="2800">
                <a:ea typeface="Dotum" panose="020B0503020000020004" pitchFamily="34" charset="-127"/>
              </a:rPr>
              <a:t>    inoder(p-&gt;ls);</a:t>
            </a:r>
          </a:p>
          <a:p>
            <a:r>
              <a:rPr lang="en-US" altLang="zh-CN" sz="2800">
                <a:ea typeface="Dotum" panose="020B0503020000020004" pitchFamily="34" charset="-127"/>
              </a:rPr>
              <a:t>    cout&lt;&lt;p-&gt;key;</a:t>
            </a:r>
          </a:p>
          <a:p>
            <a:r>
              <a:rPr lang="en-US" altLang="zh-CN" sz="2800">
                <a:ea typeface="Dotum" panose="020B0503020000020004" pitchFamily="34" charset="-127"/>
              </a:rPr>
              <a:t>    inoder(p-&gt;rs);</a:t>
            </a:r>
          </a:p>
          <a:p>
            <a:r>
              <a:rPr lang="en-US" altLang="zh-CN" sz="2800">
                <a:ea typeface="Dotum" panose="020B0503020000020004" pitchFamily="34" charset="-127"/>
              </a:rPr>
              <a:t>    </a:t>
            </a:r>
            <a:r>
              <a:rPr lang="en-US" altLang="zh-CN" sz="2800" b="1">
                <a:ea typeface="Dotum" panose="020B0503020000020004" pitchFamily="34" charset="-127"/>
              </a:rPr>
              <a:t>return</a:t>
            </a:r>
            <a:r>
              <a:rPr lang="en-US" altLang="zh-CN" sz="2800">
                <a:ea typeface="Dotum" panose="020B0503020000020004" pitchFamily="34" charset="-127"/>
              </a:rPr>
              <a:t>;</a:t>
            </a:r>
          </a:p>
          <a:p>
            <a:r>
              <a:rPr lang="en-US" altLang="zh-CN" sz="2800">
                <a:ea typeface="Dotum" panose="020B0503020000020004" pitchFamily="34" charset="-127"/>
              </a:rPr>
              <a:t>}</a:t>
            </a:r>
          </a:p>
        </p:txBody>
      </p:sp>
      <p:cxnSp>
        <p:nvCxnSpPr>
          <p:cNvPr id="32785" name="AutoShape 17">
            <a:extLst>
              <a:ext uri="{FF2B5EF4-FFF2-40B4-BE49-F238E27FC236}">
                <a16:creationId xmlns:a16="http://schemas.microsoft.com/office/drawing/2014/main" id="{ABC03D48-5D25-4BA3-8782-8A96BFF8E494}"/>
              </a:ext>
            </a:extLst>
          </p:cNvPr>
          <p:cNvCxnSpPr>
            <a:cxnSpLocks noChangeShapeType="1"/>
          </p:cNvCxnSpPr>
          <p:nvPr/>
        </p:nvCxnSpPr>
        <p:spPr bwMode="auto">
          <a:xfrm>
            <a:off x="2859088" y="4414838"/>
            <a:ext cx="336550" cy="6096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786" name="Text Box 18">
            <a:extLst>
              <a:ext uri="{FF2B5EF4-FFF2-40B4-BE49-F238E27FC236}">
                <a16:creationId xmlns:a16="http://schemas.microsoft.com/office/drawing/2014/main" id="{847593BF-CCBC-4368-BEF5-9272FE6CDC54}"/>
              </a:ext>
            </a:extLst>
          </p:cNvPr>
          <p:cNvSpPr txBox="1">
            <a:spLocks noChangeArrowheads="1"/>
          </p:cNvSpPr>
          <p:nvPr/>
        </p:nvSpPr>
        <p:spPr bwMode="auto">
          <a:xfrm>
            <a:off x="5951539" y="1628776"/>
            <a:ext cx="189186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3200" dirty="0"/>
              <a:t>DGBEAFC</a:t>
            </a:r>
          </a:p>
        </p:txBody>
      </p:sp>
      <p:sp>
        <p:nvSpPr>
          <p:cNvPr id="21" name="TextBox 36">
            <a:extLst>
              <a:ext uri="{FF2B5EF4-FFF2-40B4-BE49-F238E27FC236}">
                <a16:creationId xmlns:a16="http://schemas.microsoft.com/office/drawing/2014/main" id="{CCDE2C6F-041D-40C5-810E-864A9572DC7E}"/>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二叉树的遍历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中序遍历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78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27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84" grpId="0"/>
      <p:bldP spid="3278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795" name="Group 3">
            <a:extLst>
              <a:ext uri="{FF2B5EF4-FFF2-40B4-BE49-F238E27FC236}">
                <a16:creationId xmlns:a16="http://schemas.microsoft.com/office/drawing/2014/main" id="{E10E511C-3166-4A67-B4D0-1EB645E292BB}"/>
              </a:ext>
            </a:extLst>
          </p:cNvPr>
          <p:cNvGrpSpPr>
            <a:grpSpLocks/>
          </p:cNvGrpSpPr>
          <p:nvPr/>
        </p:nvGrpSpPr>
        <p:grpSpPr bwMode="auto">
          <a:xfrm>
            <a:off x="2455864" y="1712913"/>
            <a:ext cx="2344737" cy="3948112"/>
            <a:chOff x="204" y="845"/>
            <a:chExt cx="1477" cy="2487"/>
          </a:xfrm>
        </p:grpSpPr>
        <p:sp>
          <p:nvSpPr>
            <p:cNvPr id="33796" name="Oval 4">
              <a:extLst>
                <a:ext uri="{FF2B5EF4-FFF2-40B4-BE49-F238E27FC236}">
                  <a16:creationId xmlns:a16="http://schemas.microsoft.com/office/drawing/2014/main" id="{B5E788D0-6776-4D83-B9D7-B5FC7B59585A}"/>
                </a:ext>
              </a:extLst>
            </p:cNvPr>
            <p:cNvSpPr>
              <a:spLocks noChangeArrowheads="1"/>
            </p:cNvSpPr>
            <p:nvPr/>
          </p:nvSpPr>
          <p:spPr bwMode="auto">
            <a:xfrm>
              <a:off x="941" y="84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A</a:t>
              </a:r>
            </a:p>
          </p:txBody>
        </p:sp>
        <p:sp>
          <p:nvSpPr>
            <p:cNvPr id="33797" name="Oval 5">
              <a:extLst>
                <a:ext uri="{FF2B5EF4-FFF2-40B4-BE49-F238E27FC236}">
                  <a16:creationId xmlns:a16="http://schemas.microsoft.com/office/drawing/2014/main" id="{A89937B4-EF3B-4295-A0D3-8F6DD8AFD1DC}"/>
                </a:ext>
              </a:extLst>
            </p:cNvPr>
            <p:cNvSpPr>
              <a:spLocks noChangeArrowheads="1"/>
            </p:cNvSpPr>
            <p:nvPr/>
          </p:nvSpPr>
          <p:spPr bwMode="auto">
            <a:xfrm>
              <a:off x="476"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B</a:t>
              </a:r>
            </a:p>
          </p:txBody>
        </p:sp>
        <p:cxnSp>
          <p:nvCxnSpPr>
            <p:cNvPr id="33798" name="AutoShape 6">
              <a:extLst>
                <a:ext uri="{FF2B5EF4-FFF2-40B4-BE49-F238E27FC236}">
                  <a16:creationId xmlns:a16="http://schemas.microsoft.com/office/drawing/2014/main" id="{44716B23-64CF-40AE-926B-6820C78298FE}"/>
                </a:ext>
              </a:extLst>
            </p:cNvPr>
            <p:cNvCxnSpPr>
              <a:cxnSpLocks noChangeShapeType="1"/>
              <a:stCxn id="33797" idx="3"/>
              <a:endCxn id="33804" idx="0"/>
            </p:cNvCxnSpPr>
            <p:nvPr/>
          </p:nvCxnSpPr>
          <p:spPr bwMode="auto">
            <a:xfrm flipH="1">
              <a:off x="353"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799" name="AutoShape 7">
              <a:extLst>
                <a:ext uri="{FF2B5EF4-FFF2-40B4-BE49-F238E27FC236}">
                  <a16:creationId xmlns:a16="http://schemas.microsoft.com/office/drawing/2014/main" id="{2CE28EF3-72F3-4689-8DF9-43251B144433}"/>
                </a:ext>
              </a:extLst>
            </p:cNvPr>
            <p:cNvCxnSpPr>
              <a:cxnSpLocks noChangeShapeType="1"/>
              <a:stCxn id="33797" idx="5"/>
              <a:endCxn id="33805" idx="0"/>
            </p:cNvCxnSpPr>
            <p:nvPr/>
          </p:nvCxnSpPr>
          <p:spPr bwMode="auto">
            <a:xfrm>
              <a:off x="730"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800" name="AutoShape 8">
              <a:extLst>
                <a:ext uri="{FF2B5EF4-FFF2-40B4-BE49-F238E27FC236}">
                  <a16:creationId xmlns:a16="http://schemas.microsoft.com/office/drawing/2014/main" id="{E4691101-57A1-40D1-A673-0AADC36D9E23}"/>
                </a:ext>
              </a:extLst>
            </p:cNvPr>
            <p:cNvCxnSpPr>
              <a:cxnSpLocks noChangeShapeType="1"/>
              <a:stCxn id="33803" idx="3"/>
              <a:endCxn id="33806" idx="0"/>
            </p:cNvCxnSpPr>
            <p:nvPr/>
          </p:nvCxnSpPr>
          <p:spPr bwMode="auto">
            <a:xfrm flipH="1">
              <a:off x="1351" y="1776"/>
              <a:ext cx="76"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801" name="AutoShape 9">
              <a:extLst>
                <a:ext uri="{FF2B5EF4-FFF2-40B4-BE49-F238E27FC236}">
                  <a16:creationId xmlns:a16="http://schemas.microsoft.com/office/drawing/2014/main" id="{8EF6AEF8-9FA6-4064-B96D-334E5D7DE14E}"/>
                </a:ext>
              </a:extLst>
            </p:cNvPr>
            <p:cNvCxnSpPr>
              <a:cxnSpLocks noChangeShapeType="1"/>
              <a:stCxn id="33796" idx="3"/>
              <a:endCxn id="33797" idx="0"/>
            </p:cNvCxnSpPr>
            <p:nvPr/>
          </p:nvCxnSpPr>
          <p:spPr bwMode="auto">
            <a:xfrm flipH="1">
              <a:off x="625" y="1187"/>
              <a:ext cx="360"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802" name="AutoShape 10">
              <a:extLst>
                <a:ext uri="{FF2B5EF4-FFF2-40B4-BE49-F238E27FC236}">
                  <a16:creationId xmlns:a16="http://schemas.microsoft.com/office/drawing/2014/main" id="{4B58F13D-97C9-467B-BC29-D71608E18887}"/>
                </a:ext>
              </a:extLst>
            </p:cNvPr>
            <p:cNvCxnSpPr>
              <a:cxnSpLocks noChangeShapeType="1"/>
              <a:stCxn id="33796" idx="5"/>
              <a:endCxn id="33803" idx="0"/>
            </p:cNvCxnSpPr>
            <p:nvPr/>
          </p:nvCxnSpPr>
          <p:spPr bwMode="auto">
            <a:xfrm>
              <a:off x="1195" y="1187"/>
              <a:ext cx="337"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803" name="Oval 11">
              <a:extLst>
                <a:ext uri="{FF2B5EF4-FFF2-40B4-BE49-F238E27FC236}">
                  <a16:creationId xmlns:a16="http://schemas.microsoft.com/office/drawing/2014/main" id="{9B5AD4C0-BC7E-486C-A9CB-AA4E3EE211B3}"/>
                </a:ext>
              </a:extLst>
            </p:cNvPr>
            <p:cNvSpPr>
              <a:spLocks noChangeArrowheads="1"/>
            </p:cNvSpPr>
            <p:nvPr/>
          </p:nvSpPr>
          <p:spPr bwMode="auto">
            <a:xfrm>
              <a:off x="1383"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C</a:t>
              </a:r>
            </a:p>
          </p:txBody>
        </p:sp>
        <p:sp>
          <p:nvSpPr>
            <p:cNvPr id="33804" name="Oval 12">
              <a:extLst>
                <a:ext uri="{FF2B5EF4-FFF2-40B4-BE49-F238E27FC236}">
                  <a16:creationId xmlns:a16="http://schemas.microsoft.com/office/drawing/2014/main" id="{56D25931-8D42-4594-BD7D-065520AD6D8F}"/>
                </a:ext>
              </a:extLst>
            </p:cNvPr>
            <p:cNvSpPr>
              <a:spLocks noChangeArrowheads="1"/>
            </p:cNvSpPr>
            <p:nvPr/>
          </p:nvSpPr>
          <p:spPr bwMode="auto">
            <a:xfrm>
              <a:off x="204"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dirty="0"/>
                <a:t>D</a:t>
              </a:r>
            </a:p>
          </p:txBody>
        </p:sp>
        <p:sp>
          <p:nvSpPr>
            <p:cNvPr id="33805" name="Oval 13">
              <a:extLst>
                <a:ext uri="{FF2B5EF4-FFF2-40B4-BE49-F238E27FC236}">
                  <a16:creationId xmlns:a16="http://schemas.microsoft.com/office/drawing/2014/main" id="{4EBF2274-2F7B-43AC-8E61-56F9630418D8}"/>
                </a:ext>
              </a:extLst>
            </p:cNvPr>
            <p:cNvSpPr>
              <a:spLocks noChangeArrowheads="1"/>
            </p:cNvSpPr>
            <p:nvPr/>
          </p:nvSpPr>
          <p:spPr bwMode="auto">
            <a:xfrm>
              <a:off x="748"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E</a:t>
              </a:r>
            </a:p>
          </p:txBody>
        </p:sp>
        <p:sp>
          <p:nvSpPr>
            <p:cNvPr id="33806" name="Oval 14">
              <a:extLst>
                <a:ext uri="{FF2B5EF4-FFF2-40B4-BE49-F238E27FC236}">
                  <a16:creationId xmlns:a16="http://schemas.microsoft.com/office/drawing/2014/main" id="{8B470CBC-2BCB-4DAE-BF9A-E2076D6A7A65}"/>
                </a:ext>
              </a:extLst>
            </p:cNvPr>
            <p:cNvSpPr>
              <a:spLocks noChangeArrowheads="1"/>
            </p:cNvSpPr>
            <p:nvPr/>
          </p:nvSpPr>
          <p:spPr bwMode="auto">
            <a:xfrm>
              <a:off x="1202"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F</a:t>
              </a:r>
            </a:p>
          </p:txBody>
        </p:sp>
        <p:sp>
          <p:nvSpPr>
            <p:cNvPr id="33807" name="Oval 15">
              <a:extLst>
                <a:ext uri="{FF2B5EF4-FFF2-40B4-BE49-F238E27FC236}">
                  <a16:creationId xmlns:a16="http://schemas.microsoft.com/office/drawing/2014/main" id="{A3B25591-E3C6-4875-BFE0-029308EC8D38}"/>
                </a:ext>
              </a:extLst>
            </p:cNvPr>
            <p:cNvSpPr>
              <a:spLocks noChangeArrowheads="1"/>
            </p:cNvSpPr>
            <p:nvPr/>
          </p:nvSpPr>
          <p:spPr bwMode="auto">
            <a:xfrm>
              <a:off x="521" y="2931"/>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G</a:t>
              </a:r>
            </a:p>
          </p:txBody>
        </p:sp>
      </p:grpSp>
      <p:sp>
        <p:nvSpPr>
          <p:cNvPr id="33808" name="Text Box 16">
            <a:extLst>
              <a:ext uri="{FF2B5EF4-FFF2-40B4-BE49-F238E27FC236}">
                <a16:creationId xmlns:a16="http://schemas.microsoft.com/office/drawing/2014/main" id="{F4D8A8E8-C327-46F7-88E0-C4F8263C8DC7}"/>
              </a:ext>
            </a:extLst>
          </p:cNvPr>
          <p:cNvSpPr txBox="1">
            <a:spLocks noChangeArrowheads="1"/>
          </p:cNvSpPr>
          <p:nvPr/>
        </p:nvSpPr>
        <p:spPr bwMode="auto">
          <a:xfrm>
            <a:off x="5942013" y="2441576"/>
            <a:ext cx="3967162" cy="3935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800" b="1">
                <a:ea typeface="Dotum" panose="020B0503020000020004" pitchFamily="34" charset="-127"/>
              </a:rPr>
              <a:t>void</a:t>
            </a:r>
            <a:r>
              <a:rPr lang="en-US" altLang="zh-CN" sz="2800">
                <a:ea typeface="Dotum" panose="020B0503020000020004" pitchFamily="34" charset="-127"/>
              </a:rPr>
              <a:t> postoder(node * p)</a:t>
            </a:r>
          </a:p>
          <a:p>
            <a:r>
              <a:rPr lang="en-US" altLang="zh-CN" sz="2800">
                <a:ea typeface="Dotum" panose="020B0503020000020004" pitchFamily="34" charset="-127"/>
              </a:rPr>
              <a:t>{</a:t>
            </a:r>
          </a:p>
          <a:p>
            <a:r>
              <a:rPr lang="en-US" altLang="zh-CN" sz="2800" b="1">
                <a:ea typeface="Dotum" panose="020B0503020000020004" pitchFamily="34" charset="-127"/>
              </a:rPr>
              <a:t>    if</a:t>
            </a:r>
            <a:r>
              <a:rPr lang="en-US" altLang="zh-CN" sz="2800">
                <a:ea typeface="Dotum" panose="020B0503020000020004" pitchFamily="34" charset="-127"/>
              </a:rPr>
              <a:t>(p==NULL)</a:t>
            </a:r>
          </a:p>
          <a:p>
            <a:r>
              <a:rPr lang="en-US" altLang="zh-CN" sz="2800">
                <a:ea typeface="Dotum" panose="020B0503020000020004" pitchFamily="34" charset="-127"/>
              </a:rPr>
              <a:t>        </a:t>
            </a:r>
            <a:r>
              <a:rPr lang="en-US" altLang="zh-CN" sz="2800" b="1">
                <a:ea typeface="Dotum" panose="020B0503020000020004" pitchFamily="34" charset="-127"/>
              </a:rPr>
              <a:t>return;</a:t>
            </a:r>
            <a:endParaRPr lang="en-US" altLang="zh-CN" sz="2800">
              <a:ea typeface="Dotum" panose="020B0503020000020004" pitchFamily="34" charset="-127"/>
            </a:endParaRPr>
          </a:p>
          <a:p>
            <a:r>
              <a:rPr lang="en-US" altLang="zh-CN" sz="2800">
                <a:ea typeface="Dotum" panose="020B0503020000020004" pitchFamily="34" charset="-127"/>
              </a:rPr>
              <a:t>    postoder(p-&gt;ls);</a:t>
            </a:r>
          </a:p>
          <a:p>
            <a:r>
              <a:rPr lang="en-US" altLang="zh-CN" sz="2800">
                <a:ea typeface="Dotum" panose="020B0503020000020004" pitchFamily="34" charset="-127"/>
              </a:rPr>
              <a:t>    postoder(p-&gt;rs);</a:t>
            </a:r>
          </a:p>
          <a:p>
            <a:r>
              <a:rPr lang="en-US" altLang="zh-CN" sz="2800">
                <a:ea typeface="Dotum" panose="020B0503020000020004" pitchFamily="34" charset="-127"/>
              </a:rPr>
              <a:t>    cout&lt;&lt;p-&gt;key;</a:t>
            </a:r>
          </a:p>
          <a:p>
            <a:r>
              <a:rPr lang="en-US" altLang="zh-CN" sz="2800">
                <a:ea typeface="Dotum" panose="020B0503020000020004" pitchFamily="34" charset="-127"/>
              </a:rPr>
              <a:t>    </a:t>
            </a:r>
            <a:r>
              <a:rPr lang="en-US" altLang="zh-CN" sz="2800" b="1">
                <a:ea typeface="Dotum" panose="020B0503020000020004" pitchFamily="34" charset="-127"/>
              </a:rPr>
              <a:t>return</a:t>
            </a:r>
            <a:r>
              <a:rPr lang="en-US" altLang="zh-CN" sz="2800">
                <a:ea typeface="Dotum" panose="020B0503020000020004" pitchFamily="34" charset="-127"/>
              </a:rPr>
              <a:t>;</a:t>
            </a:r>
          </a:p>
          <a:p>
            <a:r>
              <a:rPr lang="en-US" altLang="zh-CN" sz="2800">
                <a:ea typeface="Dotum" panose="020B0503020000020004" pitchFamily="34" charset="-127"/>
              </a:rPr>
              <a:t>}</a:t>
            </a:r>
          </a:p>
        </p:txBody>
      </p:sp>
      <p:cxnSp>
        <p:nvCxnSpPr>
          <p:cNvPr id="33809" name="AutoShape 17">
            <a:extLst>
              <a:ext uri="{FF2B5EF4-FFF2-40B4-BE49-F238E27FC236}">
                <a16:creationId xmlns:a16="http://schemas.microsoft.com/office/drawing/2014/main" id="{E4B13B57-F937-4797-ABBB-B32DA0B514F7}"/>
              </a:ext>
            </a:extLst>
          </p:cNvPr>
          <p:cNvCxnSpPr>
            <a:cxnSpLocks noChangeShapeType="1"/>
          </p:cNvCxnSpPr>
          <p:nvPr/>
        </p:nvCxnSpPr>
        <p:spPr bwMode="auto">
          <a:xfrm>
            <a:off x="2859088" y="4414838"/>
            <a:ext cx="336550" cy="6096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810" name="Text Box 18">
            <a:extLst>
              <a:ext uri="{FF2B5EF4-FFF2-40B4-BE49-F238E27FC236}">
                <a16:creationId xmlns:a16="http://schemas.microsoft.com/office/drawing/2014/main" id="{87D49C63-39B3-4CB5-A82F-5377B8A80896}"/>
              </a:ext>
            </a:extLst>
          </p:cNvPr>
          <p:cNvSpPr txBox="1">
            <a:spLocks noChangeArrowheads="1"/>
          </p:cNvSpPr>
          <p:nvPr/>
        </p:nvSpPr>
        <p:spPr bwMode="auto">
          <a:xfrm>
            <a:off x="5951539" y="1554164"/>
            <a:ext cx="189186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3200"/>
              <a:t>GDEBFCA</a:t>
            </a:r>
          </a:p>
        </p:txBody>
      </p:sp>
      <p:sp>
        <p:nvSpPr>
          <p:cNvPr id="21" name="TextBox 36">
            <a:extLst>
              <a:ext uri="{FF2B5EF4-FFF2-40B4-BE49-F238E27FC236}">
                <a16:creationId xmlns:a16="http://schemas.microsoft.com/office/drawing/2014/main" id="{D13511B5-4A87-4082-B7FE-B8944BA700C6}"/>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二叉树的遍历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后序遍历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81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8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08" grpId="0"/>
      <p:bldP spid="338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36">
            <a:extLst>
              <a:ext uri="{FF2B5EF4-FFF2-40B4-BE49-F238E27FC236}">
                <a16:creationId xmlns:a16="http://schemas.microsoft.com/office/drawing/2014/main" id="{D13511B5-4A87-4082-B7FE-B8944BA700C6}"/>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二叉树的遍历 </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9" name="Text Box 5">
            <a:extLst>
              <a:ext uri="{FF2B5EF4-FFF2-40B4-BE49-F238E27FC236}">
                <a16:creationId xmlns:a16="http://schemas.microsoft.com/office/drawing/2014/main" id="{B8D49B85-D503-44E8-B399-806622BCAF91}"/>
              </a:ext>
            </a:extLst>
          </p:cNvPr>
          <p:cNvSpPr txBox="1">
            <a:spLocks noChangeArrowheads="1"/>
          </p:cNvSpPr>
          <p:nvPr/>
        </p:nvSpPr>
        <p:spPr bwMode="auto">
          <a:xfrm>
            <a:off x="928246" y="1161509"/>
            <a:ext cx="10263495" cy="11440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457200" indent="-457200">
              <a:lnSpc>
                <a:spcPct val="150000"/>
              </a:lnSpc>
              <a:buFont typeface="Wingdings" panose="05000000000000000000" pitchFamily="2" charset="2"/>
              <a:buChar char="l"/>
            </a:pPr>
            <a:r>
              <a:rPr lang="zh-CN" altLang="en-US" sz="2400" b="1" dirty="0">
                <a:solidFill>
                  <a:srgbClr val="014B88"/>
                </a:solidFill>
              </a:rPr>
              <a:t>已知某二叉树的前序遍历为</a:t>
            </a:r>
            <a:r>
              <a:rPr lang="en-US" altLang="zh-CN" sz="2400" dirty="0"/>
              <a:t>ABDGECF</a:t>
            </a:r>
            <a:r>
              <a:rPr lang="zh-CN" altLang="en-US" sz="2400" b="1" dirty="0">
                <a:solidFill>
                  <a:srgbClr val="014B88"/>
                </a:solidFill>
              </a:rPr>
              <a:t>，中序遍历为</a:t>
            </a:r>
            <a:r>
              <a:rPr lang="en-US" altLang="zh-CN" sz="2400" dirty="0"/>
              <a:t>DGBEAFC</a:t>
            </a:r>
            <a:r>
              <a:rPr lang="zh-CN" altLang="en-US" sz="2400" b="1" dirty="0">
                <a:solidFill>
                  <a:srgbClr val="014B88"/>
                </a:solidFill>
              </a:rPr>
              <a:t>，画出这个二叉树并求后序遍历，并编码实现。</a:t>
            </a:r>
          </a:p>
        </p:txBody>
      </p:sp>
      <p:sp>
        <p:nvSpPr>
          <p:cNvPr id="20" name="矩形 19">
            <a:extLst>
              <a:ext uri="{FF2B5EF4-FFF2-40B4-BE49-F238E27FC236}">
                <a16:creationId xmlns:a16="http://schemas.microsoft.com/office/drawing/2014/main" id="{F44B3315-B3EE-4579-9126-A169EBDE0F36}"/>
              </a:ext>
            </a:extLst>
          </p:cNvPr>
          <p:cNvSpPr/>
          <p:nvPr/>
        </p:nvSpPr>
        <p:spPr>
          <a:xfrm>
            <a:off x="7871814" y="5696491"/>
            <a:ext cx="3985386" cy="923330"/>
          </a:xfrm>
          <a:prstGeom prst="rect">
            <a:avLst/>
          </a:prstGeom>
          <a:noFill/>
        </p:spPr>
        <p:txBody>
          <a:bodyPr wrap="none" lIns="91440" tIns="45720" rIns="91440" bIns="45720">
            <a:spAutoFit/>
          </a:bodyPr>
          <a:lstStyle/>
          <a:p>
            <a:pPr algn="ctr"/>
            <a:r>
              <a:rPr lang="en-US" altLang="zh-CN" sz="5400" b="0" cap="none" spc="0" dirty="0">
                <a:ln w="0"/>
                <a:solidFill>
                  <a:schemeClr val="tx1"/>
                </a:solidFill>
                <a:effectLst>
                  <a:outerShdw blurRad="38100" dist="19050" dir="2700000" algn="tl" rotWithShape="0">
                    <a:schemeClr val="dk1">
                      <a:alpha val="40000"/>
                    </a:schemeClr>
                  </a:outerShdw>
                </a:effectLst>
              </a:rPr>
              <a:t>Coding Time</a:t>
            </a:r>
            <a:endParaRPr lang="zh-CN" altLang="en-US" sz="5400" b="0" cap="none" spc="0" dirty="0">
              <a:ln w="0"/>
              <a:solidFill>
                <a:schemeClr val="tx1"/>
              </a:solidFill>
              <a:effectLst>
                <a:outerShdw blurRad="38100" dist="19050" dir="2700000" algn="tl" rotWithShape="0">
                  <a:schemeClr val="dk1">
                    <a:alpha val="40000"/>
                  </a:schemeClr>
                </a:outerShdw>
              </a:effectLst>
            </a:endParaRPr>
          </a:p>
        </p:txBody>
      </p:sp>
      <p:grpSp>
        <p:nvGrpSpPr>
          <p:cNvPr id="22" name="Group 3">
            <a:extLst>
              <a:ext uri="{FF2B5EF4-FFF2-40B4-BE49-F238E27FC236}">
                <a16:creationId xmlns:a16="http://schemas.microsoft.com/office/drawing/2014/main" id="{C168EBD4-1E7A-48A3-9E01-2083D8EEE12C}"/>
              </a:ext>
            </a:extLst>
          </p:cNvPr>
          <p:cNvGrpSpPr>
            <a:grpSpLocks/>
          </p:cNvGrpSpPr>
          <p:nvPr/>
        </p:nvGrpSpPr>
        <p:grpSpPr bwMode="auto">
          <a:xfrm>
            <a:off x="7871814" y="1748379"/>
            <a:ext cx="3854784" cy="3948112"/>
            <a:chOff x="204" y="845"/>
            <a:chExt cx="1477" cy="2487"/>
          </a:xfrm>
        </p:grpSpPr>
        <p:sp>
          <p:nvSpPr>
            <p:cNvPr id="23" name="Oval 4">
              <a:extLst>
                <a:ext uri="{FF2B5EF4-FFF2-40B4-BE49-F238E27FC236}">
                  <a16:creationId xmlns:a16="http://schemas.microsoft.com/office/drawing/2014/main" id="{D0A8ECCB-51B3-471E-B01B-B54D5C825BF6}"/>
                </a:ext>
              </a:extLst>
            </p:cNvPr>
            <p:cNvSpPr>
              <a:spLocks noChangeArrowheads="1"/>
            </p:cNvSpPr>
            <p:nvPr/>
          </p:nvSpPr>
          <p:spPr bwMode="auto">
            <a:xfrm>
              <a:off x="941" y="84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A</a:t>
              </a:r>
            </a:p>
          </p:txBody>
        </p:sp>
        <p:sp>
          <p:nvSpPr>
            <p:cNvPr id="24" name="Oval 5">
              <a:extLst>
                <a:ext uri="{FF2B5EF4-FFF2-40B4-BE49-F238E27FC236}">
                  <a16:creationId xmlns:a16="http://schemas.microsoft.com/office/drawing/2014/main" id="{162799E2-3CAC-4318-9A9C-AC0EF914BCA0}"/>
                </a:ext>
              </a:extLst>
            </p:cNvPr>
            <p:cNvSpPr>
              <a:spLocks noChangeArrowheads="1"/>
            </p:cNvSpPr>
            <p:nvPr/>
          </p:nvSpPr>
          <p:spPr bwMode="auto">
            <a:xfrm>
              <a:off x="476"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B</a:t>
              </a:r>
            </a:p>
          </p:txBody>
        </p:sp>
        <p:cxnSp>
          <p:nvCxnSpPr>
            <p:cNvPr id="25" name="AutoShape 6">
              <a:extLst>
                <a:ext uri="{FF2B5EF4-FFF2-40B4-BE49-F238E27FC236}">
                  <a16:creationId xmlns:a16="http://schemas.microsoft.com/office/drawing/2014/main" id="{5BB331A7-0B00-4784-91FE-3118E78F5AB8}"/>
                </a:ext>
              </a:extLst>
            </p:cNvPr>
            <p:cNvCxnSpPr>
              <a:cxnSpLocks noChangeShapeType="1"/>
              <a:stCxn id="24" idx="3"/>
              <a:endCxn id="31" idx="0"/>
            </p:cNvCxnSpPr>
            <p:nvPr/>
          </p:nvCxnSpPr>
          <p:spPr bwMode="auto">
            <a:xfrm flipH="1">
              <a:off x="353"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AutoShape 7">
              <a:extLst>
                <a:ext uri="{FF2B5EF4-FFF2-40B4-BE49-F238E27FC236}">
                  <a16:creationId xmlns:a16="http://schemas.microsoft.com/office/drawing/2014/main" id="{E8CA4A63-E678-4E7E-97B8-980A0A70E6FA}"/>
                </a:ext>
              </a:extLst>
            </p:cNvPr>
            <p:cNvCxnSpPr>
              <a:cxnSpLocks noChangeShapeType="1"/>
              <a:stCxn id="24" idx="5"/>
              <a:endCxn id="32" idx="0"/>
            </p:cNvCxnSpPr>
            <p:nvPr/>
          </p:nvCxnSpPr>
          <p:spPr bwMode="auto">
            <a:xfrm>
              <a:off x="730" y="1776"/>
              <a:ext cx="167"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AutoShape 8">
              <a:extLst>
                <a:ext uri="{FF2B5EF4-FFF2-40B4-BE49-F238E27FC236}">
                  <a16:creationId xmlns:a16="http://schemas.microsoft.com/office/drawing/2014/main" id="{188986D3-1C57-4D68-8BE4-8A5521E87D16}"/>
                </a:ext>
              </a:extLst>
            </p:cNvPr>
            <p:cNvCxnSpPr>
              <a:cxnSpLocks noChangeShapeType="1"/>
              <a:stCxn id="30" idx="3"/>
              <a:endCxn id="33" idx="0"/>
            </p:cNvCxnSpPr>
            <p:nvPr/>
          </p:nvCxnSpPr>
          <p:spPr bwMode="auto">
            <a:xfrm flipH="1">
              <a:off x="1351" y="1776"/>
              <a:ext cx="76" cy="429"/>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AutoShape 9">
              <a:extLst>
                <a:ext uri="{FF2B5EF4-FFF2-40B4-BE49-F238E27FC236}">
                  <a16:creationId xmlns:a16="http://schemas.microsoft.com/office/drawing/2014/main" id="{3B3302ED-D562-4756-808A-596358AACDC1}"/>
                </a:ext>
              </a:extLst>
            </p:cNvPr>
            <p:cNvCxnSpPr>
              <a:cxnSpLocks noChangeShapeType="1"/>
              <a:stCxn id="23" idx="3"/>
              <a:endCxn id="24" idx="0"/>
            </p:cNvCxnSpPr>
            <p:nvPr/>
          </p:nvCxnSpPr>
          <p:spPr bwMode="auto">
            <a:xfrm flipH="1">
              <a:off x="625" y="1187"/>
              <a:ext cx="360"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AutoShape 10">
              <a:extLst>
                <a:ext uri="{FF2B5EF4-FFF2-40B4-BE49-F238E27FC236}">
                  <a16:creationId xmlns:a16="http://schemas.microsoft.com/office/drawing/2014/main" id="{053D506D-88E0-43C1-9641-05C5B23BCF1B}"/>
                </a:ext>
              </a:extLst>
            </p:cNvPr>
            <p:cNvCxnSpPr>
              <a:cxnSpLocks noChangeShapeType="1"/>
              <a:stCxn id="23" idx="5"/>
              <a:endCxn id="30" idx="0"/>
            </p:cNvCxnSpPr>
            <p:nvPr/>
          </p:nvCxnSpPr>
          <p:spPr bwMode="auto">
            <a:xfrm>
              <a:off x="1195" y="1187"/>
              <a:ext cx="337" cy="24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 name="Oval 11">
              <a:extLst>
                <a:ext uri="{FF2B5EF4-FFF2-40B4-BE49-F238E27FC236}">
                  <a16:creationId xmlns:a16="http://schemas.microsoft.com/office/drawing/2014/main" id="{148F3C57-073A-47C6-834D-1E19014F9B9C}"/>
                </a:ext>
              </a:extLst>
            </p:cNvPr>
            <p:cNvSpPr>
              <a:spLocks noChangeArrowheads="1"/>
            </p:cNvSpPr>
            <p:nvPr/>
          </p:nvSpPr>
          <p:spPr bwMode="auto">
            <a:xfrm>
              <a:off x="1383" y="1434"/>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C</a:t>
              </a:r>
            </a:p>
          </p:txBody>
        </p:sp>
        <p:sp>
          <p:nvSpPr>
            <p:cNvPr id="31" name="Oval 12">
              <a:extLst>
                <a:ext uri="{FF2B5EF4-FFF2-40B4-BE49-F238E27FC236}">
                  <a16:creationId xmlns:a16="http://schemas.microsoft.com/office/drawing/2014/main" id="{6AF5E8FB-E668-4F4E-9423-D0BADBD6FE1A}"/>
                </a:ext>
              </a:extLst>
            </p:cNvPr>
            <p:cNvSpPr>
              <a:spLocks noChangeArrowheads="1"/>
            </p:cNvSpPr>
            <p:nvPr/>
          </p:nvSpPr>
          <p:spPr bwMode="auto">
            <a:xfrm>
              <a:off x="204"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dirty="0"/>
                <a:t>D</a:t>
              </a:r>
            </a:p>
          </p:txBody>
        </p:sp>
        <p:sp>
          <p:nvSpPr>
            <p:cNvPr id="32" name="Oval 13">
              <a:extLst>
                <a:ext uri="{FF2B5EF4-FFF2-40B4-BE49-F238E27FC236}">
                  <a16:creationId xmlns:a16="http://schemas.microsoft.com/office/drawing/2014/main" id="{5F4BDB26-D32E-4F65-9462-8B9C09BB4ADB}"/>
                </a:ext>
              </a:extLst>
            </p:cNvPr>
            <p:cNvSpPr>
              <a:spLocks noChangeArrowheads="1"/>
            </p:cNvSpPr>
            <p:nvPr/>
          </p:nvSpPr>
          <p:spPr bwMode="auto">
            <a:xfrm>
              <a:off x="748"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E</a:t>
              </a:r>
            </a:p>
          </p:txBody>
        </p:sp>
        <p:sp>
          <p:nvSpPr>
            <p:cNvPr id="33" name="Oval 14">
              <a:extLst>
                <a:ext uri="{FF2B5EF4-FFF2-40B4-BE49-F238E27FC236}">
                  <a16:creationId xmlns:a16="http://schemas.microsoft.com/office/drawing/2014/main" id="{5DA388F5-FF9A-47A6-881F-348E5FCE6278}"/>
                </a:ext>
              </a:extLst>
            </p:cNvPr>
            <p:cNvSpPr>
              <a:spLocks noChangeArrowheads="1"/>
            </p:cNvSpPr>
            <p:nvPr/>
          </p:nvSpPr>
          <p:spPr bwMode="auto">
            <a:xfrm>
              <a:off x="1202" y="2205"/>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F</a:t>
              </a:r>
            </a:p>
          </p:txBody>
        </p:sp>
        <p:sp>
          <p:nvSpPr>
            <p:cNvPr id="34" name="Oval 15">
              <a:extLst>
                <a:ext uri="{FF2B5EF4-FFF2-40B4-BE49-F238E27FC236}">
                  <a16:creationId xmlns:a16="http://schemas.microsoft.com/office/drawing/2014/main" id="{4D47E174-E713-40F4-9206-C839FC0DD3E8}"/>
                </a:ext>
              </a:extLst>
            </p:cNvPr>
            <p:cNvSpPr>
              <a:spLocks noChangeArrowheads="1"/>
            </p:cNvSpPr>
            <p:nvPr/>
          </p:nvSpPr>
          <p:spPr bwMode="auto">
            <a:xfrm>
              <a:off x="521" y="2931"/>
              <a:ext cx="298" cy="401"/>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a:t>G</a:t>
              </a:r>
            </a:p>
          </p:txBody>
        </p:sp>
      </p:grpSp>
      <p:cxnSp>
        <p:nvCxnSpPr>
          <p:cNvPr id="35" name="AutoShape 17">
            <a:extLst>
              <a:ext uri="{FF2B5EF4-FFF2-40B4-BE49-F238E27FC236}">
                <a16:creationId xmlns:a16="http://schemas.microsoft.com/office/drawing/2014/main" id="{F5016D67-87EC-4C58-A1D9-80AC6487F1CE}"/>
              </a:ext>
            </a:extLst>
          </p:cNvPr>
          <p:cNvCxnSpPr>
            <a:cxnSpLocks noChangeShapeType="1"/>
            <a:endCxn id="34" idx="1"/>
          </p:cNvCxnSpPr>
          <p:nvPr/>
        </p:nvCxnSpPr>
        <p:spPr bwMode="auto">
          <a:xfrm>
            <a:off x="8359983" y="4543966"/>
            <a:ext cx="453059" cy="609164"/>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6224889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9" name="Text Box 5">
            <a:extLst>
              <a:ext uri="{FF2B5EF4-FFF2-40B4-BE49-F238E27FC236}">
                <a16:creationId xmlns:a16="http://schemas.microsoft.com/office/drawing/2014/main" id="{DEC07100-E49D-4EF1-96DB-48F524390FEC}"/>
              </a:ext>
            </a:extLst>
          </p:cNvPr>
          <p:cNvSpPr txBox="1">
            <a:spLocks noChangeArrowheads="1"/>
          </p:cNvSpPr>
          <p:nvPr/>
        </p:nvSpPr>
        <p:spPr bwMode="auto">
          <a:xfrm>
            <a:off x="987760" y="1143853"/>
            <a:ext cx="1026193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buFont typeface="Wingdings" panose="05000000000000000000" pitchFamily="2" charset="2"/>
              <a:buChar char="l"/>
            </a:pPr>
            <a:r>
              <a:rPr lang="zh-CN" altLang="en-US" sz="2400" b="1" dirty="0">
                <a:solidFill>
                  <a:srgbClr val="014B88"/>
                </a:solidFill>
                <a:latin typeface="+mn-ea"/>
              </a:rPr>
              <a:t>堆是一棵</a:t>
            </a:r>
            <a:r>
              <a:rPr lang="zh-CN" altLang="en-US" sz="2400" b="1" dirty="0">
                <a:solidFill>
                  <a:srgbClr val="FF0000"/>
                </a:solidFill>
                <a:latin typeface="+mn-ea"/>
              </a:rPr>
              <a:t>完全二叉树</a:t>
            </a:r>
            <a:r>
              <a:rPr lang="zh-CN" altLang="en-US" sz="2400" b="1" dirty="0">
                <a:solidFill>
                  <a:srgbClr val="014B88"/>
                </a:solidFill>
                <a:latin typeface="+mn-ea"/>
              </a:rPr>
              <a:t>，它的任意一个结点的值都大于</a:t>
            </a:r>
            <a:r>
              <a:rPr lang="en-US" altLang="zh-CN" sz="2400" b="1" dirty="0">
                <a:solidFill>
                  <a:srgbClr val="014B88"/>
                </a:solidFill>
                <a:latin typeface="+mn-ea"/>
              </a:rPr>
              <a:t>(</a:t>
            </a:r>
            <a:r>
              <a:rPr lang="zh-CN" altLang="en-US" sz="2400" b="1" dirty="0">
                <a:solidFill>
                  <a:srgbClr val="014B88"/>
                </a:solidFill>
                <a:latin typeface="+mn-ea"/>
              </a:rPr>
              <a:t>小于</a:t>
            </a:r>
            <a:r>
              <a:rPr lang="en-US" altLang="zh-CN" sz="2400" b="1" dirty="0">
                <a:solidFill>
                  <a:srgbClr val="014B88"/>
                </a:solidFill>
                <a:latin typeface="+mn-ea"/>
              </a:rPr>
              <a:t>)</a:t>
            </a:r>
            <a:r>
              <a:rPr lang="zh-CN" altLang="en-US" sz="2400" b="1" dirty="0">
                <a:solidFill>
                  <a:srgbClr val="014B88"/>
                </a:solidFill>
                <a:latin typeface="+mn-ea"/>
              </a:rPr>
              <a:t>它的子结点。</a:t>
            </a:r>
          </a:p>
        </p:txBody>
      </p:sp>
      <p:sp>
        <p:nvSpPr>
          <p:cNvPr id="7" name="TextBox 36">
            <a:extLst>
              <a:ext uri="{FF2B5EF4-FFF2-40B4-BE49-F238E27FC236}">
                <a16:creationId xmlns:a16="http://schemas.microsoft.com/office/drawing/2014/main" id="{CD339006-6060-46C1-8F72-04F397FBDCB2}"/>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8" name="Oval 6">
            <a:extLst>
              <a:ext uri="{FF2B5EF4-FFF2-40B4-BE49-F238E27FC236}">
                <a16:creationId xmlns:a16="http://schemas.microsoft.com/office/drawing/2014/main" id="{93790F7E-3122-415F-B229-5C0F8BEC64D6}"/>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16</a:t>
            </a:r>
          </a:p>
        </p:txBody>
      </p:sp>
      <p:cxnSp>
        <p:nvCxnSpPr>
          <p:cNvPr id="9" name="AutoShape 8">
            <a:extLst>
              <a:ext uri="{FF2B5EF4-FFF2-40B4-BE49-F238E27FC236}">
                <a16:creationId xmlns:a16="http://schemas.microsoft.com/office/drawing/2014/main" id="{0FC62704-150F-4406-9D3D-CB43E0E582DF}"/>
              </a:ext>
            </a:extLst>
          </p:cNvPr>
          <p:cNvCxnSpPr>
            <a:cxnSpLocks noChangeShapeType="1"/>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9">
            <a:extLst>
              <a:ext uri="{FF2B5EF4-FFF2-40B4-BE49-F238E27FC236}">
                <a16:creationId xmlns:a16="http://schemas.microsoft.com/office/drawing/2014/main" id="{92117545-C078-4A37-BD90-93406B310982}"/>
              </a:ext>
            </a:extLst>
          </p:cNvPr>
          <p:cNvCxnSpPr>
            <a:cxnSpLocks noChangeShapeType="1"/>
            <a:endCxn id="15"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AutoShape 10">
            <a:extLst>
              <a:ext uri="{FF2B5EF4-FFF2-40B4-BE49-F238E27FC236}">
                <a16:creationId xmlns:a16="http://schemas.microsoft.com/office/drawing/2014/main" id="{C0C3ED4D-C10E-4968-930D-CD9F1D8204D3}"/>
              </a:ext>
            </a:extLst>
          </p:cNvPr>
          <p:cNvCxnSpPr>
            <a:cxnSpLocks noChangeShapeType="1"/>
            <a:stCxn id="14" idx="3"/>
            <a:endCxn id="16"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AutoShape 11">
            <a:extLst>
              <a:ext uri="{FF2B5EF4-FFF2-40B4-BE49-F238E27FC236}">
                <a16:creationId xmlns:a16="http://schemas.microsoft.com/office/drawing/2014/main" id="{D9FB6891-0FC3-4368-99DA-FC2DCDF0A470}"/>
              </a:ext>
            </a:extLst>
          </p:cNvPr>
          <p:cNvCxnSpPr>
            <a:cxnSpLocks noChangeShapeType="1"/>
            <a:stCxn id="8" idx="3"/>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2">
            <a:extLst>
              <a:ext uri="{FF2B5EF4-FFF2-40B4-BE49-F238E27FC236}">
                <a16:creationId xmlns:a16="http://schemas.microsoft.com/office/drawing/2014/main" id="{09753B9C-68E5-44AD-A6A5-779A29EDCF00}"/>
              </a:ext>
            </a:extLst>
          </p:cNvPr>
          <p:cNvCxnSpPr>
            <a:cxnSpLocks noChangeShapeType="1"/>
            <a:stCxn id="8" idx="5"/>
            <a:endCxn id="14"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Oval 13">
            <a:extLst>
              <a:ext uri="{FF2B5EF4-FFF2-40B4-BE49-F238E27FC236}">
                <a16:creationId xmlns:a16="http://schemas.microsoft.com/office/drawing/2014/main" id="{A0187BB8-485C-4C7B-84F5-F0A272742D38}"/>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15" name="Oval 15">
            <a:extLst>
              <a:ext uri="{FF2B5EF4-FFF2-40B4-BE49-F238E27FC236}">
                <a16:creationId xmlns:a16="http://schemas.microsoft.com/office/drawing/2014/main" id="{F7B2C421-4E1E-4DB2-B693-36103181BF9C}"/>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sp>
        <p:nvSpPr>
          <p:cNvPr id="16" name="Oval 16">
            <a:extLst>
              <a:ext uri="{FF2B5EF4-FFF2-40B4-BE49-F238E27FC236}">
                <a16:creationId xmlns:a16="http://schemas.microsoft.com/office/drawing/2014/main" id="{6EDA4443-1FD9-406C-AB82-E29481C1FF3D}"/>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17" name="Oval 17">
            <a:extLst>
              <a:ext uri="{FF2B5EF4-FFF2-40B4-BE49-F238E27FC236}">
                <a16:creationId xmlns:a16="http://schemas.microsoft.com/office/drawing/2014/main" id="{A1C910B6-FF39-49AE-8624-FD289BF9DDA9}"/>
              </a:ext>
            </a:extLst>
          </p:cNvPr>
          <p:cNvSpPr>
            <a:spLocks noChangeArrowheads="1"/>
          </p:cNvSpPr>
          <p:nvPr/>
        </p:nvSpPr>
        <p:spPr bwMode="auto">
          <a:xfrm>
            <a:off x="4356100"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dirty="0"/>
              <a:t>4</a:t>
            </a:r>
          </a:p>
        </p:txBody>
      </p:sp>
      <p:sp>
        <p:nvSpPr>
          <p:cNvPr id="18" name="Oval 18">
            <a:extLst>
              <a:ext uri="{FF2B5EF4-FFF2-40B4-BE49-F238E27FC236}">
                <a16:creationId xmlns:a16="http://schemas.microsoft.com/office/drawing/2014/main" id="{FCFDEAFD-D944-4098-9940-638143979EA6}"/>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19" name="AutoShape 19">
            <a:extLst>
              <a:ext uri="{FF2B5EF4-FFF2-40B4-BE49-F238E27FC236}">
                <a16:creationId xmlns:a16="http://schemas.microsoft.com/office/drawing/2014/main" id="{682DC82E-BF9C-4D69-85E2-84F1135EAEE9}"/>
              </a:ext>
            </a:extLst>
          </p:cNvPr>
          <p:cNvCxnSpPr>
            <a:cxnSpLocks noChangeShapeType="1"/>
            <a:stCxn id="14" idx="5"/>
            <a:endCxn id="18"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 name="Oval 20">
            <a:extLst>
              <a:ext uri="{FF2B5EF4-FFF2-40B4-BE49-F238E27FC236}">
                <a16:creationId xmlns:a16="http://schemas.microsoft.com/office/drawing/2014/main" id="{E690CFF5-5CCE-4002-8F70-87AEEE4B7F74}"/>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21" name="AutoShape 36">
            <a:extLst>
              <a:ext uri="{FF2B5EF4-FFF2-40B4-BE49-F238E27FC236}">
                <a16:creationId xmlns:a16="http://schemas.microsoft.com/office/drawing/2014/main" id="{1629E07F-8F90-4B3A-97CE-46E1B9003D6A}"/>
              </a:ext>
            </a:extLst>
          </p:cNvPr>
          <p:cNvCxnSpPr>
            <a:cxnSpLocks noChangeShapeType="1"/>
            <a:endCxn id="20"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AutoShape 37">
            <a:extLst>
              <a:ext uri="{FF2B5EF4-FFF2-40B4-BE49-F238E27FC236}">
                <a16:creationId xmlns:a16="http://schemas.microsoft.com/office/drawing/2014/main" id="{48CEFD6A-22B0-4EDE-A374-EE1C34ABFBE2}"/>
              </a:ext>
            </a:extLst>
          </p:cNvPr>
          <p:cNvCxnSpPr>
            <a:cxnSpLocks noChangeShapeType="1"/>
            <a:stCxn id="17" idx="0"/>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AutoShape 38">
            <a:extLst>
              <a:ext uri="{FF2B5EF4-FFF2-40B4-BE49-F238E27FC236}">
                <a16:creationId xmlns:a16="http://schemas.microsoft.com/office/drawing/2014/main" id="{1DC771E4-ED5A-41EF-A9CC-9F5921CCB96F}"/>
              </a:ext>
            </a:extLst>
          </p:cNvPr>
          <p:cNvCxnSpPr>
            <a:cxnSpLocks noChangeShapeType="1"/>
            <a:stCxn id="15" idx="3"/>
            <a:endCxn id="24"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Oval 40">
            <a:extLst>
              <a:ext uri="{FF2B5EF4-FFF2-40B4-BE49-F238E27FC236}">
                <a16:creationId xmlns:a16="http://schemas.microsoft.com/office/drawing/2014/main" id="{2A015C5D-B66B-40F6-9AB7-B2F3BAB5CA72}"/>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25" name="Oval 45">
            <a:extLst>
              <a:ext uri="{FF2B5EF4-FFF2-40B4-BE49-F238E27FC236}">
                <a16:creationId xmlns:a16="http://schemas.microsoft.com/office/drawing/2014/main" id="{BA0162E4-2229-433F-875D-0C0AE6880715}"/>
              </a:ext>
            </a:extLst>
          </p:cNvPr>
          <p:cNvSpPr>
            <a:spLocks noChangeArrowheads="1"/>
          </p:cNvSpPr>
          <p:nvPr/>
        </p:nvSpPr>
        <p:spPr bwMode="auto">
          <a:xfrm>
            <a:off x="4656138" y="25654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26" name="Oval 46">
            <a:extLst>
              <a:ext uri="{FF2B5EF4-FFF2-40B4-BE49-F238E27FC236}">
                <a16:creationId xmlns:a16="http://schemas.microsoft.com/office/drawing/2014/main" id="{C9ED2BE1-772D-4322-8A69-E4DFEABB6779}"/>
              </a:ext>
            </a:extLst>
          </p:cNvPr>
          <p:cNvSpPr>
            <a:spLocks noChangeArrowheads="1"/>
          </p:cNvSpPr>
          <p:nvPr/>
        </p:nvSpPr>
        <p:spPr bwMode="auto">
          <a:xfrm>
            <a:off x="3648075" y="378936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sp>
        <p:nvSpPr>
          <p:cNvPr id="27" name="Oval 51">
            <a:extLst>
              <a:ext uri="{FF2B5EF4-FFF2-40B4-BE49-F238E27FC236}">
                <a16:creationId xmlns:a16="http://schemas.microsoft.com/office/drawing/2014/main" id="{4B72131C-6C0C-4F89-8CBA-5F7B7BDF69EC}"/>
              </a:ext>
            </a:extLst>
          </p:cNvPr>
          <p:cNvSpPr>
            <a:spLocks noChangeArrowheads="1"/>
          </p:cNvSpPr>
          <p:nvPr/>
        </p:nvSpPr>
        <p:spPr bwMode="auto">
          <a:xfrm>
            <a:off x="4656138" y="25654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sp>
        <p:nvSpPr>
          <p:cNvPr id="28" name="Oval 52">
            <a:extLst>
              <a:ext uri="{FF2B5EF4-FFF2-40B4-BE49-F238E27FC236}">
                <a16:creationId xmlns:a16="http://schemas.microsoft.com/office/drawing/2014/main" id="{61C16ED7-53E6-4864-BCC2-3508F9DA00CE}"/>
              </a:ext>
            </a:extLst>
          </p:cNvPr>
          <p:cNvSpPr>
            <a:spLocks noChangeArrowheads="1"/>
          </p:cNvSpPr>
          <p:nvPr/>
        </p:nvSpPr>
        <p:spPr bwMode="auto">
          <a:xfrm>
            <a:off x="3648075" y="378936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dirty="0"/>
              <a:t>8</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repeatCount="3000" fill="hold" grpId="0" nodeType="clickEffect">
                                  <p:stCondLst>
                                    <p:cond delay="0"/>
                                  </p:stCondLst>
                                  <p:childTnLst>
                                    <p:animEffect transition="out" filter="fade">
                                      <p:cBhvr>
                                        <p:cTn id="6" dur="500" tmFilter="0, 0; .2, .5; .8, .5; 1, 0"/>
                                        <p:tgtEl>
                                          <p:spTgt spid="25"/>
                                        </p:tgtEl>
                                      </p:cBhvr>
                                    </p:animEffect>
                                    <p:animScale>
                                      <p:cBhvr>
                                        <p:cTn id="7" dur="250" autoRev="1" fill="hold"/>
                                        <p:tgtEl>
                                          <p:spTgt spid="25"/>
                                        </p:tgtEl>
                                      </p:cBhvr>
                                      <p:by x="105000" y="105000"/>
                                    </p:animScale>
                                  </p:childTnLst>
                                </p:cTn>
                              </p:par>
                              <p:par>
                                <p:cTn id="8" presetID="26" presetClass="emph" presetSubtype="0" repeatCount="3000" fill="hold" grpId="0" nodeType="withEffect">
                                  <p:stCondLst>
                                    <p:cond delay="0"/>
                                  </p:stCondLst>
                                  <p:childTnLst>
                                    <p:animEffect transition="out" filter="fade">
                                      <p:cBhvr>
                                        <p:cTn id="9" dur="500" tmFilter="0, 0; .2, .5; .8, .5; 1, 0"/>
                                        <p:tgtEl>
                                          <p:spTgt spid="26"/>
                                        </p:tgtEl>
                                      </p:cBhvr>
                                    </p:animEffect>
                                    <p:animScale>
                                      <p:cBhvr>
                                        <p:cTn id="10" dur="250" autoRev="1" fill="hold"/>
                                        <p:tgtEl>
                                          <p:spTgt spid="26"/>
                                        </p:tgtEl>
                                      </p:cBhvr>
                                      <p:by x="105000" y="105000"/>
                                    </p:animScale>
                                  </p:childTnLst>
                                </p:cTn>
                              </p:par>
                            </p:childTnLst>
                          </p:cTn>
                        </p:par>
                      </p:childTnLst>
                    </p:cTn>
                  </p:par>
                  <p:par>
                    <p:cTn id="11" fill="hold">
                      <p:stCondLst>
                        <p:cond delay="indefinite"/>
                      </p:stCondLst>
                      <p:childTnLst>
                        <p:par>
                          <p:cTn id="12" fill="hold">
                            <p:stCondLst>
                              <p:cond delay="0"/>
                            </p:stCondLst>
                            <p:childTnLst>
                              <p:par>
                                <p:cTn id="13" presetID="2" presetClass="exit" presetSubtype="4" fill="hold" grpId="1" nodeType="clickEffect">
                                  <p:stCondLst>
                                    <p:cond delay="0"/>
                                  </p:stCondLst>
                                  <p:childTnLst>
                                    <p:anim calcmode="lin" valueType="num">
                                      <p:cBhvr additive="base">
                                        <p:cTn id="14" dur="500"/>
                                        <p:tgtEl>
                                          <p:spTgt spid="25"/>
                                        </p:tgtEl>
                                        <p:attrNameLst>
                                          <p:attrName>ppt_x</p:attrName>
                                        </p:attrNameLst>
                                      </p:cBhvr>
                                      <p:tavLst>
                                        <p:tav tm="0">
                                          <p:val>
                                            <p:strVal val="ppt_x"/>
                                          </p:val>
                                        </p:tav>
                                        <p:tav tm="100000">
                                          <p:val>
                                            <p:strVal val="ppt_x"/>
                                          </p:val>
                                        </p:tav>
                                      </p:tavLst>
                                    </p:anim>
                                    <p:anim calcmode="lin" valueType="num">
                                      <p:cBhvr additive="base">
                                        <p:cTn id="15" dur="500"/>
                                        <p:tgtEl>
                                          <p:spTgt spid="25"/>
                                        </p:tgtEl>
                                        <p:attrNameLst>
                                          <p:attrName>ppt_y</p:attrName>
                                        </p:attrNameLst>
                                      </p:cBhvr>
                                      <p:tavLst>
                                        <p:tav tm="0">
                                          <p:val>
                                            <p:strVal val="ppt_y"/>
                                          </p:val>
                                        </p:tav>
                                        <p:tav tm="100000">
                                          <p:val>
                                            <p:strVal val="1+ppt_h/2"/>
                                          </p:val>
                                        </p:tav>
                                      </p:tavLst>
                                    </p:anim>
                                    <p:set>
                                      <p:cBhvr>
                                        <p:cTn id="16" dur="1" fill="hold">
                                          <p:stCondLst>
                                            <p:cond delay="499"/>
                                          </p:stCondLst>
                                        </p:cTn>
                                        <p:tgtEl>
                                          <p:spTgt spid="25"/>
                                        </p:tgtEl>
                                        <p:attrNameLst>
                                          <p:attrName>style.visibility</p:attrName>
                                        </p:attrNameLst>
                                      </p:cBhvr>
                                      <p:to>
                                        <p:strVal val="hidden"/>
                                      </p:to>
                                    </p:set>
                                  </p:childTnLst>
                                </p:cTn>
                              </p:par>
                              <p:par>
                                <p:cTn id="17" presetID="2" presetClass="exit" presetSubtype="4" fill="hold" grpId="1" nodeType="withEffect">
                                  <p:stCondLst>
                                    <p:cond delay="0"/>
                                  </p:stCondLst>
                                  <p:childTnLst>
                                    <p:anim calcmode="lin" valueType="num">
                                      <p:cBhvr additive="base">
                                        <p:cTn id="18" dur="500"/>
                                        <p:tgtEl>
                                          <p:spTgt spid="26"/>
                                        </p:tgtEl>
                                        <p:attrNameLst>
                                          <p:attrName>ppt_x</p:attrName>
                                        </p:attrNameLst>
                                      </p:cBhvr>
                                      <p:tavLst>
                                        <p:tav tm="0">
                                          <p:val>
                                            <p:strVal val="ppt_x"/>
                                          </p:val>
                                        </p:tav>
                                        <p:tav tm="100000">
                                          <p:val>
                                            <p:strVal val="ppt_x"/>
                                          </p:val>
                                        </p:tav>
                                      </p:tavLst>
                                    </p:anim>
                                    <p:anim calcmode="lin" valueType="num">
                                      <p:cBhvr additive="base">
                                        <p:cTn id="19" dur="500"/>
                                        <p:tgtEl>
                                          <p:spTgt spid="26"/>
                                        </p:tgtEl>
                                        <p:attrNameLst>
                                          <p:attrName>ppt_y</p:attrName>
                                        </p:attrNameLst>
                                      </p:cBhvr>
                                      <p:tavLst>
                                        <p:tav tm="0">
                                          <p:val>
                                            <p:strVal val="ppt_y"/>
                                          </p:val>
                                        </p:tav>
                                        <p:tav tm="100000">
                                          <p:val>
                                            <p:strVal val="1+ppt_h/2"/>
                                          </p:val>
                                        </p:tav>
                                      </p:tavLst>
                                    </p:anim>
                                    <p:set>
                                      <p:cBhvr>
                                        <p:cTn id="20" dur="1" fill="hold">
                                          <p:stCondLst>
                                            <p:cond delay="499"/>
                                          </p:stCondLst>
                                        </p:cTn>
                                        <p:tgtEl>
                                          <p:spTgt spid="26"/>
                                        </p:tgtEl>
                                        <p:attrNameLst>
                                          <p:attrName>style.visibility</p:attrName>
                                        </p:attrNameLst>
                                      </p:cBhvr>
                                      <p:to>
                                        <p:strVal val="hidden"/>
                                      </p:to>
                                    </p:set>
                                  </p:childTnLst>
                                </p:cTn>
                              </p:par>
                              <p:par>
                                <p:cTn id="21" presetID="2" presetClass="entr" presetSubtype="1" fill="hold" grpId="0" nodeType="withEffect">
                                  <p:stCondLst>
                                    <p:cond delay="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500" fill="hold"/>
                                        <p:tgtEl>
                                          <p:spTgt spid="27"/>
                                        </p:tgtEl>
                                        <p:attrNameLst>
                                          <p:attrName>ppt_x</p:attrName>
                                        </p:attrNameLst>
                                      </p:cBhvr>
                                      <p:tavLst>
                                        <p:tav tm="0">
                                          <p:val>
                                            <p:strVal val="#ppt_x"/>
                                          </p:val>
                                        </p:tav>
                                        <p:tav tm="100000">
                                          <p:val>
                                            <p:strVal val="#ppt_x"/>
                                          </p:val>
                                        </p:tav>
                                      </p:tavLst>
                                    </p:anim>
                                    <p:anim calcmode="lin" valueType="num">
                                      <p:cBhvr additive="base">
                                        <p:cTn id="24" dur="500" fill="hold"/>
                                        <p:tgtEl>
                                          <p:spTgt spid="27"/>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additive="base">
                                        <p:cTn id="27" dur="500" fill="hold"/>
                                        <p:tgtEl>
                                          <p:spTgt spid="28"/>
                                        </p:tgtEl>
                                        <p:attrNameLst>
                                          <p:attrName>ppt_x</p:attrName>
                                        </p:attrNameLst>
                                      </p:cBhvr>
                                      <p:tavLst>
                                        <p:tav tm="0">
                                          <p:val>
                                            <p:strVal val="#ppt_x"/>
                                          </p:val>
                                        </p:tav>
                                        <p:tav tm="100000">
                                          <p:val>
                                            <p:strVal val="#ppt_x"/>
                                          </p:val>
                                        </p:tav>
                                      </p:tavLst>
                                    </p:anim>
                                    <p:anim calcmode="lin" valueType="num">
                                      <p:cBhvr additive="base">
                                        <p:cTn id="28" dur="500" fill="hold"/>
                                        <p:tgtEl>
                                          <p:spTgt spid="2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26" grpId="0" animBg="1"/>
      <p:bldP spid="26" grpId="1" animBg="1"/>
      <p:bldP spid="27" grpId="0" animBg="1"/>
      <p:bldP spid="2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4" name="Oval 6">
            <a:extLst>
              <a:ext uri="{FF2B5EF4-FFF2-40B4-BE49-F238E27FC236}">
                <a16:creationId xmlns:a16="http://schemas.microsoft.com/office/drawing/2014/main" id="{798E2094-0C55-4A6D-9093-0D79075B1430}"/>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16</a:t>
            </a:r>
          </a:p>
        </p:txBody>
      </p:sp>
      <p:cxnSp>
        <p:nvCxnSpPr>
          <p:cNvPr id="43016" name="AutoShape 8">
            <a:extLst>
              <a:ext uri="{FF2B5EF4-FFF2-40B4-BE49-F238E27FC236}">
                <a16:creationId xmlns:a16="http://schemas.microsoft.com/office/drawing/2014/main" id="{B2BC3CFE-2480-4659-BFC8-418A950E2C5F}"/>
              </a:ext>
            </a:extLst>
          </p:cNvPr>
          <p:cNvCxnSpPr>
            <a:cxnSpLocks noChangeShapeType="1"/>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017" name="AutoShape 9">
            <a:extLst>
              <a:ext uri="{FF2B5EF4-FFF2-40B4-BE49-F238E27FC236}">
                <a16:creationId xmlns:a16="http://schemas.microsoft.com/office/drawing/2014/main" id="{1199605C-D06C-4BFE-9027-56E2EA5B1C27}"/>
              </a:ext>
            </a:extLst>
          </p:cNvPr>
          <p:cNvCxnSpPr>
            <a:cxnSpLocks noChangeShapeType="1"/>
            <a:endCxn id="43023"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018" name="AutoShape 10">
            <a:extLst>
              <a:ext uri="{FF2B5EF4-FFF2-40B4-BE49-F238E27FC236}">
                <a16:creationId xmlns:a16="http://schemas.microsoft.com/office/drawing/2014/main" id="{0CBBA909-898C-437C-AF1D-34FE98C76B3F}"/>
              </a:ext>
            </a:extLst>
          </p:cNvPr>
          <p:cNvCxnSpPr>
            <a:cxnSpLocks noChangeShapeType="1"/>
            <a:stCxn id="43021" idx="3"/>
            <a:endCxn id="43024"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019" name="AutoShape 11">
            <a:extLst>
              <a:ext uri="{FF2B5EF4-FFF2-40B4-BE49-F238E27FC236}">
                <a16:creationId xmlns:a16="http://schemas.microsoft.com/office/drawing/2014/main" id="{48A5F13E-A5AE-463A-9CD2-3E6B8788CCBE}"/>
              </a:ext>
            </a:extLst>
          </p:cNvPr>
          <p:cNvCxnSpPr>
            <a:cxnSpLocks noChangeShapeType="1"/>
            <a:stCxn id="43014" idx="3"/>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020" name="AutoShape 12">
            <a:extLst>
              <a:ext uri="{FF2B5EF4-FFF2-40B4-BE49-F238E27FC236}">
                <a16:creationId xmlns:a16="http://schemas.microsoft.com/office/drawing/2014/main" id="{912AF5D5-86D2-4B3B-84E7-4FC2846A5733}"/>
              </a:ext>
            </a:extLst>
          </p:cNvPr>
          <p:cNvCxnSpPr>
            <a:cxnSpLocks noChangeShapeType="1"/>
            <a:stCxn id="43014" idx="5"/>
            <a:endCxn id="43021"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021" name="Oval 13">
            <a:extLst>
              <a:ext uri="{FF2B5EF4-FFF2-40B4-BE49-F238E27FC236}">
                <a16:creationId xmlns:a16="http://schemas.microsoft.com/office/drawing/2014/main" id="{7115C64B-44FA-4BD6-9719-C0FC07FB7EC8}"/>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43023" name="Oval 15">
            <a:extLst>
              <a:ext uri="{FF2B5EF4-FFF2-40B4-BE49-F238E27FC236}">
                <a16:creationId xmlns:a16="http://schemas.microsoft.com/office/drawing/2014/main" id="{A64A9CF6-4013-4E4B-A0A1-CBF5146FF74A}"/>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sp>
        <p:nvSpPr>
          <p:cNvPr id="43024" name="Oval 16">
            <a:extLst>
              <a:ext uri="{FF2B5EF4-FFF2-40B4-BE49-F238E27FC236}">
                <a16:creationId xmlns:a16="http://schemas.microsoft.com/office/drawing/2014/main" id="{AD39DABD-286B-45BA-88E5-CF148EBD94CE}"/>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43025" name="Oval 17">
            <a:extLst>
              <a:ext uri="{FF2B5EF4-FFF2-40B4-BE49-F238E27FC236}">
                <a16:creationId xmlns:a16="http://schemas.microsoft.com/office/drawing/2014/main" id="{E1C0E5C5-F999-4CE8-9841-F4572C6C1D90}"/>
              </a:ext>
            </a:extLst>
          </p:cNvPr>
          <p:cNvSpPr>
            <a:spLocks noChangeArrowheads="1"/>
          </p:cNvSpPr>
          <p:nvPr/>
        </p:nvSpPr>
        <p:spPr bwMode="auto">
          <a:xfrm>
            <a:off x="4356100"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43026" name="Oval 18">
            <a:extLst>
              <a:ext uri="{FF2B5EF4-FFF2-40B4-BE49-F238E27FC236}">
                <a16:creationId xmlns:a16="http://schemas.microsoft.com/office/drawing/2014/main" id="{B8D0DEE4-86EC-4D9E-AF76-489CCE5CDD9A}"/>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43027" name="AutoShape 19">
            <a:extLst>
              <a:ext uri="{FF2B5EF4-FFF2-40B4-BE49-F238E27FC236}">
                <a16:creationId xmlns:a16="http://schemas.microsoft.com/office/drawing/2014/main" id="{B7D1C60F-2C7A-4D90-8A16-7581D95DF5DB}"/>
              </a:ext>
            </a:extLst>
          </p:cNvPr>
          <p:cNvCxnSpPr>
            <a:cxnSpLocks noChangeShapeType="1"/>
            <a:stCxn id="43021" idx="5"/>
            <a:endCxn id="43026"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028" name="Oval 20">
            <a:extLst>
              <a:ext uri="{FF2B5EF4-FFF2-40B4-BE49-F238E27FC236}">
                <a16:creationId xmlns:a16="http://schemas.microsoft.com/office/drawing/2014/main" id="{3C3605EC-439B-4BE2-B2FB-E51B1E59A6B7}"/>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43044" name="AutoShape 36">
            <a:extLst>
              <a:ext uri="{FF2B5EF4-FFF2-40B4-BE49-F238E27FC236}">
                <a16:creationId xmlns:a16="http://schemas.microsoft.com/office/drawing/2014/main" id="{EE6D8E1A-291F-47AD-8C93-822ACE6E2CB4}"/>
              </a:ext>
            </a:extLst>
          </p:cNvPr>
          <p:cNvCxnSpPr>
            <a:cxnSpLocks noChangeShapeType="1"/>
            <a:endCxn id="43028"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045" name="AutoShape 37">
            <a:extLst>
              <a:ext uri="{FF2B5EF4-FFF2-40B4-BE49-F238E27FC236}">
                <a16:creationId xmlns:a16="http://schemas.microsoft.com/office/drawing/2014/main" id="{AE237900-F4BB-45B9-B587-C93BF1A1512A}"/>
              </a:ext>
            </a:extLst>
          </p:cNvPr>
          <p:cNvCxnSpPr>
            <a:cxnSpLocks noChangeShapeType="1"/>
            <a:stCxn id="43025" idx="0"/>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046" name="AutoShape 38">
            <a:extLst>
              <a:ext uri="{FF2B5EF4-FFF2-40B4-BE49-F238E27FC236}">
                <a16:creationId xmlns:a16="http://schemas.microsoft.com/office/drawing/2014/main" id="{85FC331C-7775-4360-AF06-A68EDA563959}"/>
              </a:ext>
            </a:extLst>
          </p:cNvPr>
          <p:cNvCxnSpPr>
            <a:cxnSpLocks noChangeShapeType="1"/>
            <a:stCxn id="43023" idx="3"/>
            <a:endCxn id="43048"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048" name="Oval 40">
            <a:extLst>
              <a:ext uri="{FF2B5EF4-FFF2-40B4-BE49-F238E27FC236}">
                <a16:creationId xmlns:a16="http://schemas.microsoft.com/office/drawing/2014/main" id="{5F984A69-BFD1-4A00-BDDE-8F8BE48EE6D3}"/>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43053" name="Oval 45">
            <a:extLst>
              <a:ext uri="{FF2B5EF4-FFF2-40B4-BE49-F238E27FC236}">
                <a16:creationId xmlns:a16="http://schemas.microsoft.com/office/drawing/2014/main" id="{A941CCC7-7CDD-4364-AE0A-57AE9BB41013}"/>
              </a:ext>
            </a:extLst>
          </p:cNvPr>
          <p:cNvSpPr>
            <a:spLocks noChangeArrowheads="1"/>
          </p:cNvSpPr>
          <p:nvPr/>
        </p:nvSpPr>
        <p:spPr bwMode="auto">
          <a:xfrm>
            <a:off x="4656138" y="25654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43054" name="Oval 46">
            <a:extLst>
              <a:ext uri="{FF2B5EF4-FFF2-40B4-BE49-F238E27FC236}">
                <a16:creationId xmlns:a16="http://schemas.microsoft.com/office/drawing/2014/main" id="{20F7DB62-F232-497C-9F7B-9AA4C3E37B5C}"/>
              </a:ext>
            </a:extLst>
          </p:cNvPr>
          <p:cNvSpPr>
            <a:spLocks noChangeArrowheads="1"/>
          </p:cNvSpPr>
          <p:nvPr/>
        </p:nvSpPr>
        <p:spPr bwMode="auto">
          <a:xfrm>
            <a:off x="3648075" y="378936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sp>
        <p:nvSpPr>
          <p:cNvPr id="43059" name="Oval 51">
            <a:extLst>
              <a:ext uri="{FF2B5EF4-FFF2-40B4-BE49-F238E27FC236}">
                <a16:creationId xmlns:a16="http://schemas.microsoft.com/office/drawing/2014/main" id="{70EA9331-0F66-46D2-AC17-DCBAC6E55537}"/>
              </a:ext>
            </a:extLst>
          </p:cNvPr>
          <p:cNvSpPr>
            <a:spLocks noChangeArrowheads="1"/>
          </p:cNvSpPr>
          <p:nvPr/>
        </p:nvSpPr>
        <p:spPr bwMode="auto">
          <a:xfrm>
            <a:off x="4656138" y="25654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sp>
        <p:nvSpPr>
          <p:cNvPr id="43060" name="Oval 52">
            <a:extLst>
              <a:ext uri="{FF2B5EF4-FFF2-40B4-BE49-F238E27FC236}">
                <a16:creationId xmlns:a16="http://schemas.microsoft.com/office/drawing/2014/main" id="{064088C7-5AAC-41CE-8EF5-10AC8248F3B4}"/>
              </a:ext>
            </a:extLst>
          </p:cNvPr>
          <p:cNvSpPr>
            <a:spLocks noChangeArrowheads="1"/>
          </p:cNvSpPr>
          <p:nvPr/>
        </p:nvSpPr>
        <p:spPr bwMode="auto">
          <a:xfrm>
            <a:off x="3648075" y="378936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24" name="TextBox 36">
            <a:extLst>
              <a:ext uri="{FF2B5EF4-FFF2-40B4-BE49-F238E27FC236}">
                <a16:creationId xmlns:a16="http://schemas.microsoft.com/office/drawing/2014/main" id="{CF8D04FE-0560-49E2-B14E-690FCF22D2BC}"/>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保持堆的性质（</a:t>
            </a:r>
            <a:r>
              <a:rPr lang="en-US" altLang="zh-CN" sz="3200" b="1" dirty="0" err="1">
                <a:solidFill>
                  <a:srgbClr val="C00000"/>
                </a:solidFill>
                <a:latin typeface="微软雅黑" panose="020B0503020204020204" pitchFamily="34" charset="-122"/>
                <a:ea typeface="微软雅黑" panose="020B0503020204020204" pitchFamily="34" charset="-122"/>
              </a:rPr>
              <a:t>Heapfy</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6" presetClass="emph" presetSubtype="0" repeatCount="3000" fill="hold" grpId="0" nodeType="clickEffect">
                                  <p:stCondLst>
                                    <p:cond delay="0"/>
                                  </p:stCondLst>
                                  <p:childTnLst>
                                    <p:animEffect transition="out" filter="fade">
                                      <p:cBhvr>
                                        <p:cTn id="6" dur="500" tmFilter="0, 0; .2, .5; .8, .5; 1, 0"/>
                                        <p:tgtEl>
                                          <p:spTgt spid="43053"/>
                                        </p:tgtEl>
                                      </p:cBhvr>
                                    </p:animEffect>
                                    <p:animScale>
                                      <p:cBhvr>
                                        <p:cTn id="7" dur="250" autoRev="1" fill="hold"/>
                                        <p:tgtEl>
                                          <p:spTgt spid="43053"/>
                                        </p:tgtEl>
                                      </p:cBhvr>
                                      <p:by x="105000" y="105000"/>
                                    </p:animScale>
                                  </p:childTnLst>
                                </p:cTn>
                              </p:par>
                              <p:par>
                                <p:cTn id="8" presetID="26" presetClass="emph" presetSubtype="0" repeatCount="3000" fill="hold" grpId="0" nodeType="withEffect">
                                  <p:stCondLst>
                                    <p:cond delay="0"/>
                                  </p:stCondLst>
                                  <p:childTnLst>
                                    <p:animEffect transition="out" filter="fade">
                                      <p:cBhvr>
                                        <p:cTn id="9" dur="500" tmFilter="0, 0; .2, .5; .8, .5; 1, 0"/>
                                        <p:tgtEl>
                                          <p:spTgt spid="43054"/>
                                        </p:tgtEl>
                                      </p:cBhvr>
                                    </p:animEffect>
                                    <p:animScale>
                                      <p:cBhvr>
                                        <p:cTn id="10" dur="250" autoRev="1" fill="hold"/>
                                        <p:tgtEl>
                                          <p:spTgt spid="43054"/>
                                        </p:tgtEl>
                                      </p:cBhvr>
                                      <p:by x="105000" y="105000"/>
                                    </p:animScale>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xit" presetSubtype="4" fill="hold" grpId="1" nodeType="clickEffect">
                                  <p:stCondLst>
                                    <p:cond delay="0"/>
                                  </p:stCondLst>
                                  <p:childTnLst>
                                    <p:anim calcmode="lin" valueType="num">
                                      <p:cBhvr additive="base">
                                        <p:cTn id="14" dur="500"/>
                                        <p:tgtEl>
                                          <p:spTgt spid="43053"/>
                                        </p:tgtEl>
                                        <p:attrNameLst>
                                          <p:attrName>ppt_x</p:attrName>
                                        </p:attrNameLst>
                                      </p:cBhvr>
                                      <p:tavLst>
                                        <p:tav tm="0">
                                          <p:val>
                                            <p:strVal val="ppt_x"/>
                                          </p:val>
                                        </p:tav>
                                        <p:tav tm="100000">
                                          <p:val>
                                            <p:strVal val="ppt_x"/>
                                          </p:val>
                                        </p:tav>
                                      </p:tavLst>
                                    </p:anim>
                                    <p:anim calcmode="lin" valueType="num">
                                      <p:cBhvr additive="base">
                                        <p:cTn id="15" dur="500"/>
                                        <p:tgtEl>
                                          <p:spTgt spid="43053"/>
                                        </p:tgtEl>
                                        <p:attrNameLst>
                                          <p:attrName>ppt_y</p:attrName>
                                        </p:attrNameLst>
                                      </p:cBhvr>
                                      <p:tavLst>
                                        <p:tav tm="0">
                                          <p:val>
                                            <p:strVal val="ppt_y"/>
                                          </p:val>
                                        </p:tav>
                                        <p:tav tm="100000">
                                          <p:val>
                                            <p:strVal val="1+ppt_h/2"/>
                                          </p:val>
                                        </p:tav>
                                      </p:tavLst>
                                    </p:anim>
                                    <p:set>
                                      <p:cBhvr>
                                        <p:cTn id="16" dur="1" fill="hold">
                                          <p:stCondLst>
                                            <p:cond delay="499"/>
                                          </p:stCondLst>
                                        </p:cTn>
                                        <p:tgtEl>
                                          <p:spTgt spid="43053"/>
                                        </p:tgtEl>
                                        <p:attrNameLst>
                                          <p:attrName>style.visibility</p:attrName>
                                        </p:attrNameLst>
                                      </p:cBhvr>
                                      <p:to>
                                        <p:strVal val="hidden"/>
                                      </p:to>
                                    </p:set>
                                  </p:childTnLst>
                                </p:cTn>
                              </p:par>
                              <p:par>
                                <p:cTn id="17" presetID="2" presetClass="exit" presetSubtype="4" fill="hold" grpId="1" nodeType="withEffect">
                                  <p:stCondLst>
                                    <p:cond delay="0"/>
                                  </p:stCondLst>
                                  <p:childTnLst>
                                    <p:anim calcmode="lin" valueType="num">
                                      <p:cBhvr additive="base">
                                        <p:cTn id="18" dur="500"/>
                                        <p:tgtEl>
                                          <p:spTgt spid="43054"/>
                                        </p:tgtEl>
                                        <p:attrNameLst>
                                          <p:attrName>ppt_x</p:attrName>
                                        </p:attrNameLst>
                                      </p:cBhvr>
                                      <p:tavLst>
                                        <p:tav tm="0">
                                          <p:val>
                                            <p:strVal val="ppt_x"/>
                                          </p:val>
                                        </p:tav>
                                        <p:tav tm="100000">
                                          <p:val>
                                            <p:strVal val="ppt_x"/>
                                          </p:val>
                                        </p:tav>
                                      </p:tavLst>
                                    </p:anim>
                                    <p:anim calcmode="lin" valueType="num">
                                      <p:cBhvr additive="base">
                                        <p:cTn id="19" dur="500"/>
                                        <p:tgtEl>
                                          <p:spTgt spid="43054"/>
                                        </p:tgtEl>
                                        <p:attrNameLst>
                                          <p:attrName>ppt_y</p:attrName>
                                        </p:attrNameLst>
                                      </p:cBhvr>
                                      <p:tavLst>
                                        <p:tav tm="0">
                                          <p:val>
                                            <p:strVal val="ppt_y"/>
                                          </p:val>
                                        </p:tav>
                                        <p:tav tm="100000">
                                          <p:val>
                                            <p:strVal val="1+ppt_h/2"/>
                                          </p:val>
                                        </p:tav>
                                      </p:tavLst>
                                    </p:anim>
                                    <p:set>
                                      <p:cBhvr>
                                        <p:cTn id="20" dur="1" fill="hold">
                                          <p:stCondLst>
                                            <p:cond delay="499"/>
                                          </p:stCondLst>
                                        </p:cTn>
                                        <p:tgtEl>
                                          <p:spTgt spid="43054"/>
                                        </p:tgtEl>
                                        <p:attrNameLst>
                                          <p:attrName>style.visibility</p:attrName>
                                        </p:attrNameLst>
                                      </p:cBhvr>
                                      <p:to>
                                        <p:strVal val="hidden"/>
                                      </p:to>
                                    </p:set>
                                  </p:childTnLst>
                                </p:cTn>
                              </p:par>
                              <p:par>
                                <p:cTn id="21" presetID="2" presetClass="entr" presetSubtype="1" fill="hold" grpId="0" nodeType="withEffect">
                                  <p:stCondLst>
                                    <p:cond delay="0"/>
                                  </p:stCondLst>
                                  <p:childTnLst>
                                    <p:set>
                                      <p:cBhvr>
                                        <p:cTn id="22" dur="1" fill="hold">
                                          <p:stCondLst>
                                            <p:cond delay="0"/>
                                          </p:stCondLst>
                                        </p:cTn>
                                        <p:tgtEl>
                                          <p:spTgt spid="43059"/>
                                        </p:tgtEl>
                                        <p:attrNameLst>
                                          <p:attrName>style.visibility</p:attrName>
                                        </p:attrNameLst>
                                      </p:cBhvr>
                                      <p:to>
                                        <p:strVal val="visible"/>
                                      </p:to>
                                    </p:set>
                                    <p:anim calcmode="lin" valueType="num">
                                      <p:cBhvr additive="base">
                                        <p:cTn id="23" dur="500" fill="hold"/>
                                        <p:tgtEl>
                                          <p:spTgt spid="43059"/>
                                        </p:tgtEl>
                                        <p:attrNameLst>
                                          <p:attrName>ppt_x</p:attrName>
                                        </p:attrNameLst>
                                      </p:cBhvr>
                                      <p:tavLst>
                                        <p:tav tm="0">
                                          <p:val>
                                            <p:strVal val="#ppt_x"/>
                                          </p:val>
                                        </p:tav>
                                        <p:tav tm="100000">
                                          <p:val>
                                            <p:strVal val="#ppt_x"/>
                                          </p:val>
                                        </p:tav>
                                      </p:tavLst>
                                    </p:anim>
                                    <p:anim calcmode="lin" valueType="num">
                                      <p:cBhvr additive="base">
                                        <p:cTn id="24" dur="500" fill="hold"/>
                                        <p:tgtEl>
                                          <p:spTgt spid="43059"/>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43060"/>
                                        </p:tgtEl>
                                        <p:attrNameLst>
                                          <p:attrName>style.visibility</p:attrName>
                                        </p:attrNameLst>
                                      </p:cBhvr>
                                      <p:to>
                                        <p:strVal val="visible"/>
                                      </p:to>
                                    </p:set>
                                    <p:anim calcmode="lin" valueType="num">
                                      <p:cBhvr additive="base">
                                        <p:cTn id="27" dur="500" fill="hold"/>
                                        <p:tgtEl>
                                          <p:spTgt spid="43060"/>
                                        </p:tgtEl>
                                        <p:attrNameLst>
                                          <p:attrName>ppt_x</p:attrName>
                                        </p:attrNameLst>
                                      </p:cBhvr>
                                      <p:tavLst>
                                        <p:tav tm="0">
                                          <p:val>
                                            <p:strVal val="#ppt_x"/>
                                          </p:val>
                                        </p:tav>
                                        <p:tav tm="100000">
                                          <p:val>
                                            <p:strVal val="#ppt_x"/>
                                          </p:val>
                                        </p:tav>
                                      </p:tavLst>
                                    </p:anim>
                                    <p:anim calcmode="lin" valueType="num">
                                      <p:cBhvr additive="base">
                                        <p:cTn id="28" dur="500" fill="hold"/>
                                        <p:tgtEl>
                                          <p:spTgt spid="430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53" grpId="0" animBg="1"/>
      <p:bldP spid="43053" grpId="1" animBg="1"/>
      <p:bldP spid="43054" grpId="0" animBg="1"/>
      <p:bldP spid="43054" grpId="1" animBg="1"/>
      <p:bldP spid="43059" grpId="0" animBg="1"/>
      <p:bldP spid="4306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80" name="Oval 24">
            <a:extLst>
              <a:ext uri="{FF2B5EF4-FFF2-40B4-BE49-F238E27FC236}">
                <a16:creationId xmlns:a16="http://schemas.microsoft.com/office/drawing/2014/main" id="{EC0349D8-F7AA-480F-8134-C4A7351FE9C6}"/>
              </a:ext>
            </a:extLst>
          </p:cNvPr>
          <p:cNvSpPr>
            <a:spLocks noChangeArrowheads="1"/>
          </p:cNvSpPr>
          <p:nvPr/>
        </p:nvSpPr>
        <p:spPr bwMode="auto">
          <a:xfrm>
            <a:off x="3679825" y="378936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45081" name="Oval 25">
            <a:extLst>
              <a:ext uri="{FF2B5EF4-FFF2-40B4-BE49-F238E27FC236}">
                <a16:creationId xmlns:a16="http://schemas.microsoft.com/office/drawing/2014/main" id="{39AF8A4E-EC30-470E-AD6B-ACE9C7D4D854}"/>
              </a:ext>
            </a:extLst>
          </p:cNvPr>
          <p:cNvSpPr>
            <a:spLocks noChangeArrowheads="1"/>
          </p:cNvSpPr>
          <p:nvPr/>
        </p:nvSpPr>
        <p:spPr bwMode="auto">
          <a:xfrm>
            <a:off x="4352925" y="4941889"/>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45061" name="Oval 5">
            <a:extLst>
              <a:ext uri="{FF2B5EF4-FFF2-40B4-BE49-F238E27FC236}">
                <a16:creationId xmlns:a16="http://schemas.microsoft.com/office/drawing/2014/main" id="{2C323CAE-65F3-4CE6-B243-516D083C7DF4}"/>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16</a:t>
            </a:r>
          </a:p>
        </p:txBody>
      </p:sp>
      <p:sp>
        <p:nvSpPr>
          <p:cNvPr id="45062" name="Oval 6">
            <a:extLst>
              <a:ext uri="{FF2B5EF4-FFF2-40B4-BE49-F238E27FC236}">
                <a16:creationId xmlns:a16="http://schemas.microsoft.com/office/drawing/2014/main" id="{8A229342-140B-4560-8251-270A44E68E3F}"/>
              </a:ext>
            </a:extLst>
          </p:cNvPr>
          <p:cNvSpPr>
            <a:spLocks noChangeArrowheads="1"/>
          </p:cNvSpPr>
          <p:nvPr/>
        </p:nvSpPr>
        <p:spPr bwMode="auto">
          <a:xfrm>
            <a:off x="46910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cxnSp>
        <p:nvCxnSpPr>
          <p:cNvPr id="45063" name="AutoShape 7">
            <a:extLst>
              <a:ext uri="{FF2B5EF4-FFF2-40B4-BE49-F238E27FC236}">
                <a16:creationId xmlns:a16="http://schemas.microsoft.com/office/drawing/2014/main" id="{4D31643B-D592-4051-86EF-A4A16157E3F4}"/>
              </a:ext>
            </a:extLst>
          </p:cNvPr>
          <p:cNvCxnSpPr>
            <a:cxnSpLocks noChangeShapeType="1"/>
            <a:stCxn id="45062" idx="3"/>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064" name="AutoShape 8">
            <a:extLst>
              <a:ext uri="{FF2B5EF4-FFF2-40B4-BE49-F238E27FC236}">
                <a16:creationId xmlns:a16="http://schemas.microsoft.com/office/drawing/2014/main" id="{F6F08837-827F-44F2-89C3-6F8607D74A16}"/>
              </a:ext>
            </a:extLst>
          </p:cNvPr>
          <p:cNvCxnSpPr>
            <a:cxnSpLocks noChangeShapeType="1"/>
            <a:stCxn id="45062" idx="5"/>
            <a:endCxn id="45070"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065" name="AutoShape 9">
            <a:extLst>
              <a:ext uri="{FF2B5EF4-FFF2-40B4-BE49-F238E27FC236}">
                <a16:creationId xmlns:a16="http://schemas.microsoft.com/office/drawing/2014/main" id="{5EA408C6-2381-4426-BAE0-CB63E50F7CB4}"/>
              </a:ext>
            </a:extLst>
          </p:cNvPr>
          <p:cNvCxnSpPr>
            <a:cxnSpLocks noChangeShapeType="1"/>
            <a:stCxn id="45068" idx="3"/>
            <a:endCxn id="45071"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066" name="AutoShape 10">
            <a:extLst>
              <a:ext uri="{FF2B5EF4-FFF2-40B4-BE49-F238E27FC236}">
                <a16:creationId xmlns:a16="http://schemas.microsoft.com/office/drawing/2014/main" id="{C4425B3A-9AE0-4D5A-BB51-DC9C00A74DE6}"/>
              </a:ext>
            </a:extLst>
          </p:cNvPr>
          <p:cNvCxnSpPr>
            <a:cxnSpLocks noChangeShapeType="1"/>
            <a:stCxn id="45061" idx="3"/>
            <a:endCxn id="45062" idx="0"/>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067" name="AutoShape 11">
            <a:extLst>
              <a:ext uri="{FF2B5EF4-FFF2-40B4-BE49-F238E27FC236}">
                <a16:creationId xmlns:a16="http://schemas.microsoft.com/office/drawing/2014/main" id="{12D7F877-CDBF-4C2F-B81F-7D3ADC9A18DC}"/>
              </a:ext>
            </a:extLst>
          </p:cNvPr>
          <p:cNvCxnSpPr>
            <a:cxnSpLocks noChangeShapeType="1"/>
            <a:stCxn id="45061" idx="5"/>
            <a:endCxn id="45068"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068" name="Oval 12">
            <a:extLst>
              <a:ext uri="{FF2B5EF4-FFF2-40B4-BE49-F238E27FC236}">
                <a16:creationId xmlns:a16="http://schemas.microsoft.com/office/drawing/2014/main" id="{824B172C-6DBD-439D-A3B7-B6ABE1A8C777}"/>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45070" name="Oval 14">
            <a:extLst>
              <a:ext uri="{FF2B5EF4-FFF2-40B4-BE49-F238E27FC236}">
                <a16:creationId xmlns:a16="http://schemas.microsoft.com/office/drawing/2014/main" id="{6B6A7B3E-353B-4306-B33E-43BE18EBDCB1}"/>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sp>
        <p:nvSpPr>
          <p:cNvPr id="45071" name="Oval 15">
            <a:extLst>
              <a:ext uri="{FF2B5EF4-FFF2-40B4-BE49-F238E27FC236}">
                <a16:creationId xmlns:a16="http://schemas.microsoft.com/office/drawing/2014/main" id="{E78EDD48-BEFC-4F64-910A-1DA0238581F9}"/>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45073" name="Oval 17">
            <a:extLst>
              <a:ext uri="{FF2B5EF4-FFF2-40B4-BE49-F238E27FC236}">
                <a16:creationId xmlns:a16="http://schemas.microsoft.com/office/drawing/2014/main" id="{82E16A49-F3B8-4EA0-AFAD-370914EBA4A8}"/>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45074" name="AutoShape 18">
            <a:extLst>
              <a:ext uri="{FF2B5EF4-FFF2-40B4-BE49-F238E27FC236}">
                <a16:creationId xmlns:a16="http://schemas.microsoft.com/office/drawing/2014/main" id="{94A2CCCB-F539-4336-B90E-B467FB588CAC}"/>
              </a:ext>
            </a:extLst>
          </p:cNvPr>
          <p:cNvCxnSpPr>
            <a:cxnSpLocks noChangeShapeType="1"/>
            <a:stCxn id="45068" idx="5"/>
            <a:endCxn id="45073"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075" name="Oval 19">
            <a:extLst>
              <a:ext uri="{FF2B5EF4-FFF2-40B4-BE49-F238E27FC236}">
                <a16:creationId xmlns:a16="http://schemas.microsoft.com/office/drawing/2014/main" id="{5BB1F88B-2934-40C3-83CE-74EA47957E31}"/>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45076" name="AutoShape 20">
            <a:extLst>
              <a:ext uri="{FF2B5EF4-FFF2-40B4-BE49-F238E27FC236}">
                <a16:creationId xmlns:a16="http://schemas.microsoft.com/office/drawing/2014/main" id="{B0ED26DD-7A59-4B98-8060-F209C3ED4BB8}"/>
              </a:ext>
            </a:extLst>
          </p:cNvPr>
          <p:cNvCxnSpPr>
            <a:cxnSpLocks noChangeShapeType="1"/>
            <a:endCxn id="45075"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077" name="AutoShape 21">
            <a:extLst>
              <a:ext uri="{FF2B5EF4-FFF2-40B4-BE49-F238E27FC236}">
                <a16:creationId xmlns:a16="http://schemas.microsoft.com/office/drawing/2014/main" id="{D19A7142-9CB5-4E8B-87B6-A9CDDD9ABA11}"/>
              </a:ext>
            </a:extLst>
          </p:cNvPr>
          <p:cNvCxnSpPr>
            <a:cxnSpLocks noChangeShapeType="1"/>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078" name="AutoShape 22">
            <a:extLst>
              <a:ext uri="{FF2B5EF4-FFF2-40B4-BE49-F238E27FC236}">
                <a16:creationId xmlns:a16="http://schemas.microsoft.com/office/drawing/2014/main" id="{1FA7753F-C900-45F6-BBE9-2AA7E2F377B9}"/>
              </a:ext>
            </a:extLst>
          </p:cNvPr>
          <p:cNvCxnSpPr>
            <a:cxnSpLocks noChangeShapeType="1"/>
            <a:stCxn id="45070" idx="3"/>
            <a:endCxn id="45079"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5079" name="Oval 23">
            <a:extLst>
              <a:ext uri="{FF2B5EF4-FFF2-40B4-BE49-F238E27FC236}">
                <a16:creationId xmlns:a16="http://schemas.microsoft.com/office/drawing/2014/main" id="{33AF4ABB-C57E-4E69-AF40-C0DB0AAA356B}"/>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45082" name="Oval 26">
            <a:extLst>
              <a:ext uri="{FF2B5EF4-FFF2-40B4-BE49-F238E27FC236}">
                <a16:creationId xmlns:a16="http://schemas.microsoft.com/office/drawing/2014/main" id="{1A77D61A-DBFC-4116-A2B7-3E82CFF88525}"/>
              </a:ext>
            </a:extLst>
          </p:cNvPr>
          <p:cNvSpPr>
            <a:spLocks noChangeArrowheads="1"/>
          </p:cNvSpPr>
          <p:nvPr/>
        </p:nvSpPr>
        <p:spPr bwMode="auto">
          <a:xfrm>
            <a:off x="3679825" y="378936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45083" name="Oval 27">
            <a:extLst>
              <a:ext uri="{FF2B5EF4-FFF2-40B4-BE49-F238E27FC236}">
                <a16:creationId xmlns:a16="http://schemas.microsoft.com/office/drawing/2014/main" id="{609FB584-0658-41D8-A0EC-2564AE321593}"/>
              </a:ext>
            </a:extLst>
          </p:cNvPr>
          <p:cNvSpPr>
            <a:spLocks noChangeArrowheads="1"/>
          </p:cNvSpPr>
          <p:nvPr/>
        </p:nvSpPr>
        <p:spPr bwMode="auto">
          <a:xfrm>
            <a:off x="4352925" y="4941889"/>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45084" name="Text Box 28">
            <a:extLst>
              <a:ext uri="{FF2B5EF4-FFF2-40B4-BE49-F238E27FC236}">
                <a16:creationId xmlns:a16="http://schemas.microsoft.com/office/drawing/2014/main" id="{1755A18B-5049-413D-ACB3-56A9BCD64158}"/>
              </a:ext>
            </a:extLst>
          </p:cNvPr>
          <p:cNvSpPr txBox="1">
            <a:spLocks noChangeArrowheads="1"/>
          </p:cNvSpPr>
          <p:nvPr/>
        </p:nvSpPr>
        <p:spPr bwMode="auto">
          <a:xfrm rot="19426314">
            <a:off x="7864475" y="5233343"/>
            <a:ext cx="1047750" cy="461665"/>
          </a:xfrm>
          <a:prstGeom prst="rect">
            <a:avLst/>
          </a:prstGeom>
          <a:noFill/>
          <a:ln w="38100">
            <a:solidFill>
              <a:srgbClr val="FF00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zh-CN" sz="2400">
                <a:solidFill>
                  <a:srgbClr val="FF0000"/>
                </a:solidFill>
                <a:ea typeface="华文琥珀" panose="02010800040101010101" pitchFamily="2" charset="-122"/>
              </a:rPr>
              <a:t>Done!</a:t>
            </a:r>
          </a:p>
        </p:txBody>
      </p:sp>
      <p:sp>
        <p:nvSpPr>
          <p:cNvPr id="25" name="TextBox 36">
            <a:extLst>
              <a:ext uri="{FF2B5EF4-FFF2-40B4-BE49-F238E27FC236}">
                <a16:creationId xmlns:a16="http://schemas.microsoft.com/office/drawing/2014/main" id="{534DA7A3-5A49-4405-9EC1-2CA10E46BCA0}"/>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保持堆的性质（</a:t>
            </a:r>
            <a:r>
              <a:rPr lang="en-US" altLang="zh-CN" sz="3200" b="1" dirty="0" err="1">
                <a:solidFill>
                  <a:srgbClr val="C00000"/>
                </a:solidFill>
                <a:latin typeface="微软雅黑" panose="020B0503020204020204" pitchFamily="34" charset="-122"/>
                <a:ea typeface="微软雅黑" panose="020B0503020204020204" pitchFamily="34" charset="-122"/>
              </a:rPr>
              <a:t>Heapfy</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6" presetClass="emph" presetSubtype="0" repeatCount="3000" fill="hold" grpId="0" nodeType="clickEffect">
                                  <p:stCondLst>
                                    <p:cond delay="0"/>
                                  </p:stCondLst>
                                  <p:childTnLst>
                                    <p:animEffect transition="out" filter="fade">
                                      <p:cBhvr>
                                        <p:cTn id="6" dur="500" tmFilter="0, 0; .2, .5; .8, .5; 1, 0"/>
                                        <p:tgtEl>
                                          <p:spTgt spid="45080"/>
                                        </p:tgtEl>
                                      </p:cBhvr>
                                    </p:animEffect>
                                    <p:animScale>
                                      <p:cBhvr>
                                        <p:cTn id="7" dur="250" autoRev="1" fill="hold"/>
                                        <p:tgtEl>
                                          <p:spTgt spid="45080"/>
                                        </p:tgtEl>
                                      </p:cBhvr>
                                      <p:by x="105000" y="105000"/>
                                    </p:animScale>
                                  </p:childTnLst>
                                </p:cTn>
                              </p:par>
                              <p:par>
                                <p:cTn id="8" presetID="26" presetClass="emph" presetSubtype="0" repeatCount="3000" fill="hold" grpId="0" nodeType="withEffect">
                                  <p:stCondLst>
                                    <p:cond delay="0"/>
                                  </p:stCondLst>
                                  <p:childTnLst>
                                    <p:animEffect transition="out" filter="fade">
                                      <p:cBhvr>
                                        <p:cTn id="9" dur="500" tmFilter="0, 0; .2, .5; .8, .5; 1, 0"/>
                                        <p:tgtEl>
                                          <p:spTgt spid="45081"/>
                                        </p:tgtEl>
                                      </p:cBhvr>
                                    </p:animEffect>
                                    <p:animScale>
                                      <p:cBhvr>
                                        <p:cTn id="10" dur="250" autoRev="1" fill="hold"/>
                                        <p:tgtEl>
                                          <p:spTgt spid="45081"/>
                                        </p:tgtEl>
                                      </p:cBhvr>
                                      <p:by x="105000" y="105000"/>
                                    </p:animScale>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xit" presetSubtype="4" fill="hold" grpId="1" nodeType="clickEffect">
                                  <p:stCondLst>
                                    <p:cond delay="0"/>
                                  </p:stCondLst>
                                  <p:childTnLst>
                                    <p:anim calcmode="lin" valueType="num">
                                      <p:cBhvr additive="base">
                                        <p:cTn id="14" dur="500"/>
                                        <p:tgtEl>
                                          <p:spTgt spid="45080"/>
                                        </p:tgtEl>
                                        <p:attrNameLst>
                                          <p:attrName>ppt_x</p:attrName>
                                        </p:attrNameLst>
                                      </p:cBhvr>
                                      <p:tavLst>
                                        <p:tav tm="0">
                                          <p:val>
                                            <p:strVal val="ppt_x"/>
                                          </p:val>
                                        </p:tav>
                                        <p:tav tm="100000">
                                          <p:val>
                                            <p:strVal val="ppt_x"/>
                                          </p:val>
                                        </p:tav>
                                      </p:tavLst>
                                    </p:anim>
                                    <p:anim calcmode="lin" valueType="num">
                                      <p:cBhvr additive="base">
                                        <p:cTn id="15" dur="500"/>
                                        <p:tgtEl>
                                          <p:spTgt spid="45080"/>
                                        </p:tgtEl>
                                        <p:attrNameLst>
                                          <p:attrName>ppt_y</p:attrName>
                                        </p:attrNameLst>
                                      </p:cBhvr>
                                      <p:tavLst>
                                        <p:tav tm="0">
                                          <p:val>
                                            <p:strVal val="ppt_y"/>
                                          </p:val>
                                        </p:tav>
                                        <p:tav tm="100000">
                                          <p:val>
                                            <p:strVal val="1+ppt_h/2"/>
                                          </p:val>
                                        </p:tav>
                                      </p:tavLst>
                                    </p:anim>
                                    <p:set>
                                      <p:cBhvr>
                                        <p:cTn id="16" dur="1" fill="hold">
                                          <p:stCondLst>
                                            <p:cond delay="499"/>
                                          </p:stCondLst>
                                        </p:cTn>
                                        <p:tgtEl>
                                          <p:spTgt spid="45080"/>
                                        </p:tgtEl>
                                        <p:attrNameLst>
                                          <p:attrName>style.visibility</p:attrName>
                                        </p:attrNameLst>
                                      </p:cBhvr>
                                      <p:to>
                                        <p:strVal val="hidden"/>
                                      </p:to>
                                    </p:set>
                                  </p:childTnLst>
                                </p:cTn>
                              </p:par>
                              <p:par>
                                <p:cTn id="17" presetID="2" presetClass="exit" presetSubtype="4" fill="hold" grpId="1" nodeType="withEffect">
                                  <p:stCondLst>
                                    <p:cond delay="0"/>
                                  </p:stCondLst>
                                  <p:childTnLst>
                                    <p:anim calcmode="lin" valueType="num">
                                      <p:cBhvr additive="base">
                                        <p:cTn id="18" dur="500"/>
                                        <p:tgtEl>
                                          <p:spTgt spid="45081"/>
                                        </p:tgtEl>
                                        <p:attrNameLst>
                                          <p:attrName>ppt_x</p:attrName>
                                        </p:attrNameLst>
                                      </p:cBhvr>
                                      <p:tavLst>
                                        <p:tav tm="0">
                                          <p:val>
                                            <p:strVal val="ppt_x"/>
                                          </p:val>
                                        </p:tav>
                                        <p:tav tm="100000">
                                          <p:val>
                                            <p:strVal val="ppt_x"/>
                                          </p:val>
                                        </p:tav>
                                      </p:tavLst>
                                    </p:anim>
                                    <p:anim calcmode="lin" valueType="num">
                                      <p:cBhvr additive="base">
                                        <p:cTn id="19" dur="500"/>
                                        <p:tgtEl>
                                          <p:spTgt spid="45081"/>
                                        </p:tgtEl>
                                        <p:attrNameLst>
                                          <p:attrName>ppt_y</p:attrName>
                                        </p:attrNameLst>
                                      </p:cBhvr>
                                      <p:tavLst>
                                        <p:tav tm="0">
                                          <p:val>
                                            <p:strVal val="ppt_y"/>
                                          </p:val>
                                        </p:tav>
                                        <p:tav tm="100000">
                                          <p:val>
                                            <p:strVal val="1+ppt_h/2"/>
                                          </p:val>
                                        </p:tav>
                                      </p:tavLst>
                                    </p:anim>
                                    <p:set>
                                      <p:cBhvr>
                                        <p:cTn id="20" dur="1" fill="hold">
                                          <p:stCondLst>
                                            <p:cond delay="499"/>
                                          </p:stCondLst>
                                        </p:cTn>
                                        <p:tgtEl>
                                          <p:spTgt spid="45081"/>
                                        </p:tgtEl>
                                        <p:attrNameLst>
                                          <p:attrName>style.visibility</p:attrName>
                                        </p:attrNameLst>
                                      </p:cBhvr>
                                      <p:to>
                                        <p:strVal val="hidden"/>
                                      </p:to>
                                    </p:set>
                                  </p:childTnLst>
                                </p:cTn>
                              </p:par>
                              <p:par>
                                <p:cTn id="21" presetID="2" presetClass="entr" presetSubtype="1" fill="hold" grpId="0" nodeType="withEffect">
                                  <p:stCondLst>
                                    <p:cond delay="0"/>
                                  </p:stCondLst>
                                  <p:childTnLst>
                                    <p:set>
                                      <p:cBhvr>
                                        <p:cTn id="22" dur="1" fill="hold">
                                          <p:stCondLst>
                                            <p:cond delay="0"/>
                                          </p:stCondLst>
                                        </p:cTn>
                                        <p:tgtEl>
                                          <p:spTgt spid="45082"/>
                                        </p:tgtEl>
                                        <p:attrNameLst>
                                          <p:attrName>style.visibility</p:attrName>
                                        </p:attrNameLst>
                                      </p:cBhvr>
                                      <p:to>
                                        <p:strVal val="visible"/>
                                      </p:to>
                                    </p:set>
                                    <p:anim calcmode="lin" valueType="num">
                                      <p:cBhvr additive="base">
                                        <p:cTn id="23" dur="500" fill="hold"/>
                                        <p:tgtEl>
                                          <p:spTgt spid="45082"/>
                                        </p:tgtEl>
                                        <p:attrNameLst>
                                          <p:attrName>ppt_x</p:attrName>
                                        </p:attrNameLst>
                                      </p:cBhvr>
                                      <p:tavLst>
                                        <p:tav tm="0">
                                          <p:val>
                                            <p:strVal val="#ppt_x"/>
                                          </p:val>
                                        </p:tav>
                                        <p:tav tm="100000">
                                          <p:val>
                                            <p:strVal val="#ppt_x"/>
                                          </p:val>
                                        </p:tav>
                                      </p:tavLst>
                                    </p:anim>
                                    <p:anim calcmode="lin" valueType="num">
                                      <p:cBhvr additive="base">
                                        <p:cTn id="24" dur="500" fill="hold"/>
                                        <p:tgtEl>
                                          <p:spTgt spid="45082"/>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45083"/>
                                        </p:tgtEl>
                                        <p:attrNameLst>
                                          <p:attrName>style.visibility</p:attrName>
                                        </p:attrNameLst>
                                      </p:cBhvr>
                                      <p:to>
                                        <p:strVal val="visible"/>
                                      </p:to>
                                    </p:set>
                                    <p:anim calcmode="lin" valueType="num">
                                      <p:cBhvr additive="base">
                                        <p:cTn id="27" dur="500" fill="hold"/>
                                        <p:tgtEl>
                                          <p:spTgt spid="45083"/>
                                        </p:tgtEl>
                                        <p:attrNameLst>
                                          <p:attrName>ppt_x</p:attrName>
                                        </p:attrNameLst>
                                      </p:cBhvr>
                                      <p:tavLst>
                                        <p:tav tm="0">
                                          <p:val>
                                            <p:strVal val="#ppt_x"/>
                                          </p:val>
                                        </p:tav>
                                        <p:tav tm="100000">
                                          <p:val>
                                            <p:strVal val="#ppt_x"/>
                                          </p:val>
                                        </p:tav>
                                      </p:tavLst>
                                    </p:anim>
                                    <p:anim calcmode="lin" valueType="num">
                                      <p:cBhvr additive="base">
                                        <p:cTn id="28" dur="500" fill="hold"/>
                                        <p:tgtEl>
                                          <p:spTgt spid="45083"/>
                                        </p:tgtEl>
                                        <p:attrNameLst>
                                          <p:attrName>ppt_y</p:attrName>
                                        </p:attrNameLst>
                                      </p:cBhvr>
                                      <p:tavLst>
                                        <p:tav tm="0">
                                          <p:val>
                                            <p:strVal val="0-#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50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80" grpId="0" animBg="1"/>
      <p:bldP spid="45080" grpId="1" animBg="1"/>
      <p:bldP spid="45081" grpId="0" animBg="1"/>
      <p:bldP spid="45081" grpId="1" animBg="1"/>
      <p:bldP spid="45082" grpId="0" animBg="1"/>
      <p:bldP spid="45083" grpId="0" animBg="1"/>
      <p:bldP spid="4508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8" name="Oval 4">
            <a:extLst>
              <a:ext uri="{FF2B5EF4-FFF2-40B4-BE49-F238E27FC236}">
                <a16:creationId xmlns:a16="http://schemas.microsoft.com/office/drawing/2014/main" id="{1F4797D7-F751-4AAF-A744-61C2BE922EBA}"/>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16</a:t>
            </a:r>
          </a:p>
        </p:txBody>
      </p:sp>
      <p:sp>
        <p:nvSpPr>
          <p:cNvPr id="47109" name="Oval 5">
            <a:extLst>
              <a:ext uri="{FF2B5EF4-FFF2-40B4-BE49-F238E27FC236}">
                <a16:creationId xmlns:a16="http://schemas.microsoft.com/office/drawing/2014/main" id="{73AC04ED-7AF7-401B-9DA5-CE23FB185469}"/>
              </a:ext>
            </a:extLst>
          </p:cNvPr>
          <p:cNvSpPr>
            <a:spLocks noChangeArrowheads="1"/>
          </p:cNvSpPr>
          <p:nvPr/>
        </p:nvSpPr>
        <p:spPr bwMode="auto">
          <a:xfrm>
            <a:off x="46910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cxnSp>
        <p:nvCxnSpPr>
          <p:cNvPr id="47110" name="AutoShape 6">
            <a:extLst>
              <a:ext uri="{FF2B5EF4-FFF2-40B4-BE49-F238E27FC236}">
                <a16:creationId xmlns:a16="http://schemas.microsoft.com/office/drawing/2014/main" id="{3A1DCD4A-C6C3-4DE5-B84C-2C73793CB294}"/>
              </a:ext>
            </a:extLst>
          </p:cNvPr>
          <p:cNvCxnSpPr>
            <a:cxnSpLocks noChangeShapeType="1"/>
            <a:stCxn id="47109" idx="3"/>
            <a:endCxn id="47116" idx="0"/>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111" name="AutoShape 7">
            <a:extLst>
              <a:ext uri="{FF2B5EF4-FFF2-40B4-BE49-F238E27FC236}">
                <a16:creationId xmlns:a16="http://schemas.microsoft.com/office/drawing/2014/main" id="{529A2AB5-725C-40B4-B029-A77B754C76E1}"/>
              </a:ext>
            </a:extLst>
          </p:cNvPr>
          <p:cNvCxnSpPr>
            <a:cxnSpLocks noChangeShapeType="1"/>
            <a:stCxn id="47109" idx="5"/>
            <a:endCxn id="47117"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112" name="AutoShape 8">
            <a:extLst>
              <a:ext uri="{FF2B5EF4-FFF2-40B4-BE49-F238E27FC236}">
                <a16:creationId xmlns:a16="http://schemas.microsoft.com/office/drawing/2014/main" id="{33D26CBB-A4C2-41E1-B95C-6D437CB9101A}"/>
              </a:ext>
            </a:extLst>
          </p:cNvPr>
          <p:cNvCxnSpPr>
            <a:cxnSpLocks noChangeShapeType="1"/>
            <a:stCxn id="47115" idx="3"/>
            <a:endCxn id="47118"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113" name="AutoShape 9">
            <a:extLst>
              <a:ext uri="{FF2B5EF4-FFF2-40B4-BE49-F238E27FC236}">
                <a16:creationId xmlns:a16="http://schemas.microsoft.com/office/drawing/2014/main" id="{A00FDD5B-DB7B-4215-B9C5-9AF6373A464D}"/>
              </a:ext>
            </a:extLst>
          </p:cNvPr>
          <p:cNvCxnSpPr>
            <a:cxnSpLocks noChangeShapeType="1"/>
            <a:stCxn id="47108" idx="3"/>
            <a:endCxn id="47109" idx="0"/>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114" name="AutoShape 10">
            <a:extLst>
              <a:ext uri="{FF2B5EF4-FFF2-40B4-BE49-F238E27FC236}">
                <a16:creationId xmlns:a16="http://schemas.microsoft.com/office/drawing/2014/main" id="{F6A7DD16-0277-42DD-A47C-7807FDE8F1BA}"/>
              </a:ext>
            </a:extLst>
          </p:cNvPr>
          <p:cNvCxnSpPr>
            <a:cxnSpLocks noChangeShapeType="1"/>
            <a:stCxn id="47108" idx="5"/>
            <a:endCxn id="47115"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115" name="Oval 11">
            <a:extLst>
              <a:ext uri="{FF2B5EF4-FFF2-40B4-BE49-F238E27FC236}">
                <a16:creationId xmlns:a16="http://schemas.microsoft.com/office/drawing/2014/main" id="{C6B6BED1-F7A3-4136-9C54-17A97F441F9B}"/>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47116" name="Oval 12">
            <a:extLst>
              <a:ext uri="{FF2B5EF4-FFF2-40B4-BE49-F238E27FC236}">
                <a16:creationId xmlns:a16="http://schemas.microsoft.com/office/drawing/2014/main" id="{6E57E02E-A3FE-4C1E-AD34-26A5830833AE}"/>
              </a:ext>
            </a:extLst>
          </p:cNvPr>
          <p:cNvSpPr>
            <a:spLocks noChangeArrowheads="1"/>
          </p:cNvSpPr>
          <p:nvPr/>
        </p:nvSpPr>
        <p:spPr bwMode="auto">
          <a:xfrm>
            <a:off x="368300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47117" name="Oval 13">
            <a:extLst>
              <a:ext uri="{FF2B5EF4-FFF2-40B4-BE49-F238E27FC236}">
                <a16:creationId xmlns:a16="http://schemas.microsoft.com/office/drawing/2014/main" id="{3939A8EB-A13B-4760-B6D9-A580D168BD28}"/>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sp>
        <p:nvSpPr>
          <p:cNvPr id="47118" name="Oval 14">
            <a:extLst>
              <a:ext uri="{FF2B5EF4-FFF2-40B4-BE49-F238E27FC236}">
                <a16:creationId xmlns:a16="http://schemas.microsoft.com/office/drawing/2014/main" id="{110B22AA-A115-48CD-9181-40541781D07E}"/>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47119" name="Oval 15">
            <a:extLst>
              <a:ext uri="{FF2B5EF4-FFF2-40B4-BE49-F238E27FC236}">
                <a16:creationId xmlns:a16="http://schemas.microsoft.com/office/drawing/2014/main" id="{76B7F491-20CE-4CCE-914C-E6E86B8B5356}"/>
              </a:ext>
            </a:extLst>
          </p:cNvPr>
          <p:cNvSpPr>
            <a:spLocks noChangeArrowheads="1"/>
          </p:cNvSpPr>
          <p:nvPr/>
        </p:nvSpPr>
        <p:spPr bwMode="auto">
          <a:xfrm>
            <a:off x="4356100"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47120" name="Oval 16">
            <a:extLst>
              <a:ext uri="{FF2B5EF4-FFF2-40B4-BE49-F238E27FC236}">
                <a16:creationId xmlns:a16="http://schemas.microsoft.com/office/drawing/2014/main" id="{750BF7F1-A054-401D-A136-D9247761F7C6}"/>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47121" name="AutoShape 17">
            <a:extLst>
              <a:ext uri="{FF2B5EF4-FFF2-40B4-BE49-F238E27FC236}">
                <a16:creationId xmlns:a16="http://schemas.microsoft.com/office/drawing/2014/main" id="{6DB63404-1116-4F21-8D1C-F0B74F3868DE}"/>
              </a:ext>
            </a:extLst>
          </p:cNvPr>
          <p:cNvCxnSpPr>
            <a:cxnSpLocks noChangeShapeType="1"/>
            <a:stCxn id="47115" idx="5"/>
            <a:endCxn id="47120"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122" name="Oval 18">
            <a:extLst>
              <a:ext uri="{FF2B5EF4-FFF2-40B4-BE49-F238E27FC236}">
                <a16:creationId xmlns:a16="http://schemas.microsoft.com/office/drawing/2014/main" id="{A0CAB4B7-5673-4469-BFC6-D00224577925}"/>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47123" name="AutoShape 19">
            <a:extLst>
              <a:ext uri="{FF2B5EF4-FFF2-40B4-BE49-F238E27FC236}">
                <a16:creationId xmlns:a16="http://schemas.microsoft.com/office/drawing/2014/main" id="{70ADF6F1-475F-4C50-9AE6-458982555D89}"/>
              </a:ext>
            </a:extLst>
          </p:cNvPr>
          <p:cNvCxnSpPr>
            <a:cxnSpLocks noChangeShapeType="1"/>
            <a:stCxn id="47116" idx="3"/>
            <a:endCxn id="47122"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124" name="AutoShape 20">
            <a:extLst>
              <a:ext uri="{FF2B5EF4-FFF2-40B4-BE49-F238E27FC236}">
                <a16:creationId xmlns:a16="http://schemas.microsoft.com/office/drawing/2014/main" id="{00507F1E-1FA0-4951-87C3-3018C69F5DD7}"/>
              </a:ext>
            </a:extLst>
          </p:cNvPr>
          <p:cNvCxnSpPr>
            <a:cxnSpLocks noChangeShapeType="1"/>
            <a:stCxn id="47119" idx="0"/>
            <a:endCxn id="47116" idx="5"/>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125" name="AutoShape 21">
            <a:extLst>
              <a:ext uri="{FF2B5EF4-FFF2-40B4-BE49-F238E27FC236}">
                <a16:creationId xmlns:a16="http://schemas.microsoft.com/office/drawing/2014/main" id="{BAF02D25-6807-43DB-B62C-784395D724B4}"/>
              </a:ext>
            </a:extLst>
          </p:cNvPr>
          <p:cNvCxnSpPr>
            <a:cxnSpLocks noChangeShapeType="1"/>
            <a:stCxn id="47117" idx="3"/>
            <a:endCxn id="47126"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126" name="Oval 22">
            <a:extLst>
              <a:ext uri="{FF2B5EF4-FFF2-40B4-BE49-F238E27FC236}">
                <a16:creationId xmlns:a16="http://schemas.microsoft.com/office/drawing/2014/main" id="{F892B57B-7D04-424F-99ED-989907C4235A}"/>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47128" name="Oval 24">
            <a:extLst>
              <a:ext uri="{FF2B5EF4-FFF2-40B4-BE49-F238E27FC236}">
                <a16:creationId xmlns:a16="http://schemas.microsoft.com/office/drawing/2014/main" id="{4F445C43-FE34-418B-B9C3-1E6BEAAEB0E9}"/>
              </a:ext>
            </a:extLst>
          </p:cNvPr>
          <p:cNvSpPr>
            <a:spLocks noChangeArrowheads="1"/>
          </p:cNvSpPr>
          <p:nvPr/>
        </p:nvSpPr>
        <p:spPr bwMode="auto">
          <a:xfrm>
            <a:off x="6240463" y="4941889"/>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15</a:t>
            </a:r>
          </a:p>
        </p:txBody>
      </p:sp>
      <p:cxnSp>
        <p:nvCxnSpPr>
          <p:cNvPr id="47129" name="AutoShape 25">
            <a:extLst>
              <a:ext uri="{FF2B5EF4-FFF2-40B4-BE49-F238E27FC236}">
                <a16:creationId xmlns:a16="http://schemas.microsoft.com/office/drawing/2014/main" id="{EE806B38-3D11-467E-AF09-3B42405141B8}"/>
              </a:ext>
            </a:extLst>
          </p:cNvPr>
          <p:cNvCxnSpPr>
            <a:cxnSpLocks noChangeShapeType="1"/>
            <a:stCxn id="47128" idx="0"/>
            <a:endCxn id="47117" idx="5"/>
          </p:cNvCxnSpPr>
          <p:nvPr/>
        </p:nvCxnSpPr>
        <p:spPr bwMode="auto">
          <a:xfrm flipH="1" flipV="1">
            <a:off x="6194425" y="4267200"/>
            <a:ext cx="363538" cy="6746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TextBox 36">
            <a:extLst>
              <a:ext uri="{FF2B5EF4-FFF2-40B4-BE49-F238E27FC236}">
                <a16:creationId xmlns:a16="http://schemas.microsoft.com/office/drawing/2014/main" id="{718C5BAF-DAD5-4376-93A6-7180A62A0C39}"/>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堆的插入（</a:t>
            </a:r>
            <a:r>
              <a:rPr lang="en-US" altLang="zh-CN" sz="3200" b="1" dirty="0">
                <a:solidFill>
                  <a:srgbClr val="C00000"/>
                </a:solidFill>
                <a:latin typeface="微软雅黑" panose="020B0503020204020204" pitchFamily="34" charset="-122"/>
                <a:ea typeface="微软雅黑" panose="020B0503020204020204" pitchFamily="34" charset="-122"/>
              </a:rPr>
              <a:t>Insert</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7128"/>
                                        </p:tgtEl>
                                        <p:attrNameLst>
                                          <p:attrName>style.visibility</p:attrName>
                                        </p:attrNameLst>
                                      </p:cBhvr>
                                      <p:to>
                                        <p:strVal val="visible"/>
                                      </p:to>
                                    </p:set>
                                    <p:anim calcmode="lin" valueType="num">
                                      <p:cBhvr additive="base">
                                        <p:cTn id="7" dur="500" fill="hold"/>
                                        <p:tgtEl>
                                          <p:spTgt spid="47128"/>
                                        </p:tgtEl>
                                        <p:attrNameLst>
                                          <p:attrName>ppt_x</p:attrName>
                                        </p:attrNameLst>
                                      </p:cBhvr>
                                      <p:tavLst>
                                        <p:tav tm="0">
                                          <p:val>
                                            <p:strVal val="#ppt_x"/>
                                          </p:val>
                                        </p:tav>
                                        <p:tav tm="100000">
                                          <p:val>
                                            <p:strVal val="#ppt_x"/>
                                          </p:val>
                                        </p:tav>
                                      </p:tavLst>
                                    </p:anim>
                                    <p:anim calcmode="lin" valueType="num">
                                      <p:cBhvr additive="base">
                                        <p:cTn id="8" dur="500" fill="hold"/>
                                        <p:tgtEl>
                                          <p:spTgt spid="4712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47129"/>
                                        </p:tgtEl>
                                        <p:attrNameLst>
                                          <p:attrName>style.visibility</p:attrName>
                                        </p:attrNameLst>
                                      </p:cBhvr>
                                      <p:to>
                                        <p:strVal val="visible"/>
                                      </p:to>
                                    </p:set>
                                    <p:anim calcmode="lin" valueType="num">
                                      <p:cBhvr>
                                        <p:cTn id="12" dur="500" fill="hold"/>
                                        <p:tgtEl>
                                          <p:spTgt spid="47129"/>
                                        </p:tgtEl>
                                        <p:attrNameLst>
                                          <p:attrName>ppt_w</p:attrName>
                                        </p:attrNameLst>
                                      </p:cBhvr>
                                      <p:tavLst>
                                        <p:tav tm="0">
                                          <p:val>
                                            <p:fltVal val="0"/>
                                          </p:val>
                                        </p:tav>
                                        <p:tav tm="100000">
                                          <p:val>
                                            <p:strVal val="#ppt_w"/>
                                          </p:val>
                                        </p:tav>
                                      </p:tavLst>
                                    </p:anim>
                                    <p:anim calcmode="lin" valueType="num">
                                      <p:cBhvr>
                                        <p:cTn id="13" dur="500" fill="hold"/>
                                        <p:tgtEl>
                                          <p:spTgt spid="47129"/>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6" presetClass="emph" presetSubtype="0" repeatCount="3000" fill="hold" grpId="0" nodeType="clickEffect">
                                  <p:stCondLst>
                                    <p:cond delay="0"/>
                                  </p:stCondLst>
                                  <p:childTnLst>
                                    <p:animEffect transition="out" filter="fade">
                                      <p:cBhvr>
                                        <p:cTn id="17" dur="500" tmFilter="0, 0; .2, .5; .8, .5; 1, 0"/>
                                        <p:tgtEl>
                                          <p:spTgt spid="47117"/>
                                        </p:tgtEl>
                                      </p:cBhvr>
                                    </p:animEffect>
                                    <p:animScale>
                                      <p:cBhvr>
                                        <p:cTn id="18" dur="250" autoRev="1" fill="hold"/>
                                        <p:tgtEl>
                                          <p:spTgt spid="47117"/>
                                        </p:tgtEl>
                                      </p:cBhvr>
                                      <p:by x="105000" y="105000"/>
                                    </p:animScale>
                                  </p:childTnLst>
                                </p:cTn>
                              </p:par>
                              <p:par>
                                <p:cTn id="19" presetID="26" presetClass="emph" presetSubtype="0" repeatCount="3000" fill="hold" grpId="1" nodeType="withEffect">
                                  <p:stCondLst>
                                    <p:cond delay="0"/>
                                  </p:stCondLst>
                                  <p:childTnLst>
                                    <p:animEffect transition="out" filter="fade">
                                      <p:cBhvr>
                                        <p:cTn id="20" dur="500" tmFilter="0, 0; .2, .5; .8, .5; 1, 0"/>
                                        <p:tgtEl>
                                          <p:spTgt spid="47128"/>
                                        </p:tgtEl>
                                      </p:cBhvr>
                                    </p:animEffect>
                                    <p:animScale>
                                      <p:cBhvr>
                                        <p:cTn id="21" dur="250" autoRev="1" fill="hold"/>
                                        <p:tgtEl>
                                          <p:spTgt spid="4712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17" grpId="0" animBg="1"/>
      <p:bldP spid="47128" grpId="0" animBg="1"/>
      <p:bldP spid="47128" grpId="1"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2" name="Oval 4">
            <a:extLst>
              <a:ext uri="{FF2B5EF4-FFF2-40B4-BE49-F238E27FC236}">
                <a16:creationId xmlns:a16="http://schemas.microsoft.com/office/drawing/2014/main" id="{23DC96CC-C18B-4175-85B5-69D8C35CF736}"/>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16</a:t>
            </a:r>
          </a:p>
        </p:txBody>
      </p:sp>
      <p:sp>
        <p:nvSpPr>
          <p:cNvPr id="48133" name="Oval 5">
            <a:extLst>
              <a:ext uri="{FF2B5EF4-FFF2-40B4-BE49-F238E27FC236}">
                <a16:creationId xmlns:a16="http://schemas.microsoft.com/office/drawing/2014/main" id="{D0EBE435-C297-4F83-9856-36470489AEAE}"/>
              </a:ext>
            </a:extLst>
          </p:cNvPr>
          <p:cNvSpPr>
            <a:spLocks noChangeArrowheads="1"/>
          </p:cNvSpPr>
          <p:nvPr/>
        </p:nvSpPr>
        <p:spPr bwMode="auto">
          <a:xfrm>
            <a:off x="46910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cxnSp>
        <p:nvCxnSpPr>
          <p:cNvPr id="48134" name="AutoShape 6">
            <a:extLst>
              <a:ext uri="{FF2B5EF4-FFF2-40B4-BE49-F238E27FC236}">
                <a16:creationId xmlns:a16="http://schemas.microsoft.com/office/drawing/2014/main" id="{E0126420-98C6-4DC4-BF6B-90ADB09E53AB}"/>
              </a:ext>
            </a:extLst>
          </p:cNvPr>
          <p:cNvCxnSpPr>
            <a:cxnSpLocks noChangeShapeType="1"/>
            <a:stCxn id="48133" idx="3"/>
            <a:endCxn id="48140" idx="0"/>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135" name="AutoShape 7">
            <a:extLst>
              <a:ext uri="{FF2B5EF4-FFF2-40B4-BE49-F238E27FC236}">
                <a16:creationId xmlns:a16="http://schemas.microsoft.com/office/drawing/2014/main" id="{2C1CA13D-74D1-45C7-8BCB-9B8F1A4370F0}"/>
              </a:ext>
            </a:extLst>
          </p:cNvPr>
          <p:cNvCxnSpPr>
            <a:cxnSpLocks noChangeShapeType="1"/>
            <a:stCxn id="48133" idx="5"/>
            <a:endCxn id="48141"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136" name="AutoShape 8">
            <a:extLst>
              <a:ext uri="{FF2B5EF4-FFF2-40B4-BE49-F238E27FC236}">
                <a16:creationId xmlns:a16="http://schemas.microsoft.com/office/drawing/2014/main" id="{0B85971A-17EC-4CA9-97DD-796EC4016C25}"/>
              </a:ext>
            </a:extLst>
          </p:cNvPr>
          <p:cNvCxnSpPr>
            <a:cxnSpLocks noChangeShapeType="1"/>
            <a:stCxn id="48139" idx="3"/>
            <a:endCxn id="48142"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137" name="AutoShape 9">
            <a:extLst>
              <a:ext uri="{FF2B5EF4-FFF2-40B4-BE49-F238E27FC236}">
                <a16:creationId xmlns:a16="http://schemas.microsoft.com/office/drawing/2014/main" id="{E2194F52-1410-452D-AA85-D9F39F249DF4}"/>
              </a:ext>
            </a:extLst>
          </p:cNvPr>
          <p:cNvCxnSpPr>
            <a:cxnSpLocks noChangeShapeType="1"/>
            <a:stCxn id="48132" idx="3"/>
            <a:endCxn id="48133" idx="0"/>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138" name="AutoShape 10">
            <a:extLst>
              <a:ext uri="{FF2B5EF4-FFF2-40B4-BE49-F238E27FC236}">
                <a16:creationId xmlns:a16="http://schemas.microsoft.com/office/drawing/2014/main" id="{7B455613-BA7F-4597-B1DD-B5F86479A726}"/>
              </a:ext>
            </a:extLst>
          </p:cNvPr>
          <p:cNvCxnSpPr>
            <a:cxnSpLocks noChangeShapeType="1"/>
            <a:stCxn id="48132" idx="5"/>
            <a:endCxn id="48139"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8139" name="Oval 11">
            <a:extLst>
              <a:ext uri="{FF2B5EF4-FFF2-40B4-BE49-F238E27FC236}">
                <a16:creationId xmlns:a16="http://schemas.microsoft.com/office/drawing/2014/main" id="{06437BA7-D15D-4794-89AF-5D3A68283446}"/>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48140" name="Oval 12">
            <a:extLst>
              <a:ext uri="{FF2B5EF4-FFF2-40B4-BE49-F238E27FC236}">
                <a16:creationId xmlns:a16="http://schemas.microsoft.com/office/drawing/2014/main" id="{0E81081F-65F0-40B7-90E2-886905C4D476}"/>
              </a:ext>
            </a:extLst>
          </p:cNvPr>
          <p:cNvSpPr>
            <a:spLocks noChangeArrowheads="1"/>
          </p:cNvSpPr>
          <p:nvPr/>
        </p:nvSpPr>
        <p:spPr bwMode="auto">
          <a:xfrm>
            <a:off x="368300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48141" name="Oval 13">
            <a:extLst>
              <a:ext uri="{FF2B5EF4-FFF2-40B4-BE49-F238E27FC236}">
                <a16:creationId xmlns:a16="http://schemas.microsoft.com/office/drawing/2014/main" id="{8691B9FB-FF62-4CD5-AA8C-0365DD97F823}"/>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15</a:t>
            </a:r>
          </a:p>
        </p:txBody>
      </p:sp>
      <p:sp>
        <p:nvSpPr>
          <p:cNvPr id="48142" name="Oval 14">
            <a:extLst>
              <a:ext uri="{FF2B5EF4-FFF2-40B4-BE49-F238E27FC236}">
                <a16:creationId xmlns:a16="http://schemas.microsoft.com/office/drawing/2014/main" id="{5E9F624A-3587-499A-8BEE-3D3AF56C5A85}"/>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48143" name="Oval 15">
            <a:extLst>
              <a:ext uri="{FF2B5EF4-FFF2-40B4-BE49-F238E27FC236}">
                <a16:creationId xmlns:a16="http://schemas.microsoft.com/office/drawing/2014/main" id="{62E44226-120B-465C-89E2-C57E7067A49A}"/>
              </a:ext>
            </a:extLst>
          </p:cNvPr>
          <p:cNvSpPr>
            <a:spLocks noChangeArrowheads="1"/>
          </p:cNvSpPr>
          <p:nvPr/>
        </p:nvSpPr>
        <p:spPr bwMode="auto">
          <a:xfrm>
            <a:off x="4356100"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48144" name="Oval 16">
            <a:extLst>
              <a:ext uri="{FF2B5EF4-FFF2-40B4-BE49-F238E27FC236}">
                <a16:creationId xmlns:a16="http://schemas.microsoft.com/office/drawing/2014/main" id="{E0012C65-A457-4A6A-B706-6EEB5079E779}"/>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48145" name="AutoShape 17">
            <a:extLst>
              <a:ext uri="{FF2B5EF4-FFF2-40B4-BE49-F238E27FC236}">
                <a16:creationId xmlns:a16="http://schemas.microsoft.com/office/drawing/2014/main" id="{96456F2B-670B-499C-9A4E-298ECFCEB141}"/>
              </a:ext>
            </a:extLst>
          </p:cNvPr>
          <p:cNvCxnSpPr>
            <a:cxnSpLocks noChangeShapeType="1"/>
            <a:stCxn id="48139" idx="5"/>
            <a:endCxn id="48144"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8146" name="Oval 18">
            <a:extLst>
              <a:ext uri="{FF2B5EF4-FFF2-40B4-BE49-F238E27FC236}">
                <a16:creationId xmlns:a16="http://schemas.microsoft.com/office/drawing/2014/main" id="{F366AD2A-95C2-47C6-B3B1-601C4CE02803}"/>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48147" name="AutoShape 19">
            <a:extLst>
              <a:ext uri="{FF2B5EF4-FFF2-40B4-BE49-F238E27FC236}">
                <a16:creationId xmlns:a16="http://schemas.microsoft.com/office/drawing/2014/main" id="{E13E7C6E-7B33-46A4-914C-D9FC4AD30027}"/>
              </a:ext>
            </a:extLst>
          </p:cNvPr>
          <p:cNvCxnSpPr>
            <a:cxnSpLocks noChangeShapeType="1"/>
            <a:stCxn id="48140" idx="3"/>
            <a:endCxn id="48146"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148" name="AutoShape 20">
            <a:extLst>
              <a:ext uri="{FF2B5EF4-FFF2-40B4-BE49-F238E27FC236}">
                <a16:creationId xmlns:a16="http://schemas.microsoft.com/office/drawing/2014/main" id="{36A47BD8-8CDD-4F60-98D8-3AA36D6FFCCE}"/>
              </a:ext>
            </a:extLst>
          </p:cNvPr>
          <p:cNvCxnSpPr>
            <a:cxnSpLocks noChangeShapeType="1"/>
            <a:stCxn id="48143" idx="0"/>
            <a:endCxn id="48140" idx="5"/>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149" name="AutoShape 21">
            <a:extLst>
              <a:ext uri="{FF2B5EF4-FFF2-40B4-BE49-F238E27FC236}">
                <a16:creationId xmlns:a16="http://schemas.microsoft.com/office/drawing/2014/main" id="{19D62F39-FD3B-4D97-8B10-462B65318D95}"/>
              </a:ext>
            </a:extLst>
          </p:cNvPr>
          <p:cNvCxnSpPr>
            <a:cxnSpLocks noChangeShapeType="1"/>
            <a:stCxn id="48141" idx="3"/>
            <a:endCxn id="48150"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8150" name="Oval 22">
            <a:extLst>
              <a:ext uri="{FF2B5EF4-FFF2-40B4-BE49-F238E27FC236}">
                <a16:creationId xmlns:a16="http://schemas.microsoft.com/office/drawing/2014/main" id="{34737D0D-9163-4FC3-87D6-1FF8B90BF88B}"/>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48152" name="Oval 24">
            <a:extLst>
              <a:ext uri="{FF2B5EF4-FFF2-40B4-BE49-F238E27FC236}">
                <a16:creationId xmlns:a16="http://schemas.microsoft.com/office/drawing/2014/main" id="{5C9F016A-BC54-414E-A254-235C71BC4869}"/>
              </a:ext>
            </a:extLst>
          </p:cNvPr>
          <p:cNvSpPr>
            <a:spLocks noChangeArrowheads="1"/>
          </p:cNvSpPr>
          <p:nvPr/>
        </p:nvSpPr>
        <p:spPr bwMode="auto">
          <a:xfrm>
            <a:off x="6240463" y="4941889"/>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cxnSp>
        <p:nvCxnSpPr>
          <p:cNvPr id="48153" name="AutoShape 25">
            <a:extLst>
              <a:ext uri="{FF2B5EF4-FFF2-40B4-BE49-F238E27FC236}">
                <a16:creationId xmlns:a16="http://schemas.microsoft.com/office/drawing/2014/main" id="{F842E247-0CDD-4230-AEA5-DBDED91C1067}"/>
              </a:ext>
            </a:extLst>
          </p:cNvPr>
          <p:cNvCxnSpPr>
            <a:cxnSpLocks noChangeShapeType="1"/>
            <a:stCxn id="48152" idx="0"/>
            <a:endCxn id="48141" idx="5"/>
          </p:cNvCxnSpPr>
          <p:nvPr/>
        </p:nvCxnSpPr>
        <p:spPr bwMode="auto">
          <a:xfrm flipH="1" flipV="1">
            <a:off x="6194425" y="4267200"/>
            <a:ext cx="363538" cy="6746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 name="TextBox 36">
            <a:extLst>
              <a:ext uri="{FF2B5EF4-FFF2-40B4-BE49-F238E27FC236}">
                <a16:creationId xmlns:a16="http://schemas.microsoft.com/office/drawing/2014/main" id="{879A6D26-AB4E-4EBE-A234-C03F74267AE9}"/>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堆的插入（</a:t>
            </a:r>
            <a:r>
              <a:rPr lang="en-US" altLang="zh-CN" sz="3200" b="1" dirty="0">
                <a:solidFill>
                  <a:srgbClr val="C00000"/>
                </a:solidFill>
                <a:latin typeface="微软雅黑" panose="020B0503020204020204" pitchFamily="34" charset="-122"/>
                <a:ea typeface="微软雅黑" panose="020B0503020204020204" pitchFamily="34" charset="-122"/>
              </a:rPr>
              <a:t>Insert</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6" presetClass="emph" presetSubtype="0" repeatCount="3000" fill="hold" grpId="0" nodeType="clickEffect">
                                  <p:stCondLst>
                                    <p:cond delay="0"/>
                                  </p:stCondLst>
                                  <p:childTnLst>
                                    <p:animEffect transition="out" filter="fade">
                                      <p:cBhvr>
                                        <p:cTn id="6" dur="500" tmFilter="0, 0; .2, .5; .8, .5; 1, 0"/>
                                        <p:tgtEl>
                                          <p:spTgt spid="48141"/>
                                        </p:tgtEl>
                                      </p:cBhvr>
                                    </p:animEffect>
                                    <p:animScale>
                                      <p:cBhvr>
                                        <p:cTn id="7" dur="250" autoRev="1" fill="hold"/>
                                        <p:tgtEl>
                                          <p:spTgt spid="48141"/>
                                        </p:tgtEl>
                                      </p:cBhvr>
                                      <p:by x="105000" y="105000"/>
                                    </p:animScale>
                                  </p:childTnLst>
                                </p:cTn>
                              </p:par>
                              <p:par>
                                <p:cTn id="8" presetID="26" presetClass="emph" presetSubtype="0" repeatCount="3000" fill="hold" grpId="0" nodeType="withEffect">
                                  <p:stCondLst>
                                    <p:cond delay="0"/>
                                  </p:stCondLst>
                                  <p:childTnLst>
                                    <p:animEffect transition="out" filter="fade">
                                      <p:cBhvr>
                                        <p:cTn id="9" dur="500" tmFilter="0, 0; .2, .5; .8, .5; 1, 0"/>
                                        <p:tgtEl>
                                          <p:spTgt spid="48133"/>
                                        </p:tgtEl>
                                      </p:cBhvr>
                                    </p:animEffect>
                                    <p:animScale>
                                      <p:cBhvr>
                                        <p:cTn id="10" dur="250" autoRev="1" fill="hold"/>
                                        <p:tgtEl>
                                          <p:spTgt spid="48133"/>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3" grpId="0" animBg="1"/>
      <p:bldP spid="4814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6" name="Oval 4">
            <a:extLst>
              <a:ext uri="{FF2B5EF4-FFF2-40B4-BE49-F238E27FC236}">
                <a16:creationId xmlns:a16="http://schemas.microsoft.com/office/drawing/2014/main" id="{DA45F2EA-8882-42D0-82D4-5F9979FB40AD}"/>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16</a:t>
            </a:r>
          </a:p>
        </p:txBody>
      </p:sp>
      <p:sp>
        <p:nvSpPr>
          <p:cNvPr id="49157" name="Oval 5">
            <a:extLst>
              <a:ext uri="{FF2B5EF4-FFF2-40B4-BE49-F238E27FC236}">
                <a16:creationId xmlns:a16="http://schemas.microsoft.com/office/drawing/2014/main" id="{85312E78-59D9-4030-8B54-6E5B34A7DE3D}"/>
              </a:ext>
            </a:extLst>
          </p:cNvPr>
          <p:cNvSpPr>
            <a:spLocks noChangeArrowheads="1"/>
          </p:cNvSpPr>
          <p:nvPr/>
        </p:nvSpPr>
        <p:spPr bwMode="auto">
          <a:xfrm>
            <a:off x="46910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15</a:t>
            </a:r>
          </a:p>
        </p:txBody>
      </p:sp>
      <p:cxnSp>
        <p:nvCxnSpPr>
          <p:cNvPr id="49158" name="AutoShape 6">
            <a:extLst>
              <a:ext uri="{FF2B5EF4-FFF2-40B4-BE49-F238E27FC236}">
                <a16:creationId xmlns:a16="http://schemas.microsoft.com/office/drawing/2014/main" id="{C62F8C13-EBF5-4442-90C5-CDEF616CA7CD}"/>
              </a:ext>
            </a:extLst>
          </p:cNvPr>
          <p:cNvCxnSpPr>
            <a:cxnSpLocks noChangeShapeType="1"/>
            <a:stCxn id="49157" idx="3"/>
            <a:endCxn id="49164" idx="0"/>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59" name="AutoShape 7">
            <a:extLst>
              <a:ext uri="{FF2B5EF4-FFF2-40B4-BE49-F238E27FC236}">
                <a16:creationId xmlns:a16="http://schemas.microsoft.com/office/drawing/2014/main" id="{B87141BD-DB0C-4849-B9F4-135875B6E15D}"/>
              </a:ext>
            </a:extLst>
          </p:cNvPr>
          <p:cNvCxnSpPr>
            <a:cxnSpLocks noChangeShapeType="1"/>
            <a:stCxn id="49157" idx="5"/>
            <a:endCxn id="49165"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60" name="AutoShape 8">
            <a:extLst>
              <a:ext uri="{FF2B5EF4-FFF2-40B4-BE49-F238E27FC236}">
                <a16:creationId xmlns:a16="http://schemas.microsoft.com/office/drawing/2014/main" id="{B2A66AE2-3FD1-4191-A659-B69A930DBF4E}"/>
              </a:ext>
            </a:extLst>
          </p:cNvPr>
          <p:cNvCxnSpPr>
            <a:cxnSpLocks noChangeShapeType="1"/>
            <a:stCxn id="49163" idx="3"/>
            <a:endCxn id="49166"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61" name="AutoShape 9">
            <a:extLst>
              <a:ext uri="{FF2B5EF4-FFF2-40B4-BE49-F238E27FC236}">
                <a16:creationId xmlns:a16="http://schemas.microsoft.com/office/drawing/2014/main" id="{72A35121-0C46-4C58-B084-8A73C69FC345}"/>
              </a:ext>
            </a:extLst>
          </p:cNvPr>
          <p:cNvCxnSpPr>
            <a:cxnSpLocks noChangeShapeType="1"/>
            <a:stCxn id="49156" idx="3"/>
            <a:endCxn id="49157" idx="0"/>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62" name="AutoShape 10">
            <a:extLst>
              <a:ext uri="{FF2B5EF4-FFF2-40B4-BE49-F238E27FC236}">
                <a16:creationId xmlns:a16="http://schemas.microsoft.com/office/drawing/2014/main" id="{24992FC5-0EDA-456B-8A5E-EEBA25E88DD5}"/>
              </a:ext>
            </a:extLst>
          </p:cNvPr>
          <p:cNvCxnSpPr>
            <a:cxnSpLocks noChangeShapeType="1"/>
            <a:stCxn id="49156" idx="5"/>
            <a:endCxn id="49163"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163" name="Oval 11">
            <a:extLst>
              <a:ext uri="{FF2B5EF4-FFF2-40B4-BE49-F238E27FC236}">
                <a16:creationId xmlns:a16="http://schemas.microsoft.com/office/drawing/2014/main" id="{5C819E6E-8EA9-4E41-AB62-9A26442D14C4}"/>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49164" name="Oval 12">
            <a:extLst>
              <a:ext uri="{FF2B5EF4-FFF2-40B4-BE49-F238E27FC236}">
                <a16:creationId xmlns:a16="http://schemas.microsoft.com/office/drawing/2014/main" id="{6C6742F5-4EE1-4315-9675-DFDCD99A2C73}"/>
              </a:ext>
            </a:extLst>
          </p:cNvPr>
          <p:cNvSpPr>
            <a:spLocks noChangeArrowheads="1"/>
          </p:cNvSpPr>
          <p:nvPr/>
        </p:nvSpPr>
        <p:spPr bwMode="auto">
          <a:xfrm>
            <a:off x="368300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49165" name="Oval 13">
            <a:extLst>
              <a:ext uri="{FF2B5EF4-FFF2-40B4-BE49-F238E27FC236}">
                <a16:creationId xmlns:a16="http://schemas.microsoft.com/office/drawing/2014/main" id="{BA7EBB23-C762-4091-AC4B-7C7D3CA6E1B6}"/>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sp>
        <p:nvSpPr>
          <p:cNvPr id="49166" name="Oval 14">
            <a:extLst>
              <a:ext uri="{FF2B5EF4-FFF2-40B4-BE49-F238E27FC236}">
                <a16:creationId xmlns:a16="http://schemas.microsoft.com/office/drawing/2014/main" id="{E4276FB1-8E5B-46BC-8C71-855586DCFD25}"/>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49167" name="Oval 15">
            <a:extLst>
              <a:ext uri="{FF2B5EF4-FFF2-40B4-BE49-F238E27FC236}">
                <a16:creationId xmlns:a16="http://schemas.microsoft.com/office/drawing/2014/main" id="{78070529-0472-48D6-9357-5FDE8A6365DB}"/>
              </a:ext>
            </a:extLst>
          </p:cNvPr>
          <p:cNvSpPr>
            <a:spLocks noChangeArrowheads="1"/>
          </p:cNvSpPr>
          <p:nvPr/>
        </p:nvSpPr>
        <p:spPr bwMode="auto">
          <a:xfrm>
            <a:off x="4356100"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49168" name="Oval 16">
            <a:extLst>
              <a:ext uri="{FF2B5EF4-FFF2-40B4-BE49-F238E27FC236}">
                <a16:creationId xmlns:a16="http://schemas.microsoft.com/office/drawing/2014/main" id="{850C7631-2A4D-4189-90EF-20A45A36F1A3}"/>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49169" name="AutoShape 17">
            <a:extLst>
              <a:ext uri="{FF2B5EF4-FFF2-40B4-BE49-F238E27FC236}">
                <a16:creationId xmlns:a16="http://schemas.microsoft.com/office/drawing/2014/main" id="{2D90E787-F0AC-4EEB-81C6-9F1BE88D38F1}"/>
              </a:ext>
            </a:extLst>
          </p:cNvPr>
          <p:cNvCxnSpPr>
            <a:cxnSpLocks noChangeShapeType="1"/>
            <a:stCxn id="49163" idx="5"/>
            <a:endCxn id="49168"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170" name="Oval 18">
            <a:extLst>
              <a:ext uri="{FF2B5EF4-FFF2-40B4-BE49-F238E27FC236}">
                <a16:creationId xmlns:a16="http://schemas.microsoft.com/office/drawing/2014/main" id="{2913A89D-AF1C-4DC9-A249-13A91887EFA3}"/>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49171" name="AutoShape 19">
            <a:extLst>
              <a:ext uri="{FF2B5EF4-FFF2-40B4-BE49-F238E27FC236}">
                <a16:creationId xmlns:a16="http://schemas.microsoft.com/office/drawing/2014/main" id="{B169BB5D-8B91-4956-95B7-C733C46C0515}"/>
              </a:ext>
            </a:extLst>
          </p:cNvPr>
          <p:cNvCxnSpPr>
            <a:cxnSpLocks noChangeShapeType="1"/>
            <a:stCxn id="49164" idx="3"/>
            <a:endCxn id="49170"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72" name="AutoShape 20">
            <a:extLst>
              <a:ext uri="{FF2B5EF4-FFF2-40B4-BE49-F238E27FC236}">
                <a16:creationId xmlns:a16="http://schemas.microsoft.com/office/drawing/2014/main" id="{64595B67-8340-4A22-9D7A-ED2D338D63AF}"/>
              </a:ext>
            </a:extLst>
          </p:cNvPr>
          <p:cNvCxnSpPr>
            <a:cxnSpLocks noChangeShapeType="1"/>
            <a:stCxn id="49167" idx="0"/>
            <a:endCxn id="49164" idx="5"/>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73" name="AutoShape 21">
            <a:extLst>
              <a:ext uri="{FF2B5EF4-FFF2-40B4-BE49-F238E27FC236}">
                <a16:creationId xmlns:a16="http://schemas.microsoft.com/office/drawing/2014/main" id="{4C585375-AE1E-43D3-B831-6D2C9EEB437D}"/>
              </a:ext>
            </a:extLst>
          </p:cNvPr>
          <p:cNvCxnSpPr>
            <a:cxnSpLocks noChangeShapeType="1"/>
            <a:stCxn id="49165" idx="3"/>
            <a:endCxn id="49174"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174" name="Oval 22">
            <a:extLst>
              <a:ext uri="{FF2B5EF4-FFF2-40B4-BE49-F238E27FC236}">
                <a16:creationId xmlns:a16="http://schemas.microsoft.com/office/drawing/2014/main" id="{678136CE-89C3-4D3F-939E-ACF12F1B32B6}"/>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49176" name="Oval 24">
            <a:extLst>
              <a:ext uri="{FF2B5EF4-FFF2-40B4-BE49-F238E27FC236}">
                <a16:creationId xmlns:a16="http://schemas.microsoft.com/office/drawing/2014/main" id="{186C9B6A-DAAB-48F6-8AB7-6D8EBF83EE25}"/>
              </a:ext>
            </a:extLst>
          </p:cNvPr>
          <p:cNvSpPr>
            <a:spLocks noChangeArrowheads="1"/>
          </p:cNvSpPr>
          <p:nvPr/>
        </p:nvSpPr>
        <p:spPr bwMode="auto">
          <a:xfrm>
            <a:off x="6240463" y="4941889"/>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cxnSp>
        <p:nvCxnSpPr>
          <p:cNvPr id="49177" name="AutoShape 25">
            <a:extLst>
              <a:ext uri="{FF2B5EF4-FFF2-40B4-BE49-F238E27FC236}">
                <a16:creationId xmlns:a16="http://schemas.microsoft.com/office/drawing/2014/main" id="{7FF1C952-4176-4F55-987F-59A58CDE2498}"/>
              </a:ext>
            </a:extLst>
          </p:cNvPr>
          <p:cNvCxnSpPr>
            <a:cxnSpLocks noChangeShapeType="1"/>
            <a:stCxn id="49176" idx="0"/>
            <a:endCxn id="49165" idx="5"/>
          </p:cNvCxnSpPr>
          <p:nvPr/>
        </p:nvCxnSpPr>
        <p:spPr bwMode="auto">
          <a:xfrm flipH="1" flipV="1">
            <a:off x="6194425" y="4267200"/>
            <a:ext cx="363538" cy="6746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179" name="Text Box 27">
            <a:extLst>
              <a:ext uri="{FF2B5EF4-FFF2-40B4-BE49-F238E27FC236}">
                <a16:creationId xmlns:a16="http://schemas.microsoft.com/office/drawing/2014/main" id="{4754B36A-F459-4DB6-865B-555303D17C99}"/>
              </a:ext>
            </a:extLst>
          </p:cNvPr>
          <p:cNvSpPr txBox="1">
            <a:spLocks noChangeArrowheads="1"/>
          </p:cNvSpPr>
          <p:nvPr/>
        </p:nvSpPr>
        <p:spPr bwMode="auto">
          <a:xfrm rot="19426314">
            <a:off x="7864475" y="5233343"/>
            <a:ext cx="1047750" cy="461665"/>
          </a:xfrm>
          <a:prstGeom prst="rect">
            <a:avLst/>
          </a:prstGeom>
          <a:noFill/>
          <a:ln w="38100">
            <a:solidFill>
              <a:srgbClr val="FF00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zh-CN" sz="2400">
                <a:solidFill>
                  <a:srgbClr val="FF0000"/>
                </a:solidFill>
                <a:ea typeface="华文琥珀" panose="02010800040101010101" pitchFamily="2" charset="-122"/>
              </a:rPr>
              <a:t>Done!</a:t>
            </a:r>
          </a:p>
        </p:txBody>
      </p:sp>
      <p:sp>
        <p:nvSpPr>
          <p:cNvPr id="25" name="TextBox 36">
            <a:extLst>
              <a:ext uri="{FF2B5EF4-FFF2-40B4-BE49-F238E27FC236}">
                <a16:creationId xmlns:a16="http://schemas.microsoft.com/office/drawing/2014/main" id="{27B2AD6E-75C9-454D-A685-A927EDE65346}"/>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堆的插入（</a:t>
            </a:r>
            <a:r>
              <a:rPr lang="en-US" altLang="zh-CN" sz="3200" b="1" dirty="0">
                <a:solidFill>
                  <a:srgbClr val="C00000"/>
                </a:solidFill>
                <a:latin typeface="微软雅黑" panose="020B0503020204020204" pitchFamily="34" charset="-122"/>
                <a:ea typeface="微软雅黑" panose="020B0503020204020204" pitchFamily="34" charset="-122"/>
              </a:rPr>
              <a:t>Insert</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1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7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02" name="Oval 26">
            <a:extLst>
              <a:ext uri="{FF2B5EF4-FFF2-40B4-BE49-F238E27FC236}">
                <a16:creationId xmlns:a16="http://schemas.microsoft.com/office/drawing/2014/main" id="{D70028DD-C323-4307-921F-ACE875650650}"/>
              </a:ext>
            </a:extLst>
          </p:cNvPr>
          <p:cNvSpPr>
            <a:spLocks noChangeArrowheads="1"/>
          </p:cNvSpPr>
          <p:nvPr/>
        </p:nvSpPr>
        <p:spPr bwMode="auto">
          <a:xfrm>
            <a:off x="5994400"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sp>
        <p:nvSpPr>
          <p:cNvPr id="50181" name="Oval 5">
            <a:extLst>
              <a:ext uri="{FF2B5EF4-FFF2-40B4-BE49-F238E27FC236}">
                <a16:creationId xmlns:a16="http://schemas.microsoft.com/office/drawing/2014/main" id="{22871F8D-0CE1-4D47-B6EA-648B1B3FA4BC}"/>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16</a:t>
            </a:r>
          </a:p>
        </p:txBody>
      </p:sp>
      <p:sp>
        <p:nvSpPr>
          <p:cNvPr id="50182" name="Oval 6">
            <a:extLst>
              <a:ext uri="{FF2B5EF4-FFF2-40B4-BE49-F238E27FC236}">
                <a16:creationId xmlns:a16="http://schemas.microsoft.com/office/drawing/2014/main" id="{68C60D5A-D40E-4582-8DE3-BE6AF0D012BA}"/>
              </a:ext>
            </a:extLst>
          </p:cNvPr>
          <p:cNvSpPr>
            <a:spLocks noChangeArrowheads="1"/>
          </p:cNvSpPr>
          <p:nvPr/>
        </p:nvSpPr>
        <p:spPr bwMode="auto">
          <a:xfrm>
            <a:off x="46910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15</a:t>
            </a:r>
          </a:p>
        </p:txBody>
      </p:sp>
      <p:cxnSp>
        <p:nvCxnSpPr>
          <p:cNvPr id="50183" name="AutoShape 7">
            <a:extLst>
              <a:ext uri="{FF2B5EF4-FFF2-40B4-BE49-F238E27FC236}">
                <a16:creationId xmlns:a16="http://schemas.microsoft.com/office/drawing/2014/main" id="{6F5D490C-60BF-4CC2-A140-EE0587551428}"/>
              </a:ext>
            </a:extLst>
          </p:cNvPr>
          <p:cNvCxnSpPr>
            <a:cxnSpLocks noChangeShapeType="1"/>
            <a:stCxn id="50182" idx="3"/>
            <a:endCxn id="50189" idx="0"/>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184" name="AutoShape 8">
            <a:extLst>
              <a:ext uri="{FF2B5EF4-FFF2-40B4-BE49-F238E27FC236}">
                <a16:creationId xmlns:a16="http://schemas.microsoft.com/office/drawing/2014/main" id="{41C183E2-A5FB-41E9-8479-2345008AA811}"/>
              </a:ext>
            </a:extLst>
          </p:cNvPr>
          <p:cNvCxnSpPr>
            <a:cxnSpLocks noChangeShapeType="1"/>
            <a:stCxn id="50182" idx="5"/>
            <a:endCxn id="50190"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185" name="AutoShape 9">
            <a:extLst>
              <a:ext uri="{FF2B5EF4-FFF2-40B4-BE49-F238E27FC236}">
                <a16:creationId xmlns:a16="http://schemas.microsoft.com/office/drawing/2014/main" id="{C5C8C0A2-9A71-4905-B7DF-ADA31E639C81}"/>
              </a:ext>
            </a:extLst>
          </p:cNvPr>
          <p:cNvCxnSpPr>
            <a:cxnSpLocks noChangeShapeType="1"/>
            <a:stCxn id="50188" idx="3"/>
            <a:endCxn id="50191"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186" name="AutoShape 10">
            <a:extLst>
              <a:ext uri="{FF2B5EF4-FFF2-40B4-BE49-F238E27FC236}">
                <a16:creationId xmlns:a16="http://schemas.microsoft.com/office/drawing/2014/main" id="{1165F99E-8B5B-494A-8241-20C9F971EFE2}"/>
              </a:ext>
            </a:extLst>
          </p:cNvPr>
          <p:cNvCxnSpPr>
            <a:cxnSpLocks noChangeShapeType="1"/>
            <a:stCxn id="50181" idx="3"/>
            <a:endCxn id="50182" idx="0"/>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187" name="AutoShape 11">
            <a:extLst>
              <a:ext uri="{FF2B5EF4-FFF2-40B4-BE49-F238E27FC236}">
                <a16:creationId xmlns:a16="http://schemas.microsoft.com/office/drawing/2014/main" id="{01B95DF1-1983-4F89-80AB-7C177A57EB3A}"/>
              </a:ext>
            </a:extLst>
          </p:cNvPr>
          <p:cNvCxnSpPr>
            <a:cxnSpLocks noChangeShapeType="1"/>
            <a:stCxn id="50181" idx="5"/>
            <a:endCxn id="50188"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0188" name="Oval 12">
            <a:extLst>
              <a:ext uri="{FF2B5EF4-FFF2-40B4-BE49-F238E27FC236}">
                <a16:creationId xmlns:a16="http://schemas.microsoft.com/office/drawing/2014/main" id="{1AB2E611-7E75-45F4-91D6-1EF1B3CA0D8D}"/>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50189" name="Oval 13">
            <a:extLst>
              <a:ext uri="{FF2B5EF4-FFF2-40B4-BE49-F238E27FC236}">
                <a16:creationId xmlns:a16="http://schemas.microsoft.com/office/drawing/2014/main" id="{B57A9A79-5AB8-4840-AE77-9B28EEB55A57}"/>
              </a:ext>
            </a:extLst>
          </p:cNvPr>
          <p:cNvSpPr>
            <a:spLocks noChangeArrowheads="1"/>
          </p:cNvSpPr>
          <p:nvPr/>
        </p:nvSpPr>
        <p:spPr bwMode="auto">
          <a:xfrm>
            <a:off x="368300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50190" name="Oval 14">
            <a:extLst>
              <a:ext uri="{FF2B5EF4-FFF2-40B4-BE49-F238E27FC236}">
                <a16:creationId xmlns:a16="http://schemas.microsoft.com/office/drawing/2014/main" id="{58FB0168-3BD3-4E30-BDAE-5615DD1C770D}"/>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sp>
        <p:nvSpPr>
          <p:cNvPr id="50191" name="Oval 15">
            <a:extLst>
              <a:ext uri="{FF2B5EF4-FFF2-40B4-BE49-F238E27FC236}">
                <a16:creationId xmlns:a16="http://schemas.microsoft.com/office/drawing/2014/main" id="{FE9242E1-051C-4E4E-AF72-E889B453FB1B}"/>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50192" name="Oval 16">
            <a:extLst>
              <a:ext uri="{FF2B5EF4-FFF2-40B4-BE49-F238E27FC236}">
                <a16:creationId xmlns:a16="http://schemas.microsoft.com/office/drawing/2014/main" id="{B79FB9FD-5CF5-47AD-AFCF-A2FA5F29B734}"/>
              </a:ext>
            </a:extLst>
          </p:cNvPr>
          <p:cNvSpPr>
            <a:spLocks noChangeArrowheads="1"/>
          </p:cNvSpPr>
          <p:nvPr/>
        </p:nvSpPr>
        <p:spPr bwMode="auto">
          <a:xfrm>
            <a:off x="4356100"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50193" name="Oval 17">
            <a:extLst>
              <a:ext uri="{FF2B5EF4-FFF2-40B4-BE49-F238E27FC236}">
                <a16:creationId xmlns:a16="http://schemas.microsoft.com/office/drawing/2014/main" id="{38196AC0-8F1B-41E1-8C01-D6A3DAD13273}"/>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50194" name="AutoShape 18">
            <a:extLst>
              <a:ext uri="{FF2B5EF4-FFF2-40B4-BE49-F238E27FC236}">
                <a16:creationId xmlns:a16="http://schemas.microsoft.com/office/drawing/2014/main" id="{68ECD14C-57A4-4D8B-8E75-3728023B7B27}"/>
              </a:ext>
            </a:extLst>
          </p:cNvPr>
          <p:cNvCxnSpPr>
            <a:cxnSpLocks noChangeShapeType="1"/>
            <a:stCxn id="50188" idx="5"/>
            <a:endCxn id="50193"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0195" name="Oval 19">
            <a:extLst>
              <a:ext uri="{FF2B5EF4-FFF2-40B4-BE49-F238E27FC236}">
                <a16:creationId xmlns:a16="http://schemas.microsoft.com/office/drawing/2014/main" id="{1B0D37B7-AA59-4DD1-BF85-8E3A65E28AC9}"/>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50196" name="AutoShape 20">
            <a:extLst>
              <a:ext uri="{FF2B5EF4-FFF2-40B4-BE49-F238E27FC236}">
                <a16:creationId xmlns:a16="http://schemas.microsoft.com/office/drawing/2014/main" id="{4549E11E-E999-4EC4-8D75-8ED95E3CE522}"/>
              </a:ext>
            </a:extLst>
          </p:cNvPr>
          <p:cNvCxnSpPr>
            <a:cxnSpLocks noChangeShapeType="1"/>
            <a:stCxn id="50189" idx="3"/>
            <a:endCxn id="50195"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197" name="AutoShape 21">
            <a:extLst>
              <a:ext uri="{FF2B5EF4-FFF2-40B4-BE49-F238E27FC236}">
                <a16:creationId xmlns:a16="http://schemas.microsoft.com/office/drawing/2014/main" id="{18C095E0-D6D5-4DC0-9B23-B61E08432C4C}"/>
              </a:ext>
            </a:extLst>
          </p:cNvPr>
          <p:cNvCxnSpPr>
            <a:cxnSpLocks noChangeShapeType="1"/>
            <a:stCxn id="50192" idx="0"/>
            <a:endCxn id="50189" idx="5"/>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198" name="AutoShape 22">
            <a:extLst>
              <a:ext uri="{FF2B5EF4-FFF2-40B4-BE49-F238E27FC236}">
                <a16:creationId xmlns:a16="http://schemas.microsoft.com/office/drawing/2014/main" id="{1D54C0A4-8295-45E2-B65E-EB2B7BF5549A}"/>
              </a:ext>
            </a:extLst>
          </p:cNvPr>
          <p:cNvCxnSpPr>
            <a:cxnSpLocks noChangeShapeType="1"/>
            <a:stCxn id="50190" idx="3"/>
            <a:endCxn id="50199"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0199" name="Oval 23">
            <a:extLst>
              <a:ext uri="{FF2B5EF4-FFF2-40B4-BE49-F238E27FC236}">
                <a16:creationId xmlns:a16="http://schemas.microsoft.com/office/drawing/2014/main" id="{77A3890F-6543-439C-8474-49BFAC15429F}"/>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50200" name="Oval 24">
            <a:extLst>
              <a:ext uri="{FF2B5EF4-FFF2-40B4-BE49-F238E27FC236}">
                <a16:creationId xmlns:a16="http://schemas.microsoft.com/office/drawing/2014/main" id="{93097BAF-3170-4F22-8E06-C1667095AA42}"/>
              </a:ext>
            </a:extLst>
          </p:cNvPr>
          <p:cNvSpPr>
            <a:spLocks noChangeArrowheads="1"/>
          </p:cNvSpPr>
          <p:nvPr/>
        </p:nvSpPr>
        <p:spPr bwMode="auto">
          <a:xfrm>
            <a:off x="6240463" y="4941889"/>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cxnSp>
        <p:nvCxnSpPr>
          <p:cNvPr id="50201" name="AutoShape 25">
            <a:extLst>
              <a:ext uri="{FF2B5EF4-FFF2-40B4-BE49-F238E27FC236}">
                <a16:creationId xmlns:a16="http://schemas.microsoft.com/office/drawing/2014/main" id="{97FF3EEA-7214-4099-B29D-9C45ADF3EBF1}"/>
              </a:ext>
            </a:extLst>
          </p:cNvPr>
          <p:cNvCxnSpPr>
            <a:cxnSpLocks noChangeShapeType="1"/>
            <a:stCxn id="50200" idx="0"/>
            <a:endCxn id="50190" idx="5"/>
          </p:cNvCxnSpPr>
          <p:nvPr/>
        </p:nvCxnSpPr>
        <p:spPr bwMode="auto">
          <a:xfrm flipH="1" flipV="1">
            <a:off x="6194425" y="4267200"/>
            <a:ext cx="363538" cy="674688"/>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0205" name="Text Box 29">
            <a:extLst>
              <a:ext uri="{FF2B5EF4-FFF2-40B4-BE49-F238E27FC236}">
                <a16:creationId xmlns:a16="http://schemas.microsoft.com/office/drawing/2014/main" id="{E876B82F-51F8-42DA-A694-EFF6780C5DE1}"/>
              </a:ext>
            </a:extLst>
          </p:cNvPr>
          <p:cNvSpPr txBox="1">
            <a:spLocks noChangeArrowheads="1"/>
          </p:cNvSpPr>
          <p:nvPr/>
        </p:nvSpPr>
        <p:spPr bwMode="auto">
          <a:xfrm>
            <a:off x="7948614" y="5003801"/>
            <a:ext cx="179408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3200"/>
              <a:t>Heapfy....</a:t>
            </a:r>
          </a:p>
        </p:txBody>
      </p:sp>
      <p:sp>
        <p:nvSpPr>
          <p:cNvPr id="28" name="TextBox 36">
            <a:extLst>
              <a:ext uri="{FF2B5EF4-FFF2-40B4-BE49-F238E27FC236}">
                <a16:creationId xmlns:a16="http://schemas.microsoft.com/office/drawing/2014/main" id="{F0CA304D-A0C3-4B3F-B5A9-CE73361F07D3}"/>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出堆（</a:t>
            </a:r>
            <a:r>
              <a:rPr lang="en-US" altLang="zh-CN" sz="3200" b="1" dirty="0">
                <a:solidFill>
                  <a:srgbClr val="C00000"/>
                </a:solidFill>
                <a:latin typeface="微软雅黑" panose="020B0503020204020204" pitchFamily="34" charset="-122"/>
                <a:ea typeface="微软雅黑" panose="020B0503020204020204" pitchFamily="34" charset="-122"/>
              </a:rPr>
              <a:t>Pop</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xit" presetSubtype="3" fill="hold" grpId="0" nodeType="clickEffect">
                                  <p:stCondLst>
                                    <p:cond delay="0"/>
                                  </p:stCondLst>
                                  <p:childTnLst>
                                    <p:anim calcmode="lin" valueType="num">
                                      <p:cBhvr additive="base">
                                        <p:cTn id="6" dur="500"/>
                                        <p:tgtEl>
                                          <p:spTgt spid="50181"/>
                                        </p:tgtEl>
                                        <p:attrNameLst>
                                          <p:attrName>ppt_x</p:attrName>
                                        </p:attrNameLst>
                                      </p:cBhvr>
                                      <p:tavLst>
                                        <p:tav tm="0">
                                          <p:val>
                                            <p:strVal val="ppt_x"/>
                                          </p:val>
                                        </p:tav>
                                        <p:tav tm="100000">
                                          <p:val>
                                            <p:strVal val="1+ppt_w/2"/>
                                          </p:val>
                                        </p:tav>
                                      </p:tavLst>
                                    </p:anim>
                                    <p:anim calcmode="lin" valueType="num">
                                      <p:cBhvr additive="base">
                                        <p:cTn id="7" dur="500"/>
                                        <p:tgtEl>
                                          <p:spTgt spid="50181"/>
                                        </p:tgtEl>
                                        <p:attrNameLst>
                                          <p:attrName>ppt_y</p:attrName>
                                        </p:attrNameLst>
                                      </p:cBhvr>
                                      <p:tavLst>
                                        <p:tav tm="0">
                                          <p:val>
                                            <p:strVal val="ppt_y"/>
                                          </p:val>
                                        </p:tav>
                                        <p:tav tm="100000">
                                          <p:val>
                                            <p:strVal val="0-ppt_h/2"/>
                                          </p:val>
                                        </p:tav>
                                      </p:tavLst>
                                    </p:anim>
                                    <p:set>
                                      <p:cBhvr>
                                        <p:cTn id="8" dur="1" fill="hold">
                                          <p:stCondLst>
                                            <p:cond delay="499"/>
                                          </p:stCondLst>
                                        </p:cTn>
                                        <p:tgtEl>
                                          <p:spTgt spid="50181"/>
                                        </p:tgtEl>
                                        <p:attrNameLst>
                                          <p:attrName>style.visibility</p:attrName>
                                        </p:attrNameLst>
                                      </p:cBhvr>
                                      <p:to>
                                        <p:strVal val="hidden"/>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xit" presetSubtype="4" fill="hold" grpId="0" nodeType="clickEffect">
                                  <p:stCondLst>
                                    <p:cond delay="0"/>
                                  </p:stCondLst>
                                  <p:childTnLst>
                                    <p:anim calcmode="lin" valueType="num">
                                      <p:cBhvr additive="base">
                                        <p:cTn id="12" dur="500"/>
                                        <p:tgtEl>
                                          <p:spTgt spid="50200"/>
                                        </p:tgtEl>
                                        <p:attrNameLst>
                                          <p:attrName>ppt_x</p:attrName>
                                        </p:attrNameLst>
                                      </p:cBhvr>
                                      <p:tavLst>
                                        <p:tav tm="0">
                                          <p:val>
                                            <p:strVal val="ppt_x"/>
                                          </p:val>
                                        </p:tav>
                                        <p:tav tm="100000">
                                          <p:val>
                                            <p:strVal val="ppt_x"/>
                                          </p:val>
                                        </p:tav>
                                      </p:tavLst>
                                    </p:anim>
                                    <p:anim calcmode="lin" valueType="num">
                                      <p:cBhvr additive="base">
                                        <p:cTn id="13" dur="500"/>
                                        <p:tgtEl>
                                          <p:spTgt spid="50200"/>
                                        </p:tgtEl>
                                        <p:attrNameLst>
                                          <p:attrName>ppt_y</p:attrName>
                                        </p:attrNameLst>
                                      </p:cBhvr>
                                      <p:tavLst>
                                        <p:tav tm="0">
                                          <p:val>
                                            <p:strVal val="ppt_y"/>
                                          </p:val>
                                        </p:tav>
                                        <p:tav tm="100000">
                                          <p:val>
                                            <p:strVal val="1+ppt_h/2"/>
                                          </p:val>
                                        </p:tav>
                                      </p:tavLst>
                                    </p:anim>
                                    <p:set>
                                      <p:cBhvr>
                                        <p:cTn id="14" dur="1" fill="hold">
                                          <p:stCondLst>
                                            <p:cond delay="499"/>
                                          </p:stCondLst>
                                        </p:cTn>
                                        <p:tgtEl>
                                          <p:spTgt spid="50200"/>
                                        </p:tgtEl>
                                        <p:attrNameLst>
                                          <p:attrName>style.visibility</p:attrName>
                                        </p:attrNameLst>
                                      </p:cBhvr>
                                      <p:to>
                                        <p:strVal val="hidden"/>
                                      </p:to>
                                    </p:set>
                                  </p:childTnLst>
                                </p:cTn>
                              </p:par>
                              <p:par>
                                <p:cTn id="15" presetID="5" presetClass="exit" presetSubtype="10" fill="hold" nodeType="withEffect">
                                  <p:stCondLst>
                                    <p:cond delay="0"/>
                                  </p:stCondLst>
                                  <p:childTnLst>
                                    <p:animEffect transition="out" filter="checkerboard(across)">
                                      <p:cBhvr>
                                        <p:cTn id="16" dur="500"/>
                                        <p:tgtEl>
                                          <p:spTgt spid="50201"/>
                                        </p:tgtEl>
                                      </p:cBhvr>
                                    </p:animEffect>
                                    <p:set>
                                      <p:cBhvr>
                                        <p:cTn id="17" dur="1" fill="hold">
                                          <p:stCondLst>
                                            <p:cond delay="499"/>
                                          </p:stCondLst>
                                        </p:cTn>
                                        <p:tgtEl>
                                          <p:spTgt spid="50201"/>
                                        </p:tgtEl>
                                        <p:attrNameLst>
                                          <p:attrName>style.visibility</p:attrName>
                                        </p:attrNameLst>
                                      </p:cBhvr>
                                      <p:to>
                                        <p:strVal val="hidden"/>
                                      </p:to>
                                    </p:set>
                                  </p:childTnLst>
                                </p:cTn>
                              </p:par>
                            </p:childTnLst>
                          </p:cTn>
                        </p:par>
                        <p:par>
                          <p:cTn id="18" fill="hold" nodeType="afterGroup">
                            <p:stCondLst>
                              <p:cond delay="500"/>
                            </p:stCondLst>
                            <p:childTnLst>
                              <p:par>
                                <p:cTn id="19" presetID="2" presetClass="entr" presetSubtype="1" fill="hold" grpId="0" nodeType="afterEffect">
                                  <p:stCondLst>
                                    <p:cond delay="0"/>
                                  </p:stCondLst>
                                  <p:childTnLst>
                                    <p:set>
                                      <p:cBhvr>
                                        <p:cTn id="20" dur="1" fill="hold">
                                          <p:stCondLst>
                                            <p:cond delay="0"/>
                                          </p:stCondLst>
                                        </p:cTn>
                                        <p:tgtEl>
                                          <p:spTgt spid="50202"/>
                                        </p:tgtEl>
                                        <p:attrNameLst>
                                          <p:attrName>style.visibility</p:attrName>
                                        </p:attrNameLst>
                                      </p:cBhvr>
                                      <p:to>
                                        <p:strVal val="visible"/>
                                      </p:to>
                                    </p:set>
                                    <p:anim calcmode="lin" valueType="num">
                                      <p:cBhvr additive="base">
                                        <p:cTn id="21" dur="500" fill="hold"/>
                                        <p:tgtEl>
                                          <p:spTgt spid="50202"/>
                                        </p:tgtEl>
                                        <p:attrNameLst>
                                          <p:attrName>ppt_x</p:attrName>
                                        </p:attrNameLst>
                                      </p:cBhvr>
                                      <p:tavLst>
                                        <p:tav tm="0">
                                          <p:val>
                                            <p:strVal val="#ppt_x"/>
                                          </p:val>
                                        </p:tav>
                                        <p:tav tm="100000">
                                          <p:val>
                                            <p:strVal val="#ppt_x"/>
                                          </p:val>
                                        </p:tav>
                                      </p:tavLst>
                                    </p:anim>
                                    <p:anim calcmode="lin" valueType="num">
                                      <p:cBhvr additive="base">
                                        <p:cTn id="22" dur="500" fill="hold"/>
                                        <p:tgtEl>
                                          <p:spTgt spid="50202"/>
                                        </p:tgtEl>
                                        <p:attrNameLst>
                                          <p:attrName>ppt_y</p:attrName>
                                        </p:attrNameLst>
                                      </p:cBhvr>
                                      <p:tavLst>
                                        <p:tav tm="0">
                                          <p:val>
                                            <p:strVal val="0-#ppt_h/2"/>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7" presetClass="entr" presetSubtype="0" fill="hold" nodeType="clickEffect">
                                  <p:stCondLst>
                                    <p:cond delay="0"/>
                                  </p:stCondLst>
                                  <p:iterate type="lt">
                                    <p:tmPct val="55000"/>
                                  </p:iterate>
                                  <p:childTnLst>
                                    <p:set>
                                      <p:cBhvr>
                                        <p:cTn id="26" dur="1" fill="hold">
                                          <p:stCondLst>
                                            <p:cond delay="0"/>
                                          </p:stCondLst>
                                        </p:cTn>
                                        <p:tgtEl>
                                          <p:spTgt spid="50205">
                                            <p:txEl>
                                              <p:pRg st="0" end="0"/>
                                            </p:txEl>
                                          </p:spTgt>
                                        </p:tgtEl>
                                        <p:attrNameLst>
                                          <p:attrName>style.visibility</p:attrName>
                                        </p:attrNameLst>
                                      </p:cBhvr>
                                      <p:to>
                                        <p:strVal val="visible"/>
                                      </p:to>
                                    </p:set>
                                    <p:anim calcmode="discrete" valueType="clr">
                                      <p:cBhvr override="childStyle">
                                        <p:cTn id="27" dur="400"/>
                                        <p:tgtEl>
                                          <p:spTgt spid="50205">
                                            <p:txEl>
                                              <p:pRg st="0" end="0"/>
                                            </p:txEl>
                                          </p:spTgt>
                                        </p:tgtEl>
                                        <p:attrNameLst>
                                          <p:attrName>style.color</p:attrName>
                                        </p:attrNameLst>
                                      </p:cBhvr>
                                      <p:tavLst>
                                        <p:tav tm="0">
                                          <p:val>
                                            <p:clrVal>
                                              <a:schemeClr val="tx1"/>
                                            </p:clrVal>
                                          </p:val>
                                        </p:tav>
                                        <p:tav tm="50000">
                                          <p:val>
                                            <p:clrVal>
                                              <a:schemeClr val="tx1"/>
                                            </p:clrVal>
                                          </p:val>
                                        </p:tav>
                                      </p:tavLst>
                                    </p:anim>
                                    <p:anim calcmode="discrete" valueType="clr">
                                      <p:cBhvr>
                                        <p:cTn id="28" dur="400"/>
                                        <p:tgtEl>
                                          <p:spTgt spid="50205">
                                            <p:txEl>
                                              <p:pRg st="0" end="0"/>
                                            </p:txEl>
                                          </p:spTgt>
                                        </p:tgtEl>
                                        <p:attrNameLst>
                                          <p:attrName>fillcolor</p:attrName>
                                        </p:attrNameLst>
                                      </p:cBhvr>
                                      <p:tavLst>
                                        <p:tav tm="0">
                                          <p:val>
                                            <p:clrVal>
                                              <a:schemeClr val="accent2"/>
                                            </p:clrVal>
                                          </p:val>
                                        </p:tav>
                                        <p:tav tm="50000">
                                          <p:val>
                                            <p:clrVal>
                                              <a:schemeClr val="hlink"/>
                                            </p:clrVal>
                                          </p:val>
                                        </p:tav>
                                      </p:tavLst>
                                    </p:anim>
                                    <p:set>
                                      <p:cBhvr>
                                        <p:cTn id="29" dur="400"/>
                                        <p:tgtEl>
                                          <p:spTgt spid="50205">
                                            <p:txEl>
                                              <p:pRg st="0" end="0"/>
                                            </p:txEl>
                                          </p:spTgt>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02" grpId="0" animBg="1"/>
      <p:bldP spid="50181" grpId="0" animBg="1"/>
      <p:bldP spid="50200"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3" name="Oval 5">
            <a:extLst>
              <a:ext uri="{FF2B5EF4-FFF2-40B4-BE49-F238E27FC236}">
                <a16:creationId xmlns:a16="http://schemas.microsoft.com/office/drawing/2014/main" id="{421DD5BC-AA75-4F95-B66D-2DBE753ED607}"/>
              </a:ext>
            </a:extLst>
          </p:cNvPr>
          <p:cNvSpPr>
            <a:spLocks noChangeArrowheads="1"/>
          </p:cNvSpPr>
          <p:nvPr/>
        </p:nvSpPr>
        <p:spPr bwMode="auto">
          <a:xfrm>
            <a:off x="5992813" y="1628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15</a:t>
            </a:r>
          </a:p>
        </p:txBody>
      </p:sp>
      <p:sp>
        <p:nvSpPr>
          <p:cNvPr id="83974" name="Oval 6">
            <a:extLst>
              <a:ext uri="{FF2B5EF4-FFF2-40B4-BE49-F238E27FC236}">
                <a16:creationId xmlns:a16="http://schemas.microsoft.com/office/drawing/2014/main" id="{5EEB9139-BA8A-4B35-AA21-B16E355DFDDC}"/>
              </a:ext>
            </a:extLst>
          </p:cNvPr>
          <p:cNvSpPr>
            <a:spLocks noChangeArrowheads="1"/>
          </p:cNvSpPr>
          <p:nvPr/>
        </p:nvSpPr>
        <p:spPr bwMode="auto">
          <a:xfrm>
            <a:off x="46910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14</a:t>
            </a:r>
          </a:p>
        </p:txBody>
      </p:sp>
      <p:cxnSp>
        <p:nvCxnSpPr>
          <p:cNvPr id="83975" name="AutoShape 7">
            <a:extLst>
              <a:ext uri="{FF2B5EF4-FFF2-40B4-BE49-F238E27FC236}">
                <a16:creationId xmlns:a16="http://schemas.microsoft.com/office/drawing/2014/main" id="{17ACA057-5B75-41E2-BB9E-7C2E25BF6D5F}"/>
              </a:ext>
            </a:extLst>
          </p:cNvPr>
          <p:cNvCxnSpPr>
            <a:cxnSpLocks noChangeShapeType="1"/>
            <a:stCxn id="83974" idx="3"/>
            <a:endCxn id="83981" idx="0"/>
          </p:cNvCxnSpPr>
          <p:nvPr/>
        </p:nvCxnSpPr>
        <p:spPr bwMode="auto">
          <a:xfrm flipH="1">
            <a:off x="4000501" y="3043239"/>
            <a:ext cx="78422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6" name="AutoShape 8">
            <a:extLst>
              <a:ext uri="{FF2B5EF4-FFF2-40B4-BE49-F238E27FC236}">
                <a16:creationId xmlns:a16="http://schemas.microsoft.com/office/drawing/2014/main" id="{CED3C8E0-CB1D-4F3D-BECF-0A132623065C}"/>
              </a:ext>
            </a:extLst>
          </p:cNvPr>
          <p:cNvCxnSpPr>
            <a:cxnSpLocks noChangeShapeType="1"/>
            <a:stCxn id="83974" idx="5"/>
            <a:endCxn id="83982" idx="0"/>
          </p:cNvCxnSpPr>
          <p:nvPr/>
        </p:nvCxnSpPr>
        <p:spPr bwMode="auto">
          <a:xfrm>
            <a:off x="5232400" y="3043239"/>
            <a:ext cx="738188"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7" name="AutoShape 9">
            <a:extLst>
              <a:ext uri="{FF2B5EF4-FFF2-40B4-BE49-F238E27FC236}">
                <a16:creationId xmlns:a16="http://schemas.microsoft.com/office/drawing/2014/main" id="{1EA2C958-A107-4CBA-97E3-A9EF4601ABCD}"/>
              </a:ext>
            </a:extLst>
          </p:cNvPr>
          <p:cNvCxnSpPr>
            <a:cxnSpLocks noChangeShapeType="1"/>
            <a:stCxn id="83980" idx="3"/>
            <a:endCxn id="83983" idx="0"/>
          </p:cNvCxnSpPr>
          <p:nvPr/>
        </p:nvCxnSpPr>
        <p:spPr bwMode="auto">
          <a:xfrm flipH="1">
            <a:off x="6965951" y="3043239"/>
            <a:ext cx="4476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8" name="AutoShape 10">
            <a:extLst>
              <a:ext uri="{FF2B5EF4-FFF2-40B4-BE49-F238E27FC236}">
                <a16:creationId xmlns:a16="http://schemas.microsoft.com/office/drawing/2014/main" id="{B0FBCB7A-FBE9-473A-88A7-8F0B9848A135}"/>
              </a:ext>
            </a:extLst>
          </p:cNvPr>
          <p:cNvCxnSpPr>
            <a:cxnSpLocks noChangeShapeType="1"/>
            <a:stCxn id="83973" idx="3"/>
            <a:endCxn id="83974" idx="0"/>
          </p:cNvCxnSpPr>
          <p:nvPr/>
        </p:nvCxnSpPr>
        <p:spPr bwMode="auto">
          <a:xfrm flipH="1">
            <a:off x="5008563" y="2108201"/>
            <a:ext cx="1077912"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9" name="AutoShape 11">
            <a:extLst>
              <a:ext uri="{FF2B5EF4-FFF2-40B4-BE49-F238E27FC236}">
                <a16:creationId xmlns:a16="http://schemas.microsoft.com/office/drawing/2014/main" id="{B7950CA3-5D03-4B08-8B52-A47F72DFA672}"/>
              </a:ext>
            </a:extLst>
          </p:cNvPr>
          <p:cNvCxnSpPr>
            <a:cxnSpLocks noChangeShapeType="1"/>
            <a:stCxn id="83973" idx="5"/>
            <a:endCxn id="83980" idx="0"/>
          </p:cNvCxnSpPr>
          <p:nvPr/>
        </p:nvCxnSpPr>
        <p:spPr bwMode="auto">
          <a:xfrm>
            <a:off x="6534151" y="2108201"/>
            <a:ext cx="1103313" cy="455613"/>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980" name="Oval 12">
            <a:extLst>
              <a:ext uri="{FF2B5EF4-FFF2-40B4-BE49-F238E27FC236}">
                <a16:creationId xmlns:a16="http://schemas.microsoft.com/office/drawing/2014/main" id="{89AA363C-D227-438B-B3FD-C0DA2F42E21D}"/>
              </a:ext>
            </a:extLst>
          </p:cNvPr>
          <p:cNvSpPr>
            <a:spLocks noChangeArrowheads="1"/>
          </p:cNvSpPr>
          <p:nvPr/>
        </p:nvSpPr>
        <p:spPr bwMode="auto">
          <a:xfrm>
            <a:off x="7319963" y="2563814"/>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10</a:t>
            </a:r>
          </a:p>
        </p:txBody>
      </p:sp>
      <p:sp>
        <p:nvSpPr>
          <p:cNvPr id="83981" name="Oval 13">
            <a:extLst>
              <a:ext uri="{FF2B5EF4-FFF2-40B4-BE49-F238E27FC236}">
                <a16:creationId xmlns:a16="http://schemas.microsoft.com/office/drawing/2014/main" id="{A18394E7-3517-4F15-BEA7-A20B9FB42D5D}"/>
              </a:ext>
            </a:extLst>
          </p:cNvPr>
          <p:cNvSpPr>
            <a:spLocks noChangeArrowheads="1"/>
          </p:cNvSpPr>
          <p:nvPr/>
        </p:nvSpPr>
        <p:spPr bwMode="auto">
          <a:xfrm>
            <a:off x="368300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8</a:t>
            </a:r>
          </a:p>
        </p:txBody>
      </p:sp>
      <p:sp>
        <p:nvSpPr>
          <p:cNvPr id="83982" name="Oval 14">
            <a:extLst>
              <a:ext uri="{FF2B5EF4-FFF2-40B4-BE49-F238E27FC236}">
                <a16:creationId xmlns:a16="http://schemas.microsoft.com/office/drawing/2014/main" id="{A7C8F88D-6DD1-4D88-AFCE-1348EFF5CC83}"/>
              </a:ext>
            </a:extLst>
          </p:cNvPr>
          <p:cNvSpPr>
            <a:spLocks noChangeArrowheads="1"/>
          </p:cNvSpPr>
          <p:nvPr/>
        </p:nvSpPr>
        <p:spPr bwMode="auto">
          <a:xfrm>
            <a:off x="5653088"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7</a:t>
            </a:r>
          </a:p>
        </p:txBody>
      </p:sp>
      <p:sp>
        <p:nvSpPr>
          <p:cNvPr id="83983" name="Oval 15">
            <a:extLst>
              <a:ext uri="{FF2B5EF4-FFF2-40B4-BE49-F238E27FC236}">
                <a16:creationId xmlns:a16="http://schemas.microsoft.com/office/drawing/2014/main" id="{65F7F21C-184F-4129-90D2-5B80D5006E0A}"/>
              </a:ext>
            </a:extLst>
          </p:cNvPr>
          <p:cNvSpPr>
            <a:spLocks noChangeArrowheads="1"/>
          </p:cNvSpPr>
          <p:nvPr/>
        </p:nvSpPr>
        <p:spPr bwMode="auto">
          <a:xfrm>
            <a:off x="6648450"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9</a:t>
            </a:r>
          </a:p>
        </p:txBody>
      </p:sp>
      <p:sp>
        <p:nvSpPr>
          <p:cNvPr id="83984" name="Oval 16">
            <a:extLst>
              <a:ext uri="{FF2B5EF4-FFF2-40B4-BE49-F238E27FC236}">
                <a16:creationId xmlns:a16="http://schemas.microsoft.com/office/drawing/2014/main" id="{F9DE6749-252E-4A58-AA23-E24B7C5C4FD1}"/>
              </a:ext>
            </a:extLst>
          </p:cNvPr>
          <p:cNvSpPr>
            <a:spLocks noChangeArrowheads="1"/>
          </p:cNvSpPr>
          <p:nvPr/>
        </p:nvSpPr>
        <p:spPr bwMode="auto">
          <a:xfrm>
            <a:off x="4356100"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4</a:t>
            </a:r>
          </a:p>
        </p:txBody>
      </p:sp>
      <p:sp>
        <p:nvSpPr>
          <p:cNvPr id="83985" name="Oval 17">
            <a:extLst>
              <a:ext uri="{FF2B5EF4-FFF2-40B4-BE49-F238E27FC236}">
                <a16:creationId xmlns:a16="http://schemas.microsoft.com/office/drawing/2014/main" id="{8CE536D5-5D4A-4B6B-8D4E-E7BE70CB22E3}"/>
              </a:ext>
            </a:extLst>
          </p:cNvPr>
          <p:cNvSpPr>
            <a:spLocks noChangeArrowheads="1"/>
          </p:cNvSpPr>
          <p:nvPr/>
        </p:nvSpPr>
        <p:spPr bwMode="auto">
          <a:xfrm>
            <a:off x="8016875" y="3787776"/>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3</a:t>
            </a:r>
          </a:p>
        </p:txBody>
      </p:sp>
      <p:cxnSp>
        <p:nvCxnSpPr>
          <p:cNvPr id="83986" name="AutoShape 18">
            <a:extLst>
              <a:ext uri="{FF2B5EF4-FFF2-40B4-BE49-F238E27FC236}">
                <a16:creationId xmlns:a16="http://schemas.microsoft.com/office/drawing/2014/main" id="{B8B3A8ED-256E-4CDE-AD00-870223C3942C}"/>
              </a:ext>
            </a:extLst>
          </p:cNvPr>
          <p:cNvCxnSpPr>
            <a:cxnSpLocks noChangeShapeType="1"/>
            <a:stCxn id="83980" idx="5"/>
            <a:endCxn id="83985" idx="0"/>
          </p:cNvCxnSpPr>
          <p:nvPr/>
        </p:nvCxnSpPr>
        <p:spPr bwMode="auto">
          <a:xfrm>
            <a:off x="7861301" y="3043239"/>
            <a:ext cx="473075" cy="744537"/>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987" name="Oval 19">
            <a:extLst>
              <a:ext uri="{FF2B5EF4-FFF2-40B4-BE49-F238E27FC236}">
                <a16:creationId xmlns:a16="http://schemas.microsoft.com/office/drawing/2014/main" id="{FD75E142-9F1E-4D37-937C-1F4B2E1750C9}"/>
              </a:ext>
            </a:extLst>
          </p:cNvPr>
          <p:cNvSpPr>
            <a:spLocks noChangeArrowheads="1"/>
          </p:cNvSpPr>
          <p:nvPr/>
        </p:nvSpPr>
        <p:spPr bwMode="auto">
          <a:xfrm>
            <a:off x="2987675"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2</a:t>
            </a:r>
          </a:p>
        </p:txBody>
      </p:sp>
      <p:cxnSp>
        <p:nvCxnSpPr>
          <p:cNvPr id="83988" name="AutoShape 20">
            <a:extLst>
              <a:ext uri="{FF2B5EF4-FFF2-40B4-BE49-F238E27FC236}">
                <a16:creationId xmlns:a16="http://schemas.microsoft.com/office/drawing/2014/main" id="{016EB057-2AA1-47BF-8D37-04B5710D474A}"/>
              </a:ext>
            </a:extLst>
          </p:cNvPr>
          <p:cNvCxnSpPr>
            <a:cxnSpLocks noChangeShapeType="1"/>
            <a:stCxn id="83981" idx="3"/>
            <a:endCxn id="83987" idx="0"/>
          </p:cNvCxnSpPr>
          <p:nvPr/>
        </p:nvCxnSpPr>
        <p:spPr bwMode="auto">
          <a:xfrm flipH="1">
            <a:off x="3305175" y="4267200"/>
            <a:ext cx="471488"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89" name="AutoShape 21">
            <a:extLst>
              <a:ext uri="{FF2B5EF4-FFF2-40B4-BE49-F238E27FC236}">
                <a16:creationId xmlns:a16="http://schemas.microsoft.com/office/drawing/2014/main" id="{40732EA0-2035-41D3-BCCC-880A072F118B}"/>
              </a:ext>
            </a:extLst>
          </p:cNvPr>
          <p:cNvCxnSpPr>
            <a:cxnSpLocks noChangeShapeType="1"/>
            <a:stCxn id="83984" idx="0"/>
            <a:endCxn id="83981" idx="5"/>
          </p:cNvCxnSpPr>
          <p:nvPr/>
        </p:nvCxnSpPr>
        <p:spPr bwMode="auto">
          <a:xfrm flipH="1" flipV="1">
            <a:off x="4224338" y="4267200"/>
            <a:ext cx="449262"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90" name="AutoShape 22">
            <a:extLst>
              <a:ext uri="{FF2B5EF4-FFF2-40B4-BE49-F238E27FC236}">
                <a16:creationId xmlns:a16="http://schemas.microsoft.com/office/drawing/2014/main" id="{10F68E14-E177-4B81-8BC0-8A54C84A3FE5}"/>
              </a:ext>
            </a:extLst>
          </p:cNvPr>
          <p:cNvCxnSpPr>
            <a:cxnSpLocks noChangeShapeType="1"/>
            <a:stCxn id="83982" idx="3"/>
            <a:endCxn id="83991" idx="0"/>
          </p:cNvCxnSpPr>
          <p:nvPr/>
        </p:nvCxnSpPr>
        <p:spPr bwMode="auto">
          <a:xfrm flipH="1">
            <a:off x="5465764" y="4267200"/>
            <a:ext cx="280987" cy="67310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991" name="Oval 23">
            <a:extLst>
              <a:ext uri="{FF2B5EF4-FFF2-40B4-BE49-F238E27FC236}">
                <a16:creationId xmlns:a16="http://schemas.microsoft.com/office/drawing/2014/main" id="{9CEAEA7A-2CFA-41EA-8C43-273D0B4EC4DA}"/>
              </a:ext>
            </a:extLst>
          </p:cNvPr>
          <p:cNvSpPr>
            <a:spLocks noChangeArrowheads="1"/>
          </p:cNvSpPr>
          <p:nvPr/>
        </p:nvSpPr>
        <p:spPr bwMode="auto">
          <a:xfrm>
            <a:off x="5148263" y="4940301"/>
            <a:ext cx="635000" cy="5619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1</a:t>
            </a:r>
          </a:p>
        </p:txBody>
      </p:sp>
      <p:sp>
        <p:nvSpPr>
          <p:cNvPr id="83994" name="Text Box 26">
            <a:extLst>
              <a:ext uri="{FF2B5EF4-FFF2-40B4-BE49-F238E27FC236}">
                <a16:creationId xmlns:a16="http://schemas.microsoft.com/office/drawing/2014/main" id="{A0D71868-E39F-4A9A-ABF0-367ADE68CE03}"/>
              </a:ext>
            </a:extLst>
          </p:cNvPr>
          <p:cNvSpPr txBox="1">
            <a:spLocks noChangeArrowheads="1"/>
          </p:cNvSpPr>
          <p:nvPr/>
        </p:nvSpPr>
        <p:spPr bwMode="auto">
          <a:xfrm rot="19426314">
            <a:off x="7864475" y="5233343"/>
            <a:ext cx="1047750" cy="461665"/>
          </a:xfrm>
          <a:prstGeom prst="rect">
            <a:avLst/>
          </a:prstGeom>
          <a:noFill/>
          <a:ln w="38100">
            <a:solidFill>
              <a:srgbClr val="FF00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zh-CN" sz="2400">
                <a:solidFill>
                  <a:srgbClr val="FF0000"/>
                </a:solidFill>
                <a:ea typeface="华文琥珀" panose="02010800040101010101" pitchFamily="2" charset="-122"/>
              </a:rPr>
              <a:t>Done!</a:t>
            </a:r>
          </a:p>
        </p:txBody>
      </p:sp>
      <p:sp>
        <p:nvSpPr>
          <p:cNvPr id="25" name="TextBox 36">
            <a:extLst>
              <a:ext uri="{FF2B5EF4-FFF2-40B4-BE49-F238E27FC236}">
                <a16:creationId xmlns:a16="http://schemas.microsoft.com/office/drawing/2014/main" id="{A2D4FA06-0B0C-45CC-9D3C-8AF114CBF58B}"/>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树和堆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出堆（</a:t>
            </a:r>
            <a:r>
              <a:rPr lang="en-US" altLang="zh-CN" sz="3200" b="1" dirty="0">
                <a:solidFill>
                  <a:srgbClr val="C00000"/>
                </a:solidFill>
                <a:latin typeface="微软雅黑" panose="020B0503020204020204" pitchFamily="34" charset="-122"/>
                <a:ea typeface="微软雅黑" panose="020B0503020204020204" pitchFamily="34" charset="-122"/>
              </a:rPr>
              <a:t>Pop</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9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9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id="{A4784E0E-894F-4295-8841-84CAD1B5F4A8}"/>
              </a:ext>
            </a:extLst>
          </p:cNvPr>
          <p:cNvSpPr>
            <a:spLocks noGrp="1"/>
          </p:cNvSpPr>
          <p:nvPr>
            <p:ph idx="4294967295"/>
          </p:nvPr>
        </p:nvSpPr>
        <p:spPr>
          <a:xfrm>
            <a:off x="838200" y="1253331"/>
            <a:ext cx="10515600" cy="4351337"/>
          </a:xfrm>
        </p:spPr>
        <p:txBody>
          <a:bodyPr>
            <a:normAutofit fontScale="47500" lnSpcReduction="20000"/>
          </a:bodyPr>
          <a:lstStyle/>
          <a:p>
            <a:pPr marL="0" indent="0">
              <a:buNone/>
            </a:pPr>
            <a:r>
              <a:rPr lang="en-US" altLang="zh-CN" b="1" dirty="0">
                <a:solidFill>
                  <a:srgbClr val="014B88"/>
                </a:solidFill>
                <a:latin typeface="Consolas" panose="020B0609020204030204" pitchFamily="49" charset="0"/>
              </a:rPr>
              <a:t>#include &lt;algorithm&gt;				//</a:t>
            </a:r>
            <a:r>
              <a:rPr lang="zh-CN" altLang="en-US" b="1" dirty="0">
                <a:solidFill>
                  <a:srgbClr val="014B88"/>
                </a:solidFill>
                <a:latin typeface="Consolas" panose="020B0609020204030204" pitchFamily="49" charset="0"/>
              </a:rPr>
              <a:t>头文件</a:t>
            </a:r>
            <a:endParaRPr lang="en-US" altLang="zh-CN" b="1" dirty="0">
              <a:solidFill>
                <a:srgbClr val="014B88"/>
              </a:solidFill>
              <a:latin typeface="Consolas" panose="020B0609020204030204" pitchFamily="49" charset="0"/>
            </a:endParaRPr>
          </a:p>
          <a:p>
            <a:pPr marL="0" indent="0">
              <a:buNone/>
            </a:pPr>
            <a:r>
              <a:rPr lang="zh-CN" altLang="en-US" sz="2700" b="1" dirty="0">
                <a:solidFill>
                  <a:srgbClr val="FF0000"/>
                </a:solidFill>
                <a:latin typeface="Consolas" panose="020B0609020204030204" pitchFamily="49" charset="0"/>
              </a:rPr>
              <a:t>（</a:t>
            </a:r>
            <a:r>
              <a:rPr lang="en-US" altLang="zh-CN" sz="2700" b="1" dirty="0">
                <a:solidFill>
                  <a:srgbClr val="FF0000"/>
                </a:solidFill>
                <a:latin typeface="Consolas" panose="020B0609020204030204" pitchFamily="49" charset="0"/>
              </a:rPr>
              <a:t>1</a:t>
            </a:r>
            <a:r>
              <a:rPr lang="zh-CN" altLang="en-US" sz="2700" b="1" dirty="0">
                <a:solidFill>
                  <a:srgbClr val="FF0000"/>
                </a:solidFill>
                <a:latin typeface="Consolas" panose="020B0609020204030204" pitchFamily="49" charset="0"/>
              </a:rPr>
              <a:t>）</a:t>
            </a:r>
            <a:r>
              <a:rPr lang="en-US" altLang="zh-CN" sz="2700" b="1" dirty="0" err="1">
                <a:solidFill>
                  <a:srgbClr val="FF0000"/>
                </a:solidFill>
                <a:latin typeface="Consolas" panose="020B0609020204030204" pitchFamily="49" charset="0"/>
              </a:rPr>
              <a:t>make_heap</a:t>
            </a:r>
            <a:r>
              <a:rPr lang="en-US" altLang="zh-CN" sz="2700" b="1" dirty="0">
                <a:solidFill>
                  <a:srgbClr val="FF0000"/>
                </a:solidFill>
                <a:latin typeface="Consolas" panose="020B0609020204030204" pitchFamily="49" charset="0"/>
              </a:rPr>
              <a:t>()</a:t>
            </a:r>
            <a:r>
              <a:rPr lang="zh-CN" altLang="en-US" sz="2700" b="1" dirty="0">
                <a:solidFill>
                  <a:srgbClr val="FF0000"/>
                </a:solidFill>
                <a:latin typeface="Consolas" panose="020B0609020204030204" pitchFamily="49" charset="0"/>
              </a:rPr>
              <a:t>构造堆</a:t>
            </a:r>
          </a:p>
          <a:p>
            <a:pPr marL="0" indent="0">
              <a:buNone/>
            </a:pPr>
            <a:r>
              <a:rPr lang="en-US" altLang="zh-CN" sz="2700" b="1" dirty="0">
                <a:solidFill>
                  <a:srgbClr val="014B88"/>
                </a:solidFill>
                <a:latin typeface="Consolas" panose="020B0609020204030204" pitchFamily="49" charset="0"/>
              </a:rPr>
              <a:t>void </a:t>
            </a:r>
            <a:r>
              <a:rPr lang="en-US" altLang="zh-CN" sz="2700" b="1" dirty="0" err="1">
                <a:solidFill>
                  <a:srgbClr val="014B88"/>
                </a:solidFill>
                <a:latin typeface="Consolas" panose="020B0609020204030204" pitchFamily="49" charset="0"/>
              </a:rPr>
              <a:t>make_heap</a:t>
            </a:r>
            <a:r>
              <a:rPr lang="en-US" altLang="zh-CN" sz="2700" b="1" dirty="0">
                <a:solidFill>
                  <a:srgbClr val="014B88"/>
                </a:solidFill>
                <a:latin typeface="Consolas" panose="020B0609020204030204" pitchFamily="49" charset="0"/>
              </a:rPr>
              <a:t>(</a:t>
            </a:r>
            <a:r>
              <a:rPr lang="en-US" altLang="zh-CN" sz="2700" b="1" dirty="0" err="1">
                <a:solidFill>
                  <a:srgbClr val="014B88"/>
                </a:solidFill>
                <a:latin typeface="Consolas" panose="020B0609020204030204" pitchFamily="49" charset="0"/>
              </a:rPr>
              <a:t>first_pointer,end_pointer,compare_function</a:t>
            </a:r>
            <a:r>
              <a:rPr lang="en-US" altLang="zh-CN" sz="2700" b="1" dirty="0">
                <a:solidFill>
                  <a:srgbClr val="014B88"/>
                </a:solidFill>
                <a:latin typeface="Consolas" panose="020B0609020204030204" pitchFamily="49" charset="0"/>
              </a:rPr>
              <a:t>);</a:t>
            </a:r>
          </a:p>
          <a:p>
            <a:pPr marL="0" indent="0">
              <a:buNone/>
            </a:pPr>
            <a:r>
              <a:rPr lang="zh-CN" altLang="en-US" sz="2700" b="1" dirty="0">
                <a:solidFill>
                  <a:srgbClr val="014B88"/>
                </a:solidFill>
                <a:latin typeface="Consolas" panose="020B0609020204030204" pitchFamily="49" charset="0"/>
              </a:rPr>
              <a:t>默认比较函数是</a:t>
            </a:r>
            <a:r>
              <a:rPr lang="en-US" altLang="zh-CN" sz="2700" b="1" dirty="0">
                <a:solidFill>
                  <a:srgbClr val="014B88"/>
                </a:solidFill>
                <a:latin typeface="Consolas" panose="020B0609020204030204" pitchFamily="49" charset="0"/>
              </a:rPr>
              <a:t>(&lt;)</a:t>
            </a:r>
            <a:r>
              <a:rPr lang="zh-CN" altLang="en-US" sz="2700" b="1" dirty="0">
                <a:solidFill>
                  <a:srgbClr val="014B88"/>
                </a:solidFill>
                <a:latin typeface="Consolas" panose="020B0609020204030204" pitchFamily="49" charset="0"/>
              </a:rPr>
              <a:t>，即最大堆。</a:t>
            </a:r>
          </a:p>
          <a:p>
            <a:pPr marL="0" indent="0">
              <a:buNone/>
            </a:pPr>
            <a:r>
              <a:rPr lang="zh-CN" altLang="en-US" sz="2700" b="1" dirty="0">
                <a:solidFill>
                  <a:srgbClr val="014B88"/>
                </a:solidFill>
                <a:latin typeface="Consolas" panose="020B0609020204030204" pitchFamily="49" charset="0"/>
              </a:rPr>
              <a:t>函数的作用是将</a:t>
            </a:r>
            <a:r>
              <a:rPr lang="en-US" altLang="zh-CN" sz="2700" b="1" dirty="0">
                <a:solidFill>
                  <a:srgbClr val="014B88"/>
                </a:solidFill>
                <a:latin typeface="Consolas" panose="020B0609020204030204" pitchFamily="49" charset="0"/>
              </a:rPr>
              <a:t>[</a:t>
            </a:r>
            <a:r>
              <a:rPr lang="en-US" altLang="zh-CN" sz="2700" b="1" dirty="0" err="1">
                <a:solidFill>
                  <a:srgbClr val="014B88"/>
                </a:solidFill>
                <a:latin typeface="Consolas" panose="020B0609020204030204" pitchFamily="49" charset="0"/>
              </a:rPr>
              <a:t>begin,end</a:t>
            </a:r>
            <a:r>
              <a:rPr lang="en-US" altLang="zh-CN" sz="2700" b="1" dirty="0">
                <a:solidFill>
                  <a:srgbClr val="014B88"/>
                </a:solidFill>
                <a:latin typeface="Consolas" panose="020B0609020204030204" pitchFamily="49" charset="0"/>
              </a:rPr>
              <a:t>)</a:t>
            </a:r>
            <a:r>
              <a:rPr lang="zh-CN" altLang="en-US" sz="2700" b="1" dirty="0">
                <a:solidFill>
                  <a:srgbClr val="014B88"/>
                </a:solidFill>
                <a:latin typeface="Consolas" panose="020B0609020204030204" pitchFamily="49" charset="0"/>
              </a:rPr>
              <a:t>内的元素处理成堆的结构</a:t>
            </a:r>
          </a:p>
          <a:p>
            <a:pPr marL="0" indent="0">
              <a:buNone/>
            </a:pPr>
            <a:endParaRPr lang="zh-CN" altLang="en-US" sz="2700" b="1" dirty="0">
              <a:solidFill>
                <a:srgbClr val="014B88"/>
              </a:solidFill>
              <a:latin typeface="Consolas" panose="020B0609020204030204" pitchFamily="49" charset="0"/>
            </a:endParaRPr>
          </a:p>
          <a:p>
            <a:pPr marL="0" indent="0">
              <a:buNone/>
            </a:pPr>
            <a:r>
              <a:rPr lang="zh-CN" altLang="en-US" sz="2700" b="1" dirty="0">
                <a:solidFill>
                  <a:srgbClr val="FF0000"/>
                </a:solidFill>
                <a:latin typeface="Consolas" panose="020B0609020204030204" pitchFamily="49" charset="0"/>
              </a:rPr>
              <a:t>（</a:t>
            </a:r>
            <a:r>
              <a:rPr lang="en-US" altLang="zh-CN" sz="2700" b="1" dirty="0">
                <a:solidFill>
                  <a:srgbClr val="FF0000"/>
                </a:solidFill>
                <a:latin typeface="Consolas" panose="020B0609020204030204" pitchFamily="49" charset="0"/>
              </a:rPr>
              <a:t>2</a:t>
            </a:r>
            <a:r>
              <a:rPr lang="zh-CN" altLang="en-US" sz="2700" b="1" dirty="0">
                <a:solidFill>
                  <a:srgbClr val="FF0000"/>
                </a:solidFill>
                <a:latin typeface="Consolas" panose="020B0609020204030204" pitchFamily="49" charset="0"/>
              </a:rPr>
              <a:t>）</a:t>
            </a:r>
            <a:r>
              <a:rPr lang="en-US" altLang="zh-CN" sz="2700" b="1" dirty="0" err="1">
                <a:solidFill>
                  <a:srgbClr val="FF0000"/>
                </a:solidFill>
                <a:latin typeface="Consolas" panose="020B0609020204030204" pitchFamily="49" charset="0"/>
              </a:rPr>
              <a:t>push_heap</a:t>
            </a:r>
            <a:r>
              <a:rPr lang="en-US" altLang="zh-CN" sz="2700" b="1" dirty="0">
                <a:solidFill>
                  <a:srgbClr val="FF0000"/>
                </a:solidFill>
                <a:latin typeface="Consolas" panose="020B0609020204030204" pitchFamily="49" charset="0"/>
              </a:rPr>
              <a:t>()</a:t>
            </a:r>
            <a:r>
              <a:rPr lang="zh-CN" altLang="en-US" sz="2700" b="1" dirty="0">
                <a:solidFill>
                  <a:srgbClr val="FF0000"/>
                </a:solidFill>
                <a:latin typeface="Consolas" panose="020B0609020204030204" pitchFamily="49" charset="0"/>
              </a:rPr>
              <a:t>添加元素到堆</a:t>
            </a:r>
          </a:p>
          <a:p>
            <a:pPr marL="0" indent="0">
              <a:buNone/>
            </a:pPr>
            <a:r>
              <a:rPr lang="en-US" altLang="zh-CN" sz="2700" b="1" dirty="0">
                <a:solidFill>
                  <a:srgbClr val="014B88"/>
                </a:solidFill>
                <a:latin typeface="Consolas" panose="020B0609020204030204" pitchFamily="49" charset="0"/>
              </a:rPr>
              <a:t>void </a:t>
            </a:r>
            <a:r>
              <a:rPr lang="en-US" altLang="zh-CN" sz="2700" b="1" dirty="0" err="1">
                <a:solidFill>
                  <a:srgbClr val="014B88"/>
                </a:solidFill>
                <a:latin typeface="Consolas" panose="020B0609020204030204" pitchFamily="49" charset="0"/>
              </a:rPr>
              <a:t>push_heap</a:t>
            </a:r>
            <a:r>
              <a:rPr lang="en-US" altLang="zh-CN" sz="2700" b="1" dirty="0">
                <a:solidFill>
                  <a:srgbClr val="014B88"/>
                </a:solidFill>
                <a:latin typeface="Consolas" panose="020B0609020204030204" pitchFamily="49" charset="0"/>
              </a:rPr>
              <a:t>(</a:t>
            </a:r>
            <a:r>
              <a:rPr lang="en-US" altLang="zh-CN" sz="2700" b="1" dirty="0" err="1">
                <a:solidFill>
                  <a:srgbClr val="014B88"/>
                </a:solidFill>
                <a:latin typeface="Consolas" panose="020B0609020204030204" pitchFamily="49" charset="0"/>
              </a:rPr>
              <a:t>first_pointer,end_pointer,compare_function</a:t>
            </a:r>
            <a:r>
              <a:rPr lang="en-US" altLang="zh-CN" sz="2700" b="1" dirty="0">
                <a:solidFill>
                  <a:srgbClr val="014B88"/>
                </a:solidFill>
                <a:latin typeface="Consolas" panose="020B0609020204030204" pitchFamily="49" charset="0"/>
              </a:rPr>
              <a:t>);</a:t>
            </a:r>
          </a:p>
          <a:p>
            <a:pPr marL="0" indent="0">
              <a:buNone/>
            </a:pPr>
            <a:r>
              <a:rPr lang="zh-CN" altLang="en-US" sz="2700" b="1" dirty="0">
                <a:solidFill>
                  <a:srgbClr val="014B88"/>
                </a:solidFill>
                <a:latin typeface="Consolas" panose="020B0609020204030204" pitchFamily="49" charset="0"/>
              </a:rPr>
              <a:t>新添加一个元素在末尾，然后重新调整堆序。该算法必须是在一个已经满足堆序的条件下。</a:t>
            </a:r>
          </a:p>
          <a:p>
            <a:pPr marL="0" indent="0">
              <a:buNone/>
            </a:pPr>
            <a:r>
              <a:rPr lang="zh-CN" altLang="en-US" sz="2700" b="1" dirty="0">
                <a:solidFill>
                  <a:srgbClr val="014B88"/>
                </a:solidFill>
                <a:latin typeface="Consolas" panose="020B0609020204030204" pitchFamily="49" charset="0"/>
              </a:rPr>
              <a:t>先在</a:t>
            </a:r>
            <a:r>
              <a:rPr lang="en-US" altLang="zh-CN" sz="2700" b="1" dirty="0">
                <a:solidFill>
                  <a:srgbClr val="014B88"/>
                </a:solidFill>
                <a:latin typeface="Consolas" panose="020B0609020204030204" pitchFamily="49" charset="0"/>
              </a:rPr>
              <a:t>vector</a:t>
            </a:r>
            <a:r>
              <a:rPr lang="zh-CN" altLang="en-US" sz="2700" b="1" dirty="0">
                <a:solidFill>
                  <a:srgbClr val="014B88"/>
                </a:solidFill>
                <a:latin typeface="Consolas" panose="020B0609020204030204" pitchFamily="49" charset="0"/>
              </a:rPr>
              <a:t>的末尾添加元素，再调用</a:t>
            </a:r>
            <a:r>
              <a:rPr lang="en-US" altLang="zh-CN" sz="2700" b="1" dirty="0" err="1">
                <a:solidFill>
                  <a:srgbClr val="014B88"/>
                </a:solidFill>
                <a:latin typeface="Consolas" panose="020B0609020204030204" pitchFamily="49" charset="0"/>
              </a:rPr>
              <a:t>push_heap</a:t>
            </a:r>
            <a:endParaRPr lang="en-US" altLang="zh-CN" sz="2700" b="1" dirty="0">
              <a:solidFill>
                <a:srgbClr val="014B88"/>
              </a:solidFill>
              <a:latin typeface="Consolas" panose="020B0609020204030204" pitchFamily="49" charset="0"/>
            </a:endParaRPr>
          </a:p>
          <a:p>
            <a:pPr marL="0" indent="0">
              <a:buNone/>
            </a:pPr>
            <a:endParaRPr lang="en-US" altLang="zh-CN" sz="2700" b="1" dirty="0">
              <a:solidFill>
                <a:srgbClr val="014B88"/>
              </a:solidFill>
              <a:latin typeface="Consolas" panose="020B0609020204030204" pitchFamily="49" charset="0"/>
            </a:endParaRPr>
          </a:p>
          <a:p>
            <a:pPr marL="0" indent="0">
              <a:buNone/>
            </a:pPr>
            <a:r>
              <a:rPr lang="zh-CN" altLang="en-US" sz="2700" b="1" dirty="0">
                <a:solidFill>
                  <a:srgbClr val="FF0000"/>
                </a:solidFill>
                <a:latin typeface="Consolas" panose="020B0609020204030204" pitchFamily="49" charset="0"/>
              </a:rPr>
              <a:t>（</a:t>
            </a:r>
            <a:r>
              <a:rPr lang="en-US" altLang="zh-CN" sz="2700" b="1" dirty="0">
                <a:solidFill>
                  <a:srgbClr val="FF0000"/>
                </a:solidFill>
                <a:latin typeface="Consolas" panose="020B0609020204030204" pitchFamily="49" charset="0"/>
              </a:rPr>
              <a:t>3</a:t>
            </a:r>
            <a:r>
              <a:rPr lang="zh-CN" altLang="en-US" sz="2700" b="1" dirty="0">
                <a:solidFill>
                  <a:srgbClr val="FF0000"/>
                </a:solidFill>
                <a:latin typeface="Consolas" panose="020B0609020204030204" pitchFamily="49" charset="0"/>
              </a:rPr>
              <a:t>）</a:t>
            </a:r>
            <a:r>
              <a:rPr lang="en-US" altLang="zh-CN" sz="2700" b="1" dirty="0" err="1">
                <a:solidFill>
                  <a:srgbClr val="FF0000"/>
                </a:solidFill>
                <a:latin typeface="Consolas" panose="020B0609020204030204" pitchFamily="49" charset="0"/>
              </a:rPr>
              <a:t>pop_heap</a:t>
            </a:r>
            <a:r>
              <a:rPr lang="en-US" altLang="zh-CN" sz="2700" b="1" dirty="0">
                <a:solidFill>
                  <a:srgbClr val="FF0000"/>
                </a:solidFill>
                <a:latin typeface="Consolas" panose="020B0609020204030204" pitchFamily="49" charset="0"/>
              </a:rPr>
              <a:t>()</a:t>
            </a:r>
            <a:r>
              <a:rPr lang="zh-CN" altLang="en-US" sz="2700" b="1" dirty="0">
                <a:solidFill>
                  <a:srgbClr val="FF0000"/>
                </a:solidFill>
                <a:latin typeface="Consolas" panose="020B0609020204030204" pitchFamily="49" charset="0"/>
              </a:rPr>
              <a:t>从堆中移出元素</a:t>
            </a:r>
          </a:p>
          <a:p>
            <a:pPr marL="0" indent="0">
              <a:buNone/>
            </a:pPr>
            <a:r>
              <a:rPr lang="en-US" altLang="zh-CN" sz="2700" b="1" dirty="0">
                <a:solidFill>
                  <a:srgbClr val="014B88"/>
                </a:solidFill>
                <a:latin typeface="Consolas" panose="020B0609020204030204" pitchFamily="49" charset="0"/>
              </a:rPr>
              <a:t>void </a:t>
            </a:r>
            <a:r>
              <a:rPr lang="en-US" altLang="zh-CN" sz="2700" b="1" dirty="0" err="1">
                <a:solidFill>
                  <a:srgbClr val="014B88"/>
                </a:solidFill>
                <a:latin typeface="Consolas" panose="020B0609020204030204" pitchFamily="49" charset="0"/>
              </a:rPr>
              <a:t>pop_heap</a:t>
            </a:r>
            <a:r>
              <a:rPr lang="en-US" altLang="zh-CN" sz="2700" b="1" dirty="0">
                <a:solidFill>
                  <a:srgbClr val="014B88"/>
                </a:solidFill>
                <a:latin typeface="Consolas" panose="020B0609020204030204" pitchFamily="49" charset="0"/>
              </a:rPr>
              <a:t>(</a:t>
            </a:r>
            <a:r>
              <a:rPr lang="en-US" altLang="zh-CN" sz="2700" b="1" dirty="0" err="1">
                <a:solidFill>
                  <a:srgbClr val="014B88"/>
                </a:solidFill>
                <a:latin typeface="Consolas" panose="020B0609020204030204" pitchFamily="49" charset="0"/>
              </a:rPr>
              <a:t>first_pointer,end_pointer,compare_function</a:t>
            </a:r>
            <a:r>
              <a:rPr lang="en-US" altLang="zh-CN" sz="2700" b="1" dirty="0">
                <a:solidFill>
                  <a:srgbClr val="014B88"/>
                </a:solidFill>
                <a:latin typeface="Consolas" panose="020B0609020204030204" pitchFamily="49" charset="0"/>
              </a:rPr>
              <a:t>);</a:t>
            </a:r>
          </a:p>
          <a:p>
            <a:pPr marL="0" indent="0">
              <a:buNone/>
            </a:pPr>
            <a:r>
              <a:rPr lang="zh-CN" altLang="en-US" sz="2700" b="1" dirty="0">
                <a:solidFill>
                  <a:srgbClr val="014B88"/>
                </a:solidFill>
                <a:latin typeface="Consolas" panose="020B0609020204030204" pitchFamily="49" charset="0"/>
              </a:rPr>
              <a:t>把堆顶元素取出来，放到了数组或者是</a:t>
            </a:r>
            <a:r>
              <a:rPr lang="en-US" altLang="zh-CN" sz="2700" b="1" dirty="0">
                <a:solidFill>
                  <a:srgbClr val="014B88"/>
                </a:solidFill>
                <a:latin typeface="Consolas" panose="020B0609020204030204" pitchFamily="49" charset="0"/>
              </a:rPr>
              <a:t>vector</a:t>
            </a:r>
            <a:r>
              <a:rPr lang="zh-CN" altLang="en-US" sz="2700" b="1" dirty="0">
                <a:solidFill>
                  <a:srgbClr val="014B88"/>
                </a:solidFill>
                <a:latin typeface="Consolas" panose="020B0609020204030204" pitchFamily="49" charset="0"/>
              </a:rPr>
              <a:t>的末尾。</a:t>
            </a:r>
          </a:p>
          <a:p>
            <a:pPr marL="0" indent="0">
              <a:buNone/>
            </a:pPr>
            <a:r>
              <a:rPr lang="zh-CN" altLang="en-US" sz="2700" b="1" dirty="0">
                <a:solidFill>
                  <a:srgbClr val="014B88"/>
                </a:solidFill>
                <a:latin typeface="Consolas" panose="020B0609020204030204" pitchFamily="49" charset="0"/>
              </a:rPr>
              <a:t>要取走，则可以使用底部容器（</a:t>
            </a:r>
            <a:r>
              <a:rPr lang="en-US" altLang="zh-CN" sz="2700" b="1" dirty="0">
                <a:solidFill>
                  <a:srgbClr val="014B88"/>
                </a:solidFill>
                <a:latin typeface="Consolas" panose="020B0609020204030204" pitchFamily="49" charset="0"/>
              </a:rPr>
              <a:t>vector</a:t>
            </a:r>
            <a:r>
              <a:rPr lang="zh-CN" altLang="en-US" sz="2700" b="1" dirty="0">
                <a:solidFill>
                  <a:srgbClr val="014B88"/>
                </a:solidFill>
                <a:latin typeface="Consolas" panose="020B0609020204030204" pitchFamily="49" charset="0"/>
              </a:rPr>
              <a:t>）提供的</a:t>
            </a:r>
            <a:r>
              <a:rPr lang="en-US" altLang="zh-CN" sz="2700" b="1" dirty="0" err="1">
                <a:solidFill>
                  <a:srgbClr val="014B88"/>
                </a:solidFill>
                <a:latin typeface="Consolas" panose="020B0609020204030204" pitchFamily="49" charset="0"/>
              </a:rPr>
              <a:t>pop_back</a:t>
            </a:r>
            <a:r>
              <a:rPr lang="en-US" altLang="zh-CN" sz="2700" b="1" dirty="0">
                <a:solidFill>
                  <a:srgbClr val="014B88"/>
                </a:solidFill>
                <a:latin typeface="Consolas" panose="020B0609020204030204" pitchFamily="49" charset="0"/>
              </a:rPr>
              <a:t>()</a:t>
            </a:r>
            <a:r>
              <a:rPr lang="zh-CN" altLang="en-US" sz="2700" b="1" dirty="0">
                <a:solidFill>
                  <a:srgbClr val="014B88"/>
                </a:solidFill>
                <a:latin typeface="Consolas" panose="020B0609020204030204" pitchFamily="49" charset="0"/>
              </a:rPr>
              <a:t>函数。</a:t>
            </a:r>
          </a:p>
          <a:p>
            <a:pPr marL="0" indent="0">
              <a:buNone/>
            </a:pPr>
            <a:r>
              <a:rPr lang="zh-CN" altLang="en-US" sz="2700" b="1" dirty="0">
                <a:solidFill>
                  <a:srgbClr val="014B88"/>
                </a:solidFill>
                <a:latin typeface="Consolas" panose="020B0609020204030204" pitchFamily="49" charset="0"/>
              </a:rPr>
              <a:t>先调用</a:t>
            </a:r>
            <a:r>
              <a:rPr lang="en-US" altLang="zh-CN" sz="2700" b="1" dirty="0" err="1">
                <a:solidFill>
                  <a:srgbClr val="014B88"/>
                </a:solidFill>
                <a:latin typeface="Consolas" panose="020B0609020204030204" pitchFamily="49" charset="0"/>
              </a:rPr>
              <a:t>pop_heap</a:t>
            </a:r>
            <a:r>
              <a:rPr lang="zh-CN" altLang="en-US" sz="2700" b="1" dirty="0">
                <a:solidFill>
                  <a:srgbClr val="014B88"/>
                </a:solidFill>
                <a:latin typeface="Consolas" panose="020B0609020204030204" pitchFamily="49" charset="0"/>
              </a:rPr>
              <a:t>再从</a:t>
            </a:r>
            <a:r>
              <a:rPr lang="en-US" altLang="zh-CN" sz="2700" b="1" dirty="0">
                <a:solidFill>
                  <a:srgbClr val="014B88"/>
                </a:solidFill>
                <a:latin typeface="Consolas" panose="020B0609020204030204" pitchFamily="49" charset="0"/>
              </a:rPr>
              <a:t>vector</a:t>
            </a:r>
            <a:r>
              <a:rPr lang="zh-CN" altLang="en-US" sz="2700" b="1" dirty="0">
                <a:solidFill>
                  <a:srgbClr val="014B88"/>
                </a:solidFill>
                <a:latin typeface="Consolas" panose="020B0609020204030204" pitchFamily="49" charset="0"/>
              </a:rPr>
              <a:t>中</a:t>
            </a:r>
            <a:r>
              <a:rPr lang="en-US" altLang="zh-CN" sz="2700" b="1" dirty="0" err="1">
                <a:solidFill>
                  <a:srgbClr val="014B88"/>
                </a:solidFill>
                <a:latin typeface="Consolas" panose="020B0609020204030204" pitchFamily="49" charset="0"/>
              </a:rPr>
              <a:t>pop_back</a:t>
            </a:r>
            <a:r>
              <a:rPr lang="zh-CN" altLang="en-US" sz="2700" b="1" dirty="0">
                <a:solidFill>
                  <a:srgbClr val="014B88"/>
                </a:solidFill>
                <a:latin typeface="Consolas" panose="020B0609020204030204" pitchFamily="49" charset="0"/>
              </a:rPr>
              <a:t>元素</a:t>
            </a:r>
          </a:p>
        </p:txBody>
      </p:sp>
      <p:sp>
        <p:nvSpPr>
          <p:cNvPr id="4" name="TextBox 36">
            <a:extLst>
              <a:ext uri="{FF2B5EF4-FFF2-40B4-BE49-F238E27FC236}">
                <a16:creationId xmlns:a16="http://schemas.microsoft.com/office/drawing/2014/main" id="{22C3C649-77F3-4D35-B890-C491AE326CE0}"/>
              </a:ext>
            </a:extLst>
          </p:cNvPr>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STL</a:t>
            </a:r>
            <a:r>
              <a:rPr lang="zh-CN" altLang="en-US" sz="3200" b="1" dirty="0">
                <a:solidFill>
                  <a:srgbClr val="C00000"/>
                </a:solidFill>
                <a:latin typeface="微软雅黑" panose="020B0503020204020204" pitchFamily="34" charset="-122"/>
                <a:ea typeface="微软雅黑" panose="020B0503020204020204" pitchFamily="34" charset="-122"/>
              </a:rPr>
              <a:t>的应用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751614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8"/>
          <p:cNvSpPr txBox="1"/>
          <p:nvPr/>
        </p:nvSpPr>
        <p:spPr>
          <a:xfrm>
            <a:off x="594873" y="1318864"/>
            <a:ext cx="11209283" cy="3831818"/>
          </a:xfrm>
          <a:prstGeom prst="rect">
            <a:avLst/>
          </a:prstGeom>
          <a:noFill/>
        </p:spPr>
        <p:txBody>
          <a:bodyPr wrap="square" rtlCol="0">
            <a:spAutoFit/>
          </a:bodyPr>
          <a:lstStyle/>
          <a:p>
            <a:pPr marL="342900" lvl="0" indent="-342900" eaLnBrk="0" fontAlgn="base" hangingPunct="0">
              <a:lnSpc>
                <a:spcPct val="150000"/>
              </a:lnSpc>
              <a:spcBef>
                <a:spcPct val="0"/>
              </a:spcBef>
              <a:spcAft>
                <a:spcPct val="0"/>
              </a:spcAft>
              <a:buFont typeface="Wingdings" panose="05000000000000000000" pitchFamily="2" charset="2"/>
              <a:buChar char="Ø"/>
            </a:pPr>
            <a:r>
              <a:rPr lang="zh-CN" altLang="zh-CN" sz="2400" dirty="0">
                <a:solidFill>
                  <a:srgbClr val="000000"/>
                </a:solidFill>
                <a:latin typeface="宋体" panose="02010600030101010101" pitchFamily="2" charset="-122"/>
                <a:cs typeface="Times New Roman" panose="02020603050405020304" pitchFamily="18" charset="0"/>
              </a:rPr>
              <a:t>图的存储既要考虑到顶点的存储又要考虑到边的存储。</a:t>
            </a:r>
            <a:endParaRPr lang="en-US" altLang="zh-CN" sz="2400" dirty="0">
              <a:solidFill>
                <a:srgbClr val="000000"/>
              </a:solidFill>
              <a:latin typeface="宋体" panose="02010600030101010101" pitchFamily="2" charset="-122"/>
              <a:cs typeface="Times New Roman" panose="02020603050405020304" pitchFamily="18" charset="0"/>
            </a:endParaRPr>
          </a:p>
          <a:p>
            <a:pPr marL="342900" indent="-342900" eaLnBrk="0" fontAlgn="base" hangingPunct="0">
              <a:lnSpc>
                <a:spcPct val="150000"/>
              </a:lnSpc>
              <a:spcBef>
                <a:spcPct val="0"/>
              </a:spcBef>
              <a:spcAft>
                <a:spcPct val="0"/>
              </a:spcAft>
              <a:buFont typeface="Wingdings" panose="05000000000000000000" pitchFamily="2" charset="2"/>
              <a:buChar char="Ø"/>
            </a:pPr>
            <a:r>
              <a:rPr lang="zh-CN" altLang="zh-CN" sz="2400" dirty="0">
                <a:solidFill>
                  <a:srgbClr val="000000"/>
                </a:solidFill>
                <a:latin typeface="宋体" panose="02010600030101010101" pitchFamily="2" charset="-122"/>
                <a:cs typeface="Times New Roman" panose="02020603050405020304" pitchFamily="18" charset="0"/>
              </a:rPr>
              <a:t>如果按照线性结构和树结构的存储思路，找到一个类似的、既能同时存储顶点又能存储表示顶点间关系的边的结构就非常困难。不妨换个思路，将顶点和边的存储独立开来</a:t>
            </a:r>
            <a:r>
              <a:rPr lang="zh-CN" altLang="en-US" sz="2400" dirty="0">
                <a:solidFill>
                  <a:srgbClr val="000000"/>
                </a:solidFill>
                <a:latin typeface="宋体" panose="02010600030101010101" pitchFamily="2" charset="-122"/>
                <a:cs typeface="Times New Roman" panose="02020603050405020304" pitchFamily="18" charset="0"/>
              </a:rPr>
              <a:t>，顶点归顶点存、边归边存。</a:t>
            </a:r>
            <a:endParaRPr lang="zh-CN" altLang="zh-CN" sz="4800" dirty="0">
              <a:latin typeface="Arial" panose="020B0604020202020204" pitchFamily="34" charset="0"/>
            </a:endParaRPr>
          </a:p>
          <a:p>
            <a:pPr marL="342900" lvl="0" indent="-342900" eaLnBrk="0" fontAlgn="base" hangingPunct="0">
              <a:lnSpc>
                <a:spcPct val="150000"/>
              </a:lnSpc>
              <a:spcBef>
                <a:spcPct val="0"/>
              </a:spcBef>
              <a:spcAft>
                <a:spcPct val="0"/>
              </a:spcAft>
              <a:buFont typeface="Wingdings" panose="05000000000000000000" pitchFamily="2" charset="2"/>
              <a:buChar char="Ø"/>
            </a:pPr>
            <a:r>
              <a:rPr lang="zh-CN" altLang="en-US" sz="2400" dirty="0">
                <a:solidFill>
                  <a:srgbClr val="000000"/>
                </a:solidFill>
                <a:latin typeface="宋体" panose="02010600030101010101" pitchFamily="2" charset="-122"/>
                <a:cs typeface="Times New Roman" panose="02020603050405020304" pitchFamily="18" charset="0"/>
              </a:rPr>
              <a:t>顶点用一维数组存，边用二维矩阵存 </a:t>
            </a:r>
            <a:r>
              <a:rPr lang="en-US" altLang="zh-CN" sz="2400" dirty="0">
                <a:solidFill>
                  <a:srgbClr val="000000"/>
                </a:solidFill>
                <a:latin typeface="宋体" panose="02010600030101010101" pitchFamily="2" charset="-122"/>
                <a:cs typeface="Times New Roman" panose="02020603050405020304" pitchFamily="18" charset="0"/>
              </a:rPr>
              <a:t>---</a:t>
            </a:r>
            <a:r>
              <a:rPr lang="zh-CN" altLang="en-US" sz="2400" b="1" dirty="0">
                <a:solidFill>
                  <a:srgbClr val="000000"/>
                </a:solidFill>
                <a:latin typeface="宋体" panose="02010600030101010101" pitchFamily="2" charset="-122"/>
                <a:cs typeface="Times New Roman" panose="02020603050405020304" pitchFamily="18" charset="0"/>
              </a:rPr>
              <a:t>邻接矩阵存储法</a:t>
            </a:r>
            <a:r>
              <a:rPr lang="zh-CN" altLang="en-US" sz="2400" dirty="0">
                <a:solidFill>
                  <a:srgbClr val="000000"/>
                </a:solidFill>
                <a:latin typeface="宋体" panose="02010600030101010101" pitchFamily="2" charset="-122"/>
                <a:cs typeface="Times New Roman" panose="02020603050405020304" pitchFamily="18" charset="0"/>
              </a:rPr>
              <a:t>。</a:t>
            </a:r>
            <a:endParaRPr lang="en-US" altLang="zh-CN" sz="2400" b="1" dirty="0">
              <a:solidFill>
                <a:srgbClr val="000000"/>
              </a:solidFill>
              <a:latin typeface="宋体" panose="02010600030101010101" pitchFamily="2" charset="-122"/>
              <a:cs typeface="Times New Roman" panose="02020603050405020304" pitchFamily="18" charset="0"/>
            </a:endParaRPr>
          </a:p>
          <a:p>
            <a:pPr lvl="0" indent="361950" eaLnBrk="0" fontAlgn="base" hangingPunct="0">
              <a:lnSpc>
                <a:spcPct val="150000"/>
              </a:lnSpc>
              <a:spcBef>
                <a:spcPct val="0"/>
              </a:spcBef>
              <a:spcAft>
                <a:spcPct val="0"/>
              </a:spcAft>
            </a:pPr>
            <a:r>
              <a:rPr lang="zh-CN" altLang="en-US" sz="2400" dirty="0">
                <a:solidFill>
                  <a:srgbClr val="000000"/>
                </a:solidFill>
                <a:latin typeface="宋体" panose="02010600030101010101" pitchFamily="2" charset="-122"/>
                <a:cs typeface="Times New Roman" panose="02020603050405020304" pitchFamily="18" charset="0"/>
              </a:rPr>
              <a:t>顶点用一维数组存，边用单链表存   </a:t>
            </a:r>
            <a:r>
              <a:rPr lang="en-US" altLang="zh-CN" sz="2400" dirty="0">
                <a:solidFill>
                  <a:srgbClr val="000000"/>
                </a:solidFill>
                <a:latin typeface="宋体" panose="02010600030101010101" pitchFamily="2" charset="-122"/>
                <a:cs typeface="Times New Roman" panose="02020603050405020304" pitchFamily="18" charset="0"/>
              </a:rPr>
              <a:t>---</a:t>
            </a:r>
            <a:r>
              <a:rPr lang="zh-CN" altLang="en-US" sz="2400" b="1" dirty="0">
                <a:solidFill>
                  <a:srgbClr val="000000"/>
                </a:solidFill>
                <a:latin typeface="宋体" panose="02010600030101010101" pitchFamily="2" charset="-122"/>
                <a:cs typeface="Times New Roman" panose="02020603050405020304" pitchFamily="18" charset="0"/>
              </a:rPr>
              <a:t>邻接表存储法</a:t>
            </a:r>
            <a:r>
              <a:rPr lang="zh-CN" altLang="en-US" sz="2400" dirty="0">
                <a:solidFill>
                  <a:srgbClr val="000000"/>
                </a:solidFill>
                <a:latin typeface="宋体" panose="02010600030101010101" pitchFamily="2" charset="-122"/>
                <a:cs typeface="Times New Roman" panose="02020603050405020304" pitchFamily="18" charset="0"/>
              </a:rPr>
              <a:t>。</a:t>
            </a:r>
            <a:endParaRPr lang="en-US" altLang="zh-CN" sz="2400" dirty="0">
              <a:solidFill>
                <a:srgbClr val="000000"/>
              </a:solidFill>
              <a:latin typeface="宋体" panose="02010600030101010101" pitchFamily="2" charset="-122"/>
              <a:cs typeface="Times New Roman" panose="02020603050405020304" pitchFamily="18" charset="0"/>
            </a:endParaRPr>
          </a:p>
          <a:p>
            <a:pPr>
              <a:lnSpc>
                <a:spcPct val="150000"/>
              </a:lnSpc>
            </a:pPr>
            <a:endParaRPr lang="zh-CN" altLang="en-US" dirty="0"/>
          </a:p>
        </p:txBody>
      </p:sp>
      <p:sp>
        <p:nvSpPr>
          <p:cNvPr id="6" name="TextBox 36">
            <a:extLst>
              <a:ext uri="{FF2B5EF4-FFF2-40B4-BE49-F238E27FC236}">
                <a16:creationId xmlns:a16="http://schemas.microsoft.com/office/drawing/2014/main" id="{5B98F255-356A-425A-9CBF-1F71C13FF611}"/>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7472342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77940" y="926471"/>
            <a:ext cx="10515600" cy="518958"/>
          </a:xfrm>
        </p:spPr>
        <p:txBody>
          <a:bodyPr>
            <a:normAutofit/>
          </a:bodyPr>
          <a:lstStyle/>
          <a:p>
            <a:r>
              <a:rPr lang="zh-CN" altLang="zh-CN" dirty="0"/>
              <a:t>邻接矩阵</a:t>
            </a:r>
            <a:endParaRPr lang="zh-CN" altLang="en-US" dirty="0"/>
          </a:p>
        </p:txBody>
      </p:sp>
      <p:sp>
        <p:nvSpPr>
          <p:cNvPr id="9" name="文本框 8"/>
          <p:cNvSpPr txBox="1"/>
          <p:nvPr/>
        </p:nvSpPr>
        <p:spPr>
          <a:xfrm>
            <a:off x="577940" y="1593145"/>
            <a:ext cx="11209283" cy="3259354"/>
          </a:xfrm>
          <a:prstGeom prst="rect">
            <a:avLst/>
          </a:prstGeom>
          <a:noFill/>
        </p:spPr>
        <p:txBody>
          <a:bodyPr wrap="square" rtlCol="0">
            <a:spAutoFit/>
          </a:bodyPr>
          <a:lstStyle/>
          <a:p>
            <a:pPr marL="457200" indent="-457200" eaLnBrk="0" fontAlgn="base" hangingPunct="0">
              <a:lnSpc>
                <a:spcPct val="150000"/>
              </a:lnSpc>
              <a:spcBef>
                <a:spcPct val="0"/>
              </a:spcBef>
              <a:spcAft>
                <a:spcPct val="0"/>
              </a:spcAft>
              <a:buFont typeface="Wingdings" panose="05000000000000000000" pitchFamily="2" charset="2"/>
              <a:buChar char="Ø"/>
            </a:pP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在一维数组中存储顶点信息，</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在二维矩阵中存储边的信息。</a:t>
            </a:r>
            <a:endParaRPr lang="en-US" altLang="zh-CN" sz="2200" dirty="0">
              <a:latin typeface="Times New Roman" panose="02020603050405020304" pitchFamily="18" charset="0"/>
              <a:ea typeface="宋体" panose="02010600030101010101" pitchFamily="2" charset="-122"/>
              <a:cs typeface="Times New Roman" panose="02020603050405020304" pitchFamily="18" charset="0"/>
            </a:endParaRPr>
          </a:p>
          <a:p>
            <a:pPr marL="457200" indent="-457200" eaLnBrk="0" fontAlgn="base" hangingPunct="0">
              <a:lnSpc>
                <a:spcPct val="150000"/>
              </a:lnSpc>
              <a:spcBef>
                <a:spcPct val="0"/>
              </a:spcBef>
              <a:spcAft>
                <a:spcPct val="0"/>
              </a:spcAft>
              <a:buFont typeface="Wingdings" panose="05000000000000000000" pitchFamily="2" charset="2"/>
              <a:buChar char="Ø"/>
            </a:pP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如果非加权图中，存在一条自顶点vi到vj 的有向边或无向边，那么在</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二维</a:t>
            </a: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矩阵</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（如Ａ）中，</a:t>
            </a: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a[i][j] = 1，否则 a[i][j] = 0。</a:t>
            </a:r>
            <a:endParaRPr lang="en-US" altLang="zh-CN" sz="2200" dirty="0">
              <a:latin typeface="Times New Roman" panose="02020603050405020304" pitchFamily="18" charset="0"/>
              <a:ea typeface="宋体" panose="02010600030101010101" pitchFamily="2" charset="-122"/>
              <a:cs typeface="Times New Roman" panose="02020603050405020304" pitchFamily="18" charset="0"/>
            </a:endParaRPr>
          </a:p>
          <a:p>
            <a:pPr marL="457200" indent="-457200" eaLnBrk="0" fontAlgn="base" hangingPunct="0">
              <a:lnSpc>
                <a:spcPct val="150000"/>
              </a:lnSpc>
              <a:spcBef>
                <a:spcPct val="0"/>
              </a:spcBef>
              <a:spcAft>
                <a:spcPct val="0"/>
              </a:spcAft>
              <a:buFont typeface="Wingdings" panose="05000000000000000000" pitchFamily="2" charset="2"/>
              <a:buChar char="Ø"/>
            </a:pP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按照简单图的定义，主对角线上元素a[i][i] = 0，即顶点到自身没有边相连。</a:t>
            </a:r>
            <a:endParaRPr lang="en-US" altLang="zh-CN" sz="2200" dirty="0">
              <a:latin typeface="Times New Roman" panose="02020603050405020304" pitchFamily="18" charset="0"/>
              <a:ea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无向图的邻接矩阵是以主对角线为轴对称的。</a:t>
            </a:r>
            <a:endParaRPr lang="zh-CN" altLang="zh-CN" sz="4800" dirty="0">
              <a:latin typeface="Arial" panose="020B0604020202020204" pitchFamily="34" charset="0"/>
            </a:endParaRPr>
          </a:p>
          <a:p>
            <a:pPr marL="1241425" indent="-342900" eaLnBrk="0" fontAlgn="base" hangingPunct="0">
              <a:lnSpc>
                <a:spcPct val="90000"/>
              </a:lnSpc>
              <a:spcBef>
                <a:spcPct val="0"/>
              </a:spcBef>
              <a:spcAft>
                <a:spcPct val="0"/>
              </a:spcAft>
              <a:buFont typeface="Wingdings" panose="05000000000000000000" pitchFamily="2" charset="2"/>
              <a:buChar char="Ø"/>
            </a:pPr>
            <a:endParaRPr lang="zh-CN" altLang="zh-CN" sz="2200" dirty="0">
              <a:latin typeface="Times New Roman" panose="02020603050405020304" pitchFamily="18" charset="0"/>
              <a:ea typeface="宋体" panose="02010600030101010101" pitchFamily="2" charset="-122"/>
              <a:cs typeface="Times New Roman" panose="02020603050405020304" pitchFamily="18" charset="0"/>
            </a:endParaRPr>
          </a:p>
          <a:p>
            <a:endParaRPr lang="zh-CN" altLang="en-US" dirty="0"/>
          </a:p>
        </p:txBody>
      </p:sp>
      <p:sp>
        <p:nvSpPr>
          <p:cNvPr id="6" name="TextBox 36">
            <a:extLst>
              <a:ext uri="{FF2B5EF4-FFF2-40B4-BE49-F238E27FC236}">
                <a16:creationId xmlns:a16="http://schemas.microsoft.com/office/drawing/2014/main" id="{B777756D-C1FE-4FCD-80F5-6D134EBC7007}"/>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24135281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79499" y="852539"/>
            <a:ext cx="10515600" cy="518958"/>
          </a:xfrm>
        </p:spPr>
        <p:txBody>
          <a:bodyPr>
            <a:normAutofit/>
          </a:bodyPr>
          <a:lstStyle/>
          <a:p>
            <a:r>
              <a:rPr lang="zh-CN" altLang="zh-CN" dirty="0"/>
              <a:t>邻接矩阵</a:t>
            </a:r>
            <a:endParaRPr lang="zh-CN" altLang="en-US" dirty="0"/>
          </a:p>
        </p:txBody>
      </p:sp>
      <p:pic>
        <p:nvPicPr>
          <p:cNvPr id="15362" name="Picture 2" descr="http://www.kdocs.cn/api/v3/office/copy/OEVFdlpxaGtUaXFCOFd6ZlgxcDNUMmpjMUt5UXhiY0dKWUhkUzJBNW1hWVhhY0FHRkxXczBGSmxqd3hNU1laQUcvSEQ1VWhhRGJJYUhiTjlocFJqTkNqWUFWOS9DSm9TKzJzS3cvSDlGRUdYbEJ6c0lFK1lZQzFObWhDU2Y3VDhZbjIzQXpGVWYyUmxwZk05SVFrQVI2K3hwanRyK3FCdjhqdlZCTE9OajYxcVNpS3VLSkE4SStJc3B4MW5tc2hndWVZQmhvVWJNN1hucHZkdTczMi9ldW9GMHJad0wvN2h6Wk9hOEpkMGovV2MycDlGRVhtd2c4MEFwbHNFY2JQeHh6RTNPc3lBZC9ZPQ==/attach/object/9d486b0d640009fbd7cc9d6d4ff7fb89e88c615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1598" y="1276530"/>
            <a:ext cx="5484609" cy="2397794"/>
          </a:xfrm>
          <a:prstGeom prst="rect">
            <a:avLst/>
          </a:prstGeom>
          <a:noFill/>
          <a:extLst>
            <a:ext uri="{909E8E84-426E-40DD-AFC4-6F175D3DCCD1}">
              <a14:hiddenFill xmlns:a14="http://schemas.microsoft.com/office/drawing/2010/main">
                <a:solidFill>
                  <a:srgbClr val="FFFFFF"/>
                </a:solidFill>
              </a14:hiddenFill>
            </a:ext>
          </a:extLst>
        </p:spPr>
      </p:pic>
      <p:pic>
        <p:nvPicPr>
          <p:cNvPr id="16385" name="Picture 1" descr="http://www.kdocs.cn/api/v3/office/copy/OEVFdlpxaGtUaXFCOFd6ZlgxcDNUMmpjMUt5UXhiY0dKWUhkUzJBNW1hWVhhY0FHRkxXczBGSmxqd3hNU1laQUcvSEQ1VWhhRGJJYUhiTjlocFJqTkNqWUFWOS9DSm9TKzJzS3cvSDlGRUdYbEJ6c0lFK1lZQzFObWhDU2Y3VDhZbjIzQXpGVWYyUmxwZk05SVFrQVI2K3hwanRyK3FCdjhqdlZCTE9OajYxcVNpS3VLSkE4SStJc3B4MW5tc2hndWVZQmhvVWJNN1hucHZkdTczMi9ldW9GMHJad0wvN2h6Wk9hOEpkMGovV2MycDlGRVhtd2c4MEFwbHNFY2JQeHh6RTNPc3lBZC9ZPQ==/attach/object/649105bfa9c043f64dd66c8b845e218b60ea747f?"/>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0018" y="3752192"/>
            <a:ext cx="6341438" cy="2522483"/>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36">
            <a:extLst>
              <a:ext uri="{FF2B5EF4-FFF2-40B4-BE49-F238E27FC236}">
                <a16:creationId xmlns:a16="http://schemas.microsoft.com/office/drawing/2014/main" id="{7B9FB855-F57A-45E0-9160-43EA896BAB3A}"/>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3782521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96432" y="894872"/>
            <a:ext cx="10515600" cy="518958"/>
          </a:xfrm>
        </p:spPr>
        <p:txBody>
          <a:bodyPr>
            <a:normAutofit fontScale="90000"/>
          </a:bodyPr>
          <a:lstStyle/>
          <a:p>
            <a:r>
              <a:rPr lang="zh-CN" altLang="zh-CN" dirty="0"/>
              <a:t>加权邻接矩阵</a:t>
            </a:r>
            <a:br>
              <a:rPr lang="zh-CN" altLang="zh-CN" dirty="0"/>
            </a:br>
            <a:endParaRPr lang="zh-CN" altLang="en-US" dirty="0"/>
          </a:p>
        </p:txBody>
      </p:sp>
      <mc:AlternateContent xmlns:mc="http://schemas.openxmlformats.org/markup-compatibility/2006" xmlns:a14="http://schemas.microsoft.com/office/drawing/2010/main">
        <mc:Choice Requires="a14">
          <p:sp>
            <p:nvSpPr>
              <p:cNvPr id="9" name="文本框 8"/>
              <p:cNvSpPr txBox="1"/>
              <p:nvPr/>
            </p:nvSpPr>
            <p:spPr>
              <a:xfrm>
                <a:off x="696432" y="1276530"/>
                <a:ext cx="11259708" cy="2446824"/>
              </a:xfrm>
              <a:prstGeom prst="rect">
                <a:avLst/>
              </a:prstGeom>
              <a:noFill/>
            </p:spPr>
            <p:txBody>
              <a:bodyPr wrap="square" rtlCol="0">
                <a:spAutoFit/>
              </a:bodyPr>
              <a:lstStyle/>
              <a:p>
                <a:pPr marL="342900" lvl="0" indent="-342900" eaLnBrk="0" fontAlgn="base" hangingPunct="0">
                  <a:lnSpc>
                    <a:spcPct val="150000"/>
                  </a:lnSpc>
                  <a:spcBef>
                    <a:spcPct val="0"/>
                  </a:spcBef>
                  <a:spcAft>
                    <a:spcPct val="0"/>
                  </a:spcAft>
                  <a:buFont typeface="Wingdings" panose="05000000000000000000" pitchFamily="2" charset="2"/>
                  <a:buChar char="Ø"/>
                </a:pPr>
                <a:r>
                  <a:rPr lang="zh-CN" altLang="zh-CN" sz="2400" dirty="0">
                    <a:solidFill>
                      <a:srgbClr val="000000"/>
                    </a:solidFill>
                    <a:latin typeface="宋体" panose="02010600030101010101" pitchFamily="2" charset="-122"/>
                    <a:cs typeface="Times New Roman" panose="02020603050405020304" pitchFamily="18" charset="0"/>
                  </a:rPr>
                  <a:t>当图中边带有权值时，可以用加权邻接矩阵表示加权有向图或无向图。</a:t>
                </a:r>
                <a:endParaRPr lang="en-US" altLang="zh-CN" sz="2200" dirty="0">
                  <a:latin typeface="Times New Roman" panose="02020603050405020304" pitchFamily="18" charset="0"/>
                  <a:ea typeface="宋体" panose="02010600030101010101" pitchFamily="2" charset="-122"/>
                  <a:cs typeface="Times New Roman" panose="02020603050405020304" pitchFamily="18" charset="0"/>
                </a:endParaRPr>
              </a:p>
              <a:p>
                <a:pPr marL="342900" indent="-342900" eaLnBrk="0" fontAlgn="base" hangingPunct="0">
                  <a:lnSpc>
                    <a:spcPct val="150000"/>
                  </a:lnSpc>
                  <a:spcBef>
                    <a:spcPct val="0"/>
                  </a:spcBef>
                  <a:spcAft>
                    <a:spcPct val="0"/>
                  </a:spcAft>
                  <a:buFont typeface="Wingdings" panose="05000000000000000000" pitchFamily="2" charset="2"/>
                  <a:buChar char="Ø"/>
                </a:pP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如果加权图中，存在一条自顶点vi到vj 的有向边或无向边，那么在</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二维</a:t>
                </a: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矩阵</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（如Ａ）中，</a:t>
                </a: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a[i][j] = </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权值</a:t>
                </a: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，否则 a[i][j] = </a:t>
                </a:r>
                <a14:m>
                  <m:oMath xmlns:m="http://schemas.openxmlformats.org/officeDocument/2006/math">
                    <m:r>
                      <a:rPr lang="zh-CN" altLang="en-US" sz="2200" i="1" dirty="0" smtClean="0">
                        <a:latin typeface="Cambria Math" panose="02040503050406030204" pitchFamily="18" charset="0"/>
                        <a:ea typeface="宋体" panose="02010600030101010101" pitchFamily="2" charset="-122"/>
                        <a:cs typeface="Times New Roman" panose="02020603050405020304" pitchFamily="18" charset="0"/>
                      </a:rPr>
                      <m:t>∞</m:t>
                    </m:r>
                  </m:oMath>
                </a14:m>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a:t>
                </a:r>
                <a:endParaRPr lang="en-US" altLang="zh-CN" sz="2200" dirty="0">
                  <a:latin typeface="Times New Roman" panose="02020603050405020304" pitchFamily="18" charset="0"/>
                  <a:ea typeface="宋体" panose="02010600030101010101" pitchFamily="2" charset="-122"/>
                  <a:cs typeface="Times New Roman" panose="02020603050405020304" pitchFamily="18" charset="0"/>
                </a:endParaRPr>
              </a:p>
              <a:p>
                <a:pPr marL="342900" indent="-342900" eaLnBrk="0" fontAlgn="base" hangingPunct="0">
                  <a:lnSpc>
                    <a:spcPct val="150000"/>
                  </a:lnSpc>
                  <a:spcBef>
                    <a:spcPct val="0"/>
                  </a:spcBef>
                  <a:spcAft>
                    <a:spcPct val="0"/>
                  </a:spcAft>
                  <a:buFont typeface="Wingdings" panose="05000000000000000000" pitchFamily="2" charset="2"/>
                  <a:buChar char="Ø"/>
                </a:pPr>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按照简单图的定义，主对角线上元素a[i][i] = 0</a:t>
                </a:r>
                <a:r>
                  <a:rPr lang="zh-CN" altLang="en-US" sz="2200" dirty="0">
                    <a:latin typeface="Times New Roman" panose="02020603050405020304" pitchFamily="18" charset="0"/>
                    <a:ea typeface="宋体" panose="02010600030101010101" pitchFamily="2" charset="-122"/>
                    <a:cs typeface="Times New Roman" panose="02020603050405020304" pitchFamily="18" charset="0"/>
                  </a:rPr>
                  <a:t>或者</a:t>
                </a:r>
                <a14:m>
                  <m:oMath xmlns:m="http://schemas.openxmlformats.org/officeDocument/2006/math">
                    <m:r>
                      <a:rPr lang="zh-CN" altLang="en-US" sz="2200" i="1" smtClean="0">
                        <a:latin typeface="Cambria Math" panose="02040503050406030204" pitchFamily="18" charset="0"/>
                        <a:ea typeface="宋体" panose="02010600030101010101" pitchFamily="2" charset="-122"/>
                        <a:cs typeface="Times New Roman" panose="02020603050405020304" pitchFamily="18" charset="0"/>
                      </a:rPr>
                      <m:t>∞</m:t>
                    </m:r>
                  </m:oMath>
                </a14:m>
                <a:r>
                  <a:rPr lang="zh-CN" altLang="zh-CN" sz="2200" dirty="0">
                    <a:latin typeface="Times New Roman" panose="02020603050405020304" pitchFamily="18" charset="0"/>
                    <a:ea typeface="宋体" panose="02010600030101010101" pitchFamily="2" charset="-122"/>
                    <a:cs typeface="Times New Roman" panose="02020603050405020304" pitchFamily="18" charset="0"/>
                  </a:rPr>
                  <a:t>，即顶点到自身没有边相连。</a:t>
                </a:r>
              </a:p>
              <a:p>
                <a:pPr marL="285750" indent="-285750">
                  <a:buFont typeface="Wingdings" panose="05000000000000000000" pitchFamily="2" charset="2"/>
                  <a:buChar char="Ø"/>
                </a:pPr>
                <a:endParaRPr lang="zh-CN" altLang="en-US" dirty="0"/>
              </a:p>
            </p:txBody>
          </p:sp>
        </mc:Choice>
        <mc:Fallback xmlns="">
          <p:sp>
            <p:nvSpPr>
              <p:cNvPr id="9" name="文本框 8"/>
              <p:cNvSpPr txBox="1">
                <a:spLocks noRot="1" noChangeAspect="1" noMove="1" noResize="1" noEditPoints="1" noAdjustHandles="1" noChangeArrowheads="1" noChangeShapeType="1" noTextEdit="1"/>
              </p:cNvSpPr>
              <p:nvPr/>
            </p:nvSpPr>
            <p:spPr>
              <a:xfrm>
                <a:off x="696432" y="1276530"/>
                <a:ext cx="11259708" cy="2446824"/>
              </a:xfrm>
              <a:prstGeom prst="rect">
                <a:avLst/>
              </a:prstGeom>
              <a:blipFill>
                <a:blip r:embed="rId3"/>
                <a:stretch>
                  <a:fillRect l="-704"/>
                </a:stretch>
              </a:blipFill>
            </p:spPr>
            <p:txBody>
              <a:bodyPr/>
              <a:lstStyle/>
              <a:p>
                <a:r>
                  <a:rPr lang="zh-CN" altLang="en-US">
                    <a:noFill/>
                  </a:rPr>
                  <a:t> </a:t>
                </a:r>
              </a:p>
            </p:txBody>
          </p:sp>
        </mc:Fallback>
      </mc:AlternateContent>
      <p:pic>
        <p:nvPicPr>
          <p:cNvPr id="18434" name="Picture 2" descr="http://www.kdocs.cn/api/v3/office/copy/OEVFdlpxaGtUaXFCOFd6ZlgxcDNUMmpjMUt5UXhiY0dKWUhkUzJBNW1hWVhhY0FHRkxXczBGSmxqd3hNU1laQUcvSEQ1VWhhRGJJYUhiTjlocFJqTkNqWUFWOS9DSm9TKzJzS3cvSDlGRUdYbEJ6c0lFK1lZQzFObWhDU2Y3VDhZbjIzQXpGVWYyUmxwZk05SVFrQVI2K3hwanRyK3FCdjhqdlZCTE9OajYxcVNpS3VLSkE4SStJc3B4MW5tc2hndWVZQmhvVWJNN1hucHZkdTczMi9ldW9GMHJad0wvN2h6Wk9hOEpkMGovV2MycDlGRVhtd2c4MEFwbHNFY2JQeHh6RTNPc3lBZC9ZPQ==/attach/object/1d34a7667c34e054cc745385fa322bcf1aa0724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8443" y="3723354"/>
            <a:ext cx="6145836" cy="2756588"/>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36">
            <a:extLst>
              <a:ext uri="{FF2B5EF4-FFF2-40B4-BE49-F238E27FC236}">
                <a16:creationId xmlns:a16="http://schemas.microsoft.com/office/drawing/2014/main" id="{20A735BA-D4FF-48B1-8FE1-D34076AD3CD6}"/>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093692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96432" y="996472"/>
            <a:ext cx="10515600" cy="518958"/>
          </a:xfrm>
        </p:spPr>
        <p:txBody>
          <a:bodyPr>
            <a:normAutofit/>
          </a:bodyPr>
          <a:lstStyle/>
          <a:p>
            <a:r>
              <a:rPr lang="zh-CN" altLang="zh-CN" dirty="0"/>
              <a:t>邻接矩阵</a:t>
            </a:r>
            <a:r>
              <a:rPr lang="zh-CN" altLang="en-US" dirty="0"/>
              <a:t>和加权邻接矩阵的优缺点</a:t>
            </a:r>
          </a:p>
        </p:txBody>
      </p:sp>
      <p:sp>
        <p:nvSpPr>
          <p:cNvPr id="9" name="文本框 8"/>
          <p:cNvSpPr txBox="1"/>
          <p:nvPr/>
        </p:nvSpPr>
        <p:spPr>
          <a:xfrm>
            <a:off x="961697" y="1639137"/>
            <a:ext cx="9601200" cy="3539430"/>
          </a:xfrm>
          <a:prstGeom prst="rect">
            <a:avLst/>
          </a:prstGeom>
          <a:noFill/>
        </p:spPr>
        <p:txBody>
          <a:bodyPr wrap="square" rtlCol="0">
            <a:spAutoFit/>
          </a:bodyPr>
          <a:lstStyle/>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判断任意二个顶点</a:t>
            </a:r>
            <a:r>
              <a:rPr lang="zh-CN" altLang="zh-CN" sz="2400" dirty="0">
                <a:latin typeface="Times New Roman" panose="02020603050405020304" pitchFamily="18" charset="0"/>
                <a:cs typeface="Times New Roman" panose="02020603050405020304" pitchFamily="18" charset="0"/>
              </a:rPr>
              <a:t>v</a:t>
            </a:r>
            <a:r>
              <a:rPr lang="zh-CN" altLang="zh-CN" sz="4400" baseline="-30000" dirty="0">
                <a:latin typeface="Times New Roman" panose="02020603050405020304" pitchFamily="18" charset="0"/>
                <a:cs typeface="Times New Roman" panose="02020603050405020304" pitchFamily="18" charset="0"/>
              </a:rPr>
              <a:t>i</a:t>
            </a:r>
            <a:r>
              <a:rPr lang="zh-CN" altLang="zh-CN" sz="2400" dirty="0">
                <a:latin typeface="宋体" panose="02010600030101010101" pitchFamily="2" charset="-122"/>
                <a:cs typeface="Times New Roman" panose="02020603050405020304" pitchFamily="18" charset="0"/>
              </a:rPr>
              <a:t>和</a:t>
            </a:r>
            <a:r>
              <a:rPr lang="zh-CN" altLang="zh-CN" sz="2400" dirty="0">
                <a:latin typeface="Times New Roman" panose="02020603050405020304" pitchFamily="18" charset="0"/>
                <a:cs typeface="Times New Roman" panose="02020603050405020304" pitchFamily="18" charset="0"/>
              </a:rPr>
              <a:t>v</a:t>
            </a:r>
            <a:r>
              <a:rPr lang="zh-CN" altLang="zh-CN" sz="4400" baseline="-30000" dirty="0">
                <a:latin typeface="Times New Roman" panose="02020603050405020304" pitchFamily="18" charset="0"/>
                <a:cs typeface="Times New Roman" panose="02020603050405020304" pitchFamily="18" charset="0"/>
              </a:rPr>
              <a:t>j</a:t>
            </a:r>
            <a:r>
              <a:rPr lang="zh-CN" altLang="zh-CN" sz="2400" dirty="0">
                <a:latin typeface="宋体" panose="02010600030101010101" pitchFamily="2" charset="-122"/>
                <a:cs typeface="Times New Roman" panose="02020603050405020304" pitchFamily="18" charset="0"/>
              </a:rPr>
              <a:t>之间是否存在一条边非常容易，直接看</a:t>
            </a:r>
            <a:r>
              <a:rPr lang="zh-CN" altLang="zh-CN" sz="2400" dirty="0">
                <a:latin typeface="Times New Roman" panose="02020603050405020304" pitchFamily="18" charset="0"/>
                <a:cs typeface="Times New Roman" panose="02020603050405020304" pitchFamily="18" charset="0"/>
              </a:rPr>
              <a:t>a[i][j]</a:t>
            </a:r>
            <a:r>
              <a:rPr lang="zh-CN" altLang="zh-CN" sz="2400" dirty="0">
                <a:latin typeface="宋体" panose="02010600030101010101" pitchFamily="2" charset="-122"/>
                <a:cs typeface="Times New Roman" panose="02020603050405020304" pitchFamily="18" charset="0"/>
              </a:rPr>
              <a:t>，</a:t>
            </a:r>
            <a:r>
              <a:rPr lang="zh-CN" altLang="zh-CN" sz="2400" dirty="0">
                <a:latin typeface="Times New Roman" panose="02020603050405020304" pitchFamily="18" charset="0"/>
                <a:cs typeface="Times New Roman" panose="02020603050405020304" pitchFamily="18" charset="0"/>
              </a:rPr>
              <a:t>O(1)</a:t>
            </a:r>
            <a:r>
              <a:rPr lang="zh-CN" altLang="zh-CN" sz="2400" dirty="0">
                <a:latin typeface="宋体" panose="02010600030101010101" pitchFamily="2" charset="-122"/>
                <a:cs typeface="Times New Roman" panose="02020603050405020304" pitchFamily="18" charset="0"/>
              </a:rPr>
              <a:t>的时间</a:t>
            </a:r>
            <a:r>
              <a:rPr lang="zh-CN" altLang="en-US" sz="2400" dirty="0">
                <a:latin typeface="宋体" panose="02010600030101010101" pitchFamily="2" charset="-122"/>
                <a:cs typeface="Times New Roman" panose="02020603050405020304" pitchFamily="18" charset="0"/>
              </a:rPr>
              <a:t>复杂度</a:t>
            </a:r>
            <a:r>
              <a:rPr lang="zh-CN" altLang="zh-CN" sz="2400" dirty="0">
                <a:latin typeface="宋体" panose="02010600030101010101" pitchFamily="2" charset="-122"/>
                <a:cs typeface="Times New Roman" panose="02020603050405020304" pitchFamily="18" charset="0"/>
              </a:rPr>
              <a:t>。</a:t>
            </a:r>
            <a:endParaRPr lang="en-US" altLang="zh-CN" sz="2400" dirty="0">
              <a:latin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在用邻接矩阵表示无向图和有向图时，可以很容易地得到顶点的度或者出度、入度。</a:t>
            </a:r>
            <a:endParaRPr lang="en-US" altLang="zh-CN" sz="2400" dirty="0">
              <a:latin typeface="宋体" panose="02010600030101010101" pitchFamily="2" charset="-122"/>
              <a:cs typeface="Times New Roman" panose="02020603050405020304" pitchFamily="18" charset="0"/>
            </a:endParaRPr>
          </a:p>
          <a:p>
            <a:pPr marL="457200" indent="-457200" eaLnBrk="0" fontAlgn="base" hangingPunct="0">
              <a:lnSpc>
                <a:spcPct val="150000"/>
              </a:lnSpc>
              <a:spcBef>
                <a:spcPct val="0"/>
              </a:spcBef>
              <a:spcAft>
                <a:spcPct val="0"/>
              </a:spcAft>
              <a:buFont typeface="Wingdings" panose="05000000000000000000" pitchFamily="2" charset="2"/>
              <a:buChar char="Ø"/>
            </a:pPr>
            <a:r>
              <a:rPr lang="zh-CN" altLang="en-US" sz="2400" dirty="0">
                <a:latin typeface="宋体" panose="02010600030101010101" pitchFamily="2" charset="-122"/>
                <a:cs typeface="Times New Roman" panose="02020603050405020304" pitchFamily="18" charset="0"/>
              </a:rPr>
              <a:t>当</a:t>
            </a:r>
            <a:r>
              <a:rPr lang="zh-CN" altLang="zh-CN" sz="2400" dirty="0">
                <a:latin typeface="宋体" panose="02010600030101010101" pitchFamily="2" charset="-122"/>
                <a:cs typeface="Times New Roman" panose="02020603050405020304" pitchFamily="18" charset="0"/>
              </a:rPr>
              <a:t>边的总数远远小于n</a:t>
            </a:r>
            <a:r>
              <a:rPr lang="zh-CN" altLang="zh-CN" sz="2400" baseline="30000" dirty="0">
                <a:latin typeface="宋体" panose="02010600030101010101" pitchFamily="2" charset="-122"/>
                <a:cs typeface="Times New Roman" panose="02020603050405020304" pitchFamily="18" charset="0"/>
              </a:rPr>
              <a:t>2</a:t>
            </a:r>
            <a:r>
              <a:rPr lang="zh-CN" altLang="zh-CN" sz="2400" dirty="0">
                <a:latin typeface="宋体" panose="02010600030101010101" pitchFamily="2" charset="-122"/>
                <a:cs typeface="Times New Roman" panose="02020603050405020304" pitchFamily="18" charset="0"/>
              </a:rPr>
              <a:t> ，也需n</a:t>
            </a:r>
            <a:r>
              <a:rPr lang="zh-CN" altLang="zh-CN" sz="2400" baseline="30000" dirty="0">
                <a:latin typeface="宋体" panose="02010600030101010101" pitchFamily="2" charset="-122"/>
                <a:cs typeface="Times New Roman" panose="02020603050405020304" pitchFamily="18" charset="0"/>
              </a:rPr>
              <a:t>2</a:t>
            </a:r>
            <a:r>
              <a:rPr lang="zh-CN" altLang="zh-CN" sz="2400" dirty="0">
                <a:latin typeface="宋体" panose="02010600030101010101" pitchFamily="2" charset="-122"/>
                <a:cs typeface="Times New Roman" panose="02020603050405020304" pitchFamily="18" charset="0"/>
              </a:rPr>
              <a:t> 个内存单元来存储边的信息，空间消耗太大。</a:t>
            </a:r>
            <a:endParaRPr lang="zh-CN" altLang="zh-CN" sz="4800" dirty="0">
              <a:latin typeface="Arial" panose="020B0604020202020204" pitchFamily="34" charset="0"/>
            </a:endParaRPr>
          </a:p>
        </p:txBody>
      </p:sp>
      <p:sp>
        <p:nvSpPr>
          <p:cNvPr id="6" name="TextBox 36">
            <a:extLst>
              <a:ext uri="{FF2B5EF4-FFF2-40B4-BE49-F238E27FC236}">
                <a16:creationId xmlns:a16="http://schemas.microsoft.com/office/drawing/2014/main" id="{57933D62-7D61-4744-98D5-BE539651949C}"/>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65834111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96432" y="942010"/>
            <a:ext cx="10515600" cy="518958"/>
          </a:xfrm>
        </p:spPr>
        <p:txBody>
          <a:bodyPr>
            <a:normAutofit/>
          </a:bodyPr>
          <a:lstStyle/>
          <a:p>
            <a:r>
              <a:rPr lang="zh-CN" altLang="en-US" dirty="0"/>
              <a:t>邻接矩阵的适应情况和特殊图的存储处理</a:t>
            </a:r>
          </a:p>
        </p:txBody>
      </p:sp>
      <p:sp>
        <p:nvSpPr>
          <p:cNvPr id="9" name="文本框 8"/>
          <p:cNvSpPr txBox="1"/>
          <p:nvPr/>
        </p:nvSpPr>
        <p:spPr>
          <a:xfrm>
            <a:off x="696432" y="1430924"/>
            <a:ext cx="10846676" cy="4524315"/>
          </a:xfrm>
          <a:prstGeom prst="rect">
            <a:avLst/>
          </a:prstGeom>
          <a:noFill/>
        </p:spPr>
        <p:txBody>
          <a:bodyPr wrap="square" rtlCol="0">
            <a:spAutoFit/>
          </a:bodyPr>
          <a:lstStyle/>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solidFill>
                  <a:srgbClr val="000000"/>
                </a:solidFill>
                <a:latin typeface="宋体" panose="02010600030101010101" pitchFamily="2" charset="-122"/>
                <a:cs typeface="Times New Roman" panose="02020603050405020304" pitchFamily="18" charset="0"/>
              </a:rPr>
              <a:t>如果图是稠密图（边数非常多）</a:t>
            </a:r>
            <a:r>
              <a:rPr lang="zh-CN" altLang="en-US" sz="2400" dirty="0">
                <a:solidFill>
                  <a:srgbClr val="000000"/>
                </a:solidFill>
                <a:latin typeface="宋体" panose="02010600030101010101" pitchFamily="2" charset="-122"/>
                <a:cs typeface="Times New Roman" panose="02020603050405020304" pitchFamily="18" charset="0"/>
              </a:rPr>
              <a:t>：</a:t>
            </a:r>
            <a:endParaRPr lang="en-US" altLang="zh-CN" sz="2400" dirty="0">
              <a:solidFill>
                <a:srgbClr val="000000"/>
              </a:solidFill>
              <a:latin typeface="宋体" panose="02010600030101010101" pitchFamily="2" charset="-122"/>
              <a:cs typeface="Times New Roman" panose="02020603050405020304" pitchFamily="18" charset="0"/>
            </a:endParaRPr>
          </a:p>
          <a:p>
            <a:pPr lvl="0" indent="441325" eaLnBrk="0" fontAlgn="base" hangingPunct="0">
              <a:lnSpc>
                <a:spcPct val="150000"/>
              </a:lnSpc>
              <a:spcBef>
                <a:spcPct val="0"/>
              </a:spcBef>
              <a:spcAft>
                <a:spcPct val="0"/>
              </a:spcAft>
            </a:pPr>
            <a:r>
              <a:rPr lang="zh-CN" altLang="zh-CN" sz="2400" dirty="0">
                <a:solidFill>
                  <a:srgbClr val="000000"/>
                </a:solidFill>
                <a:latin typeface="宋体" panose="02010600030101010101" pitchFamily="2" charset="-122"/>
                <a:cs typeface="Times New Roman" panose="02020603050405020304" pitchFamily="18" charset="0"/>
              </a:rPr>
              <a:t>对有向图，采用邻接矩阵是合适的</a:t>
            </a:r>
            <a:r>
              <a:rPr lang="zh-CN" altLang="en-US" sz="2400" dirty="0">
                <a:solidFill>
                  <a:srgbClr val="000000"/>
                </a:solidFill>
                <a:latin typeface="宋体" panose="02010600030101010101" pitchFamily="2" charset="-122"/>
                <a:cs typeface="Times New Roman" panose="02020603050405020304" pitchFamily="18" charset="0"/>
              </a:rPr>
              <a:t>。</a:t>
            </a:r>
            <a:endParaRPr lang="zh-CN" altLang="zh-CN" sz="4800" dirty="0">
              <a:latin typeface="Arial" panose="020B0604020202020204" pitchFamily="34" charset="0"/>
            </a:endParaRPr>
          </a:p>
          <a:p>
            <a:pPr lvl="0" indent="441325" eaLnBrk="0" fontAlgn="base" hangingPunct="0">
              <a:lnSpc>
                <a:spcPct val="150000"/>
              </a:lnSpc>
              <a:spcBef>
                <a:spcPct val="0"/>
              </a:spcBef>
              <a:spcAft>
                <a:spcPct val="0"/>
              </a:spcAft>
            </a:pPr>
            <a:r>
              <a:rPr lang="zh-CN" altLang="zh-CN" sz="2400" dirty="0">
                <a:solidFill>
                  <a:srgbClr val="000000"/>
                </a:solidFill>
                <a:latin typeface="宋体" panose="02010600030101010101" pitchFamily="2" charset="-122"/>
                <a:cs typeface="Times New Roman" panose="02020603050405020304" pitchFamily="18" charset="0"/>
              </a:rPr>
              <a:t>对</a:t>
            </a:r>
            <a:r>
              <a:rPr lang="zh-CN" altLang="en-US" sz="2400" dirty="0">
                <a:solidFill>
                  <a:srgbClr val="000000"/>
                </a:solidFill>
                <a:latin typeface="宋体" panose="02010600030101010101" pitchFamily="2" charset="-122"/>
                <a:cs typeface="Times New Roman" panose="02020603050405020304" pitchFamily="18" charset="0"/>
              </a:rPr>
              <a:t>无</a:t>
            </a:r>
            <a:r>
              <a:rPr lang="zh-CN" altLang="zh-CN" sz="2400" dirty="0">
                <a:solidFill>
                  <a:srgbClr val="000000"/>
                </a:solidFill>
                <a:latin typeface="宋体" panose="02010600030101010101" pitchFamily="2" charset="-122"/>
                <a:cs typeface="Times New Roman" panose="02020603050405020304" pitchFamily="18" charset="0"/>
              </a:rPr>
              <a:t>向图，因关于主对角线对称，</a:t>
            </a:r>
            <a:r>
              <a:rPr lang="zh-CN" altLang="zh-CN" sz="2400" dirty="0">
                <a:latin typeface="宋体" panose="02010600030101010101" pitchFamily="2" charset="-122"/>
                <a:cs typeface="Times New Roman" panose="02020603050405020304" pitchFamily="18" charset="0"/>
              </a:rPr>
              <a:t>可只存储</a:t>
            </a:r>
            <a:r>
              <a:rPr lang="zh-CN" altLang="en-US" sz="2400" dirty="0">
                <a:latin typeface="宋体" panose="02010600030101010101" pitchFamily="2" charset="-122"/>
                <a:cs typeface="Times New Roman" panose="02020603050405020304" pitchFamily="18" charset="0"/>
              </a:rPr>
              <a:t>其</a:t>
            </a:r>
            <a:r>
              <a:rPr lang="zh-CN" altLang="zh-CN" sz="2400" dirty="0">
                <a:latin typeface="宋体" panose="02010600030101010101" pitchFamily="2" charset="-122"/>
                <a:cs typeface="Times New Roman" panose="02020603050405020304" pitchFamily="18" charset="0"/>
              </a:rPr>
              <a:t>上三角矩阵或下三角矩阵。</a:t>
            </a:r>
            <a:endParaRPr lang="en-US" altLang="zh-CN" sz="2400" dirty="0">
              <a:latin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solidFill>
                  <a:srgbClr val="000000"/>
                </a:solidFill>
                <a:latin typeface="宋体" panose="02010600030101010101" pitchFamily="2" charset="-122"/>
                <a:cs typeface="Times New Roman" panose="02020603050405020304" pitchFamily="18" charset="0"/>
              </a:rPr>
              <a:t>如果图是稀疏图（边数很少</a:t>
            </a:r>
            <a:r>
              <a:rPr lang="en-US" altLang="zh-CN" sz="2400" dirty="0">
                <a:solidFill>
                  <a:srgbClr val="000000"/>
                </a:solidFill>
                <a:latin typeface="宋体" panose="02010600030101010101" pitchFamily="2" charset="-122"/>
                <a:cs typeface="Times New Roman" panose="02020603050405020304" pitchFamily="18" charset="0"/>
              </a:rPr>
              <a:t>),</a:t>
            </a:r>
            <a:r>
              <a:rPr lang="zh-CN" altLang="zh-CN" sz="2400" dirty="0">
                <a:latin typeface="宋体" panose="02010600030101010101" pitchFamily="2" charset="-122"/>
                <a:cs typeface="Times New Roman" panose="02020603050405020304" pitchFamily="18" charset="0"/>
              </a:rPr>
              <a:t>且非零元素的分布没有规律</a:t>
            </a:r>
            <a:r>
              <a:rPr lang="en-US" altLang="zh-CN" sz="2400" dirty="0">
                <a:latin typeface="宋体" panose="02010600030101010101" pitchFamily="2" charset="-122"/>
                <a:cs typeface="Times New Roman" panose="02020603050405020304" pitchFamily="18" charset="0"/>
              </a:rPr>
              <a:t>:</a:t>
            </a:r>
          </a:p>
          <a:p>
            <a:pPr marL="898525" lvl="0" indent="-457200" eaLnBrk="0" fontAlgn="base" hangingPunct="0">
              <a:lnSpc>
                <a:spcPct val="150000"/>
              </a:lnSpc>
              <a:spcBef>
                <a:spcPct val="0"/>
              </a:spcBef>
              <a:spcAft>
                <a:spcPct val="0"/>
              </a:spcAft>
              <a:buFont typeface="Wingdings" panose="05000000000000000000" pitchFamily="2" charset="2"/>
              <a:buChar char="ü"/>
            </a:pPr>
            <a:r>
              <a:rPr lang="zh-CN" altLang="zh-CN" sz="2400" dirty="0">
                <a:latin typeface="宋体" panose="02010600030101010101" pitchFamily="2" charset="-122"/>
                <a:cs typeface="Times New Roman" panose="02020603050405020304" pitchFamily="18" charset="0"/>
              </a:rPr>
              <a:t>通常的做法是只存储其中的非零元素和非零元素所在的位置，每个非零元素a[i][j]用一个三元组来表示：（i,j, a[i][j]）</a:t>
            </a:r>
            <a:r>
              <a:rPr lang="en-US" altLang="zh-CN" sz="2400" dirty="0">
                <a:latin typeface="宋体" panose="02010600030101010101" pitchFamily="2" charset="-122"/>
                <a:cs typeface="Times New Roman" panose="02020603050405020304" pitchFamily="18" charset="0"/>
              </a:rPr>
              <a:t>.</a:t>
            </a:r>
          </a:p>
          <a:p>
            <a:pPr marL="898525" lvl="0" indent="-457200" eaLnBrk="0" fontAlgn="base" hangingPunct="0">
              <a:lnSpc>
                <a:spcPct val="150000"/>
              </a:lnSpc>
              <a:spcBef>
                <a:spcPct val="0"/>
              </a:spcBef>
              <a:spcAft>
                <a:spcPct val="0"/>
              </a:spcAft>
              <a:buFont typeface="Wingdings" panose="05000000000000000000" pitchFamily="2" charset="2"/>
              <a:buChar char="ü"/>
            </a:pPr>
            <a:r>
              <a:rPr lang="zh-CN" altLang="zh-CN" sz="2400" dirty="0">
                <a:latin typeface="宋体" panose="02010600030101010101" pitchFamily="2" charset="-122"/>
                <a:cs typeface="Times New Roman" panose="02020603050405020304" pitchFamily="18" charset="0"/>
              </a:rPr>
              <a:t>将此三元组按照一定的次序排列，如先按照行序再按照列序排列。</a:t>
            </a:r>
            <a:endParaRPr lang="en-US" altLang="zh-CN" sz="2400" dirty="0">
              <a:latin typeface="宋体" panose="02010600030101010101" pitchFamily="2" charset="-122"/>
              <a:cs typeface="Times New Roman" panose="02020603050405020304" pitchFamily="18" charset="0"/>
            </a:endParaRPr>
          </a:p>
          <a:p>
            <a:pPr marL="898525" lvl="0" indent="-457200" eaLnBrk="0" fontAlgn="base" hangingPunct="0">
              <a:lnSpc>
                <a:spcPct val="150000"/>
              </a:lnSpc>
              <a:spcBef>
                <a:spcPct val="0"/>
              </a:spcBef>
              <a:spcAft>
                <a:spcPct val="0"/>
              </a:spcAft>
              <a:buFont typeface="Wingdings" panose="05000000000000000000" pitchFamily="2" charset="2"/>
              <a:buChar char="ü"/>
            </a:pPr>
            <a:r>
              <a:rPr lang="zh-CN" altLang="zh-CN" sz="2400" dirty="0">
                <a:latin typeface="宋体" panose="02010600030101010101" pitchFamily="2" charset="-122"/>
                <a:cs typeface="Times New Roman" panose="02020603050405020304" pitchFamily="18" charset="0"/>
              </a:rPr>
              <a:t>三元组可以放在顺序表或者链表中。</a:t>
            </a:r>
            <a:endParaRPr lang="zh-CN" altLang="zh-CN" sz="4800" dirty="0">
              <a:latin typeface="Arial" panose="020B0604020202020204" pitchFamily="34" charset="0"/>
            </a:endParaRPr>
          </a:p>
        </p:txBody>
      </p:sp>
      <p:sp>
        <p:nvSpPr>
          <p:cNvPr id="6" name="TextBox 36">
            <a:extLst>
              <a:ext uri="{FF2B5EF4-FFF2-40B4-BE49-F238E27FC236}">
                <a16:creationId xmlns:a16="http://schemas.microsoft.com/office/drawing/2014/main" id="{FF9908B4-70A6-4F54-8CC3-6196CB6394EA}"/>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8878714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96432" y="640872"/>
            <a:ext cx="10515600" cy="518958"/>
          </a:xfrm>
        </p:spPr>
        <p:txBody>
          <a:bodyPr>
            <a:normAutofit/>
          </a:bodyPr>
          <a:lstStyle/>
          <a:p>
            <a:r>
              <a:rPr lang="zh-CN" altLang="en-US" dirty="0"/>
              <a:t>邻接表</a:t>
            </a:r>
          </a:p>
        </p:txBody>
      </p:sp>
      <p:sp>
        <p:nvSpPr>
          <p:cNvPr id="9" name="文本框 8"/>
          <p:cNvSpPr txBox="1"/>
          <p:nvPr/>
        </p:nvSpPr>
        <p:spPr>
          <a:xfrm>
            <a:off x="696432" y="1276530"/>
            <a:ext cx="10846676" cy="3344570"/>
          </a:xfrm>
          <a:prstGeom prst="rect">
            <a:avLst/>
          </a:prstGeom>
          <a:noFill/>
        </p:spPr>
        <p:txBody>
          <a:bodyPr wrap="square" rtlCol="0">
            <a:spAutoFit/>
          </a:bodyPr>
          <a:lstStyle/>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顶点依然用一个一维数组来存储，而边的存储是将由同一个顶点出发的所有边组成一条单链表。</a:t>
            </a:r>
            <a:endParaRPr lang="en-US" altLang="zh-CN" sz="2400" dirty="0">
              <a:latin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存储顶点的一维数组称</a:t>
            </a:r>
            <a:r>
              <a:rPr lang="zh-CN" altLang="zh-CN" sz="2400" b="1" dirty="0">
                <a:latin typeface="宋体" panose="02010600030101010101" pitchFamily="2" charset="-122"/>
                <a:cs typeface="Times New Roman" panose="02020603050405020304" pitchFamily="18" charset="0"/>
              </a:rPr>
              <a:t>顶点表</a:t>
            </a:r>
            <a:r>
              <a:rPr lang="zh-CN" altLang="zh-CN" sz="2400" dirty="0">
                <a:latin typeface="宋体" panose="02010600030101010101" pitchFamily="2" charset="-122"/>
                <a:cs typeface="Times New Roman" panose="02020603050405020304" pitchFamily="18" charset="0"/>
              </a:rPr>
              <a:t>，存储边信息的单链表称</a:t>
            </a:r>
            <a:r>
              <a:rPr lang="zh-CN" altLang="zh-CN" sz="2400" b="1" dirty="0">
                <a:latin typeface="宋体" panose="02010600030101010101" pitchFamily="2" charset="-122"/>
                <a:cs typeface="Times New Roman" panose="02020603050405020304" pitchFamily="18" charset="0"/>
              </a:rPr>
              <a:t>边表</a:t>
            </a:r>
            <a:r>
              <a:rPr lang="zh-CN" altLang="zh-CN" sz="2400" dirty="0">
                <a:latin typeface="宋体" panose="02010600030101010101" pitchFamily="2" charset="-122"/>
                <a:cs typeface="Times New Roman" panose="02020603050405020304" pitchFamily="18" charset="0"/>
              </a:rPr>
              <a:t>。一个图由顶点表和边表共同表示。</a:t>
            </a:r>
            <a:endParaRPr lang="en-US" altLang="zh-CN" sz="2400" dirty="0">
              <a:latin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顶点表不仅保存各个顶点的信息，还保存由该顶点射出的边形成的单链表中首结点的地址（首指针），这种方法称</a:t>
            </a:r>
            <a:r>
              <a:rPr lang="zh-CN" altLang="zh-CN" sz="2400" b="1" dirty="0">
                <a:latin typeface="宋体" panose="02010600030101010101" pitchFamily="2" charset="-122"/>
                <a:cs typeface="Times New Roman" panose="02020603050405020304" pitchFamily="18" charset="0"/>
              </a:rPr>
              <a:t>邻接表</a:t>
            </a:r>
            <a:r>
              <a:rPr lang="zh-CN" altLang="zh-CN" sz="2400" dirty="0">
                <a:latin typeface="宋体" panose="02010600030101010101" pitchFamily="2" charset="-122"/>
                <a:cs typeface="Times New Roman" panose="02020603050405020304" pitchFamily="18" charset="0"/>
              </a:rPr>
              <a:t>表示法。</a:t>
            </a:r>
            <a:endParaRPr lang="zh-CN" altLang="zh-CN" sz="4800" dirty="0">
              <a:latin typeface="Arial" panose="020B0604020202020204" pitchFamily="34" charset="0"/>
            </a:endParaRPr>
          </a:p>
        </p:txBody>
      </p:sp>
      <p:pic>
        <p:nvPicPr>
          <p:cNvPr id="21506" name="Picture 2" descr="http://www.kdocs.cn/api/v3/office/copy/OEVFdlpxaGtUaXFCOFd6ZlgxcDNUMmpjMUt5UXhiY0dKWUhkUzJBNW1hWVhhY0FHRkxXczBGSmxqd3hNU1laQUcvSEQ1VWhhRGJJYUhiTjlocFJqTkNqWUFWOS9DSm9TKzJzS3cvSDlGRUdYbEJ6c0lFK1lZQzFObWhDU2Y3VDhZbjIzQXpGVWYyUmxwZk05SVFrQVI2K3hwanRyK3FCdjhqdlZCTE9OajYxcVNpS3VLSkE4SStJc3B4MW5tc2hndWVZQmhvVWJNN1hucHZkdTczMi9ldW9GMHJad0wvN2h6Wk9hOEpkMGovV2MycDlGRVhtd2c4MEFwbHNFY2JQeHh6RTNPc3lBZC9ZPQ==/attach/object/3b1e800f7b3b23b5f8fe3990defccf03032a5bf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29986" y="4730179"/>
            <a:ext cx="4015325" cy="1636201"/>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36">
            <a:extLst>
              <a:ext uri="{FF2B5EF4-FFF2-40B4-BE49-F238E27FC236}">
                <a16:creationId xmlns:a16="http://schemas.microsoft.com/office/drawing/2014/main" id="{713E23DA-C339-4B3C-9223-3833F8BFCF45}"/>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71861539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96432" y="640872"/>
            <a:ext cx="10515600" cy="518958"/>
          </a:xfrm>
        </p:spPr>
        <p:txBody>
          <a:bodyPr>
            <a:normAutofit/>
          </a:bodyPr>
          <a:lstStyle/>
          <a:p>
            <a:r>
              <a:rPr lang="zh-CN" altLang="en-US" dirty="0"/>
              <a:t>邻接表</a:t>
            </a:r>
          </a:p>
        </p:txBody>
      </p:sp>
      <p:pic>
        <p:nvPicPr>
          <p:cNvPr id="21506" name="Picture 2" descr="http://www.kdocs.cn/api/v3/office/copy/OEVFdlpxaGtUaXFCOFd6ZlgxcDNUMmpjMUt5UXhiY0dKWUhkUzJBNW1hWVhhY0FHRkxXczBGSmxqd3hNU1laQUcvSEQ1VWhhRGJJYUhiTjlocFJqTkNqWUFWOS9DSm9TKzJzS3cvSDlGRUdYbEJ6c0lFK1lZQzFObWhDU2Y3VDhZbjIzQXpGVWYyUmxwZk05SVFrQVI2K3hwanRyK3FCdjhqdlZCTE9OajYxcVNpS3VLSkE4SStJc3B4MW5tc2hndWVZQmhvVWJNN1hucHZkdTczMi9ldW9GMHJad0wvN2h6Wk9hOEpkMGovV2MycDlGRVhtd2c4MEFwbHNFY2JQeHh6RTNPc3lBZC9ZPQ==/attach/object/3b1e800f7b3b23b5f8fe3990defccf03032a5bf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79645" y="1908152"/>
            <a:ext cx="8819903" cy="3594014"/>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36">
            <a:extLst>
              <a:ext uri="{FF2B5EF4-FFF2-40B4-BE49-F238E27FC236}">
                <a16:creationId xmlns:a16="http://schemas.microsoft.com/office/drawing/2014/main" id="{A06DE92D-0AE9-44FF-8482-D95AB7240DFF}"/>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0627898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邻接表存储特点</a:t>
            </a:r>
          </a:p>
        </p:txBody>
      </p:sp>
      <p:sp>
        <p:nvSpPr>
          <p:cNvPr id="9" name="文本框 8"/>
          <p:cNvSpPr txBox="1"/>
          <p:nvPr/>
        </p:nvSpPr>
        <p:spPr>
          <a:xfrm>
            <a:off x="672662" y="1609172"/>
            <a:ext cx="10846676" cy="3970318"/>
          </a:xfrm>
          <a:prstGeom prst="rect">
            <a:avLst/>
          </a:prstGeom>
          <a:noFill/>
        </p:spPr>
        <p:txBody>
          <a:bodyPr wrap="square" rtlCol="0">
            <a:spAutoFit/>
          </a:bodyPr>
          <a:lstStyle/>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仅存储有边的信息，不存储无边信息</a:t>
            </a:r>
            <a:r>
              <a:rPr lang="zh-CN" altLang="en-US" sz="2400" dirty="0">
                <a:latin typeface="宋体" panose="02010600030101010101" pitchFamily="2" charset="-122"/>
                <a:cs typeface="Times New Roman" panose="02020603050405020304" pitchFamily="18" charset="0"/>
              </a:rPr>
              <a:t>，在</a:t>
            </a:r>
            <a:r>
              <a:rPr lang="zh-CN" altLang="zh-CN" sz="2400" dirty="0">
                <a:latin typeface="宋体" panose="02010600030101010101" pitchFamily="2" charset="-122"/>
                <a:cs typeface="Times New Roman" panose="02020603050405020304" pitchFamily="18" charset="0"/>
              </a:rPr>
              <a:t>图比较稀疏的情况下</a:t>
            </a:r>
            <a:r>
              <a:rPr lang="zh-CN" altLang="en-US" sz="2400" dirty="0">
                <a:latin typeface="宋体" panose="02010600030101010101" pitchFamily="2" charset="-122"/>
                <a:cs typeface="Times New Roman" panose="02020603050405020304" pitchFamily="18" charset="0"/>
              </a:rPr>
              <a:t>，</a:t>
            </a:r>
            <a:r>
              <a:rPr lang="zh-CN" altLang="zh-CN" sz="2400" dirty="0">
                <a:latin typeface="宋体" panose="02010600030101010101" pitchFamily="2" charset="-122"/>
                <a:cs typeface="Times New Roman" panose="02020603050405020304" pitchFamily="18" charset="0"/>
              </a:rPr>
              <a:t>空间的利用率大大提高。</a:t>
            </a:r>
            <a:endParaRPr lang="en-US" altLang="zh-CN" sz="2400" dirty="0">
              <a:latin typeface="宋体" panose="02010600030101010101" pitchFamily="2" charset="-122"/>
              <a:cs typeface="Times New Roman" panose="02020603050405020304" pitchFamily="18" charset="0"/>
            </a:endParaRPr>
          </a:p>
          <a:p>
            <a:pPr marL="457200" indent="-457200" eaLnBrk="0" fontAlgn="base" hangingPunct="0">
              <a:lnSpc>
                <a:spcPct val="150000"/>
              </a:lnSpc>
              <a:spcBef>
                <a:spcPct val="0"/>
              </a:spcBef>
              <a:spcAft>
                <a:spcPct val="0"/>
              </a:spcAft>
              <a:buFont typeface="Wingdings" panose="05000000000000000000" pitchFamily="2" charset="2"/>
              <a:buChar char="Ø"/>
              <a:tabLst>
                <a:tab pos="993775" algn="l"/>
              </a:tabLst>
            </a:pPr>
            <a:r>
              <a:rPr lang="zh-CN" altLang="zh-CN" sz="2400" dirty="0">
                <a:latin typeface="宋体" panose="02010600030101010101" pitchFamily="2" charset="-122"/>
                <a:cs typeface="Times New Roman" panose="02020603050405020304" pitchFamily="18" charset="0"/>
              </a:rPr>
              <a:t>无向图，同一条边存储了两次。</a:t>
            </a:r>
            <a:endParaRPr lang="zh-CN" altLang="zh-CN" sz="4800" dirty="0">
              <a:latin typeface="Arial" panose="020B0604020202020204" pitchFamily="34" charset="0"/>
            </a:endParaRPr>
          </a:p>
          <a:p>
            <a:pPr marL="457200" indent="-457200" eaLnBrk="0" fontAlgn="base" hangingPunct="0">
              <a:lnSpc>
                <a:spcPct val="150000"/>
              </a:lnSpc>
              <a:spcBef>
                <a:spcPct val="0"/>
              </a:spcBef>
              <a:spcAft>
                <a:spcPct val="0"/>
              </a:spcAft>
              <a:buFont typeface="Wingdings" panose="05000000000000000000" pitchFamily="2" charset="2"/>
              <a:buChar char="Ø"/>
            </a:pPr>
            <a:r>
              <a:rPr lang="zh-CN" altLang="en-US" sz="2400" dirty="0">
                <a:latin typeface="宋体" panose="02010600030101010101" pitchFamily="2" charset="-122"/>
                <a:cs typeface="Times New Roman" panose="02020603050405020304" pitchFamily="18" charset="0"/>
              </a:rPr>
              <a:t>计算</a:t>
            </a:r>
            <a:r>
              <a:rPr lang="zh-CN" altLang="zh-CN" sz="2400" dirty="0">
                <a:latin typeface="宋体" panose="02010600030101010101" pitchFamily="2" charset="-122"/>
                <a:cs typeface="Times New Roman" panose="02020603050405020304" pitchFamily="18" charset="0"/>
              </a:rPr>
              <a:t>某个顶点</a:t>
            </a:r>
            <a:r>
              <a:rPr lang="zh-CN" altLang="zh-CN" sz="2400"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的出度（有向图）或者度（无向图），</a:t>
            </a:r>
            <a:r>
              <a:rPr lang="zh-CN" altLang="en-US" sz="2400" dirty="0">
                <a:latin typeface="宋体" panose="02010600030101010101" pitchFamily="2" charset="-122"/>
                <a:cs typeface="Times New Roman" panose="02020603050405020304" pitchFamily="18" charset="0"/>
              </a:rPr>
              <a:t>只需</a:t>
            </a:r>
            <a:r>
              <a:rPr lang="zh-CN" altLang="zh-CN" sz="2400" dirty="0">
                <a:latin typeface="宋体" panose="02010600030101010101" pitchFamily="2" charset="-122"/>
                <a:cs typeface="Times New Roman" panose="02020603050405020304" pitchFamily="18" charset="0"/>
              </a:rPr>
              <a:t>遍历该顶点</a:t>
            </a:r>
            <a:r>
              <a:rPr lang="zh-CN" altLang="zh-CN" sz="2400"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指向的边表</a:t>
            </a:r>
            <a:r>
              <a:rPr lang="zh-CN" altLang="en-US" sz="2400" dirty="0">
                <a:latin typeface="宋体" panose="02010600030101010101" pitchFamily="2" charset="-122"/>
                <a:cs typeface="Times New Roman" panose="02020603050405020304" pitchFamily="18" charset="0"/>
              </a:rPr>
              <a:t>，即利于计算出度。</a:t>
            </a:r>
            <a:endParaRPr lang="en-US" altLang="zh-CN" sz="2400" dirty="0">
              <a:latin typeface="宋体" panose="02010600030101010101" pitchFamily="2" charset="-122"/>
              <a:cs typeface="Times New Roman" panose="02020603050405020304" pitchFamily="18" charset="0"/>
            </a:endParaRPr>
          </a:p>
          <a:p>
            <a:pPr marL="457200" indent="-457200" eaLnBrk="0" fontAlgn="base" hangingPunct="0">
              <a:lnSpc>
                <a:spcPct val="150000"/>
              </a:lnSpc>
              <a:spcBef>
                <a:spcPct val="0"/>
              </a:spcBef>
              <a:spcAft>
                <a:spcPct val="0"/>
              </a:spcAft>
              <a:buFont typeface="Wingdings" panose="05000000000000000000" pitchFamily="2" charset="2"/>
              <a:buChar char="Ø"/>
            </a:pPr>
            <a:r>
              <a:rPr lang="zh-CN" altLang="en-US" sz="2400" dirty="0">
                <a:latin typeface="宋体" panose="02010600030101010101" pitchFamily="2" charset="-122"/>
                <a:cs typeface="Times New Roman" panose="02020603050405020304" pitchFamily="18" charset="0"/>
              </a:rPr>
              <a:t>计算</a:t>
            </a:r>
            <a:r>
              <a:rPr lang="zh-CN" altLang="zh-CN" sz="2400" dirty="0">
                <a:latin typeface="宋体" panose="02010600030101010101" pitchFamily="2" charset="-122"/>
                <a:cs typeface="Times New Roman" panose="02020603050405020304" pitchFamily="18" charset="0"/>
              </a:rPr>
              <a:t>某个顶点</a:t>
            </a:r>
            <a:r>
              <a:rPr lang="zh-CN" altLang="zh-CN" sz="2400"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的</a:t>
            </a:r>
            <a:r>
              <a:rPr lang="zh-CN" altLang="en-US" sz="2400" dirty="0">
                <a:latin typeface="宋体" panose="02010600030101010101" pitchFamily="2" charset="-122"/>
                <a:cs typeface="Times New Roman" panose="02020603050405020304" pitchFamily="18" charset="0"/>
              </a:rPr>
              <a:t>入</a:t>
            </a:r>
            <a:r>
              <a:rPr lang="zh-CN" altLang="zh-CN" sz="2400" dirty="0">
                <a:latin typeface="宋体" panose="02010600030101010101" pitchFamily="2" charset="-122"/>
                <a:cs typeface="Times New Roman" panose="02020603050405020304" pitchFamily="18" charset="0"/>
              </a:rPr>
              <a:t>度（有向图）</a:t>
            </a:r>
            <a:r>
              <a:rPr lang="zh-CN" altLang="en-US" sz="2400" dirty="0">
                <a:latin typeface="宋体" panose="02010600030101010101" pitchFamily="2" charset="-122"/>
                <a:cs typeface="Times New Roman" panose="02020603050405020304" pitchFamily="18" charset="0"/>
              </a:rPr>
              <a:t>，需要</a:t>
            </a:r>
            <a:r>
              <a:rPr lang="zh-CN" altLang="zh-CN" sz="2400" dirty="0">
                <a:latin typeface="宋体" panose="02010600030101010101" pitchFamily="2" charset="-122"/>
                <a:cs typeface="Times New Roman" panose="02020603050405020304" pitchFamily="18" charset="0"/>
              </a:rPr>
              <a:t>遍历</a:t>
            </a:r>
            <a:r>
              <a:rPr lang="zh-CN" altLang="en-US" sz="2400" dirty="0">
                <a:latin typeface="宋体" panose="02010600030101010101" pitchFamily="2" charset="-122"/>
                <a:cs typeface="Times New Roman" panose="02020603050405020304" pitchFamily="18" charset="0"/>
              </a:rPr>
              <a:t>所有</a:t>
            </a:r>
            <a:r>
              <a:rPr lang="zh-CN" altLang="zh-CN" sz="2400" dirty="0">
                <a:latin typeface="宋体" panose="02010600030101010101" pitchFamily="2" charset="-122"/>
                <a:cs typeface="Times New Roman" panose="02020603050405020304" pitchFamily="18" charset="0"/>
              </a:rPr>
              <a:t>顶点</a:t>
            </a:r>
            <a:r>
              <a:rPr lang="zh-CN" altLang="zh-CN" sz="2400"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指向的边表</a:t>
            </a:r>
            <a:r>
              <a:rPr lang="zh-CN" altLang="en-US" sz="2400" dirty="0">
                <a:latin typeface="宋体" panose="02010600030101010101" pitchFamily="2" charset="-122"/>
                <a:cs typeface="Times New Roman" panose="02020603050405020304" pitchFamily="18" charset="0"/>
              </a:rPr>
              <a:t>，即不利于计算入度。</a:t>
            </a:r>
            <a:endParaRPr lang="en-US" altLang="zh-CN" sz="2400" dirty="0">
              <a:latin typeface="宋体" panose="02010600030101010101" pitchFamily="2" charset="-122"/>
              <a:cs typeface="Times New Roman" panose="02020603050405020304" pitchFamily="18" charset="0"/>
            </a:endParaRPr>
          </a:p>
        </p:txBody>
      </p:sp>
      <p:sp>
        <p:nvSpPr>
          <p:cNvPr id="6" name="TextBox 36">
            <a:extLst>
              <a:ext uri="{FF2B5EF4-FFF2-40B4-BE49-F238E27FC236}">
                <a16:creationId xmlns:a16="http://schemas.microsoft.com/office/drawing/2014/main" id="{394D5D2C-E4B0-414E-A34B-58770036545C}"/>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00746227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邻接表存储</a:t>
            </a:r>
          </a:p>
        </p:txBody>
      </p:sp>
      <p:sp>
        <p:nvSpPr>
          <p:cNvPr id="9" name="文本框 8"/>
          <p:cNvSpPr txBox="1"/>
          <p:nvPr/>
        </p:nvSpPr>
        <p:spPr>
          <a:xfrm>
            <a:off x="418687" y="1556073"/>
            <a:ext cx="10846676" cy="1113766"/>
          </a:xfrm>
          <a:prstGeom prst="rect">
            <a:avLst/>
          </a:prstGeom>
          <a:noFill/>
        </p:spPr>
        <p:txBody>
          <a:bodyPr wrap="square" rtlCol="0">
            <a:spAutoFit/>
          </a:bodyPr>
          <a:lstStyle/>
          <a:p>
            <a:pPr marL="1970088" lvl="0" indent="-1528763" eaLnBrk="0" fontAlgn="base" hangingPunct="0">
              <a:lnSpc>
                <a:spcPct val="150000"/>
              </a:lnSpc>
              <a:spcBef>
                <a:spcPct val="0"/>
              </a:spcBef>
              <a:spcAft>
                <a:spcPct val="0"/>
              </a:spcAft>
            </a:pPr>
            <a:r>
              <a:rPr lang="zh-CN" altLang="zh-CN" sz="2400" b="1" dirty="0">
                <a:latin typeface="宋体" panose="02010600030101010101" pitchFamily="2" charset="-122"/>
                <a:cs typeface="Times New Roman" panose="02020603050405020304" pitchFamily="18" charset="0"/>
              </a:rPr>
              <a:t>逆邻接表</a:t>
            </a:r>
            <a:r>
              <a:rPr lang="zh-CN" altLang="en-US" sz="2400" dirty="0">
                <a:latin typeface="宋体" panose="02010600030101010101" pitchFamily="2" charset="-122"/>
                <a:cs typeface="Times New Roman" panose="02020603050405020304" pitchFamily="18" charset="0"/>
              </a:rPr>
              <a:t>：</a:t>
            </a:r>
            <a:r>
              <a:rPr lang="zh-CN" altLang="zh-CN" sz="2400" dirty="0">
                <a:latin typeface="宋体" panose="02010600030101010101" pitchFamily="2" charset="-122"/>
                <a:cs typeface="Times New Roman" panose="02020603050405020304" pitchFamily="18" charset="0"/>
              </a:rPr>
              <a:t>有向图的逆邻接表中，顶点表保存该顶点的射入边形成的单链表的首结点地址</a:t>
            </a:r>
            <a:r>
              <a:rPr lang="zh-CN" altLang="en-US" sz="2400" dirty="0">
                <a:latin typeface="宋体" panose="02010600030101010101" pitchFamily="2" charset="-122"/>
                <a:cs typeface="Times New Roman" panose="02020603050405020304" pitchFamily="18" charset="0"/>
              </a:rPr>
              <a:t>，有利于计算顶点的入度</a:t>
            </a:r>
            <a:r>
              <a:rPr lang="zh-CN" altLang="zh-CN" sz="2400" dirty="0">
                <a:latin typeface="宋体" panose="02010600030101010101" pitchFamily="2" charset="-122"/>
                <a:cs typeface="Times New Roman" panose="02020603050405020304" pitchFamily="18" charset="0"/>
              </a:rPr>
              <a:t>。</a:t>
            </a:r>
            <a:endParaRPr lang="en-US" altLang="zh-CN" sz="2400" dirty="0">
              <a:latin typeface="宋体" panose="02010600030101010101" pitchFamily="2" charset="-122"/>
              <a:cs typeface="Times New Roman" panose="02020603050405020304" pitchFamily="18" charset="0"/>
            </a:endParaRPr>
          </a:p>
        </p:txBody>
      </p:sp>
      <p:pic>
        <p:nvPicPr>
          <p:cNvPr id="1026" name="Picture 2" descr="http://www.kdocs.cn/api/v3/office/copy/SnlXZWZFOWRDMGQwcStKZWN1QUZzZFhpdHJlTDZWZjJ4bi9OSnZJeUJ2ekRZOW5ZejlMVjE0ckxxUE15OVp4TDBnMGluTkJjSWlkQmY3Qm1pdHZVUnUxazN3d2I0ZG9Ia0NjZkFwdUFuSlRZSTJkYnpGV0NGNGxZMDY2U1ovUmlscmhqQkZRdDdOQVFQSm5EcCt5elBHeWN2bnBjUzhjazFKblJjTkN6Wk0waXJObjhxZnZzREV5UFdIS0ZmK053Rmd1NHl4alRpeEx3RU1wWjFoUTE5Vk9uMFpYZitEaTVvTXE0Z2luckhwdU52Q2JxL0ZsNTFOVUZRSXNuL3dwOGozUVFOb1o1ZnpvPQ==/attach/object/841e3cc2e2e7fb2afeda925e2756b58e236ce6a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97714" y="2933247"/>
            <a:ext cx="8135618" cy="3218703"/>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36">
            <a:extLst>
              <a:ext uri="{FF2B5EF4-FFF2-40B4-BE49-F238E27FC236}">
                <a16:creationId xmlns:a16="http://schemas.microsoft.com/office/drawing/2014/main" id="{68CBA12D-2D90-4D38-A02E-ACEEE8814D70}"/>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7575677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a:extLst>
              <a:ext uri="{FF2B5EF4-FFF2-40B4-BE49-F238E27FC236}">
                <a16:creationId xmlns:a16="http://schemas.microsoft.com/office/drawing/2014/main" id="{C9571273-4889-41FE-81BD-EA1FF1C2AD12}"/>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6" name="矩形 5">
            <a:extLst>
              <a:ext uri="{FF2B5EF4-FFF2-40B4-BE49-F238E27FC236}">
                <a16:creationId xmlns:a16="http://schemas.microsoft.com/office/drawing/2014/main" id="{B8820008-A933-4C63-9869-D78786896856}"/>
              </a:ext>
            </a:extLst>
          </p:cNvPr>
          <p:cNvSpPr/>
          <p:nvPr/>
        </p:nvSpPr>
        <p:spPr>
          <a:xfrm>
            <a:off x="1346199" y="1483141"/>
            <a:ext cx="7840134" cy="4247317"/>
          </a:xfrm>
          <a:prstGeom prst="rect">
            <a:avLst/>
          </a:prstGeom>
        </p:spPr>
        <p:txBody>
          <a:bodyPr wrap="square">
            <a:spAutoFit/>
          </a:bodyPr>
          <a:lstStyle/>
          <a:p>
            <a:r>
              <a:rPr lang="en-US" altLang="zh-CN" dirty="0">
                <a:latin typeface="Consolas" panose="020B0609020204030204" pitchFamily="49" charset="0"/>
              </a:rPr>
              <a:t>//</a:t>
            </a:r>
            <a:r>
              <a:rPr lang="zh-CN" altLang="en-US" dirty="0">
                <a:latin typeface="Consolas" panose="020B0609020204030204" pitchFamily="49" charset="0"/>
              </a:rPr>
              <a:t>定义边</a:t>
            </a:r>
          </a:p>
          <a:p>
            <a:r>
              <a:rPr lang="en-US" altLang="zh-CN" dirty="0">
                <a:latin typeface="Consolas" panose="020B0609020204030204" pitchFamily="49" charset="0"/>
              </a:rPr>
              <a:t>struct edge{</a:t>
            </a:r>
          </a:p>
          <a:p>
            <a:r>
              <a:rPr lang="en-US" altLang="zh-CN" dirty="0">
                <a:latin typeface="Consolas" panose="020B0609020204030204" pitchFamily="49" charset="0"/>
              </a:rPr>
              <a:t>    int </a:t>
            </a:r>
            <a:r>
              <a:rPr lang="en-US" altLang="zh-CN" dirty="0" err="1">
                <a:latin typeface="Consolas" panose="020B0609020204030204" pitchFamily="49" charset="0"/>
              </a:rPr>
              <a:t>from,to,w</a:t>
            </a:r>
            <a:r>
              <a:rPr lang="en-US" altLang="zh-CN" dirty="0">
                <a:latin typeface="Consolas" panose="020B0609020204030204" pitchFamily="49" charset="0"/>
              </a:rPr>
              <a:t>; //</a:t>
            </a:r>
            <a:r>
              <a:rPr lang="zh-CN" altLang="en-US" dirty="0">
                <a:latin typeface="Consolas" panose="020B0609020204030204" pitchFamily="49" charset="0"/>
              </a:rPr>
              <a:t>边：起点</a:t>
            </a:r>
            <a:r>
              <a:rPr lang="en-US" altLang="zh-CN" dirty="0">
                <a:latin typeface="Consolas" panose="020B0609020204030204" pitchFamily="49" charset="0"/>
              </a:rPr>
              <a:t>from</a:t>
            </a:r>
            <a:r>
              <a:rPr lang="zh-CN" altLang="en-US" dirty="0">
                <a:latin typeface="Consolas" panose="020B0609020204030204" pitchFamily="49" charset="0"/>
              </a:rPr>
              <a:t>，终点</a:t>
            </a:r>
            <a:r>
              <a:rPr lang="en-US" altLang="zh-CN" dirty="0">
                <a:latin typeface="Consolas" panose="020B0609020204030204" pitchFamily="49" charset="0"/>
              </a:rPr>
              <a:t>to</a:t>
            </a:r>
            <a:r>
              <a:rPr lang="zh-CN" altLang="en-US" dirty="0">
                <a:latin typeface="Consolas" panose="020B0609020204030204" pitchFamily="49" charset="0"/>
              </a:rPr>
              <a:t>，权值</a:t>
            </a:r>
            <a:r>
              <a:rPr lang="en-US" altLang="zh-CN" dirty="0">
                <a:latin typeface="Consolas" panose="020B0609020204030204" pitchFamily="49" charset="0"/>
              </a:rPr>
              <a:t>w</a:t>
            </a:r>
          </a:p>
          <a:p>
            <a:r>
              <a:rPr lang="en-US" altLang="zh-CN" dirty="0">
                <a:latin typeface="Consolas" panose="020B0609020204030204" pitchFamily="49" charset="0"/>
              </a:rPr>
              <a:t>    edge(int </a:t>
            </a:r>
            <a:r>
              <a:rPr lang="en-US" altLang="zh-CN" dirty="0" err="1">
                <a:latin typeface="Consolas" panose="020B0609020204030204" pitchFamily="49" charset="0"/>
              </a:rPr>
              <a:t>a,int</a:t>
            </a:r>
            <a:r>
              <a:rPr lang="en-US" altLang="zh-CN" dirty="0">
                <a:latin typeface="Consolas" panose="020B0609020204030204" pitchFamily="49" charset="0"/>
              </a:rPr>
              <a:t> </a:t>
            </a:r>
            <a:r>
              <a:rPr lang="en-US" altLang="zh-CN" dirty="0" err="1">
                <a:latin typeface="Consolas" panose="020B0609020204030204" pitchFamily="49" charset="0"/>
              </a:rPr>
              <a:t>b,int</a:t>
            </a:r>
            <a:r>
              <a:rPr lang="en-US" altLang="zh-CN" dirty="0">
                <a:latin typeface="Consolas" panose="020B0609020204030204" pitchFamily="49" charset="0"/>
              </a:rPr>
              <a:t> c){from=</a:t>
            </a:r>
            <a:r>
              <a:rPr lang="en-US" altLang="zh-CN" dirty="0" err="1">
                <a:latin typeface="Consolas" panose="020B0609020204030204" pitchFamily="49" charset="0"/>
              </a:rPr>
              <a:t>a;to</a:t>
            </a:r>
            <a:r>
              <a:rPr lang="en-US" altLang="zh-CN" dirty="0">
                <a:latin typeface="Consolas" panose="020B0609020204030204" pitchFamily="49" charset="0"/>
              </a:rPr>
              <a:t>=</a:t>
            </a:r>
            <a:r>
              <a:rPr lang="en-US" altLang="zh-CN" dirty="0" err="1">
                <a:latin typeface="Consolas" panose="020B0609020204030204" pitchFamily="49" charset="0"/>
              </a:rPr>
              <a:t>b;w</a:t>
            </a:r>
            <a:r>
              <a:rPr lang="en-US" altLang="zh-CN" dirty="0">
                <a:latin typeface="Consolas" panose="020B0609020204030204" pitchFamily="49" charset="0"/>
              </a:rPr>
              <a:t>=c;}//</a:t>
            </a:r>
            <a:r>
              <a:rPr lang="zh-CN" altLang="en-US" dirty="0">
                <a:latin typeface="Consolas" panose="020B0609020204030204" pitchFamily="49" charset="0"/>
              </a:rPr>
              <a:t>对边赋值</a:t>
            </a:r>
          </a:p>
          <a:p>
            <a:r>
              <a:rPr lang="en-US" altLang="zh-CN" dirty="0">
                <a:latin typeface="Consolas" panose="020B0609020204030204" pitchFamily="49" charset="0"/>
              </a:rPr>
              <a:t>};</a:t>
            </a:r>
          </a:p>
          <a:p>
            <a:r>
              <a:rPr lang="en-US" altLang="zh-CN" dirty="0">
                <a:latin typeface="Consolas" panose="020B0609020204030204" pitchFamily="49" charset="0"/>
              </a:rPr>
              <a:t>vector&lt;edge&gt;e[NUM]; //e[</a:t>
            </a:r>
            <a:r>
              <a:rPr lang="en-US" altLang="zh-CN" dirty="0" err="1">
                <a:latin typeface="Consolas" panose="020B0609020204030204" pitchFamily="49" charset="0"/>
              </a:rPr>
              <a:t>i</a:t>
            </a:r>
            <a:r>
              <a:rPr lang="en-US" altLang="zh-CN" dirty="0">
                <a:latin typeface="Consolas" panose="020B0609020204030204" pitchFamily="49" charset="0"/>
              </a:rPr>
              <a:t>]</a:t>
            </a:r>
            <a:r>
              <a:rPr lang="zh-CN" altLang="en-US" dirty="0">
                <a:latin typeface="Consolas" panose="020B0609020204030204" pitchFamily="49" charset="0"/>
              </a:rPr>
              <a:t>：存第</a:t>
            </a:r>
            <a:r>
              <a:rPr lang="en-US" altLang="zh-CN" dirty="0" err="1">
                <a:latin typeface="Consolas" panose="020B0609020204030204" pitchFamily="49" charset="0"/>
              </a:rPr>
              <a:t>i</a:t>
            </a:r>
            <a:r>
              <a:rPr lang="zh-CN" altLang="en-US" dirty="0">
                <a:latin typeface="Consolas" panose="020B0609020204030204" pitchFamily="49" charset="0"/>
              </a:rPr>
              <a:t>个结点连接的所有边</a:t>
            </a:r>
          </a:p>
          <a:p>
            <a:r>
              <a:rPr lang="en-US" altLang="zh-CN" dirty="0">
                <a:latin typeface="Consolas" panose="020B0609020204030204" pitchFamily="49" charset="0"/>
              </a:rPr>
              <a:t>//</a:t>
            </a:r>
            <a:r>
              <a:rPr lang="zh-CN" altLang="en-US" dirty="0">
                <a:latin typeface="Consolas" panose="020B0609020204030204" pitchFamily="49" charset="0"/>
              </a:rPr>
              <a:t>初始化</a:t>
            </a:r>
          </a:p>
          <a:p>
            <a:r>
              <a:rPr lang="en-US" altLang="zh-CN" dirty="0">
                <a:latin typeface="Consolas" panose="020B0609020204030204" pitchFamily="49" charset="0"/>
              </a:rPr>
              <a:t>for(int </a:t>
            </a:r>
            <a:r>
              <a:rPr lang="en-US" altLang="zh-CN" dirty="0" err="1">
                <a:latin typeface="Consolas" panose="020B0609020204030204" pitchFamily="49" charset="0"/>
              </a:rPr>
              <a:t>i</a:t>
            </a:r>
            <a:r>
              <a:rPr lang="en-US" altLang="zh-CN" dirty="0">
                <a:latin typeface="Consolas" panose="020B0609020204030204" pitchFamily="49" charset="0"/>
              </a:rPr>
              <a:t>=1;i&lt;=</a:t>
            </a:r>
            <a:r>
              <a:rPr lang="en-US" altLang="zh-CN" dirty="0" err="1">
                <a:latin typeface="Consolas" panose="020B0609020204030204" pitchFamily="49" charset="0"/>
              </a:rPr>
              <a:t>n;i</a:t>
            </a:r>
            <a:r>
              <a:rPr lang="en-US" altLang="zh-CN" dirty="0">
                <a:latin typeface="Consolas" panose="020B0609020204030204" pitchFamily="49" charset="0"/>
              </a:rPr>
              <a:t>++)</a:t>
            </a:r>
          </a:p>
          <a:p>
            <a:r>
              <a:rPr lang="en-US" altLang="zh-CN" dirty="0">
                <a:latin typeface="Consolas" panose="020B0609020204030204" pitchFamily="49" charset="0"/>
              </a:rPr>
              <a:t>    e[</a:t>
            </a:r>
            <a:r>
              <a:rPr lang="en-US" altLang="zh-CN" dirty="0" err="1">
                <a:latin typeface="Consolas" panose="020B0609020204030204" pitchFamily="49" charset="0"/>
              </a:rPr>
              <a:t>i</a:t>
            </a:r>
            <a:r>
              <a:rPr lang="en-US" altLang="zh-CN" dirty="0">
                <a:latin typeface="Consolas" panose="020B0609020204030204" pitchFamily="49" charset="0"/>
              </a:rPr>
              <a:t>].clear();</a:t>
            </a:r>
          </a:p>
          <a:p>
            <a:r>
              <a:rPr lang="en-US" altLang="zh-CN" dirty="0">
                <a:latin typeface="Consolas" panose="020B0609020204030204" pitchFamily="49" charset="0"/>
              </a:rPr>
              <a:t>//</a:t>
            </a:r>
            <a:r>
              <a:rPr lang="zh-CN" altLang="en-US" dirty="0">
                <a:latin typeface="Consolas" panose="020B0609020204030204" pitchFamily="49" charset="0"/>
              </a:rPr>
              <a:t>存边</a:t>
            </a:r>
          </a:p>
          <a:p>
            <a:r>
              <a:rPr lang="en-US" altLang="zh-CN" dirty="0">
                <a:latin typeface="Consolas" panose="020B0609020204030204" pitchFamily="49" charset="0"/>
              </a:rPr>
              <a:t>e[a].</a:t>
            </a:r>
            <a:r>
              <a:rPr lang="en-US" altLang="zh-CN" dirty="0" err="1">
                <a:latin typeface="Consolas" panose="020B0609020204030204" pitchFamily="49" charset="0"/>
              </a:rPr>
              <a:t>push_back</a:t>
            </a:r>
            <a:r>
              <a:rPr lang="en-US" altLang="zh-CN" dirty="0">
                <a:latin typeface="Consolas" panose="020B0609020204030204" pitchFamily="49" charset="0"/>
              </a:rPr>
              <a:t>(edge(</a:t>
            </a:r>
            <a:r>
              <a:rPr lang="en-US" altLang="zh-CN" dirty="0" err="1">
                <a:latin typeface="Consolas" panose="020B0609020204030204" pitchFamily="49" charset="0"/>
              </a:rPr>
              <a:t>a,b,c</a:t>
            </a:r>
            <a:r>
              <a:rPr lang="en-US" altLang="zh-CN" dirty="0">
                <a:latin typeface="Consolas" panose="020B0609020204030204" pitchFamily="49" charset="0"/>
              </a:rPr>
              <a:t>)); //</a:t>
            </a:r>
            <a:r>
              <a:rPr lang="zh-CN" altLang="en-US" dirty="0">
                <a:latin typeface="Consolas" panose="020B0609020204030204" pitchFamily="49" charset="0"/>
              </a:rPr>
              <a:t>把边</a:t>
            </a:r>
            <a:r>
              <a:rPr lang="en-US" altLang="zh-CN" dirty="0">
                <a:latin typeface="Consolas" panose="020B0609020204030204" pitchFamily="49" charset="0"/>
              </a:rPr>
              <a:t>(</a:t>
            </a:r>
            <a:r>
              <a:rPr lang="en-US" altLang="zh-CN" dirty="0" err="1">
                <a:latin typeface="Consolas" panose="020B0609020204030204" pitchFamily="49" charset="0"/>
              </a:rPr>
              <a:t>a,b</a:t>
            </a:r>
            <a:r>
              <a:rPr lang="en-US" altLang="zh-CN" dirty="0">
                <a:latin typeface="Consolas" panose="020B0609020204030204" pitchFamily="49" charset="0"/>
              </a:rPr>
              <a:t>)</a:t>
            </a:r>
            <a:r>
              <a:rPr lang="zh-CN" altLang="en-US" dirty="0">
                <a:latin typeface="Consolas" panose="020B0609020204030204" pitchFamily="49" charset="0"/>
              </a:rPr>
              <a:t>存到结点</a:t>
            </a:r>
            <a:r>
              <a:rPr lang="en-US" altLang="zh-CN" dirty="0">
                <a:latin typeface="Consolas" panose="020B0609020204030204" pitchFamily="49" charset="0"/>
              </a:rPr>
              <a:t>a</a:t>
            </a:r>
            <a:r>
              <a:rPr lang="zh-CN" altLang="en-US" dirty="0">
                <a:latin typeface="Consolas" panose="020B0609020204030204" pitchFamily="49" charset="0"/>
              </a:rPr>
              <a:t>的邻接表中</a:t>
            </a:r>
          </a:p>
          <a:p>
            <a:r>
              <a:rPr lang="en-US" altLang="zh-CN" dirty="0">
                <a:latin typeface="Consolas" panose="020B0609020204030204" pitchFamily="49" charset="0"/>
              </a:rPr>
              <a:t>//</a:t>
            </a:r>
            <a:r>
              <a:rPr lang="zh-CN" altLang="en-US" dirty="0">
                <a:latin typeface="Consolas" panose="020B0609020204030204" pitchFamily="49" charset="0"/>
              </a:rPr>
              <a:t>检索结点</a:t>
            </a:r>
            <a:r>
              <a:rPr lang="en-US" altLang="zh-CN" dirty="0">
                <a:latin typeface="Consolas" panose="020B0609020204030204" pitchFamily="49" charset="0"/>
              </a:rPr>
              <a:t>u</a:t>
            </a:r>
            <a:r>
              <a:rPr lang="zh-CN" altLang="en-US" dirty="0">
                <a:latin typeface="Consolas" panose="020B0609020204030204" pitchFamily="49" charset="0"/>
              </a:rPr>
              <a:t>的所有邻居</a:t>
            </a:r>
          </a:p>
          <a:p>
            <a:r>
              <a:rPr lang="en-US" altLang="zh-CN" dirty="0">
                <a:latin typeface="Consolas" panose="020B0609020204030204" pitchFamily="49" charset="0"/>
              </a:rPr>
              <a:t>for(int </a:t>
            </a:r>
            <a:r>
              <a:rPr lang="en-US" altLang="zh-CN" dirty="0" err="1">
                <a:latin typeface="Consolas" panose="020B0609020204030204" pitchFamily="49" charset="0"/>
              </a:rPr>
              <a:t>i</a:t>
            </a:r>
            <a:r>
              <a:rPr lang="en-US" altLang="zh-CN" dirty="0">
                <a:latin typeface="Consolas" panose="020B0609020204030204" pitchFamily="49" charset="0"/>
              </a:rPr>
              <a:t>=0;i&lt;e[u].size();</a:t>
            </a:r>
            <a:r>
              <a:rPr lang="en-US" altLang="zh-CN" dirty="0" err="1">
                <a:latin typeface="Consolas" panose="020B0609020204030204" pitchFamily="49" charset="0"/>
              </a:rPr>
              <a:t>i</a:t>
            </a:r>
            <a:r>
              <a:rPr lang="en-US" altLang="zh-CN" dirty="0">
                <a:latin typeface="Consolas" panose="020B0609020204030204" pitchFamily="49" charset="0"/>
              </a:rPr>
              <a:t>++){//</a:t>
            </a:r>
            <a:r>
              <a:rPr lang="zh-CN" altLang="en-US" dirty="0">
                <a:latin typeface="Consolas" panose="020B0609020204030204" pitchFamily="49" charset="0"/>
              </a:rPr>
              <a:t>结点</a:t>
            </a:r>
            <a:r>
              <a:rPr lang="en-US" altLang="zh-CN" dirty="0">
                <a:latin typeface="Consolas" panose="020B0609020204030204" pitchFamily="49" charset="0"/>
              </a:rPr>
              <a:t>u</a:t>
            </a:r>
            <a:r>
              <a:rPr lang="zh-CN" altLang="en-US" dirty="0">
                <a:latin typeface="Consolas" panose="020B0609020204030204" pitchFamily="49" charset="0"/>
              </a:rPr>
              <a:t>的邻居有</a:t>
            </a:r>
            <a:r>
              <a:rPr lang="en-US" altLang="zh-CN" dirty="0">
                <a:latin typeface="Consolas" panose="020B0609020204030204" pitchFamily="49" charset="0"/>
              </a:rPr>
              <a:t>e[u].size()</a:t>
            </a:r>
            <a:r>
              <a:rPr lang="zh-CN" altLang="en-US" dirty="0">
                <a:latin typeface="Consolas" panose="020B0609020204030204" pitchFamily="49" charset="0"/>
              </a:rPr>
              <a:t>个</a:t>
            </a:r>
          </a:p>
          <a:p>
            <a:r>
              <a:rPr lang="zh-CN" altLang="en-US" dirty="0">
                <a:latin typeface="Consolas" panose="020B0609020204030204" pitchFamily="49" charset="0"/>
              </a:rPr>
              <a:t>    </a:t>
            </a:r>
            <a:r>
              <a:rPr lang="en-US" altLang="zh-CN" dirty="0">
                <a:latin typeface="Consolas" panose="020B0609020204030204" pitchFamily="49" charset="0"/>
              </a:rPr>
              <a:t>...</a:t>
            </a:r>
          </a:p>
          <a:p>
            <a:r>
              <a:rPr lang="en-US" altLang="zh-CN" dirty="0">
                <a:latin typeface="Consolas" panose="020B0609020204030204" pitchFamily="49" charset="0"/>
              </a:rPr>
              <a:t>}</a:t>
            </a:r>
            <a:endParaRPr lang="zh-CN" altLang="en-US" dirty="0">
              <a:latin typeface="Consolas" panose="020B0609020204030204" pitchFamily="49" charset="0"/>
            </a:endParaRPr>
          </a:p>
        </p:txBody>
      </p:sp>
    </p:spTree>
    <p:extLst>
      <p:ext uri="{BB962C8B-B14F-4D97-AF65-F5344CB8AC3E}">
        <p14:creationId xmlns:p14="http://schemas.microsoft.com/office/powerpoint/2010/main" val="184346613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a:extLst>
              <a:ext uri="{FF2B5EF4-FFF2-40B4-BE49-F238E27FC236}">
                <a16:creationId xmlns:a16="http://schemas.microsoft.com/office/drawing/2014/main" id="{C9571273-4889-41FE-81BD-EA1FF1C2AD12}"/>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图的存储实现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链式前向星</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pic>
        <p:nvPicPr>
          <p:cNvPr id="16386" name="Picture 2" descr="https://pica.zhimg.com/v2-2d4d635cb722bca7952dbbc974acf562_r.jpg">
            <a:extLst>
              <a:ext uri="{FF2B5EF4-FFF2-40B4-BE49-F238E27FC236}">
                <a16:creationId xmlns:a16="http://schemas.microsoft.com/office/drawing/2014/main" id="{2B1A7221-F458-4285-9702-7CAAE183972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4986" r="9252" b="12839"/>
          <a:stretch/>
        </p:blipFill>
        <p:spPr bwMode="auto">
          <a:xfrm>
            <a:off x="474133" y="2141409"/>
            <a:ext cx="4682067" cy="3296708"/>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a:extLst>
              <a:ext uri="{FF2B5EF4-FFF2-40B4-BE49-F238E27FC236}">
                <a16:creationId xmlns:a16="http://schemas.microsoft.com/office/drawing/2014/main" id="{76D7BA75-E536-4962-A9FD-70F744784176}"/>
              </a:ext>
            </a:extLst>
          </p:cNvPr>
          <p:cNvSpPr/>
          <p:nvPr/>
        </p:nvSpPr>
        <p:spPr>
          <a:xfrm>
            <a:off x="5334001" y="1373717"/>
            <a:ext cx="6768222" cy="4832092"/>
          </a:xfrm>
          <a:prstGeom prst="rect">
            <a:avLst/>
          </a:prstGeom>
        </p:spPr>
        <p:txBody>
          <a:bodyPr wrap="square">
            <a:spAutoFit/>
          </a:bodyPr>
          <a:lstStyle/>
          <a:p>
            <a:r>
              <a:rPr lang="en-US" altLang="zh-CN" sz="1400" dirty="0">
                <a:latin typeface="Consolas" panose="020B0609020204030204" pitchFamily="49" charset="0"/>
              </a:rPr>
              <a:t>const int NUM=1000005; //</a:t>
            </a:r>
            <a:r>
              <a:rPr lang="zh-CN" altLang="en-US" sz="1400" dirty="0">
                <a:latin typeface="Consolas" panose="020B0609020204030204" pitchFamily="49" charset="0"/>
              </a:rPr>
              <a:t>一百万个点，一百万个边</a:t>
            </a:r>
          </a:p>
          <a:p>
            <a:r>
              <a:rPr lang="en-US" altLang="zh-CN" sz="1400" dirty="0">
                <a:latin typeface="Consolas" panose="020B0609020204030204" pitchFamily="49" charset="0"/>
              </a:rPr>
              <a:t>struct Edge{</a:t>
            </a:r>
          </a:p>
          <a:p>
            <a:r>
              <a:rPr lang="en-US" altLang="zh-CN" sz="1400" dirty="0">
                <a:latin typeface="Consolas" panose="020B0609020204030204" pitchFamily="49" charset="0"/>
              </a:rPr>
              <a:t>    int </a:t>
            </a:r>
            <a:r>
              <a:rPr lang="en-US" altLang="zh-CN" sz="1400" dirty="0" err="1">
                <a:latin typeface="Consolas" panose="020B0609020204030204" pitchFamily="49" charset="0"/>
              </a:rPr>
              <a:t>to,next,w</a:t>
            </a:r>
            <a:r>
              <a:rPr lang="en-US" altLang="zh-CN" sz="1400" dirty="0">
                <a:latin typeface="Consolas" panose="020B0609020204030204" pitchFamily="49" charset="0"/>
              </a:rPr>
              <a:t>; //</a:t>
            </a:r>
            <a:r>
              <a:rPr lang="zh-CN" altLang="en-US" sz="1400" dirty="0">
                <a:latin typeface="Consolas" panose="020B0609020204030204" pitchFamily="49" charset="0"/>
              </a:rPr>
              <a:t>边：终点</a:t>
            </a:r>
            <a:r>
              <a:rPr lang="en-US" altLang="zh-CN" sz="1400" dirty="0">
                <a:latin typeface="Consolas" panose="020B0609020204030204" pitchFamily="49" charset="0"/>
              </a:rPr>
              <a:t>to</a:t>
            </a:r>
            <a:r>
              <a:rPr lang="zh-CN" altLang="en-US" sz="1400" dirty="0">
                <a:latin typeface="Consolas" panose="020B0609020204030204" pitchFamily="49" charset="0"/>
              </a:rPr>
              <a:t>、权值</a:t>
            </a:r>
            <a:r>
              <a:rPr lang="en-US" altLang="zh-CN" sz="1400" dirty="0">
                <a:latin typeface="Consolas" panose="020B0609020204030204" pitchFamily="49" charset="0"/>
              </a:rPr>
              <a:t>w</a:t>
            </a:r>
            <a:r>
              <a:rPr lang="zh-CN" altLang="en-US" sz="1400" dirty="0">
                <a:latin typeface="Consolas" panose="020B0609020204030204" pitchFamily="49" charset="0"/>
              </a:rPr>
              <a:t>、下一个边</a:t>
            </a:r>
            <a:r>
              <a:rPr lang="en-US" altLang="zh-CN" sz="1400" dirty="0">
                <a:latin typeface="Consolas" panose="020B0609020204030204" pitchFamily="49" charset="0"/>
              </a:rPr>
              <a:t>next</a:t>
            </a:r>
            <a:r>
              <a:rPr lang="zh-CN" altLang="en-US" sz="1400" dirty="0">
                <a:latin typeface="Consolas" panose="020B0609020204030204" pitchFamily="49" charset="0"/>
              </a:rPr>
              <a:t>，起点放在</a:t>
            </a:r>
            <a:r>
              <a:rPr lang="en-US" altLang="zh-CN" sz="1400" dirty="0">
                <a:latin typeface="Consolas" panose="020B0609020204030204" pitchFamily="49" charset="0"/>
              </a:rPr>
              <a:t>head[]</a:t>
            </a:r>
            <a:r>
              <a:rPr lang="zh-CN" altLang="en-US" sz="1400" dirty="0">
                <a:latin typeface="Consolas" panose="020B0609020204030204" pitchFamily="49" charset="0"/>
              </a:rPr>
              <a:t>中</a:t>
            </a:r>
          </a:p>
          <a:p>
            <a:r>
              <a:rPr lang="en-US" altLang="zh-CN" sz="1400" dirty="0">
                <a:latin typeface="Consolas" panose="020B0609020204030204" pitchFamily="49" charset="0"/>
              </a:rPr>
              <a:t>}edge[NUM];</a:t>
            </a:r>
          </a:p>
          <a:p>
            <a:r>
              <a:rPr lang="en-US" altLang="zh-CN" sz="1400" dirty="0">
                <a:latin typeface="Consolas" panose="020B0609020204030204" pitchFamily="49" charset="0"/>
              </a:rPr>
              <a:t>int head[NUM];  //head[u]</a:t>
            </a:r>
            <a:r>
              <a:rPr lang="zh-CN" altLang="en-US" sz="1400" dirty="0">
                <a:latin typeface="Consolas" panose="020B0609020204030204" pitchFamily="49" charset="0"/>
              </a:rPr>
              <a:t>指向结点</a:t>
            </a:r>
            <a:r>
              <a:rPr lang="en-US" altLang="zh-CN" sz="1400" dirty="0">
                <a:latin typeface="Consolas" panose="020B0609020204030204" pitchFamily="49" charset="0"/>
              </a:rPr>
              <a:t>u</a:t>
            </a:r>
            <a:r>
              <a:rPr lang="zh-CN" altLang="en-US" sz="1400" dirty="0">
                <a:latin typeface="Consolas" panose="020B0609020204030204" pitchFamily="49" charset="0"/>
              </a:rPr>
              <a:t>的第</a:t>
            </a:r>
            <a:r>
              <a:rPr lang="en-US" altLang="zh-CN" sz="1400" dirty="0">
                <a:latin typeface="Consolas" panose="020B0609020204030204" pitchFamily="49" charset="0"/>
              </a:rPr>
              <a:t>1</a:t>
            </a:r>
            <a:r>
              <a:rPr lang="zh-CN" altLang="en-US" sz="1400" dirty="0">
                <a:latin typeface="Consolas" panose="020B0609020204030204" pitchFamily="49" charset="0"/>
              </a:rPr>
              <a:t>个边的存储位置</a:t>
            </a:r>
          </a:p>
          <a:p>
            <a:r>
              <a:rPr lang="en-US" altLang="zh-CN" sz="1400" dirty="0">
                <a:latin typeface="Consolas" panose="020B0609020204030204" pitchFamily="49" charset="0"/>
              </a:rPr>
              <a:t>int </a:t>
            </a:r>
            <a:r>
              <a:rPr lang="en-US" altLang="zh-CN" sz="1400" dirty="0" err="1">
                <a:latin typeface="Consolas" panose="020B0609020204030204" pitchFamily="49" charset="0"/>
              </a:rPr>
              <a:t>cnt</a:t>
            </a:r>
            <a:r>
              <a:rPr lang="en-US" altLang="zh-CN" sz="1400" dirty="0">
                <a:latin typeface="Consolas" panose="020B0609020204030204" pitchFamily="49" charset="0"/>
              </a:rPr>
              <a:t>;        //</a:t>
            </a:r>
            <a:r>
              <a:rPr lang="zh-CN" altLang="en-US" sz="1400" dirty="0">
                <a:latin typeface="Consolas" panose="020B0609020204030204" pitchFamily="49" charset="0"/>
              </a:rPr>
              <a:t>记录</a:t>
            </a:r>
            <a:r>
              <a:rPr lang="en-US" altLang="zh-CN" sz="1400" dirty="0">
                <a:latin typeface="Consolas" panose="020B0609020204030204" pitchFamily="49" charset="0"/>
              </a:rPr>
              <a:t>edge[]</a:t>
            </a:r>
            <a:r>
              <a:rPr lang="zh-CN" altLang="en-US" sz="1400" dirty="0">
                <a:latin typeface="Consolas" panose="020B0609020204030204" pitchFamily="49" charset="0"/>
              </a:rPr>
              <a:t>的末尾位置，新加入的边放在末尾</a:t>
            </a:r>
          </a:p>
          <a:p>
            <a:r>
              <a:rPr lang="en-US" altLang="zh-CN" sz="1400" dirty="0">
                <a:latin typeface="Consolas" panose="020B0609020204030204" pitchFamily="49" charset="0"/>
              </a:rPr>
              <a:t>void </a:t>
            </a:r>
            <a:r>
              <a:rPr lang="en-US" altLang="zh-CN" sz="1400" dirty="0" err="1">
                <a:latin typeface="Consolas" panose="020B0609020204030204" pitchFamily="49" charset="0"/>
              </a:rPr>
              <a:t>init</a:t>
            </a:r>
            <a:r>
              <a:rPr lang="en-US" altLang="zh-CN" sz="1400" dirty="0">
                <a:latin typeface="Consolas" panose="020B0609020204030204" pitchFamily="49" charset="0"/>
              </a:rPr>
              <a:t>(){    //</a:t>
            </a:r>
            <a:r>
              <a:rPr lang="zh-CN" altLang="en-US" sz="1400" dirty="0">
                <a:latin typeface="Consolas" panose="020B0609020204030204" pitchFamily="49" charset="0"/>
              </a:rPr>
              <a:t>初始化</a:t>
            </a:r>
          </a:p>
          <a:p>
            <a:r>
              <a:rPr lang="zh-CN" altLang="en-US" sz="1400" dirty="0">
                <a:latin typeface="Consolas" panose="020B0609020204030204" pitchFamily="49" charset="0"/>
              </a:rPr>
              <a:t>    </a:t>
            </a:r>
            <a:r>
              <a:rPr lang="en-US" altLang="zh-CN" sz="1400" dirty="0">
                <a:latin typeface="Consolas" panose="020B0609020204030204" pitchFamily="49" charset="0"/>
              </a:rPr>
              <a:t>for(</a:t>
            </a:r>
            <a:r>
              <a:rPr lang="en-US" altLang="zh-CN" sz="1400" dirty="0" err="1">
                <a:latin typeface="Consolas" panose="020B0609020204030204" pitchFamily="49" charset="0"/>
              </a:rPr>
              <a:t>itn</a:t>
            </a:r>
            <a:r>
              <a:rPr lang="en-US" altLang="zh-CN" sz="1400" dirty="0">
                <a:latin typeface="Consolas" panose="020B0609020204030204" pitchFamily="49" charset="0"/>
              </a:rPr>
              <a:t> </a:t>
            </a:r>
            <a:r>
              <a:rPr lang="en-US" altLang="zh-CN" sz="1400" dirty="0" err="1">
                <a:latin typeface="Consolas" panose="020B0609020204030204" pitchFamily="49" charset="0"/>
              </a:rPr>
              <a:t>i</a:t>
            </a:r>
            <a:r>
              <a:rPr lang="en-US" altLang="zh-CN" sz="1400" dirty="0">
                <a:latin typeface="Consolas" panose="020B0609020204030204" pitchFamily="49" charset="0"/>
              </a:rPr>
              <a:t>=0;i&lt;NUM;++</a:t>
            </a:r>
            <a:r>
              <a:rPr lang="en-US" altLang="zh-CN" sz="1400" dirty="0" err="1">
                <a:latin typeface="Consolas" panose="020B0609020204030204" pitchFamily="49" charset="0"/>
              </a:rPr>
              <a:t>i</a:t>
            </a:r>
            <a:r>
              <a:rPr lang="en-US" altLang="zh-CN" sz="1400" dirty="0">
                <a:latin typeface="Consolas" panose="020B0609020204030204" pitchFamily="49" charset="0"/>
              </a:rPr>
              <a:t>){</a:t>
            </a:r>
          </a:p>
          <a:p>
            <a:r>
              <a:rPr lang="en-US" altLang="zh-CN" sz="1400" dirty="0">
                <a:latin typeface="Consolas" panose="020B0609020204030204" pitchFamily="49" charset="0"/>
              </a:rPr>
              <a:t>        edge[</a:t>
            </a:r>
            <a:r>
              <a:rPr lang="en-US" altLang="zh-CN" sz="1400" dirty="0" err="1">
                <a:latin typeface="Consolas" panose="020B0609020204030204" pitchFamily="49" charset="0"/>
              </a:rPr>
              <a:t>i</a:t>
            </a:r>
            <a:r>
              <a:rPr lang="en-US" altLang="zh-CN" sz="1400" dirty="0">
                <a:latin typeface="Consolas" panose="020B0609020204030204" pitchFamily="49" charset="0"/>
              </a:rPr>
              <a:t>].next=-1; //-1</a:t>
            </a:r>
            <a:r>
              <a:rPr lang="zh-CN" altLang="en-US" sz="1400" dirty="0">
                <a:latin typeface="Consolas" panose="020B0609020204030204" pitchFamily="49" charset="0"/>
              </a:rPr>
              <a:t>：结束，没有下一边</a:t>
            </a:r>
          </a:p>
          <a:p>
            <a:r>
              <a:rPr lang="zh-CN" altLang="en-US" sz="1400" dirty="0">
                <a:latin typeface="Consolas" panose="020B0609020204030204" pitchFamily="49" charset="0"/>
              </a:rPr>
              <a:t>        </a:t>
            </a:r>
            <a:r>
              <a:rPr lang="en-US" altLang="zh-CN" sz="1400" dirty="0">
                <a:latin typeface="Consolas" panose="020B0609020204030204" pitchFamily="49" charset="0"/>
              </a:rPr>
              <a:t>head[</a:t>
            </a:r>
            <a:r>
              <a:rPr lang="en-US" altLang="zh-CN" sz="1400" dirty="0" err="1">
                <a:latin typeface="Consolas" panose="020B0609020204030204" pitchFamily="49" charset="0"/>
              </a:rPr>
              <a:t>i</a:t>
            </a:r>
            <a:r>
              <a:rPr lang="en-US" altLang="zh-CN" sz="1400" dirty="0">
                <a:latin typeface="Consolas" panose="020B0609020204030204" pitchFamily="49" charset="0"/>
              </a:rPr>
              <a:t>]=-1;      //-1</a:t>
            </a:r>
            <a:r>
              <a:rPr lang="zh-CN" altLang="en-US" sz="1400" dirty="0">
                <a:latin typeface="Consolas" panose="020B0609020204030204" pitchFamily="49" charset="0"/>
              </a:rPr>
              <a:t>：不存在从结点</a:t>
            </a:r>
            <a:r>
              <a:rPr lang="en-US" altLang="zh-CN" sz="1400" dirty="0" err="1">
                <a:latin typeface="Consolas" panose="020B0609020204030204" pitchFamily="49" charset="0"/>
              </a:rPr>
              <a:t>i</a:t>
            </a:r>
            <a:r>
              <a:rPr lang="zh-CN" altLang="en-US" sz="1400" dirty="0">
                <a:latin typeface="Consolas" panose="020B0609020204030204" pitchFamily="49" charset="0"/>
              </a:rPr>
              <a:t>出发的边</a:t>
            </a:r>
          </a:p>
          <a:p>
            <a:r>
              <a:rPr lang="zh-CN" altLang="en-US" sz="1400" dirty="0">
                <a:latin typeface="Consolas" panose="020B0609020204030204" pitchFamily="49" charset="0"/>
              </a:rPr>
              <a:t>    </a:t>
            </a:r>
            <a:r>
              <a:rPr lang="en-US" altLang="zh-CN" sz="1400" dirty="0">
                <a:latin typeface="Consolas" panose="020B0609020204030204" pitchFamily="49" charset="0"/>
              </a:rPr>
              <a:t>}</a:t>
            </a:r>
          </a:p>
          <a:p>
            <a:r>
              <a:rPr lang="en-US" altLang="zh-CN" sz="1400" dirty="0">
                <a:latin typeface="Consolas" panose="020B0609020204030204" pitchFamily="49" charset="0"/>
              </a:rPr>
              <a:t>    </a:t>
            </a:r>
            <a:r>
              <a:rPr lang="en-US" altLang="zh-CN" sz="1400" dirty="0" err="1">
                <a:latin typeface="Consolas" panose="020B0609020204030204" pitchFamily="49" charset="0"/>
              </a:rPr>
              <a:t>cnt</a:t>
            </a:r>
            <a:r>
              <a:rPr lang="en-US" altLang="zh-CN" sz="1400" dirty="0">
                <a:latin typeface="Consolas" panose="020B0609020204030204" pitchFamily="49" charset="0"/>
              </a:rPr>
              <a:t>=0;</a:t>
            </a:r>
          </a:p>
          <a:p>
            <a:r>
              <a:rPr lang="en-US" altLang="zh-CN" sz="1400" dirty="0">
                <a:latin typeface="Consolas" panose="020B0609020204030204" pitchFamily="49" charset="0"/>
              </a:rPr>
              <a:t>}</a:t>
            </a:r>
          </a:p>
          <a:p>
            <a:r>
              <a:rPr lang="en-US" altLang="zh-CN" sz="1400" dirty="0">
                <a:latin typeface="Consolas" panose="020B0609020204030204" pitchFamily="49" charset="0"/>
              </a:rPr>
              <a:t>void </a:t>
            </a:r>
            <a:r>
              <a:rPr lang="en-US" altLang="zh-CN" sz="1400" dirty="0" err="1">
                <a:latin typeface="Consolas" panose="020B0609020204030204" pitchFamily="49" charset="0"/>
              </a:rPr>
              <a:t>addedge</a:t>
            </a:r>
            <a:r>
              <a:rPr lang="en-US" altLang="zh-CN" sz="1400" dirty="0">
                <a:latin typeface="Consolas" panose="020B0609020204030204" pitchFamily="49" charset="0"/>
              </a:rPr>
              <a:t>(int </a:t>
            </a:r>
            <a:r>
              <a:rPr lang="en-US" altLang="zh-CN" sz="1400" dirty="0" err="1">
                <a:latin typeface="Consolas" panose="020B0609020204030204" pitchFamily="49" charset="0"/>
              </a:rPr>
              <a:t>u,int</a:t>
            </a:r>
            <a:r>
              <a:rPr lang="en-US" altLang="zh-CN" sz="1400" dirty="0">
                <a:latin typeface="Consolas" panose="020B0609020204030204" pitchFamily="49" charset="0"/>
              </a:rPr>
              <a:t> </a:t>
            </a:r>
            <a:r>
              <a:rPr lang="en-US" altLang="zh-CN" sz="1400" dirty="0" err="1">
                <a:latin typeface="Consolas" panose="020B0609020204030204" pitchFamily="49" charset="0"/>
              </a:rPr>
              <a:t>v,int</a:t>
            </a:r>
            <a:r>
              <a:rPr lang="en-US" altLang="zh-CN" sz="1400" dirty="0">
                <a:latin typeface="Consolas" panose="020B0609020204030204" pitchFamily="49" charset="0"/>
              </a:rPr>
              <a:t> w){</a:t>
            </a:r>
          </a:p>
          <a:p>
            <a:r>
              <a:rPr lang="en-US" altLang="zh-CN" sz="1400" dirty="0">
                <a:latin typeface="Consolas" panose="020B0609020204030204" pitchFamily="49" charset="0"/>
              </a:rPr>
              <a:t>    edge[</a:t>
            </a:r>
            <a:r>
              <a:rPr lang="en-US" altLang="zh-CN" sz="1400" dirty="0" err="1">
                <a:latin typeface="Consolas" panose="020B0609020204030204" pitchFamily="49" charset="0"/>
              </a:rPr>
              <a:t>cnt</a:t>
            </a:r>
            <a:r>
              <a:rPr lang="en-US" altLang="zh-CN" sz="1400" dirty="0">
                <a:latin typeface="Consolas" panose="020B0609020204030204" pitchFamily="49" charset="0"/>
              </a:rPr>
              <a:t>].to=v;</a:t>
            </a:r>
          </a:p>
          <a:p>
            <a:r>
              <a:rPr lang="en-US" altLang="zh-CN" sz="1400" dirty="0">
                <a:latin typeface="Consolas" panose="020B0609020204030204" pitchFamily="49" charset="0"/>
              </a:rPr>
              <a:t>    edge[</a:t>
            </a:r>
            <a:r>
              <a:rPr lang="en-US" altLang="zh-CN" sz="1400" dirty="0" err="1">
                <a:latin typeface="Consolas" panose="020B0609020204030204" pitchFamily="49" charset="0"/>
              </a:rPr>
              <a:t>cnt</a:t>
            </a:r>
            <a:r>
              <a:rPr lang="en-US" altLang="zh-CN" sz="1400" dirty="0">
                <a:latin typeface="Consolas" panose="020B0609020204030204" pitchFamily="49" charset="0"/>
              </a:rPr>
              <a:t>].w=w;</a:t>
            </a:r>
          </a:p>
          <a:p>
            <a:r>
              <a:rPr lang="en-US" altLang="zh-CN" sz="1400" dirty="0">
                <a:latin typeface="Consolas" panose="020B0609020204030204" pitchFamily="49" charset="0"/>
              </a:rPr>
              <a:t>    edge[next]=head[u]; //</a:t>
            </a:r>
            <a:r>
              <a:rPr lang="zh-CN" altLang="en-US" sz="1400" dirty="0">
                <a:latin typeface="Consolas" panose="020B0609020204030204" pitchFamily="49" charset="0"/>
              </a:rPr>
              <a:t>指向结点</a:t>
            </a:r>
            <a:r>
              <a:rPr lang="en-US" altLang="zh-CN" sz="1400" dirty="0">
                <a:latin typeface="Consolas" panose="020B0609020204030204" pitchFamily="49" charset="0"/>
              </a:rPr>
              <a:t>u</a:t>
            </a:r>
            <a:r>
              <a:rPr lang="zh-CN" altLang="en-US" sz="1400" dirty="0">
                <a:latin typeface="Consolas" panose="020B0609020204030204" pitchFamily="49" charset="0"/>
              </a:rPr>
              <a:t>上一次存的边的位置</a:t>
            </a:r>
          </a:p>
          <a:p>
            <a:r>
              <a:rPr lang="zh-CN" altLang="en-US" sz="1400" dirty="0">
                <a:latin typeface="Consolas" panose="020B0609020204030204" pitchFamily="49" charset="0"/>
              </a:rPr>
              <a:t>    </a:t>
            </a:r>
            <a:r>
              <a:rPr lang="en-US" altLang="zh-CN" sz="1400" dirty="0">
                <a:latin typeface="Consolas" panose="020B0609020204030204" pitchFamily="49" charset="0"/>
              </a:rPr>
              <a:t>head[u]=</a:t>
            </a:r>
            <a:r>
              <a:rPr lang="en-US" altLang="zh-CN" sz="1400" dirty="0" err="1">
                <a:latin typeface="Consolas" panose="020B0609020204030204" pitchFamily="49" charset="0"/>
              </a:rPr>
              <a:t>cnt</a:t>
            </a:r>
            <a:r>
              <a:rPr lang="en-US" altLang="zh-CN" sz="1400" dirty="0">
                <a:latin typeface="Consolas" panose="020B0609020204030204" pitchFamily="49" charset="0"/>
              </a:rPr>
              <a:t>++;      //</a:t>
            </a:r>
            <a:r>
              <a:rPr lang="zh-CN" altLang="en-US" sz="1400" dirty="0">
                <a:latin typeface="Consolas" panose="020B0609020204030204" pitchFamily="49" charset="0"/>
              </a:rPr>
              <a:t>更新结点</a:t>
            </a:r>
            <a:r>
              <a:rPr lang="en-US" altLang="zh-CN" sz="1400" dirty="0">
                <a:latin typeface="Consolas" panose="020B0609020204030204" pitchFamily="49" charset="0"/>
              </a:rPr>
              <a:t>u</a:t>
            </a:r>
            <a:r>
              <a:rPr lang="zh-CN" altLang="en-US" sz="1400" dirty="0">
                <a:latin typeface="Consolas" panose="020B0609020204030204" pitchFamily="49" charset="0"/>
              </a:rPr>
              <a:t>最新边的存放位置：就是</a:t>
            </a:r>
            <a:r>
              <a:rPr lang="en-US" altLang="zh-CN" sz="1400" dirty="0">
                <a:latin typeface="Consolas" panose="020B0609020204030204" pitchFamily="49" charset="0"/>
              </a:rPr>
              <a:t>edge</a:t>
            </a:r>
            <a:r>
              <a:rPr lang="zh-CN" altLang="en-US" sz="1400" dirty="0">
                <a:latin typeface="Consolas" panose="020B0609020204030204" pitchFamily="49" charset="0"/>
              </a:rPr>
              <a:t>的末尾</a:t>
            </a:r>
          </a:p>
          <a:p>
            <a:r>
              <a:rPr lang="en-US" altLang="zh-CN" sz="1400" dirty="0">
                <a:latin typeface="Consolas" panose="020B0609020204030204" pitchFamily="49" charset="0"/>
              </a:rPr>
              <a:t>}</a:t>
            </a:r>
          </a:p>
          <a:p>
            <a:r>
              <a:rPr lang="en-US" altLang="zh-CN" sz="1400" dirty="0">
                <a:latin typeface="Consolas" panose="020B0609020204030204" pitchFamily="49" charset="0"/>
              </a:rPr>
              <a:t>//</a:t>
            </a:r>
            <a:r>
              <a:rPr lang="zh-CN" altLang="en-US" sz="1400" dirty="0">
                <a:latin typeface="Consolas" panose="020B0609020204030204" pitchFamily="49" charset="0"/>
              </a:rPr>
              <a:t>遍历结点</a:t>
            </a:r>
            <a:r>
              <a:rPr lang="en-US" altLang="zh-CN" sz="1400" dirty="0" err="1">
                <a:latin typeface="Consolas" panose="020B0609020204030204" pitchFamily="49" charset="0"/>
              </a:rPr>
              <a:t>i</a:t>
            </a:r>
            <a:r>
              <a:rPr lang="zh-CN" altLang="en-US" sz="1400" dirty="0">
                <a:latin typeface="Consolas" panose="020B0609020204030204" pitchFamily="49" charset="0"/>
              </a:rPr>
              <a:t>的所有邻居</a:t>
            </a:r>
          </a:p>
          <a:p>
            <a:r>
              <a:rPr lang="en-US" altLang="zh-CN" sz="1400" dirty="0">
                <a:latin typeface="Consolas" panose="020B0609020204030204" pitchFamily="49" charset="0"/>
              </a:rPr>
              <a:t>for(int </a:t>
            </a:r>
            <a:r>
              <a:rPr lang="en-US" altLang="zh-CN" sz="1400" dirty="0" err="1">
                <a:latin typeface="Consolas" panose="020B0609020204030204" pitchFamily="49" charset="0"/>
              </a:rPr>
              <a:t>i</a:t>
            </a:r>
            <a:r>
              <a:rPr lang="en-US" altLang="zh-CN" sz="1400" dirty="0">
                <a:latin typeface="Consolas" panose="020B0609020204030204" pitchFamily="49" charset="0"/>
              </a:rPr>
              <a:t>=head[u];~</a:t>
            </a:r>
            <a:r>
              <a:rPr lang="en-US" altLang="zh-CN" sz="1400" dirty="0" err="1">
                <a:latin typeface="Consolas" panose="020B0609020204030204" pitchFamily="49" charset="0"/>
              </a:rPr>
              <a:t>i;i</a:t>
            </a:r>
            <a:r>
              <a:rPr lang="en-US" altLang="zh-CN" sz="1400" dirty="0">
                <a:latin typeface="Consolas" panose="020B0609020204030204" pitchFamily="49" charset="0"/>
              </a:rPr>
              <a:t>=edge[</a:t>
            </a:r>
            <a:r>
              <a:rPr lang="en-US" altLang="zh-CN" sz="1400" dirty="0" err="1">
                <a:latin typeface="Consolas" panose="020B0609020204030204" pitchFamily="49" charset="0"/>
              </a:rPr>
              <a:t>i</a:t>
            </a:r>
            <a:r>
              <a:rPr lang="en-US" altLang="zh-CN" sz="1400" dirty="0">
                <a:latin typeface="Consolas" panose="020B0609020204030204" pitchFamily="49" charset="0"/>
              </a:rPr>
              <a:t>].next) //~</a:t>
            </a:r>
            <a:r>
              <a:rPr lang="en-US" altLang="zh-CN" sz="1400" dirty="0" err="1">
                <a:latin typeface="Consolas" panose="020B0609020204030204" pitchFamily="49" charset="0"/>
              </a:rPr>
              <a:t>i</a:t>
            </a:r>
            <a:r>
              <a:rPr lang="zh-CN" altLang="en-US" sz="1400" dirty="0">
                <a:latin typeface="Consolas" panose="020B0609020204030204" pitchFamily="49" charset="0"/>
              </a:rPr>
              <a:t>也可写成 </a:t>
            </a:r>
            <a:r>
              <a:rPr lang="en-US" altLang="zh-CN" sz="1400" dirty="0" err="1">
                <a:latin typeface="Consolas" panose="020B0609020204030204" pitchFamily="49" charset="0"/>
              </a:rPr>
              <a:t>i</a:t>
            </a:r>
            <a:r>
              <a:rPr lang="en-US" altLang="zh-CN" sz="1400" dirty="0">
                <a:latin typeface="Consolas" panose="020B0609020204030204" pitchFamily="49" charset="0"/>
              </a:rPr>
              <a:t>!=-1</a:t>
            </a:r>
          </a:p>
          <a:p>
            <a:r>
              <a:rPr lang="en-US" altLang="zh-CN" sz="1400" dirty="0">
                <a:latin typeface="Consolas" panose="020B0609020204030204" pitchFamily="49" charset="0"/>
              </a:rPr>
              <a:t>{...}</a:t>
            </a:r>
            <a:endParaRPr lang="zh-CN" altLang="en-US" sz="1400" dirty="0">
              <a:latin typeface="Consolas" panose="020B0609020204030204" pitchFamily="49" charset="0"/>
            </a:endParaRPr>
          </a:p>
        </p:txBody>
      </p:sp>
    </p:spTree>
    <p:extLst>
      <p:ext uri="{BB962C8B-B14F-4D97-AF65-F5344CB8AC3E}">
        <p14:creationId xmlns:p14="http://schemas.microsoft.com/office/powerpoint/2010/main" val="211634015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图的遍历</a:t>
            </a:r>
          </a:p>
        </p:txBody>
      </p:sp>
      <p:sp>
        <p:nvSpPr>
          <p:cNvPr id="9" name="文本框 8"/>
          <p:cNvSpPr txBox="1"/>
          <p:nvPr/>
        </p:nvSpPr>
        <p:spPr>
          <a:xfrm>
            <a:off x="672662" y="1609172"/>
            <a:ext cx="10846676" cy="2862322"/>
          </a:xfrm>
          <a:prstGeom prst="rect">
            <a:avLst/>
          </a:prstGeom>
          <a:noFill/>
        </p:spPr>
        <p:txBody>
          <a:bodyPr wrap="square" rtlCol="0">
            <a:spAutoFit/>
          </a:bodyPr>
          <a:lstStyle/>
          <a:p>
            <a:pPr lvl="0" eaLnBrk="0" fontAlgn="base" hangingPunct="0">
              <a:lnSpc>
                <a:spcPct val="150000"/>
              </a:lnSpc>
              <a:spcBef>
                <a:spcPct val="0"/>
              </a:spcBef>
              <a:spcAft>
                <a:spcPct val="0"/>
              </a:spcAft>
            </a:pPr>
            <a:r>
              <a:rPr lang="zh-CN" altLang="zh-CN" sz="2400" dirty="0">
                <a:latin typeface="宋体" panose="02010600030101010101" pitchFamily="2" charset="-122"/>
                <a:ea typeface="宋体" panose="02010600030101010101" pitchFamily="2" charset="-122"/>
                <a:cs typeface="Times New Roman" panose="02020603050405020304" pitchFamily="18" charset="0"/>
              </a:rPr>
              <a:t>按照某种方式逐个访问图中的所有顶点，且每个顶点只被访问一次。</a:t>
            </a:r>
            <a:endParaRPr lang="en-US" altLang="zh-CN" sz="2400" dirty="0">
              <a:latin typeface="宋体" panose="02010600030101010101" pitchFamily="2" charset="-122"/>
              <a:ea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ea typeface="宋体" panose="02010600030101010101" pitchFamily="2" charset="-122"/>
                <a:cs typeface="Times New Roman" panose="02020603050405020304" pitchFamily="18" charset="0"/>
              </a:rPr>
              <a:t>最简单的方式是沿着顶点表循环访问一遍，由此达到了遍历的目标。</a:t>
            </a:r>
            <a:endParaRPr lang="en-US" altLang="zh-CN" sz="2400" dirty="0">
              <a:latin typeface="宋体" panose="02010600030101010101" pitchFamily="2" charset="-122"/>
              <a:ea typeface="宋体" panose="02010600030101010101" pitchFamily="2" charset="-122"/>
              <a:cs typeface="Times New Roman" panose="02020603050405020304" pitchFamily="18" charset="0"/>
            </a:endParaRPr>
          </a:p>
          <a:p>
            <a:pPr lvl="0" eaLnBrk="0" fontAlgn="base" hangingPunct="0">
              <a:lnSpc>
                <a:spcPct val="150000"/>
              </a:lnSpc>
              <a:spcBef>
                <a:spcPct val="0"/>
              </a:spcBef>
              <a:spcAft>
                <a:spcPct val="0"/>
              </a:spcAft>
            </a:pPr>
            <a:r>
              <a:rPr lang="en-US" altLang="zh-CN" sz="2400" dirty="0">
                <a:latin typeface="宋体" panose="02010600030101010101" pitchFamily="2" charset="-122"/>
                <a:ea typeface="宋体" panose="02010600030101010101" pitchFamily="2" charset="-122"/>
                <a:cs typeface="Times New Roman" panose="02020603050405020304" pitchFamily="18" charset="0"/>
              </a:rPr>
              <a:t>   </a:t>
            </a:r>
            <a:r>
              <a:rPr lang="zh-CN" altLang="zh-CN" sz="2400" dirty="0">
                <a:latin typeface="宋体" panose="02010600030101010101" pitchFamily="2" charset="-122"/>
                <a:ea typeface="宋体" panose="02010600030101010101" pitchFamily="2" charset="-122"/>
                <a:cs typeface="Times New Roman" panose="02020603050405020304" pitchFamily="18" charset="0"/>
              </a:rPr>
              <a:t>这种方式，完全没有借用边的信息。</a:t>
            </a:r>
            <a:endParaRPr lang="en-US" altLang="zh-CN" sz="2400" dirty="0">
              <a:latin typeface="宋体" panose="02010600030101010101" pitchFamily="2" charset="-122"/>
              <a:ea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mj-lt"/>
              <a:buAutoNum type="arabicPeriod" startAt="2"/>
            </a:pPr>
            <a:r>
              <a:rPr lang="zh-CN" altLang="zh-CN" sz="2400" dirty="0">
                <a:latin typeface="宋体" panose="02010600030101010101" pitchFamily="2" charset="-122"/>
                <a:ea typeface="宋体" panose="02010600030101010101" pitchFamily="2" charset="-122"/>
                <a:cs typeface="Times New Roman" panose="02020603050405020304" pitchFamily="18" charset="0"/>
              </a:rPr>
              <a:t>两种借助边信息实现遍历的算法：</a:t>
            </a:r>
            <a:r>
              <a:rPr lang="zh-CN" altLang="zh-CN" sz="2400" b="1" dirty="0">
                <a:latin typeface="宋体" panose="02010600030101010101" pitchFamily="2" charset="-122"/>
                <a:ea typeface="宋体" panose="02010600030101010101" pitchFamily="2" charset="-122"/>
                <a:cs typeface="Times New Roman" panose="02020603050405020304" pitchFamily="18" charset="0"/>
              </a:rPr>
              <a:t>深度优先遍历</a:t>
            </a:r>
            <a:r>
              <a:rPr lang="zh-CN" altLang="zh-CN" sz="2400" dirty="0">
                <a:latin typeface="宋体" panose="02010600030101010101" pitchFamily="2" charset="-122"/>
                <a:ea typeface="宋体" panose="02010600030101010101" pitchFamily="2" charset="-122"/>
                <a:cs typeface="Times New Roman" panose="02020603050405020304" pitchFamily="18" charset="0"/>
              </a:rPr>
              <a:t>和</a:t>
            </a:r>
            <a:r>
              <a:rPr lang="zh-CN" altLang="zh-CN" sz="2400" b="1" dirty="0">
                <a:latin typeface="宋体" panose="02010600030101010101" pitchFamily="2" charset="-122"/>
                <a:ea typeface="宋体" panose="02010600030101010101" pitchFamily="2" charset="-122"/>
                <a:cs typeface="Times New Roman" panose="02020603050405020304" pitchFamily="18" charset="0"/>
              </a:rPr>
              <a:t>广度优先遍历</a:t>
            </a:r>
            <a:r>
              <a:rPr lang="zh-CN" altLang="zh-CN" sz="2400" dirty="0">
                <a:latin typeface="宋体" panose="02010600030101010101" pitchFamily="2" charset="-122"/>
                <a:ea typeface="宋体" panose="02010600030101010101" pitchFamily="2" charset="-122"/>
                <a:cs typeface="Times New Roman" panose="02020603050405020304" pitchFamily="18" charset="0"/>
              </a:rPr>
              <a:t>。</a:t>
            </a:r>
            <a:endParaRPr lang="en-US" altLang="zh-CN" sz="2400" dirty="0">
              <a:latin typeface="宋体" panose="02010600030101010101" pitchFamily="2" charset="-122"/>
              <a:ea typeface="宋体" panose="02010600030101010101" pitchFamily="2" charset="-122"/>
              <a:cs typeface="Times New Roman" panose="02020603050405020304" pitchFamily="18" charset="0"/>
            </a:endParaRPr>
          </a:p>
          <a:p>
            <a:pPr lvl="0" eaLnBrk="0" fontAlgn="base" hangingPunct="0">
              <a:lnSpc>
                <a:spcPct val="150000"/>
              </a:lnSpc>
              <a:spcBef>
                <a:spcPct val="0"/>
              </a:spcBef>
              <a:spcAft>
                <a:spcPct val="0"/>
              </a:spcAft>
            </a:pPr>
            <a:r>
              <a:rPr lang="en-US" altLang="zh-CN" sz="2400" dirty="0">
                <a:latin typeface="宋体" panose="02010600030101010101" pitchFamily="2" charset="-122"/>
                <a:ea typeface="宋体" panose="02010600030101010101" pitchFamily="2" charset="-122"/>
                <a:cs typeface="Times New Roman" panose="02020603050405020304" pitchFamily="18" charset="0"/>
              </a:rPr>
              <a:t>   </a:t>
            </a:r>
            <a:r>
              <a:rPr lang="zh-CN" altLang="zh-CN" sz="2400" dirty="0">
                <a:latin typeface="宋体" panose="02010600030101010101" pitchFamily="2" charset="-122"/>
                <a:ea typeface="宋体" panose="02010600030101010101" pitchFamily="2" charset="-122"/>
                <a:cs typeface="Times New Roman" panose="02020603050405020304" pitchFamily="18" charset="0"/>
              </a:rPr>
              <a:t>基于这两种遍历可以解决图中更多的涉及到边的问题，如图的连通性问题。</a:t>
            </a:r>
          </a:p>
        </p:txBody>
      </p:sp>
      <p:sp>
        <p:nvSpPr>
          <p:cNvPr id="10" name="TextBox 36">
            <a:extLst>
              <a:ext uri="{FF2B5EF4-FFF2-40B4-BE49-F238E27FC236}">
                <a16:creationId xmlns:a16="http://schemas.microsoft.com/office/drawing/2014/main" id="{E4858C38-67FB-4EEC-A2C2-37309E83BA1E}"/>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12879825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深度优先遍历</a:t>
            </a:r>
          </a:p>
        </p:txBody>
      </p:sp>
      <p:sp>
        <p:nvSpPr>
          <p:cNvPr id="9" name="文本框 8"/>
          <p:cNvSpPr txBox="1"/>
          <p:nvPr/>
        </p:nvSpPr>
        <p:spPr>
          <a:xfrm>
            <a:off x="584225" y="1719530"/>
            <a:ext cx="11283478" cy="3970318"/>
          </a:xfrm>
          <a:prstGeom prst="rect">
            <a:avLst/>
          </a:prstGeom>
          <a:noFill/>
        </p:spPr>
        <p:txBody>
          <a:bodyPr wrap="square" rtlCol="0">
            <a:spAutoFit/>
          </a:bodyPr>
          <a:lstStyle/>
          <a:p>
            <a:pPr lvl="0" eaLnBrk="0" fontAlgn="base" hangingPunct="0">
              <a:lnSpc>
                <a:spcPct val="150000"/>
              </a:lnSpc>
              <a:spcBef>
                <a:spcPct val="0"/>
              </a:spcBef>
              <a:spcAft>
                <a:spcPct val="0"/>
              </a:spcAft>
            </a:pPr>
            <a:r>
              <a:rPr lang="zh-CN" altLang="zh-CN" sz="2400" b="1" dirty="0"/>
              <a:t>DFS（Depth First Search）</a:t>
            </a:r>
            <a:br>
              <a:rPr lang="zh-CN" altLang="zh-CN" sz="2400" b="1" dirty="0"/>
            </a:br>
            <a:r>
              <a:rPr lang="zh-CN" altLang="zh-CN" sz="2400" dirty="0">
                <a:latin typeface="宋体" panose="02010600030101010101" pitchFamily="2" charset="-122"/>
                <a:cs typeface="Times New Roman" panose="02020603050405020304" pitchFamily="18" charset="0"/>
              </a:rPr>
              <a:t>访问方式如下：</a:t>
            </a:r>
            <a:endParaRPr lang="zh-CN" altLang="zh-CN" sz="4800" dirty="0">
              <a:latin typeface="Arial" panose="020B0604020202020204" pitchFamily="34" charset="0"/>
            </a:endParaRPr>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从选中的某一个未访问过的顶点出发，访问并对该顶点加已访问标志。</a:t>
            </a:r>
            <a:endParaRPr lang="zh-CN" altLang="zh-CN" sz="3200" dirty="0"/>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依次从该顶点的未被访问过的第</a:t>
            </a:r>
            <a:r>
              <a:rPr lang="zh-CN" altLang="zh-CN" sz="2400" dirty="0">
                <a:latin typeface="Arial" panose="020B0604020202020204" pitchFamily="34" charset="0"/>
                <a:cs typeface="Arial" panose="020B0604020202020204" pitchFamily="34" charset="0"/>
              </a:rPr>
              <a:t>1</a:t>
            </a:r>
            <a:r>
              <a:rPr lang="zh-CN" altLang="zh-CN" sz="2400" dirty="0">
                <a:latin typeface="宋体" panose="02010600030101010101" pitchFamily="2" charset="-122"/>
                <a:cs typeface="Times New Roman" panose="02020603050405020304" pitchFamily="18" charset="0"/>
              </a:rPr>
              <a:t>个、第</a:t>
            </a:r>
            <a:r>
              <a:rPr lang="zh-CN" altLang="zh-CN" sz="2400" dirty="0">
                <a:latin typeface="Arial" panose="020B0604020202020204" pitchFamily="34" charset="0"/>
                <a:cs typeface="Arial" panose="020B0604020202020204" pitchFamily="34" charset="0"/>
              </a:rPr>
              <a:t>2</a:t>
            </a:r>
            <a:r>
              <a:rPr lang="zh-CN" altLang="zh-CN" sz="2400" dirty="0">
                <a:latin typeface="宋体" panose="02010600030101010101" pitchFamily="2" charset="-122"/>
                <a:cs typeface="Times New Roman" panose="02020603050405020304" pitchFamily="18" charset="0"/>
              </a:rPr>
              <a:t>个、第</a:t>
            </a:r>
            <a:r>
              <a:rPr lang="zh-CN" altLang="zh-CN" sz="2400" dirty="0">
                <a:latin typeface="Arial" panose="020B0604020202020204" pitchFamily="34" charset="0"/>
                <a:cs typeface="Arial" panose="020B0604020202020204" pitchFamily="34" charset="0"/>
              </a:rPr>
              <a:t>3</a:t>
            </a:r>
            <a:r>
              <a:rPr lang="zh-CN" altLang="zh-CN" sz="2400" dirty="0">
                <a:latin typeface="宋体" panose="02010600030101010101" pitchFamily="2" charset="-122"/>
                <a:cs typeface="Times New Roman" panose="02020603050405020304" pitchFamily="18" charset="0"/>
              </a:rPr>
              <a:t>个</a:t>
            </a:r>
            <a:r>
              <a:rPr lang="zh-CN" altLang="zh-CN" sz="2400" dirty="0">
                <a:latin typeface="Arial" panose="020B0604020202020204" pitchFamily="34" charset="0"/>
                <a:cs typeface="Arial" panose="020B0604020202020204" pitchFamily="34" charset="0"/>
              </a:rPr>
              <a:t>…… </a:t>
            </a:r>
            <a:r>
              <a:rPr lang="zh-CN" altLang="zh-CN" sz="2400" dirty="0">
                <a:latin typeface="宋体" panose="02010600030101010101" pitchFamily="2" charset="-122"/>
                <a:cs typeface="Times New Roman" panose="02020603050405020304" pitchFamily="18" charset="0"/>
              </a:rPr>
              <a:t>邻接顶点出发，依次进行深度优先遍历，即转向</a:t>
            </a:r>
            <a:r>
              <a:rPr lang="zh-CN" altLang="zh-CN" sz="2400" dirty="0">
                <a:latin typeface="Arial" panose="020B0604020202020204" pitchFamily="34" charset="0"/>
                <a:cs typeface="Arial" panose="020B0604020202020204" pitchFamily="34" charset="0"/>
              </a:rPr>
              <a:t>1</a:t>
            </a:r>
            <a:r>
              <a:rPr lang="zh-CN" altLang="zh-CN" sz="2400" dirty="0">
                <a:latin typeface="宋体" panose="02010600030101010101" pitchFamily="2" charset="-122"/>
                <a:cs typeface="Times New Roman" panose="02020603050405020304" pitchFamily="18" charset="0"/>
              </a:rPr>
              <a:t>。</a:t>
            </a:r>
            <a:endParaRPr lang="zh-CN" altLang="zh-CN" sz="3200" dirty="0"/>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如果还有顶点未被访问过，选中其中一个顶点作为起始顶点，再次转向</a:t>
            </a:r>
            <a:r>
              <a:rPr lang="zh-CN" altLang="zh-CN" sz="2400" dirty="0">
                <a:latin typeface="Arial" panose="020B0604020202020204" pitchFamily="34" charset="0"/>
                <a:cs typeface="Arial" panose="020B0604020202020204" pitchFamily="34" charset="0"/>
              </a:rPr>
              <a:t>1</a:t>
            </a:r>
            <a:r>
              <a:rPr lang="zh-CN" altLang="zh-CN" sz="2400" dirty="0">
                <a:latin typeface="宋体" panose="02010600030101010101" pitchFamily="2" charset="-122"/>
                <a:cs typeface="Times New Roman" panose="02020603050405020304" pitchFamily="18" charset="0"/>
              </a:rPr>
              <a:t>。如果所有的顶点都被访问到，遍历结束。</a:t>
            </a:r>
            <a:endParaRPr lang="zh-CN" altLang="zh-CN" sz="4800" dirty="0">
              <a:latin typeface="Arial" panose="020B0604020202020204" pitchFamily="34" charset="0"/>
            </a:endParaRPr>
          </a:p>
        </p:txBody>
      </p:sp>
      <p:sp>
        <p:nvSpPr>
          <p:cNvPr id="6" name="任意多边形: 形状 13">
            <a:extLst>
              <a:ext uri="{FF2B5EF4-FFF2-40B4-BE49-F238E27FC236}">
                <a16:creationId xmlns:a16="http://schemas.microsoft.com/office/drawing/2014/main" id="{BB7B2CCE-99DF-4AF4-BEDA-188B38B189F1}"/>
              </a:ext>
            </a:extLst>
          </p:cNvPr>
          <p:cNvSpPr/>
          <p:nvPr/>
        </p:nvSpPr>
        <p:spPr>
          <a:xfrm>
            <a:off x="5842025" y="5648850"/>
            <a:ext cx="5777161" cy="608249"/>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zh-CN" altLang="en-US" sz="2400" dirty="0">
                <a:latin typeface="微软雅黑" panose="020B0503020204020204" pitchFamily="34" charset="-122"/>
                <a:ea typeface="微软雅黑" panose="020B0503020204020204" pitchFamily="34" charset="-122"/>
              </a:rPr>
              <a:t>思考：什么条件下会从</a:t>
            </a:r>
            <a:r>
              <a:rPr lang="en-US" altLang="zh-CN" sz="2400" dirty="0">
                <a:latin typeface="微软雅黑" panose="020B0503020204020204" pitchFamily="34" charset="-122"/>
                <a:ea typeface="微软雅黑" panose="020B0503020204020204" pitchFamily="34" charset="-122"/>
              </a:rPr>
              <a:t>3</a:t>
            </a:r>
            <a:r>
              <a:rPr lang="zh-CN" altLang="en-US" sz="2400" dirty="0">
                <a:latin typeface="微软雅黑" panose="020B0503020204020204" pitchFamily="34" charset="-122"/>
                <a:ea typeface="微软雅黑" panose="020B0503020204020204" pitchFamily="34" charset="-122"/>
              </a:rPr>
              <a:t>再转向</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a:t>
            </a:r>
            <a:endParaRPr lang="zh-CN" altLang="zh-CN" sz="2400" dirty="0">
              <a:latin typeface="微软雅黑" panose="020B0503020204020204" pitchFamily="34" charset="-122"/>
              <a:ea typeface="微软雅黑" panose="020B0503020204020204" pitchFamily="34" charset="-122"/>
            </a:endParaRPr>
          </a:p>
        </p:txBody>
      </p:sp>
      <p:sp>
        <p:nvSpPr>
          <p:cNvPr id="10" name="TextBox 36">
            <a:extLst>
              <a:ext uri="{FF2B5EF4-FFF2-40B4-BE49-F238E27FC236}">
                <a16:creationId xmlns:a16="http://schemas.microsoft.com/office/drawing/2014/main" id="{E062F3C2-E298-446E-A47A-94F538F5F777}"/>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72904454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489411"/>
            <a:ext cx="10515600" cy="518958"/>
          </a:xfrm>
        </p:spPr>
        <p:txBody>
          <a:bodyPr>
            <a:normAutofit/>
          </a:bodyPr>
          <a:lstStyle/>
          <a:p>
            <a:r>
              <a:rPr lang="zh-CN" altLang="en-US" dirty="0"/>
              <a:t>深度优先遍历示例</a:t>
            </a:r>
          </a:p>
        </p:txBody>
      </p:sp>
      <p:pic>
        <p:nvPicPr>
          <p:cNvPr id="15361" name="Picture 1" descr="http://www.kdocs.cn/api/v3/office/copy/QmpEekYrZ0doLzlkWHZVcVB2TnFPVmpyTFdXaHZDczBZQUgxNVdwSnEya1Q5bCtsajR2WmJIYVVocG8xaUtCa2ZPR1RxQ1pPeHpvTjRHV0dpOWgzWkdTSnNaVERPQm1RZGI2Y1pZaXpJaFNKZjV3Vk9pc2ErWW8wc21MUEsrOEpIUzNYSEp1S20rWk9XL0oyK0dkOTdTaXlFR3lVdVhDYW04R3U1VFMvY1lDZ2hQbytaQStndEhvMEoyUmxHcFFhVXhDbVM0SUhYQ2dCVWl4WSt4TEVnaHh3NVAxcEo4Q1ozODJqcTBGVWxSb1d3dWVQa1BqREhSbUcrbFp0Y2wrQmtHNnB3TXJDQm44PQ==/attach/object/e684d3c9b5a6358c53f371ae7345a45f9e890e9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3672" y="1218940"/>
            <a:ext cx="7417432" cy="3591245"/>
          </a:xfrm>
          <a:prstGeom prst="rect">
            <a:avLst/>
          </a:prstGeom>
          <a:noFill/>
          <a:extLst>
            <a:ext uri="{909E8E84-426E-40DD-AFC4-6F175D3DCCD1}">
              <a14:hiddenFill xmlns:a14="http://schemas.microsoft.com/office/drawing/2010/main">
                <a:solidFill>
                  <a:srgbClr val="FFFFFF"/>
                </a:solidFill>
              </a14:hiddenFill>
            </a:ext>
          </a:extLst>
        </p:spPr>
      </p:pic>
      <p:sp>
        <p:nvSpPr>
          <p:cNvPr id="5" name="矩形 4"/>
          <p:cNvSpPr/>
          <p:nvPr/>
        </p:nvSpPr>
        <p:spPr>
          <a:xfrm>
            <a:off x="794104" y="4810185"/>
            <a:ext cx="11016568" cy="1667764"/>
          </a:xfrm>
          <a:prstGeom prst="rect">
            <a:avLst/>
          </a:prstGeom>
        </p:spPr>
        <p:txBody>
          <a:bodyPr wrap="square">
            <a:spAutoFit/>
          </a:bodyPr>
          <a:lstStyle/>
          <a:p>
            <a:pPr marL="457200" lvl="0" indent="-457200" eaLnBrk="0" fontAlgn="base" hangingPunct="0">
              <a:lnSpc>
                <a:spcPct val="150000"/>
              </a:lnSpc>
              <a:spcBef>
                <a:spcPct val="0"/>
              </a:spcBef>
              <a:spcAft>
                <a:spcPct val="0"/>
              </a:spcAft>
              <a:buFont typeface="Wingdings" panose="05000000000000000000" pitchFamily="2" charset="2"/>
              <a:buChar char="Ø"/>
            </a:pPr>
            <a:r>
              <a:rPr lang="zh-CN" altLang="en-US" sz="2400" dirty="0">
                <a:latin typeface="宋体" panose="02010600030101010101" pitchFamily="2" charset="-122"/>
                <a:cs typeface="Times New Roman" panose="02020603050405020304" pitchFamily="18" charset="0"/>
              </a:rPr>
              <a:t>深度优先遍历结果是不唯一的</a:t>
            </a:r>
            <a:r>
              <a:rPr lang="zh-CN" altLang="zh-CN" sz="2400" dirty="0">
                <a:latin typeface="宋体" panose="02010600030101010101" pitchFamily="2" charset="-122"/>
                <a:cs typeface="Times New Roman" panose="02020603050405020304" pitchFamily="18" charset="0"/>
              </a:rPr>
              <a:t>。</a:t>
            </a:r>
            <a:endParaRPr lang="en-US" altLang="zh-CN" sz="2400" dirty="0">
              <a:latin typeface="宋体" panose="02010600030101010101" pitchFamily="2" charset="-122"/>
              <a:cs typeface="Times New Roman" panose="02020603050405020304" pitchFamily="18" charset="0"/>
            </a:endParaRPr>
          </a:p>
          <a:p>
            <a:pPr marL="457200" indent="-457200" eaLnBrk="0" fontAlgn="base" hangingPunct="0">
              <a:lnSpc>
                <a:spcPct val="150000"/>
              </a:lnSpc>
              <a:spcBef>
                <a:spcPct val="0"/>
              </a:spcBef>
              <a:spcAft>
                <a:spcPct val="0"/>
              </a:spcAft>
              <a:buFont typeface="Wingdings" panose="05000000000000000000" pitchFamily="2" charset="2"/>
              <a:buChar char="Ø"/>
            </a:pPr>
            <a:r>
              <a:rPr lang="zh-CN" altLang="zh-CN" sz="2400" dirty="0">
                <a:latin typeface="宋体" panose="02010600030101010101" pitchFamily="2" charset="-122"/>
                <a:cs typeface="Times New Roman" panose="02020603050405020304" pitchFamily="18" charset="0"/>
              </a:rPr>
              <a:t>它是一个典型的</a:t>
            </a:r>
            <a:r>
              <a:rPr lang="zh-CN" altLang="zh-CN" sz="2400" b="1" dirty="0">
                <a:latin typeface="宋体" panose="02010600030101010101" pitchFamily="2" charset="-122"/>
                <a:cs typeface="Times New Roman" panose="02020603050405020304" pitchFamily="18" charset="0"/>
              </a:rPr>
              <a:t>递归</a:t>
            </a:r>
            <a:r>
              <a:rPr lang="zh-CN" altLang="zh-CN" sz="2400" b="1" dirty="0">
                <a:latin typeface="宋体" panose="02010600030101010101" pitchFamily="2" charset="-122"/>
                <a:cs typeface="Arial" panose="020B0604020202020204" pitchFamily="34" charset="0"/>
              </a:rPr>
              <a:t>过程</a:t>
            </a:r>
            <a:r>
              <a:rPr lang="zh-CN" altLang="en-US" sz="2400" dirty="0">
                <a:latin typeface="宋体" panose="02010600030101010101" pitchFamily="2" charset="-122"/>
                <a:cs typeface="Arial" panose="020B0604020202020204" pitchFamily="34" charset="0"/>
              </a:rPr>
              <a:t>：</a:t>
            </a:r>
            <a:r>
              <a:rPr lang="zh-CN" altLang="zh-CN" sz="2400" dirty="0">
                <a:latin typeface="宋体" panose="02010600030101010101" pitchFamily="2" charset="-122"/>
                <a:cs typeface="Times New Roman" panose="02020603050405020304" pitchFamily="18" charset="0"/>
              </a:rPr>
              <a:t>随着未访问顶点的逐步变少，它是用了一个对规模小的图的遍历问题去解决对规模大的图的遍历问题。</a:t>
            </a:r>
            <a:endParaRPr lang="en-US" altLang="zh-CN" sz="2400" dirty="0">
              <a:latin typeface="宋体" panose="02010600030101010101" pitchFamily="2" charset="-122"/>
              <a:cs typeface="Times New Roman" panose="02020603050405020304" pitchFamily="18" charset="0"/>
            </a:endParaRPr>
          </a:p>
        </p:txBody>
      </p:sp>
      <p:sp>
        <p:nvSpPr>
          <p:cNvPr id="9" name="TextBox 36">
            <a:extLst>
              <a:ext uri="{FF2B5EF4-FFF2-40B4-BE49-F238E27FC236}">
                <a16:creationId xmlns:a16="http://schemas.microsoft.com/office/drawing/2014/main" id="{DEC9CEC7-7C34-4085-923F-D821E610CC3B}"/>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5819230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深度优先遍历算法</a:t>
            </a:r>
          </a:p>
        </p:txBody>
      </p:sp>
      <mc:AlternateContent xmlns:mc="http://schemas.openxmlformats.org/markup-compatibility/2006" xmlns:a14="http://schemas.microsoft.com/office/drawing/2010/main">
        <mc:Choice Requires="a14">
          <p:sp>
            <p:nvSpPr>
              <p:cNvPr id="9" name="文本框 8"/>
              <p:cNvSpPr txBox="1"/>
              <p:nvPr/>
            </p:nvSpPr>
            <p:spPr>
              <a:xfrm>
                <a:off x="584225" y="1460111"/>
                <a:ext cx="11283478" cy="4524315"/>
              </a:xfrm>
              <a:prstGeom prst="rect">
                <a:avLst/>
              </a:prstGeom>
              <a:noFill/>
            </p:spPr>
            <p:txBody>
              <a:bodyPr wrap="square" rtlCol="0">
                <a:spAutoFit/>
              </a:bodyPr>
              <a:lstStyle/>
              <a:p>
                <a:pPr lvl="0" indent="269875" eaLnBrk="0" fontAlgn="base" hangingPunct="0">
                  <a:spcBef>
                    <a:spcPct val="0"/>
                  </a:spcBef>
                  <a:spcAft>
                    <a:spcPct val="0"/>
                  </a:spcAft>
                </a:pPr>
                <a:r>
                  <a:rPr lang="zh-CN" altLang="zh-CN" sz="2400" b="1" u="sng" dirty="0">
                    <a:latin typeface="宋体" panose="02010600030101010101" pitchFamily="2" charset="-122"/>
                    <a:cs typeface="Times New Roman" panose="02020603050405020304" pitchFamily="18" charset="0"/>
                  </a:rPr>
                  <a:t>算法</a:t>
                </a:r>
                <a:r>
                  <a:rPr lang="zh-CN" altLang="zh-CN" sz="2400" b="1" u="sng" dirty="0">
                    <a:latin typeface="Times New Roman" panose="02020603050405020304" pitchFamily="18" charset="0"/>
                    <a:cs typeface="Times New Roman" panose="02020603050405020304" pitchFamily="18" charset="0"/>
                  </a:rPr>
                  <a:t>7-11:</a:t>
                </a:r>
                <a:r>
                  <a:rPr lang="zh-CN" altLang="zh-CN" sz="2400" u="sng" dirty="0">
                    <a:latin typeface="Times New Roman" panose="02020603050405020304" pitchFamily="18" charset="0"/>
                    <a:cs typeface="Times New Roman" panose="02020603050405020304" pitchFamily="18" charset="0"/>
                  </a:rPr>
                  <a:t> </a:t>
                </a:r>
                <a:r>
                  <a:rPr lang="zh-CN" altLang="zh-CN" sz="2400" u="sng" dirty="0">
                    <a:latin typeface="宋体" panose="02010600030101010101" pitchFamily="2" charset="-122"/>
                    <a:cs typeface="Times New Roman" panose="02020603050405020304" pitchFamily="18" charset="0"/>
                  </a:rPr>
                  <a:t>按深度优先遍历图中结点</a:t>
                </a:r>
                <a:r>
                  <a:rPr lang="zh-CN" altLang="zh-CN" sz="3600" u="sng" dirty="0">
                    <a:latin typeface="宋体" panose="02010600030101010101" pitchFamily="2" charset="-122"/>
                    <a:cs typeface="Times New Roman" panose="02020603050405020304" pitchFamily="18" charset="0"/>
                  </a:rPr>
                  <a:t> </a:t>
                </a:r>
                <a:r>
                  <a:rPr lang="zh-CN" altLang="zh-CN" sz="2400" u="sng" dirty="0">
                    <a:latin typeface="Times New Roman" panose="02020603050405020304" pitchFamily="18" charset="0"/>
                    <a:cs typeface="Times New Roman" panose="02020603050405020304" pitchFamily="18" charset="0"/>
                  </a:rPr>
                  <a:t>DFS(</a:t>
                </a:r>
                <a:r>
                  <a:rPr lang="zh-CN" altLang="zh-CN" sz="2400" i="1" u="sng" dirty="0">
                    <a:latin typeface="Times New Roman" panose="02020603050405020304" pitchFamily="18" charset="0"/>
                    <a:cs typeface="Times New Roman" panose="02020603050405020304" pitchFamily="18" charset="0"/>
                  </a:rPr>
                  <a:t>graph</a:t>
                </a:r>
                <a:r>
                  <a:rPr lang="zh-CN" altLang="zh-CN" sz="2400" u="sng" dirty="0">
                    <a:latin typeface="Times New Roman" panose="02020603050405020304" pitchFamily="18" charset="0"/>
                    <a:cs typeface="Times New Roman" panose="02020603050405020304" pitchFamily="18" charset="0"/>
                  </a:rPr>
                  <a:t>)</a:t>
                </a:r>
                <a:endParaRPr lang="zh-CN" altLang="zh-CN" sz="3200" u="sng" dirty="0"/>
              </a:p>
              <a:p>
                <a:pPr lvl="0" indent="269875"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输入：</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endParaRPr lang="zh-CN" altLang="zh-CN" sz="3200" dirty="0"/>
              </a:p>
              <a:p>
                <a:pPr lvl="0" indent="269875"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输出：</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r>
                  <a:rPr lang="zh-CN" altLang="zh-CN" sz="2400" dirty="0">
                    <a:latin typeface="宋体" panose="02010600030101010101" pitchFamily="2" charset="-122"/>
                    <a:cs typeface="Times New Roman" panose="02020603050405020304" pitchFamily="18" charset="0"/>
                  </a:rPr>
                  <a:t>的深度优先遍历序列</a:t>
                </a:r>
                <a:endParaRPr lang="zh-CN" altLang="zh-CN" sz="3200" dirty="0"/>
              </a:p>
              <a:p>
                <a:pPr marL="457200" lvl="0" indent="-188913" eaLnBrk="0" fontAlgn="base" hangingPunct="0">
                  <a:spcBef>
                    <a:spcPct val="0"/>
                  </a:spcBef>
                  <a:spcAft>
                    <a:spcPct val="0"/>
                  </a:spcAft>
                  <a:buFont typeface="+mj-lt"/>
                  <a:buAutoNum type="arabicPeriod"/>
                </a:pPr>
                <a:r>
                  <a:rPr lang="en-US" altLang="zh-CN" sz="2400" b="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for</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a:t>
                </a:r>
                <a14:m>
                  <m:oMath xmlns:m="http://schemas.openxmlformats.org/officeDocument/2006/math">
                    <m:r>
                      <a:rPr lang="zh-CN" altLang="en-US" sz="2400" i="1" smtClean="0">
                        <a:latin typeface="Cambria Math" panose="02040503050406030204" pitchFamily="18" charset="0"/>
                        <a:cs typeface="Times New Roman" panose="02020603050405020304" pitchFamily="18" charset="0"/>
                      </a:rPr>
                      <m:t>←</m:t>
                    </m:r>
                    <m:r>
                      <a:rPr lang="en-US" altLang="zh-CN" sz="2400" i="1">
                        <a:latin typeface="Cambria Math" panose="02040503050406030204" pitchFamily="18" charset="0"/>
                        <a:cs typeface="Times New Roman" panose="02020603050405020304" pitchFamily="18" charset="0"/>
                      </a:rPr>
                      <m:t>0</m:t>
                    </m:r>
                  </m:oMath>
                </a14:m>
                <a:r>
                  <a:rPr lang="zh-CN" altLang="zh-CN" sz="36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to</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graph.n_verts</a:t>
                </a:r>
                <a:r>
                  <a:rPr lang="zh-CN" altLang="zh-CN" sz="2400" dirty="0">
                    <a:latin typeface="Times New Roman" panose="02020603050405020304" pitchFamily="18" charset="0"/>
                    <a:cs typeface="Times New Roman" panose="02020603050405020304" pitchFamily="18" charset="0"/>
                  </a:rPr>
                  <a:t>-1 </a:t>
                </a:r>
                <a:r>
                  <a:rPr lang="zh-CN" altLang="zh-CN" sz="2400" b="1" dirty="0">
                    <a:latin typeface="Times New Roman" panose="02020603050405020304" pitchFamily="18" charset="0"/>
                    <a:cs typeface="Times New Roman" panose="02020603050405020304" pitchFamily="18" charset="0"/>
                  </a:rPr>
                  <a:t>do</a:t>
                </a:r>
                <a:r>
                  <a:rPr lang="zh-CN" altLang="zh-CN" sz="2400" dirty="0">
                    <a:latin typeface="Times New Roman" panose="02020603050405020304" pitchFamily="18" charset="0"/>
                    <a:cs typeface="Times New Roman" panose="02020603050405020304" pitchFamily="18" charset="0"/>
                  </a:rPr>
                  <a:t> //</a:t>
                </a:r>
                <a:r>
                  <a:rPr lang="zh-CN" altLang="zh-CN" sz="2400" dirty="0">
                    <a:latin typeface="宋体" panose="02010600030101010101" pitchFamily="2" charset="-122"/>
                    <a:cs typeface="Times New Roman" panose="02020603050405020304" pitchFamily="18" charset="0"/>
                  </a:rPr>
                  <a:t>初始化各顶点的已访问标志为未访问</a:t>
                </a:r>
                <a:endParaRPr lang="zh-CN" altLang="zh-CN" sz="3200" dirty="0"/>
              </a:p>
              <a:p>
                <a:pPr marL="457200" lvl="0"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a:t>
                </a:r>
                <a:r>
                  <a:rPr lang="zh-CN" altLang="zh-CN" sz="2400" dirty="0">
                    <a:latin typeface="等线" panose="02010600030101010101" pitchFamily="2" charset="-122"/>
                    <a:ea typeface="等线" panose="02010600030101010101" pitchFamily="2" charset="-122"/>
                    <a:cs typeface="Times New Roman" panose="02020603050405020304" pitchFamily="18" charset="0"/>
                  </a:rPr>
                  <a:t> </a:t>
                </a:r>
                <a:r>
                  <a:rPr lang="en-US" altLang="zh-CN" sz="2400" dirty="0">
                    <a:latin typeface="等线" panose="02010600030101010101" pitchFamily="2" charset="-122"/>
                    <a:ea typeface="等线" panose="02010600030101010101" pitchFamily="2" charset="-122"/>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visited</a:t>
                </a:r>
                <a:r>
                  <a:rPr lang="zh-CN" altLang="zh-CN" sz="2400" dirty="0">
                    <a:latin typeface="Times New Roman" panose="02020603050405020304" pitchFamily="18" charset="0"/>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Times New Roman" panose="02020603050405020304" pitchFamily="18" charset="0"/>
                    <a:cs typeface="Times New Roman" panose="02020603050405020304" pitchFamily="18" charset="0"/>
                  </a:rPr>
                  <a:t>] </a:t>
                </a:r>
                <a14:m>
                  <m:oMath xmlns:m="http://schemas.openxmlformats.org/officeDocument/2006/math">
                    <m:r>
                      <a:rPr lang="zh-CN" altLang="en-US" sz="2400" i="1" smtClean="0">
                        <a:latin typeface="Cambria Math" panose="02040503050406030204" pitchFamily="18" charset="0"/>
                        <a:cs typeface="Times New Roman" panose="02020603050405020304" pitchFamily="18" charset="0"/>
                      </a:rPr>
                      <m:t>←</m:t>
                    </m:r>
                  </m:oMath>
                </a14:m>
                <a:r>
                  <a:rPr lang="zh-CN" altLang="zh-CN" sz="2400" dirty="0">
                    <a:latin typeface="Times New Roman" panose="02020603050405020304" pitchFamily="18" charset="0"/>
                    <a:cs typeface="Times New Roman" panose="02020603050405020304" pitchFamily="18" charset="0"/>
                  </a:rPr>
                  <a:t> </a:t>
                </a:r>
                <a:r>
                  <a:rPr lang="en-US" altLang="zh-CN" sz="2400" b="1" dirty="0">
                    <a:latin typeface="Times New Roman" panose="02020603050405020304" pitchFamily="18" charset="0"/>
                    <a:cs typeface="Times New Roman" panose="02020603050405020304" pitchFamily="18" charset="0"/>
                  </a:rPr>
                  <a:t>false</a:t>
                </a:r>
                <a:endParaRPr lang="zh-CN" altLang="zh-CN" sz="3200" b="1" dirty="0"/>
              </a:p>
              <a:p>
                <a:pPr marL="457200" indent="-188913" eaLnBrk="0" fontAlgn="base" hangingPunct="0">
                  <a:spcBef>
                    <a:spcPct val="0"/>
                  </a:spcBef>
                  <a:spcAft>
                    <a:spcPct val="0"/>
                  </a:spcAft>
                  <a:buFont typeface="+mj-lt"/>
                  <a:buAutoNum type="arabicPeriod"/>
                </a:pPr>
                <a:r>
                  <a:rPr lang="en-US" altLang="zh-CN" sz="2400" b="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endParaRPr lang="en-US" altLang="zh-CN" sz="2400" b="1" dirty="0">
                  <a:latin typeface="Times New Roman" panose="02020603050405020304" pitchFamily="18" charset="0"/>
                  <a:cs typeface="Times New Roman" panose="02020603050405020304" pitchFamily="18" charset="0"/>
                </a:endParaRPr>
              </a:p>
              <a:p>
                <a:pPr marL="457200"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for</a:t>
                </a:r>
                <a:r>
                  <a:rPr lang="zh-CN" altLang="zh-CN" sz="2400" dirty="0">
                    <a:latin typeface="Times New Roman" panose="02020603050405020304" pitchFamily="18" charset="0"/>
                    <a:cs typeface="Times New Roman" panose="02020603050405020304" pitchFamily="18" charset="0"/>
                  </a:rPr>
                  <a:t> v </a:t>
                </a:r>
                <a14:m>
                  <m:oMath xmlns:m="http://schemas.openxmlformats.org/officeDocument/2006/math">
                    <m:r>
                      <a:rPr lang="zh-CN" altLang="en-US" sz="2400">
                        <a:latin typeface="Cambria Math" panose="02040503050406030204" pitchFamily="18" charset="0"/>
                        <a:cs typeface="Times New Roman" panose="02020603050405020304" pitchFamily="18" charset="0"/>
                      </a:rPr>
                      <m:t>←</m:t>
                    </m:r>
                    <m:r>
                      <a:rPr lang="en-US" altLang="zh-CN" sz="2400">
                        <a:latin typeface="Cambria Math" panose="02040503050406030204" pitchFamily="18" charset="0"/>
                        <a:cs typeface="Times New Roman" panose="02020603050405020304" pitchFamily="18" charset="0"/>
                      </a:rPr>
                      <m:t>0</m:t>
                    </m:r>
                  </m:oMath>
                </a14:m>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to</a:t>
                </a:r>
                <a:r>
                  <a:rPr lang="zh-CN" altLang="zh-CN" sz="2400" dirty="0">
                    <a:latin typeface="Times New Roman" panose="02020603050405020304" pitchFamily="18" charset="0"/>
                    <a:cs typeface="Times New Roman" panose="02020603050405020304" pitchFamily="18" charset="0"/>
                  </a:rPr>
                  <a:t> graph.n_verts-1 </a:t>
                </a:r>
                <a:r>
                  <a:rPr lang="zh-CN" altLang="zh-CN" sz="2400" b="1" dirty="0">
                    <a:latin typeface="Times New Roman" panose="02020603050405020304" pitchFamily="18" charset="0"/>
                    <a:cs typeface="Times New Roman" panose="02020603050405020304" pitchFamily="18" charset="0"/>
                  </a:rPr>
                  <a:t>do</a:t>
                </a:r>
              </a:p>
              <a:p>
                <a:pPr marL="457200" indent="-188913"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  </a:t>
                </a:r>
                <a:r>
                  <a:rPr lang="en-US"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if</a:t>
                </a:r>
                <a:r>
                  <a:rPr lang="zh-CN" altLang="zh-CN" sz="2400" dirty="0">
                    <a:latin typeface="Times New Roman" panose="02020603050405020304" pitchFamily="18" charset="0"/>
                    <a:cs typeface="Times New Roman" panose="02020603050405020304" pitchFamily="18" charset="0"/>
                  </a:rPr>
                  <a:t> visited[v]=</a:t>
                </a:r>
                <a:r>
                  <a:rPr lang="zh-CN" altLang="zh-CN" sz="2400" b="1" dirty="0">
                    <a:latin typeface="Times New Roman" panose="02020603050405020304" pitchFamily="18" charset="0"/>
                    <a:cs typeface="Times New Roman" panose="02020603050405020304" pitchFamily="18" charset="0"/>
                  </a:rPr>
                  <a:t>false</a:t>
                </a: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then</a:t>
                </a:r>
              </a:p>
              <a:p>
                <a:pPr marL="457200"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DFS(graph, v, visited)</a:t>
                </a:r>
              </a:p>
              <a:p>
                <a:pPr marL="457200"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p>
              <a:p>
                <a:pPr marL="457200" indent="-188913" eaLnBrk="0" fontAlgn="base" hangingPunct="0">
                  <a:spcBef>
                    <a:spcPct val="0"/>
                  </a:spcBef>
                  <a:spcAft>
                    <a:spcPct val="0"/>
                  </a:spcAft>
                  <a:buFont typeface="+mj-lt"/>
                  <a:buAutoNum type="arabicPeriod"/>
                </a:pPr>
                <a:r>
                  <a:rPr lang="en-US" altLang="zh-CN" sz="2400" b="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p>
            </p:txBody>
          </p:sp>
        </mc:Choice>
        <mc:Fallback xmlns="">
          <p:sp>
            <p:nvSpPr>
              <p:cNvPr id="9" name="文本框 8"/>
              <p:cNvSpPr txBox="1">
                <a:spLocks noRot="1" noChangeAspect="1" noMove="1" noResize="1" noEditPoints="1" noAdjustHandles="1" noChangeArrowheads="1" noChangeShapeType="1" noTextEdit="1"/>
              </p:cNvSpPr>
              <p:nvPr/>
            </p:nvSpPr>
            <p:spPr>
              <a:xfrm>
                <a:off x="584225" y="1460111"/>
                <a:ext cx="11283478" cy="4524315"/>
              </a:xfrm>
              <a:prstGeom prst="rect">
                <a:avLst/>
              </a:prstGeom>
              <a:blipFill>
                <a:blip r:embed="rId3"/>
                <a:stretch>
                  <a:fillRect b="-2156"/>
                </a:stretch>
              </a:blipFill>
            </p:spPr>
            <p:txBody>
              <a:bodyPr/>
              <a:lstStyle/>
              <a:p>
                <a:r>
                  <a:rPr lang="zh-CN" altLang="en-US">
                    <a:noFill/>
                  </a:rPr>
                  <a:t> </a:t>
                </a:r>
              </a:p>
            </p:txBody>
          </p:sp>
        </mc:Fallback>
      </mc:AlternateContent>
      <p:sp>
        <p:nvSpPr>
          <p:cNvPr id="6" name="AutoShape 2" descr="\\tmp\wps-root\ksohtml\wpsXF2FWo.jpg"/>
          <p:cNvSpPr>
            <a:spLocks noChangeAspect="1" noChangeArrowheads="1"/>
          </p:cNvSpPr>
          <p:nvPr/>
        </p:nvSpPr>
        <p:spPr bwMode="auto">
          <a:xfrm>
            <a:off x="1049338" y="-5016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AutoShape 3" descr="\\tmp\wps-root\ksohtml\wpsRJuyd5.jpg"/>
          <p:cNvSpPr>
            <a:spLocks noChangeAspect="1" noChangeArrowheads="1"/>
          </p:cNvSpPr>
          <p:nvPr/>
        </p:nvSpPr>
        <p:spPr bwMode="auto">
          <a:xfrm>
            <a:off x="796925" y="-3190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AutoShape 4" descr="\\tmp\wps-root\ksohtml\wpsJ7luuL.jpg"/>
          <p:cNvSpPr>
            <a:spLocks noChangeAspect="1" noChangeArrowheads="1"/>
          </p:cNvSpPr>
          <p:nvPr/>
        </p:nvSpPr>
        <p:spPr bwMode="auto">
          <a:xfrm>
            <a:off x="1411288" y="-3190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AutoShape 5" descr="\\tmp\wps-root\ksohtml\wpsHuQuLr.jpg"/>
          <p:cNvSpPr>
            <a:spLocks noChangeAspect="1" noChangeArrowheads="1"/>
          </p:cNvSpPr>
          <p:nvPr/>
        </p:nvSpPr>
        <p:spPr bwMode="auto">
          <a:xfrm>
            <a:off x="1049338" y="158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AutoShape 8" descr="\\tmp\wps-root\ksohtml\wpsrPQCf7.jpg"/>
          <p:cNvSpPr>
            <a:spLocks noChangeAspect="1" noChangeArrowheads="1"/>
          </p:cNvSpPr>
          <p:nvPr/>
        </p:nvSpPr>
        <p:spPr bwMode="auto">
          <a:xfrm>
            <a:off x="328613" y="-669925"/>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AutoShape 9" descr="\\tmp\wps-root\ksohtml\wpsDo1Js6.jpg"/>
          <p:cNvSpPr>
            <a:spLocks noChangeAspect="1" noChangeArrowheads="1"/>
          </p:cNvSpPr>
          <p:nvPr/>
        </p:nvSpPr>
        <p:spPr bwMode="auto">
          <a:xfrm>
            <a:off x="76200" y="-4873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AutoShape 10" descr="\\tmp\wps-root\ksohtml\wpsxYNUF5.jpg"/>
          <p:cNvSpPr>
            <a:spLocks noChangeAspect="1" noChangeArrowheads="1"/>
          </p:cNvSpPr>
          <p:nvPr/>
        </p:nvSpPr>
        <p:spPr bwMode="auto">
          <a:xfrm>
            <a:off x="690563" y="-487363"/>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AutoShape 11" descr="\\tmp\wps-root\ksohtml\wpspQS8S4.jpg"/>
          <p:cNvSpPr>
            <a:spLocks noChangeAspect="1" noChangeArrowheads="1"/>
          </p:cNvSpPr>
          <p:nvPr/>
        </p:nvSpPr>
        <p:spPr bwMode="auto">
          <a:xfrm>
            <a:off x="328613" y="-152400"/>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AutoShape 12" descr="\\tmp\wps-root\ksohtml\wpsbHQp63.jpg"/>
          <p:cNvSpPr>
            <a:spLocks noChangeAspect="1" noChangeArrowheads="1"/>
          </p:cNvSpPr>
          <p:nvPr/>
        </p:nvSpPr>
        <p:spPr bwMode="auto">
          <a:xfrm>
            <a:off x="76200" y="301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任意多边形: 形状 13">
            <a:extLst>
              <a:ext uri="{FF2B5EF4-FFF2-40B4-BE49-F238E27FC236}">
                <a16:creationId xmlns:a16="http://schemas.microsoft.com/office/drawing/2014/main" id="{BB7B2CCE-99DF-4AF4-BEDA-188B38B189F1}"/>
              </a:ext>
            </a:extLst>
          </p:cNvPr>
          <p:cNvSpPr/>
          <p:nvPr/>
        </p:nvSpPr>
        <p:spPr>
          <a:xfrm>
            <a:off x="5608050" y="4723816"/>
            <a:ext cx="6259653" cy="608249"/>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en-US" altLang="zh-CN" sz="2400" dirty="0">
                <a:latin typeface="微软雅黑" panose="020B0503020204020204" pitchFamily="34" charset="-122"/>
                <a:ea typeface="微软雅黑" panose="020B0503020204020204" pitchFamily="34" charset="-122"/>
              </a:rPr>
              <a:t>1-3</a:t>
            </a:r>
            <a:r>
              <a:rPr lang="zh-CN" altLang="en-US" sz="2400" dirty="0">
                <a:latin typeface="微软雅黑" panose="020B0503020204020204" pitchFamily="34" charset="-122"/>
                <a:ea typeface="微软雅黑" panose="020B0503020204020204" pitchFamily="34" charset="-122"/>
              </a:rPr>
              <a:t>：时间复杂度 </a:t>
            </a:r>
            <a:r>
              <a:rPr lang="en-US" altLang="zh-CN" sz="2400" dirty="0">
                <a:latin typeface="微软雅黑" panose="020B0503020204020204" pitchFamily="34" charset="-122"/>
                <a:ea typeface="微软雅黑" panose="020B0503020204020204" pitchFamily="34" charset="-122"/>
              </a:rPr>
              <a:t>O</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a:t>
            </a:r>
            <a:r>
              <a:rPr lang="zh-CN" altLang="en-US" sz="2400" dirty="0">
                <a:latin typeface="微软雅黑" panose="020B0503020204020204" pitchFamily="34" charset="-122"/>
                <a:ea typeface="微软雅黑" panose="020B0503020204020204" pitchFamily="34" charset="-122"/>
              </a:rPr>
              <a:t>）</a:t>
            </a:r>
            <a:endParaRPr lang="zh-CN" altLang="zh-CN" sz="2400" dirty="0">
              <a:latin typeface="微软雅黑" panose="020B0503020204020204" pitchFamily="34" charset="-122"/>
              <a:ea typeface="微软雅黑" panose="020B0503020204020204" pitchFamily="34" charset="-122"/>
            </a:endParaRPr>
          </a:p>
        </p:txBody>
      </p:sp>
      <p:sp>
        <p:nvSpPr>
          <p:cNvPr id="19" name="任意多边形: 形状 13">
            <a:extLst>
              <a:ext uri="{FF2B5EF4-FFF2-40B4-BE49-F238E27FC236}">
                <a16:creationId xmlns:a16="http://schemas.microsoft.com/office/drawing/2014/main" id="{BB7B2CCE-99DF-4AF4-BEDA-188B38B189F1}"/>
              </a:ext>
            </a:extLst>
          </p:cNvPr>
          <p:cNvSpPr/>
          <p:nvPr/>
        </p:nvSpPr>
        <p:spPr>
          <a:xfrm>
            <a:off x="3016404" y="5543623"/>
            <a:ext cx="8083421" cy="608249"/>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en-US" altLang="zh-CN" sz="2400" dirty="0">
                <a:latin typeface="微软雅黑" panose="020B0503020204020204" pitchFamily="34" charset="-122"/>
                <a:ea typeface="微软雅黑" panose="020B0503020204020204" pitchFamily="34" charset="-122"/>
              </a:rPr>
              <a:t>4-8</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for</a:t>
            </a:r>
            <a:r>
              <a:rPr lang="zh-CN" altLang="en-US" sz="2400" dirty="0">
                <a:latin typeface="微软雅黑" panose="020B0503020204020204" pitchFamily="34" charset="-122"/>
                <a:ea typeface="微软雅黑" panose="020B0503020204020204" pitchFamily="34" charset="-122"/>
              </a:rPr>
              <a:t>循环</a:t>
            </a:r>
            <a:r>
              <a:rPr lang="en-US" altLang="zh-CN" sz="2400" dirty="0">
                <a:latin typeface="微软雅黑" panose="020B0503020204020204" pitchFamily="34" charset="-122"/>
                <a:ea typeface="微软雅黑" panose="020B0503020204020204" pitchFamily="34" charset="-122"/>
              </a:rPr>
              <a:t>O(n), </a:t>
            </a:r>
            <a:r>
              <a:rPr lang="zh-CN" altLang="en-US" sz="2400" dirty="0">
                <a:latin typeface="微软雅黑" panose="020B0503020204020204" pitchFamily="34" charset="-122"/>
                <a:ea typeface="微软雅黑" panose="020B0503020204020204" pitchFamily="34" charset="-122"/>
              </a:rPr>
              <a:t>循环体依赖于第</a:t>
            </a:r>
            <a:r>
              <a:rPr lang="en-US" altLang="zh-CN" sz="2400" dirty="0">
                <a:latin typeface="微软雅黑" panose="020B0503020204020204" pitchFamily="34" charset="-122"/>
                <a:ea typeface="微软雅黑" panose="020B0503020204020204" pitchFamily="34" charset="-122"/>
              </a:rPr>
              <a:t>6</a:t>
            </a:r>
            <a:r>
              <a:rPr lang="zh-CN" altLang="en-US" sz="2400" dirty="0">
                <a:latin typeface="微软雅黑" panose="020B0503020204020204" pitchFamily="34" charset="-122"/>
                <a:ea typeface="微软雅黑" panose="020B0503020204020204" pitchFamily="34" charset="-122"/>
              </a:rPr>
              <a:t>行</a:t>
            </a:r>
            <a:r>
              <a:rPr lang="en-US" altLang="zh-CN" sz="2400" dirty="0">
                <a:latin typeface="微软雅黑" panose="020B0503020204020204" pitchFamily="34" charset="-122"/>
                <a:ea typeface="微软雅黑" panose="020B0503020204020204" pitchFamily="34" charset="-122"/>
              </a:rPr>
              <a:t>DFS</a:t>
            </a:r>
            <a:r>
              <a:rPr lang="zh-CN" altLang="en-US" sz="2400" dirty="0">
                <a:latin typeface="微软雅黑" panose="020B0503020204020204" pitchFamily="34" charset="-122"/>
                <a:ea typeface="微软雅黑" panose="020B0503020204020204" pitchFamily="34" charset="-122"/>
              </a:rPr>
              <a:t>时间复杂度</a:t>
            </a:r>
            <a:endParaRPr lang="zh-CN" altLang="zh-CN" sz="2400" dirty="0">
              <a:latin typeface="微软雅黑" panose="020B0503020204020204" pitchFamily="34" charset="-122"/>
              <a:ea typeface="微软雅黑" panose="020B0503020204020204" pitchFamily="34" charset="-122"/>
            </a:endParaRPr>
          </a:p>
        </p:txBody>
      </p:sp>
      <p:sp>
        <p:nvSpPr>
          <p:cNvPr id="20" name="TextBox 36">
            <a:extLst>
              <a:ext uri="{FF2B5EF4-FFF2-40B4-BE49-F238E27FC236}">
                <a16:creationId xmlns:a16="http://schemas.microsoft.com/office/drawing/2014/main" id="{5F025EC7-2C14-46B8-A82E-40617E356176}"/>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10254783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深度优先遍历</a:t>
            </a:r>
          </a:p>
        </p:txBody>
      </p:sp>
      <mc:AlternateContent xmlns:mc="http://schemas.openxmlformats.org/markup-compatibility/2006" xmlns:a14="http://schemas.microsoft.com/office/drawing/2010/main">
        <mc:Choice Requires="a14">
          <p:sp>
            <p:nvSpPr>
              <p:cNvPr id="9" name="文本框 8"/>
              <p:cNvSpPr txBox="1"/>
              <p:nvPr/>
            </p:nvSpPr>
            <p:spPr>
              <a:xfrm>
                <a:off x="584225" y="1460111"/>
                <a:ext cx="11283478" cy="4893647"/>
              </a:xfrm>
              <a:prstGeom prst="rect">
                <a:avLst/>
              </a:prstGeom>
              <a:noFill/>
            </p:spPr>
            <p:txBody>
              <a:bodyPr wrap="square" rtlCol="0">
                <a:spAutoFit/>
              </a:bodyPr>
              <a:lstStyle/>
              <a:p>
                <a:pPr lvl="0" eaLnBrk="0" fontAlgn="base" hangingPunct="0">
                  <a:spcBef>
                    <a:spcPct val="0"/>
                  </a:spcBef>
                  <a:spcAft>
                    <a:spcPct val="0"/>
                  </a:spcAft>
                </a:pPr>
                <a:r>
                  <a:rPr lang="zh-CN" altLang="zh-CN" sz="2400" b="1" u="sng" dirty="0">
                    <a:latin typeface="宋体" panose="02010600030101010101" pitchFamily="2" charset="-122"/>
                    <a:cs typeface="Times New Roman" panose="02020603050405020304" pitchFamily="18" charset="0"/>
                  </a:rPr>
                  <a:t>算法</a:t>
                </a:r>
                <a:r>
                  <a:rPr lang="zh-CN" altLang="zh-CN" sz="2400" b="1" u="sng" dirty="0">
                    <a:latin typeface="Times New Roman" panose="02020603050405020304" pitchFamily="18" charset="0"/>
                    <a:cs typeface="Times New Roman" panose="02020603050405020304" pitchFamily="18" charset="0"/>
                  </a:rPr>
                  <a:t>7-12: </a:t>
                </a:r>
                <a:r>
                  <a:rPr lang="zh-CN" altLang="zh-CN" sz="2400" u="sng" dirty="0">
                    <a:latin typeface="宋体" panose="02010600030101010101" pitchFamily="2" charset="-122"/>
                    <a:cs typeface="Times New Roman" panose="02020603050405020304" pitchFamily="18" charset="0"/>
                  </a:rPr>
                  <a:t>从指定顶点开始深度优先遍历</a:t>
                </a:r>
                <a:r>
                  <a:rPr lang="zh-CN" altLang="zh-CN" sz="2400" u="sng" dirty="0">
                    <a:latin typeface="Times New Roman" panose="02020603050405020304" pitchFamily="18" charset="0"/>
                    <a:cs typeface="Times New Roman" panose="02020603050405020304" pitchFamily="18" charset="0"/>
                  </a:rPr>
                  <a:t> DFS(</a:t>
                </a:r>
                <a:r>
                  <a:rPr lang="zh-CN" altLang="zh-CN" sz="2400" i="1" u="sng" dirty="0">
                    <a:latin typeface="Times New Roman" panose="02020603050405020304" pitchFamily="18" charset="0"/>
                    <a:cs typeface="Times New Roman" panose="02020603050405020304" pitchFamily="18" charset="0"/>
                  </a:rPr>
                  <a:t>graph,v,visited</a:t>
                </a:r>
                <a:r>
                  <a:rPr lang="zh-CN" altLang="zh-CN" sz="2400" u="sng" dirty="0">
                    <a:latin typeface="Times New Roman" panose="02020603050405020304" pitchFamily="18" charset="0"/>
                    <a:cs typeface="Times New Roman" panose="02020603050405020304" pitchFamily="18" charset="0"/>
                  </a:rPr>
                  <a:t>)</a:t>
                </a:r>
                <a:endParaRPr lang="zh-CN" altLang="zh-CN" sz="3200" u="sng"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输入：</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r>
                  <a:rPr lang="zh-CN" altLang="zh-CN" sz="2400" dirty="0">
                    <a:latin typeface="宋体" panose="02010600030101010101" pitchFamily="2" charset="-122"/>
                    <a:cs typeface="Times New Roman" panose="02020603050405020304" pitchFamily="18" charset="0"/>
                  </a:rPr>
                  <a:t>，出发顶点</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，已访问标志数组</a:t>
                </a:r>
                <a:r>
                  <a:rPr lang="zh-CN" altLang="zh-CN" sz="2400" i="1" dirty="0">
                    <a:latin typeface="Times New Roman" panose="02020603050405020304" pitchFamily="18" charset="0"/>
                    <a:cs typeface="Times New Roman" panose="02020603050405020304" pitchFamily="18" charset="0"/>
                  </a:rPr>
                  <a:t>visited</a:t>
                </a:r>
                <a:endParaRPr lang="zh-CN" altLang="zh-CN" sz="3200"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输出：</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r>
                  <a:rPr lang="zh-CN" altLang="zh-CN" sz="2400" dirty="0">
                    <a:latin typeface="宋体" panose="02010600030101010101" pitchFamily="2" charset="-122"/>
                    <a:cs typeface="Times New Roman" panose="02020603050405020304" pitchFamily="18" charset="0"/>
                  </a:rPr>
                  <a:t>中从顶点</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出发的深度优先访问序列</a:t>
                </a:r>
                <a:endParaRPr lang="zh-CN" altLang="zh-CN" sz="3200" dirty="0"/>
              </a:p>
              <a:p>
                <a:pPr marL="457200" lvl="0" indent="-457200" eaLnBrk="0" fontAlgn="base" hangingPunct="0">
                  <a:spcBef>
                    <a:spcPct val="0"/>
                  </a:spcBef>
                  <a:spcAft>
                    <a:spcPct val="0"/>
                  </a:spcAft>
                  <a:buFont typeface="+mj-lt"/>
                  <a:buAutoNum type="arabicPeriod"/>
                </a:pPr>
                <a:r>
                  <a:rPr lang="zh-CN" altLang="zh-CN" sz="2400" i="1" dirty="0">
                    <a:latin typeface="Times New Roman" panose="02020603050405020304" pitchFamily="18" charset="0"/>
                    <a:cs typeface="Times New Roman" panose="02020603050405020304" pitchFamily="18" charset="0"/>
                  </a:rPr>
                  <a:t>visited</a:t>
                </a:r>
                <a:r>
                  <a:rPr lang="zh-CN" altLang="zh-CN" sz="2400" dirty="0">
                    <a:latin typeface="Times New Roman" panose="02020603050405020304" pitchFamily="18" charset="0"/>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Times New Roman" panose="02020603050405020304" pitchFamily="18" charset="0"/>
                    <a:cs typeface="Times New Roman" panose="02020603050405020304" pitchFamily="18" charset="0"/>
                  </a:rPr>
                  <a:t>]</a:t>
                </a:r>
                <a14:m>
                  <m:oMath xmlns:m="http://schemas.openxmlformats.org/officeDocument/2006/math">
                    <m:r>
                      <a:rPr lang="zh-CN" altLang="en-US" sz="2400" i="1" smtClean="0">
                        <a:latin typeface="Cambria Math" panose="02040503050406030204" pitchFamily="18" charset="0"/>
                        <a:cs typeface="Times New Roman" panose="02020603050405020304" pitchFamily="18" charset="0"/>
                      </a:rPr>
                      <m:t>←</m:t>
                    </m:r>
                  </m:oMath>
                </a14:m>
                <a:r>
                  <a:rPr lang="en-US" altLang="zh-CN" sz="2400" dirty="0">
                    <a:latin typeface="Times New Roman" panose="02020603050405020304" pitchFamily="18" charset="0"/>
                    <a:cs typeface="Times New Roman" panose="02020603050405020304" pitchFamily="18" charset="0"/>
                  </a:rPr>
                  <a:t>true</a:t>
                </a:r>
                <a:r>
                  <a:rPr lang="zh-CN" altLang="zh-CN" sz="2400" dirty="0">
                    <a:latin typeface="Times New Roman" panose="02020603050405020304" pitchFamily="18" charset="0"/>
                    <a:cs typeface="Times New Roman" panose="02020603050405020304" pitchFamily="18" charset="0"/>
                  </a:rPr>
                  <a:t>  </a:t>
                </a:r>
                <a:r>
                  <a:rPr lang="zh-CN" altLang="zh-CN" sz="3600" dirty="0">
                    <a:latin typeface="Times New Roman" panose="02020603050405020304" pitchFamily="18" charset="0"/>
                    <a:cs typeface="Times New Roman" panose="02020603050405020304" pitchFamily="18" charset="0"/>
                  </a:rPr>
                  <a:t> </a:t>
                </a:r>
                <a:endParaRPr lang="zh-CN" altLang="zh-CN" sz="3200" dirty="0"/>
              </a:p>
              <a:p>
                <a:pPr marL="457200" lvl="0" indent="-457200"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v</a:t>
                </a:r>
                <a:r>
                  <a:rPr lang="zh-CN" altLang="zh-CN" sz="2400" dirty="0">
                    <a:latin typeface="Times New Roman" panose="02020603050405020304" pitchFamily="18" charset="0"/>
                    <a:cs typeface="Times New Roman" panose="02020603050405020304" pitchFamily="18" charset="0"/>
                  </a:rPr>
                  <a:t>isit(</a:t>
                </a:r>
                <a:r>
                  <a:rPr lang="zh-CN" altLang="zh-CN" sz="2400" i="1" dirty="0">
                    <a:latin typeface="Times New Roman" panose="02020603050405020304" pitchFamily="18" charset="0"/>
                    <a:cs typeface="Times New Roman" panose="02020603050405020304" pitchFamily="18" charset="0"/>
                  </a:rPr>
                  <a:t>graph, v</a:t>
                </a:r>
                <a:r>
                  <a:rPr lang="zh-CN" altLang="zh-CN" sz="2400" dirty="0">
                    <a:latin typeface="Times New Roman" panose="02020603050405020304" pitchFamily="18" charset="0"/>
                    <a:cs typeface="Times New Roman" panose="02020603050405020304" pitchFamily="18" charset="0"/>
                  </a:rPr>
                  <a:t>)</a:t>
                </a:r>
                <a:endParaRPr lang="zh-CN" altLang="zh-CN" sz="3200" dirty="0"/>
              </a:p>
              <a:p>
                <a:pPr marL="457200" lvl="0" indent="-457200" eaLnBrk="0" fontAlgn="base" hangingPunct="0">
                  <a:spcBef>
                    <a:spcPct val="0"/>
                  </a:spcBef>
                  <a:spcAft>
                    <a:spcPct val="0"/>
                  </a:spcAft>
                  <a:buFont typeface="+mj-lt"/>
                  <a:buAutoNum type="arabicPeriod"/>
                </a:pPr>
                <a:r>
                  <a:rPr lang="zh-CN" altLang="zh-CN" sz="2400" i="1" dirty="0">
                    <a:latin typeface="Times New Roman" panose="02020603050405020304" pitchFamily="18" charset="0"/>
                    <a:cs typeface="Times New Roman" panose="02020603050405020304" pitchFamily="18" charset="0"/>
                  </a:rPr>
                  <a:t>p</a:t>
                </a:r>
                <a:r>
                  <a:rPr lang="zh-CN" altLang="en-US" sz="2400" dirty="0">
                    <a:cs typeface="Times New Roman" panose="02020603050405020304" pitchFamily="18" charset="0"/>
                  </a:rPr>
                  <a:t> </a:t>
                </a:r>
                <a14:m>
                  <m:oMath xmlns:m="http://schemas.openxmlformats.org/officeDocument/2006/math">
                    <m:r>
                      <a:rPr lang="zh-CN" altLang="en-US" sz="2400" i="1">
                        <a:latin typeface="Cambria Math" panose="02040503050406030204" pitchFamily="18" charset="0"/>
                        <a:cs typeface="Times New Roman" panose="02020603050405020304" pitchFamily="18" charset="0"/>
                      </a:rPr>
                      <m:t>←</m:t>
                    </m:r>
                  </m:oMath>
                </a14:m>
                <a:r>
                  <a:rPr lang="zh-CN" altLang="zh-CN" sz="3600" i="1"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graph.ver_list[v].adj</a:t>
                </a:r>
              </a:p>
              <a:p>
                <a:pPr marL="457200" lvl="0" indent="-457200" eaLnBrk="0" fontAlgn="base" hangingPunct="0">
                  <a:spcBef>
                    <a:spcPct val="0"/>
                  </a:spcBef>
                  <a:spcAft>
                    <a:spcPct val="0"/>
                  </a:spcAft>
                  <a:buFont typeface="+mj-lt"/>
                  <a:buAutoNum type="arabicPeriod"/>
                </a:pPr>
                <a:r>
                  <a:rPr lang="zh-CN" altLang="zh-CN" sz="2400" b="1" dirty="0">
                    <a:latin typeface="Times New Roman" panose="02020603050405020304" pitchFamily="18" charset="0"/>
                    <a:cs typeface="Times New Roman" panose="02020603050405020304" pitchFamily="18" charset="0"/>
                  </a:rPr>
                  <a:t>while</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p</a:t>
                </a:r>
                <a14:m>
                  <m:oMath xmlns:m="http://schemas.openxmlformats.org/officeDocument/2006/math">
                    <m:r>
                      <a:rPr lang="zh-CN" altLang="en-US" sz="2400" i="1" smtClean="0">
                        <a:latin typeface="Cambria Math" panose="02040503050406030204" pitchFamily="18" charset="0"/>
                        <a:cs typeface="Times New Roman" panose="02020603050405020304" pitchFamily="18" charset="0"/>
                      </a:rPr>
                      <m:t>≠</m:t>
                    </m:r>
                  </m:oMath>
                </a14:m>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N</a:t>
                </a:r>
                <a:r>
                  <a:rPr lang="zh-CN" altLang="zh-CN" sz="2400" dirty="0">
                    <a:latin typeface="Times New Roman" panose="02020603050405020304" pitchFamily="18" charset="0"/>
                    <a:cs typeface="Times New Roman" panose="02020603050405020304" pitchFamily="18" charset="0"/>
                  </a:rPr>
                  <a:t>IL </a:t>
                </a:r>
                <a:r>
                  <a:rPr lang="zh-CN" altLang="zh-CN" sz="2400" b="1" dirty="0">
                    <a:latin typeface="Times New Roman" panose="02020603050405020304" pitchFamily="18" charset="0"/>
                    <a:cs typeface="Times New Roman" panose="02020603050405020304" pitchFamily="18" charset="0"/>
                  </a:rPr>
                  <a:t>do</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if</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visited</a:t>
                </a:r>
                <a:r>
                  <a:rPr lang="zh-CN" altLang="zh-CN" sz="2400" dirty="0">
                    <a:latin typeface="Times New Roman" panose="02020603050405020304" pitchFamily="18" charset="0"/>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p.dest</a:t>
                </a:r>
                <a:r>
                  <a:rPr lang="zh-CN" altLang="zh-CN" sz="2400" dirty="0">
                    <a:latin typeface="Times New Roman" panose="02020603050405020304" pitchFamily="18" charset="0"/>
                    <a:cs typeface="Times New Roman" panose="02020603050405020304" pitchFamily="18" charset="0"/>
                  </a:rPr>
                  <a:t>]=</a:t>
                </a:r>
                <a:r>
                  <a:rPr lang="zh-CN" altLang="zh-CN" sz="2400" b="1" dirty="0">
                    <a:latin typeface="Times New Roman" panose="02020603050405020304" pitchFamily="18" charset="0"/>
                    <a:cs typeface="Times New Roman" panose="02020603050405020304" pitchFamily="18" charset="0"/>
                  </a:rPr>
                  <a:t>false then</a:t>
                </a:r>
                <a:r>
                  <a:rPr lang="zh-CN" altLang="zh-CN" sz="2400" dirty="0">
                    <a:latin typeface="Times New Roman" panose="02020603050405020304" pitchFamily="18" charset="0"/>
                    <a:cs typeface="Times New Roman" panose="02020603050405020304" pitchFamily="18" charset="0"/>
                  </a:rPr>
                  <a:t> </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  DFS(</a:t>
                </a:r>
                <a:r>
                  <a:rPr lang="zh-CN" altLang="zh-CN" sz="2400" i="1" dirty="0">
                    <a:latin typeface="Times New Roman" panose="02020603050405020304" pitchFamily="18" charset="0"/>
                    <a:cs typeface="Times New Roman" panose="02020603050405020304" pitchFamily="18" charset="0"/>
                  </a:rPr>
                  <a:t>graph, p.dest, visited</a:t>
                </a:r>
                <a:r>
                  <a:rPr lang="zh-CN" altLang="zh-CN" sz="2400" dirty="0">
                    <a:latin typeface="Times New Roman" panose="02020603050405020304" pitchFamily="18" charset="0"/>
                    <a:cs typeface="Times New Roman" panose="02020603050405020304" pitchFamily="18" charset="0"/>
                  </a:rPr>
                  <a:t>)</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p</a:t>
                </a:r>
                <a:r>
                  <a:rPr lang="zh-CN" altLang="en-US" sz="2400" dirty="0">
                    <a:cs typeface="Times New Roman" panose="02020603050405020304" pitchFamily="18" charset="0"/>
                  </a:rPr>
                  <a:t> </a:t>
                </a:r>
                <a14:m>
                  <m:oMath xmlns:m="http://schemas.openxmlformats.org/officeDocument/2006/math">
                    <m:r>
                      <a:rPr lang="zh-CN" altLang="en-US" sz="2400" i="1">
                        <a:latin typeface="Cambria Math" panose="02040503050406030204" pitchFamily="18" charset="0"/>
                        <a:cs typeface="Times New Roman" panose="02020603050405020304" pitchFamily="18" charset="0"/>
                      </a:rPr>
                      <m:t>←</m:t>
                    </m:r>
                  </m:oMath>
                </a14:m>
                <a:r>
                  <a:rPr lang="zh-CN" altLang="zh-CN" sz="2400" i="1" dirty="0">
                    <a:latin typeface="Times New Roman" panose="02020603050405020304" pitchFamily="18" charset="0"/>
                    <a:cs typeface="Times New Roman" panose="02020603050405020304" pitchFamily="18" charset="0"/>
                  </a:rPr>
                  <a:t>p.next</a:t>
                </a:r>
                <a:endParaRPr lang="zh-CN" altLang="zh-CN" sz="3200" dirty="0"/>
              </a:p>
              <a:p>
                <a:pPr marL="457200" lvl="0" indent="-457200" eaLnBrk="0" fontAlgn="base" hangingPunct="0">
                  <a:spcBef>
                    <a:spcPct val="0"/>
                  </a:spcBef>
                  <a:spcAft>
                    <a:spcPct val="0"/>
                  </a:spcAft>
                  <a:buFont typeface="+mj-lt"/>
                  <a:buAutoNum type="arabicPeriod"/>
                </a:pPr>
                <a:r>
                  <a:rPr lang="zh-CN" altLang="zh-CN" sz="2400" b="1" dirty="0">
                    <a:latin typeface="Times New Roman" panose="02020603050405020304" pitchFamily="18" charset="0"/>
                    <a:cs typeface="Times New Roman" panose="02020603050405020304" pitchFamily="18" charset="0"/>
                  </a:rPr>
                  <a:t>end</a:t>
                </a:r>
                <a:endParaRPr lang="zh-CN" altLang="zh-CN" sz="2400" dirty="0">
                  <a:latin typeface="Times New Roman" panose="02020603050405020304" pitchFamily="18" charset="0"/>
                  <a:cs typeface="Times New Roman" panose="02020603050405020304" pitchFamily="18" charset="0"/>
                </a:endParaRPr>
              </a:p>
            </p:txBody>
          </p:sp>
        </mc:Choice>
        <mc:Fallback xmlns="">
          <p:sp>
            <p:nvSpPr>
              <p:cNvPr id="9" name="文本框 8"/>
              <p:cNvSpPr txBox="1">
                <a:spLocks noRot="1" noChangeAspect="1" noMove="1" noResize="1" noEditPoints="1" noAdjustHandles="1" noChangeArrowheads="1" noChangeShapeType="1" noTextEdit="1"/>
              </p:cNvSpPr>
              <p:nvPr/>
            </p:nvSpPr>
            <p:spPr>
              <a:xfrm>
                <a:off x="584225" y="1460111"/>
                <a:ext cx="11283478" cy="4893647"/>
              </a:xfrm>
              <a:prstGeom prst="rect">
                <a:avLst/>
              </a:prstGeom>
              <a:blipFill>
                <a:blip r:embed="rId3"/>
                <a:stretch>
                  <a:fillRect l="-864" t="-1496" b="-1995"/>
                </a:stretch>
              </a:blipFill>
            </p:spPr>
            <p:txBody>
              <a:bodyPr/>
              <a:lstStyle/>
              <a:p>
                <a:r>
                  <a:rPr lang="zh-CN" altLang="en-US">
                    <a:noFill/>
                  </a:rPr>
                  <a:t> </a:t>
                </a:r>
              </a:p>
            </p:txBody>
          </p:sp>
        </mc:Fallback>
      </mc:AlternateContent>
      <p:sp>
        <p:nvSpPr>
          <p:cNvPr id="6" name="AutoShape 2" descr="\\tmp\wps-root\ksohtml\wpsXF2FWo.jpg"/>
          <p:cNvSpPr>
            <a:spLocks noChangeAspect="1" noChangeArrowheads="1"/>
          </p:cNvSpPr>
          <p:nvPr/>
        </p:nvSpPr>
        <p:spPr bwMode="auto">
          <a:xfrm>
            <a:off x="1049338" y="-5016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AutoShape 3" descr="\\tmp\wps-root\ksohtml\wpsRJuyd5.jpg"/>
          <p:cNvSpPr>
            <a:spLocks noChangeAspect="1" noChangeArrowheads="1"/>
          </p:cNvSpPr>
          <p:nvPr/>
        </p:nvSpPr>
        <p:spPr bwMode="auto">
          <a:xfrm>
            <a:off x="796925" y="-3190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AutoShape 4" descr="\\tmp\wps-root\ksohtml\wpsJ7luuL.jpg"/>
          <p:cNvSpPr>
            <a:spLocks noChangeAspect="1" noChangeArrowheads="1"/>
          </p:cNvSpPr>
          <p:nvPr/>
        </p:nvSpPr>
        <p:spPr bwMode="auto">
          <a:xfrm>
            <a:off x="1411288" y="-3190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AutoShape 5" descr="\\tmp\wps-root\ksohtml\wpsHuQuLr.jpg"/>
          <p:cNvSpPr>
            <a:spLocks noChangeAspect="1" noChangeArrowheads="1"/>
          </p:cNvSpPr>
          <p:nvPr/>
        </p:nvSpPr>
        <p:spPr bwMode="auto">
          <a:xfrm>
            <a:off x="1049338" y="158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AutoShape 6" descr="\\tmp\wps-root\ksohtml\wpsPVuA27.jpg"/>
          <p:cNvSpPr>
            <a:spLocks noChangeAspect="1" noChangeArrowheads="1"/>
          </p:cNvSpPr>
          <p:nvPr/>
        </p:nvSpPr>
        <p:spPr bwMode="auto">
          <a:xfrm>
            <a:off x="796925" y="1984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AutoShape 8" descr="\\tmp\wps-root\ksohtml\wpsrPQCf7.jpg"/>
          <p:cNvSpPr>
            <a:spLocks noChangeAspect="1" noChangeArrowheads="1"/>
          </p:cNvSpPr>
          <p:nvPr/>
        </p:nvSpPr>
        <p:spPr bwMode="auto">
          <a:xfrm>
            <a:off x="328613" y="-669925"/>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AutoShape 9" descr="\\tmp\wps-root\ksohtml\wpsDo1Js6.jpg"/>
          <p:cNvSpPr>
            <a:spLocks noChangeAspect="1" noChangeArrowheads="1"/>
          </p:cNvSpPr>
          <p:nvPr/>
        </p:nvSpPr>
        <p:spPr bwMode="auto">
          <a:xfrm>
            <a:off x="76200" y="-4873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AutoShape 10" descr="\\tmp\wps-root\ksohtml\wpsxYNUF5.jpg"/>
          <p:cNvSpPr>
            <a:spLocks noChangeAspect="1" noChangeArrowheads="1"/>
          </p:cNvSpPr>
          <p:nvPr/>
        </p:nvSpPr>
        <p:spPr bwMode="auto">
          <a:xfrm>
            <a:off x="690563" y="-487363"/>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AutoShape 11" descr="\\tmp\wps-root\ksohtml\wpspQS8S4.jpg"/>
          <p:cNvSpPr>
            <a:spLocks noChangeAspect="1" noChangeArrowheads="1"/>
          </p:cNvSpPr>
          <p:nvPr/>
        </p:nvSpPr>
        <p:spPr bwMode="auto">
          <a:xfrm>
            <a:off x="328613" y="-152400"/>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AutoShape 12" descr="\\tmp\wps-root\ksohtml\wpsbHQp63.jpg"/>
          <p:cNvSpPr>
            <a:spLocks noChangeAspect="1" noChangeArrowheads="1"/>
          </p:cNvSpPr>
          <p:nvPr/>
        </p:nvSpPr>
        <p:spPr bwMode="auto">
          <a:xfrm>
            <a:off x="76200" y="301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AutoShape 2" descr="\\tmp\wps-root\ksohtml\wpsrjJaQk.jpg"/>
          <p:cNvSpPr>
            <a:spLocks noChangeAspect="1" noChangeArrowheads="1"/>
          </p:cNvSpPr>
          <p:nvPr/>
        </p:nvSpPr>
        <p:spPr bwMode="auto">
          <a:xfrm>
            <a:off x="550863" y="-517525"/>
            <a:ext cx="4476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AutoShape 3" descr="\\tmp\wps-root\ksohtml\wpsBqU0zB.jpg"/>
          <p:cNvSpPr>
            <a:spLocks noChangeAspect="1" noChangeArrowheads="1"/>
          </p:cNvSpPr>
          <p:nvPr/>
        </p:nvSpPr>
        <p:spPr bwMode="auto">
          <a:xfrm>
            <a:off x="139700" y="-182563"/>
            <a:ext cx="104775" cy="1905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AutoShape 4" descr="\\tmp\wps-root\ksohtml\wpszSBVjS.jpg"/>
          <p:cNvSpPr>
            <a:spLocks noChangeAspect="1" noChangeArrowheads="1"/>
          </p:cNvSpPr>
          <p:nvPr/>
        </p:nvSpPr>
        <p:spPr bwMode="auto">
          <a:xfrm>
            <a:off x="460375" y="0"/>
            <a:ext cx="952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AutoShape 5" descr="\\tmp\wps-root\ksohtml\wpspINU38.jpg"/>
          <p:cNvSpPr>
            <a:spLocks noChangeAspect="1" noChangeArrowheads="1"/>
          </p:cNvSpPr>
          <p:nvPr/>
        </p:nvSpPr>
        <p:spPr bwMode="auto">
          <a:xfrm>
            <a:off x="260350" y="639763"/>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任意多边形: 形状 13">
            <a:extLst>
              <a:ext uri="{FF2B5EF4-FFF2-40B4-BE49-F238E27FC236}">
                <a16:creationId xmlns:a16="http://schemas.microsoft.com/office/drawing/2014/main" id="{BB7B2CCE-99DF-4AF4-BEDA-188B38B189F1}"/>
              </a:ext>
            </a:extLst>
          </p:cNvPr>
          <p:cNvSpPr/>
          <p:nvPr/>
        </p:nvSpPr>
        <p:spPr>
          <a:xfrm>
            <a:off x="5448584" y="4913256"/>
            <a:ext cx="6186368" cy="1440502"/>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en-US" altLang="zh-CN" sz="2400" dirty="0">
                <a:latin typeface="微软雅黑" panose="020B0503020204020204" pitchFamily="34" charset="-122"/>
                <a:ea typeface="微软雅黑" panose="020B0503020204020204" pitchFamily="34" charset="-122"/>
              </a:rPr>
              <a:t>1-9</a:t>
            </a:r>
            <a:r>
              <a:rPr lang="zh-CN" altLang="en-US" sz="2400" dirty="0">
                <a:latin typeface="微软雅黑" panose="020B0503020204020204" pitchFamily="34" charset="-122"/>
                <a:ea typeface="微软雅黑" panose="020B0503020204020204" pitchFamily="34" charset="-122"/>
              </a:rPr>
              <a:t>：每次</a:t>
            </a:r>
            <a:r>
              <a:rPr lang="en-US" altLang="zh-CN" sz="2400" dirty="0">
                <a:latin typeface="微软雅黑" panose="020B0503020204020204" pitchFamily="34" charset="-122"/>
                <a:ea typeface="微软雅黑" panose="020B0503020204020204" pitchFamily="34" charset="-122"/>
              </a:rPr>
              <a:t>DFS</a:t>
            </a:r>
            <a:r>
              <a:rPr lang="zh-CN" altLang="en-US" sz="2400" dirty="0">
                <a:latin typeface="微软雅黑" panose="020B0503020204020204" pitchFamily="34" charset="-122"/>
                <a:ea typeface="微软雅黑" panose="020B0503020204020204" pitchFamily="34" charset="-122"/>
              </a:rPr>
              <a:t>调用访问</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个顶点和若干条边。合计访问到每个顶点和每条边一次，时间复杂度 </a:t>
            </a:r>
            <a:r>
              <a:rPr lang="en-US" altLang="zh-CN" sz="2400" dirty="0">
                <a:latin typeface="微软雅黑" panose="020B0503020204020204" pitchFamily="34" charset="-122"/>
                <a:ea typeface="微软雅黑" panose="020B0503020204020204" pitchFamily="34" charset="-122"/>
              </a:rPr>
              <a:t>O</a:t>
            </a:r>
            <a:r>
              <a:rPr lang="zh-CN" altLang="en-US" sz="2400" dirty="0">
                <a:latin typeface="微软雅黑" panose="020B0503020204020204" pitchFamily="34" charset="-122"/>
                <a:ea typeface="微软雅黑" panose="020B0503020204020204" pitchFamily="34" charset="-122"/>
              </a:rPr>
              <a:t>（</a:t>
            </a:r>
            <a:r>
              <a:rPr lang="en-US" altLang="zh-CN" sz="2400" dirty="0" err="1">
                <a:latin typeface="微软雅黑" panose="020B0503020204020204" pitchFamily="34" charset="-122"/>
                <a:ea typeface="微软雅黑" panose="020B0503020204020204" pitchFamily="34" charset="-122"/>
              </a:rPr>
              <a:t>n+m</a:t>
            </a:r>
            <a:r>
              <a:rPr lang="zh-CN" altLang="en-US" sz="2400" dirty="0">
                <a:latin typeface="微软雅黑" panose="020B0503020204020204" pitchFamily="34" charset="-122"/>
                <a:ea typeface="微软雅黑" panose="020B0503020204020204" pitchFamily="34" charset="-122"/>
              </a:rPr>
              <a:t>）。</a:t>
            </a:r>
            <a:endParaRPr lang="zh-CN" altLang="zh-CN" sz="2400" dirty="0">
              <a:latin typeface="微软雅黑" panose="020B0503020204020204" pitchFamily="34" charset="-122"/>
              <a:ea typeface="微软雅黑" panose="020B0503020204020204" pitchFamily="34" charset="-122"/>
            </a:endParaRPr>
          </a:p>
        </p:txBody>
      </p:sp>
      <p:sp>
        <p:nvSpPr>
          <p:cNvPr id="23" name="TextBox 36">
            <a:extLst>
              <a:ext uri="{FF2B5EF4-FFF2-40B4-BE49-F238E27FC236}">
                <a16:creationId xmlns:a16="http://schemas.microsoft.com/office/drawing/2014/main" id="{0A279214-828A-4ADE-B5C9-9D45C66DEAF2}"/>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7343225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广度优先遍历</a:t>
            </a:r>
          </a:p>
        </p:txBody>
      </p:sp>
      <p:sp>
        <p:nvSpPr>
          <p:cNvPr id="9" name="文本框 8"/>
          <p:cNvSpPr txBox="1"/>
          <p:nvPr/>
        </p:nvSpPr>
        <p:spPr>
          <a:xfrm>
            <a:off x="584224" y="1460111"/>
            <a:ext cx="11371915" cy="4524315"/>
          </a:xfrm>
          <a:prstGeom prst="rect">
            <a:avLst/>
          </a:prstGeom>
          <a:noFill/>
        </p:spPr>
        <p:txBody>
          <a:bodyPr wrap="square" rtlCol="0">
            <a:spAutoFit/>
          </a:bodyPr>
          <a:lstStyle/>
          <a:p>
            <a:pPr eaLnBrk="0" fontAlgn="base" hangingPunct="0">
              <a:lnSpc>
                <a:spcPct val="150000"/>
              </a:lnSpc>
              <a:spcBef>
                <a:spcPct val="0"/>
              </a:spcBef>
              <a:spcAft>
                <a:spcPct val="0"/>
              </a:spcAft>
            </a:pPr>
            <a:r>
              <a:rPr lang="zh-CN" altLang="zh-CN" sz="2400" b="1" dirty="0">
                <a:latin typeface="Times New Roman" panose="02020603050405020304" pitchFamily="18" charset="0"/>
                <a:cs typeface="Times New Roman" panose="02020603050405020304" pitchFamily="18" charset="0"/>
              </a:rPr>
              <a:t>BFS</a:t>
            </a:r>
            <a:r>
              <a:rPr lang="zh-CN" altLang="zh-CN" sz="2400" b="1" dirty="0">
                <a:latin typeface="宋体" panose="02010600030101010101" pitchFamily="2" charset="-122"/>
                <a:cs typeface="Times New Roman" panose="02020603050405020304" pitchFamily="18" charset="0"/>
              </a:rPr>
              <a:t>（</a:t>
            </a:r>
            <a:r>
              <a:rPr lang="zh-CN" altLang="zh-CN" sz="2400" b="1" dirty="0">
                <a:latin typeface="Times New Roman" panose="02020603050405020304" pitchFamily="18" charset="0"/>
                <a:cs typeface="Times New Roman" panose="02020603050405020304" pitchFamily="18" charset="0"/>
              </a:rPr>
              <a:t>Breadth First Search</a:t>
            </a:r>
            <a:r>
              <a:rPr lang="zh-CN" altLang="zh-CN" sz="2400" b="1" dirty="0">
                <a:latin typeface="宋体" panose="02010600030101010101" pitchFamily="2" charset="-122"/>
                <a:cs typeface="Times New Roman" panose="02020603050405020304" pitchFamily="18" charset="0"/>
              </a:rPr>
              <a:t>）</a:t>
            </a:r>
            <a:endParaRPr lang="zh-CN" altLang="zh-CN" sz="4800" b="1" dirty="0">
              <a:latin typeface="Arial" panose="020B0604020202020204" pitchFamily="34" charset="0"/>
            </a:endParaRPr>
          </a:p>
          <a:p>
            <a:pPr lvl="0" eaLnBrk="0" fontAlgn="base" hangingPunct="0">
              <a:lnSpc>
                <a:spcPct val="150000"/>
              </a:lnSpc>
              <a:spcBef>
                <a:spcPct val="0"/>
              </a:spcBef>
              <a:spcAft>
                <a:spcPct val="0"/>
              </a:spcAft>
            </a:pPr>
            <a:r>
              <a:rPr lang="zh-CN" altLang="zh-CN" sz="2400" dirty="0">
                <a:latin typeface="宋体" panose="02010600030101010101" pitchFamily="2" charset="-122"/>
                <a:cs typeface="Times New Roman" panose="02020603050405020304" pitchFamily="18" charset="0"/>
              </a:rPr>
              <a:t>访问方式如下：</a:t>
            </a:r>
            <a:endParaRPr lang="zh-CN" altLang="zh-CN" sz="4800" dirty="0">
              <a:latin typeface="Arial" panose="020B0604020202020204" pitchFamily="34" charset="0"/>
            </a:endParaRPr>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从选中的某一个未访问过的顶点出发，访问并对该顶点加已访问标志。</a:t>
            </a:r>
            <a:endParaRPr lang="zh-CN" altLang="zh-CN" sz="3200" dirty="0"/>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依次对该顶点的未被访问过的第</a:t>
            </a:r>
            <a:r>
              <a:rPr lang="zh-CN" altLang="zh-CN" sz="2400" dirty="0">
                <a:latin typeface="Times New Roman" panose="02020603050405020304" pitchFamily="18" charset="0"/>
                <a:cs typeface="Times New Roman" panose="02020603050405020304" pitchFamily="18" charset="0"/>
              </a:rPr>
              <a:t>1</a:t>
            </a:r>
            <a:r>
              <a:rPr lang="zh-CN" altLang="zh-CN" sz="2400" dirty="0">
                <a:latin typeface="宋体" panose="02010600030101010101" pitchFamily="2" charset="-122"/>
                <a:cs typeface="Times New Roman" panose="02020603050405020304" pitchFamily="18" charset="0"/>
              </a:rPr>
              <a:t>个、第</a:t>
            </a:r>
            <a:r>
              <a:rPr lang="zh-CN" altLang="zh-CN" sz="2400" dirty="0">
                <a:latin typeface="Times New Roman" panose="02020603050405020304" pitchFamily="18" charset="0"/>
                <a:cs typeface="Times New Roman" panose="02020603050405020304" pitchFamily="18" charset="0"/>
              </a:rPr>
              <a:t>2</a:t>
            </a:r>
            <a:r>
              <a:rPr lang="zh-CN" altLang="zh-CN" sz="2400" dirty="0">
                <a:latin typeface="宋体" panose="02010600030101010101" pitchFamily="2" charset="-122"/>
                <a:cs typeface="Times New Roman" panose="02020603050405020304" pitchFamily="18" charset="0"/>
              </a:rPr>
              <a:t>个、第</a:t>
            </a:r>
            <a:r>
              <a:rPr lang="zh-CN" altLang="zh-CN" sz="2400" dirty="0">
                <a:latin typeface="Times New Roman" panose="02020603050405020304" pitchFamily="18" charset="0"/>
                <a:cs typeface="Times New Roman" panose="02020603050405020304" pitchFamily="18" charset="0"/>
              </a:rPr>
              <a:t>3</a:t>
            </a:r>
            <a:r>
              <a:rPr lang="zh-CN" altLang="zh-CN" sz="2400" dirty="0">
                <a:latin typeface="宋体" panose="02010600030101010101" pitchFamily="2" charset="-122"/>
                <a:cs typeface="Times New Roman" panose="02020603050405020304" pitchFamily="18" charset="0"/>
              </a:rPr>
              <a:t>个</a:t>
            </a:r>
            <a:r>
              <a:rPr lang="zh-CN" altLang="zh-CN" sz="2400" dirty="0">
                <a:latin typeface="Times New Roman" panose="02020603050405020304" pitchFamily="18" charset="0"/>
                <a:cs typeface="Times New Roman" panose="02020603050405020304" pitchFamily="18" charset="0"/>
              </a:rPr>
              <a:t>……</a:t>
            </a:r>
            <a:r>
              <a:rPr lang="zh-CN" altLang="zh-CN" sz="2400" dirty="0">
                <a:latin typeface="宋体" panose="02010600030101010101" pitchFamily="2" charset="-122"/>
                <a:cs typeface="Times New Roman" panose="02020603050405020304" pitchFamily="18" charset="0"/>
              </a:rPr>
              <a:t>第 </a:t>
            </a:r>
            <a:r>
              <a:rPr lang="zh-CN" altLang="zh-CN" sz="2400" i="1" dirty="0">
                <a:latin typeface="Times New Roman" panose="02020603050405020304" pitchFamily="18" charset="0"/>
                <a:cs typeface="Times New Roman" panose="02020603050405020304" pitchFamily="18" charset="0"/>
              </a:rPr>
              <a:t>k</a:t>
            </a:r>
            <a:r>
              <a:rPr lang="zh-CN" altLang="zh-CN" sz="2400" dirty="0">
                <a:latin typeface="Times New Roman" panose="02020603050405020304" pitchFamily="18" charset="0"/>
                <a:cs typeface="Times New Roman" panose="02020603050405020304" pitchFamily="18" charset="0"/>
              </a:rPr>
              <a:t> </a:t>
            </a:r>
            <a:r>
              <a:rPr lang="zh-CN" altLang="zh-CN" sz="2400" dirty="0">
                <a:latin typeface="宋体" panose="02010600030101010101" pitchFamily="2" charset="-122"/>
                <a:cs typeface="Times New Roman" panose="02020603050405020304" pitchFamily="18" charset="0"/>
              </a:rPr>
              <a:t>个邻接点</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1</a:t>
            </a:r>
            <a:r>
              <a:rPr lang="zh-CN" altLang="zh-CN" sz="2400" dirty="0">
                <a:latin typeface="Times New Roman" panose="02020603050405020304" pitchFamily="18" charset="0"/>
                <a:cs typeface="Times New Roman" panose="02020603050405020304" pitchFamily="18" charset="0"/>
              </a:rPr>
              <a:t> </a:t>
            </a:r>
            <a:r>
              <a:rPr lang="zh-CN" altLang="zh-CN" sz="2400" dirty="0">
                <a:latin typeface="宋体" panose="02010600030101010101" pitchFamily="2" charset="-122"/>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2</a:t>
            </a:r>
            <a:r>
              <a:rPr lang="zh-CN" altLang="zh-CN" sz="2400" dirty="0">
                <a:latin typeface="宋体" panose="02010600030101010101" pitchFamily="2" charset="-122"/>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3</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k</a:t>
            </a:r>
            <a:r>
              <a:rPr lang="zh-CN" altLang="zh-CN" sz="2400" dirty="0">
                <a:latin typeface="宋体" panose="02010600030101010101" pitchFamily="2" charset="-122"/>
                <a:cs typeface="Times New Roman" panose="02020603050405020304" pitchFamily="18" charset="0"/>
              </a:rPr>
              <a:t>进行访问且加已访问标志。</a:t>
            </a:r>
            <a:endParaRPr lang="zh-CN" altLang="zh-CN" sz="3200" dirty="0"/>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依次对顶点 </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1</a:t>
            </a:r>
            <a:r>
              <a:rPr lang="zh-CN" altLang="zh-CN" sz="2400" dirty="0">
                <a:latin typeface="Times New Roman" panose="02020603050405020304" pitchFamily="18" charset="0"/>
                <a:cs typeface="Times New Roman" panose="02020603050405020304" pitchFamily="18" charset="0"/>
              </a:rPr>
              <a:t> </a:t>
            </a:r>
            <a:r>
              <a:rPr lang="zh-CN" altLang="zh-CN" sz="2400" dirty="0">
                <a:latin typeface="宋体" panose="02010600030101010101" pitchFamily="2" charset="-122"/>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2</a:t>
            </a:r>
            <a:r>
              <a:rPr lang="zh-CN" altLang="zh-CN" sz="2400" dirty="0">
                <a:latin typeface="宋体" panose="02010600030101010101" pitchFamily="2" charset="-122"/>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3</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a:t>
            </a:r>
            <a:r>
              <a:rPr lang="en-US" altLang="zh-CN" sz="2400" i="1" dirty="0">
                <a:latin typeface="Times New Roman" panose="02020603050405020304" pitchFamily="18" charset="0"/>
                <a:cs typeface="Times New Roman" panose="02020603050405020304" pitchFamily="18" charset="0"/>
              </a:rPr>
              <a:t>k</a:t>
            </a:r>
            <a:r>
              <a:rPr lang="zh-CN" altLang="zh-CN" sz="2400" dirty="0">
                <a:latin typeface="宋体" panose="02010600030101010101" pitchFamily="2" charset="-122"/>
                <a:cs typeface="Times New Roman" panose="02020603050405020304" pitchFamily="18" charset="0"/>
              </a:rPr>
              <a:t>转向操作</a:t>
            </a:r>
            <a:r>
              <a:rPr lang="zh-CN" altLang="zh-CN" sz="2400" dirty="0">
                <a:latin typeface="Times New Roman" panose="02020603050405020304" pitchFamily="18" charset="0"/>
                <a:cs typeface="Times New Roman" panose="02020603050405020304" pitchFamily="18" charset="0"/>
              </a:rPr>
              <a:t>2</a:t>
            </a:r>
            <a:r>
              <a:rPr lang="zh-CN" altLang="zh-CN" sz="2400" dirty="0">
                <a:latin typeface="宋体" panose="02010600030101010101" pitchFamily="2" charset="-122"/>
                <a:cs typeface="Times New Roman" panose="02020603050405020304" pitchFamily="18" charset="0"/>
              </a:rPr>
              <a:t>。</a:t>
            </a:r>
            <a:endParaRPr lang="zh-CN" altLang="zh-CN" sz="3200" dirty="0"/>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如果还有顶点未被访问过，选中其中一个顶点作为起始顶点，再次转向</a:t>
            </a:r>
            <a:r>
              <a:rPr lang="zh-CN" altLang="zh-CN" sz="2400" dirty="0">
                <a:latin typeface="Times New Roman" panose="02020603050405020304" pitchFamily="18" charset="0"/>
                <a:cs typeface="Times New Roman" panose="02020603050405020304" pitchFamily="18" charset="0"/>
              </a:rPr>
              <a:t>1</a:t>
            </a:r>
            <a:r>
              <a:rPr lang="zh-CN" altLang="zh-CN" sz="2400" dirty="0">
                <a:latin typeface="宋体" panose="02010600030101010101" pitchFamily="2" charset="-122"/>
                <a:cs typeface="Times New Roman" panose="02020603050405020304" pitchFamily="18" charset="0"/>
              </a:rPr>
              <a:t>。如果所有的顶点都被访问到，遍历结束。</a:t>
            </a:r>
            <a:endParaRPr lang="zh-CN" altLang="zh-CN" sz="4800" dirty="0">
              <a:latin typeface="Arial" panose="020B0604020202020204" pitchFamily="34" charset="0"/>
            </a:endParaRPr>
          </a:p>
        </p:txBody>
      </p:sp>
      <p:sp>
        <p:nvSpPr>
          <p:cNvPr id="8" name="TextBox 36">
            <a:extLst>
              <a:ext uri="{FF2B5EF4-FFF2-40B4-BE49-F238E27FC236}">
                <a16:creationId xmlns:a16="http://schemas.microsoft.com/office/drawing/2014/main" id="{F2CD72DF-EF36-4C1D-B285-B718128BCE67}"/>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1225088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489411"/>
            <a:ext cx="10515600" cy="518958"/>
          </a:xfrm>
        </p:spPr>
        <p:txBody>
          <a:bodyPr>
            <a:normAutofit/>
          </a:bodyPr>
          <a:lstStyle/>
          <a:p>
            <a:r>
              <a:rPr lang="zh-CN" altLang="en-US" dirty="0"/>
              <a:t>广度优先遍历</a:t>
            </a:r>
          </a:p>
        </p:txBody>
      </p:sp>
      <p:sp>
        <p:nvSpPr>
          <p:cNvPr id="5" name="矩形 4"/>
          <p:cNvSpPr/>
          <p:nvPr/>
        </p:nvSpPr>
        <p:spPr>
          <a:xfrm>
            <a:off x="794104" y="4810185"/>
            <a:ext cx="11016568" cy="1200329"/>
          </a:xfrm>
          <a:prstGeom prst="rect">
            <a:avLst/>
          </a:prstGeom>
        </p:spPr>
        <p:txBody>
          <a:bodyPr wrap="square">
            <a:spAutoFit/>
          </a:bodyPr>
          <a:lstStyle/>
          <a:p>
            <a:pPr marL="457200" lvl="0" indent="-457200" eaLnBrk="0" fontAlgn="base" hangingPunct="0">
              <a:lnSpc>
                <a:spcPct val="150000"/>
              </a:lnSpc>
              <a:spcBef>
                <a:spcPct val="0"/>
              </a:spcBef>
              <a:spcAft>
                <a:spcPct val="0"/>
              </a:spcAft>
              <a:buFont typeface="+mj-lt"/>
              <a:buAutoNum type="arabicPeriod"/>
            </a:pPr>
            <a:r>
              <a:rPr lang="zh-CN" altLang="en-US" sz="2400" dirty="0">
                <a:latin typeface="宋体" panose="02010600030101010101" pitchFamily="2" charset="-122"/>
                <a:cs typeface="Times New Roman" panose="02020603050405020304" pitchFamily="18" charset="0"/>
              </a:rPr>
              <a:t>广度优先遍历结果是不唯一的</a:t>
            </a:r>
            <a:r>
              <a:rPr lang="zh-CN" altLang="zh-CN" sz="2400" dirty="0">
                <a:latin typeface="宋体" panose="02010600030101010101" pitchFamily="2" charset="-122"/>
                <a:cs typeface="Times New Roman" panose="02020603050405020304" pitchFamily="18" charset="0"/>
              </a:rPr>
              <a:t>。</a:t>
            </a:r>
            <a:endParaRPr lang="en-US" altLang="zh-CN" sz="2400" dirty="0">
              <a:latin typeface="宋体" panose="02010600030101010101" pitchFamily="2" charset="-122"/>
              <a:cs typeface="Times New Roman" panose="02020603050405020304" pitchFamily="18" charset="0"/>
            </a:endParaRPr>
          </a:p>
          <a:p>
            <a:pPr marL="45720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它</a:t>
            </a:r>
            <a:r>
              <a:rPr lang="zh-CN" altLang="en-US" sz="2400" dirty="0">
                <a:latin typeface="宋体" panose="02010600030101010101" pitchFamily="2" charset="-122"/>
                <a:cs typeface="Times New Roman" panose="02020603050405020304" pitchFamily="18" charset="0"/>
              </a:rPr>
              <a:t>不</a:t>
            </a:r>
            <a:r>
              <a:rPr lang="zh-CN" altLang="zh-CN" sz="2400" dirty="0">
                <a:latin typeface="宋体" panose="02010600030101010101" pitchFamily="2" charset="-122"/>
                <a:cs typeface="Times New Roman" panose="02020603050405020304" pitchFamily="18" charset="0"/>
              </a:rPr>
              <a:t>是一个</a:t>
            </a:r>
            <a:r>
              <a:rPr lang="zh-CN" altLang="zh-CN" sz="2400" b="1" dirty="0">
                <a:latin typeface="宋体" panose="02010600030101010101" pitchFamily="2" charset="-122"/>
                <a:cs typeface="Times New Roman" panose="02020603050405020304" pitchFamily="18" charset="0"/>
              </a:rPr>
              <a:t>递归</a:t>
            </a:r>
            <a:r>
              <a:rPr lang="zh-CN" altLang="zh-CN" sz="2400" b="1" dirty="0">
                <a:latin typeface="宋体" panose="02010600030101010101" pitchFamily="2" charset="-122"/>
                <a:cs typeface="Arial" panose="020B0604020202020204" pitchFamily="34" charset="0"/>
              </a:rPr>
              <a:t>过程</a:t>
            </a:r>
            <a:r>
              <a:rPr lang="zh-CN" altLang="en-US" sz="2400" dirty="0">
                <a:latin typeface="宋体" panose="02010600030101010101" pitchFamily="2" charset="-122"/>
                <a:cs typeface="Arial" panose="020B0604020202020204" pitchFamily="34" charset="0"/>
              </a:rPr>
              <a:t>：由对图的遍历，转向对点的访问。</a:t>
            </a:r>
            <a:endParaRPr lang="en-US" altLang="zh-CN" sz="2400" dirty="0">
              <a:latin typeface="宋体" panose="02010600030101010101" pitchFamily="2" charset="-122"/>
              <a:cs typeface="Times New Roman" panose="02020603050405020304" pitchFamily="18" charset="0"/>
            </a:endParaRPr>
          </a:p>
        </p:txBody>
      </p:sp>
      <p:pic>
        <p:nvPicPr>
          <p:cNvPr id="22529" name="Picture 1" descr="http://www.kdocs.cn/api/v3/office/copy/QmpEekYrZ0doLzlkWHZVcVB2TnFPVmpyTFdXaHZDczBZQUgxNVdwSnEya1Q5bCtsajR2WmJIYVVocG8xaUtCa2ZPR1RxQ1pPeHpvTjRHV0dpOWgzWkdTSnNaVERPQm1RZGI2Y1pZaXpJaFNKZjV3Vk9pc2ErWW8wc21MUEsrOEpIUzNYSEp1S20rWk9XL0oyK0dkOTdTaXlFR3lVdVhDYW04R3U1VFMvY1lDZ2hQbytaQStndEhvMEoyUmxHcFFhVXhDbVM0SUhYQ2dCVWl4WSt4TEVnaHh3NVAxcEo4Q1ozODJqcTBGVWxSb1d3dWVQa1BqREhSbUcrbFp0Y2wrQmtHNnB3TXJDQm44PQ==/attach/object/aed29154f5a021452644f61a1d05ab2a3237ae9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4173" y="1576551"/>
            <a:ext cx="8539082" cy="2983733"/>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36">
            <a:extLst>
              <a:ext uri="{FF2B5EF4-FFF2-40B4-BE49-F238E27FC236}">
                <a16:creationId xmlns:a16="http://schemas.microsoft.com/office/drawing/2014/main" id="{A981F82F-29B9-484F-A539-CA81EBBA176F}"/>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0895258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678726"/>
            <a:ext cx="10515600" cy="518958"/>
          </a:xfrm>
        </p:spPr>
        <p:txBody>
          <a:bodyPr>
            <a:normAutofit/>
          </a:bodyPr>
          <a:lstStyle/>
          <a:p>
            <a:r>
              <a:rPr lang="zh-CN" altLang="en-US" dirty="0"/>
              <a:t>广度优先遍历算法</a:t>
            </a:r>
          </a:p>
        </p:txBody>
      </p:sp>
      <mc:AlternateContent xmlns:mc="http://schemas.openxmlformats.org/markup-compatibility/2006" xmlns:a14="http://schemas.microsoft.com/office/drawing/2010/main">
        <mc:Choice Requires="a14">
          <p:sp>
            <p:nvSpPr>
              <p:cNvPr id="9" name="文本框 8"/>
              <p:cNvSpPr txBox="1"/>
              <p:nvPr/>
            </p:nvSpPr>
            <p:spPr>
              <a:xfrm>
                <a:off x="584225" y="1181964"/>
                <a:ext cx="11283478" cy="4524315"/>
              </a:xfrm>
              <a:prstGeom prst="rect">
                <a:avLst/>
              </a:prstGeom>
              <a:noFill/>
            </p:spPr>
            <p:txBody>
              <a:bodyPr wrap="square" rtlCol="0">
                <a:spAutoFit/>
              </a:bodyPr>
              <a:lstStyle/>
              <a:p>
                <a:pPr lvl="0" eaLnBrk="0" fontAlgn="base" hangingPunct="0">
                  <a:spcBef>
                    <a:spcPct val="0"/>
                  </a:spcBef>
                  <a:spcAft>
                    <a:spcPct val="0"/>
                  </a:spcAft>
                </a:pPr>
                <a:r>
                  <a:rPr lang="zh-CN" altLang="zh-CN" sz="2400" b="1" u="sng" dirty="0">
                    <a:latin typeface="宋体" panose="02010600030101010101" pitchFamily="2" charset="-122"/>
                    <a:cs typeface="Times New Roman" panose="02020603050405020304" pitchFamily="18" charset="0"/>
                  </a:rPr>
                  <a:t>算法</a:t>
                </a:r>
                <a:r>
                  <a:rPr lang="zh-CN" altLang="zh-CN" sz="2400" b="1" u="sng" dirty="0">
                    <a:latin typeface="Times New Roman" panose="02020603050405020304" pitchFamily="18" charset="0"/>
                    <a:cs typeface="Times New Roman" panose="02020603050405020304" pitchFamily="18" charset="0"/>
                  </a:rPr>
                  <a:t>7-13: </a:t>
                </a:r>
                <a:r>
                  <a:rPr lang="zh-CN" altLang="zh-CN" sz="2400" u="sng" dirty="0">
                    <a:latin typeface="宋体" panose="02010600030101010101" pitchFamily="2" charset="-122"/>
                    <a:cs typeface="Times New Roman" panose="02020603050405020304" pitchFamily="18" charset="0"/>
                  </a:rPr>
                  <a:t>按广度优先遍历图中结点</a:t>
                </a:r>
                <a:r>
                  <a:rPr lang="zh-CN" altLang="zh-CN" sz="3600" u="sng" dirty="0">
                    <a:latin typeface="宋体" panose="02010600030101010101" pitchFamily="2" charset="-122"/>
                    <a:cs typeface="Times New Roman" panose="02020603050405020304" pitchFamily="18" charset="0"/>
                  </a:rPr>
                  <a:t> </a:t>
                </a:r>
                <a:r>
                  <a:rPr lang="zh-CN" altLang="zh-CN" sz="2400" u="sng" dirty="0">
                    <a:latin typeface="Times New Roman" panose="02020603050405020304" pitchFamily="18" charset="0"/>
                    <a:cs typeface="Times New Roman" panose="02020603050405020304" pitchFamily="18" charset="0"/>
                  </a:rPr>
                  <a:t>BFS(</a:t>
                </a:r>
                <a:r>
                  <a:rPr lang="zh-CN" altLang="zh-CN" sz="2400" i="1" u="sng" dirty="0">
                    <a:latin typeface="Times New Roman" panose="02020603050405020304" pitchFamily="18" charset="0"/>
                    <a:cs typeface="Times New Roman" panose="02020603050405020304" pitchFamily="18" charset="0"/>
                  </a:rPr>
                  <a:t>graph</a:t>
                </a:r>
                <a:r>
                  <a:rPr lang="zh-CN" altLang="zh-CN" sz="2400" u="sng" dirty="0">
                    <a:latin typeface="Times New Roman" panose="02020603050405020304" pitchFamily="18" charset="0"/>
                    <a:cs typeface="Times New Roman" panose="02020603050405020304" pitchFamily="18" charset="0"/>
                  </a:rPr>
                  <a:t>)</a:t>
                </a:r>
                <a:endParaRPr lang="zh-CN" altLang="zh-CN" sz="3200" u="sng"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输入：</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endParaRPr lang="zh-CN" altLang="zh-CN" sz="3200"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输出：</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r>
                  <a:rPr lang="zh-CN" altLang="zh-CN" sz="2400" dirty="0">
                    <a:latin typeface="宋体" panose="02010600030101010101" pitchFamily="2" charset="-122"/>
                    <a:cs typeface="Times New Roman" panose="02020603050405020304" pitchFamily="18" charset="0"/>
                  </a:rPr>
                  <a:t>的广度优先遍历序列</a:t>
                </a:r>
                <a:endParaRPr lang="zh-CN" altLang="zh-CN" sz="3200" dirty="0"/>
              </a:p>
              <a:p>
                <a:pPr marL="188913" lvl="0" indent="-188913" eaLnBrk="0" fontAlgn="base" hangingPunct="0">
                  <a:spcBef>
                    <a:spcPct val="0"/>
                  </a:spcBef>
                  <a:spcAft>
                    <a:spcPct val="0"/>
                  </a:spcAft>
                  <a:buFont typeface="+mj-lt"/>
                  <a:buAutoNum type="arabicPeriod"/>
                </a:pPr>
                <a:r>
                  <a:rPr lang="en-US" altLang="zh-CN" sz="2400" b="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for</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a:t>
                </a:r>
                <a14:m>
                  <m:oMath xmlns:m="http://schemas.openxmlformats.org/officeDocument/2006/math">
                    <m:r>
                      <a:rPr lang="zh-CN" altLang="en-US" sz="2400" i="1">
                        <a:latin typeface="Cambria Math" panose="02040503050406030204" pitchFamily="18" charset="0"/>
                        <a:cs typeface="Times New Roman" panose="02020603050405020304" pitchFamily="18" charset="0"/>
                      </a:rPr>
                      <m:t>←</m:t>
                    </m:r>
                    <m:r>
                      <a:rPr lang="en-US" altLang="zh-CN" sz="2400" i="1">
                        <a:latin typeface="Cambria Math" panose="02040503050406030204" pitchFamily="18" charset="0"/>
                        <a:cs typeface="Times New Roman" panose="02020603050405020304" pitchFamily="18" charset="0"/>
                      </a:rPr>
                      <m:t>0</m:t>
                    </m:r>
                  </m:oMath>
                </a14:m>
                <a:r>
                  <a:rPr lang="zh-CN" altLang="zh-CN" sz="36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to</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graph.n_verts</a:t>
                </a:r>
                <a:r>
                  <a:rPr lang="zh-CN" altLang="zh-CN" sz="2400" dirty="0">
                    <a:latin typeface="Times New Roman" panose="02020603050405020304" pitchFamily="18" charset="0"/>
                    <a:cs typeface="Times New Roman" panose="02020603050405020304" pitchFamily="18" charset="0"/>
                  </a:rPr>
                  <a:t>-1 </a:t>
                </a:r>
                <a:r>
                  <a:rPr lang="zh-CN" altLang="zh-CN" sz="2400" b="1" dirty="0">
                    <a:latin typeface="Times New Roman" panose="02020603050405020304" pitchFamily="18" charset="0"/>
                    <a:cs typeface="Times New Roman" panose="02020603050405020304" pitchFamily="18" charset="0"/>
                  </a:rPr>
                  <a:t>do</a:t>
                </a:r>
                <a:r>
                  <a:rPr lang="zh-CN" altLang="zh-CN" sz="2400" dirty="0">
                    <a:latin typeface="Times New Roman" panose="02020603050405020304" pitchFamily="18" charset="0"/>
                    <a:cs typeface="Times New Roman" panose="02020603050405020304" pitchFamily="18" charset="0"/>
                  </a:rPr>
                  <a:t> //</a:t>
                </a:r>
                <a:r>
                  <a:rPr lang="zh-CN" altLang="zh-CN" sz="2400" dirty="0">
                    <a:latin typeface="宋体" panose="02010600030101010101" pitchFamily="2" charset="-122"/>
                    <a:cs typeface="Times New Roman" panose="02020603050405020304" pitchFamily="18" charset="0"/>
                  </a:rPr>
                  <a:t>初始化各顶点的已访问标志为未访问</a:t>
                </a:r>
                <a:endParaRPr lang="zh-CN" altLang="zh-CN" sz="3200" dirty="0"/>
              </a:p>
              <a:p>
                <a:pPr marL="188913"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a:t>
                </a:r>
                <a:r>
                  <a:rPr lang="zh-CN" altLang="zh-CN" sz="2400" dirty="0">
                    <a:latin typeface="等线" panose="02010600030101010101" pitchFamily="2" charset="-122"/>
                    <a:ea typeface="等线" panose="02010600030101010101" pitchFamily="2" charset="-122"/>
                    <a:cs typeface="Times New Roman" panose="02020603050405020304" pitchFamily="18" charset="0"/>
                  </a:rPr>
                  <a:t> </a:t>
                </a:r>
                <a:r>
                  <a:rPr lang="en-US" altLang="zh-CN" sz="2400" dirty="0">
                    <a:latin typeface="等线" panose="02010600030101010101" pitchFamily="2" charset="-122"/>
                    <a:ea typeface="等线" panose="02010600030101010101" pitchFamily="2" charset="-122"/>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visited</a:t>
                </a:r>
                <a:r>
                  <a:rPr lang="zh-CN" altLang="zh-CN" sz="2400" dirty="0">
                    <a:latin typeface="Times New Roman" panose="02020603050405020304" pitchFamily="18" charset="0"/>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Times New Roman" panose="02020603050405020304" pitchFamily="18" charset="0"/>
                    <a:cs typeface="Times New Roman" panose="02020603050405020304" pitchFamily="18" charset="0"/>
                  </a:rPr>
                  <a:t>] </a:t>
                </a:r>
                <a14:m>
                  <m:oMath xmlns:m="http://schemas.openxmlformats.org/officeDocument/2006/math">
                    <m:r>
                      <a:rPr lang="zh-CN" altLang="en-US" sz="2400" i="1">
                        <a:latin typeface="Cambria Math" panose="02040503050406030204" pitchFamily="18" charset="0"/>
                        <a:cs typeface="Times New Roman" panose="02020603050405020304" pitchFamily="18" charset="0"/>
                      </a:rPr>
                      <m:t>←</m:t>
                    </m:r>
                  </m:oMath>
                </a14:m>
                <a:r>
                  <a:rPr lang="zh-CN" altLang="zh-CN" sz="2400" dirty="0">
                    <a:latin typeface="Times New Roman" panose="02020603050405020304" pitchFamily="18" charset="0"/>
                    <a:cs typeface="Times New Roman" panose="02020603050405020304" pitchFamily="18" charset="0"/>
                  </a:rPr>
                  <a:t> </a:t>
                </a:r>
                <a:r>
                  <a:rPr lang="en-US" altLang="zh-CN" sz="2400" b="1" dirty="0">
                    <a:latin typeface="Times New Roman" panose="02020603050405020304" pitchFamily="18" charset="0"/>
                    <a:cs typeface="Times New Roman" panose="02020603050405020304" pitchFamily="18" charset="0"/>
                  </a:rPr>
                  <a:t>false</a:t>
                </a:r>
                <a:endParaRPr lang="zh-CN" altLang="zh-CN" sz="3200" dirty="0"/>
              </a:p>
              <a:p>
                <a:pPr marL="188913" indent="-188913" eaLnBrk="0" fontAlgn="base" hangingPunct="0">
                  <a:spcBef>
                    <a:spcPct val="0"/>
                  </a:spcBef>
                  <a:spcAft>
                    <a:spcPct val="0"/>
                  </a:spcAft>
                  <a:buFont typeface="+mj-lt"/>
                  <a:buAutoNum type="arabicPeriod"/>
                </a:pPr>
                <a:r>
                  <a:rPr lang="en-US" altLang="zh-CN" sz="2400" b="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endParaRPr lang="en-US" altLang="zh-CN" sz="2400" b="1" dirty="0">
                  <a:latin typeface="Times New Roman" panose="02020603050405020304" pitchFamily="18" charset="0"/>
                  <a:cs typeface="Times New Roman" panose="02020603050405020304" pitchFamily="18" charset="0"/>
                </a:endParaRPr>
              </a:p>
              <a:p>
                <a:pPr marL="188913"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for</a:t>
                </a:r>
                <a:r>
                  <a:rPr lang="zh-CN" altLang="zh-CN" sz="2400" dirty="0">
                    <a:latin typeface="Times New Roman" panose="02020603050405020304" pitchFamily="18" charset="0"/>
                    <a:cs typeface="Times New Roman" panose="02020603050405020304" pitchFamily="18" charset="0"/>
                  </a:rPr>
                  <a:t> v </a:t>
                </a:r>
                <a14:m>
                  <m:oMath xmlns:m="http://schemas.openxmlformats.org/officeDocument/2006/math">
                    <m:r>
                      <a:rPr lang="zh-CN" altLang="en-US" sz="2400">
                        <a:latin typeface="Cambria Math" panose="02040503050406030204" pitchFamily="18" charset="0"/>
                        <a:cs typeface="Times New Roman" panose="02020603050405020304" pitchFamily="18" charset="0"/>
                      </a:rPr>
                      <m:t>←</m:t>
                    </m:r>
                    <m:r>
                      <a:rPr lang="en-US" altLang="zh-CN" sz="2400">
                        <a:latin typeface="Cambria Math" panose="02040503050406030204" pitchFamily="18" charset="0"/>
                        <a:cs typeface="Times New Roman" panose="02020603050405020304" pitchFamily="18" charset="0"/>
                      </a:rPr>
                      <m:t>0</m:t>
                    </m:r>
                  </m:oMath>
                </a14:m>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to</a:t>
                </a:r>
                <a:r>
                  <a:rPr lang="zh-CN" altLang="zh-CN" sz="2400" dirty="0">
                    <a:latin typeface="Times New Roman" panose="02020603050405020304" pitchFamily="18" charset="0"/>
                    <a:cs typeface="Times New Roman" panose="02020603050405020304" pitchFamily="18" charset="0"/>
                  </a:rPr>
                  <a:t> graph.n_verts-1 </a:t>
                </a:r>
                <a:r>
                  <a:rPr lang="zh-CN" altLang="zh-CN" sz="2400" b="1" dirty="0">
                    <a:latin typeface="Times New Roman" panose="02020603050405020304" pitchFamily="18" charset="0"/>
                    <a:cs typeface="Times New Roman" panose="02020603050405020304" pitchFamily="18" charset="0"/>
                  </a:rPr>
                  <a:t>do</a:t>
                </a:r>
              </a:p>
              <a:p>
                <a:pPr marL="188913" indent="-188913"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  </a:t>
                </a:r>
                <a:r>
                  <a:rPr lang="en-US"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if</a:t>
                </a:r>
                <a:r>
                  <a:rPr lang="zh-CN" altLang="zh-CN" sz="2400" dirty="0">
                    <a:latin typeface="Times New Roman" panose="02020603050405020304" pitchFamily="18" charset="0"/>
                    <a:cs typeface="Times New Roman" panose="02020603050405020304" pitchFamily="18" charset="0"/>
                  </a:rPr>
                  <a:t> visited[v]=</a:t>
                </a:r>
                <a:r>
                  <a:rPr lang="zh-CN" altLang="zh-CN" sz="2400" b="1" dirty="0">
                    <a:latin typeface="Times New Roman" panose="02020603050405020304" pitchFamily="18" charset="0"/>
                    <a:cs typeface="Times New Roman" panose="02020603050405020304" pitchFamily="18" charset="0"/>
                  </a:rPr>
                  <a:t>false</a:t>
                </a: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then</a:t>
                </a:r>
              </a:p>
              <a:p>
                <a:pPr marL="188913"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  B</a:t>
                </a:r>
                <a:r>
                  <a:rPr lang="zh-CN" altLang="zh-CN" sz="2400" dirty="0">
                    <a:latin typeface="Times New Roman" panose="02020603050405020304" pitchFamily="18" charset="0"/>
                    <a:cs typeface="Times New Roman" panose="02020603050405020304" pitchFamily="18" charset="0"/>
                  </a:rPr>
                  <a:t>FS(graph, v, visited)</a:t>
                </a:r>
              </a:p>
              <a:p>
                <a:pPr marL="188913" indent="-188913" eaLnBrk="0" fontAlgn="base" hangingPunct="0">
                  <a:spcBef>
                    <a:spcPct val="0"/>
                  </a:spcBef>
                  <a:spcAft>
                    <a:spcPct val="0"/>
                  </a:spcAft>
                  <a:buFont typeface="+mj-lt"/>
                  <a:buAutoNum type="arabicPeriod"/>
                </a:pP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p>
              <a:p>
                <a:pPr marL="188913" indent="-188913" eaLnBrk="0" fontAlgn="base" hangingPunct="0">
                  <a:spcBef>
                    <a:spcPct val="0"/>
                  </a:spcBef>
                  <a:spcAft>
                    <a:spcPct val="0"/>
                  </a:spcAft>
                  <a:buFont typeface="+mj-lt"/>
                  <a:buAutoNum type="arabicPeriod"/>
                </a:pPr>
                <a:r>
                  <a:rPr lang="en-US" altLang="zh-CN" sz="2400" b="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p>
            </p:txBody>
          </p:sp>
        </mc:Choice>
        <mc:Fallback xmlns="">
          <p:sp>
            <p:nvSpPr>
              <p:cNvPr id="9" name="文本框 8"/>
              <p:cNvSpPr txBox="1">
                <a:spLocks noRot="1" noChangeAspect="1" noMove="1" noResize="1" noEditPoints="1" noAdjustHandles="1" noChangeArrowheads="1" noChangeShapeType="1" noTextEdit="1"/>
              </p:cNvSpPr>
              <p:nvPr/>
            </p:nvSpPr>
            <p:spPr>
              <a:xfrm>
                <a:off x="584225" y="1181964"/>
                <a:ext cx="11283478" cy="4524315"/>
              </a:xfrm>
              <a:prstGeom prst="rect">
                <a:avLst/>
              </a:prstGeom>
              <a:blipFill>
                <a:blip r:embed="rId3"/>
                <a:stretch>
                  <a:fillRect l="-864" b="-2156"/>
                </a:stretch>
              </a:blipFill>
            </p:spPr>
            <p:txBody>
              <a:bodyPr/>
              <a:lstStyle/>
              <a:p>
                <a:r>
                  <a:rPr lang="zh-CN" altLang="en-US">
                    <a:noFill/>
                  </a:rPr>
                  <a:t> </a:t>
                </a:r>
              </a:p>
            </p:txBody>
          </p:sp>
        </mc:Fallback>
      </mc:AlternateContent>
      <p:sp>
        <p:nvSpPr>
          <p:cNvPr id="6" name="AutoShape 2" descr="\\tmp\wps-root\ksohtml\wpsXF2FWo.jpg"/>
          <p:cNvSpPr>
            <a:spLocks noChangeAspect="1" noChangeArrowheads="1"/>
          </p:cNvSpPr>
          <p:nvPr/>
        </p:nvSpPr>
        <p:spPr bwMode="auto">
          <a:xfrm>
            <a:off x="1049338" y="-5016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AutoShape 3" descr="\\tmp\wps-root\ksohtml\wpsRJuyd5.jpg"/>
          <p:cNvSpPr>
            <a:spLocks noChangeAspect="1" noChangeArrowheads="1"/>
          </p:cNvSpPr>
          <p:nvPr/>
        </p:nvSpPr>
        <p:spPr bwMode="auto">
          <a:xfrm>
            <a:off x="796925" y="-3190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AutoShape 4" descr="\\tmp\wps-root\ksohtml\wpsJ7luuL.jpg"/>
          <p:cNvSpPr>
            <a:spLocks noChangeAspect="1" noChangeArrowheads="1"/>
          </p:cNvSpPr>
          <p:nvPr/>
        </p:nvSpPr>
        <p:spPr bwMode="auto">
          <a:xfrm>
            <a:off x="1411288" y="-3190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AutoShape 5" descr="\\tmp\wps-root\ksohtml\wpsHuQuLr.jpg"/>
          <p:cNvSpPr>
            <a:spLocks noChangeAspect="1" noChangeArrowheads="1"/>
          </p:cNvSpPr>
          <p:nvPr/>
        </p:nvSpPr>
        <p:spPr bwMode="auto">
          <a:xfrm>
            <a:off x="1049338" y="158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AutoShape 6" descr="\\tmp\wps-root\ksohtml\wpsPVuA27.jpg"/>
          <p:cNvSpPr>
            <a:spLocks noChangeAspect="1" noChangeArrowheads="1"/>
          </p:cNvSpPr>
          <p:nvPr/>
        </p:nvSpPr>
        <p:spPr bwMode="auto">
          <a:xfrm>
            <a:off x="796925" y="1984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AutoShape 8" descr="\\tmp\wps-root\ksohtml\wpsrPQCf7.jpg"/>
          <p:cNvSpPr>
            <a:spLocks noChangeAspect="1" noChangeArrowheads="1"/>
          </p:cNvSpPr>
          <p:nvPr/>
        </p:nvSpPr>
        <p:spPr bwMode="auto">
          <a:xfrm>
            <a:off x="328613" y="-669925"/>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AutoShape 9" descr="\\tmp\wps-root\ksohtml\wpsDo1Js6.jpg"/>
          <p:cNvSpPr>
            <a:spLocks noChangeAspect="1" noChangeArrowheads="1"/>
          </p:cNvSpPr>
          <p:nvPr/>
        </p:nvSpPr>
        <p:spPr bwMode="auto">
          <a:xfrm>
            <a:off x="76200" y="-4873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AutoShape 10" descr="\\tmp\wps-root\ksohtml\wpsxYNUF5.jpg"/>
          <p:cNvSpPr>
            <a:spLocks noChangeAspect="1" noChangeArrowheads="1"/>
          </p:cNvSpPr>
          <p:nvPr/>
        </p:nvSpPr>
        <p:spPr bwMode="auto">
          <a:xfrm>
            <a:off x="690563" y="-487363"/>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AutoShape 11" descr="\\tmp\wps-root\ksohtml\wpspQS8S4.jpg"/>
          <p:cNvSpPr>
            <a:spLocks noChangeAspect="1" noChangeArrowheads="1"/>
          </p:cNvSpPr>
          <p:nvPr/>
        </p:nvSpPr>
        <p:spPr bwMode="auto">
          <a:xfrm>
            <a:off x="328613" y="-152400"/>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AutoShape 12" descr="\\tmp\wps-root\ksohtml\wpsbHQp63.jpg"/>
          <p:cNvSpPr>
            <a:spLocks noChangeAspect="1" noChangeArrowheads="1"/>
          </p:cNvSpPr>
          <p:nvPr/>
        </p:nvSpPr>
        <p:spPr bwMode="auto">
          <a:xfrm>
            <a:off x="76200" y="301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AutoShape 2" descr="\\tmp\wps-root\ksohtml\wpsdiKWJ9.jpg"/>
          <p:cNvSpPr>
            <a:spLocks noChangeAspect="1" noChangeArrowheads="1"/>
          </p:cNvSpPr>
          <p:nvPr/>
        </p:nvSpPr>
        <p:spPr bwMode="auto">
          <a:xfrm>
            <a:off x="328613" y="-4254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AutoShape 3" descr="\\tmp\wps-root\ksohtml\wpsDHU3pa.jpg"/>
          <p:cNvSpPr>
            <a:spLocks noChangeAspect="1" noChangeArrowheads="1"/>
          </p:cNvSpPr>
          <p:nvPr/>
        </p:nvSpPr>
        <p:spPr bwMode="auto">
          <a:xfrm>
            <a:off x="76200" y="-2428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AutoShape 4" descr="\\tmp\wps-root\ksohtml\wpsde4e6a.jpg"/>
          <p:cNvSpPr>
            <a:spLocks noChangeAspect="1" noChangeArrowheads="1"/>
          </p:cNvSpPr>
          <p:nvPr/>
        </p:nvSpPr>
        <p:spPr bwMode="auto">
          <a:xfrm>
            <a:off x="690563" y="-2428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AutoShape 5" descr="\\tmp\wps-root\ksohtml\wps3nEtMb.jpg"/>
          <p:cNvSpPr>
            <a:spLocks noChangeAspect="1" noChangeArrowheads="1"/>
          </p:cNvSpPr>
          <p:nvPr/>
        </p:nvSpPr>
        <p:spPr bwMode="auto">
          <a:xfrm>
            <a:off x="328613" y="920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AutoShape 6" descr="\\tmp\wps-root\ksohtml\wpsD8MLsc.jpg"/>
          <p:cNvSpPr>
            <a:spLocks noChangeAspect="1" noChangeArrowheads="1"/>
          </p:cNvSpPr>
          <p:nvPr/>
        </p:nvSpPr>
        <p:spPr bwMode="auto">
          <a:xfrm>
            <a:off x="76200" y="2746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任意多边形: 形状 13">
            <a:extLst>
              <a:ext uri="{FF2B5EF4-FFF2-40B4-BE49-F238E27FC236}">
                <a16:creationId xmlns:a16="http://schemas.microsoft.com/office/drawing/2014/main" id="{BB7B2CCE-99DF-4AF4-BEDA-188B38B189F1}"/>
              </a:ext>
            </a:extLst>
          </p:cNvPr>
          <p:cNvSpPr/>
          <p:nvPr/>
        </p:nvSpPr>
        <p:spPr>
          <a:xfrm>
            <a:off x="5308505" y="5098030"/>
            <a:ext cx="6259653" cy="608249"/>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en-US" altLang="zh-CN" sz="2400" dirty="0">
                <a:latin typeface="微软雅黑" panose="020B0503020204020204" pitchFamily="34" charset="-122"/>
                <a:ea typeface="微软雅黑" panose="020B0503020204020204" pitchFamily="34" charset="-122"/>
              </a:rPr>
              <a:t>1-3</a:t>
            </a:r>
            <a:r>
              <a:rPr lang="zh-CN" altLang="en-US" sz="2400" dirty="0">
                <a:latin typeface="微软雅黑" panose="020B0503020204020204" pitchFamily="34" charset="-122"/>
                <a:ea typeface="微软雅黑" panose="020B0503020204020204" pitchFamily="34" charset="-122"/>
              </a:rPr>
              <a:t>：时间复杂度 </a:t>
            </a:r>
            <a:r>
              <a:rPr lang="en-US" altLang="zh-CN" sz="2400" dirty="0">
                <a:latin typeface="微软雅黑" panose="020B0503020204020204" pitchFamily="34" charset="-122"/>
                <a:ea typeface="微软雅黑" panose="020B0503020204020204" pitchFamily="34" charset="-122"/>
              </a:rPr>
              <a:t>O</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n</a:t>
            </a:r>
            <a:r>
              <a:rPr lang="zh-CN" altLang="en-US" sz="2400" dirty="0">
                <a:latin typeface="微软雅黑" panose="020B0503020204020204" pitchFamily="34" charset="-122"/>
                <a:ea typeface="微软雅黑" panose="020B0503020204020204" pitchFamily="34" charset="-122"/>
              </a:rPr>
              <a:t>）</a:t>
            </a:r>
            <a:endParaRPr lang="zh-CN" altLang="zh-CN" sz="2400" dirty="0">
              <a:latin typeface="微软雅黑" panose="020B0503020204020204" pitchFamily="34" charset="-122"/>
              <a:ea typeface="微软雅黑" panose="020B0503020204020204" pitchFamily="34" charset="-122"/>
            </a:endParaRPr>
          </a:p>
        </p:txBody>
      </p:sp>
      <p:sp>
        <p:nvSpPr>
          <p:cNvPr id="23" name="任意多边形: 形状 13">
            <a:extLst>
              <a:ext uri="{FF2B5EF4-FFF2-40B4-BE49-F238E27FC236}">
                <a16:creationId xmlns:a16="http://schemas.microsoft.com/office/drawing/2014/main" id="{BB7B2CCE-99DF-4AF4-BEDA-188B38B189F1}"/>
              </a:ext>
            </a:extLst>
          </p:cNvPr>
          <p:cNvSpPr/>
          <p:nvPr/>
        </p:nvSpPr>
        <p:spPr>
          <a:xfrm>
            <a:off x="5308504" y="5755822"/>
            <a:ext cx="6259653" cy="608249"/>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en-US" altLang="zh-CN" sz="2400" dirty="0">
                <a:latin typeface="微软雅黑" panose="020B0503020204020204" pitchFamily="34" charset="-122"/>
                <a:ea typeface="微软雅黑" panose="020B0503020204020204" pitchFamily="34" charset="-122"/>
              </a:rPr>
              <a:t>4-8</a:t>
            </a:r>
            <a:r>
              <a:rPr lang="zh-CN" altLang="en-US" sz="2400" dirty="0">
                <a:latin typeface="微软雅黑" panose="020B0503020204020204" pitchFamily="34" charset="-122"/>
                <a:ea typeface="微软雅黑" panose="020B0503020204020204" pitchFamily="34" charset="-122"/>
              </a:rPr>
              <a:t>：依赖于第</a:t>
            </a:r>
            <a:r>
              <a:rPr lang="en-US" altLang="zh-CN" sz="2400" dirty="0">
                <a:latin typeface="微软雅黑" panose="020B0503020204020204" pitchFamily="34" charset="-122"/>
                <a:ea typeface="微软雅黑" panose="020B0503020204020204" pitchFamily="34" charset="-122"/>
              </a:rPr>
              <a:t>6</a:t>
            </a:r>
            <a:r>
              <a:rPr lang="zh-CN" altLang="en-US" sz="2400" dirty="0">
                <a:latin typeface="微软雅黑" panose="020B0503020204020204" pitchFamily="34" charset="-122"/>
                <a:ea typeface="微软雅黑" panose="020B0503020204020204" pitchFamily="34" charset="-122"/>
              </a:rPr>
              <a:t>行</a:t>
            </a:r>
            <a:r>
              <a:rPr lang="en-US" altLang="zh-CN" sz="2400" dirty="0" err="1">
                <a:latin typeface="微软雅黑" panose="020B0503020204020204" pitchFamily="34" charset="-122"/>
                <a:ea typeface="微软雅黑" panose="020B0503020204020204" pitchFamily="34" charset="-122"/>
              </a:rPr>
              <a:t>BFS</a:t>
            </a:r>
            <a:r>
              <a:rPr lang="zh-CN" altLang="en-US" sz="2400" dirty="0">
                <a:latin typeface="微软雅黑" panose="020B0503020204020204" pitchFamily="34" charset="-122"/>
                <a:ea typeface="微软雅黑" panose="020B0503020204020204" pitchFamily="34" charset="-122"/>
              </a:rPr>
              <a:t>时间复杂度</a:t>
            </a:r>
            <a:endParaRPr lang="zh-CN" altLang="zh-CN" sz="2400" dirty="0">
              <a:latin typeface="微软雅黑" panose="020B0503020204020204" pitchFamily="34" charset="-122"/>
              <a:ea typeface="微软雅黑" panose="020B0503020204020204" pitchFamily="34" charset="-122"/>
            </a:endParaRPr>
          </a:p>
        </p:txBody>
      </p:sp>
      <p:sp>
        <p:nvSpPr>
          <p:cNvPr id="25" name="TextBox 36">
            <a:extLst>
              <a:ext uri="{FF2B5EF4-FFF2-40B4-BE49-F238E27FC236}">
                <a16:creationId xmlns:a16="http://schemas.microsoft.com/office/drawing/2014/main" id="{EA890520-3144-4416-A64A-F80ACF04669D}"/>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62908526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678726"/>
            <a:ext cx="10515600" cy="518958"/>
          </a:xfrm>
        </p:spPr>
        <p:txBody>
          <a:bodyPr>
            <a:normAutofit/>
          </a:bodyPr>
          <a:lstStyle/>
          <a:p>
            <a:r>
              <a:rPr lang="zh-CN" altLang="en-US" dirty="0"/>
              <a:t>广度优先遍历算法</a:t>
            </a:r>
          </a:p>
        </p:txBody>
      </p:sp>
      <mc:AlternateContent xmlns:mc="http://schemas.openxmlformats.org/markup-compatibility/2006" xmlns:a14="http://schemas.microsoft.com/office/drawing/2010/main">
        <mc:Choice Requires="a14">
          <p:sp>
            <p:nvSpPr>
              <p:cNvPr id="9" name="文本框 8"/>
              <p:cNvSpPr txBox="1"/>
              <p:nvPr/>
            </p:nvSpPr>
            <p:spPr>
              <a:xfrm>
                <a:off x="584225" y="1181964"/>
                <a:ext cx="11283478" cy="4708981"/>
              </a:xfrm>
              <a:prstGeom prst="rect">
                <a:avLst/>
              </a:prstGeom>
              <a:noFill/>
            </p:spPr>
            <p:txBody>
              <a:bodyPr wrap="square" rtlCol="0">
                <a:spAutoFit/>
              </a:bodyPr>
              <a:lstStyle/>
              <a:p>
                <a:pPr lvl="0" eaLnBrk="0" fontAlgn="base" hangingPunct="0">
                  <a:spcBef>
                    <a:spcPct val="0"/>
                  </a:spcBef>
                  <a:spcAft>
                    <a:spcPct val="0"/>
                  </a:spcAft>
                </a:pPr>
                <a:r>
                  <a:rPr lang="zh-CN" altLang="zh-CN" sz="2400" b="1" u="sng" dirty="0">
                    <a:latin typeface="宋体" panose="02010600030101010101" pitchFamily="2" charset="-122"/>
                    <a:cs typeface="Times New Roman" panose="02020603050405020304" pitchFamily="18" charset="0"/>
                  </a:rPr>
                  <a:t>算法</a:t>
                </a:r>
                <a:r>
                  <a:rPr lang="zh-CN" altLang="zh-CN" sz="2400" b="1" u="sng" dirty="0">
                    <a:latin typeface="Times New Roman" panose="02020603050405020304" pitchFamily="18" charset="0"/>
                    <a:cs typeface="Times New Roman" panose="02020603050405020304" pitchFamily="18" charset="0"/>
                  </a:rPr>
                  <a:t>7-14: </a:t>
                </a:r>
                <a:r>
                  <a:rPr lang="zh-CN" altLang="zh-CN" sz="2400" u="sng" dirty="0">
                    <a:latin typeface="宋体" panose="02010600030101010101" pitchFamily="2" charset="-122"/>
                    <a:cs typeface="Times New Roman" panose="02020603050405020304" pitchFamily="18" charset="0"/>
                  </a:rPr>
                  <a:t>按广度优先遍历图中结点</a:t>
                </a:r>
                <a:r>
                  <a:rPr lang="zh-CN" altLang="zh-CN" sz="3600" u="sng" dirty="0">
                    <a:latin typeface="宋体" panose="02010600030101010101" pitchFamily="2" charset="-122"/>
                    <a:cs typeface="Times New Roman" panose="02020603050405020304" pitchFamily="18" charset="0"/>
                  </a:rPr>
                  <a:t> </a:t>
                </a:r>
                <a:r>
                  <a:rPr lang="zh-CN" altLang="zh-CN" sz="2400" u="sng" dirty="0">
                    <a:latin typeface="Times New Roman" panose="02020603050405020304" pitchFamily="18" charset="0"/>
                    <a:cs typeface="Times New Roman" panose="02020603050405020304" pitchFamily="18" charset="0"/>
                  </a:rPr>
                  <a:t>BFS(</a:t>
                </a:r>
                <a:r>
                  <a:rPr lang="zh-CN" altLang="zh-CN" sz="2400" i="1" u="sng" dirty="0">
                    <a:latin typeface="Times New Roman" panose="02020603050405020304" pitchFamily="18" charset="0"/>
                    <a:cs typeface="Times New Roman" panose="02020603050405020304" pitchFamily="18" charset="0"/>
                  </a:rPr>
                  <a:t>graph, v, visited</a:t>
                </a:r>
                <a:r>
                  <a:rPr lang="zh-CN" altLang="zh-CN" sz="2400" u="sng" dirty="0">
                    <a:latin typeface="Times New Roman" panose="02020603050405020304" pitchFamily="18" charset="0"/>
                    <a:cs typeface="Times New Roman" panose="02020603050405020304" pitchFamily="18" charset="0"/>
                  </a:rPr>
                  <a:t>)</a:t>
                </a:r>
                <a:endParaRPr lang="zh-CN" altLang="zh-CN" sz="3200" u="sng"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输入：</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r>
                  <a:rPr lang="zh-CN" altLang="zh-CN" sz="2400" dirty="0">
                    <a:latin typeface="宋体" panose="02010600030101010101" pitchFamily="2" charset="-122"/>
                    <a:cs typeface="Times New Roman" panose="02020603050405020304" pitchFamily="18" charset="0"/>
                  </a:rPr>
                  <a:t>，出发顶点</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，已访问标志数组</a:t>
                </a:r>
                <a:r>
                  <a:rPr lang="zh-CN" altLang="zh-CN" sz="2400" i="1" dirty="0">
                    <a:latin typeface="Times New Roman" panose="02020603050405020304" pitchFamily="18" charset="0"/>
                    <a:cs typeface="Times New Roman" panose="02020603050405020304" pitchFamily="18" charset="0"/>
                  </a:rPr>
                  <a:t>visited</a:t>
                </a:r>
                <a:endParaRPr lang="zh-CN" altLang="zh-CN" sz="3200"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输出：</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r>
                  <a:rPr lang="zh-CN" altLang="zh-CN" sz="2400" dirty="0">
                    <a:latin typeface="宋体" panose="02010600030101010101" pitchFamily="2" charset="-122"/>
                    <a:cs typeface="Times New Roman" panose="02020603050405020304" pitchFamily="18" charset="0"/>
                  </a:rPr>
                  <a:t>中从顶点</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宋体" panose="02010600030101010101" pitchFamily="2" charset="-122"/>
                    <a:cs typeface="Times New Roman" panose="02020603050405020304" pitchFamily="18" charset="0"/>
                  </a:rPr>
                  <a:t>出发的广度优先遍历序列</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solidFill>
                      <a:srgbClr val="000000"/>
                    </a:solidFill>
                    <a:latin typeface="Times New Roman" panose="02020603050405020304" pitchFamily="18" charset="0"/>
                    <a:ea typeface="等线" panose="02010600030101010101" pitchFamily="2" charset="-122"/>
                    <a:cs typeface="Times New Roman" panose="02020603050405020304" pitchFamily="18" charset="0"/>
                  </a:rPr>
                  <a:t>InitQueue(</a:t>
                </a:r>
                <a:r>
                  <a:rPr lang="zh-CN" altLang="zh-CN" sz="2400" i="1" dirty="0">
                    <a:solidFill>
                      <a:srgbClr val="000000"/>
                    </a:solidFill>
                    <a:latin typeface="Times New Roman" panose="02020603050405020304" pitchFamily="18" charset="0"/>
                    <a:ea typeface="等线" panose="02010600030101010101" pitchFamily="2" charset="-122"/>
                    <a:cs typeface="Times New Roman" panose="02020603050405020304" pitchFamily="18" charset="0"/>
                  </a:rPr>
                  <a:t>queue</a:t>
                </a:r>
                <a:r>
                  <a:rPr lang="zh-CN" altLang="zh-CN" sz="2400" dirty="0">
                    <a:solidFill>
                      <a:srgbClr val="000000"/>
                    </a:solidFill>
                    <a:latin typeface="Times New Roman" panose="02020603050405020304" pitchFamily="18" charset="0"/>
                    <a:ea typeface="等线" panose="02010600030101010101" pitchFamily="2" charset="-122"/>
                    <a:cs typeface="Times New Roman" panose="02020603050405020304" pitchFamily="18" charset="0"/>
                  </a:rPr>
                  <a:t>)</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EnQueue(</a:t>
                </a:r>
                <a:r>
                  <a:rPr lang="zh-CN" altLang="zh-CN" sz="2400" i="1" dirty="0">
                    <a:latin typeface="Times New Roman" panose="02020603050405020304" pitchFamily="18" charset="0"/>
                    <a:cs typeface="Times New Roman" panose="02020603050405020304" pitchFamily="18" charset="0"/>
                  </a:rPr>
                  <a:t>queue, v</a:t>
                </a:r>
                <a:r>
                  <a:rPr lang="zh-CN" altLang="zh-CN" sz="2400" dirty="0">
                    <a:latin typeface="Times New Roman" panose="02020603050405020304" pitchFamily="18" charset="0"/>
                    <a:cs typeface="Times New Roman" panose="02020603050405020304" pitchFamily="18" charset="0"/>
                  </a:rPr>
                  <a:t>)</a:t>
                </a:r>
                <a:endParaRPr lang="zh-CN" altLang="zh-CN" sz="3200" dirty="0"/>
              </a:p>
              <a:p>
                <a:pPr marL="457200" lvl="0" indent="-457200" eaLnBrk="0" fontAlgn="base" hangingPunct="0">
                  <a:spcBef>
                    <a:spcPct val="0"/>
                  </a:spcBef>
                  <a:spcAft>
                    <a:spcPct val="0"/>
                  </a:spcAft>
                  <a:buFont typeface="+mj-lt"/>
                  <a:buAutoNum type="arabicPeriod"/>
                </a:pPr>
                <a:r>
                  <a:rPr lang="zh-CN" altLang="zh-CN" sz="2400" b="1" dirty="0">
                    <a:latin typeface="Times New Roman" panose="02020603050405020304" pitchFamily="18" charset="0"/>
                    <a:cs typeface="Times New Roman" panose="02020603050405020304" pitchFamily="18" charset="0"/>
                  </a:rPr>
                  <a:t>while</a:t>
                </a:r>
                <a:r>
                  <a:rPr lang="zh-CN" altLang="zh-CN" sz="2400" dirty="0">
                    <a:latin typeface="Times New Roman" panose="02020603050405020304" pitchFamily="18" charset="0"/>
                    <a:cs typeface="Times New Roman" panose="02020603050405020304" pitchFamily="18" charset="0"/>
                  </a:rPr>
                  <a:t> IsEmpty(</a:t>
                </a:r>
                <a:r>
                  <a:rPr lang="zh-CN" altLang="zh-CN" sz="2400" i="1" dirty="0">
                    <a:latin typeface="Times New Roman" panose="02020603050405020304" pitchFamily="18" charset="0"/>
                    <a:cs typeface="Times New Roman" panose="02020603050405020304" pitchFamily="18" charset="0"/>
                  </a:rPr>
                  <a:t>queue</a:t>
                </a:r>
                <a:r>
                  <a:rPr lang="zh-CN" altLang="zh-CN" sz="2400" dirty="0">
                    <a:latin typeface="Times New Roman" panose="02020603050405020304" pitchFamily="18" charset="0"/>
                    <a:cs typeface="Times New Roman" panose="02020603050405020304" pitchFamily="18" charset="0"/>
                  </a:rPr>
                  <a:t>)=</a:t>
                </a:r>
                <a:r>
                  <a:rPr lang="zh-CN" altLang="zh-CN" sz="2400" b="1" dirty="0">
                    <a:latin typeface="Times New Roman" panose="02020603050405020304" pitchFamily="18" charset="0"/>
                    <a:cs typeface="Times New Roman" panose="02020603050405020304" pitchFamily="18" charset="0"/>
                  </a:rPr>
                  <a:t>false do</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u</a:t>
                </a:r>
                <a14:m>
                  <m:oMath xmlns:m="http://schemas.openxmlformats.org/officeDocument/2006/math">
                    <m:r>
                      <a:rPr lang="zh-CN" altLang="en-US" sz="2400">
                        <a:latin typeface="Cambria Math" panose="02040503050406030204" pitchFamily="18" charset="0"/>
                        <a:cs typeface="Times New Roman" panose="02020603050405020304" pitchFamily="18" charset="0"/>
                      </a:rPr>
                      <m:t>←</m:t>
                    </m:r>
                  </m:oMath>
                </a14:m>
                <a:r>
                  <a:rPr lang="zh-CN" altLang="zh-CN" sz="2400" dirty="0">
                    <a:latin typeface="Times New Roman" panose="02020603050405020304" pitchFamily="18" charset="0"/>
                    <a:cs typeface="Times New Roman" panose="02020603050405020304" pitchFamily="18" charset="0"/>
                  </a:rPr>
                  <a:t>  DeQueue(queue)</a:t>
                </a:r>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if</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visited</a:t>
                </a:r>
                <a:r>
                  <a:rPr lang="zh-CN" altLang="zh-CN" sz="2400" dirty="0">
                    <a:latin typeface="Times New Roman" panose="02020603050405020304" pitchFamily="18" charset="0"/>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u</a:t>
                </a:r>
                <a:r>
                  <a:rPr lang="zh-CN" altLang="zh-CN" sz="2400" dirty="0">
                    <a:latin typeface="Times New Roman" panose="02020603050405020304" pitchFamily="18" charset="0"/>
                    <a:cs typeface="Times New Roman" panose="02020603050405020304" pitchFamily="18" charset="0"/>
                  </a:rPr>
                  <a:t>]=</a:t>
                </a:r>
                <a:r>
                  <a:rPr lang="zh-CN" altLang="zh-CN" sz="2400" b="1" dirty="0">
                    <a:latin typeface="Times New Roman" panose="02020603050405020304" pitchFamily="18" charset="0"/>
                    <a:cs typeface="Times New Roman" panose="02020603050405020304" pitchFamily="18" charset="0"/>
                  </a:rPr>
                  <a:t>false then</a:t>
                </a:r>
                <a:endParaRPr lang="zh-CN" altLang="zh-CN" sz="3200" dirty="0"/>
              </a:p>
              <a:p>
                <a:pPr marL="45720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  visited[u]</a:t>
                </a:r>
                <a:r>
                  <a:rPr lang="zh-CN" altLang="en-US" sz="2400" dirty="0">
                    <a:cs typeface="Times New Roman" panose="02020603050405020304" pitchFamily="18" charset="0"/>
                  </a:rPr>
                  <a:t> </a:t>
                </a:r>
                <a14:m>
                  <m:oMath xmlns:m="http://schemas.openxmlformats.org/officeDocument/2006/math">
                    <m:r>
                      <a:rPr lang="zh-CN" altLang="en-US" sz="2400">
                        <a:latin typeface="Cambria Math" panose="02040503050406030204" pitchFamily="18" charset="0"/>
                        <a:cs typeface="Times New Roman" panose="02020603050405020304" pitchFamily="18" charset="0"/>
                      </a:rPr>
                      <m:t>←</m:t>
                    </m:r>
                  </m:oMath>
                </a14:m>
                <a:r>
                  <a:rPr lang="zh-CN" altLang="zh-CN" sz="2400" dirty="0">
                    <a:latin typeface="Times New Roman" panose="02020603050405020304" pitchFamily="18" charset="0"/>
                    <a:cs typeface="Times New Roman" panose="02020603050405020304" pitchFamily="18" charset="0"/>
                  </a:rPr>
                  <a:t>true</a:t>
                </a:r>
              </a:p>
              <a:p>
                <a:pPr marL="45720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  </a:t>
                </a:r>
                <a:r>
                  <a:rPr lang="en-US" altLang="zh-CN" sz="2400" dirty="0">
                    <a:latin typeface="Times New Roman" panose="02020603050405020304" pitchFamily="18" charset="0"/>
                    <a:cs typeface="Times New Roman" panose="02020603050405020304" pitchFamily="18" charset="0"/>
                  </a:rPr>
                  <a:t>v</a:t>
                </a:r>
                <a:r>
                  <a:rPr lang="zh-CN" altLang="zh-CN" sz="2400" dirty="0">
                    <a:latin typeface="Times New Roman" panose="02020603050405020304" pitchFamily="18" charset="0"/>
                    <a:cs typeface="Times New Roman" panose="02020603050405020304" pitchFamily="18" charset="0"/>
                  </a:rPr>
                  <a:t>isit(graph, u)</a:t>
                </a:r>
              </a:p>
              <a:p>
                <a:pPr marL="45720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  p</a:t>
                </a:r>
                <a:r>
                  <a:rPr lang="zh-CN" altLang="en-US" sz="2400" dirty="0">
                    <a:cs typeface="Times New Roman" panose="02020603050405020304" pitchFamily="18" charset="0"/>
                  </a:rPr>
                  <a:t> </a:t>
                </a:r>
                <a14:m>
                  <m:oMath xmlns:m="http://schemas.openxmlformats.org/officeDocument/2006/math">
                    <m:r>
                      <a:rPr lang="zh-CN" altLang="en-US" sz="2400">
                        <a:latin typeface="Cambria Math" panose="02040503050406030204" pitchFamily="18" charset="0"/>
                        <a:cs typeface="Times New Roman" panose="02020603050405020304" pitchFamily="18" charset="0"/>
                      </a:rPr>
                      <m:t>←</m:t>
                    </m:r>
                  </m:oMath>
                </a14:m>
                <a:r>
                  <a:rPr lang="zh-CN" altLang="zh-CN" sz="2400" dirty="0">
                    <a:latin typeface="Times New Roman" panose="02020603050405020304" pitchFamily="18" charset="0"/>
                    <a:cs typeface="Times New Roman" panose="02020603050405020304" pitchFamily="18" charset="0"/>
                  </a:rPr>
                  <a:t> graph.ver_list[u].adj</a:t>
                </a:r>
              </a:p>
              <a:p>
                <a:pPr lvl="0" eaLnBrk="0" fontAlgn="base" hangingPunct="0">
                  <a:spcBef>
                    <a:spcPct val="0"/>
                  </a:spcBef>
                  <a:spcAft>
                    <a:spcPct val="0"/>
                  </a:spcAft>
                </a:pPr>
                <a:endParaRPr lang="zh-CN" altLang="zh-CN" sz="2400" dirty="0">
                  <a:latin typeface="Times New Roman" panose="02020603050405020304" pitchFamily="18" charset="0"/>
                  <a:cs typeface="Times New Roman" panose="02020603050405020304" pitchFamily="18" charset="0"/>
                </a:endParaRPr>
              </a:p>
            </p:txBody>
          </p:sp>
        </mc:Choice>
        <mc:Fallback xmlns="">
          <p:sp>
            <p:nvSpPr>
              <p:cNvPr id="9" name="文本框 8"/>
              <p:cNvSpPr txBox="1">
                <a:spLocks noRot="1" noChangeAspect="1" noMove="1" noResize="1" noEditPoints="1" noAdjustHandles="1" noChangeArrowheads="1" noChangeShapeType="1" noTextEdit="1"/>
              </p:cNvSpPr>
              <p:nvPr/>
            </p:nvSpPr>
            <p:spPr>
              <a:xfrm>
                <a:off x="584225" y="1181964"/>
                <a:ext cx="11283478" cy="4708981"/>
              </a:xfrm>
              <a:prstGeom prst="rect">
                <a:avLst/>
              </a:prstGeom>
              <a:blipFill>
                <a:blip r:embed="rId3"/>
                <a:stretch>
                  <a:fillRect l="-864"/>
                </a:stretch>
              </a:blipFill>
            </p:spPr>
            <p:txBody>
              <a:bodyPr/>
              <a:lstStyle/>
              <a:p>
                <a:r>
                  <a:rPr lang="zh-CN" altLang="en-US">
                    <a:noFill/>
                  </a:rPr>
                  <a:t> </a:t>
                </a:r>
              </a:p>
            </p:txBody>
          </p:sp>
        </mc:Fallback>
      </mc:AlternateContent>
      <p:sp>
        <p:nvSpPr>
          <p:cNvPr id="6" name="AutoShape 2" descr="\\tmp\wps-root\ksohtml\wpsXF2FWo.jpg"/>
          <p:cNvSpPr>
            <a:spLocks noChangeAspect="1" noChangeArrowheads="1"/>
          </p:cNvSpPr>
          <p:nvPr/>
        </p:nvSpPr>
        <p:spPr bwMode="auto">
          <a:xfrm>
            <a:off x="1049338" y="-5016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AutoShape 3" descr="\\tmp\wps-root\ksohtml\wpsRJuyd5.jpg"/>
          <p:cNvSpPr>
            <a:spLocks noChangeAspect="1" noChangeArrowheads="1"/>
          </p:cNvSpPr>
          <p:nvPr/>
        </p:nvSpPr>
        <p:spPr bwMode="auto">
          <a:xfrm>
            <a:off x="796925" y="-3190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AutoShape 4" descr="\\tmp\wps-root\ksohtml\wpsJ7luuL.jpg"/>
          <p:cNvSpPr>
            <a:spLocks noChangeAspect="1" noChangeArrowheads="1"/>
          </p:cNvSpPr>
          <p:nvPr/>
        </p:nvSpPr>
        <p:spPr bwMode="auto">
          <a:xfrm>
            <a:off x="1411288" y="-3190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AutoShape 5" descr="\\tmp\wps-root\ksohtml\wpsHuQuLr.jpg"/>
          <p:cNvSpPr>
            <a:spLocks noChangeAspect="1" noChangeArrowheads="1"/>
          </p:cNvSpPr>
          <p:nvPr/>
        </p:nvSpPr>
        <p:spPr bwMode="auto">
          <a:xfrm>
            <a:off x="1049338" y="158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AutoShape 6" descr="\\tmp\wps-root\ksohtml\wpsPVuA27.jpg"/>
          <p:cNvSpPr>
            <a:spLocks noChangeAspect="1" noChangeArrowheads="1"/>
          </p:cNvSpPr>
          <p:nvPr/>
        </p:nvSpPr>
        <p:spPr bwMode="auto">
          <a:xfrm>
            <a:off x="796925" y="1984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AutoShape 8" descr="\\tmp\wps-root\ksohtml\wpsrPQCf7.jpg"/>
          <p:cNvSpPr>
            <a:spLocks noChangeAspect="1" noChangeArrowheads="1"/>
          </p:cNvSpPr>
          <p:nvPr/>
        </p:nvSpPr>
        <p:spPr bwMode="auto">
          <a:xfrm>
            <a:off x="328613" y="-669925"/>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AutoShape 9" descr="\\tmp\wps-root\ksohtml\wpsDo1Js6.jpg"/>
          <p:cNvSpPr>
            <a:spLocks noChangeAspect="1" noChangeArrowheads="1"/>
          </p:cNvSpPr>
          <p:nvPr/>
        </p:nvSpPr>
        <p:spPr bwMode="auto">
          <a:xfrm>
            <a:off x="76200" y="-4873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AutoShape 10" descr="\\tmp\wps-root\ksohtml\wpsxYNUF5.jpg"/>
          <p:cNvSpPr>
            <a:spLocks noChangeAspect="1" noChangeArrowheads="1"/>
          </p:cNvSpPr>
          <p:nvPr/>
        </p:nvSpPr>
        <p:spPr bwMode="auto">
          <a:xfrm>
            <a:off x="690563" y="-487363"/>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AutoShape 11" descr="\\tmp\wps-root\ksohtml\wpspQS8S4.jpg"/>
          <p:cNvSpPr>
            <a:spLocks noChangeAspect="1" noChangeArrowheads="1"/>
          </p:cNvSpPr>
          <p:nvPr/>
        </p:nvSpPr>
        <p:spPr bwMode="auto">
          <a:xfrm>
            <a:off x="328613" y="-152400"/>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AutoShape 12" descr="\\tmp\wps-root\ksohtml\wpsbHQp63.jpg"/>
          <p:cNvSpPr>
            <a:spLocks noChangeAspect="1" noChangeArrowheads="1"/>
          </p:cNvSpPr>
          <p:nvPr/>
        </p:nvSpPr>
        <p:spPr bwMode="auto">
          <a:xfrm>
            <a:off x="76200" y="301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AutoShape 2" descr="\\tmp\wps-root\ksohtml\wpsdiKWJ9.jpg"/>
          <p:cNvSpPr>
            <a:spLocks noChangeAspect="1" noChangeArrowheads="1"/>
          </p:cNvSpPr>
          <p:nvPr/>
        </p:nvSpPr>
        <p:spPr bwMode="auto">
          <a:xfrm>
            <a:off x="328613" y="-4254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AutoShape 3" descr="\\tmp\wps-root\ksohtml\wpsDHU3pa.jpg"/>
          <p:cNvSpPr>
            <a:spLocks noChangeAspect="1" noChangeArrowheads="1"/>
          </p:cNvSpPr>
          <p:nvPr/>
        </p:nvSpPr>
        <p:spPr bwMode="auto">
          <a:xfrm>
            <a:off x="76200" y="-2428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AutoShape 4" descr="\\tmp\wps-root\ksohtml\wpsde4e6a.jpg"/>
          <p:cNvSpPr>
            <a:spLocks noChangeAspect="1" noChangeArrowheads="1"/>
          </p:cNvSpPr>
          <p:nvPr/>
        </p:nvSpPr>
        <p:spPr bwMode="auto">
          <a:xfrm>
            <a:off x="690563" y="-2428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AutoShape 5" descr="\\tmp\wps-root\ksohtml\wps3nEtMb.jpg"/>
          <p:cNvSpPr>
            <a:spLocks noChangeAspect="1" noChangeArrowheads="1"/>
          </p:cNvSpPr>
          <p:nvPr/>
        </p:nvSpPr>
        <p:spPr bwMode="auto">
          <a:xfrm>
            <a:off x="328613" y="920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AutoShape 6" descr="\\tmp\wps-root\ksohtml\wpsD8MLsc.jpg"/>
          <p:cNvSpPr>
            <a:spLocks noChangeAspect="1" noChangeArrowheads="1"/>
          </p:cNvSpPr>
          <p:nvPr/>
        </p:nvSpPr>
        <p:spPr bwMode="auto">
          <a:xfrm>
            <a:off x="76200" y="2746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AutoShape 2" descr="\\tmp\wps-root\ksohtml\wpst4EfzW.jpg"/>
          <p:cNvSpPr>
            <a:spLocks noChangeAspect="1" noChangeArrowheads="1"/>
          </p:cNvSpPr>
          <p:nvPr/>
        </p:nvSpPr>
        <p:spPr bwMode="auto">
          <a:xfrm>
            <a:off x="228600" y="-593725"/>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AutoShape 3" descr="\\tmp\wps-root\ksohtml\wpsZH7NFG.jpg"/>
          <p:cNvSpPr>
            <a:spLocks noChangeAspect="1" noChangeArrowheads="1"/>
          </p:cNvSpPr>
          <p:nvPr/>
        </p:nvSpPr>
        <p:spPr bwMode="auto">
          <a:xfrm>
            <a:off x="735013" y="-258763"/>
            <a:ext cx="1333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AutoShape 4" descr="\\tmp\wps-root\ksohtml\wpspQDqMq.jpg"/>
          <p:cNvSpPr>
            <a:spLocks noChangeAspect="1" noChangeArrowheads="1"/>
          </p:cNvSpPr>
          <p:nvPr/>
        </p:nvSpPr>
        <p:spPr bwMode="auto">
          <a:xfrm>
            <a:off x="317500" y="76200"/>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AutoShape 5" descr="\\tmp\wps-root\ksohtml\wpsvFu6Sa.jpg"/>
          <p:cNvSpPr>
            <a:spLocks noChangeAspect="1" noChangeArrowheads="1"/>
          </p:cNvSpPr>
          <p:nvPr/>
        </p:nvSpPr>
        <p:spPr bwMode="auto">
          <a:xfrm>
            <a:off x="638175" y="258763"/>
            <a:ext cx="952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AutoShape 6" descr="\\tmp\wps-root\ksohtml\wpspWNQZU.jpg"/>
          <p:cNvSpPr>
            <a:spLocks noChangeAspect="1" noChangeArrowheads="1"/>
          </p:cNvSpPr>
          <p:nvPr/>
        </p:nvSpPr>
        <p:spPr bwMode="auto">
          <a:xfrm>
            <a:off x="438150" y="898525"/>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TextBox 36">
            <a:extLst>
              <a:ext uri="{FF2B5EF4-FFF2-40B4-BE49-F238E27FC236}">
                <a16:creationId xmlns:a16="http://schemas.microsoft.com/office/drawing/2014/main" id="{59579D63-272B-40F8-A2F3-A7AE0D8685C1}"/>
              </a:ext>
            </a:extLst>
          </p:cNvPr>
          <p:cNvSpPr txBox="1"/>
          <p:nvPr/>
        </p:nvSpPr>
        <p:spPr>
          <a:xfrm>
            <a:off x="334799" y="320400"/>
            <a:ext cx="9523977"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594288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678726"/>
            <a:ext cx="10515600" cy="518958"/>
          </a:xfrm>
        </p:spPr>
        <p:txBody>
          <a:bodyPr>
            <a:normAutofit/>
          </a:bodyPr>
          <a:lstStyle/>
          <a:p>
            <a:r>
              <a:rPr lang="zh-CN" altLang="en-US" dirty="0"/>
              <a:t>广度优先遍历算法</a:t>
            </a:r>
          </a:p>
        </p:txBody>
      </p:sp>
      <mc:AlternateContent xmlns:mc="http://schemas.openxmlformats.org/markup-compatibility/2006" xmlns:a14="http://schemas.microsoft.com/office/drawing/2010/main">
        <mc:Choice Requires="a14">
          <p:sp>
            <p:nvSpPr>
              <p:cNvPr id="9" name="文本框 8"/>
              <p:cNvSpPr txBox="1"/>
              <p:nvPr/>
            </p:nvSpPr>
            <p:spPr>
              <a:xfrm>
                <a:off x="584225" y="1181964"/>
                <a:ext cx="11283478" cy="3046988"/>
              </a:xfrm>
              <a:prstGeom prst="rect">
                <a:avLst/>
              </a:prstGeom>
              <a:noFill/>
            </p:spPr>
            <p:txBody>
              <a:bodyPr wrap="square" rtlCol="0">
                <a:spAutoFit/>
              </a:bodyPr>
              <a:lstStyle/>
              <a:p>
                <a:pPr marL="457200" lvl="0" indent="-457200" eaLnBrk="0" fontAlgn="base" hangingPunct="0">
                  <a:spcBef>
                    <a:spcPct val="0"/>
                  </a:spcBef>
                  <a:spcAft>
                    <a:spcPct val="0"/>
                  </a:spcAft>
                  <a:buFont typeface="+mj-lt"/>
                  <a:buAutoNum type="arabicPeriod" startAt="9"/>
                </a:pPr>
                <a:r>
                  <a:rPr lang="zh-CN" altLang="zh-CN" sz="2400" dirty="0">
                    <a:latin typeface="Times New Roman" panose="02020603050405020304" pitchFamily="18" charset="0"/>
                    <a:cs typeface="Times New Roman" panose="02020603050405020304" pitchFamily="18" charset="0"/>
                  </a:rPr>
                  <a:t>|  |  </a:t>
                </a:r>
                <a:r>
                  <a:rPr lang="zh-CN" altLang="zh-CN" sz="2400" b="1" dirty="0">
                    <a:latin typeface="Times New Roman" panose="02020603050405020304" pitchFamily="18" charset="0"/>
                    <a:cs typeface="Times New Roman" panose="02020603050405020304" pitchFamily="18" charset="0"/>
                  </a:rPr>
                  <a:t>while</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p</a:t>
                </a:r>
                <a14:m>
                  <m:oMath xmlns:m="http://schemas.openxmlformats.org/officeDocument/2006/math">
                    <m:r>
                      <a:rPr lang="zh-CN" altLang="en-US" sz="2400" i="1" smtClean="0">
                        <a:latin typeface="Cambria Math" panose="02040503050406030204" pitchFamily="18" charset="0"/>
                        <a:cs typeface="Times New Roman" panose="02020603050405020304" pitchFamily="18" charset="0"/>
                      </a:rPr>
                      <m:t>≠</m:t>
                    </m:r>
                  </m:oMath>
                </a14:m>
                <a:r>
                  <a:rPr lang="en-US" altLang="zh-CN" sz="2400" dirty="0">
                    <a:latin typeface="Times New Roman" panose="02020603050405020304" pitchFamily="18" charset="0"/>
                    <a:cs typeface="Times New Roman" panose="02020603050405020304" pitchFamily="18" charset="0"/>
                  </a:rPr>
                  <a:t>N</a:t>
                </a:r>
                <a:r>
                  <a:rPr lang="zh-CN" altLang="zh-CN" sz="2400" dirty="0">
                    <a:latin typeface="Times New Roman" panose="02020603050405020304" pitchFamily="18" charset="0"/>
                    <a:cs typeface="Times New Roman" panose="02020603050405020304" pitchFamily="18" charset="0"/>
                  </a:rPr>
                  <a:t>IL </a:t>
                </a:r>
                <a:r>
                  <a:rPr lang="zh-CN" altLang="zh-CN" sz="2400" b="1" dirty="0">
                    <a:latin typeface="Times New Roman" panose="02020603050405020304" pitchFamily="18" charset="0"/>
                    <a:cs typeface="Times New Roman" panose="02020603050405020304" pitchFamily="18" charset="0"/>
                  </a:rPr>
                  <a:t>do</a:t>
                </a:r>
                <a:endParaRPr lang="zh-CN" altLang="zh-CN" sz="3200" dirty="0"/>
              </a:p>
              <a:p>
                <a:pPr marL="457200" lvl="0" indent="-457200" eaLnBrk="0" fontAlgn="base" hangingPunct="0">
                  <a:spcBef>
                    <a:spcPct val="0"/>
                  </a:spcBef>
                  <a:spcAft>
                    <a:spcPct val="0"/>
                  </a:spcAft>
                  <a:buFont typeface="+mj-lt"/>
                  <a:buAutoNum type="arabicPeriod" startAt="9"/>
                </a:pPr>
                <a:r>
                  <a:rPr lang="zh-CN" altLang="zh-CN" sz="2400" dirty="0">
                    <a:latin typeface="Times New Roman" panose="02020603050405020304" pitchFamily="18" charset="0"/>
                    <a:cs typeface="Times New Roman" panose="02020603050405020304" pitchFamily="18" charset="0"/>
                  </a:rPr>
                  <a:t>|  |  |  </a:t>
                </a:r>
                <a:r>
                  <a:rPr lang="zh-CN" altLang="zh-CN" sz="2400" b="1" dirty="0">
                    <a:latin typeface="Times New Roman" panose="02020603050405020304" pitchFamily="18" charset="0"/>
                    <a:cs typeface="Times New Roman" panose="02020603050405020304" pitchFamily="18" charset="0"/>
                  </a:rPr>
                  <a:t>if</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visited</a:t>
                </a:r>
                <a:r>
                  <a:rPr lang="zh-CN" altLang="zh-CN" sz="2400" dirty="0">
                    <a:latin typeface="Times New Roman" panose="02020603050405020304" pitchFamily="18" charset="0"/>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p.dest</a:t>
                </a:r>
                <a:r>
                  <a:rPr lang="zh-CN" altLang="zh-CN" sz="2400" dirty="0">
                    <a:latin typeface="Times New Roman" panose="02020603050405020304" pitchFamily="18" charset="0"/>
                    <a:cs typeface="Times New Roman" panose="02020603050405020304" pitchFamily="18" charset="0"/>
                  </a:rPr>
                  <a:t>]=</a:t>
                </a:r>
                <a:r>
                  <a:rPr lang="zh-CN" altLang="zh-CN" sz="2400" b="1" dirty="0">
                    <a:latin typeface="Times New Roman" panose="02020603050405020304" pitchFamily="18" charset="0"/>
                    <a:cs typeface="Times New Roman" panose="02020603050405020304" pitchFamily="18" charset="0"/>
                  </a:rPr>
                  <a:t>false then</a:t>
                </a:r>
                <a:r>
                  <a:rPr lang="zh-CN" altLang="zh-CN" sz="2400" dirty="0">
                    <a:latin typeface="Times New Roman" panose="02020603050405020304" pitchFamily="18" charset="0"/>
                    <a:cs typeface="Times New Roman" panose="02020603050405020304" pitchFamily="18" charset="0"/>
                  </a:rPr>
                  <a:t> </a:t>
                </a:r>
                <a:endParaRPr lang="zh-CN" altLang="zh-CN" sz="3200" dirty="0"/>
              </a:p>
              <a:p>
                <a:pPr marL="457200" lvl="0" indent="-457200" eaLnBrk="0" fontAlgn="base" hangingPunct="0">
                  <a:spcBef>
                    <a:spcPct val="0"/>
                  </a:spcBef>
                  <a:spcAft>
                    <a:spcPct val="0"/>
                  </a:spcAft>
                  <a:buFont typeface="+mj-lt"/>
                  <a:buAutoNum type="arabicPeriod" startAt="9"/>
                </a:pPr>
                <a:r>
                  <a:rPr lang="zh-CN" altLang="zh-CN" sz="2400" dirty="0">
                    <a:latin typeface="Times New Roman" panose="02020603050405020304" pitchFamily="18" charset="0"/>
                    <a:cs typeface="Times New Roman" panose="02020603050405020304" pitchFamily="18" charset="0"/>
                  </a:rPr>
                  <a:t>|  |  |  |  EnQueue(</a:t>
                </a:r>
                <a:r>
                  <a:rPr lang="zh-CN" altLang="zh-CN" sz="2400" i="1" dirty="0">
                    <a:latin typeface="Times New Roman" panose="02020603050405020304" pitchFamily="18" charset="0"/>
                    <a:cs typeface="Times New Roman" panose="02020603050405020304" pitchFamily="18" charset="0"/>
                  </a:rPr>
                  <a:t>queue, p.dest</a:t>
                </a:r>
                <a:r>
                  <a:rPr lang="zh-CN" altLang="zh-CN" sz="2400" dirty="0">
                    <a:latin typeface="Times New Roman" panose="02020603050405020304" pitchFamily="18" charset="0"/>
                    <a:cs typeface="Times New Roman" panose="02020603050405020304" pitchFamily="18" charset="0"/>
                  </a:rPr>
                  <a:t>)</a:t>
                </a:r>
                <a:endParaRPr lang="zh-CN" altLang="zh-CN" sz="3200" dirty="0"/>
              </a:p>
              <a:p>
                <a:pPr marL="457200" lvl="0" indent="-457200" eaLnBrk="0" fontAlgn="base" hangingPunct="0">
                  <a:spcBef>
                    <a:spcPct val="0"/>
                  </a:spcBef>
                  <a:spcAft>
                    <a:spcPct val="0"/>
                  </a:spcAft>
                  <a:buFont typeface="+mj-lt"/>
                  <a:buAutoNum type="arabicPeriod" startAt="9"/>
                </a:pPr>
                <a:r>
                  <a:rPr lang="zh-CN" altLang="zh-CN" sz="2400" dirty="0">
                    <a:latin typeface="Times New Roman" panose="02020603050405020304" pitchFamily="18" charset="0"/>
                    <a:cs typeface="Times New Roman" panose="02020603050405020304" pitchFamily="18" charset="0"/>
                  </a:rPr>
                  <a:t>|  |  |  </a:t>
                </a:r>
                <a:r>
                  <a:rPr lang="zh-CN" altLang="zh-CN" sz="2400" b="1" dirty="0">
                    <a:latin typeface="Times New Roman" panose="02020603050405020304" pitchFamily="18" charset="0"/>
                    <a:cs typeface="Times New Roman" panose="02020603050405020304" pitchFamily="18" charset="0"/>
                  </a:rPr>
                  <a:t>end</a:t>
                </a:r>
                <a:endParaRPr lang="zh-CN" altLang="zh-CN" sz="3200" dirty="0"/>
              </a:p>
              <a:p>
                <a:pPr marL="457200" lvl="0" indent="-457200" eaLnBrk="0" fontAlgn="base" hangingPunct="0">
                  <a:spcBef>
                    <a:spcPct val="0"/>
                  </a:spcBef>
                  <a:spcAft>
                    <a:spcPct val="0"/>
                  </a:spcAft>
                  <a:buFont typeface="+mj-lt"/>
                  <a:buAutoNum type="arabicPeriod" startAt="9"/>
                </a:pPr>
                <a:r>
                  <a:rPr lang="zh-CN" altLang="zh-CN" sz="2400" dirty="0">
                    <a:latin typeface="Times New Roman" panose="02020603050405020304" pitchFamily="18" charset="0"/>
                    <a:cs typeface="Times New Roman" panose="02020603050405020304" pitchFamily="18" charset="0"/>
                  </a:rPr>
                  <a:t>|  |  |  </a:t>
                </a:r>
                <a:r>
                  <a:rPr lang="zh-CN" altLang="zh-CN" sz="2400" i="1" dirty="0">
                    <a:latin typeface="Times New Roman" panose="02020603050405020304" pitchFamily="18" charset="0"/>
                    <a:cs typeface="Times New Roman" panose="02020603050405020304" pitchFamily="18" charset="0"/>
                  </a:rPr>
                  <a:t>p</a:t>
                </a:r>
                <a:r>
                  <a:rPr lang="zh-CN" altLang="en-US" sz="2400" dirty="0">
                    <a:cs typeface="Times New Roman" panose="02020603050405020304" pitchFamily="18" charset="0"/>
                  </a:rPr>
                  <a:t> </a:t>
                </a:r>
                <a14:m>
                  <m:oMath xmlns:m="http://schemas.openxmlformats.org/officeDocument/2006/math">
                    <m:r>
                      <a:rPr lang="zh-CN" altLang="en-US" sz="2400">
                        <a:latin typeface="Cambria Math" panose="02040503050406030204" pitchFamily="18" charset="0"/>
                        <a:cs typeface="Times New Roman" panose="02020603050405020304" pitchFamily="18" charset="0"/>
                      </a:rPr>
                      <m:t>←</m:t>
                    </m:r>
                  </m:oMath>
                </a14:m>
                <a:r>
                  <a:rPr lang="zh-CN" altLang="zh-CN" sz="2400" i="1" dirty="0">
                    <a:latin typeface="Times New Roman" panose="02020603050405020304" pitchFamily="18" charset="0"/>
                    <a:cs typeface="Times New Roman" panose="02020603050405020304" pitchFamily="18" charset="0"/>
                  </a:rPr>
                  <a:t>p.next</a:t>
                </a:r>
                <a:endParaRPr lang="zh-CN" altLang="zh-CN" sz="3200" dirty="0"/>
              </a:p>
              <a:p>
                <a:pPr marL="457200" lvl="0" indent="-457200" eaLnBrk="0" fontAlgn="base" hangingPunct="0">
                  <a:spcBef>
                    <a:spcPct val="0"/>
                  </a:spcBef>
                  <a:spcAft>
                    <a:spcPct val="0"/>
                  </a:spcAft>
                  <a:buFont typeface="+mj-lt"/>
                  <a:buAutoNum type="arabicPeriod" startAt="9"/>
                </a:pPr>
                <a:r>
                  <a:rPr lang="zh-CN" altLang="zh-CN" sz="2400" dirty="0">
                    <a:latin typeface="Times New Roman" panose="02020603050405020304" pitchFamily="18" charset="0"/>
                    <a:cs typeface="Times New Roman" panose="02020603050405020304" pitchFamily="18" charset="0"/>
                  </a:rPr>
                  <a:t>|  |  </a:t>
                </a:r>
                <a:r>
                  <a:rPr lang="zh-CN" altLang="zh-CN" sz="2400" b="1" dirty="0">
                    <a:latin typeface="Times New Roman" panose="02020603050405020304" pitchFamily="18" charset="0"/>
                    <a:cs typeface="Times New Roman" panose="02020603050405020304" pitchFamily="18" charset="0"/>
                  </a:rPr>
                  <a:t>end</a:t>
                </a:r>
                <a:endParaRPr lang="zh-CN" altLang="zh-CN" sz="3200" dirty="0"/>
              </a:p>
              <a:p>
                <a:pPr marL="457200" lvl="0" indent="-457200" eaLnBrk="0" fontAlgn="base" hangingPunct="0">
                  <a:spcBef>
                    <a:spcPct val="0"/>
                  </a:spcBef>
                  <a:spcAft>
                    <a:spcPct val="0"/>
                  </a:spcAft>
                  <a:buFont typeface="+mj-lt"/>
                  <a:buAutoNum type="arabicPeriod" startAt="9"/>
                </a:pP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endParaRPr lang="zh-CN" altLang="zh-CN" sz="3200" dirty="0"/>
              </a:p>
              <a:p>
                <a:pPr marL="457200" lvl="0" indent="-457200" eaLnBrk="0" fontAlgn="base" hangingPunct="0">
                  <a:spcBef>
                    <a:spcPct val="0"/>
                  </a:spcBef>
                  <a:spcAft>
                    <a:spcPct val="0"/>
                  </a:spcAft>
                  <a:buFont typeface="+mj-lt"/>
                  <a:buAutoNum type="arabicPeriod" startAt="9"/>
                </a:pPr>
                <a:r>
                  <a:rPr lang="zh-CN" altLang="zh-CN" sz="2400" b="1" dirty="0">
                    <a:latin typeface="Times New Roman" panose="02020603050405020304" pitchFamily="18" charset="0"/>
                    <a:cs typeface="Times New Roman" panose="02020603050405020304" pitchFamily="18" charset="0"/>
                  </a:rPr>
                  <a:t>end</a:t>
                </a:r>
                <a:endParaRPr lang="zh-CN" altLang="zh-CN" sz="2400" dirty="0">
                  <a:latin typeface="Times New Roman" panose="02020603050405020304" pitchFamily="18" charset="0"/>
                  <a:cs typeface="Times New Roman" panose="02020603050405020304" pitchFamily="18" charset="0"/>
                </a:endParaRPr>
              </a:p>
            </p:txBody>
          </p:sp>
        </mc:Choice>
        <mc:Fallback xmlns="">
          <p:sp>
            <p:nvSpPr>
              <p:cNvPr id="9" name="文本框 8"/>
              <p:cNvSpPr txBox="1">
                <a:spLocks noRot="1" noChangeAspect="1" noMove="1" noResize="1" noEditPoints="1" noAdjustHandles="1" noChangeArrowheads="1" noChangeShapeType="1" noTextEdit="1"/>
              </p:cNvSpPr>
              <p:nvPr/>
            </p:nvSpPr>
            <p:spPr>
              <a:xfrm>
                <a:off x="584225" y="1181964"/>
                <a:ext cx="11283478" cy="3046988"/>
              </a:xfrm>
              <a:prstGeom prst="rect">
                <a:avLst/>
              </a:prstGeom>
              <a:blipFill>
                <a:blip r:embed="rId3"/>
                <a:stretch>
                  <a:fillRect l="-756" t="-1800" b="-3600"/>
                </a:stretch>
              </a:blipFill>
            </p:spPr>
            <p:txBody>
              <a:bodyPr/>
              <a:lstStyle/>
              <a:p>
                <a:r>
                  <a:rPr lang="zh-CN" altLang="en-US">
                    <a:noFill/>
                  </a:rPr>
                  <a:t> </a:t>
                </a:r>
              </a:p>
            </p:txBody>
          </p:sp>
        </mc:Fallback>
      </mc:AlternateContent>
      <p:sp>
        <p:nvSpPr>
          <p:cNvPr id="6" name="AutoShape 2" descr="\\tmp\wps-root\ksohtml\wpsXF2FWo.jpg"/>
          <p:cNvSpPr>
            <a:spLocks noChangeAspect="1" noChangeArrowheads="1"/>
          </p:cNvSpPr>
          <p:nvPr/>
        </p:nvSpPr>
        <p:spPr bwMode="auto">
          <a:xfrm>
            <a:off x="1049338" y="-5016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AutoShape 3" descr="\\tmp\wps-root\ksohtml\wpsRJuyd5.jpg"/>
          <p:cNvSpPr>
            <a:spLocks noChangeAspect="1" noChangeArrowheads="1"/>
          </p:cNvSpPr>
          <p:nvPr/>
        </p:nvSpPr>
        <p:spPr bwMode="auto">
          <a:xfrm>
            <a:off x="796925" y="-3190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AutoShape 4" descr="\\tmp\wps-root\ksohtml\wpsJ7luuL.jpg"/>
          <p:cNvSpPr>
            <a:spLocks noChangeAspect="1" noChangeArrowheads="1"/>
          </p:cNvSpPr>
          <p:nvPr/>
        </p:nvSpPr>
        <p:spPr bwMode="auto">
          <a:xfrm>
            <a:off x="1411288" y="-3190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AutoShape 5" descr="\\tmp\wps-root\ksohtml\wpsHuQuLr.jpg"/>
          <p:cNvSpPr>
            <a:spLocks noChangeAspect="1" noChangeArrowheads="1"/>
          </p:cNvSpPr>
          <p:nvPr/>
        </p:nvSpPr>
        <p:spPr bwMode="auto">
          <a:xfrm>
            <a:off x="1049338" y="158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AutoShape 6" descr="\\tmp\wps-root\ksohtml\wpsPVuA27.jpg"/>
          <p:cNvSpPr>
            <a:spLocks noChangeAspect="1" noChangeArrowheads="1"/>
          </p:cNvSpPr>
          <p:nvPr/>
        </p:nvSpPr>
        <p:spPr bwMode="auto">
          <a:xfrm>
            <a:off x="796925" y="1984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AutoShape 8" descr="\\tmp\wps-root\ksohtml\wpsrPQCf7.jpg"/>
          <p:cNvSpPr>
            <a:spLocks noChangeAspect="1" noChangeArrowheads="1"/>
          </p:cNvSpPr>
          <p:nvPr/>
        </p:nvSpPr>
        <p:spPr bwMode="auto">
          <a:xfrm>
            <a:off x="328613" y="-669925"/>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AutoShape 9" descr="\\tmp\wps-root\ksohtml\wpsDo1Js6.jpg"/>
          <p:cNvSpPr>
            <a:spLocks noChangeAspect="1" noChangeArrowheads="1"/>
          </p:cNvSpPr>
          <p:nvPr/>
        </p:nvSpPr>
        <p:spPr bwMode="auto">
          <a:xfrm>
            <a:off x="76200" y="-4873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AutoShape 10" descr="\\tmp\wps-root\ksohtml\wpsxYNUF5.jpg"/>
          <p:cNvSpPr>
            <a:spLocks noChangeAspect="1" noChangeArrowheads="1"/>
          </p:cNvSpPr>
          <p:nvPr/>
        </p:nvSpPr>
        <p:spPr bwMode="auto">
          <a:xfrm>
            <a:off x="690563" y="-487363"/>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AutoShape 11" descr="\\tmp\wps-root\ksohtml\wpspQS8S4.jpg"/>
          <p:cNvSpPr>
            <a:spLocks noChangeAspect="1" noChangeArrowheads="1"/>
          </p:cNvSpPr>
          <p:nvPr/>
        </p:nvSpPr>
        <p:spPr bwMode="auto">
          <a:xfrm>
            <a:off x="328613" y="-152400"/>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AutoShape 12" descr="\\tmp\wps-root\ksohtml\wpsbHQp63.jpg"/>
          <p:cNvSpPr>
            <a:spLocks noChangeAspect="1" noChangeArrowheads="1"/>
          </p:cNvSpPr>
          <p:nvPr/>
        </p:nvSpPr>
        <p:spPr bwMode="auto">
          <a:xfrm>
            <a:off x="76200" y="30163"/>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AutoShape 2" descr="\\tmp\wps-root\ksohtml\wpsdiKWJ9.jpg"/>
          <p:cNvSpPr>
            <a:spLocks noChangeAspect="1" noChangeArrowheads="1"/>
          </p:cNvSpPr>
          <p:nvPr/>
        </p:nvSpPr>
        <p:spPr bwMode="auto">
          <a:xfrm>
            <a:off x="328613" y="-425450"/>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AutoShape 3" descr="\\tmp\wps-root\ksohtml\wpsDHU3pa.jpg"/>
          <p:cNvSpPr>
            <a:spLocks noChangeAspect="1" noChangeArrowheads="1"/>
          </p:cNvSpPr>
          <p:nvPr/>
        </p:nvSpPr>
        <p:spPr bwMode="auto">
          <a:xfrm>
            <a:off x="76200" y="-24288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AutoShape 4" descr="\\tmp\wps-root\ksohtml\wpsde4e6a.jpg"/>
          <p:cNvSpPr>
            <a:spLocks noChangeAspect="1" noChangeArrowheads="1"/>
          </p:cNvSpPr>
          <p:nvPr/>
        </p:nvSpPr>
        <p:spPr bwMode="auto">
          <a:xfrm>
            <a:off x="690563" y="-242888"/>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AutoShape 5" descr="\\tmp\wps-root\ksohtml\wps3nEtMb.jpg"/>
          <p:cNvSpPr>
            <a:spLocks noChangeAspect="1" noChangeArrowheads="1"/>
          </p:cNvSpPr>
          <p:nvPr/>
        </p:nvSpPr>
        <p:spPr bwMode="auto">
          <a:xfrm>
            <a:off x="328613" y="92075"/>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AutoShape 6" descr="\\tmp\wps-root\ksohtml\wpsD8MLsc.jpg"/>
          <p:cNvSpPr>
            <a:spLocks noChangeAspect="1" noChangeArrowheads="1"/>
          </p:cNvSpPr>
          <p:nvPr/>
        </p:nvSpPr>
        <p:spPr bwMode="auto">
          <a:xfrm>
            <a:off x="76200" y="2746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AutoShape 2" descr="\\tmp\wps-root\ksohtml\wpst4EfzW.jpg"/>
          <p:cNvSpPr>
            <a:spLocks noChangeAspect="1" noChangeArrowheads="1"/>
          </p:cNvSpPr>
          <p:nvPr/>
        </p:nvSpPr>
        <p:spPr bwMode="auto">
          <a:xfrm>
            <a:off x="228600" y="-593725"/>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AutoShape 3" descr="\\tmp\wps-root\ksohtml\wpsZH7NFG.jpg"/>
          <p:cNvSpPr>
            <a:spLocks noChangeAspect="1" noChangeArrowheads="1"/>
          </p:cNvSpPr>
          <p:nvPr/>
        </p:nvSpPr>
        <p:spPr bwMode="auto">
          <a:xfrm>
            <a:off x="735013" y="-258763"/>
            <a:ext cx="1333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AutoShape 4" descr="\\tmp\wps-root\ksohtml\wpspQDqMq.jpg"/>
          <p:cNvSpPr>
            <a:spLocks noChangeAspect="1" noChangeArrowheads="1"/>
          </p:cNvSpPr>
          <p:nvPr/>
        </p:nvSpPr>
        <p:spPr bwMode="auto">
          <a:xfrm>
            <a:off x="317500" y="76200"/>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AutoShape 5" descr="\\tmp\wps-root\ksohtml\wpsvFu6Sa.jpg"/>
          <p:cNvSpPr>
            <a:spLocks noChangeAspect="1" noChangeArrowheads="1"/>
          </p:cNvSpPr>
          <p:nvPr/>
        </p:nvSpPr>
        <p:spPr bwMode="auto">
          <a:xfrm>
            <a:off x="638175" y="258763"/>
            <a:ext cx="952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AutoShape 6" descr="\\tmp\wps-root\ksohtml\wpspWNQZU.jpg"/>
          <p:cNvSpPr>
            <a:spLocks noChangeAspect="1" noChangeArrowheads="1"/>
          </p:cNvSpPr>
          <p:nvPr/>
        </p:nvSpPr>
        <p:spPr bwMode="auto">
          <a:xfrm>
            <a:off x="438150" y="898525"/>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任意多边形: 形状 13">
            <a:extLst>
              <a:ext uri="{FF2B5EF4-FFF2-40B4-BE49-F238E27FC236}">
                <a16:creationId xmlns:a16="http://schemas.microsoft.com/office/drawing/2014/main" id="{BB7B2CCE-99DF-4AF4-BEDA-188B38B189F1}"/>
              </a:ext>
            </a:extLst>
          </p:cNvPr>
          <p:cNvSpPr/>
          <p:nvPr/>
        </p:nvSpPr>
        <p:spPr>
          <a:xfrm>
            <a:off x="5448584" y="4732190"/>
            <a:ext cx="6186368" cy="1440502"/>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en-US" altLang="zh-CN" sz="2400" dirty="0">
                <a:latin typeface="微软雅黑" panose="020B0503020204020204" pitchFamily="34" charset="-122"/>
                <a:ea typeface="微软雅黑" panose="020B0503020204020204" pitchFamily="34" charset="-122"/>
              </a:rPr>
              <a:t>1-16</a:t>
            </a:r>
            <a:r>
              <a:rPr lang="zh-CN" altLang="en-US" sz="2400" dirty="0">
                <a:latin typeface="微软雅黑" panose="020B0503020204020204" pitchFamily="34" charset="-122"/>
                <a:ea typeface="微软雅黑" panose="020B0503020204020204" pitchFamily="34" charset="-122"/>
              </a:rPr>
              <a:t>：每次</a:t>
            </a:r>
            <a:r>
              <a:rPr lang="en-US" altLang="zh-CN" sz="2400" dirty="0" err="1">
                <a:latin typeface="微软雅黑" panose="020B0503020204020204" pitchFamily="34" charset="-122"/>
                <a:ea typeface="微软雅黑" panose="020B0503020204020204" pitchFamily="34" charset="-122"/>
              </a:rPr>
              <a:t>BFS</a:t>
            </a:r>
            <a:r>
              <a:rPr lang="zh-CN" altLang="en-US" sz="2400" dirty="0">
                <a:latin typeface="微软雅黑" panose="020B0503020204020204" pitchFamily="34" charset="-122"/>
                <a:ea typeface="微软雅黑" panose="020B0503020204020204" pitchFamily="34" charset="-122"/>
              </a:rPr>
              <a:t>调用访问</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个顶点和若干条边。合计访问到每个顶点和每条边一次，时间复杂度 </a:t>
            </a:r>
            <a:r>
              <a:rPr lang="en-US" altLang="zh-CN" sz="2400" dirty="0">
                <a:latin typeface="微软雅黑" panose="020B0503020204020204" pitchFamily="34" charset="-122"/>
                <a:ea typeface="微软雅黑" panose="020B0503020204020204" pitchFamily="34" charset="-122"/>
              </a:rPr>
              <a:t>O</a:t>
            </a:r>
            <a:r>
              <a:rPr lang="zh-CN" altLang="en-US" sz="2400" dirty="0">
                <a:latin typeface="微软雅黑" panose="020B0503020204020204" pitchFamily="34" charset="-122"/>
                <a:ea typeface="微软雅黑" panose="020B0503020204020204" pitchFamily="34" charset="-122"/>
              </a:rPr>
              <a:t>（</a:t>
            </a:r>
            <a:r>
              <a:rPr lang="en-US" altLang="zh-CN" sz="2400" dirty="0" err="1">
                <a:latin typeface="微软雅黑" panose="020B0503020204020204" pitchFamily="34" charset="-122"/>
                <a:ea typeface="微软雅黑" panose="020B0503020204020204" pitchFamily="34" charset="-122"/>
              </a:rPr>
              <a:t>n+m</a:t>
            </a:r>
            <a:r>
              <a:rPr lang="zh-CN" altLang="en-US" sz="2400" dirty="0">
                <a:latin typeface="微软雅黑" panose="020B0503020204020204" pitchFamily="34" charset="-122"/>
                <a:ea typeface="微软雅黑" panose="020B0503020204020204" pitchFamily="34" charset="-122"/>
              </a:rPr>
              <a:t>）。</a:t>
            </a:r>
            <a:endParaRPr lang="zh-CN" altLang="zh-CN" sz="2400" dirty="0">
              <a:latin typeface="微软雅黑" panose="020B0503020204020204" pitchFamily="34" charset="-122"/>
              <a:ea typeface="微软雅黑" panose="020B0503020204020204" pitchFamily="34" charset="-122"/>
            </a:endParaRPr>
          </a:p>
        </p:txBody>
      </p:sp>
      <p:sp>
        <p:nvSpPr>
          <p:cNvPr id="29" name="TextBox 36">
            <a:extLst>
              <a:ext uri="{FF2B5EF4-FFF2-40B4-BE49-F238E27FC236}">
                <a16:creationId xmlns:a16="http://schemas.microsoft.com/office/drawing/2014/main" id="{E4858C38-67FB-4EEC-A2C2-37309E83BA1E}"/>
              </a:ext>
            </a:extLst>
          </p:cNvPr>
          <p:cNvSpPr txBox="1"/>
          <p:nvPr/>
        </p:nvSpPr>
        <p:spPr>
          <a:xfrm>
            <a:off x="463575" y="146050"/>
            <a:ext cx="9523977" cy="651653"/>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23863176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深度和广度优先遍历结果特点</a:t>
            </a:r>
          </a:p>
        </p:txBody>
      </p:sp>
      <p:sp>
        <p:nvSpPr>
          <p:cNvPr id="9" name="文本框 8"/>
          <p:cNvSpPr txBox="1"/>
          <p:nvPr/>
        </p:nvSpPr>
        <p:spPr>
          <a:xfrm>
            <a:off x="584224" y="1460111"/>
            <a:ext cx="11371915" cy="1682577"/>
          </a:xfrm>
          <a:prstGeom prst="rect">
            <a:avLst/>
          </a:prstGeom>
          <a:noFill/>
        </p:spPr>
        <p:txBody>
          <a:bodyPr wrap="square" rtlCol="0">
            <a:spAutoFit/>
          </a:bodyPr>
          <a:lstStyle/>
          <a:p>
            <a:pPr lvl="0" eaLnBrk="0" fontAlgn="base" hangingPunct="0">
              <a:lnSpc>
                <a:spcPct val="150000"/>
              </a:lnSpc>
              <a:spcBef>
                <a:spcPct val="0"/>
              </a:spcBef>
              <a:spcAft>
                <a:spcPct val="0"/>
              </a:spcAft>
            </a:pPr>
            <a:endParaRPr lang="en-US" altLang="zh-CN" sz="2400" dirty="0">
              <a:latin typeface="宋体" panose="02010600030101010101" pitchFamily="2" charset="-122"/>
              <a:cs typeface="Times New Roman" panose="02020603050405020304" pitchFamily="18" charset="0"/>
            </a:endParaRPr>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图的深度优先遍历和广度优先遍历既适用于有向图，也适用于无向图。</a:t>
            </a:r>
            <a:endParaRPr lang="zh-CN" altLang="zh-CN" sz="3200" dirty="0"/>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遍历</a:t>
            </a:r>
            <a:r>
              <a:rPr lang="zh-CN" altLang="en-US" sz="2400" dirty="0">
                <a:latin typeface="宋体" panose="02010600030101010101" pitchFamily="2" charset="-122"/>
                <a:cs typeface="Times New Roman" panose="02020603050405020304" pitchFamily="18" charset="0"/>
              </a:rPr>
              <a:t>中</a:t>
            </a:r>
            <a:r>
              <a:rPr lang="zh-CN" altLang="zh-CN" sz="2400" dirty="0">
                <a:latin typeface="宋体" panose="02010600030101010101" pitchFamily="2" charset="-122"/>
                <a:cs typeface="Times New Roman" panose="02020603050405020304" pitchFamily="18" charset="0"/>
              </a:rPr>
              <a:t>，已访问过的邻接点将不再被访问，</a:t>
            </a:r>
            <a:r>
              <a:rPr lang="zh-CN" altLang="en-US" sz="2400" dirty="0">
                <a:latin typeface="宋体" panose="02010600030101010101" pitchFamily="2" charset="-122"/>
                <a:cs typeface="Times New Roman" panose="02020603050405020304" pitchFamily="18" charset="0"/>
              </a:rPr>
              <a:t>故</a:t>
            </a:r>
            <a:r>
              <a:rPr lang="zh-CN" altLang="zh-CN" sz="2400" dirty="0">
                <a:latin typeface="宋体" panose="02010600030101010101" pitchFamily="2" charset="-122"/>
                <a:cs typeface="Times New Roman" panose="02020603050405020304" pitchFamily="18" charset="0"/>
              </a:rPr>
              <a:t>遍历结果只能是树形结构。</a:t>
            </a:r>
            <a:endParaRPr lang="zh-CN" altLang="zh-CN" sz="4800" dirty="0">
              <a:latin typeface="Arial" panose="020B0604020202020204" pitchFamily="34" charset="0"/>
            </a:endParaRPr>
          </a:p>
        </p:txBody>
      </p:sp>
      <p:sp>
        <p:nvSpPr>
          <p:cNvPr id="8" name="TextBox 36">
            <a:extLst>
              <a:ext uri="{FF2B5EF4-FFF2-40B4-BE49-F238E27FC236}">
                <a16:creationId xmlns:a16="http://schemas.microsoft.com/office/drawing/2014/main" id="{1FB979E2-63EE-40EE-B314-6A02B7D38947}"/>
              </a:ext>
            </a:extLst>
          </p:cNvPr>
          <p:cNvSpPr txBox="1"/>
          <p:nvPr/>
        </p:nvSpPr>
        <p:spPr>
          <a:xfrm>
            <a:off x="463575" y="146050"/>
            <a:ext cx="9523977" cy="651653"/>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53193538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r>
              <a:rPr lang="zh-CN" altLang="en-US" dirty="0"/>
              <a:t>深度和广度优先遍历比较</a:t>
            </a:r>
          </a:p>
        </p:txBody>
      </p:sp>
      <p:sp>
        <p:nvSpPr>
          <p:cNvPr id="9" name="文本框 8"/>
          <p:cNvSpPr txBox="1"/>
          <p:nvPr/>
        </p:nvSpPr>
        <p:spPr>
          <a:xfrm>
            <a:off x="584225" y="1460111"/>
            <a:ext cx="10719652" cy="4524315"/>
          </a:xfrm>
          <a:prstGeom prst="rect">
            <a:avLst/>
          </a:prstGeom>
          <a:noFill/>
        </p:spPr>
        <p:txBody>
          <a:bodyPr wrap="square" rtlCol="0">
            <a:spAutoFit/>
          </a:bodyPr>
          <a:lstStyle/>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深度优先遍历</a:t>
            </a:r>
            <a:r>
              <a:rPr lang="zh-CN" altLang="zh-CN" sz="2400" dirty="0">
                <a:latin typeface="宋体" panose="02010600030101010101" pitchFamily="2" charset="-122"/>
                <a:cs typeface="Arial" panose="020B0604020202020204" pitchFamily="34" charset="0"/>
              </a:rPr>
              <a:t>的特点是</a:t>
            </a:r>
            <a:r>
              <a:rPr lang="zh-CN" altLang="zh-CN" sz="2400" dirty="0">
                <a:latin typeface="Arial" panose="020B0604020202020204" pitchFamily="34" charset="0"/>
                <a:cs typeface="Arial" panose="020B0604020202020204" pitchFamily="34" charset="0"/>
              </a:rPr>
              <a:t>“</a:t>
            </a:r>
            <a:r>
              <a:rPr lang="zh-CN" altLang="zh-CN" sz="2400" dirty="0">
                <a:latin typeface="宋体" panose="02010600030101010101" pitchFamily="2" charset="-122"/>
                <a:cs typeface="Arial" panose="020B0604020202020204" pitchFamily="34" charset="0"/>
              </a:rPr>
              <a:t>一条路跑到黑</a:t>
            </a:r>
            <a:r>
              <a:rPr lang="zh-CN" altLang="zh-CN" sz="2400" dirty="0">
                <a:latin typeface="Arial" panose="020B0604020202020204" pitchFamily="34" charset="0"/>
                <a:cs typeface="Arial" panose="020B0604020202020204" pitchFamily="34" charset="0"/>
              </a:rPr>
              <a:t>”</a:t>
            </a:r>
            <a:r>
              <a:rPr lang="zh-CN" altLang="en-US" sz="2400" dirty="0">
                <a:latin typeface="Arial" panose="020B0604020202020204" pitchFamily="34" charset="0"/>
                <a:cs typeface="Arial" panose="020B0604020202020204" pitchFamily="34" charset="0"/>
              </a:rPr>
              <a:t>，</a:t>
            </a:r>
            <a:r>
              <a:rPr lang="zh-CN" altLang="zh-CN" sz="2400" dirty="0">
                <a:latin typeface="宋体" panose="02010600030101010101" pitchFamily="2" charset="-122"/>
                <a:cs typeface="Arial" panose="020B0604020202020204" pitchFamily="34" charset="0"/>
              </a:rPr>
              <a:t>如果面临的问题是能找到一个解就可以</a:t>
            </a:r>
            <a:r>
              <a:rPr lang="zh-CN" altLang="en-US" sz="2400" dirty="0">
                <a:latin typeface="宋体" panose="02010600030101010101" pitchFamily="2" charset="-122"/>
                <a:cs typeface="Arial" panose="020B0604020202020204" pitchFamily="34" charset="0"/>
              </a:rPr>
              <a:t>，</a:t>
            </a:r>
            <a:r>
              <a:rPr lang="zh-CN" altLang="zh-CN" sz="2400" dirty="0">
                <a:latin typeface="宋体" panose="02010600030101010101" pitchFamily="2" charset="-122"/>
                <a:cs typeface="Times New Roman" panose="02020603050405020304" pitchFamily="18" charset="0"/>
              </a:rPr>
              <a:t>深度优先遍历</a:t>
            </a:r>
            <a:r>
              <a:rPr lang="zh-CN" altLang="zh-CN" sz="2400" dirty="0">
                <a:latin typeface="宋体" panose="02010600030101010101" pitchFamily="2" charset="-122"/>
                <a:cs typeface="Arial" panose="020B0604020202020204" pitchFamily="34" charset="0"/>
              </a:rPr>
              <a:t>一般是首选。</a:t>
            </a:r>
            <a:r>
              <a:rPr lang="zh-CN" altLang="en-US" sz="2400" dirty="0">
                <a:latin typeface="宋体" panose="02010600030101010101" pitchFamily="2" charset="-122"/>
                <a:cs typeface="Arial" panose="020B0604020202020204" pitchFamily="34" charset="0"/>
              </a:rPr>
              <a:t>其搜索</a:t>
            </a:r>
            <a:r>
              <a:rPr lang="zh-CN" altLang="zh-CN" sz="2400" dirty="0">
                <a:latin typeface="宋体" panose="02010600030101010101" pitchFamily="2" charset="-122"/>
                <a:cs typeface="Arial" panose="020B0604020202020204" pitchFamily="34" charset="0"/>
              </a:rPr>
              <a:t>深度一般比</a:t>
            </a:r>
            <a:r>
              <a:rPr lang="zh-CN" altLang="zh-CN" sz="2400" dirty="0">
                <a:latin typeface="宋体" panose="02010600030101010101" pitchFamily="2" charset="-122"/>
                <a:cs typeface="Times New Roman" panose="02020603050405020304" pitchFamily="18" charset="0"/>
              </a:rPr>
              <a:t>广度优先遍历</a:t>
            </a:r>
            <a:r>
              <a:rPr lang="zh-CN" altLang="zh-CN" sz="2400" dirty="0">
                <a:latin typeface="宋体" panose="02010600030101010101" pitchFamily="2" charset="-122"/>
                <a:cs typeface="Arial" panose="020B0604020202020204" pitchFamily="34" charset="0"/>
              </a:rPr>
              <a:t>要搜索的宽度小</a:t>
            </a:r>
            <a:r>
              <a:rPr lang="zh-CN" altLang="en-US" sz="2400" dirty="0">
                <a:latin typeface="宋体" panose="02010600030101010101" pitchFamily="2" charset="-122"/>
                <a:cs typeface="Arial" panose="020B0604020202020204" pitchFamily="34" charset="0"/>
              </a:rPr>
              <a:t>很</a:t>
            </a:r>
            <a:r>
              <a:rPr lang="zh-CN" altLang="zh-CN" sz="2400" dirty="0">
                <a:latin typeface="宋体" panose="02010600030101010101" pitchFamily="2" charset="-122"/>
                <a:cs typeface="Arial" panose="020B0604020202020204" pitchFamily="34" charset="0"/>
              </a:rPr>
              <a:t>多。</a:t>
            </a:r>
            <a:endParaRPr lang="en-US" altLang="zh-CN" sz="2400" dirty="0">
              <a:latin typeface="宋体" panose="02010600030101010101" pitchFamily="2" charset="-122"/>
              <a:cs typeface="Arial" panose="020B0604020202020204" pitchFamily="34" charset="0"/>
            </a:endParaRPr>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广度优先遍历</a:t>
            </a:r>
            <a:r>
              <a:rPr lang="zh-CN" altLang="zh-CN" sz="2400" dirty="0">
                <a:latin typeface="宋体" panose="02010600030101010101" pitchFamily="2" charset="-122"/>
                <a:cs typeface="Arial" panose="020B0604020202020204" pitchFamily="34" charset="0"/>
              </a:rPr>
              <a:t>的特点是层层扩散。如果面临的问题是要找到一个距离出发点最近的解，那么</a:t>
            </a:r>
            <a:r>
              <a:rPr lang="zh-CN" altLang="zh-CN" sz="2400" dirty="0">
                <a:latin typeface="宋体" panose="02010600030101010101" pitchFamily="2" charset="-122"/>
                <a:cs typeface="Times New Roman" panose="02020603050405020304" pitchFamily="18" charset="0"/>
              </a:rPr>
              <a:t>广度优先遍历</a:t>
            </a:r>
            <a:r>
              <a:rPr lang="zh-CN" altLang="zh-CN" sz="2400" dirty="0">
                <a:latin typeface="宋体" panose="02010600030101010101" pitchFamily="2" charset="-122"/>
                <a:cs typeface="Arial" panose="020B0604020202020204" pitchFamily="34" charset="0"/>
              </a:rPr>
              <a:t>是最好的选择</a:t>
            </a:r>
            <a:r>
              <a:rPr lang="zh-CN" altLang="en-US" sz="2400" dirty="0">
                <a:latin typeface="宋体" panose="02010600030101010101" pitchFamily="2" charset="-122"/>
                <a:cs typeface="Arial" panose="020B0604020202020204" pitchFamily="34" charset="0"/>
              </a:rPr>
              <a:t>。</a:t>
            </a:r>
            <a:endParaRPr lang="en-US" altLang="zh-CN" sz="2400" dirty="0">
              <a:latin typeface="宋体" panose="02010600030101010101" pitchFamily="2" charset="-122"/>
              <a:cs typeface="Arial" panose="020B0604020202020204" pitchFamily="34" charset="0"/>
            </a:endParaRPr>
          </a:p>
          <a:p>
            <a:pPr marL="457200" lvl="0" indent="-457200" eaLnBrk="0" fontAlgn="base" hangingPunct="0">
              <a:lnSpc>
                <a:spcPct val="150000"/>
              </a:lnSpc>
              <a:spcBef>
                <a:spcPct val="0"/>
              </a:spcBef>
              <a:spcAft>
                <a:spcPct val="0"/>
              </a:spcAft>
              <a:buFont typeface="+mj-lt"/>
              <a:buAutoNum type="arabicPeriod"/>
            </a:pPr>
            <a:r>
              <a:rPr lang="zh-CN" altLang="zh-CN" sz="2400" dirty="0">
                <a:latin typeface="宋体" panose="02010600030101010101" pitchFamily="2" charset="-122"/>
                <a:cs typeface="Times New Roman" panose="02020603050405020304" pitchFamily="18" charset="0"/>
              </a:rPr>
              <a:t>广度优先遍历</a:t>
            </a:r>
            <a:r>
              <a:rPr lang="zh-CN" altLang="zh-CN" sz="2400" dirty="0">
                <a:latin typeface="宋体" panose="02010600030101010101" pitchFamily="2" charset="-122"/>
                <a:cs typeface="Arial" panose="020B0604020202020204" pitchFamily="34" charset="0"/>
              </a:rPr>
              <a:t>需要程序员自己写个队列，代码比较长。而且这个队列要能同时存储一整层顶点，如果是一棵满二叉树，每层顶点的个数是呈指数级增长的，所以耗费的空间会比较大。</a:t>
            </a:r>
            <a:endParaRPr lang="zh-CN" altLang="zh-CN" sz="4800" dirty="0">
              <a:latin typeface="Arial" panose="020B0604020202020204" pitchFamily="34" charset="0"/>
            </a:endParaRPr>
          </a:p>
        </p:txBody>
      </p:sp>
      <p:sp>
        <p:nvSpPr>
          <p:cNvPr id="8" name="TextBox 36">
            <a:extLst>
              <a:ext uri="{FF2B5EF4-FFF2-40B4-BE49-F238E27FC236}">
                <a16:creationId xmlns:a16="http://schemas.microsoft.com/office/drawing/2014/main" id="{ED51E42C-C653-4B8C-B9B4-10475B4D3CDC}"/>
              </a:ext>
            </a:extLst>
          </p:cNvPr>
          <p:cNvSpPr txBox="1"/>
          <p:nvPr/>
        </p:nvSpPr>
        <p:spPr>
          <a:xfrm>
            <a:off x="463575" y="146050"/>
            <a:ext cx="9523977" cy="651653"/>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图的遍历</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62374442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pPr lvl="0" eaLnBrk="0" fontAlgn="base" hangingPunct="0">
              <a:lnSpc>
                <a:spcPct val="100000"/>
              </a:lnSpc>
              <a:spcAft>
                <a:spcPct val="0"/>
              </a:spcAft>
            </a:pPr>
            <a:r>
              <a:rPr lang="zh-CN" altLang="zh-CN" dirty="0"/>
              <a:t>无向图的连通性</a:t>
            </a:r>
          </a:p>
        </p:txBody>
      </p:sp>
      <p:sp>
        <p:nvSpPr>
          <p:cNvPr id="9" name="文本框 8"/>
          <p:cNvSpPr txBox="1"/>
          <p:nvPr/>
        </p:nvSpPr>
        <p:spPr>
          <a:xfrm>
            <a:off x="584225" y="1460111"/>
            <a:ext cx="11019196" cy="3970318"/>
          </a:xfrm>
          <a:prstGeom prst="rect">
            <a:avLst/>
          </a:prstGeom>
          <a:noFill/>
        </p:spPr>
        <p:txBody>
          <a:bodyPr wrap="square" rtlCol="0">
            <a:spAutoFit/>
          </a:bodyPr>
          <a:lstStyle/>
          <a:p>
            <a:pPr eaLnBrk="0" fontAlgn="base" hangingPunct="0">
              <a:lnSpc>
                <a:spcPct val="150000"/>
              </a:lnSpc>
              <a:spcBef>
                <a:spcPct val="0"/>
              </a:spcBef>
              <a:spcAft>
                <a:spcPct val="0"/>
              </a:spcAft>
            </a:pPr>
            <a:r>
              <a:rPr lang="zh-CN" altLang="zh-CN" sz="2400" dirty="0">
                <a:latin typeface="宋体" panose="02010600030101010101" pitchFamily="2" charset="-122"/>
                <a:cs typeface="Times New Roman" panose="02020603050405020304" pitchFamily="18" charset="0"/>
              </a:rPr>
              <a:t>如果无向图是连通的，那么选定图中任何一个顶点，从该顶点出发，通过遍历，就能到达图中其他所有顶点。</a:t>
            </a:r>
            <a:endParaRPr lang="en-US" altLang="zh-CN" sz="2400" dirty="0">
              <a:latin typeface="宋体" panose="02010600030101010101" pitchFamily="2" charset="-122"/>
              <a:cs typeface="Times New Roman" panose="02020603050405020304" pitchFamily="18" charset="0"/>
            </a:endParaRPr>
          </a:p>
          <a:p>
            <a:pPr eaLnBrk="0" fontAlgn="base" hangingPunct="0">
              <a:lnSpc>
                <a:spcPct val="150000"/>
              </a:lnSpc>
              <a:spcBef>
                <a:spcPct val="0"/>
              </a:spcBef>
              <a:spcAft>
                <a:spcPct val="0"/>
              </a:spcAft>
            </a:pPr>
            <a:endParaRPr lang="en-US" altLang="zh-CN" sz="2400" dirty="0">
              <a:latin typeface="宋体" panose="02010600030101010101" pitchFamily="2" charset="-122"/>
              <a:cs typeface="Times New Roman" panose="02020603050405020304" pitchFamily="18" charset="0"/>
            </a:endParaRPr>
          </a:p>
          <a:p>
            <a:pPr eaLnBrk="0" fontAlgn="base" hangingPunct="0">
              <a:lnSpc>
                <a:spcPct val="150000"/>
              </a:lnSpc>
              <a:spcBef>
                <a:spcPct val="0"/>
              </a:spcBef>
              <a:spcAft>
                <a:spcPct val="0"/>
              </a:spcAft>
            </a:pPr>
            <a:r>
              <a:rPr lang="zh-CN" altLang="en-US" sz="2400" b="1" dirty="0">
                <a:latin typeface="宋体" panose="02010600030101010101" pitchFamily="2" charset="-122"/>
                <a:cs typeface="Times New Roman" panose="02020603050405020304" pitchFamily="18" charset="0"/>
              </a:rPr>
              <a:t>方法是：</a:t>
            </a:r>
            <a:endParaRPr lang="en-US" altLang="zh-CN" sz="2400" b="1" dirty="0">
              <a:latin typeface="宋体" panose="02010600030101010101" pitchFamily="2" charset="-122"/>
              <a:cs typeface="Times New Roman" panose="02020603050405020304" pitchFamily="18" charset="0"/>
            </a:endParaRPr>
          </a:p>
          <a:p>
            <a:pPr eaLnBrk="0" fontAlgn="base" hangingPunct="0">
              <a:lnSpc>
                <a:spcPct val="150000"/>
              </a:lnSpc>
              <a:spcBef>
                <a:spcPct val="0"/>
              </a:spcBef>
              <a:spcAft>
                <a:spcPct val="0"/>
              </a:spcAft>
            </a:pPr>
            <a:r>
              <a:rPr lang="zh-CN" altLang="en-US" sz="2400" dirty="0">
                <a:latin typeface="宋体" panose="02010600030101010101" pitchFamily="2" charset="-122"/>
                <a:cs typeface="Times New Roman" panose="02020603050405020304" pitchFamily="18" charset="0"/>
              </a:rPr>
              <a:t>只需</a:t>
            </a:r>
            <a:r>
              <a:rPr lang="zh-CN" altLang="zh-CN" sz="2400" dirty="0">
                <a:latin typeface="宋体" panose="02010600030101010101" pitchFamily="2" charset="-122"/>
                <a:cs typeface="Times New Roman" panose="02020603050405020304" pitchFamily="18" charset="0"/>
              </a:rPr>
              <a:t>在以上的深度优先、广度优先遍历实现算法中增加一个计数器，记录外循环体中，进入内循环的次数，根据次数是否可以判断出该图是否连通？如果不连通有几个连通分量？每个连通分量包含哪些顶点？</a:t>
            </a:r>
          </a:p>
        </p:txBody>
      </p:sp>
      <p:sp>
        <p:nvSpPr>
          <p:cNvPr id="8" name="TextBox 36">
            <a:extLst>
              <a:ext uri="{FF2B5EF4-FFF2-40B4-BE49-F238E27FC236}">
                <a16:creationId xmlns:a16="http://schemas.microsoft.com/office/drawing/2014/main" id="{E4858C38-67FB-4EEC-A2C2-37309E83BA1E}"/>
              </a:ext>
            </a:extLst>
          </p:cNvPr>
          <p:cNvSpPr txBox="1"/>
          <p:nvPr/>
        </p:nvSpPr>
        <p:spPr>
          <a:xfrm>
            <a:off x="309545" y="122054"/>
            <a:ext cx="9523977" cy="651653"/>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连通判定</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9442162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pPr lvl="0" eaLnBrk="0" fontAlgn="base" hangingPunct="0">
              <a:lnSpc>
                <a:spcPct val="100000"/>
              </a:lnSpc>
              <a:spcAft>
                <a:spcPct val="0"/>
              </a:spcAft>
            </a:pPr>
            <a:r>
              <a:rPr lang="zh-CN" altLang="zh-CN" dirty="0"/>
              <a:t>无向图的连通性</a:t>
            </a:r>
          </a:p>
        </p:txBody>
      </p:sp>
      <mc:AlternateContent xmlns:mc="http://schemas.openxmlformats.org/markup-compatibility/2006" xmlns:a14="http://schemas.microsoft.com/office/drawing/2010/main">
        <mc:Choice Requires="a14">
          <p:sp>
            <p:nvSpPr>
              <p:cNvPr id="9" name="文本框 8"/>
              <p:cNvSpPr txBox="1"/>
              <p:nvPr/>
            </p:nvSpPr>
            <p:spPr>
              <a:xfrm>
                <a:off x="584225" y="1460111"/>
                <a:ext cx="11019196" cy="5016758"/>
              </a:xfrm>
              <a:prstGeom prst="rect">
                <a:avLst/>
              </a:prstGeom>
              <a:noFill/>
            </p:spPr>
            <p:txBody>
              <a:bodyPr wrap="square" rtlCol="0">
                <a:spAutoFit/>
              </a:bodyPr>
              <a:lstStyle/>
              <a:p>
                <a:pPr lvl="0" eaLnBrk="0" fontAlgn="base" hangingPunct="0">
                  <a:spcBef>
                    <a:spcPct val="0"/>
                  </a:spcBef>
                  <a:spcAft>
                    <a:spcPct val="0"/>
                  </a:spcAft>
                </a:pPr>
                <a:r>
                  <a:rPr lang="zh-CN" altLang="zh-CN" sz="2400" b="1" u="sng" dirty="0">
                    <a:latin typeface="宋体" panose="02010600030101010101" pitchFamily="2" charset="-122"/>
                    <a:cs typeface="Times New Roman" panose="02020603050405020304" pitchFamily="18" charset="0"/>
                  </a:rPr>
                  <a:t>算法</a:t>
                </a:r>
                <a:r>
                  <a:rPr lang="zh-CN" altLang="zh-CN" sz="2400" b="1" u="sng" dirty="0">
                    <a:latin typeface="Times New Roman" panose="02020603050405020304" pitchFamily="18" charset="0"/>
                    <a:cs typeface="Times New Roman" panose="02020603050405020304" pitchFamily="18" charset="0"/>
                  </a:rPr>
                  <a:t>7-15: </a:t>
                </a:r>
                <a:r>
                  <a:rPr lang="zh-CN" altLang="zh-CN" sz="2400" u="sng" dirty="0">
                    <a:latin typeface="Times New Roman" panose="02020603050405020304" pitchFamily="18" charset="0"/>
                    <a:cs typeface="Times New Roman" panose="02020603050405020304" pitchFamily="18" charset="0"/>
                  </a:rPr>
                  <a:t> </a:t>
                </a:r>
                <a:r>
                  <a:rPr lang="zh-CN" altLang="zh-CN" sz="2400" u="sng" dirty="0">
                    <a:latin typeface="宋体" panose="02010600030101010101" pitchFamily="2" charset="-122"/>
                    <a:cs typeface="Times New Roman" panose="02020603050405020304" pitchFamily="18" charset="0"/>
                  </a:rPr>
                  <a:t>图的连通性判断</a:t>
                </a:r>
                <a:r>
                  <a:rPr lang="zh-CN" altLang="zh-CN" sz="2400" b="1" u="sng" dirty="0">
                    <a:latin typeface="Times New Roman" panose="02020603050405020304" pitchFamily="18" charset="0"/>
                    <a:cs typeface="Times New Roman" panose="02020603050405020304" pitchFamily="18" charset="0"/>
                  </a:rPr>
                  <a:t> </a:t>
                </a:r>
                <a:r>
                  <a:rPr lang="zh-CN" altLang="zh-CN" sz="2400" u="sng" dirty="0">
                    <a:latin typeface="Times New Roman" panose="02020603050405020304" pitchFamily="18" charset="0"/>
                    <a:cs typeface="Times New Roman" panose="02020603050405020304" pitchFamily="18" charset="0"/>
                  </a:rPr>
                  <a:t>IsConnect(</a:t>
                </a:r>
                <a:r>
                  <a:rPr lang="zh-CN" altLang="zh-CN" sz="2400" i="1" u="sng" dirty="0">
                    <a:latin typeface="Times New Roman" panose="02020603050405020304" pitchFamily="18" charset="0"/>
                    <a:cs typeface="Times New Roman" panose="02020603050405020304" pitchFamily="18" charset="0"/>
                  </a:rPr>
                  <a:t>graph</a:t>
                </a:r>
                <a:r>
                  <a:rPr lang="zh-CN" altLang="zh-CN" sz="2400" u="sng" dirty="0">
                    <a:latin typeface="Times New Roman" panose="02020603050405020304" pitchFamily="18" charset="0"/>
                    <a:cs typeface="Times New Roman" panose="02020603050405020304" pitchFamily="18" charset="0"/>
                  </a:rPr>
                  <a:t>)</a:t>
                </a:r>
                <a:endParaRPr lang="zh-CN" altLang="zh-CN" sz="3200" u="sng"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输入：</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endParaRPr lang="zh-CN" altLang="zh-CN" sz="3200" dirty="0"/>
              </a:p>
              <a:p>
                <a:pPr lvl="0" eaLnBrk="0" fontAlgn="base" hangingPunct="0">
                  <a:spcBef>
                    <a:spcPct val="0"/>
                  </a:spcBef>
                  <a:spcAft>
                    <a:spcPct val="0"/>
                  </a:spcAft>
                </a:pPr>
                <a:r>
                  <a:rPr lang="zh-CN" altLang="zh-CN" sz="2400" b="1" dirty="0">
                    <a:latin typeface="宋体" panose="02010600030101010101" pitchFamily="2" charset="-122"/>
                    <a:cs typeface="Times New Roman" panose="02020603050405020304" pitchFamily="18" charset="0"/>
                  </a:rPr>
                  <a:t>输出：</a:t>
                </a:r>
                <a:r>
                  <a:rPr lang="zh-CN" altLang="zh-CN" sz="2400" dirty="0">
                    <a:latin typeface="宋体" panose="02010600030101010101" pitchFamily="2" charset="-122"/>
                    <a:cs typeface="Times New Roman" panose="02020603050405020304" pitchFamily="18" charset="0"/>
                  </a:rPr>
                  <a:t>图</a:t>
                </a:r>
                <a:r>
                  <a:rPr lang="zh-CN" altLang="zh-CN" sz="2400" i="1" dirty="0">
                    <a:latin typeface="Times New Roman" panose="02020603050405020304" pitchFamily="18" charset="0"/>
                    <a:cs typeface="Times New Roman" panose="02020603050405020304" pitchFamily="18" charset="0"/>
                  </a:rPr>
                  <a:t>graph</a:t>
                </a:r>
                <a:r>
                  <a:rPr lang="zh-CN" altLang="zh-CN" sz="2400" dirty="0">
                    <a:latin typeface="宋体" panose="02010600030101010101" pitchFamily="2" charset="-122"/>
                    <a:cs typeface="Times New Roman" panose="02020603050405020304" pitchFamily="18" charset="0"/>
                  </a:rPr>
                  <a:t>的连通性。若不连通，还输出连通分量的数量。</a:t>
                </a:r>
                <a:endParaRPr lang="zh-CN" altLang="zh-CN" sz="3200" dirty="0"/>
              </a:p>
              <a:p>
                <a:pPr marL="457200" indent="-457200" eaLnBrk="0" fontAlgn="base" hangingPunct="0">
                  <a:spcBef>
                    <a:spcPct val="0"/>
                  </a:spcBef>
                  <a:spcAft>
                    <a:spcPct val="0"/>
                  </a:spcAft>
                  <a:buFont typeface="+mj-lt"/>
                  <a:buAutoNum type="arabicPeriod"/>
                </a:pPr>
                <a:r>
                  <a:rPr lang="zh-CN" altLang="zh-CN" sz="2400" b="1" dirty="0">
                    <a:latin typeface="Times New Roman" panose="02020603050405020304" pitchFamily="18" charset="0"/>
                    <a:cs typeface="Times New Roman" panose="02020603050405020304" pitchFamily="18" charset="0"/>
                  </a:rPr>
                  <a:t>for</a:t>
                </a:r>
                <a:r>
                  <a:rPr lang="zh-CN" altLang="zh-CN" sz="2400" i="1" dirty="0">
                    <a:latin typeface="Times New Roman" panose="02020603050405020304" pitchFamily="18" charset="0"/>
                    <a:cs typeface="Times New Roman" panose="02020603050405020304" pitchFamily="18" charset="0"/>
                  </a:rPr>
                  <a:t> v</a:t>
                </a:r>
                <a14:m>
                  <m:oMath xmlns:m="http://schemas.openxmlformats.org/officeDocument/2006/math">
                    <m:r>
                      <a:rPr lang="zh-CN" altLang="en-US" sz="2400" i="1">
                        <a:latin typeface="Cambria Math" panose="02040503050406030204" pitchFamily="18" charset="0"/>
                        <a:cs typeface="Times New Roman" panose="02020603050405020304" pitchFamily="18" charset="0"/>
                      </a:rPr>
                      <m:t>←</m:t>
                    </m:r>
                    <m:r>
                      <a:rPr lang="en-US" altLang="zh-CN" sz="2400" i="1">
                        <a:latin typeface="Cambria Math" panose="02040503050406030204" pitchFamily="18" charset="0"/>
                        <a:cs typeface="Times New Roman" panose="02020603050405020304" pitchFamily="18" charset="0"/>
                      </a:rPr>
                      <m:t>0</m:t>
                    </m:r>
                  </m:oMath>
                </a14:m>
                <a:r>
                  <a:rPr lang="zh-CN" altLang="zh-CN" sz="2400" i="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to</a:t>
                </a:r>
                <a:r>
                  <a:rPr lang="zh-CN" altLang="zh-CN" sz="2400" i="1" dirty="0">
                    <a:latin typeface="Times New Roman" panose="02020603050405020304" pitchFamily="18" charset="0"/>
                    <a:cs typeface="Times New Roman" panose="02020603050405020304" pitchFamily="18" charset="0"/>
                  </a:rPr>
                  <a:t> graph.n_verts-1 </a:t>
                </a:r>
                <a:r>
                  <a:rPr lang="zh-CN" altLang="zh-CN" sz="2400" b="1" dirty="0">
                    <a:latin typeface="Times New Roman" panose="02020603050405020304" pitchFamily="18" charset="0"/>
                    <a:cs typeface="Times New Roman" panose="02020603050405020304" pitchFamily="18" charset="0"/>
                  </a:rPr>
                  <a:t>do</a:t>
                </a:r>
                <a:r>
                  <a:rPr lang="zh-CN" altLang="zh-CN" sz="2400" i="1"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//初始化各顶点的访问标志为未访问</a:t>
                </a:r>
              </a:p>
              <a:p>
                <a:pPr marL="457200" indent="-457200" eaLnBrk="0" fontAlgn="base" hangingPunct="0">
                  <a:spcBef>
                    <a:spcPct val="0"/>
                  </a:spcBef>
                  <a:spcAft>
                    <a:spcPct val="0"/>
                  </a:spcAft>
                  <a:buFont typeface="+mj-lt"/>
                  <a:buAutoNum type="arabicPeriod"/>
                </a:pPr>
                <a:r>
                  <a:rPr lang="zh-CN" altLang="zh-CN" sz="2400" i="1" dirty="0">
                    <a:latin typeface="Times New Roman" panose="02020603050405020304" pitchFamily="18" charset="0"/>
                    <a:cs typeface="Times New Roman" panose="02020603050405020304" pitchFamily="18" charset="0"/>
                  </a:rPr>
                  <a:t>    visited[v]</a:t>
                </a:r>
                <a14:m>
                  <m:oMath xmlns:m="http://schemas.openxmlformats.org/officeDocument/2006/math">
                    <m:r>
                      <a:rPr lang="zh-CN" altLang="en-US" sz="2400" i="1">
                        <a:latin typeface="Cambria Math" panose="02040503050406030204" pitchFamily="18" charset="0"/>
                        <a:cs typeface="Times New Roman" panose="02020603050405020304" pitchFamily="18" charset="0"/>
                      </a:rPr>
                      <m:t>←</m:t>
                    </m:r>
                  </m:oMath>
                </a14:m>
                <a:r>
                  <a:rPr lang="en-US" altLang="zh-CN" sz="2400" b="1" dirty="0">
                    <a:latin typeface="Times New Roman" panose="02020603050405020304" pitchFamily="18" charset="0"/>
                    <a:cs typeface="Times New Roman" panose="02020603050405020304" pitchFamily="18" charset="0"/>
                  </a:rPr>
                  <a:t>false</a:t>
                </a:r>
                <a:endParaRPr lang="zh-CN" altLang="zh-CN" sz="2400" b="1" dirty="0">
                  <a:latin typeface="Times New Roman" panose="02020603050405020304" pitchFamily="18" charset="0"/>
                  <a:cs typeface="Times New Roman" panose="02020603050405020304" pitchFamily="18" charset="0"/>
                </a:endParaRPr>
              </a:p>
              <a:p>
                <a:pPr marL="457200" indent="-457200" eaLnBrk="0" fontAlgn="base" hangingPunct="0">
                  <a:spcBef>
                    <a:spcPct val="0"/>
                  </a:spcBef>
                  <a:spcAft>
                    <a:spcPct val="0"/>
                  </a:spcAft>
                  <a:buFont typeface="+mj-lt"/>
                  <a:buAutoNum type="arabicPeriod"/>
                </a:pPr>
                <a:r>
                  <a:rPr lang="zh-CN" altLang="zh-CN" sz="2400" b="1" dirty="0">
                    <a:latin typeface="Times New Roman" panose="02020603050405020304" pitchFamily="18" charset="0"/>
                    <a:cs typeface="Times New Roman" panose="02020603050405020304" pitchFamily="18" charset="0"/>
                  </a:rPr>
                  <a:t>end</a:t>
                </a:r>
              </a:p>
              <a:p>
                <a:pPr marL="457200" lvl="0" indent="-457200" eaLnBrk="0" fontAlgn="base" hangingPunct="0">
                  <a:spcBef>
                    <a:spcPct val="0"/>
                  </a:spcBef>
                  <a:spcAft>
                    <a:spcPct val="0"/>
                  </a:spcAft>
                  <a:buFont typeface="+mj-lt"/>
                  <a:buAutoNum type="arabicPeriod"/>
                </a:pPr>
                <a:r>
                  <a:rPr lang="zh-CN" altLang="zh-CN" sz="2400" i="1" dirty="0">
                    <a:solidFill>
                      <a:srgbClr val="0070C0"/>
                    </a:solidFill>
                    <a:latin typeface="Times New Roman" panose="02020603050405020304" pitchFamily="18" charset="0"/>
                    <a:cs typeface="Times New Roman" panose="02020603050405020304" pitchFamily="18" charset="0"/>
                  </a:rPr>
                  <a:t>count </a:t>
                </a:r>
                <a14:m>
                  <m:oMath xmlns:m="http://schemas.openxmlformats.org/officeDocument/2006/math">
                    <m:r>
                      <a:rPr lang="zh-CN" altLang="en-US" sz="2400" i="1">
                        <a:solidFill>
                          <a:srgbClr val="0070C0"/>
                        </a:solidFill>
                        <a:latin typeface="Cambria Math" panose="02040503050406030204" pitchFamily="18" charset="0"/>
                        <a:cs typeface="Times New Roman" panose="02020603050405020304" pitchFamily="18" charset="0"/>
                      </a:rPr>
                      <m:t>←</m:t>
                    </m:r>
                  </m:oMath>
                </a14:m>
                <a:r>
                  <a:rPr lang="zh-CN" altLang="zh-CN" sz="2400" dirty="0">
                    <a:solidFill>
                      <a:srgbClr val="0070C0"/>
                    </a:solidFill>
                    <a:latin typeface="等线" panose="02010600030101010101" pitchFamily="2" charset="-122"/>
                    <a:ea typeface="等线" panose="02010600030101010101" pitchFamily="2" charset="-122"/>
                    <a:cs typeface="Times New Roman" panose="02020603050405020304" pitchFamily="18" charset="0"/>
                  </a:rPr>
                  <a:t>0</a:t>
                </a:r>
                <a:endParaRPr lang="zh-CN" altLang="zh-CN" sz="3200" dirty="0">
                  <a:solidFill>
                    <a:srgbClr val="0070C0"/>
                  </a:solidFill>
                </a:endParaRPr>
              </a:p>
              <a:p>
                <a:pPr marL="457200" lvl="0" indent="-457200" eaLnBrk="0" fontAlgn="base" hangingPunct="0">
                  <a:spcBef>
                    <a:spcPct val="0"/>
                  </a:spcBef>
                  <a:spcAft>
                    <a:spcPct val="0"/>
                  </a:spcAft>
                  <a:buFont typeface="+mj-lt"/>
                  <a:buAutoNum type="arabicPeriod"/>
                </a:pPr>
                <a:r>
                  <a:rPr lang="zh-CN" altLang="zh-CN" sz="2400" b="1" dirty="0">
                    <a:latin typeface="Times New Roman" panose="02020603050405020304" pitchFamily="18" charset="0"/>
                    <a:cs typeface="Times New Roman" panose="02020603050405020304" pitchFamily="18" charset="0"/>
                  </a:rPr>
                  <a:t>for</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a:t>
                </a:r>
                <a:r>
                  <a:rPr lang="zh-CN" altLang="en-US" sz="2400" dirty="0">
                    <a:cs typeface="Times New Roman" panose="02020603050405020304" pitchFamily="18" charset="0"/>
                  </a:rPr>
                  <a:t> </a:t>
                </a:r>
                <a14:m>
                  <m:oMath xmlns:m="http://schemas.openxmlformats.org/officeDocument/2006/math">
                    <m:r>
                      <a:rPr lang="zh-CN" altLang="en-US" sz="2400" i="1">
                        <a:latin typeface="Cambria Math" panose="02040503050406030204" pitchFamily="18" charset="0"/>
                        <a:cs typeface="Times New Roman" panose="02020603050405020304" pitchFamily="18" charset="0"/>
                      </a:rPr>
                      <m:t>←</m:t>
                    </m:r>
                    <m:r>
                      <a:rPr lang="en-US" altLang="zh-CN" sz="2400" i="1">
                        <a:latin typeface="Cambria Math" panose="02040503050406030204" pitchFamily="18" charset="0"/>
                        <a:cs typeface="Times New Roman" panose="02020603050405020304" pitchFamily="18" charset="0"/>
                      </a:rPr>
                      <m:t>0</m:t>
                    </m:r>
                  </m:oMath>
                </a14:m>
                <a:r>
                  <a:rPr lang="en-US" altLang="zh-CN" sz="2400" b="1"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to</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graph.n_verts</a:t>
                </a:r>
                <a:r>
                  <a:rPr lang="zh-CN" altLang="zh-CN" sz="2400" dirty="0">
                    <a:latin typeface="Times New Roman" panose="02020603050405020304" pitchFamily="18" charset="0"/>
                    <a:cs typeface="Times New Roman" panose="02020603050405020304" pitchFamily="18" charset="0"/>
                  </a:rPr>
                  <a:t>-1 </a:t>
                </a:r>
                <a:r>
                  <a:rPr lang="zh-CN" altLang="zh-CN" sz="2400" b="1" dirty="0">
                    <a:latin typeface="Times New Roman" panose="02020603050405020304" pitchFamily="18" charset="0"/>
                    <a:cs typeface="Times New Roman" panose="02020603050405020304" pitchFamily="18" charset="0"/>
                  </a:rPr>
                  <a:t>do</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a:t>
                </a:r>
                <a:r>
                  <a:rPr lang="zh-CN" altLang="zh-CN" sz="2400" dirty="0">
                    <a:latin typeface="等线" panose="02010600030101010101" pitchFamily="2" charset="-122"/>
                    <a:ea typeface="等线" panose="02010600030101010101" pitchFamily="2" charset="-122"/>
                    <a:cs typeface="Times New Roman" panose="02020603050405020304" pitchFamily="18" charset="0"/>
                  </a:rPr>
                  <a:t> </a:t>
                </a:r>
                <a:r>
                  <a:rPr lang="en-US" altLang="zh-CN" sz="2400" dirty="0">
                    <a:latin typeface="等线" panose="02010600030101010101" pitchFamily="2" charset="-122"/>
                    <a:ea typeface="等线" panose="02010600030101010101" pitchFamily="2" charset="-122"/>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if</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visited</a:t>
                </a:r>
                <a:r>
                  <a:rPr lang="zh-CN" altLang="zh-CN" sz="2400" dirty="0">
                    <a:latin typeface="Times New Roman" panose="02020603050405020304" pitchFamily="18" charset="0"/>
                    <a:cs typeface="Times New Roman" panose="02020603050405020304" pitchFamily="18" charset="0"/>
                  </a:rPr>
                  <a:t>[</a:t>
                </a:r>
                <a:r>
                  <a:rPr lang="zh-CN" altLang="zh-CN" sz="2400" i="1" dirty="0">
                    <a:latin typeface="Times New Roman" panose="02020603050405020304" pitchFamily="18" charset="0"/>
                    <a:cs typeface="Times New Roman" panose="02020603050405020304" pitchFamily="18" charset="0"/>
                  </a:rPr>
                  <a:t>v</a:t>
                </a:r>
                <a:r>
                  <a:rPr lang="zh-CN" altLang="zh-CN" sz="2400" dirty="0">
                    <a:latin typeface="Times New Roman" panose="02020603050405020304" pitchFamily="18" charset="0"/>
                    <a:cs typeface="Times New Roman" panose="02020603050405020304" pitchFamily="18" charset="0"/>
                  </a:rPr>
                  <a:t>]=</a:t>
                </a:r>
                <a:r>
                  <a:rPr lang="zh-CN" altLang="zh-CN" sz="2400" b="1" dirty="0">
                    <a:latin typeface="Times New Roman" panose="02020603050405020304" pitchFamily="18" charset="0"/>
                    <a:cs typeface="Times New Roman" panose="02020603050405020304" pitchFamily="18" charset="0"/>
                  </a:rPr>
                  <a:t>false then</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a:t>
                </a: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   </a:t>
                </a:r>
                <a:r>
                  <a:rPr lang="zh-CN" altLang="zh-CN" sz="2400" i="1" dirty="0">
                    <a:solidFill>
                      <a:srgbClr val="0070C0"/>
                    </a:solidFill>
                    <a:latin typeface="Times New Roman" panose="02020603050405020304" pitchFamily="18" charset="0"/>
                    <a:cs typeface="Times New Roman" panose="02020603050405020304" pitchFamily="18" charset="0"/>
                  </a:rPr>
                  <a:t>count </a:t>
                </a:r>
                <a14:m>
                  <m:oMath xmlns:m="http://schemas.openxmlformats.org/officeDocument/2006/math">
                    <m:r>
                      <a:rPr lang="zh-CN" altLang="en-US" sz="2400" i="1">
                        <a:solidFill>
                          <a:srgbClr val="0070C0"/>
                        </a:solidFill>
                        <a:latin typeface="Cambria Math" panose="02040503050406030204" pitchFamily="18" charset="0"/>
                        <a:cs typeface="Times New Roman" panose="02020603050405020304" pitchFamily="18" charset="0"/>
                      </a:rPr>
                      <m:t>←</m:t>
                    </m:r>
                  </m:oMath>
                </a14:m>
                <a:r>
                  <a:rPr lang="zh-CN" altLang="zh-CN" sz="2400" dirty="0">
                    <a:solidFill>
                      <a:srgbClr val="0070C0"/>
                    </a:solidFill>
                    <a:latin typeface="Times New Roman" panose="02020603050405020304" pitchFamily="18" charset="0"/>
                    <a:cs typeface="Times New Roman" panose="02020603050405020304" pitchFamily="18" charset="0"/>
                  </a:rPr>
                  <a:t> </a:t>
                </a:r>
                <a:r>
                  <a:rPr lang="zh-CN" altLang="zh-CN" sz="2400" i="1" dirty="0">
                    <a:solidFill>
                      <a:srgbClr val="0070C0"/>
                    </a:solidFill>
                    <a:latin typeface="Times New Roman" panose="02020603050405020304" pitchFamily="18" charset="0"/>
                    <a:cs typeface="Times New Roman" panose="02020603050405020304" pitchFamily="18" charset="0"/>
                  </a:rPr>
                  <a:t>count </a:t>
                </a:r>
                <a:r>
                  <a:rPr lang="zh-CN" altLang="zh-CN" sz="2400" dirty="0">
                    <a:solidFill>
                      <a:srgbClr val="0070C0"/>
                    </a:solidFill>
                    <a:latin typeface="Times New Roman" panose="02020603050405020304" pitchFamily="18" charset="0"/>
                    <a:cs typeface="Times New Roman" panose="02020603050405020304" pitchFamily="18" charset="0"/>
                  </a:rPr>
                  <a:t>+1</a:t>
                </a:r>
                <a:endParaRPr lang="zh-CN" altLang="zh-CN" sz="3200" dirty="0">
                  <a:solidFill>
                    <a:srgbClr val="0070C0"/>
                  </a:solidFill>
                </a:endParaRPr>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  </a:t>
                </a:r>
                <a:r>
                  <a:rPr lang="en-US" altLang="zh-CN" sz="2400" dirty="0">
                    <a:latin typeface="Times New Roman" panose="02020603050405020304" pitchFamily="18" charset="0"/>
                    <a:cs typeface="Times New Roman" panose="02020603050405020304" pitchFamily="18" charset="0"/>
                  </a:rPr>
                  <a:t> </a:t>
                </a:r>
                <a:r>
                  <a:rPr lang="zh-CN" altLang="zh-CN" sz="2400" dirty="0">
                    <a:latin typeface="Times New Roman" panose="02020603050405020304" pitchFamily="18" charset="0"/>
                    <a:cs typeface="Times New Roman" panose="02020603050405020304" pitchFamily="18" charset="0"/>
                  </a:rPr>
                  <a:t>BFS(</a:t>
                </a:r>
                <a:r>
                  <a:rPr lang="zh-CN" altLang="zh-CN" sz="2400" i="1" dirty="0">
                    <a:latin typeface="Times New Roman" panose="02020603050405020304" pitchFamily="18" charset="0"/>
                    <a:cs typeface="Times New Roman" panose="02020603050405020304" pitchFamily="18" charset="0"/>
                  </a:rPr>
                  <a:t>graph, v, visited</a:t>
                </a:r>
                <a:r>
                  <a:rPr lang="zh-CN" altLang="zh-CN" sz="2400" dirty="0">
                    <a:latin typeface="Times New Roman" panose="02020603050405020304" pitchFamily="18" charset="0"/>
                    <a:cs typeface="Times New Roman" panose="02020603050405020304" pitchFamily="18" charset="0"/>
                  </a:rPr>
                  <a:t>)</a:t>
                </a:r>
                <a:r>
                  <a:rPr lang="zh-CN" altLang="zh-CN" sz="3200" dirty="0">
                    <a:latin typeface="Times New Roman" panose="02020603050405020304" pitchFamily="18" charset="0"/>
                    <a:cs typeface="Times New Roman" panose="02020603050405020304" pitchFamily="18" charset="0"/>
                  </a:rPr>
                  <a:t> | </a:t>
                </a:r>
                <a:endParaRPr lang="zh-CN" altLang="zh-CN" sz="3200" dirty="0"/>
              </a:p>
              <a:p>
                <a:pPr marL="457200" lvl="0" indent="-457200" eaLnBrk="0" fontAlgn="base" hangingPunct="0">
                  <a:spcBef>
                    <a:spcPct val="0"/>
                  </a:spcBef>
                  <a:spcAft>
                    <a:spcPct val="0"/>
                  </a:spcAft>
                  <a:buFont typeface="+mj-lt"/>
                  <a:buAutoNum type="arabicPeriod"/>
                </a:pP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end</a:t>
                </a:r>
                <a:endParaRPr lang="zh-CN" altLang="zh-CN" sz="3200" dirty="0"/>
              </a:p>
              <a:p>
                <a:pPr marL="457200" lvl="0" indent="-457200" eaLnBrk="0" fontAlgn="base" hangingPunct="0">
                  <a:spcBef>
                    <a:spcPct val="0"/>
                  </a:spcBef>
                  <a:spcAft>
                    <a:spcPct val="0"/>
                  </a:spcAft>
                  <a:buFont typeface="+mj-lt"/>
                  <a:buAutoNum type="arabicPeriod"/>
                </a:pPr>
                <a:r>
                  <a:rPr lang="zh-CN" altLang="zh-CN" sz="2400" b="1" dirty="0">
                    <a:latin typeface="Times New Roman" panose="02020603050405020304" pitchFamily="18" charset="0"/>
                    <a:cs typeface="Times New Roman" panose="02020603050405020304" pitchFamily="18" charset="0"/>
                  </a:rPr>
                  <a:t>end</a:t>
                </a:r>
                <a:endParaRPr lang="zh-CN" altLang="zh-CN" sz="3200" dirty="0"/>
              </a:p>
            </p:txBody>
          </p:sp>
        </mc:Choice>
        <mc:Fallback xmlns="">
          <p:sp>
            <p:nvSpPr>
              <p:cNvPr id="9" name="文本框 8"/>
              <p:cNvSpPr txBox="1">
                <a:spLocks noRot="1" noChangeAspect="1" noMove="1" noResize="1" noEditPoints="1" noAdjustHandles="1" noChangeArrowheads="1" noChangeShapeType="1" noTextEdit="1"/>
              </p:cNvSpPr>
              <p:nvPr/>
            </p:nvSpPr>
            <p:spPr>
              <a:xfrm>
                <a:off x="584225" y="1460111"/>
                <a:ext cx="11019196" cy="5016758"/>
              </a:xfrm>
              <a:prstGeom prst="rect">
                <a:avLst/>
              </a:prstGeom>
              <a:blipFill>
                <a:blip r:embed="rId3"/>
                <a:stretch>
                  <a:fillRect l="-885" t="-1460" b="-1825"/>
                </a:stretch>
              </a:blipFill>
            </p:spPr>
            <p:txBody>
              <a:bodyPr/>
              <a:lstStyle/>
              <a:p>
                <a:r>
                  <a:rPr lang="zh-CN" altLang="en-US">
                    <a:noFill/>
                  </a:rPr>
                  <a:t> </a:t>
                </a:r>
              </a:p>
            </p:txBody>
          </p:sp>
        </mc:Fallback>
      </mc:AlternateContent>
      <p:sp>
        <p:nvSpPr>
          <p:cNvPr id="6" name="AutoShape 2" descr="\\tmp\wps-root\ksohtml\wpsVvOlGi.jpg"/>
          <p:cNvSpPr>
            <a:spLocks noChangeAspect="1" noChangeArrowheads="1"/>
          </p:cNvSpPr>
          <p:nvPr/>
        </p:nvSpPr>
        <p:spPr bwMode="auto">
          <a:xfrm>
            <a:off x="328613" y="-1157288"/>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AutoShape 3" descr="\\tmp\wps-root\ksohtml\wpsnEKVmG.jpg"/>
          <p:cNvSpPr>
            <a:spLocks noChangeAspect="1" noChangeArrowheads="1"/>
          </p:cNvSpPr>
          <p:nvPr/>
        </p:nvSpPr>
        <p:spPr bwMode="auto">
          <a:xfrm>
            <a:off x="76200" y="-974725"/>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AutoShape 4" descr="\\tmp\wps-root\ksohtml\wps71gz33.jpg"/>
          <p:cNvSpPr>
            <a:spLocks noChangeAspect="1" noChangeArrowheads="1"/>
          </p:cNvSpPr>
          <p:nvPr/>
        </p:nvSpPr>
        <p:spPr bwMode="auto">
          <a:xfrm>
            <a:off x="690563" y="-974725"/>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AutoShape 5" descr="\\tmp\wps-root\ksohtml\wpshhkgKr.jpg"/>
          <p:cNvSpPr>
            <a:spLocks noChangeAspect="1" noChangeArrowheads="1"/>
          </p:cNvSpPr>
          <p:nvPr/>
        </p:nvSpPr>
        <p:spPr bwMode="auto">
          <a:xfrm>
            <a:off x="390525" y="-639763"/>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AutoShape 6" descr="\\tmp\wps-root\ksohtml\wpslhJ0qP.jpg"/>
          <p:cNvSpPr>
            <a:spLocks noChangeAspect="1" noChangeArrowheads="1"/>
          </p:cNvSpPr>
          <p:nvPr/>
        </p:nvSpPr>
        <p:spPr bwMode="auto">
          <a:xfrm>
            <a:off x="328613" y="-457200"/>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AutoShape 7" descr="\\tmp\wps-root\ksohtml\wpszJuO7c.jpg"/>
          <p:cNvSpPr>
            <a:spLocks noChangeAspect="1" noChangeArrowheads="1"/>
          </p:cNvSpPr>
          <p:nvPr/>
        </p:nvSpPr>
        <p:spPr bwMode="auto">
          <a:xfrm>
            <a:off x="76200" y="-2746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AutoShape 8" descr="\\tmp\wps-root\ksohtml\wpsNXjHOA.jpg"/>
          <p:cNvSpPr>
            <a:spLocks noChangeAspect="1" noChangeArrowheads="1"/>
          </p:cNvSpPr>
          <p:nvPr/>
        </p:nvSpPr>
        <p:spPr bwMode="auto">
          <a:xfrm>
            <a:off x="568325" y="-92075"/>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TextBox 36">
            <a:extLst>
              <a:ext uri="{FF2B5EF4-FFF2-40B4-BE49-F238E27FC236}">
                <a16:creationId xmlns:a16="http://schemas.microsoft.com/office/drawing/2014/main" id="{DAF4A202-C531-46B3-AFE2-9F9473331C1E}"/>
              </a:ext>
            </a:extLst>
          </p:cNvPr>
          <p:cNvSpPr txBox="1"/>
          <p:nvPr/>
        </p:nvSpPr>
        <p:spPr>
          <a:xfrm>
            <a:off x="309545" y="122054"/>
            <a:ext cx="9523977" cy="651653"/>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连通判定</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000626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84225" y="773707"/>
            <a:ext cx="10515600" cy="518958"/>
          </a:xfrm>
        </p:spPr>
        <p:txBody>
          <a:bodyPr>
            <a:normAutofit/>
          </a:bodyPr>
          <a:lstStyle/>
          <a:p>
            <a:pPr lvl="0" eaLnBrk="0" fontAlgn="base" hangingPunct="0">
              <a:lnSpc>
                <a:spcPct val="100000"/>
              </a:lnSpc>
              <a:spcAft>
                <a:spcPct val="0"/>
              </a:spcAft>
            </a:pPr>
            <a:r>
              <a:rPr lang="zh-CN" altLang="zh-CN" dirty="0"/>
              <a:t>无向图的连通性</a:t>
            </a:r>
          </a:p>
        </p:txBody>
      </p:sp>
      <p:sp>
        <p:nvSpPr>
          <p:cNvPr id="9" name="文本框 8"/>
          <p:cNvSpPr txBox="1"/>
          <p:nvPr/>
        </p:nvSpPr>
        <p:spPr>
          <a:xfrm>
            <a:off x="584225" y="1460111"/>
            <a:ext cx="11019196" cy="2677656"/>
          </a:xfrm>
          <a:prstGeom prst="rect">
            <a:avLst/>
          </a:prstGeom>
          <a:noFill/>
        </p:spPr>
        <p:txBody>
          <a:bodyPr wrap="square" rtlCol="0">
            <a:spAutoFit/>
          </a:bodyPr>
          <a:lstStyle/>
          <a:p>
            <a:pPr marL="457200" lvl="0" indent="-457200" eaLnBrk="0" fontAlgn="base" hangingPunct="0">
              <a:spcBef>
                <a:spcPct val="0"/>
              </a:spcBef>
              <a:spcAft>
                <a:spcPct val="0"/>
              </a:spcAft>
              <a:buFont typeface="+mj-lt"/>
              <a:buAutoNum type="arabicPeriod" startAt="11"/>
            </a:pPr>
            <a:r>
              <a:rPr lang="zh-CN" altLang="zh-CN" sz="2400" b="1" dirty="0">
                <a:latin typeface="Times New Roman" panose="02020603050405020304" pitchFamily="18" charset="0"/>
                <a:cs typeface="Times New Roman" panose="02020603050405020304" pitchFamily="18" charset="0"/>
              </a:rPr>
              <a:t>if</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count</a:t>
            </a:r>
            <a:r>
              <a:rPr lang="zh-CN" altLang="zh-CN" sz="2400" dirty="0">
                <a:latin typeface="Times New Roman" panose="02020603050405020304" pitchFamily="18" charset="0"/>
                <a:cs typeface="Times New Roman" panose="02020603050405020304" pitchFamily="18" charset="0"/>
              </a:rPr>
              <a:t>=1 </a:t>
            </a:r>
            <a:r>
              <a:rPr lang="zh-CN" altLang="zh-CN" sz="2400" b="1" dirty="0">
                <a:latin typeface="Times New Roman" panose="02020603050405020304" pitchFamily="18" charset="0"/>
                <a:cs typeface="Times New Roman" panose="02020603050405020304" pitchFamily="18" charset="0"/>
              </a:rPr>
              <a:t>then</a:t>
            </a:r>
            <a:endParaRPr lang="zh-CN" altLang="zh-CN" sz="3200" dirty="0"/>
          </a:p>
          <a:p>
            <a:pPr marL="457200" lvl="0" indent="-457200" eaLnBrk="0" fontAlgn="base" hangingPunct="0">
              <a:spcBef>
                <a:spcPct val="0"/>
              </a:spcBef>
              <a:spcAft>
                <a:spcPct val="0"/>
              </a:spcAft>
              <a:buFont typeface="+mj-lt"/>
              <a:buAutoNum type="arabicPeriod" startAt="11"/>
            </a:pP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ret </a:t>
            </a: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true</a:t>
            </a:r>
            <a:endParaRPr lang="zh-CN" altLang="zh-CN" sz="3200" dirty="0"/>
          </a:p>
          <a:p>
            <a:pPr marL="457200" lvl="0" indent="-457200" eaLnBrk="0" fontAlgn="base" hangingPunct="0">
              <a:spcBef>
                <a:spcPct val="0"/>
              </a:spcBef>
              <a:spcAft>
                <a:spcPct val="0"/>
              </a:spcAft>
              <a:buFont typeface="+mj-lt"/>
              <a:buAutoNum type="arabicPeriod" startAt="11"/>
            </a:pPr>
            <a:r>
              <a:rPr lang="zh-CN" altLang="zh-CN" sz="2400" b="1" dirty="0">
                <a:latin typeface="Times New Roman" panose="02020603050405020304" pitchFamily="18" charset="0"/>
                <a:cs typeface="Times New Roman" panose="02020603050405020304" pitchFamily="18" charset="0"/>
              </a:rPr>
              <a:t>else</a:t>
            </a:r>
            <a:endParaRPr lang="zh-CN" altLang="zh-CN" sz="3200" dirty="0"/>
          </a:p>
          <a:p>
            <a:pPr marL="457200" lvl="0" indent="-457200" eaLnBrk="0" fontAlgn="base" hangingPunct="0">
              <a:spcBef>
                <a:spcPct val="0"/>
              </a:spcBef>
              <a:spcAft>
                <a:spcPct val="0"/>
              </a:spcAft>
              <a:buFont typeface="+mj-lt"/>
              <a:buAutoNum type="arabicPeriod" startAt="11"/>
            </a:pPr>
            <a:r>
              <a:rPr lang="zh-CN" altLang="zh-CN" sz="2400" dirty="0">
                <a:latin typeface="Times New Roman" panose="02020603050405020304" pitchFamily="18" charset="0"/>
                <a:cs typeface="Times New Roman" panose="02020603050405020304" pitchFamily="18" charset="0"/>
              </a:rPr>
              <a:t>|  </a:t>
            </a:r>
            <a:r>
              <a:rPr lang="zh-CN" altLang="zh-CN" sz="2400" b="1" dirty="0">
                <a:latin typeface="Times New Roman" panose="02020603050405020304" pitchFamily="18" charset="0"/>
                <a:cs typeface="Times New Roman" panose="02020603050405020304" pitchFamily="18" charset="0"/>
              </a:rPr>
              <a:t>print</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count</a:t>
            </a:r>
            <a:endParaRPr lang="zh-CN" altLang="zh-CN" sz="3200" dirty="0"/>
          </a:p>
          <a:p>
            <a:pPr marL="457200" lvl="0" indent="-457200" eaLnBrk="0" fontAlgn="base" hangingPunct="0">
              <a:spcBef>
                <a:spcPct val="0"/>
              </a:spcBef>
              <a:spcAft>
                <a:spcPct val="0"/>
              </a:spcAft>
              <a:buFont typeface="+mj-lt"/>
              <a:buAutoNum type="arabicPeriod" startAt="11"/>
            </a:pP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ret</a:t>
            </a:r>
            <a:r>
              <a:rPr lang="zh-CN" altLang="zh-CN" sz="2400" dirty="0">
                <a:latin typeface="Times New Roman" panose="02020603050405020304" pitchFamily="18" charset="0"/>
                <a:cs typeface="Times New Roman" panose="02020603050405020304" pitchFamily="18" charset="0"/>
              </a:rPr>
              <a:t> ← </a:t>
            </a:r>
            <a:r>
              <a:rPr lang="zh-CN" altLang="zh-CN" sz="2400" b="1" dirty="0">
                <a:latin typeface="Times New Roman" panose="02020603050405020304" pitchFamily="18" charset="0"/>
                <a:cs typeface="Times New Roman" panose="02020603050405020304" pitchFamily="18" charset="0"/>
              </a:rPr>
              <a:t>false</a:t>
            </a:r>
            <a:endParaRPr lang="zh-CN" altLang="zh-CN" sz="3200" dirty="0"/>
          </a:p>
          <a:p>
            <a:pPr marL="457200" lvl="0" indent="-457200" eaLnBrk="0" fontAlgn="base" hangingPunct="0">
              <a:spcBef>
                <a:spcPct val="0"/>
              </a:spcBef>
              <a:spcAft>
                <a:spcPct val="0"/>
              </a:spcAft>
              <a:buFont typeface="+mj-lt"/>
              <a:buAutoNum type="arabicPeriod" startAt="11"/>
            </a:pPr>
            <a:r>
              <a:rPr lang="zh-CN" altLang="zh-CN" sz="2400" b="1" dirty="0">
                <a:latin typeface="Times New Roman" panose="02020603050405020304" pitchFamily="18" charset="0"/>
                <a:cs typeface="Times New Roman" panose="02020603050405020304" pitchFamily="18" charset="0"/>
              </a:rPr>
              <a:t>end</a:t>
            </a:r>
            <a:endParaRPr lang="zh-CN" altLang="zh-CN" sz="3200" dirty="0"/>
          </a:p>
          <a:p>
            <a:pPr marL="457200" lvl="0" indent="-457200" eaLnBrk="0" fontAlgn="base" hangingPunct="0">
              <a:spcBef>
                <a:spcPct val="0"/>
              </a:spcBef>
              <a:spcAft>
                <a:spcPct val="0"/>
              </a:spcAft>
              <a:buFont typeface="+mj-lt"/>
              <a:buAutoNum type="arabicPeriod" startAt="11"/>
            </a:pPr>
            <a:r>
              <a:rPr lang="zh-CN" altLang="zh-CN" sz="2400" b="1" dirty="0">
                <a:latin typeface="Times New Roman" panose="02020603050405020304" pitchFamily="18" charset="0"/>
                <a:cs typeface="Times New Roman" panose="02020603050405020304" pitchFamily="18" charset="0"/>
              </a:rPr>
              <a:t>return</a:t>
            </a:r>
            <a:r>
              <a:rPr lang="zh-CN" altLang="zh-CN" sz="2400" dirty="0">
                <a:latin typeface="Times New Roman" panose="02020603050405020304" pitchFamily="18" charset="0"/>
                <a:cs typeface="Times New Roman" panose="02020603050405020304" pitchFamily="18" charset="0"/>
              </a:rPr>
              <a:t> </a:t>
            </a:r>
            <a:r>
              <a:rPr lang="zh-CN" altLang="zh-CN" sz="2400" i="1" dirty="0">
                <a:latin typeface="Times New Roman" panose="02020603050405020304" pitchFamily="18" charset="0"/>
                <a:cs typeface="Times New Roman" panose="02020603050405020304" pitchFamily="18" charset="0"/>
              </a:rPr>
              <a:t>ret</a:t>
            </a:r>
            <a:endParaRPr lang="zh-CN" altLang="zh-CN" sz="2400" dirty="0">
              <a:latin typeface="Times New Roman" panose="02020603050405020304" pitchFamily="18" charset="0"/>
              <a:cs typeface="Times New Roman" panose="02020603050405020304" pitchFamily="18" charset="0"/>
            </a:endParaRPr>
          </a:p>
        </p:txBody>
      </p:sp>
      <p:sp>
        <p:nvSpPr>
          <p:cNvPr id="6" name="AutoShape 2" descr="\\tmp\wps-root\ksohtml\wpsVvOlGi.jpg"/>
          <p:cNvSpPr>
            <a:spLocks noChangeAspect="1" noChangeArrowheads="1"/>
          </p:cNvSpPr>
          <p:nvPr/>
        </p:nvSpPr>
        <p:spPr bwMode="auto">
          <a:xfrm>
            <a:off x="328613" y="-1157288"/>
            <a:ext cx="219075" cy="200025"/>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7" name="AutoShape 3" descr="\\tmp\wps-root\ksohtml\wpsnEKVmG.jpg"/>
          <p:cNvSpPr>
            <a:spLocks noChangeAspect="1" noChangeArrowheads="1"/>
          </p:cNvSpPr>
          <p:nvPr/>
        </p:nvSpPr>
        <p:spPr bwMode="auto">
          <a:xfrm>
            <a:off x="76200" y="-974725"/>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8" name="AutoShape 4" descr="\\tmp\wps-root\ksohtml\wps71gz33.jpg"/>
          <p:cNvSpPr>
            <a:spLocks noChangeAspect="1" noChangeArrowheads="1"/>
          </p:cNvSpPr>
          <p:nvPr/>
        </p:nvSpPr>
        <p:spPr bwMode="auto">
          <a:xfrm>
            <a:off x="690563" y="-974725"/>
            <a:ext cx="43815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AutoShape 5" descr="\\tmp\wps-root\ksohtml\wpshhkgKr.jpg"/>
          <p:cNvSpPr>
            <a:spLocks noChangeAspect="1" noChangeArrowheads="1"/>
          </p:cNvSpPr>
          <p:nvPr/>
        </p:nvSpPr>
        <p:spPr bwMode="auto">
          <a:xfrm>
            <a:off x="390525" y="-639763"/>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AutoShape 6" descr="\\tmp\wps-root\ksohtml\wpslhJ0qP.jpg"/>
          <p:cNvSpPr>
            <a:spLocks noChangeAspect="1" noChangeArrowheads="1"/>
          </p:cNvSpPr>
          <p:nvPr/>
        </p:nvSpPr>
        <p:spPr bwMode="auto">
          <a:xfrm>
            <a:off x="328613" y="-457200"/>
            <a:ext cx="2190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AutoShape 7" descr="\\tmp\wps-root\ksohtml\wpszJuO7c.jpg"/>
          <p:cNvSpPr>
            <a:spLocks noChangeAspect="1" noChangeArrowheads="1"/>
          </p:cNvSpPr>
          <p:nvPr/>
        </p:nvSpPr>
        <p:spPr bwMode="auto">
          <a:xfrm>
            <a:off x="76200" y="-274638"/>
            <a:ext cx="38100"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AutoShape 8" descr="\\tmp\wps-root\ksohtml\wpsNXjHOA.jpg"/>
          <p:cNvSpPr>
            <a:spLocks noChangeAspect="1" noChangeArrowheads="1"/>
          </p:cNvSpPr>
          <p:nvPr/>
        </p:nvSpPr>
        <p:spPr bwMode="auto">
          <a:xfrm>
            <a:off x="568325" y="-92075"/>
            <a:ext cx="104775" cy="1905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任意多边形: 形状 13">
            <a:extLst>
              <a:ext uri="{FF2B5EF4-FFF2-40B4-BE49-F238E27FC236}">
                <a16:creationId xmlns:a16="http://schemas.microsoft.com/office/drawing/2014/main" id="{BB7B2CCE-99DF-4AF4-BEDA-188B38B189F1}"/>
              </a:ext>
            </a:extLst>
          </p:cNvPr>
          <p:cNvSpPr/>
          <p:nvPr/>
        </p:nvSpPr>
        <p:spPr>
          <a:xfrm>
            <a:off x="7120630" y="4728132"/>
            <a:ext cx="3631453" cy="691148"/>
          </a:xfrm>
          <a:custGeom>
            <a:avLst/>
            <a:gdLst>
              <a:gd name="connsiteX0" fmla="*/ 0 w 11055350"/>
              <a:gd name="connsiteY0" fmla="*/ 188921 h 1889214"/>
              <a:gd name="connsiteX1" fmla="*/ 188921 w 11055350"/>
              <a:gd name="connsiteY1" fmla="*/ 0 h 1889214"/>
              <a:gd name="connsiteX2" fmla="*/ 10866429 w 11055350"/>
              <a:gd name="connsiteY2" fmla="*/ 0 h 1889214"/>
              <a:gd name="connsiteX3" fmla="*/ 11055350 w 11055350"/>
              <a:gd name="connsiteY3" fmla="*/ 188921 h 1889214"/>
              <a:gd name="connsiteX4" fmla="*/ 11055350 w 11055350"/>
              <a:gd name="connsiteY4" fmla="*/ 1700293 h 1889214"/>
              <a:gd name="connsiteX5" fmla="*/ 10866429 w 11055350"/>
              <a:gd name="connsiteY5" fmla="*/ 1889214 h 1889214"/>
              <a:gd name="connsiteX6" fmla="*/ 188921 w 11055350"/>
              <a:gd name="connsiteY6" fmla="*/ 1889214 h 1889214"/>
              <a:gd name="connsiteX7" fmla="*/ 0 w 11055350"/>
              <a:gd name="connsiteY7" fmla="*/ 1700293 h 1889214"/>
              <a:gd name="connsiteX8" fmla="*/ 0 w 11055350"/>
              <a:gd name="connsiteY8" fmla="*/ 188921 h 18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5350" h="1889214">
                <a:moveTo>
                  <a:pt x="0" y="188921"/>
                </a:moveTo>
                <a:cubicBezTo>
                  <a:pt x="0" y="84583"/>
                  <a:pt x="84583" y="0"/>
                  <a:pt x="188921" y="0"/>
                </a:cubicBezTo>
                <a:lnTo>
                  <a:pt x="10866429" y="0"/>
                </a:lnTo>
                <a:cubicBezTo>
                  <a:pt x="10970767" y="0"/>
                  <a:pt x="11055350" y="84583"/>
                  <a:pt x="11055350" y="188921"/>
                </a:cubicBezTo>
                <a:lnTo>
                  <a:pt x="11055350" y="1700293"/>
                </a:lnTo>
                <a:cubicBezTo>
                  <a:pt x="11055350" y="1804631"/>
                  <a:pt x="10970767" y="1889214"/>
                  <a:pt x="10866429" y="1889214"/>
                </a:cubicBezTo>
                <a:lnTo>
                  <a:pt x="188921" y="1889214"/>
                </a:lnTo>
                <a:cubicBezTo>
                  <a:pt x="84583" y="1889214"/>
                  <a:pt x="0" y="1804631"/>
                  <a:pt x="0" y="1700293"/>
                </a:cubicBezTo>
                <a:lnTo>
                  <a:pt x="0" y="188921"/>
                </a:lnTo>
                <a:close/>
              </a:path>
            </a:pathLst>
          </a:custGeom>
          <a:solidFill>
            <a:srgbClr val="009999"/>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4393" tIns="154393" rIns="154393" bIns="154393" numCol="1" spcCol="1270" anchor="ctr" anchorCtr="0">
            <a:noAutofit/>
          </a:bodyPr>
          <a:lstStyle/>
          <a:p>
            <a:pPr defTabSz="1155700">
              <a:lnSpc>
                <a:spcPct val="90000"/>
              </a:lnSpc>
              <a:spcBef>
                <a:spcPct val="0"/>
              </a:spcBef>
              <a:spcAft>
                <a:spcPct val="35000"/>
              </a:spcAft>
            </a:pPr>
            <a:r>
              <a:rPr lang="zh-CN" altLang="en-US" sz="2400" dirty="0">
                <a:latin typeface="微软雅黑" panose="020B0503020204020204" pitchFamily="34" charset="-122"/>
                <a:ea typeface="微软雅黑" panose="020B0503020204020204" pitchFamily="34" charset="-122"/>
              </a:rPr>
              <a:t>时间复杂度 </a:t>
            </a:r>
            <a:r>
              <a:rPr lang="en-US" altLang="zh-CN" sz="2400" dirty="0">
                <a:latin typeface="微软雅黑" panose="020B0503020204020204" pitchFamily="34" charset="-122"/>
                <a:ea typeface="微软雅黑" panose="020B0503020204020204" pitchFamily="34" charset="-122"/>
              </a:rPr>
              <a:t>O</a:t>
            </a:r>
            <a:r>
              <a:rPr lang="zh-CN" altLang="en-US" sz="2400" dirty="0">
                <a:latin typeface="微软雅黑" panose="020B0503020204020204" pitchFamily="34" charset="-122"/>
                <a:ea typeface="微软雅黑" panose="020B0503020204020204" pitchFamily="34" charset="-122"/>
              </a:rPr>
              <a:t>（</a:t>
            </a:r>
            <a:r>
              <a:rPr lang="en-US" altLang="zh-CN" sz="2400" dirty="0" err="1">
                <a:latin typeface="微软雅黑" panose="020B0503020204020204" pitchFamily="34" charset="-122"/>
                <a:ea typeface="微软雅黑" panose="020B0503020204020204" pitchFamily="34" charset="-122"/>
              </a:rPr>
              <a:t>n+m</a:t>
            </a:r>
            <a:r>
              <a:rPr lang="zh-CN" altLang="en-US" sz="2400" dirty="0">
                <a:latin typeface="微软雅黑" panose="020B0503020204020204" pitchFamily="34" charset="-122"/>
                <a:ea typeface="微软雅黑" panose="020B0503020204020204" pitchFamily="34" charset="-122"/>
              </a:rPr>
              <a:t>）</a:t>
            </a:r>
            <a:endParaRPr lang="zh-CN" altLang="zh-CN" sz="2400" dirty="0">
              <a:latin typeface="微软雅黑" panose="020B0503020204020204" pitchFamily="34" charset="-122"/>
              <a:ea typeface="微软雅黑" panose="020B0503020204020204" pitchFamily="34" charset="-122"/>
            </a:endParaRPr>
          </a:p>
        </p:txBody>
      </p:sp>
      <p:sp>
        <p:nvSpPr>
          <p:cNvPr id="17" name="TextBox 36">
            <a:extLst>
              <a:ext uri="{FF2B5EF4-FFF2-40B4-BE49-F238E27FC236}">
                <a16:creationId xmlns:a16="http://schemas.microsoft.com/office/drawing/2014/main" id="{DB356A7D-41D7-4364-BD5E-688411EE8A93}"/>
              </a:ext>
            </a:extLst>
          </p:cNvPr>
          <p:cNvSpPr txBox="1"/>
          <p:nvPr/>
        </p:nvSpPr>
        <p:spPr>
          <a:xfrm>
            <a:off x="309545" y="122054"/>
            <a:ext cx="9523977" cy="651653"/>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图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连通判定</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68021653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3310129" y="3979272"/>
            <a:ext cx="5652000" cy="933907"/>
            <a:chOff x="2363538" y="2160418"/>
            <a:chExt cx="5613852" cy="933907"/>
          </a:xfrm>
        </p:grpSpPr>
        <p:pic>
          <p:nvPicPr>
            <p:cNvPr id="13" name="图片 1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63538" y="2160418"/>
              <a:ext cx="715704" cy="933907"/>
            </a:xfrm>
            <a:prstGeom prst="rect">
              <a:avLst/>
            </a:prstGeom>
          </p:spPr>
        </p:pic>
        <p:cxnSp>
          <p:nvCxnSpPr>
            <p:cNvPr id="14" name="直接连接符 13"/>
            <p:cNvCxnSpPr/>
            <p:nvPr/>
          </p:nvCxnSpPr>
          <p:spPr>
            <a:xfrm>
              <a:off x="2721390" y="3079085"/>
              <a:ext cx="5256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grpSp>
        <p:nvGrpSpPr>
          <p:cNvPr id="10" name="组合 9"/>
          <p:cNvGrpSpPr/>
          <p:nvPr/>
        </p:nvGrpSpPr>
        <p:grpSpPr>
          <a:xfrm>
            <a:off x="3310129" y="2715571"/>
            <a:ext cx="5649852" cy="933907"/>
            <a:chOff x="2363538" y="2160418"/>
            <a:chExt cx="5649852" cy="933907"/>
          </a:xfrm>
        </p:grpSpPr>
        <p:pic>
          <p:nvPicPr>
            <p:cNvPr id="8" name="图片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63538" y="2160418"/>
              <a:ext cx="715704" cy="933907"/>
            </a:xfrm>
            <a:prstGeom prst="rect">
              <a:avLst/>
            </a:prstGeom>
          </p:spPr>
        </p:pic>
        <p:cxnSp>
          <p:nvCxnSpPr>
            <p:cNvPr id="9" name="直接连接符 8"/>
            <p:cNvCxnSpPr/>
            <p:nvPr/>
          </p:nvCxnSpPr>
          <p:spPr>
            <a:xfrm>
              <a:off x="2721390" y="3079085"/>
              <a:ext cx="5292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grpSp>
        <p:nvGrpSpPr>
          <p:cNvPr id="11" name="组合 10"/>
          <p:cNvGrpSpPr/>
          <p:nvPr/>
        </p:nvGrpSpPr>
        <p:grpSpPr>
          <a:xfrm>
            <a:off x="3310129" y="1528540"/>
            <a:ext cx="5649852" cy="933907"/>
            <a:chOff x="2211138" y="2008018"/>
            <a:chExt cx="5649852" cy="933907"/>
          </a:xfrm>
        </p:grpSpPr>
        <p:pic>
          <p:nvPicPr>
            <p:cNvPr id="2" name="图片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211138" y="2008018"/>
              <a:ext cx="715704" cy="933907"/>
            </a:xfrm>
            <a:prstGeom prst="rect">
              <a:avLst/>
            </a:prstGeom>
          </p:spPr>
        </p:pic>
        <p:cxnSp>
          <p:nvCxnSpPr>
            <p:cNvPr id="6" name="直接连接符 5"/>
            <p:cNvCxnSpPr/>
            <p:nvPr/>
          </p:nvCxnSpPr>
          <p:spPr>
            <a:xfrm>
              <a:off x="2568990" y="2926685"/>
              <a:ext cx="5292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sp>
        <p:nvSpPr>
          <p:cNvPr id="5" name="内容占位符 2"/>
          <p:cNvSpPr txBox="1"/>
          <p:nvPr/>
        </p:nvSpPr>
        <p:spPr>
          <a:xfrm>
            <a:off x="3346129" y="2490025"/>
            <a:ext cx="1002601" cy="128065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tabLst/>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二</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 name="文本框 3"/>
          <p:cNvSpPr txBox="1"/>
          <p:nvPr/>
        </p:nvSpPr>
        <p:spPr>
          <a:xfrm>
            <a:off x="5365081" y="636022"/>
            <a:ext cx="1750017"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4000" b="1" dirty="0">
                <a:solidFill>
                  <a:srgbClr val="002060"/>
                </a:solidFill>
                <a:latin typeface="微软雅黑" panose="020B0503020204020204" pitchFamily="34" charset="-122"/>
                <a:ea typeface="微软雅黑" panose="020B0503020204020204" pitchFamily="34" charset="-122"/>
              </a:rPr>
              <a:t>搜</a:t>
            </a:r>
            <a:r>
              <a:rPr kumimoji="0" lang="zh-CN" altLang="en-US" sz="40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rPr>
              <a:t>  </a:t>
            </a:r>
            <a:r>
              <a:rPr lang="zh-CN" altLang="en-US" sz="4000" b="1" dirty="0">
                <a:solidFill>
                  <a:srgbClr val="002060"/>
                </a:solidFill>
                <a:latin typeface="微软雅黑" panose="020B0503020204020204" pitchFamily="34" charset="-122"/>
                <a:ea typeface="微软雅黑" panose="020B0503020204020204" pitchFamily="34" charset="-122"/>
              </a:rPr>
              <a:t>索</a:t>
            </a:r>
            <a:endParaRPr kumimoji="0" lang="zh-CN" altLang="en-US" sz="40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
        <p:nvSpPr>
          <p:cNvPr id="15" name="内容占位符 2"/>
          <p:cNvSpPr txBox="1"/>
          <p:nvPr/>
        </p:nvSpPr>
        <p:spPr>
          <a:xfrm>
            <a:off x="3346129" y="1343908"/>
            <a:ext cx="739863" cy="1023029"/>
          </a:xfrm>
          <a:prstGeom prst="rect">
            <a:avLst/>
          </a:prstGeom>
        </p:spPr>
        <p:txBody>
          <a:bodyPr vert="horz" lIns="91440" tIns="45720" rIns="91440" bIns="45720" rtlCol="0" anchor="ctr"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tabLst/>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一</a:t>
            </a:r>
            <a:endParaRPr kumimoji="0" lang="en-US" altLang="zh-CN"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16" name="内容占位符 2"/>
          <p:cNvSpPr txBox="1"/>
          <p:nvPr/>
        </p:nvSpPr>
        <p:spPr>
          <a:xfrm>
            <a:off x="3338705" y="3724501"/>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tabLst/>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三</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7" name="矩形 6"/>
          <p:cNvSpPr/>
          <p:nvPr/>
        </p:nvSpPr>
        <p:spPr>
          <a:xfrm>
            <a:off x="4272309" y="1659528"/>
            <a:ext cx="5009022" cy="646331"/>
          </a:xfrm>
          <a:prstGeom prst="rect">
            <a:avLst/>
          </a:prstGeom>
        </p:spPr>
        <p:txBody>
          <a:bodyPr wrap="none"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3200" b="1" dirty="0">
                <a:solidFill>
                  <a:srgbClr val="002060"/>
                </a:solidFill>
                <a:latin typeface="微软雅黑" panose="020B0503020204020204" pitchFamily="34" charset="-122"/>
                <a:ea typeface="微软雅黑" panose="020B0503020204020204" pitchFamily="34" charset="-122"/>
              </a:rPr>
              <a:t>广度优先搜索</a:t>
            </a:r>
            <a:r>
              <a:rPr lang="en-US" altLang="zh-CN" sz="3200" b="1" dirty="0">
                <a:solidFill>
                  <a:srgbClr val="002060"/>
                </a:solidFill>
                <a:latin typeface="微软雅黑" panose="020B0503020204020204" pitchFamily="34" charset="-122"/>
                <a:ea typeface="微软雅黑" panose="020B0503020204020204" pitchFamily="34" charset="-122"/>
              </a:rPr>
              <a:t>BFS</a:t>
            </a:r>
            <a:endParaRPr lang="zh-CN" altLang="en-US" sz="3200" b="1" dirty="0">
              <a:solidFill>
                <a:srgbClr val="002060"/>
              </a:solidFill>
              <a:latin typeface="微软雅黑" panose="020B0503020204020204" pitchFamily="34" charset="-122"/>
              <a:ea typeface="微软雅黑" panose="020B0503020204020204" pitchFamily="34" charset="-122"/>
            </a:endParaRPr>
          </a:p>
        </p:txBody>
      </p:sp>
      <p:sp>
        <p:nvSpPr>
          <p:cNvPr id="17" name="矩形 16"/>
          <p:cNvSpPr/>
          <p:nvPr/>
        </p:nvSpPr>
        <p:spPr>
          <a:xfrm>
            <a:off x="4272309" y="2937686"/>
            <a:ext cx="6002124" cy="584776"/>
          </a:xfrm>
          <a:prstGeom prst="rect">
            <a:avLst/>
          </a:prstGeom>
        </p:spPr>
        <p:txBody>
          <a:bodyPr wrap="none"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3200" b="1" dirty="0">
                <a:solidFill>
                  <a:srgbClr val="002060"/>
                </a:solidFill>
                <a:latin typeface="微软雅黑" panose="020B0503020204020204" pitchFamily="34" charset="-122"/>
                <a:ea typeface="微软雅黑" panose="020B0503020204020204" pitchFamily="34" charset="-122"/>
              </a:rPr>
              <a:t>深度</a:t>
            </a:r>
            <a:r>
              <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rPr>
              <a:t>优先搜索</a:t>
            </a:r>
            <a:r>
              <a:rPr kumimoji="0" lang="en-US" altLang="zh-CN"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rPr>
              <a:t>DFS</a:t>
            </a:r>
            <a:endPar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
        <p:nvSpPr>
          <p:cNvPr id="18" name="矩形 17"/>
          <p:cNvSpPr/>
          <p:nvPr/>
        </p:nvSpPr>
        <p:spPr>
          <a:xfrm>
            <a:off x="4318030" y="4131905"/>
            <a:ext cx="2015038" cy="584775"/>
          </a:xfrm>
          <a:prstGeom prst="rect">
            <a:avLst/>
          </a:prstGeom>
        </p:spPr>
        <p:txBody>
          <a:bodyPr wrap="square"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3200" b="1" dirty="0">
                <a:solidFill>
                  <a:srgbClr val="002060"/>
                </a:solidFill>
                <a:latin typeface="微软雅黑" panose="020B0503020204020204" pitchFamily="34" charset="-122"/>
                <a:ea typeface="微软雅黑" panose="020B0503020204020204" pitchFamily="34" charset="-122"/>
              </a:rPr>
              <a:t>搜索剪枝</a:t>
            </a:r>
            <a:endPar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
        <p:nvSpPr>
          <p:cNvPr id="22" name="内容占位符 2"/>
          <p:cNvSpPr txBox="1"/>
          <p:nvPr/>
        </p:nvSpPr>
        <p:spPr>
          <a:xfrm>
            <a:off x="3329265" y="4847941"/>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tabLst/>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四</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28" name="内容占位符 2"/>
          <p:cNvSpPr txBox="1"/>
          <p:nvPr/>
        </p:nvSpPr>
        <p:spPr>
          <a:xfrm>
            <a:off x="3336557" y="4917357"/>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tabLst/>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四</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grpSp>
        <p:nvGrpSpPr>
          <p:cNvPr id="25" name="组合 24">
            <a:extLst>
              <a:ext uri="{FF2B5EF4-FFF2-40B4-BE49-F238E27FC236}">
                <a16:creationId xmlns:a16="http://schemas.microsoft.com/office/drawing/2014/main" id="{9D9DEF8B-4CB7-41E9-80AF-156C088E2212}"/>
              </a:ext>
            </a:extLst>
          </p:cNvPr>
          <p:cNvGrpSpPr/>
          <p:nvPr/>
        </p:nvGrpSpPr>
        <p:grpSpPr>
          <a:xfrm>
            <a:off x="3346129" y="5108601"/>
            <a:ext cx="5652000" cy="933907"/>
            <a:chOff x="2363538" y="2160418"/>
            <a:chExt cx="5613852" cy="933907"/>
          </a:xfrm>
        </p:grpSpPr>
        <p:pic>
          <p:nvPicPr>
            <p:cNvPr id="26" name="图片 25">
              <a:extLst>
                <a:ext uri="{FF2B5EF4-FFF2-40B4-BE49-F238E27FC236}">
                  <a16:creationId xmlns:a16="http://schemas.microsoft.com/office/drawing/2014/main" id="{2DB0FCBF-0087-4A57-9BFB-F0F05158AC1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63538" y="2160418"/>
              <a:ext cx="715704" cy="933907"/>
            </a:xfrm>
            <a:prstGeom prst="rect">
              <a:avLst/>
            </a:prstGeom>
          </p:spPr>
        </p:pic>
        <p:cxnSp>
          <p:nvCxnSpPr>
            <p:cNvPr id="27" name="直接连接符 26">
              <a:extLst>
                <a:ext uri="{FF2B5EF4-FFF2-40B4-BE49-F238E27FC236}">
                  <a16:creationId xmlns:a16="http://schemas.microsoft.com/office/drawing/2014/main" id="{18096028-A1EB-4D8F-AADD-3A8ADCAA1D98}"/>
                </a:ext>
              </a:extLst>
            </p:cNvPr>
            <p:cNvCxnSpPr/>
            <p:nvPr/>
          </p:nvCxnSpPr>
          <p:spPr>
            <a:xfrm>
              <a:off x="2721390" y="3079085"/>
              <a:ext cx="5256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sp>
        <p:nvSpPr>
          <p:cNvPr id="29" name="内容占位符 2">
            <a:extLst>
              <a:ext uri="{FF2B5EF4-FFF2-40B4-BE49-F238E27FC236}">
                <a16:creationId xmlns:a16="http://schemas.microsoft.com/office/drawing/2014/main" id="{5FA8E7BA-D099-40AA-942E-E228C1F40901}"/>
              </a:ext>
            </a:extLst>
          </p:cNvPr>
          <p:cNvSpPr txBox="1"/>
          <p:nvPr/>
        </p:nvSpPr>
        <p:spPr>
          <a:xfrm>
            <a:off x="3374705" y="4853830"/>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tabLst/>
              <a:defRPr/>
            </a:pPr>
            <a:r>
              <a:rPr lang="zh-CN" altLang="en-US" sz="3600" b="1" dirty="0">
                <a:solidFill>
                  <a:prstClr val="white"/>
                </a:solidFill>
                <a:latin typeface="微软雅黑" panose="020B0503020204020204" pitchFamily="34" charset="-122"/>
                <a:ea typeface="微软雅黑" panose="020B0503020204020204" pitchFamily="34" charset="-122"/>
              </a:rPr>
              <a:t>四</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0" name="矩形 29">
            <a:extLst>
              <a:ext uri="{FF2B5EF4-FFF2-40B4-BE49-F238E27FC236}">
                <a16:creationId xmlns:a16="http://schemas.microsoft.com/office/drawing/2014/main" id="{E5258FC2-689F-4E65-9CEA-CF8BD90C9652}"/>
              </a:ext>
            </a:extLst>
          </p:cNvPr>
          <p:cNvSpPr/>
          <p:nvPr/>
        </p:nvSpPr>
        <p:spPr>
          <a:xfrm>
            <a:off x="4354029" y="5261234"/>
            <a:ext cx="3807837" cy="584775"/>
          </a:xfrm>
          <a:prstGeom prst="rect">
            <a:avLst/>
          </a:prstGeom>
        </p:spPr>
        <p:txBody>
          <a:bodyPr wrap="square"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3200" b="1" dirty="0">
                <a:solidFill>
                  <a:srgbClr val="002060"/>
                </a:solidFill>
                <a:latin typeface="微软雅黑" panose="020B0503020204020204" pitchFamily="34" charset="-122"/>
                <a:ea typeface="微软雅黑" panose="020B0503020204020204" pitchFamily="34" charset="-122"/>
              </a:rPr>
              <a:t>启发式与迭代加深</a:t>
            </a:r>
            <a:endPar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什么是搜索？</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172720" y="878889"/>
            <a:ext cx="11536927" cy="5796459"/>
          </a:xfrm>
          <a:prstGeom prst="rect">
            <a:avLst/>
          </a:prstGeom>
          <a:noFill/>
        </p:spPr>
        <p:txBody>
          <a:bodyPr wrap="square" rtlCol="0">
            <a:spAutoFit/>
          </a:bodyPr>
          <a:lstStyle/>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搜索是一种通过穷举所有可能的解的状态，来求得问题所要求的解或者最优解的方法，即通过枚举解的所有可能状态，来寻求一个解或者最优解。</a:t>
            </a: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搜索过程实际上是根据初始条件和扩展规则构造一棵解答树并寻找符合目标状态的节点的过程</a:t>
            </a: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状态：对某一系统在某一时刻的数学描述。</a:t>
            </a: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状态转移：状态到另一种状态的操作</a:t>
            </a: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时间允许的情况下，几乎所有问题都可以使用搜索解决</a:t>
            </a:r>
            <a:endParaRPr lang="en-US" altLang="zh-CN" dirty="0"/>
          </a:p>
          <a:p>
            <a:endParaRPr lang="zh-CN" altLang="en-US"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172720" y="972053"/>
            <a:ext cx="10515600" cy="4351337"/>
          </a:xfrm>
        </p:spPr>
        <p:txBody>
          <a:bodyPr>
            <a:noAutofit/>
          </a:bodyPr>
          <a:lstStyle/>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给四个数，通过加减乘除运算得到 </a:t>
            </a:r>
            <a:r>
              <a:rPr lang="en-US" altLang="zh-CN" b="1" kern="100" dirty="0">
                <a:solidFill>
                  <a:srgbClr val="014B88"/>
                </a:solidFill>
                <a:latin typeface="仿宋_GB2312"/>
                <a:cs typeface="Times New Roman" panose="02020603050405020304" pitchFamily="18" charset="0"/>
              </a:rPr>
              <a:t>24</a:t>
            </a:r>
            <a:r>
              <a:rPr lang="zh-CN" altLang="en-US" b="1" kern="100" dirty="0">
                <a:solidFill>
                  <a:srgbClr val="014B88"/>
                </a:solidFill>
                <a:latin typeface="仿宋_GB2312"/>
                <a:cs typeface="Times New Roman" panose="02020603050405020304" pitchFamily="18" charset="0"/>
              </a:rPr>
              <a:t>，求出一组解，可能无解</a:t>
            </a:r>
            <a:endParaRPr lang="en-US"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朴素纯暴力搜索</a:t>
            </a:r>
            <a:endParaRPr lang="en-US"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对 </a:t>
            </a:r>
            <a:r>
              <a:rPr lang="en-US" altLang="zh-CN" b="1" kern="100" dirty="0">
                <a:solidFill>
                  <a:srgbClr val="014B88"/>
                </a:solidFill>
                <a:latin typeface="仿宋_GB2312"/>
                <a:cs typeface="Times New Roman" panose="02020603050405020304" pitchFamily="18" charset="0"/>
              </a:rPr>
              <a:t>a b c d </a:t>
            </a:r>
            <a:r>
              <a:rPr lang="zh-CN" altLang="en-US" b="1" kern="100" dirty="0">
                <a:solidFill>
                  <a:srgbClr val="014B88"/>
                </a:solidFill>
                <a:latin typeface="仿宋_GB2312"/>
                <a:cs typeface="Times New Roman" panose="02020603050405020304" pitchFamily="18" charset="0"/>
              </a:rPr>
              <a:t>这四个数，有</a:t>
            </a:r>
            <a:r>
              <a:rPr lang="en-US" altLang="zh-CN" b="1" kern="100" dirty="0">
                <a:solidFill>
                  <a:srgbClr val="014B88"/>
                </a:solidFill>
                <a:latin typeface="仿宋_GB2312"/>
                <a:cs typeface="Times New Roman" panose="02020603050405020304" pitchFamily="18" charset="0"/>
              </a:rPr>
              <a:t>5</a:t>
            </a:r>
            <a:r>
              <a:rPr lang="zh-CN" altLang="en-US" b="1" kern="100" dirty="0">
                <a:solidFill>
                  <a:srgbClr val="014B88"/>
                </a:solidFill>
                <a:latin typeface="仿宋_GB2312"/>
                <a:cs typeface="Times New Roman" panose="02020603050405020304" pitchFamily="18" charset="0"/>
              </a:rPr>
              <a:t>种运算情况 ‘</a:t>
            </a:r>
            <a:r>
              <a:rPr lang="en-US" altLang="zh-CN" b="1" kern="100" dirty="0">
                <a:solidFill>
                  <a:srgbClr val="014B88"/>
                </a:solidFill>
                <a:latin typeface="仿宋_GB2312"/>
                <a:cs typeface="Times New Roman" panose="02020603050405020304" pitchFamily="18" charset="0"/>
              </a:rPr>
              <a:t>@</a:t>
            </a:r>
            <a:r>
              <a:rPr lang="zh-CN" altLang="en-US" b="1" kern="100" dirty="0">
                <a:solidFill>
                  <a:srgbClr val="014B88"/>
                </a:solidFill>
                <a:latin typeface="仿宋_GB2312"/>
                <a:cs typeface="Times New Roman" panose="02020603050405020304" pitchFamily="18" charset="0"/>
              </a:rPr>
              <a:t>’代表一种运算</a:t>
            </a:r>
            <a:endParaRPr lang="en-US" altLang="zh-CN" b="1" kern="100" dirty="0">
              <a:solidFill>
                <a:srgbClr val="014B88"/>
              </a:solidFill>
              <a:latin typeface="仿宋_GB2312"/>
              <a:cs typeface="Times New Roman" panose="02020603050405020304" pitchFamily="18" charset="0"/>
            </a:endParaRP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1, (a @ b) @ (c @ d)</a:t>
            </a: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2, ((a @ b) @ c) @ d</a:t>
            </a: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3, (a @ (b @ c)) @ d</a:t>
            </a: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4, a @ (b @ (c @ d))</a:t>
            </a: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5, a @ ((b @ c) @ d)</a:t>
            </a: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对四个数的每种排列的每种运算情况进行计算，得到</a:t>
            </a:r>
            <a:r>
              <a:rPr lang="en-US" altLang="zh-CN" b="1" kern="100" dirty="0">
                <a:solidFill>
                  <a:srgbClr val="014B88"/>
                </a:solidFill>
                <a:latin typeface="仿宋_GB2312"/>
                <a:cs typeface="Times New Roman" panose="02020603050405020304" pitchFamily="18" charset="0"/>
              </a:rPr>
              <a:t>24</a:t>
            </a:r>
            <a:r>
              <a:rPr lang="zh-CN" altLang="en-US" b="1" kern="100" dirty="0">
                <a:solidFill>
                  <a:srgbClr val="014B88"/>
                </a:solidFill>
                <a:latin typeface="仿宋_GB2312"/>
                <a:cs typeface="Times New Roman" panose="02020603050405020304" pitchFamily="18" charset="0"/>
              </a:rPr>
              <a:t>即解决问题，所有情况均不为</a:t>
            </a:r>
            <a:r>
              <a:rPr lang="en-US" altLang="zh-CN" b="1" kern="100" dirty="0">
                <a:solidFill>
                  <a:srgbClr val="014B88"/>
                </a:solidFill>
                <a:latin typeface="仿宋_GB2312"/>
                <a:cs typeface="Times New Roman" panose="02020603050405020304" pitchFamily="18" charset="0"/>
              </a:rPr>
              <a:t>24</a:t>
            </a:r>
            <a:r>
              <a:rPr lang="zh-CN" altLang="en-US" b="1" kern="100" dirty="0">
                <a:solidFill>
                  <a:srgbClr val="014B88"/>
                </a:solidFill>
                <a:latin typeface="仿宋_GB2312"/>
                <a:cs typeface="Times New Roman" panose="02020603050405020304" pitchFamily="18" charset="0"/>
              </a:rPr>
              <a:t>，则无解。</a:t>
            </a:r>
            <a:endParaRPr lang="en-US"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共有</a:t>
            </a:r>
            <a:r>
              <a:rPr lang="en-US" altLang="zh-CN" b="1" kern="100" dirty="0">
                <a:solidFill>
                  <a:srgbClr val="014B88"/>
                </a:solidFill>
                <a:latin typeface="仿宋_GB2312"/>
                <a:cs typeface="Times New Roman" panose="02020603050405020304" pitchFamily="18" charset="0"/>
              </a:rPr>
              <a:t>4</a:t>
            </a:r>
            <a:r>
              <a:rPr lang="zh-CN" altLang="en-US" b="1" kern="100" dirty="0">
                <a:solidFill>
                  <a:srgbClr val="014B88"/>
                </a:solidFill>
                <a:latin typeface="仿宋_GB2312"/>
                <a:cs typeface="Times New Roman" panose="02020603050405020304" pitchFamily="18" charset="0"/>
              </a:rPr>
              <a:t>！</a:t>
            </a:r>
            <a:r>
              <a:rPr lang="en-US" altLang="zh-CN" b="1" kern="100" dirty="0">
                <a:solidFill>
                  <a:srgbClr val="014B88"/>
                </a:solidFill>
                <a:latin typeface="仿宋_GB2312"/>
                <a:cs typeface="Times New Roman" panose="02020603050405020304" pitchFamily="18" charset="0"/>
              </a:rPr>
              <a:t>× 5 × 4^3 = 7680 </a:t>
            </a:r>
            <a:r>
              <a:rPr lang="zh-CN" altLang="en-US" b="1" kern="100" dirty="0">
                <a:solidFill>
                  <a:srgbClr val="014B88"/>
                </a:solidFill>
                <a:latin typeface="仿宋_GB2312"/>
                <a:cs typeface="Times New Roman" panose="02020603050405020304" pitchFamily="18" charset="0"/>
              </a:rPr>
              <a:t>种组合方式</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例：</a:t>
            </a:r>
            <a:r>
              <a:rPr lang="en-US" altLang="zh-CN" sz="3200" b="1" dirty="0">
                <a:solidFill>
                  <a:srgbClr val="C00000"/>
                </a:solidFill>
                <a:latin typeface="微软雅黑" panose="020B0503020204020204" pitchFamily="34" charset="-122"/>
                <a:ea typeface="微软雅黑" panose="020B0503020204020204" pitchFamily="34" charset="-122"/>
              </a:rPr>
              <a:t>24</a:t>
            </a:r>
            <a:r>
              <a:rPr lang="zh-CN" altLang="en-US" sz="3200" b="1" dirty="0">
                <a:solidFill>
                  <a:srgbClr val="C00000"/>
                </a:solidFill>
                <a:latin typeface="微软雅黑" panose="020B0503020204020204" pitchFamily="34" charset="-122"/>
                <a:ea typeface="微软雅黑" panose="020B0503020204020204" pitchFamily="34" charset="-122"/>
              </a:rPr>
              <a:t>点问题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ustDataLst>
      <p:tags r:id="rId1"/>
    </p:custDataLst>
  </p:cSld>
  <p:clrMapOvr>
    <a:masterClrMapping/>
  </p:clrMapOvr>
  <p:transition spd="slow" advTm="21727"/>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3">
                                            <p:txEl>
                                              <p:pRg st="8" end="8"/>
                                            </p:txEl>
                                          </p:spTgt>
                                        </p:tgtEl>
                                        <p:attrNameLst>
                                          <p:attrName>style.visibility</p:attrName>
                                        </p:attrNameLst>
                                      </p:cBhvr>
                                      <p:to>
                                        <p:strVal val="visible"/>
                                      </p:to>
                                    </p:set>
                                    <p:animEffect transition="in" filter="fade">
                                      <p:cBhvr>
                                        <p:cTn id="33" dur="500"/>
                                        <p:tgtEl>
                                          <p:spTgt spid="3">
                                            <p:txEl>
                                              <p:pRg st="8" end="8"/>
                                            </p:txEl>
                                          </p:spTgt>
                                        </p:tgtEl>
                                      </p:cBhvr>
                                    </p:animEffect>
                                  </p:childTnLst>
                                </p:cTn>
                              </p:par>
                              <p:par>
                                <p:cTn id="34" presetID="10" presetClass="entr" presetSubtype="0" fill="hold" nodeType="withEffect">
                                  <p:stCondLst>
                                    <p:cond delay="0"/>
                                  </p:stCondLst>
                                  <p:childTnLst>
                                    <p:set>
                                      <p:cBhvr>
                                        <p:cTn id="35" dur="1" fill="hold">
                                          <p:stCondLst>
                                            <p:cond delay="0"/>
                                          </p:stCondLst>
                                        </p:cTn>
                                        <p:tgtEl>
                                          <p:spTgt spid="3">
                                            <p:txEl>
                                              <p:pRg st="9" end="9"/>
                                            </p:txEl>
                                          </p:spTgt>
                                        </p:tgtEl>
                                        <p:attrNameLst>
                                          <p:attrName>style.visibility</p:attrName>
                                        </p:attrNameLst>
                                      </p:cBhvr>
                                      <p:to>
                                        <p:strVal val="visible"/>
                                      </p:to>
                                    </p:set>
                                    <p:animEffect transition="in" filter="fade">
                                      <p:cBhvr>
                                        <p:cTn id="36"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文本占位符 13314"/>
          <p:cNvSpPr>
            <a:spLocks noGrp="1" noRot="1"/>
          </p:cNvSpPr>
          <p:nvPr>
            <p:ph type="body" idx="4294967295"/>
          </p:nvPr>
        </p:nvSpPr>
        <p:spPr>
          <a:xfrm>
            <a:off x="334800" y="1253331"/>
            <a:ext cx="10515600" cy="4351337"/>
          </a:xfrm>
        </p:spPr>
        <p:txBody>
          <a:bodyPr/>
          <a:lstStyle/>
          <a:p>
            <a:pPr marL="800100" lvl="1" indent="-342900" algn="just">
              <a:lnSpc>
                <a:spcPct val="200000"/>
              </a:lnSpc>
              <a:buFont typeface="Wingdings" panose="05000000000000000000" pitchFamily="2" charset="2"/>
              <a:buChar char="l"/>
            </a:pPr>
            <a:r>
              <a:rPr lang="en-US" altLang="zh-CN" b="1" kern="100" noProof="1">
                <a:solidFill>
                  <a:srgbClr val="014B88"/>
                </a:solidFill>
                <a:latin typeface="仿宋_GB2312"/>
                <a:cs typeface="Times New Roman" panose="02020603050405020304" pitchFamily="18" charset="0"/>
              </a:rPr>
              <a:t>	</a:t>
            </a:r>
            <a:r>
              <a:rPr lang="zh-CN" altLang="en-US" b="1" kern="100" noProof="1">
                <a:solidFill>
                  <a:srgbClr val="014B88"/>
                </a:solidFill>
                <a:latin typeface="仿宋_GB2312"/>
                <a:cs typeface="Times New Roman" panose="02020603050405020304" pitchFamily="18" charset="0"/>
              </a:rPr>
              <a:t>过河问题</a:t>
            </a:r>
          </a:p>
          <a:p>
            <a:pPr marL="800100" lvl="1" indent="-342900"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一个人要带着米、鸡、狗划船过河，而船上只能载一物过河。当人不在时，鸡吃米，狗吃鸡，求过河策略。</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状态的表示</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9" name="文本占位符 14338"/>
          <p:cNvSpPr>
            <a:spLocks noGrp="1" noRot="1"/>
          </p:cNvSpPr>
          <p:nvPr>
            <p:ph type="body" idx="4294967295"/>
          </p:nvPr>
        </p:nvSpPr>
        <p:spPr>
          <a:xfrm>
            <a:off x="443883" y="1100971"/>
            <a:ext cx="11363418" cy="5308707"/>
          </a:xfrm>
        </p:spPr>
        <p:txBody>
          <a:bodyPr>
            <a:normAutofit fontScale="77500" lnSpcReduction="20000"/>
          </a:bodyPr>
          <a:lstStyle/>
          <a:p>
            <a:pPr marL="800100" lvl="1" indent="-342900" algn="just">
              <a:lnSpc>
                <a:spcPct val="220000"/>
              </a:lnSpc>
              <a:buFont typeface="Wingdings" panose="05000000000000000000" pitchFamily="2" charset="2"/>
              <a:buChar char="l"/>
            </a:pPr>
            <a:r>
              <a:rPr lang="zh-CN" altLang="en-US" sz="3400" b="1" kern="100" noProof="1">
                <a:solidFill>
                  <a:srgbClr val="014B88"/>
                </a:solidFill>
                <a:latin typeface="仿宋_GB2312"/>
                <a:cs typeface="Times New Roman" panose="02020603050405020304" pitchFamily="18" charset="0"/>
              </a:rPr>
              <a:t>	用四元组</a:t>
            </a:r>
            <a:r>
              <a:rPr lang="en-US" altLang="zh-CN" sz="3400" b="1" kern="100" noProof="1">
                <a:solidFill>
                  <a:srgbClr val="014B88"/>
                </a:solidFill>
                <a:latin typeface="仿宋_GB2312"/>
                <a:cs typeface="Times New Roman" panose="02020603050405020304" pitchFamily="18" charset="0"/>
              </a:rPr>
              <a:t>(a, b, c, d)</a:t>
            </a:r>
            <a:r>
              <a:rPr lang="zh-CN" altLang="en-US" sz="3400" b="1" kern="100" noProof="1">
                <a:solidFill>
                  <a:srgbClr val="014B88"/>
                </a:solidFill>
                <a:latin typeface="仿宋_GB2312"/>
                <a:cs typeface="Times New Roman" panose="02020603050405020304" pitchFamily="18" charset="0"/>
              </a:rPr>
              <a:t>来表示人、狗、鸡、米的状态。其中</a:t>
            </a:r>
            <a:r>
              <a:rPr lang="en-US" altLang="zh-CN" sz="3400" b="1" kern="100" noProof="1">
                <a:solidFill>
                  <a:srgbClr val="014B88"/>
                </a:solidFill>
                <a:latin typeface="仿宋_GB2312"/>
                <a:cs typeface="Times New Roman" panose="02020603050405020304" pitchFamily="18" charset="0"/>
              </a:rPr>
              <a:t>a</a:t>
            </a:r>
            <a:r>
              <a:rPr lang="zh-CN" altLang="en-US" sz="3400" b="1" kern="100" noProof="1">
                <a:solidFill>
                  <a:srgbClr val="014B88"/>
                </a:solidFill>
                <a:latin typeface="仿宋_GB2312"/>
                <a:cs typeface="Times New Roman" panose="02020603050405020304" pitchFamily="18" charset="0"/>
              </a:rPr>
              <a:t>为</a:t>
            </a:r>
            <a:r>
              <a:rPr lang="en-US" altLang="zh-CN" sz="3400" b="1" kern="100" noProof="1">
                <a:solidFill>
                  <a:srgbClr val="014B88"/>
                </a:solidFill>
                <a:latin typeface="仿宋_GB2312"/>
                <a:cs typeface="Times New Roman" panose="02020603050405020304" pitchFamily="18" charset="0"/>
              </a:rPr>
              <a:t>0</a:t>
            </a:r>
            <a:r>
              <a:rPr lang="zh-CN" altLang="en-US" sz="3400" b="1" kern="100" noProof="1">
                <a:solidFill>
                  <a:srgbClr val="014B88"/>
                </a:solidFill>
                <a:latin typeface="仿宋_GB2312"/>
                <a:cs typeface="Times New Roman" panose="02020603050405020304" pitchFamily="18" charset="0"/>
              </a:rPr>
              <a:t>表示未过河，为</a:t>
            </a:r>
            <a:r>
              <a:rPr lang="en-US" altLang="zh-CN" sz="3400" b="1" kern="100" noProof="1">
                <a:solidFill>
                  <a:srgbClr val="014B88"/>
                </a:solidFill>
                <a:latin typeface="仿宋_GB2312"/>
                <a:cs typeface="Times New Roman" panose="02020603050405020304" pitchFamily="18" charset="0"/>
              </a:rPr>
              <a:t>1</a:t>
            </a:r>
            <a:r>
              <a:rPr lang="zh-CN" altLang="en-US" sz="3400" b="1" kern="100" noProof="1">
                <a:solidFill>
                  <a:srgbClr val="014B88"/>
                </a:solidFill>
                <a:latin typeface="仿宋_GB2312"/>
                <a:cs typeface="Times New Roman" panose="02020603050405020304" pitchFamily="18" charset="0"/>
              </a:rPr>
              <a:t>表示已过河。故我们由</a:t>
            </a:r>
            <a:r>
              <a:rPr lang="en-US" altLang="zh-CN" sz="3400" b="1" kern="100" noProof="1">
                <a:solidFill>
                  <a:srgbClr val="014B88"/>
                </a:solidFill>
                <a:latin typeface="仿宋_GB2312"/>
                <a:cs typeface="Times New Roman" panose="02020603050405020304" pitchFamily="18" charset="0"/>
              </a:rPr>
              <a:t>(0, 0, 0, 0)</a:t>
            </a:r>
            <a:r>
              <a:rPr lang="zh-CN" altLang="en-US" sz="3400" b="1" kern="100" noProof="1">
                <a:solidFill>
                  <a:srgbClr val="014B88"/>
                </a:solidFill>
                <a:latin typeface="仿宋_GB2312"/>
                <a:cs typeface="Times New Roman" panose="02020603050405020304" pitchFamily="18" charset="0"/>
              </a:rPr>
              <a:t>要转移到</a:t>
            </a:r>
            <a:r>
              <a:rPr lang="en-US" altLang="zh-CN" sz="3400" b="1" kern="100" noProof="1">
                <a:solidFill>
                  <a:srgbClr val="014B88"/>
                </a:solidFill>
                <a:latin typeface="仿宋_GB2312"/>
                <a:cs typeface="Times New Roman" panose="02020603050405020304" pitchFamily="18" charset="0"/>
              </a:rPr>
              <a:t>(1, 1, 1, 1)</a:t>
            </a:r>
            <a:r>
              <a:rPr lang="zh-CN" altLang="en-US" sz="3400" b="1" kern="100" noProof="1">
                <a:solidFill>
                  <a:srgbClr val="014B88"/>
                </a:solidFill>
                <a:latin typeface="仿宋_GB2312"/>
                <a:cs typeface="Times New Roman" panose="02020603050405020304" pitchFamily="18" charset="0"/>
              </a:rPr>
              <a:t>。</a:t>
            </a:r>
          </a:p>
          <a:p>
            <a:pPr lvl="2">
              <a:lnSpc>
                <a:spcPct val="135000"/>
              </a:lnSpc>
              <a:spcBef>
                <a:spcPts val="1000"/>
              </a:spcBef>
              <a:buNone/>
            </a:pPr>
            <a:r>
              <a:rPr lang="zh-CN" altLang="en-US" sz="3400" noProof="1"/>
              <a:t>	</a:t>
            </a:r>
            <a:endParaRPr lang="en-US" altLang="zh-CN" sz="3400" noProof="1"/>
          </a:p>
          <a:p>
            <a:pPr lvl="2">
              <a:lnSpc>
                <a:spcPct val="135000"/>
              </a:lnSpc>
              <a:spcBef>
                <a:spcPts val="1000"/>
              </a:spcBef>
              <a:buNone/>
            </a:pPr>
            <a:r>
              <a:rPr lang="zh-CN" altLang="en-US" sz="3400" noProof="1"/>
              <a:t>转移方式</a:t>
            </a:r>
            <a:r>
              <a:rPr lang="en-US" altLang="zh-CN" sz="3400" noProof="1"/>
              <a:t>:</a:t>
            </a:r>
            <a:r>
              <a:rPr lang="en-US" altLang="zh-CN" sz="3400" noProof="1">
                <a:sym typeface="Wingdings" panose="05000000000000000000" pitchFamily="2" charset="2"/>
              </a:rPr>
              <a:t>(a, b, c, d) ----&gt; (1 - a, 1 - b, c, d) (a == b)</a:t>
            </a:r>
          </a:p>
          <a:p>
            <a:pPr lvl="2">
              <a:lnSpc>
                <a:spcPct val="135000"/>
              </a:lnSpc>
              <a:spcBef>
                <a:spcPts val="1000"/>
              </a:spcBef>
              <a:buNone/>
            </a:pPr>
            <a:r>
              <a:rPr lang="en-US" altLang="zh-CN" sz="3400" noProof="1">
                <a:sym typeface="Wingdings" panose="05000000000000000000" pitchFamily="2" charset="2"/>
              </a:rPr>
              <a:t>			           ----&gt; (1 - a, b, 1 - c, d) (a == c)</a:t>
            </a:r>
          </a:p>
          <a:p>
            <a:pPr lvl="2">
              <a:lnSpc>
                <a:spcPct val="135000"/>
              </a:lnSpc>
              <a:spcBef>
                <a:spcPts val="1000"/>
              </a:spcBef>
              <a:buNone/>
            </a:pPr>
            <a:r>
              <a:rPr lang="en-US" altLang="zh-CN" sz="3400" noProof="1">
                <a:sym typeface="Wingdings" panose="05000000000000000000" pitchFamily="2" charset="2"/>
              </a:rPr>
              <a:t>			           ----&gt; (1 - a, b, c, 1 - d) (a == d)</a:t>
            </a:r>
          </a:p>
          <a:p>
            <a:pPr lvl="2">
              <a:lnSpc>
                <a:spcPct val="135000"/>
              </a:lnSpc>
              <a:spcBef>
                <a:spcPts val="1000"/>
              </a:spcBef>
              <a:buNone/>
            </a:pPr>
            <a:r>
              <a:rPr lang="en-US" altLang="zh-CN" sz="3400" noProof="1">
                <a:sym typeface="Wingdings" panose="05000000000000000000" pitchFamily="2" charset="2"/>
              </a:rPr>
              <a:t>			           ----&gt; (1 - a, b, c, d)</a:t>
            </a:r>
          </a:p>
          <a:p>
            <a:pPr lvl="2">
              <a:lnSpc>
                <a:spcPct val="135000"/>
              </a:lnSpc>
              <a:spcBef>
                <a:spcPts val="1000"/>
              </a:spcBef>
              <a:buNone/>
            </a:pPr>
            <a:r>
              <a:rPr lang="zh-CN" altLang="en-US" sz="3400" noProof="1">
                <a:sym typeface="Wingdings" panose="05000000000000000000" pitchFamily="2" charset="2"/>
              </a:rPr>
              <a:t>约束条件：</a:t>
            </a:r>
            <a:r>
              <a:rPr lang="en-US" altLang="zh-CN" sz="3400" noProof="1">
                <a:sym typeface="Wingdings" panose="05000000000000000000" pitchFamily="2" charset="2"/>
              </a:rPr>
              <a:t>a != b</a:t>
            </a:r>
            <a:r>
              <a:rPr lang="zh-CN" altLang="en-US" sz="3400" noProof="1">
                <a:sym typeface="Wingdings" panose="05000000000000000000" pitchFamily="2" charset="2"/>
              </a:rPr>
              <a:t>时，必须要满足</a:t>
            </a:r>
            <a:r>
              <a:rPr lang="en-US" altLang="zh-CN" sz="3400" noProof="1">
                <a:sym typeface="Wingdings" panose="05000000000000000000" pitchFamily="2" charset="2"/>
              </a:rPr>
              <a:t>b != c</a:t>
            </a:r>
            <a:r>
              <a:rPr lang="zh-CN" altLang="en-US" sz="3400" noProof="1">
                <a:sym typeface="Wingdings" panose="05000000000000000000" pitchFamily="2" charset="2"/>
              </a:rPr>
              <a:t>；</a:t>
            </a:r>
            <a:r>
              <a:rPr lang="en-US" altLang="zh-CN" sz="3400" noProof="1">
                <a:sym typeface="Wingdings" panose="05000000000000000000" pitchFamily="2" charset="2"/>
              </a:rPr>
              <a:t>a != c </a:t>
            </a:r>
            <a:r>
              <a:rPr lang="zh-CN" altLang="en-US" sz="3400" noProof="1">
                <a:sym typeface="Wingdings" panose="05000000000000000000" pitchFamily="2" charset="2"/>
              </a:rPr>
              <a:t>时，必须要满足</a:t>
            </a:r>
            <a:r>
              <a:rPr lang="en-US" altLang="zh-CN" sz="3400" noProof="1">
                <a:sym typeface="Wingdings" panose="05000000000000000000" pitchFamily="2" charset="2"/>
              </a:rPr>
              <a:t>c != d</a:t>
            </a:r>
            <a:r>
              <a:rPr lang="zh-CN" altLang="en-US" sz="3400" noProof="1">
                <a:sym typeface="Wingdings" panose="05000000000000000000" pitchFamily="2" charset="2"/>
              </a:rPr>
              <a:t>。</a:t>
            </a:r>
          </a:p>
          <a:p>
            <a:pPr>
              <a:buFont typeface="Arial" panose="020B0604020202020204" pitchFamily="34" charset="0"/>
              <a:buNone/>
            </a:pPr>
            <a:endParaRPr lang="zh-CN" altLang="en-US" sz="2000" noProof="1">
              <a:sym typeface="Wingdings" panose="05000000000000000000" pitchFamily="2" charset="2"/>
            </a:endParaRPr>
          </a:p>
          <a:p>
            <a:pPr>
              <a:buFont typeface="Arial" panose="020B0604020202020204" pitchFamily="34" charset="0"/>
              <a:buNone/>
            </a:pPr>
            <a:endParaRPr lang="zh-CN" altLang="en-US" sz="2000" noProof="1">
              <a:sym typeface="Wingdings" panose="05000000000000000000" pitchFamily="2" charset="2"/>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状态的表示</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4"/>
          <p:cNvPicPr>
            <a:picLocks noGrp="1" noChangeAspect="1" noChangeArrowheads="1"/>
          </p:cNvPicPr>
          <p:nvPr>
            <p:ph idx="4294967295"/>
          </p:nvPr>
        </p:nvPicPr>
        <p:blipFill>
          <a:blip r:embed="rId2">
            <a:extLst>
              <a:ext uri="{28A0092B-C50C-407E-A947-70E740481C1C}">
                <a14:useLocalDpi xmlns:a14="http://schemas.microsoft.com/office/drawing/2010/main" val="0"/>
              </a:ext>
            </a:extLst>
          </a:blip>
          <a:srcRect/>
          <a:stretch>
            <a:fillRect/>
          </a:stretch>
        </p:blipFill>
        <p:spPr bwMode="auto">
          <a:xfrm>
            <a:off x="2544593" y="1046842"/>
            <a:ext cx="7264893" cy="5384226"/>
          </a:xfrm>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状态的表示</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文本占位符 16386"/>
          <p:cNvSpPr>
            <a:spLocks noGrp="1" noRot="1"/>
          </p:cNvSpPr>
          <p:nvPr>
            <p:ph type="body" idx="4294967295"/>
          </p:nvPr>
        </p:nvSpPr>
        <p:spPr>
          <a:xfrm>
            <a:off x="265491" y="859916"/>
            <a:ext cx="11506299" cy="5358088"/>
          </a:xfrm>
        </p:spPr>
        <p:txBody>
          <a:bodyPr>
            <a:normAutofit lnSpcReduction="10000"/>
          </a:bodyPr>
          <a:lstStyle/>
          <a:p>
            <a:pPr marL="800100" lvl="1" indent="-342900" algn="just">
              <a:lnSpc>
                <a:spcPct val="210000"/>
              </a:lnSpc>
              <a:buFont typeface="Wingdings" panose="05000000000000000000" pitchFamily="2" charset="2"/>
              <a:buChar char="l"/>
            </a:pPr>
            <a:r>
              <a:rPr lang="zh-CN" altLang="en-US" sz="2600" b="1" kern="100" noProof="1">
                <a:solidFill>
                  <a:srgbClr val="014B88"/>
                </a:solidFill>
                <a:latin typeface="仿宋_GB2312"/>
                <a:cs typeface="Times New Roman" panose="02020603050405020304" pitchFamily="18" charset="0"/>
              </a:rPr>
              <a:t>盲目搜索：</a:t>
            </a:r>
          </a:p>
          <a:p>
            <a:pPr>
              <a:spcBef>
                <a:spcPts val="1300"/>
              </a:spcBef>
              <a:buFont typeface="Arial" panose="020B0604020202020204" pitchFamily="34" charset="0"/>
              <a:buNone/>
            </a:pPr>
            <a:r>
              <a:rPr lang="zh-CN" altLang="en-US" noProof="1"/>
              <a:t>		</a:t>
            </a:r>
            <a:r>
              <a:rPr lang="en-US" altLang="zh-CN" noProof="1"/>
              <a:t>	</a:t>
            </a:r>
            <a:r>
              <a:rPr lang="zh-CN" altLang="en-US" sz="2600" b="1" kern="100" noProof="1">
                <a:solidFill>
                  <a:srgbClr val="014B88"/>
                </a:solidFill>
                <a:latin typeface="仿宋_GB2312"/>
                <a:cs typeface="Times New Roman" panose="02020603050405020304" pitchFamily="18" charset="0"/>
              </a:rPr>
              <a:t>纯随机搜索</a:t>
            </a:r>
            <a:r>
              <a:rPr lang="en-US" altLang="zh-CN" sz="2600" b="1" kern="100" noProof="1">
                <a:solidFill>
                  <a:srgbClr val="014B88"/>
                </a:solidFill>
                <a:latin typeface="仿宋_GB2312"/>
                <a:cs typeface="Times New Roman" panose="02020603050405020304" pitchFamily="18" charset="0"/>
              </a:rPr>
              <a:t>(Random Generation And Random Walk)</a:t>
            </a:r>
          </a:p>
          <a:p>
            <a:pPr>
              <a:spcBef>
                <a:spcPts val="1300"/>
              </a:spcBef>
              <a:buFont typeface="Arial" panose="020B0604020202020204" pitchFamily="34" charset="0"/>
              <a:buNone/>
            </a:pPr>
            <a:r>
              <a:rPr lang="en-US" altLang="zh-CN" sz="2600" b="1" kern="100" noProof="1">
                <a:solidFill>
                  <a:srgbClr val="014B88"/>
                </a:solidFill>
                <a:latin typeface="仿宋_GB2312"/>
                <a:cs typeface="Times New Roman" panose="02020603050405020304" pitchFamily="18" charset="0"/>
              </a:rPr>
              <a:t>			</a:t>
            </a:r>
            <a:r>
              <a:rPr lang="zh-CN" altLang="en-US" sz="2600" b="1" kern="100" noProof="1">
                <a:solidFill>
                  <a:srgbClr val="FF0000"/>
                </a:solidFill>
                <a:latin typeface="仿宋_GB2312"/>
                <a:cs typeface="Times New Roman" panose="02020603050405020304" pitchFamily="18" charset="0"/>
              </a:rPr>
              <a:t>深度优先搜索</a:t>
            </a:r>
            <a:r>
              <a:rPr lang="en-US" altLang="zh-CN" sz="2600" b="1" kern="100" noProof="1">
                <a:solidFill>
                  <a:srgbClr val="FF0000"/>
                </a:solidFill>
                <a:latin typeface="仿宋_GB2312"/>
                <a:cs typeface="Times New Roman" panose="02020603050405020304" pitchFamily="18" charset="0"/>
              </a:rPr>
              <a:t>(Depth First Search)</a:t>
            </a:r>
          </a:p>
          <a:p>
            <a:pPr>
              <a:spcBef>
                <a:spcPts val="1300"/>
              </a:spcBef>
              <a:buFont typeface="Arial" panose="020B0604020202020204" pitchFamily="34" charset="0"/>
              <a:buNone/>
            </a:pPr>
            <a:r>
              <a:rPr lang="en-US" altLang="zh-CN" sz="2600" b="1" kern="100" noProof="1">
                <a:solidFill>
                  <a:srgbClr val="014B88"/>
                </a:solidFill>
                <a:latin typeface="仿宋_GB2312"/>
                <a:cs typeface="Times New Roman" panose="02020603050405020304" pitchFamily="18" charset="0"/>
              </a:rPr>
              <a:t>			</a:t>
            </a:r>
            <a:r>
              <a:rPr lang="zh-CN" altLang="en-US" sz="2600" b="1" kern="100" noProof="1">
                <a:solidFill>
                  <a:srgbClr val="FF0000"/>
                </a:solidFill>
                <a:latin typeface="仿宋_GB2312"/>
                <a:cs typeface="Times New Roman" panose="02020603050405020304" pitchFamily="18" charset="0"/>
              </a:rPr>
              <a:t>广度优先搜索</a:t>
            </a:r>
            <a:r>
              <a:rPr lang="en-US" altLang="zh-CN" sz="2600" b="1" kern="100" noProof="1">
                <a:solidFill>
                  <a:srgbClr val="FF0000"/>
                </a:solidFill>
                <a:latin typeface="仿宋_GB2312"/>
                <a:cs typeface="Times New Roman" panose="02020603050405020304" pitchFamily="18" charset="0"/>
              </a:rPr>
              <a:t>(Breadth First Search)</a:t>
            </a:r>
          </a:p>
          <a:p>
            <a:pPr>
              <a:lnSpc>
                <a:spcPct val="120000"/>
              </a:lnSpc>
              <a:spcBef>
                <a:spcPts val="1300"/>
              </a:spcBef>
              <a:buFont typeface="Arial" panose="020B0604020202020204" pitchFamily="34" charset="0"/>
              <a:buNone/>
            </a:pPr>
            <a:r>
              <a:rPr lang="en-US" altLang="zh-CN" sz="2600" b="1" kern="100" noProof="1">
                <a:solidFill>
                  <a:srgbClr val="014B88"/>
                </a:solidFill>
                <a:latin typeface="仿宋_GB2312"/>
                <a:cs typeface="Times New Roman" panose="02020603050405020304" pitchFamily="18" charset="0"/>
              </a:rPr>
              <a:t>			</a:t>
            </a:r>
            <a:r>
              <a:rPr lang="zh-CN" altLang="en-US" sz="2600" b="1" kern="100" noProof="1">
                <a:solidFill>
                  <a:srgbClr val="014B88"/>
                </a:solidFill>
                <a:latin typeface="仿宋_GB2312"/>
                <a:cs typeface="Times New Roman" panose="02020603050405020304" pitchFamily="18" charset="0"/>
              </a:rPr>
              <a:t>重复式搜索：包括迭代加深搜索</a:t>
            </a:r>
            <a:r>
              <a:rPr lang="en-US" altLang="zh-CN" sz="2600" b="1" kern="100" noProof="1">
                <a:solidFill>
                  <a:srgbClr val="014B88"/>
                </a:solidFill>
                <a:latin typeface="仿宋_GB2312"/>
                <a:cs typeface="Times New Roman" panose="02020603050405020304" pitchFamily="18" charset="0"/>
              </a:rPr>
              <a:t>(Iterative Deepening)</a:t>
            </a:r>
            <a:r>
              <a:rPr lang="zh-CN" altLang="en-US" sz="2600" b="1" kern="100" noProof="1">
                <a:solidFill>
                  <a:srgbClr val="014B88"/>
                </a:solidFill>
                <a:latin typeface="仿宋_GB2312"/>
                <a:cs typeface="Times New Roman" panose="02020603050405020304" pitchFamily="18" charset="0"/>
              </a:rPr>
              <a:t>，迭代加宽</a:t>
            </a:r>
            <a:r>
              <a:rPr lang="en-US" altLang="zh-CN" sz="2600" b="1" kern="100" noProof="1">
                <a:solidFill>
                  <a:srgbClr val="014B88"/>
                </a:solidFill>
                <a:latin typeface="仿宋_GB2312"/>
                <a:cs typeface="Times New Roman" panose="02020603050405020304" pitchFamily="18" charset="0"/>
              </a:rPr>
              <a:t>				</a:t>
            </a:r>
            <a:r>
              <a:rPr lang="zh-CN" altLang="en-US" sz="2600" b="1" kern="100" noProof="1">
                <a:solidFill>
                  <a:srgbClr val="014B88"/>
                </a:solidFill>
                <a:latin typeface="仿宋_GB2312"/>
                <a:cs typeface="Times New Roman" panose="02020603050405020304" pitchFamily="18" charset="0"/>
              </a:rPr>
              <a:t>搜索</a:t>
            </a:r>
            <a:r>
              <a:rPr lang="en-US" altLang="zh-CN" sz="2600" b="1" kern="100" noProof="1">
                <a:solidFill>
                  <a:srgbClr val="014B88"/>
                </a:solidFill>
                <a:latin typeface="仿宋_GB2312"/>
                <a:cs typeface="Times New Roman" panose="02020603050405020304" pitchFamily="18" charset="0"/>
              </a:rPr>
              <a:t>(Iterative Broadening), </a:t>
            </a:r>
            <a:r>
              <a:rPr lang="zh-CN" altLang="en-US" sz="2600" b="1" kern="100" noProof="1">
                <a:solidFill>
                  <a:srgbClr val="014B88"/>
                </a:solidFill>
                <a:latin typeface="仿宋_GB2312"/>
                <a:cs typeface="Times New Roman" panose="02020603050405020304" pitchFamily="18" charset="0"/>
              </a:rPr>
              <a:t>柱型搜索</a:t>
            </a:r>
            <a:r>
              <a:rPr lang="en-US" altLang="zh-CN" sz="2600" b="1" kern="100" noProof="1">
                <a:solidFill>
                  <a:srgbClr val="014B88"/>
                </a:solidFill>
                <a:latin typeface="仿宋_GB2312"/>
                <a:cs typeface="Times New Roman" panose="02020603050405020304" pitchFamily="18" charset="0"/>
              </a:rPr>
              <a:t>(Beam Search)</a:t>
            </a:r>
            <a:r>
              <a:rPr lang="zh-CN" altLang="en-US" sz="2600" b="1" kern="100" noProof="1">
                <a:solidFill>
                  <a:srgbClr val="014B88"/>
                </a:solidFill>
                <a:latin typeface="仿宋_GB2312"/>
                <a:cs typeface="Times New Roman" panose="02020603050405020304" pitchFamily="18" charset="0"/>
              </a:rPr>
              <a:t>，       </a:t>
            </a:r>
            <a:r>
              <a:rPr lang="en-US" altLang="zh-CN" sz="2600" b="1" kern="100" noProof="1">
                <a:solidFill>
                  <a:srgbClr val="014B88"/>
                </a:solidFill>
                <a:latin typeface="仿宋_GB2312"/>
                <a:cs typeface="Times New Roman" panose="02020603050405020304" pitchFamily="18" charset="0"/>
              </a:rPr>
              <a:t>				</a:t>
            </a:r>
            <a:r>
              <a:rPr lang="zh-CN" altLang="en-US" sz="2600" b="1" kern="100" noProof="1">
                <a:solidFill>
                  <a:srgbClr val="014B88"/>
                </a:solidFill>
                <a:latin typeface="仿宋_GB2312"/>
                <a:cs typeface="Times New Roman" panose="02020603050405020304" pitchFamily="18" charset="0"/>
              </a:rPr>
              <a:t>模拟退火等</a:t>
            </a:r>
            <a:endParaRPr lang="en-US" altLang="zh-CN" sz="2600" b="1" kern="100" noProof="1">
              <a:solidFill>
                <a:srgbClr val="014B88"/>
              </a:solidFill>
              <a:latin typeface="仿宋_GB2312"/>
              <a:cs typeface="Times New Roman" panose="02020603050405020304" pitchFamily="18" charset="0"/>
            </a:endParaRPr>
          </a:p>
          <a:p>
            <a:pPr marL="800100" lvl="1" indent="-342900" algn="just">
              <a:lnSpc>
                <a:spcPct val="210000"/>
              </a:lnSpc>
              <a:buFont typeface="Wingdings" panose="05000000000000000000" pitchFamily="2" charset="2"/>
              <a:buChar char="l"/>
            </a:pPr>
            <a:r>
              <a:rPr lang="zh-CN" altLang="en-US" sz="2600" b="1" kern="100" noProof="1">
                <a:solidFill>
                  <a:srgbClr val="014B88"/>
                </a:solidFill>
                <a:latin typeface="仿宋_GB2312"/>
                <a:cs typeface="Times New Roman" panose="02020603050405020304" pitchFamily="18" charset="0"/>
              </a:rPr>
              <a:t>启发式搜索：</a:t>
            </a:r>
          </a:p>
          <a:p>
            <a:pPr>
              <a:spcBef>
                <a:spcPts val="1300"/>
              </a:spcBef>
              <a:buFont typeface="Arial" panose="020B0604020202020204" pitchFamily="34" charset="0"/>
              <a:buNone/>
            </a:pPr>
            <a:r>
              <a:rPr lang="zh-CN" altLang="en-US" noProof="1"/>
              <a:t>		</a:t>
            </a:r>
            <a:r>
              <a:rPr lang="en-US" altLang="zh-CN" noProof="1"/>
              <a:t>	</a:t>
            </a:r>
            <a:r>
              <a:rPr lang="en-US" altLang="zh-CN" sz="2600" b="1" kern="100" noProof="1">
                <a:solidFill>
                  <a:srgbClr val="FF0000"/>
                </a:solidFill>
                <a:latin typeface="仿宋_GB2312"/>
                <a:cs typeface="Times New Roman" panose="02020603050405020304" pitchFamily="18" charset="0"/>
              </a:rPr>
              <a:t>A*</a:t>
            </a:r>
            <a:r>
              <a:rPr lang="zh-CN" altLang="en-US" sz="2600" b="1" kern="100" noProof="1">
                <a:solidFill>
                  <a:srgbClr val="FF0000"/>
                </a:solidFill>
                <a:latin typeface="仿宋_GB2312"/>
                <a:cs typeface="Times New Roman" panose="02020603050405020304" pitchFamily="18" charset="0"/>
              </a:rPr>
              <a:t>算法</a:t>
            </a:r>
            <a:r>
              <a:rPr lang="en-US" altLang="zh-CN" sz="2600" b="1" kern="100" noProof="1">
                <a:solidFill>
                  <a:srgbClr val="014B88"/>
                </a:solidFill>
                <a:latin typeface="仿宋_GB2312"/>
                <a:cs typeface="Times New Roman" panose="02020603050405020304" pitchFamily="18" charset="0"/>
              </a:rPr>
              <a:t>, IDA*</a:t>
            </a:r>
            <a:r>
              <a:rPr lang="zh-CN" altLang="en-US" sz="2600" b="1" kern="100" noProof="1">
                <a:solidFill>
                  <a:srgbClr val="014B88"/>
                </a:solidFill>
                <a:latin typeface="仿宋_GB2312"/>
                <a:cs typeface="Times New Roman" panose="02020603050405020304" pitchFamily="18" charset="0"/>
              </a:rPr>
              <a:t>算法</a:t>
            </a:r>
            <a:r>
              <a:rPr lang="en-US" altLang="zh-CN" sz="2600" b="1" kern="100" noProof="1">
                <a:solidFill>
                  <a:srgbClr val="014B88"/>
                </a:solidFill>
                <a:latin typeface="仿宋_GB2312"/>
                <a:cs typeface="Times New Roman" panose="02020603050405020304" pitchFamily="18" charset="0"/>
              </a:rPr>
              <a:t>(Iterative Deepening A*) </a:t>
            </a:r>
            <a:r>
              <a:rPr lang="en-US" altLang="zh-CN" sz="2800" noProof="1"/>
              <a:t>		    </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经典搜索方法</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内容占位符 3" descr="300px-Breadth-first-tree_svg.png"/>
          <p:cNvPicPr>
            <a:picLocks noGrp="1" noChangeAspect="1" noChangeArrowheads="1"/>
          </p:cNvPicPr>
          <p:nvPr>
            <p:ph idx="4294967295"/>
          </p:nvPr>
        </p:nvPicPr>
        <p:blipFill>
          <a:blip r:embed="rId2">
            <a:extLst>
              <a:ext uri="{28A0092B-C50C-407E-A947-70E740481C1C}">
                <a14:useLocalDpi xmlns:a14="http://schemas.microsoft.com/office/drawing/2010/main" val="0"/>
              </a:ext>
            </a:extLst>
          </a:blip>
          <a:srcRect/>
          <a:stretch>
            <a:fillRect/>
          </a:stretch>
        </p:blipFill>
        <p:spPr bwMode="auto">
          <a:xfrm>
            <a:off x="7211628" y="1278383"/>
            <a:ext cx="4980372" cy="3676003"/>
          </a:xfrm>
        </p:spPr>
      </p:pic>
      <p:sp>
        <p:nvSpPr>
          <p:cNvPr id="43012" name="TextBox 4"/>
          <p:cNvSpPr txBox="1">
            <a:spLocks noChangeArrowheads="1"/>
          </p:cNvSpPr>
          <p:nvPr/>
        </p:nvSpPr>
        <p:spPr bwMode="auto">
          <a:xfrm>
            <a:off x="417250" y="1628775"/>
            <a:ext cx="6809173" cy="4232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150000"/>
              </a:lnSpc>
            </a:pPr>
            <a:r>
              <a:rPr lang="zh-CN" altLang="en-US" sz="2600" b="1" kern="100" dirty="0">
                <a:solidFill>
                  <a:srgbClr val="014B88"/>
                </a:solidFill>
                <a:latin typeface="仿宋_GB2312"/>
                <a:ea typeface="+mn-ea"/>
                <a:cs typeface="Times New Roman" panose="02020603050405020304" pitchFamily="18" charset="0"/>
              </a:rPr>
              <a:t>算法描述：</a:t>
            </a:r>
          </a:p>
          <a:p>
            <a:pPr>
              <a:lnSpc>
                <a:spcPct val="150000"/>
              </a:lnSpc>
            </a:pPr>
            <a:r>
              <a:rPr lang="zh-CN" altLang="en-US" sz="2600" b="1" kern="100" dirty="0">
                <a:solidFill>
                  <a:srgbClr val="014B88"/>
                </a:solidFill>
                <a:latin typeface="仿宋_GB2312"/>
                <a:ea typeface="+mn-ea"/>
                <a:cs typeface="Times New Roman" panose="02020603050405020304" pitchFamily="18" charset="0"/>
              </a:rPr>
              <a:t>        按照广度优先的顺序遍历状态空间，优先搜索当前结点的所有子结点，一般采用队列实现。</a:t>
            </a:r>
            <a:endParaRPr lang="en-US" altLang="zh-CN" sz="2600" b="1" kern="100" dirty="0">
              <a:solidFill>
                <a:srgbClr val="014B88"/>
              </a:solidFill>
              <a:latin typeface="仿宋_GB2312"/>
              <a:ea typeface="+mn-ea"/>
              <a:cs typeface="Times New Roman" panose="02020603050405020304" pitchFamily="18" charset="0"/>
            </a:endParaRPr>
          </a:p>
          <a:p>
            <a:pPr>
              <a:lnSpc>
                <a:spcPct val="150000"/>
              </a:lnSpc>
            </a:pPr>
            <a:r>
              <a:rPr lang="zh-CN" altLang="en-US" sz="2600" b="1" kern="100" dirty="0">
                <a:solidFill>
                  <a:srgbClr val="014B88"/>
                </a:solidFill>
                <a:latin typeface="仿宋_GB2312"/>
                <a:ea typeface="+mn-ea"/>
                <a:cs typeface="Times New Roman" panose="02020603050405020304" pitchFamily="18" charset="0"/>
              </a:rPr>
              <a:t>        就像你的眼镜掉在地上以后，你趴在地板上找。你总是先摸最接近你的地方，如果没有，再摸远一点的地方</a:t>
            </a:r>
            <a:r>
              <a:rPr lang="en-US" altLang="zh-CN" sz="2600" b="1" kern="100" dirty="0">
                <a:solidFill>
                  <a:srgbClr val="014B88"/>
                </a:solidFill>
                <a:latin typeface="仿宋_GB2312"/>
                <a:ea typeface="+mn-ea"/>
                <a:cs typeface="Times New Roman" panose="02020603050405020304" pitchFamily="18" charset="0"/>
              </a:rPr>
              <a:t>……</a:t>
            </a:r>
            <a:endParaRPr lang="zh-CN" altLang="en-US" sz="2600" b="1" kern="100" dirty="0">
              <a:solidFill>
                <a:srgbClr val="014B88"/>
              </a:solidFill>
              <a:latin typeface="仿宋_GB2312"/>
              <a:ea typeface="+mn-ea"/>
              <a:cs typeface="Times New Roman" panose="02020603050405020304" pitchFamily="18" charset="0"/>
            </a:endParaRPr>
          </a:p>
        </p:txBody>
      </p:sp>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广度优先搜索（</a:t>
            </a: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3012">
                                            <p:txEl>
                                              <p:pRg st="0" end="0"/>
                                            </p:txEl>
                                          </p:spTgt>
                                        </p:tgtEl>
                                        <p:attrNameLst>
                                          <p:attrName>style.visibility</p:attrName>
                                        </p:attrNameLst>
                                      </p:cBhvr>
                                      <p:to>
                                        <p:strVal val="visible"/>
                                      </p:to>
                                    </p:set>
                                    <p:animEffect transition="in" filter="wipe(down)">
                                      <p:cBhvr>
                                        <p:cTn id="7" dur="500"/>
                                        <p:tgtEl>
                                          <p:spTgt spid="430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3012">
                                            <p:txEl>
                                              <p:pRg st="1" end="1"/>
                                            </p:txEl>
                                          </p:spTgt>
                                        </p:tgtEl>
                                        <p:attrNameLst>
                                          <p:attrName>style.visibility</p:attrName>
                                        </p:attrNameLst>
                                      </p:cBhvr>
                                      <p:to>
                                        <p:strVal val="visible"/>
                                      </p:to>
                                    </p:set>
                                    <p:animEffect transition="in" filter="wipe(down)">
                                      <p:cBhvr>
                                        <p:cTn id="12" dur="500"/>
                                        <p:tgtEl>
                                          <p:spTgt spid="4301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43012">
                                            <p:txEl>
                                              <p:pRg st="2" end="2"/>
                                            </p:txEl>
                                          </p:spTgt>
                                        </p:tgtEl>
                                        <p:attrNameLst>
                                          <p:attrName>style.visibility</p:attrName>
                                        </p:attrNameLst>
                                      </p:cBhvr>
                                      <p:to>
                                        <p:strVal val="visible"/>
                                      </p:to>
                                    </p:set>
                                    <p:animEffect transition="in" filter="wipe(down)">
                                      <p:cBhvr>
                                        <p:cTn id="17" dur="500"/>
                                        <p:tgtEl>
                                          <p:spTgt spid="4301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2"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5" name="内容占位符 2"/>
          <p:cNvSpPr>
            <a:spLocks noGrp="1"/>
          </p:cNvSpPr>
          <p:nvPr>
            <p:ph idx="4294967295"/>
          </p:nvPr>
        </p:nvSpPr>
        <p:spPr>
          <a:xfrm>
            <a:off x="658426" y="1102524"/>
            <a:ext cx="10875147" cy="5514975"/>
          </a:xfrm>
        </p:spPr>
        <p:txBody>
          <a:bodyPr vert="horz" wrap="square" anchor="t">
            <a:normAutofit fontScale="77500" lnSpcReduction="20000"/>
          </a:bodyPr>
          <a:lstStyle/>
          <a:p>
            <a:pPr marL="548005" indent="-411480">
              <a:lnSpc>
                <a:spcPct val="145000"/>
              </a:lnSpc>
              <a:spcBef>
                <a:spcPts val="0"/>
              </a:spcBef>
              <a:buNone/>
            </a:pPr>
            <a:r>
              <a:rPr lang="en-US" altLang="zh-CN" sz="2900" b="1" noProof="1">
                <a:solidFill>
                  <a:srgbClr val="014B88"/>
                </a:solidFill>
                <a:latin typeface="Consolas" panose="020B0609020204030204" pitchFamily="49" charset="0"/>
              </a:rPr>
              <a:t>v</a:t>
            </a:r>
            <a:r>
              <a:rPr lang="en-US" altLang="x-none" sz="2900" b="1" noProof="1">
                <a:solidFill>
                  <a:srgbClr val="014B88"/>
                </a:solidFill>
                <a:latin typeface="Consolas" panose="020B0609020204030204" pitchFamily="49" charset="0"/>
              </a:rPr>
              <a:t>oid BFS(){//</a:t>
            </a:r>
            <a:r>
              <a:rPr lang="zh-CN" altLang="en-US" sz="2900" b="1" noProof="1">
                <a:solidFill>
                  <a:srgbClr val="014B88"/>
                </a:solidFill>
                <a:latin typeface="Consolas" panose="020B0609020204030204" pitchFamily="49" charset="0"/>
              </a:rPr>
              <a:t>按照广度优先遍历图</a:t>
            </a:r>
            <a:r>
              <a:rPr lang="en-US" altLang="zh-CN" sz="2900" b="1" noProof="1">
                <a:solidFill>
                  <a:srgbClr val="014B88"/>
                </a:solidFill>
                <a:latin typeface="Consolas" panose="020B0609020204030204" pitchFamily="49" charset="0"/>
              </a:rPr>
              <a:t>G</a:t>
            </a:r>
            <a:r>
              <a:rPr lang="zh-CN" altLang="en-US" sz="2900" b="1" noProof="1">
                <a:solidFill>
                  <a:srgbClr val="014B88"/>
                </a:solidFill>
                <a:latin typeface="Consolas" panose="020B0609020204030204" pitchFamily="49" charset="0"/>
              </a:rPr>
              <a:t>。使用队列</a:t>
            </a:r>
            <a:r>
              <a:rPr lang="en-US" altLang="zh-CN" sz="2900" b="1" noProof="1">
                <a:solidFill>
                  <a:srgbClr val="014B88"/>
                </a:solidFill>
                <a:latin typeface="Consolas" panose="020B0609020204030204" pitchFamily="49" charset="0"/>
              </a:rPr>
              <a:t>Q</a:t>
            </a:r>
            <a:r>
              <a:rPr lang="zh-CN" altLang="en-US" sz="2900" b="1" noProof="1">
                <a:solidFill>
                  <a:srgbClr val="014B88"/>
                </a:solidFill>
                <a:latin typeface="Consolas" panose="020B0609020204030204" pitchFamily="49" charset="0"/>
              </a:rPr>
              <a:t>和访问数组</a:t>
            </a:r>
            <a:r>
              <a:rPr lang="en-US" altLang="zh-CN" sz="2900" b="1" noProof="1">
                <a:solidFill>
                  <a:srgbClr val="014B88"/>
                </a:solidFill>
                <a:latin typeface="Consolas" panose="020B0609020204030204" pitchFamily="49" charset="0"/>
              </a:rPr>
              <a:t>visit</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for(v=0;v&lt;maxn;v++)visit[v] = false;</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Q.clear();</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Q.push(start);//</a:t>
            </a:r>
            <a:r>
              <a:rPr lang="zh-CN" altLang="en-US" sz="2900" b="1" noProof="1">
                <a:solidFill>
                  <a:srgbClr val="014B88"/>
                </a:solidFill>
                <a:latin typeface="Consolas" panose="020B0609020204030204" pitchFamily="49" charset="0"/>
              </a:rPr>
              <a:t>放入队头</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while(!Q.empty()){</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u = Q.front();Q.pop();//</a:t>
            </a:r>
            <a:r>
              <a:rPr lang="zh-CN" altLang="en-US" sz="2900" b="1" noProof="1">
                <a:solidFill>
                  <a:srgbClr val="014B88"/>
                </a:solidFill>
                <a:latin typeface="Consolas" panose="020B0609020204030204" pitchFamily="49" charset="0"/>
              </a:rPr>
              <a:t>队头元素出队并置为</a:t>
            </a:r>
            <a:r>
              <a:rPr lang="en-US" altLang="zh-CN" sz="2900" b="1" noProof="1">
                <a:solidFill>
                  <a:srgbClr val="014B88"/>
                </a:solidFill>
                <a:latin typeface="Consolas" panose="020B0609020204030204" pitchFamily="49" charset="0"/>
              </a:rPr>
              <a:t>u</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visit[u] = true;</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a:t>
            </a:r>
            <a:r>
              <a:rPr lang="zh-CN" altLang="en-US" sz="2900" b="1" noProof="1">
                <a:solidFill>
                  <a:srgbClr val="014B88"/>
                </a:solidFill>
                <a:latin typeface="Consolas" panose="020B0609020204030204" pitchFamily="49" charset="0"/>
              </a:rPr>
              <a:t>具体函数实现</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if(!visit[w])Q.push(w);//</a:t>
            </a:r>
            <a:r>
              <a:rPr lang="zh-CN" altLang="en-US" sz="2900" b="1" noProof="1">
                <a:solidFill>
                  <a:srgbClr val="014B88"/>
                </a:solidFill>
                <a:latin typeface="Consolas" panose="020B0609020204030204" pitchFamily="49" charset="0"/>
              </a:rPr>
              <a:t>对于每个和</a:t>
            </a:r>
            <a:r>
              <a:rPr lang="en-US" altLang="zh-CN" sz="2900" b="1" noProof="1">
                <a:solidFill>
                  <a:srgbClr val="014B88"/>
                </a:solidFill>
                <a:latin typeface="Consolas" panose="020B0609020204030204" pitchFamily="49" charset="0"/>
              </a:rPr>
              <a:t>u</a:t>
            </a:r>
            <a:r>
              <a:rPr lang="zh-CN" altLang="en-US" sz="2900" b="1" noProof="1">
                <a:solidFill>
                  <a:srgbClr val="014B88"/>
                </a:solidFill>
                <a:latin typeface="Consolas" panose="020B0609020204030204" pitchFamily="49" charset="0"/>
              </a:rPr>
              <a:t>相邻的元素</a:t>
            </a:r>
            <a:r>
              <a:rPr lang="en-US" altLang="zh-CN" sz="2900" b="1" noProof="1">
                <a:solidFill>
                  <a:srgbClr val="014B88"/>
                </a:solidFill>
                <a:latin typeface="Consolas" panose="020B0609020204030204" pitchFamily="49" charset="0"/>
              </a:rPr>
              <a:t>w</a:t>
            </a:r>
            <a:r>
              <a:rPr lang="zh-CN" altLang="en-US" sz="2900" b="1" noProof="1">
                <a:solidFill>
                  <a:srgbClr val="014B88"/>
                </a:solidFill>
                <a:latin typeface="Consolas" panose="020B0609020204030204" pitchFamily="49" charset="0"/>
              </a:rPr>
              <a:t>的尚未访问的邻接顶点</a:t>
            </a:r>
            <a:r>
              <a:rPr lang="en-US" altLang="zh-CN" sz="2900" b="1" noProof="1">
                <a:solidFill>
                  <a:srgbClr val="014B88"/>
                </a:solidFill>
                <a:latin typeface="Consolas" panose="020B0609020204030204" pitchFamily="49" charset="0"/>
              </a:rPr>
              <a:t>w</a:t>
            </a:r>
            <a:r>
              <a:rPr lang="zh-CN" altLang="en-US" sz="2900" b="1" noProof="1">
                <a:solidFill>
                  <a:srgbClr val="014B88"/>
                </a:solidFill>
                <a:latin typeface="Consolas" panose="020B0609020204030204" pitchFamily="49" charset="0"/>
              </a:rPr>
              <a:t>入队列</a:t>
            </a:r>
            <a:r>
              <a:rPr lang="en-US" altLang="zh-CN" sz="2900" b="1" noProof="1">
                <a:solidFill>
                  <a:srgbClr val="014B88"/>
                </a:solidFill>
                <a:latin typeface="Consolas" panose="020B0609020204030204" pitchFamily="49" charset="0"/>
              </a:rPr>
              <a:t>Q</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a:t>
            </a: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广度优先搜索（</a:t>
            </a: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文本占位符 19458"/>
          <p:cNvSpPr>
            <a:spLocks noGrp="1" noRot="1"/>
          </p:cNvSpPr>
          <p:nvPr>
            <p:ph type="body" idx="4294967295"/>
          </p:nvPr>
        </p:nvSpPr>
        <p:spPr>
          <a:xfrm>
            <a:off x="718879" y="972053"/>
            <a:ext cx="10515600" cy="1947587"/>
          </a:xfrm>
        </p:spPr>
        <p:txBody>
          <a:bodyPr/>
          <a:lstStyle/>
          <a:p>
            <a:pPr>
              <a:lnSpc>
                <a:spcPct val="150000"/>
              </a:lnSpc>
              <a:buFont typeface="Arial" panose="020B0604020202020204" pitchFamily="34" charset="0"/>
              <a:buNone/>
            </a:pPr>
            <a:r>
              <a:rPr lang="zh-CN" altLang="en-US" sz="2600" b="1" kern="100" noProof="1">
                <a:solidFill>
                  <a:srgbClr val="014B88"/>
                </a:solidFill>
                <a:latin typeface="仿宋_GB2312"/>
                <a:cs typeface="Times New Roman" panose="02020603050405020304" pitchFamily="18" charset="0"/>
              </a:rPr>
              <a:t>    路人</a:t>
            </a:r>
            <a:r>
              <a:rPr lang="en-US" altLang="zh-CN" sz="2600" b="1" kern="100" noProof="1">
                <a:solidFill>
                  <a:srgbClr val="014B88"/>
                </a:solidFill>
                <a:latin typeface="仿宋_GB2312"/>
                <a:cs typeface="Times New Roman" panose="02020603050405020304" pitchFamily="18" charset="0"/>
              </a:rPr>
              <a:t>A</a:t>
            </a:r>
            <a:r>
              <a:rPr lang="zh-CN" altLang="en-US" sz="2600" b="1" kern="100" noProof="1">
                <a:solidFill>
                  <a:srgbClr val="014B88"/>
                </a:solidFill>
                <a:latin typeface="仿宋_GB2312"/>
                <a:cs typeface="Times New Roman" panose="02020603050405020304" pitchFamily="18" charset="0"/>
              </a:rPr>
              <a:t>被大魔王关在了迷宫里，现在大魔王出差离开了迷宫，路人</a:t>
            </a:r>
            <a:r>
              <a:rPr lang="en-US" altLang="zh-CN" sz="2600" b="1" kern="100" noProof="1">
                <a:solidFill>
                  <a:srgbClr val="014B88"/>
                </a:solidFill>
                <a:latin typeface="仿宋_GB2312"/>
                <a:cs typeface="Times New Roman" panose="02020603050405020304" pitchFamily="18" charset="0"/>
              </a:rPr>
              <a:t>A</a:t>
            </a:r>
            <a:r>
              <a:rPr lang="zh-CN" altLang="en-US" sz="2600" b="1" kern="100" noProof="1">
                <a:solidFill>
                  <a:srgbClr val="014B88"/>
                </a:solidFill>
                <a:latin typeface="仿宋_GB2312"/>
                <a:cs typeface="Times New Roman" panose="02020603050405020304" pitchFamily="18" charset="0"/>
              </a:rPr>
              <a:t>想趁机逃出去，请机智勇敢的你帮他找一条路逃出去。路人</a:t>
            </a:r>
            <a:r>
              <a:rPr lang="en-US" altLang="zh-CN" sz="2600" b="1" kern="100" noProof="1">
                <a:solidFill>
                  <a:srgbClr val="014B88"/>
                </a:solidFill>
                <a:latin typeface="仿宋_GB2312"/>
                <a:cs typeface="Times New Roman" panose="02020603050405020304" pitchFamily="18" charset="0"/>
              </a:rPr>
              <a:t>A</a:t>
            </a:r>
            <a:r>
              <a:rPr lang="zh-CN" altLang="en-US" sz="2600" b="1" kern="100" noProof="1">
                <a:solidFill>
                  <a:srgbClr val="014B88"/>
                </a:solidFill>
                <a:latin typeface="仿宋_GB2312"/>
                <a:cs typeface="Times New Roman" panose="02020603050405020304" pitchFamily="18" charset="0"/>
              </a:rPr>
              <a:t>的位置是</a:t>
            </a:r>
            <a:r>
              <a:rPr lang="en-US" altLang="zh-CN" sz="2600" b="1" kern="100" noProof="1">
                <a:solidFill>
                  <a:srgbClr val="014B88"/>
                </a:solidFill>
                <a:latin typeface="仿宋_GB2312"/>
                <a:cs typeface="Times New Roman" panose="02020603050405020304" pitchFamily="18" charset="0"/>
              </a:rPr>
              <a:t>(1,1)</a:t>
            </a:r>
            <a:r>
              <a:rPr lang="zh-CN" altLang="en-US" sz="2600" b="1" kern="100" noProof="1">
                <a:solidFill>
                  <a:srgbClr val="014B88"/>
                </a:solidFill>
                <a:latin typeface="仿宋_GB2312"/>
                <a:cs typeface="Times New Roman" panose="02020603050405020304" pitchFamily="18" charset="0"/>
              </a:rPr>
              <a:t>，终点位置在</a:t>
            </a:r>
            <a:r>
              <a:rPr lang="en-US" altLang="zh-CN" sz="2600" b="1" kern="100" noProof="1">
                <a:solidFill>
                  <a:srgbClr val="014B88"/>
                </a:solidFill>
                <a:latin typeface="仿宋_GB2312"/>
                <a:cs typeface="Times New Roman" panose="02020603050405020304" pitchFamily="18" charset="0"/>
              </a:rPr>
              <a:t>(8,8)</a:t>
            </a:r>
          </a:p>
        </p:txBody>
      </p:sp>
      <p:grpSp>
        <p:nvGrpSpPr>
          <p:cNvPr id="19460" name="Group 2"/>
          <p:cNvGrpSpPr/>
          <p:nvPr/>
        </p:nvGrpSpPr>
        <p:grpSpPr bwMode="auto">
          <a:xfrm>
            <a:off x="3843079" y="2906438"/>
            <a:ext cx="3657600" cy="3733800"/>
            <a:chOff x="0" y="0"/>
            <a:chExt cx="2304" cy="2352"/>
          </a:xfrm>
        </p:grpSpPr>
        <p:sp>
          <p:nvSpPr>
            <p:cNvPr id="12292" name="Rectangle 3"/>
            <p:cNvSpPr>
              <a:spLocks noChangeArrowheads="1"/>
            </p:cNvSpPr>
            <p:nvPr/>
          </p:nvSpPr>
          <p:spPr bwMode="auto">
            <a:xfrm>
              <a:off x="38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3" name="Rectangle 4"/>
            <p:cNvSpPr>
              <a:spLocks noChangeArrowheads="1"/>
            </p:cNvSpPr>
            <p:nvPr/>
          </p:nvSpPr>
          <p:spPr bwMode="auto">
            <a:xfrm>
              <a:off x="62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4" name="Rectangle 5"/>
            <p:cNvSpPr>
              <a:spLocks noChangeArrowheads="1"/>
            </p:cNvSpPr>
            <p:nvPr/>
          </p:nvSpPr>
          <p:spPr bwMode="auto">
            <a:xfrm>
              <a:off x="864" y="4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5" name="Rectangle 6"/>
            <p:cNvSpPr>
              <a:spLocks noChangeArrowheads="1"/>
            </p:cNvSpPr>
            <p:nvPr/>
          </p:nvSpPr>
          <p:spPr bwMode="auto">
            <a:xfrm>
              <a:off x="110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6" name="Rectangle 7"/>
            <p:cNvSpPr>
              <a:spLocks noChangeArrowheads="1"/>
            </p:cNvSpPr>
            <p:nvPr/>
          </p:nvSpPr>
          <p:spPr bwMode="auto">
            <a:xfrm>
              <a:off x="134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7" name="Rectangle 8"/>
            <p:cNvSpPr>
              <a:spLocks noChangeArrowheads="1"/>
            </p:cNvSpPr>
            <p:nvPr/>
          </p:nvSpPr>
          <p:spPr bwMode="auto">
            <a:xfrm>
              <a:off x="158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8" name="Rectangle 9"/>
            <p:cNvSpPr>
              <a:spLocks noChangeArrowheads="1"/>
            </p:cNvSpPr>
            <p:nvPr/>
          </p:nvSpPr>
          <p:spPr bwMode="auto">
            <a:xfrm>
              <a:off x="1824" y="4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9" name="Rectangle 10"/>
            <p:cNvSpPr>
              <a:spLocks noChangeArrowheads="1"/>
            </p:cNvSpPr>
            <p:nvPr/>
          </p:nvSpPr>
          <p:spPr bwMode="auto">
            <a:xfrm>
              <a:off x="206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0" name="Rectangle 11"/>
            <p:cNvSpPr>
              <a:spLocks noChangeArrowheads="1"/>
            </p:cNvSpPr>
            <p:nvPr/>
          </p:nvSpPr>
          <p:spPr bwMode="auto">
            <a:xfrm>
              <a:off x="38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1" name="Rectangle 12"/>
            <p:cNvSpPr>
              <a:spLocks noChangeArrowheads="1"/>
            </p:cNvSpPr>
            <p:nvPr/>
          </p:nvSpPr>
          <p:spPr bwMode="auto">
            <a:xfrm>
              <a:off x="62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2" name="Rectangle 13"/>
            <p:cNvSpPr>
              <a:spLocks noChangeArrowheads="1"/>
            </p:cNvSpPr>
            <p:nvPr/>
          </p:nvSpPr>
          <p:spPr bwMode="auto">
            <a:xfrm>
              <a:off x="864" y="6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3" name="Rectangle 14"/>
            <p:cNvSpPr>
              <a:spLocks noChangeArrowheads="1"/>
            </p:cNvSpPr>
            <p:nvPr/>
          </p:nvSpPr>
          <p:spPr bwMode="auto">
            <a:xfrm>
              <a:off x="110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4" name="Rectangle 15"/>
            <p:cNvSpPr>
              <a:spLocks noChangeArrowheads="1"/>
            </p:cNvSpPr>
            <p:nvPr/>
          </p:nvSpPr>
          <p:spPr bwMode="auto">
            <a:xfrm>
              <a:off x="134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5" name="Rectangle 16"/>
            <p:cNvSpPr>
              <a:spLocks noChangeArrowheads="1"/>
            </p:cNvSpPr>
            <p:nvPr/>
          </p:nvSpPr>
          <p:spPr bwMode="auto">
            <a:xfrm>
              <a:off x="158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6" name="Rectangle 17"/>
            <p:cNvSpPr>
              <a:spLocks noChangeArrowheads="1"/>
            </p:cNvSpPr>
            <p:nvPr/>
          </p:nvSpPr>
          <p:spPr bwMode="auto">
            <a:xfrm>
              <a:off x="1824" y="6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7" name="Rectangle 18"/>
            <p:cNvSpPr>
              <a:spLocks noChangeArrowheads="1"/>
            </p:cNvSpPr>
            <p:nvPr/>
          </p:nvSpPr>
          <p:spPr bwMode="auto">
            <a:xfrm>
              <a:off x="206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8" name="Rectangle 19"/>
            <p:cNvSpPr>
              <a:spLocks noChangeArrowheads="1"/>
            </p:cNvSpPr>
            <p:nvPr/>
          </p:nvSpPr>
          <p:spPr bwMode="auto">
            <a:xfrm>
              <a:off x="38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9" name="Rectangle 20"/>
            <p:cNvSpPr>
              <a:spLocks noChangeArrowheads="1"/>
            </p:cNvSpPr>
            <p:nvPr/>
          </p:nvSpPr>
          <p:spPr bwMode="auto">
            <a:xfrm>
              <a:off x="62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0" name="Rectangle 21"/>
            <p:cNvSpPr>
              <a:spLocks noChangeArrowheads="1"/>
            </p:cNvSpPr>
            <p:nvPr/>
          </p:nvSpPr>
          <p:spPr bwMode="auto">
            <a:xfrm>
              <a:off x="86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1" name="Rectangle 22"/>
            <p:cNvSpPr>
              <a:spLocks noChangeArrowheads="1"/>
            </p:cNvSpPr>
            <p:nvPr/>
          </p:nvSpPr>
          <p:spPr bwMode="auto">
            <a:xfrm>
              <a:off x="110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2" name="Rectangle 23"/>
            <p:cNvSpPr>
              <a:spLocks noChangeArrowheads="1"/>
            </p:cNvSpPr>
            <p:nvPr/>
          </p:nvSpPr>
          <p:spPr bwMode="auto">
            <a:xfrm>
              <a:off x="1344" y="9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3" name="Rectangle 24"/>
            <p:cNvSpPr>
              <a:spLocks noChangeArrowheads="1"/>
            </p:cNvSpPr>
            <p:nvPr/>
          </p:nvSpPr>
          <p:spPr bwMode="auto">
            <a:xfrm>
              <a:off x="1584" y="9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4" name="Rectangle 25"/>
            <p:cNvSpPr>
              <a:spLocks noChangeArrowheads="1"/>
            </p:cNvSpPr>
            <p:nvPr/>
          </p:nvSpPr>
          <p:spPr bwMode="auto">
            <a:xfrm>
              <a:off x="182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5" name="Rectangle 26"/>
            <p:cNvSpPr>
              <a:spLocks noChangeArrowheads="1"/>
            </p:cNvSpPr>
            <p:nvPr/>
          </p:nvSpPr>
          <p:spPr bwMode="auto">
            <a:xfrm>
              <a:off x="206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6" name="Rectangle 27"/>
            <p:cNvSpPr>
              <a:spLocks noChangeArrowheads="1"/>
            </p:cNvSpPr>
            <p:nvPr/>
          </p:nvSpPr>
          <p:spPr bwMode="auto">
            <a:xfrm>
              <a:off x="38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7" name="Rectangle 28"/>
            <p:cNvSpPr>
              <a:spLocks noChangeArrowheads="1"/>
            </p:cNvSpPr>
            <p:nvPr/>
          </p:nvSpPr>
          <p:spPr bwMode="auto">
            <a:xfrm>
              <a:off x="624" y="115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8" name="Rectangle 29"/>
            <p:cNvSpPr>
              <a:spLocks noChangeArrowheads="1"/>
            </p:cNvSpPr>
            <p:nvPr/>
          </p:nvSpPr>
          <p:spPr bwMode="auto">
            <a:xfrm>
              <a:off x="864" y="115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9" name="Rectangle 30"/>
            <p:cNvSpPr>
              <a:spLocks noChangeArrowheads="1"/>
            </p:cNvSpPr>
            <p:nvPr/>
          </p:nvSpPr>
          <p:spPr bwMode="auto">
            <a:xfrm>
              <a:off x="1104" y="115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0" name="Rectangle 31"/>
            <p:cNvSpPr>
              <a:spLocks noChangeArrowheads="1"/>
            </p:cNvSpPr>
            <p:nvPr/>
          </p:nvSpPr>
          <p:spPr bwMode="auto">
            <a:xfrm>
              <a:off x="134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1" name="Rectangle 32"/>
            <p:cNvSpPr>
              <a:spLocks noChangeArrowheads="1"/>
            </p:cNvSpPr>
            <p:nvPr/>
          </p:nvSpPr>
          <p:spPr bwMode="auto">
            <a:xfrm>
              <a:off x="158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2" name="Rectangle 33"/>
            <p:cNvSpPr>
              <a:spLocks noChangeArrowheads="1"/>
            </p:cNvSpPr>
            <p:nvPr/>
          </p:nvSpPr>
          <p:spPr bwMode="auto">
            <a:xfrm>
              <a:off x="182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3" name="Rectangle 34"/>
            <p:cNvSpPr>
              <a:spLocks noChangeArrowheads="1"/>
            </p:cNvSpPr>
            <p:nvPr/>
          </p:nvSpPr>
          <p:spPr bwMode="auto">
            <a:xfrm>
              <a:off x="206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4" name="Rectangle 35"/>
            <p:cNvSpPr>
              <a:spLocks noChangeArrowheads="1"/>
            </p:cNvSpPr>
            <p:nvPr/>
          </p:nvSpPr>
          <p:spPr bwMode="auto">
            <a:xfrm>
              <a:off x="38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5" name="Rectangle 36"/>
            <p:cNvSpPr>
              <a:spLocks noChangeArrowheads="1"/>
            </p:cNvSpPr>
            <p:nvPr/>
          </p:nvSpPr>
          <p:spPr bwMode="auto">
            <a:xfrm>
              <a:off x="62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6" name="Rectangle 37"/>
            <p:cNvSpPr>
              <a:spLocks noChangeArrowheads="1"/>
            </p:cNvSpPr>
            <p:nvPr/>
          </p:nvSpPr>
          <p:spPr bwMode="auto">
            <a:xfrm>
              <a:off x="86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7" name="Rectangle 38"/>
            <p:cNvSpPr>
              <a:spLocks noChangeArrowheads="1"/>
            </p:cNvSpPr>
            <p:nvPr/>
          </p:nvSpPr>
          <p:spPr bwMode="auto">
            <a:xfrm>
              <a:off x="1104" y="139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8" name="Rectangle 39"/>
            <p:cNvSpPr>
              <a:spLocks noChangeArrowheads="1"/>
            </p:cNvSpPr>
            <p:nvPr/>
          </p:nvSpPr>
          <p:spPr bwMode="auto">
            <a:xfrm>
              <a:off x="134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9" name="Rectangle 40"/>
            <p:cNvSpPr>
              <a:spLocks noChangeArrowheads="1"/>
            </p:cNvSpPr>
            <p:nvPr/>
          </p:nvSpPr>
          <p:spPr bwMode="auto">
            <a:xfrm>
              <a:off x="158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0" name="Rectangle 41"/>
            <p:cNvSpPr>
              <a:spLocks noChangeArrowheads="1"/>
            </p:cNvSpPr>
            <p:nvPr/>
          </p:nvSpPr>
          <p:spPr bwMode="auto">
            <a:xfrm>
              <a:off x="182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1" name="Rectangle 42"/>
            <p:cNvSpPr>
              <a:spLocks noChangeArrowheads="1"/>
            </p:cNvSpPr>
            <p:nvPr/>
          </p:nvSpPr>
          <p:spPr bwMode="auto">
            <a:xfrm>
              <a:off x="206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2" name="Rectangle 43"/>
            <p:cNvSpPr>
              <a:spLocks noChangeArrowheads="1"/>
            </p:cNvSpPr>
            <p:nvPr/>
          </p:nvSpPr>
          <p:spPr bwMode="auto">
            <a:xfrm>
              <a:off x="38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3" name="Rectangle 44"/>
            <p:cNvSpPr>
              <a:spLocks noChangeArrowheads="1"/>
            </p:cNvSpPr>
            <p:nvPr/>
          </p:nvSpPr>
          <p:spPr bwMode="auto">
            <a:xfrm>
              <a:off x="624" y="16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4" name="Rectangle 45"/>
            <p:cNvSpPr>
              <a:spLocks noChangeArrowheads="1"/>
            </p:cNvSpPr>
            <p:nvPr/>
          </p:nvSpPr>
          <p:spPr bwMode="auto">
            <a:xfrm>
              <a:off x="86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5" name="Rectangle 46"/>
            <p:cNvSpPr>
              <a:spLocks noChangeArrowheads="1"/>
            </p:cNvSpPr>
            <p:nvPr/>
          </p:nvSpPr>
          <p:spPr bwMode="auto">
            <a:xfrm>
              <a:off x="110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6" name="Rectangle 47"/>
            <p:cNvSpPr>
              <a:spLocks noChangeArrowheads="1"/>
            </p:cNvSpPr>
            <p:nvPr/>
          </p:nvSpPr>
          <p:spPr bwMode="auto">
            <a:xfrm>
              <a:off x="134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7" name="Rectangle 48"/>
            <p:cNvSpPr>
              <a:spLocks noChangeArrowheads="1"/>
            </p:cNvSpPr>
            <p:nvPr/>
          </p:nvSpPr>
          <p:spPr bwMode="auto">
            <a:xfrm>
              <a:off x="1584" y="16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8" name="Rectangle 49"/>
            <p:cNvSpPr>
              <a:spLocks noChangeArrowheads="1"/>
            </p:cNvSpPr>
            <p:nvPr/>
          </p:nvSpPr>
          <p:spPr bwMode="auto">
            <a:xfrm>
              <a:off x="182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9" name="Rectangle 50"/>
            <p:cNvSpPr>
              <a:spLocks noChangeArrowheads="1"/>
            </p:cNvSpPr>
            <p:nvPr/>
          </p:nvSpPr>
          <p:spPr bwMode="auto">
            <a:xfrm>
              <a:off x="206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0" name="Rectangle 51"/>
            <p:cNvSpPr>
              <a:spLocks noChangeArrowheads="1"/>
            </p:cNvSpPr>
            <p:nvPr/>
          </p:nvSpPr>
          <p:spPr bwMode="auto">
            <a:xfrm>
              <a:off x="384" y="18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1" name="Rectangle 52"/>
            <p:cNvSpPr>
              <a:spLocks noChangeArrowheads="1"/>
            </p:cNvSpPr>
            <p:nvPr/>
          </p:nvSpPr>
          <p:spPr bwMode="auto">
            <a:xfrm>
              <a:off x="62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2" name="Rectangle 53"/>
            <p:cNvSpPr>
              <a:spLocks noChangeArrowheads="1"/>
            </p:cNvSpPr>
            <p:nvPr/>
          </p:nvSpPr>
          <p:spPr bwMode="auto">
            <a:xfrm>
              <a:off x="86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3" name="Rectangle 54"/>
            <p:cNvSpPr>
              <a:spLocks noChangeArrowheads="1"/>
            </p:cNvSpPr>
            <p:nvPr/>
          </p:nvSpPr>
          <p:spPr bwMode="auto">
            <a:xfrm>
              <a:off x="110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4" name="Rectangle 55"/>
            <p:cNvSpPr>
              <a:spLocks noChangeArrowheads="1"/>
            </p:cNvSpPr>
            <p:nvPr/>
          </p:nvSpPr>
          <p:spPr bwMode="auto">
            <a:xfrm>
              <a:off x="1344" y="18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5" name="Rectangle 56"/>
            <p:cNvSpPr>
              <a:spLocks noChangeArrowheads="1"/>
            </p:cNvSpPr>
            <p:nvPr/>
          </p:nvSpPr>
          <p:spPr bwMode="auto">
            <a:xfrm>
              <a:off x="158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6" name="Rectangle 57"/>
            <p:cNvSpPr>
              <a:spLocks noChangeArrowheads="1"/>
            </p:cNvSpPr>
            <p:nvPr/>
          </p:nvSpPr>
          <p:spPr bwMode="auto">
            <a:xfrm>
              <a:off x="182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7" name="Rectangle 58"/>
            <p:cNvSpPr>
              <a:spLocks noChangeArrowheads="1"/>
            </p:cNvSpPr>
            <p:nvPr/>
          </p:nvSpPr>
          <p:spPr bwMode="auto">
            <a:xfrm>
              <a:off x="2064" y="18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8" name="Rectangle 59"/>
            <p:cNvSpPr>
              <a:spLocks noChangeArrowheads="1"/>
            </p:cNvSpPr>
            <p:nvPr/>
          </p:nvSpPr>
          <p:spPr bwMode="auto">
            <a:xfrm>
              <a:off x="384" y="21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9" name="Rectangle 60"/>
            <p:cNvSpPr>
              <a:spLocks noChangeArrowheads="1"/>
            </p:cNvSpPr>
            <p:nvPr/>
          </p:nvSpPr>
          <p:spPr bwMode="auto">
            <a:xfrm>
              <a:off x="624" y="21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0" name="Rectangle 61"/>
            <p:cNvSpPr>
              <a:spLocks noChangeArrowheads="1"/>
            </p:cNvSpPr>
            <p:nvPr/>
          </p:nvSpPr>
          <p:spPr bwMode="auto">
            <a:xfrm>
              <a:off x="86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1" name="Rectangle 62"/>
            <p:cNvSpPr>
              <a:spLocks noChangeArrowheads="1"/>
            </p:cNvSpPr>
            <p:nvPr/>
          </p:nvSpPr>
          <p:spPr bwMode="auto">
            <a:xfrm>
              <a:off x="110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2" name="Rectangle 63"/>
            <p:cNvSpPr>
              <a:spLocks noChangeArrowheads="1"/>
            </p:cNvSpPr>
            <p:nvPr/>
          </p:nvSpPr>
          <p:spPr bwMode="auto">
            <a:xfrm>
              <a:off x="134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3" name="Rectangle 64"/>
            <p:cNvSpPr>
              <a:spLocks noChangeArrowheads="1"/>
            </p:cNvSpPr>
            <p:nvPr/>
          </p:nvSpPr>
          <p:spPr bwMode="auto">
            <a:xfrm>
              <a:off x="158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4" name="Rectangle 65"/>
            <p:cNvSpPr>
              <a:spLocks noChangeArrowheads="1"/>
            </p:cNvSpPr>
            <p:nvPr/>
          </p:nvSpPr>
          <p:spPr bwMode="auto">
            <a:xfrm>
              <a:off x="182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5" name="Rectangle 66"/>
            <p:cNvSpPr>
              <a:spLocks noChangeArrowheads="1"/>
            </p:cNvSpPr>
            <p:nvPr/>
          </p:nvSpPr>
          <p:spPr bwMode="auto">
            <a:xfrm>
              <a:off x="206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grpSp>
          <p:nvGrpSpPr>
            <p:cNvPr id="12356" name="Group 67"/>
            <p:cNvGrpSpPr/>
            <p:nvPr/>
          </p:nvGrpSpPr>
          <p:grpSpPr bwMode="auto">
            <a:xfrm>
              <a:off x="384" y="0"/>
              <a:ext cx="1920" cy="240"/>
              <a:chOff x="0" y="0"/>
              <a:chExt cx="1920" cy="240"/>
            </a:xfrm>
          </p:grpSpPr>
          <p:sp>
            <p:nvSpPr>
              <p:cNvPr id="12357" name="Rectangle 68"/>
              <p:cNvSpPr>
                <a:spLocks noChangeArrowheads="1"/>
              </p:cNvSpPr>
              <p:nvPr/>
            </p:nvSpPr>
            <p:spPr bwMode="auto">
              <a:xfrm>
                <a:off x="16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dirty="0">
                    <a:solidFill>
                      <a:schemeClr val="folHlink"/>
                    </a:solidFill>
                    <a:latin typeface="Tahoma" panose="020B0604030504040204" pitchFamily="34" charset="0"/>
                    <a:sym typeface="Tahoma" panose="020B0604030504040204" pitchFamily="34" charset="0"/>
                  </a:rPr>
                  <a:t>8</a:t>
                </a:r>
                <a:endParaRPr lang="en-US" altLang="zh-CN" dirty="0"/>
              </a:p>
            </p:txBody>
          </p:sp>
          <p:sp>
            <p:nvSpPr>
              <p:cNvPr id="12358" name="Rectangle 69"/>
              <p:cNvSpPr>
                <a:spLocks noChangeArrowheads="1"/>
              </p:cNvSpPr>
              <p:nvPr/>
            </p:nvSpPr>
            <p:spPr bwMode="auto">
              <a:xfrm>
                <a:off x="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2359" name="Rectangle 70"/>
              <p:cNvSpPr>
                <a:spLocks noChangeArrowheads="1"/>
              </p:cNvSpPr>
              <p:nvPr/>
            </p:nvSpPr>
            <p:spPr bwMode="auto">
              <a:xfrm>
                <a:off x="2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2360" name="Rectangle 71"/>
              <p:cNvSpPr>
                <a:spLocks noChangeArrowheads="1"/>
              </p:cNvSpPr>
              <p:nvPr/>
            </p:nvSpPr>
            <p:spPr bwMode="auto">
              <a:xfrm>
                <a:off x="4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2361" name="Rectangle 72"/>
              <p:cNvSpPr>
                <a:spLocks noChangeArrowheads="1"/>
              </p:cNvSpPr>
              <p:nvPr/>
            </p:nvSpPr>
            <p:spPr bwMode="auto">
              <a:xfrm>
                <a:off x="72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2362" name="Rectangle 73"/>
              <p:cNvSpPr>
                <a:spLocks noChangeArrowheads="1"/>
              </p:cNvSpPr>
              <p:nvPr/>
            </p:nvSpPr>
            <p:spPr bwMode="auto">
              <a:xfrm>
                <a:off x="96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2363" name="Rectangle 74"/>
              <p:cNvSpPr>
                <a:spLocks noChangeArrowheads="1"/>
              </p:cNvSpPr>
              <p:nvPr/>
            </p:nvSpPr>
            <p:spPr bwMode="auto">
              <a:xfrm>
                <a:off x="120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2364" name="Rectangle 75"/>
              <p:cNvSpPr>
                <a:spLocks noChangeArrowheads="1"/>
              </p:cNvSpPr>
              <p:nvPr/>
            </p:nvSpPr>
            <p:spPr bwMode="auto">
              <a:xfrm>
                <a:off x="14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grpSp>
        <p:sp>
          <p:nvSpPr>
            <p:cNvPr id="12365" name="Rectangle 76"/>
            <p:cNvSpPr>
              <a:spLocks noChangeArrowheads="1"/>
            </p:cNvSpPr>
            <p:nvPr/>
          </p:nvSpPr>
          <p:spPr bwMode="auto">
            <a:xfrm>
              <a:off x="0" y="211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2366" name="Rectangle 77"/>
            <p:cNvSpPr>
              <a:spLocks noChangeArrowheads="1"/>
            </p:cNvSpPr>
            <p:nvPr/>
          </p:nvSpPr>
          <p:spPr bwMode="auto">
            <a:xfrm>
              <a:off x="0" y="43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2367" name="Rectangle 78"/>
            <p:cNvSpPr>
              <a:spLocks noChangeArrowheads="1"/>
            </p:cNvSpPr>
            <p:nvPr/>
          </p:nvSpPr>
          <p:spPr bwMode="auto">
            <a:xfrm>
              <a:off x="0" y="67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2368" name="Rectangle 79"/>
            <p:cNvSpPr>
              <a:spLocks noChangeArrowheads="1"/>
            </p:cNvSpPr>
            <p:nvPr/>
          </p:nvSpPr>
          <p:spPr bwMode="auto">
            <a:xfrm>
              <a:off x="0" y="91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2369" name="Rectangle 80"/>
            <p:cNvSpPr>
              <a:spLocks noChangeArrowheads="1"/>
            </p:cNvSpPr>
            <p:nvPr/>
          </p:nvSpPr>
          <p:spPr bwMode="auto">
            <a:xfrm>
              <a:off x="0" y="115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2370" name="Rectangle 81"/>
            <p:cNvSpPr>
              <a:spLocks noChangeArrowheads="1"/>
            </p:cNvSpPr>
            <p:nvPr/>
          </p:nvSpPr>
          <p:spPr bwMode="auto">
            <a:xfrm>
              <a:off x="0" y="139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2371" name="Rectangle 82"/>
            <p:cNvSpPr>
              <a:spLocks noChangeArrowheads="1"/>
            </p:cNvSpPr>
            <p:nvPr/>
          </p:nvSpPr>
          <p:spPr bwMode="auto">
            <a:xfrm>
              <a:off x="0" y="163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2372" name="Rectangle 83"/>
            <p:cNvSpPr>
              <a:spLocks noChangeArrowheads="1"/>
            </p:cNvSpPr>
            <p:nvPr/>
          </p:nvSpPr>
          <p:spPr bwMode="auto">
            <a:xfrm>
              <a:off x="0" y="187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grpSp>
      <p:sp>
        <p:nvSpPr>
          <p:cNvPr id="8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19460"/>
                                        </p:tgtEl>
                                        <p:attrNameLst>
                                          <p:attrName>style.visibility</p:attrName>
                                        </p:attrNameLst>
                                      </p:cBhvr>
                                      <p:to>
                                        <p:strVal val="visible"/>
                                      </p:to>
                                    </p:set>
                                    <p:anim calcmode="lin" valueType="num">
                                      <p:cBhvr>
                                        <p:cTn id="7" dur="500" fill="hold"/>
                                        <p:tgtEl>
                                          <p:spTgt spid="19460"/>
                                        </p:tgtEl>
                                        <p:attrNameLst>
                                          <p:attrName>ppt_w</p:attrName>
                                        </p:attrNameLst>
                                      </p:cBhvr>
                                      <p:tavLst>
                                        <p:tav tm="0">
                                          <p:val>
                                            <p:fltVal val="0"/>
                                          </p:val>
                                        </p:tav>
                                        <p:tav tm="100000">
                                          <p:val>
                                            <p:strVal val="#ppt_w"/>
                                          </p:val>
                                        </p:tav>
                                      </p:tavLst>
                                    </p:anim>
                                    <p:anim calcmode="lin" valueType="num">
                                      <p:cBhvr>
                                        <p:cTn id="8" dur="500" fill="hold"/>
                                        <p:tgtEl>
                                          <p:spTgt spid="1946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ext Box 2"/>
          <p:cNvSpPr>
            <a:spLocks noChangeArrowheads="1"/>
          </p:cNvSpPr>
          <p:nvPr/>
        </p:nvSpPr>
        <p:spPr bwMode="auto">
          <a:xfrm>
            <a:off x="8153400" y="2971801"/>
            <a:ext cx="533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右</a:t>
            </a:r>
            <a:endParaRPr lang="zh-CN" altLang="en-US" b="1"/>
          </a:p>
        </p:txBody>
      </p:sp>
      <p:sp>
        <p:nvSpPr>
          <p:cNvPr id="13315" name="Text Box 3"/>
          <p:cNvSpPr>
            <a:spLocks noChangeArrowheads="1"/>
          </p:cNvSpPr>
          <p:nvPr/>
        </p:nvSpPr>
        <p:spPr bwMode="auto">
          <a:xfrm>
            <a:off x="6934200" y="4114801"/>
            <a:ext cx="533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下</a:t>
            </a:r>
            <a:endParaRPr lang="zh-CN" altLang="en-US" b="1"/>
          </a:p>
        </p:txBody>
      </p:sp>
      <p:sp>
        <p:nvSpPr>
          <p:cNvPr id="13316" name="Rectangle 4"/>
          <p:cNvSpPr>
            <a:spLocks noChangeArrowheads="1"/>
          </p:cNvSpPr>
          <p:nvPr/>
        </p:nvSpPr>
        <p:spPr bwMode="auto">
          <a:xfrm>
            <a:off x="3276600" y="2590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17" name="Rectangle 5"/>
          <p:cNvSpPr>
            <a:spLocks noChangeArrowheads="1"/>
          </p:cNvSpPr>
          <p:nvPr/>
        </p:nvSpPr>
        <p:spPr bwMode="auto">
          <a:xfrm>
            <a:off x="3657600" y="2590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18" name="Rectangle 6"/>
          <p:cNvSpPr>
            <a:spLocks noChangeArrowheads="1"/>
          </p:cNvSpPr>
          <p:nvPr/>
        </p:nvSpPr>
        <p:spPr bwMode="auto">
          <a:xfrm>
            <a:off x="4038600" y="2590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19" name="Rectangle 7"/>
          <p:cNvSpPr>
            <a:spLocks noChangeArrowheads="1"/>
          </p:cNvSpPr>
          <p:nvPr/>
        </p:nvSpPr>
        <p:spPr bwMode="auto">
          <a:xfrm>
            <a:off x="32766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0" name="Rectangle 8"/>
          <p:cNvSpPr>
            <a:spLocks noChangeArrowheads="1"/>
          </p:cNvSpPr>
          <p:nvPr/>
        </p:nvSpPr>
        <p:spPr bwMode="auto">
          <a:xfrm>
            <a:off x="36576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1" name="Rectangle 9"/>
          <p:cNvSpPr>
            <a:spLocks noChangeArrowheads="1"/>
          </p:cNvSpPr>
          <p:nvPr/>
        </p:nvSpPr>
        <p:spPr bwMode="auto">
          <a:xfrm>
            <a:off x="40386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2" name="Rectangle 10"/>
          <p:cNvSpPr>
            <a:spLocks noChangeArrowheads="1"/>
          </p:cNvSpPr>
          <p:nvPr/>
        </p:nvSpPr>
        <p:spPr bwMode="auto">
          <a:xfrm>
            <a:off x="3276600" y="3352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3" name="Rectangle 11"/>
          <p:cNvSpPr>
            <a:spLocks noChangeArrowheads="1"/>
          </p:cNvSpPr>
          <p:nvPr/>
        </p:nvSpPr>
        <p:spPr bwMode="auto">
          <a:xfrm>
            <a:off x="3657600" y="3352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4" name="Rectangle 12"/>
          <p:cNvSpPr>
            <a:spLocks noChangeArrowheads="1"/>
          </p:cNvSpPr>
          <p:nvPr/>
        </p:nvSpPr>
        <p:spPr bwMode="auto">
          <a:xfrm>
            <a:off x="4038600" y="3352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13325" name="Picture 1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48075" y="29972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3326" name="Line 15"/>
          <p:cNvSpPr>
            <a:spLocks noChangeShapeType="1"/>
          </p:cNvSpPr>
          <p:nvPr/>
        </p:nvSpPr>
        <p:spPr bwMode="auto">
          <a:xfrm flipV="1">
            <a:off x="7162800" y="2286000"/>
            <a:ext cx="0" cy="685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27" name="Line 16"/>
          <p:cNvSpPr>
            <a:spLocks noChangeShapeType="1"/>
          </p:cNvSpPr>
          <p:nvPr/>
        </p:nvSpPr>
        <p:spPr bwMode="auto">
          <a:xfrm>
            <a:off x="7162800" y="3352800"/>
            <a:ext cx="0" cy="762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28" name="Line 17"/>
          <p:cNvSpPr>
            <a:spLocks noChangeShapeType="1"/>
          </p:cNvSpPr>
          <p:nvPr/>
        </p:nvSpPr>
        <p:spPr bwMode="auto">
          <a:xfrm flipH="1">
            <a:off x="6248400" y="3200400"/>
            <a:ext cx="762000"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29" name="Line 18"/>
          <p:cNvSpPr>
            <a:spLocks noChangeShapeType="1"/>
          </p:cNvSpPr>
          <p:nvPr/>
        </p:nvSpPr>
        <p:spPr bwMode="auto">
          <a:xfrm>
            <a:off x="7391400" y="3200400"/>
            <a:ext cx="762000"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30" name="Rectangle 19"/>
          <p:cNvSpPr>
            <a:spLocks noChangeArrowheads="1"/>
          </p:cNvSpPr>
          <p:nvPr/>
        </p:nvSpPr>
        <p:spPr bwMode="auto">
          <a:xfrm>
            <a:off x="70104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0" name="Freeform 20"/>
          <p:cNvSpPr>
            <a:spLocks noChangeArrowheads="1"/>
          </p:cNvSpPr>
          <p:nvPr/>
        </p:nvSpPr>
        <p:spPr bwMode="auto">
          <a:xfrm>
            <a:off x="7061200" y="2832100"/>
            <a:ext cx="1778000" cy="2044700"/>
          </a:xfrm>
          <a:custGeom>
            <a:avLst/>
            <a:gdLst/>
            <a:ahLst/>
            <a:cxnLst/>
            <a:rect l="0" t="0" r="0" b="0"/>
            <a:pathLst/>
          </a:custGeom>
          <a:noFill/>
          <a:ln w="31750">
            <a:solidFill>
              <a:schemeClr val="folHlink"/>
            </a:solidFill>
            <a:round/>
            <a:tailEnd type="triangle" w="med" len="med"/>
          </a:ln>
          <a:extLst>
            <a:ext uri="{909E8E84-426E-40DD-AFC4-6F175D3DCCD1}">
              <a14:hiddenFill xmlns:a14="http://schemas.microsoft.com/office/drawing/2010/main">
                <a:solidFill>
                  <a:srgbClr val="FFFFFF"/>
                </a:solidFill>
              </a14:hiddenFill>
            </a:ext>
          </a:extLst>
        </p:spPr>
        <p:txBody>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13332" name="Text Box 21"/>
          <p:cNvSpPr>
            <a:spLocks noChangeArrowheads="1"/>
          </p:cNvSpPr>
          <p:nvPr/>
        </p:nvSpPr>
        <p:spPr bwMode="auto">
          <a:xfrm>
            <a:off x="6934200" y="1752601"/>
            <a:ext cx="12192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上</a:t>
            </a:r>
            <a:endParaRPr lang="zh-CN" altLang="en-US" b="1"/>
          </a:p>
        </p:txBody>
      </p:sp>
      <p:sp>
        <p:nvSpPr>
          <p:cNvPr id="13333" name="Text Box 22"/>
          <p:cNvSpPr>
            <a:spLocks noChangeArrowheads="1"/>
          </p:cNvSpPr>
          <p:nvPr/>
        </p:nvSpPr>
        <p:spPr bwMode="auto">
          <a:xfrm>
            <a:off x="5303838" y="2997201"/>
            <a:ext cx="8382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左</a:t>
            </a:r>
            <a:endParaRPr lang="zh-CN" altLang="en-US" b="1"/>
          </a:p>
        </p:txBody>
      </p:sp>
      <p:sp>
        <p:nvSpPr>
          <p:cNvPr id="20503" name="Rectangle 24"/>
          <p:cNvSpPr>
            <a:spLocks noChangeArrowheads="1"/>
          </p:cNvSpPr>
          <p:nvPr/>
        </p:nvSpPr>
        <p:spPr bwMode="auto">
          <a:xfrm>
            <a:off x="3483744" y="4847279"/>
            <a:ext cx="4669656"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zh-CN" altLang="en-US" sz="2600" b="1" kern="100" dirty="0">
                <a:solidFill>
                  <a:srgbClr val="014B88"/>
                </a:solidFill>
                <a:latin typeface="仿宋_GB2312"/>
                <a:ea typeface="+mn-ea"/>
                <a:cs typeface="Times New Roman" panose="02020603050405020304" pitchFamily="18" charset="0"/>
              </a:rPr>
              <a:t>路人</a:t>
            </a:r>
            <a:r>
              <a:rPr lang="en-US" altLang="zh-CN" sz="2600" b="1" kern="100" dirty="0">
                <a:solidFill>
                  <a:srgbClr val="014B88"/>
                </a:solidFill>
                <a:latin typeface="仿宋_GB2312"/>
                <a:ea typeface="+mn-ea"/>
                <a:cs typeface="Times New Roman" panose="02020603050405020304" pitchFamily="18" charset="0"/>
              </a:rPr>
              <a:t>A</a:t>
            </a:r>
            <a:r>
              <a:rPr lang="zh-CN" altLang="en-US" sz="2600" b="1" kern="100" dirty="0">
                <a:solidFill>
                  <a:srgbClr val="014B88"/>
                </a:solidFill>
                <a:latin typeface="仿宋_GB2312"/>
                <a:ea typeface="+mn-ea"/>
                <a:cs typeface="Times New Roman" panose="02020603050405020304" pitchFamily="18" charset="0"/>
              </a:rPr>
              <a:t>可以走的方向如图所示</a:t>
            </a:r>
            <a:endParaRPr lang="en-US" altLang="zh-CN" sz="2600" b="1" kern="100" dirty="0">
              <a:solidFill>
                <a:srgbClr val="014B88"/>
              </a:solidFill>
              <a:latin typeface="仿宋_GB2312"/>
              <a:ea typeface="+mn-ea"/>
              <a:cs typeface="Times New Roman" panose="02020603050405020304" pitchFamily="18" charset="0"/>
            </a:endParaRPr>
          </a:p>
          <a:p>
            <a:pPr>
              <a:spcBef>
                <a:spcPct val="20000"/>
              </a:spcBef>
              <a:buClr>
                <a:schemeClr val="folHlink"/>
              </a:buClr>
              <a:buSzPct val="60000"/>
              <a:buFont typeface="Wingdings" panose="05000000000000000000" pitchFamily="2" charset="2"/>
              <a:buNone/>
            </a:pPr>
            <a:r>
              <a:rPr lang="zh-CN" altLang="en-US" sz="2600" b="1" kern="100" dirty="0">
                <a:solidFill>
                  <a:srgbClr val="014B88"/>
                </a:solidFill>
                <a:latin typeface="仿宋_GB2312"/>
                <a:ea typeface="+mn-ea"/>
                <a:cs typeface="Times New Roman" panose="02020603050405020304" pitchFamily="18" charset="0"/>
              </a:rPr>
              <a:t>选择走的顺序：逆时针方向</a:t>
            </a:r>
          </a:p>
        </p:txBody>
      </p:sp>
      <p:sp>
        <p:nvSpPr>
          <p:cNvPr id="2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0500"/>
                                        </p:tgtEl>
                                        <p:attrNameLst>
                                          <p:attrName>style.visibility</p:attrName>
                                        </p:attrNameLst>
                                      </p:cBhvr>
                                      <p:to>
                                        <p:strVal val="visible"/>
                                      </p:to>
                                    </p:set>
                                    <p:animEffect filter="wipe(down)">
                                      <p:cBhvr>
                                        <p:cTn id="7" dur="500"/>
                                        <p:tgtEl>
                                          <p:spTgt spid="2050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0503"/>
                                        </p:tgtEl>
                                        <p:attrNameLst>
                                          <p:attrName>style.visibility</p:attrName>
                                        </p:attrNameLst>
                                      </p:cBhvr>
                                      <p:to>
                                        <p:strVal val="visible"/>
                                      </p:to>
                                    </p:set>
                                    <p:animEffect filter="wipe(left)">
                                      <p:cBhvr>
                                        <p:cTn id="12" dur="500"/>
                                        <p:tgtEl>
                                          <p:spTgt spid="205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3" grpId="0" bldLvl="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Rectangle 107"/>
          <p:cNvSpPr>
            <a:spLocks noGrp="1"/>
          </p:cNvSpPr>
          <p:nvPr>
            <p:ph type="body" idx="4294967295"/>
          </p:nvPr>
        </p:nvSpPr>
        <p:spPr>
          <a:xfrm>
            <a:off x="2974182" y="1340353"/>
            <a:ext cx="7700962" cy="684213"/>
          </a:xfrm>
        </p:spPr>
        <p:txBody>
          <a:bodyPr vert="horz" wrap="square" anchor="ctr"/>
          <a:lstStyle/>
          <a:p>
            <a:pPr marL="273050" indent="-273050">
              <a:buNone/>
            </a:pPr>
            <a:r>
              <a:rPr lang="zh-CN" altLang="en-US" sz="2600" b="1" kern="100" noProof="1">
                <a:latin typeface="仿宋_GB2312"/>
                <a:cs typeface="Times New Roman" panose="02020603050405020304" pitchFamily="18" charset="0"/>
              </a:rPr>
              <a:t>魔王贴心的为路人</a:t>
            </a:r>
            <a:r>
              <a:rPr lang="en-US" altLang="zh-CN" sz="2600" b="1" kern="100" noProof="1">
                <a:latin typeface="仿宋_GB2312"/>
                <a:cs typeface="Times New Roman" panose="02020603050405020304" pitchFamily="18" charset="0"/>
              </a:rPr>
              <a:t>A</a:t>
            </a:r>
            <a:r>
              <a:rPr lang="zh-CN" altLang="en-US" sz="2600" b="1" kern="100" noProof="1">
                <a:latin typeface="仿宋_GB2312"/>
                <a:cs typeface="Times New Roman" panose="02020603050405020304" pitchFamily="18" charset="0"/>
              </a:rPr>
              <a:t>加了一圈墙，防止他走出去</a:t>
            </a:r>
          </a:p>
        </p:txBody>
      </p:sp>
      <p:sp>
        <p:nvSpPr>
          <p:cNvPr id="14339" name="Rectangle 2"/>
          <p:cNvSpPr>
            <a:spLocks noChangeArrowheads="1"/>
          </p:cNvSpPr>
          <p:nvPr/>
        </p:nvSpPr>
        <p:spPr bwMode="auto">
          <a:xfrm>
            <a:off x="4919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0" name="Rectangle 3"/>
          <p:cNvSpPr>
            <a:spLocks noChangeArrowheads="1"/>
          </p:cNvSpPr>
          <p:nvPr/>
        </p:nvSpPr>
        <p:spPr bwMode="auto">
          <a:xfrm>
            <a:off x="5300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1" name="Rectangle 4"/>
          <p:cNvSpPr>
            <a:spLocks noChangeArrowheads="1"/>
          </p:cNvSpPr>
          <p:nvPr/>
        </p:nvSpPr>
        <p:spPr bwMode="auto">
          <a:xfrm>
            <a:off x="5681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2" name="Rectangle 5"/>
          <p:cNvSpPr>
            <a:spLocks noChangeArrowheads="1"/>
          </p:cNvSpPr>
          <p:nvPr/>
        </p:nvSpPr>
        <p:spPr bwMode="auto">
          <a:xfrm>
            <a:off x="6062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3" name="Rectangle 6"/>
          <p:cNvSpPr>
            <a:spLocks noChangeArrowheads="1"/>
          </p:cNvSpPr>
          <p:nvPr/>
        </p:nvSpPr>
        <p:spPr bwMode="auto">
          <a:xfrm>
            <a:off x="6443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4" name="Rectangle 7"/>
          <p:cNvSpPr>
            <a:spLocks noChangeArrowheads="1"/>
          </p:cNvSpPr>
          <p:nvPr/>
        </p:nvSpPr>
        <p:spPr bwMode="auto">
          <a:xfrm>
            <a:off x="6824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5" name="Rectangle 8"/>
          <p:cNvSpPr>
            <a:spLocks noChangeArrowheads="1"/>
          </p:cNvSpPr>
          <p:nvPr/>
        </p:nvSpPr>
        <p:spPr bwMode="auto">
          <a:xfrm>
            <a:off x="7205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6" name="Rectangle 9"/>
          <p:cNvSpPr>
            <a:spLocks noChangeArrowheads="1"/>
          </p:cNvSpPr>
          <p:nvPr/>
        </p:nvSpPr>
        <p:spPr bwMode="auto">
          <a:xfrm>
            <a:off x="7586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7" name="Rectangle 10"/>
          <p:cNvSpPr>
            <a:spLocks noChangeArrowheads="1"/>
          </p:cNvSpPr>
          <p:nvPr/>
        </p:nvSpPr>
        <p:spPr bwMode="auto">
          <a:xfrm>
            <a:off x="4919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8" name="Rectangle 11"/>
          <p:cNvSpPr>
            <a:spLocks noChangeArrowheads="1"/>
          </p:cNvSpPr>
          <p:nvPr/>
        </p:nvSpPr>
        <p:spPr bwMode="auto">
          <a:xfrm>
            <a:off x="5300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9" name="Rectangle 12"/>
          <p:cNvSpPr>
            <a:spLocks noChangeArrowheads="1"/>
          </p:cNvSpPr>
          <p:nvPr/>
        </p:nvSpPr>
        <p:spPr bwMode="auto">
          <a:xfrm>
            <a:off x="5681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0" name="Rectangle 13"/>
          <p:cNvSpPr>
            <a:spLocks noChangeArrowheads="1"/>
          </p:cNvSpPr>
          <p:nvPr/>
        </p:nvSpPr>
        <p:spPr bwMode="auto">
          <a:xfrm>
            <a:off x="6062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1" name="Rectangle 14"/>
          <p:cNvSpPr>
            <a:spLocks noChangeArrowheads="1"/>
          </p:cNvSpPr>
          <p:nvPr/>
        </p:nvSpPr>
        <p:spPr bwMode="auto">
          <a:xfrm>
            <a:off x="6443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2" name="Rectangle 15"/>
          <p:cNvSpPr>
            <a:spLocks noChangeArrowheads="1"/>
          </p:cNvSpPr>
          <p:nvPr/>
        </p:nvSpPr>
        <p:spPr bwMode="auto">
          <a:xfrm>
            <a:off x="6824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3" name="Rectangle 16"/>
          <p:cNvSpPr>
            <a:spLocks noChangeArrowheads="1"/>
          </p:cNvSpPr>
          <p:nvPr/>
        </p:nvSpPr>
        <p:spPr bwMode="auto">
          <a:xfrm>
            <a:off x="7205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4" name="Rectangle 17"/>
          <p:cNvSpPr>
            <a:spLocks noChangeArrowheads="1"/>
          </p:cNvSpPr>
          <p:nvPr/>
        </p:nvSpPr>
        <p:spPr bwMode="auto">
          <a:xfrm>
            <a:off x="7586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5" name="Rectangle 18"/>
          <p:cNvSpPr>
            <a:spLocks noChangeArrowheads="1"/>
          </p:cNvSpPr>
          <p:nvPr/>
        </p:nvSpPr>
        <p:spPr bwMode="auto">
          <a:xfrm>
            <a:off x="4919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6" name="Rectangle 19"/>
          <p:cNvSpPr>
            <a:spLocks noChangeArrowheads="1"/>
          </p:cNvSpPr>
          <p:nvPr/>
        </p:nvSpPr>
        <p:spPr bwMode="auto">
          <a:xfrm>
            <a:off x="5300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7" name="Rectangle 20"/>
          <p:cNvSpPr>
            <a:spLocks noChangeArrowheads="1"/>
          </p:cNvSpPr>
          <p:nvPr/>
        </p:nvSpPr>
        <p:spPr bwMode="auto">
          <a:xfrm>
            <a:off x="5681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8" name="Rectangle 21"/>
          <p:cNvSpPr>
            <a:spLocks noChangeArrowheads="1"/>
          </p:cNvSpPr>
          <p:nvPr/>
        </p:nvSpPr>
        <p:spPr bwMode="auto">
          <a:xfrm>
            <a:off x="6057900" y="38195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9" name="Rectangle 22"/>
          <p:cNvSpPr>
            <a:spLocks noChangeArrowheads="1"/>
          </p:cNvSpPr>
          <p:nvPr/>
        </p:nvSpPr>
        <p:spPr bwMode="auto">
          <a:xfrm>
            <a:off x="6443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0" name="Rectangle 23"/>
          <p:cNvSpPr>
            <a:spLocks noChangeArrowheads="1"/>
          </p:cNvSpPr>
          <p:nvPr/>
        </p:nvSpPr>
        <p:spPr bwMode="auto">
          <a:xfrm>
            <a:off x="6824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1" name="Rectangle 24"/>
          <p:cNvSpPr>
            <a:spLocks noChangeArrowheads="1"/>
          </p:cNvSpPr>
          <p:nvPr/>
        </p:nvSpPr>
        <p:spPr bwMode="auto">
          <a:xfrm>
            <a:off x="7205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2" name="Rectangle 25"/>
          <p:cNvSpPr>
            <a:spLocks noChangeArrowheads="1"/>
          </p:cNvSpPr>
          <p:nvPr/>
        </p:nvSpPr>
        <p:spPr bwMode="auto">
          <a:xfrm>
            <a:off x="7586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3" name="Rectangle 26"/>
          <p:cNvSpPr>
            <a:spLocks noChangeArrowheads="1"/>
          </p:cNvSpPr>
          <p:nvPr/>
        </p:nvSpPr>
        <p:spPr bwMode="auto">
          <a:xfrm>
            <a:off x="4919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4" name="Rectangle 27"/>
          <p:cNvSpPr>
            <a:spLocks noChangeArrowheads="1"/>
          </p:cNvSpPr>
          <p:nvPr/>
        </p:nvSpPr>
        <p:spPr bwMode="auto">
          <a:xfrm>
            <a:off x="5300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5" name="Rectangle 28"/>
          <p:cNvSpPr>
            <a:spLocks noChangeArrowheads="1"/>
          </p:cNvSpPr>
          <p:nvPr/>
        </p:nvSpPr>
        <p:spPr bwMode="auto">
          <a:xfrm>
            <a:off x="5681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6" name="Rectangle 29"/>
          <p:cNvSpPr>
            <a:spLocks noChangeArrowheads="1"/>
          </p:cNvSpPr>
          <p:nvPr/>
        </p:nvSpPr>
        <p:spPr bwMode="auto">
          <a:xfrm>
            <a:off x="6062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7" name="Rectangle 30"/>
          <p:cNvSpPr>
            <a:spLocks noChangeArrowheads="1"/>
          </p:cNvSpPr>
          <p:nvPr/>
        </p:nvSpPr>
        <p:spPr bwMode="auto">
          <a:xfrm>
            <a:off x="6443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8" name="Rectangle 31"/>
          <p:cNvSpPr>
            <a:spLocks noChangeArrowheads="1"/>
          </p:cNvSpPr>
          <p:nvPr/>
        </p:nvSpPr>
        <p:spPr bwMode="auto">
          <a:xfrm>
            <a:off x="6824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9" name="Rectangle 32"/>
          <p:cNvSpPr>
            <a:spLocks noChangeArrowheads="1"/>
          </p:cNvSpPr>
          <p:nvPr/>
        </p:nvSpPr>
        <p:spPr bwMode="auto">
          <a:xfrm>
            <a:off x="7205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0" name="Rectangle 33"/>
          <p:cNvSpPr>
            <a:spLocks noChangeArrowheads="1"/>
          </p:cNvSpPr>
          <p:nvPr/>
        </p:nvSpPr>
        <p:spPr bwMode="auto">
          <a:xfrm>
            <a:off x="7586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1" name="Rectangle 34"/>
          <p:cNvSpPr>
            <a:spLocks noChangeArrowheads="1"/>
          </p:cNvSpPr>
          <p:nvPr/>
        </p:nvSpPr>
        <p:spPr bwMode="auto">
          <a:xfrm>
            <a:off x="4919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2" name="Rectangle 35"/>
          <p:cNvSpPr>
            <a:spLocks noChangeArrowheads="1"/>
          </p:cNvSpPr>
          <p:nvPr/>
        </p:nvSpPr>
        <p:spPr bwMode="auto">
          <a:xfrm>
            <a:off x="5300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3" name="Rectangle 36"/>
          <p:cNvSpPr>
            <a:spLocks noChangeArrowheads="1"/>
          </p:cNvSpPr>
          <p:nvPr/>
        </p:nvSpPr>
        <p:spPr bwMode="auto">
          <a:xfrm>
            <a:off x="5681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4" name="Rectangle 37"/>
          <p:cNvSpPr>
            <a:spLocks noChangeArrowheads="1"/>
          </p:cNvSpPr>
          <p:nvPr/>
        </p:nvSpPr>
        <p:spPr bwMode="auto">
          <a:xfrm>
            <a:off x="6062663" y="4568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5" name="Rectangle 38"/>
          <p:cNvSpPr>
            <a:spLocks noChangeArrowheads="1"/>
          </p:cNvSpPr>
          <p:nvPr/>
        </p:nvSpPr>
        <p:spPr bwMode="auto">
          <a:xfrm>
            <a:off x="6443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6" name="Rectangle 39"/>
          <p:cNvSpPr>
            <a:spLocks noChangeArrowheads="1"/>
          </p:cNvSpPr>
          <p:nvPr/>
        </p:nvSpPr>
        <p:spPr bwMode="auto">
          <a:xfrm>
            <a:off x="6824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7" name="Rectangle 40"/>
          <p:cNvSpPr>
            <a:spLocks noChangeArrowheads="1"/>
          </p:cNvSpPr>
          <p:nvPr/>
        </p:nvSpPr>
        <p:spPr bwMode="auto">
          <a:xfrm>
            <a:off x="7205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8" name="Rectangle 41"/>
          <p:cNvSpPr>
            <a:spLocks noChangeArrowheads="1"/>
          </p:cNvSpPr>
          <p:nvPr/>
        </p:nvSpPr>
        <p:spPr bwMode="auto">
          <a:xfrm>
            <a:off x="7586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9" name="Rectangle 42"/>
          <p:cNvSpPr>
            <a:spLocks noChangeArrowheads="1"/>
          </p:cNvSpPr>
          <p:nvPr/>
        </p:nvSpPr>
        <p:spPr bwMode="auto">
          <a:xfrm>
            <a:off x="4919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0" name="Rectangle 43"/>
          <p:cNvSpPr>
            <a:spLocks noChangeArrowheads="1"/>
          </p:cNvSpPr>
          <p:nvPr/>
        </p:nvSpPr>
        <p:spPr bwMode="auto">
          <a:xfrm>
            <a:off x="5300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1" name="Rectangle 44"/>
          <p:cNvSpPr>
            <a:spLocks noChangeArrowheads="1"/>
          </p:cNvSpPr>
          <p:nvPr/>
        </p:nvSpPr>
        <p:spPr bwMode="auto">
          <a:xfrm>
            <a:off x="5681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2" name="Rectangle 45"/>
          <p:cNvSpPr>
            <a:spLocks noChangeArrowheads="1"/>
          </p:cNvSpPr>
          <p:nvPr/>
        </p:nvSpPr>
        <p:spPr bwMode="auto">
          <a:xfrm>
            <a:off x="6062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3" name="Rectangle 46"/>
          <p:cNvSpPr>
            <a:spLocks noChangeArrowheads="1"/>
          </p:cNvSpPr>
          <p:nvPr/>
        </p:nvSpPr>
        <p:spPr bwMode="auto">
          <a:xfrm>
            <a:off x="6443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4" name="Rectangle 47"/>
          <p:cNvSpPr>
            <a:spLocks noChangeArrowheads="1"/>
          </p:cNvSpPr>
          <p:nvPr/>
        </p:nvSpPr>
        <p:spPr bwMode="auto">
          <a:xfrm>
            <a:off x="6824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5" name="Rectangle 48"/>
          <p:cNvSpPr>
            <a:spLocks noChangeArrowheads="1"/>
          </p:cNvSpPr>
          <p:nvPr/>
        </p:nvSpPr>
        <p:spPr bwMode="auto">
          <a:xfrm>
            <a:off x="7205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6" name="Rectangle 49"/>
          <p:cNvSpPr>
            <a:spLocks noChangeArrowheads="1"/>
          </p:cNvSpPr>
          <p:nvPr/>
        </p:nvSpPr>
        <p:spPr bwMode="auto">
          <a:xfrm>
            <a:off x="7586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7" name="Rectangle 50"/>
          <p:cNvSpPr>
            <a:spLocks noChangeArrowheads="1"/>
          </p:cNvSpPr>
          <p:nvPr/>
        </p:nvSpPr>
        <p:spPr bwMode="auto">
          <a:xfrm>
            <a:off x="4919663" y="5330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8" name="Rectangle 51"/>
          <p:cNvSpPr>
            <a:spLocks noChangeArrowheads="1"/>
          </p:cNvSpPr>
          <p:nvPr/>
        </p:nvSpPr>
        <p:spPr bwMode="auto">
          <a:xfrm>
            <a:off x="5300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9" name="Rectangle 52"/>
          <p:cNvSpPr>
            <a:spLocks noChangeArrowheads="1"/>
          </p:cNvSpPr>
          <p:nvPr/>
        </p:nvSpPr>
        <p:spPr bwMode="auto">
          <a:xfrm>
            <a:off x="5681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0" name="Rectangle 53"/>
          <p:cNvSpPr>
            <a:spLocks noChangeArrowheads="1"/>
          </p:cNvSpPr>
          <p:nvPr/>
        </p:nvSpPr>
        <p:spPr bwMode="auto">
          <a:xfrm>
            <a:off x="6062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1" name="Rectangle 54"/>
          <p:cNvSpPr>
            <a:spLocks noChangeArrowheads="1"/>
          </p:cNvSpPr>
          <p:nvPr/>
        </p:nvSpPr>
        <p:spPr bwMode="auto">
          <a:xfrm>
            <a:off x="6443663" y="5330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2" name="Rectangle 55"/>
          <p:cNvSpPr>
            <a:spLocks noChangeArrowheads="1"/>
          </p:cNvSpPr>
          <p:nvPr/>
        </p:nvSpPr>
        <p:spPr bwMode="auto">
          <a:xfrm>
            <a:off x="6824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3" name="Rectangle 56"/>
          <p:cNvSpPr>
            <a:spLocks noChangeArrowheads="1"/>
          </p:cNvSpPr>
          <p:nvPr/>
        </p:nvSpPr>
        <p:spPr bwMode="auto">
          <a:xfrm>
            <a:off x="7205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4" name="Rectangle 57"/>
          <p:cNvSpPr>
            <a:spLocks noChangeArrowheads="1"/>
          </p:cNvSpPr>
          <p:nvPr/>
        </p:nvSpPr>
        <p:spPr bwMode="auto">
          <a:xfrm>
            <a:off x="7586663" y="5330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5" name="Rectangle 58"/>
          <p:cNvSpPr>
            <a:spLocks noChangeArrowheads="1"/>
          </p:cNvSpPr>
          <p:nvPr/>
        </p:nvSpPr>
        <p:spPr bwMode="auto">
          <a:xfrm>
            <a:off x="4919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6" name="Rectangle 59"/>
          <p:cNvSpPr>
            <a:spLocks noChangeArrowheads="1"/>
          </p:cNvSpPr>
          <p:nvPr/>
        </p:nvSpPr>
        <p:spPr bwMode="auto">
          <a:xfrm>
            <a:off x="5300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7" name="Rectangle 60"/>
          <p:cNvSpPr>
            <a:spLocks noChangeArrowheads="1"/>
          </p:cNvSpPr>
          <p:nvPr/>
        </p:nvSpPr>
        <p:spPr bwMode="auto">
          <a:xfrm>
            <a:off x="5681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8" name="Rectangle 61"/>
          <p:cNvSpPr>
            <a:spLocks noChangeArrowheads="1"/>
          </p:cNvSpPr>
          <p:nvPr/>
        </p:nvSpPr>
        <p:spPr bwMode="auto">
          <a:xfrm>
            <a:off x="6062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9" name="Rectangle 62"/>
          <p:cNvSpPr>
            <a:spLocks noChangeArrowheads="1"/>
          </p:cNvSpPr>
          <p:nvPr/>
        </p:nvSpPr>
        <p:spPr bwMode="auto">
          <a:xfrm>
            <a:off x="6443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0" name="Rectangle 63"/>
          <p:cNvSpPr>
            <a:spLocks noChangeArrowheads="1"/>
          </p:cNvSpPr>
          <p:nvPr/>
        </p:nvSpPr>
        <p:spPr bwMode="auto">
          <a:xfrm>
            <a:off x="6824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1" name="Rectangle 64"/>
          <p:cNvSpPr>
            <a:spLocks noChangeArrowheads="1"/>
          </p:cNvSpPr>
          <p:nvPr/>
        </p:nvSpPr>
        <p:spPr bwMode="auto">
          <a:xfrm>
            <a:off x="7205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2" name="Rectangle 65"/>
          <p:cNvSpPr>
            <a:spLocks noChangeArrowheads="1"/>
          </p:cNvSpPr>
          <p:nvPr/>
        </p:nvSpPr>
        <p:spPr bwMode="auto">
          <a:xfrm>
            <a:off x="7586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3" name="Rectangle 71"/>
          <p:cNvSpPr>
            <a:spLocks noChangeArrowheads="1"/>
          </p:cNvSpPr>
          <p:nvPr/>
        </p:nvSpPr>
        <p:spPr bwMode="auto">
          <a:xfrm>
            <a:off x="4538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4" name="Rectangle 72"/>
          <p:cNvSpPr>
            <a:spLocks noChangeArrowheads="1"/>
          </p:cNvSpPr>
          <p:nvPr/>
        </p:nvSpPr>
        <p:spPr bwMode="auto">
          <a:xfrm>
            <a:off x="4538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5" name="Rectangle 73"/>
          <p:cNvSpPr>
            <a:spLocks noChangeArrowheads="1"/>
          </p:cNvSpPr>
          <p:nvPr/>
        </p:nvSpPr>
        <p:spPr bwMode="auto">
          <a:xfrm>
            <a:off x="4538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6" name="Rectangle 74"/>
          <p:cNvSpPr>
            <a:spLocks noChangeArrowheads="1"/>
          </p:cNvSpPr>
          <p:nvPr/>
        </p:nvSpPr>
        <p:spPr bwMode="auto">
          <a:xfrm>
            <a:off x="4538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7" name="Rectangle 75"/>
          <p:cNvSpPr>
            <a:spLocks noChangeArrowheads="1"/>
          </p:cNvSpPr>
          <p:nvPr/>
        </p:nvSpPr>
        <p:spPr bwMode="auto">
          <a:xfrm>
            <a:off x="4538663" y="4568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8" name="Rectangle 76"/>
          <p:cNvSpPr>
            <a:spLocks noChangeArrowheads="1"/>
          </p:cNvSpPr>
          <p:nvPr/>
        </p:nvSpPr>
        <p:spPr bwMode="auto">
          <a:xfrm>
            <a:off x="4538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9" name="Rectangle 77"/>
          <p:cNvSpPr>
            <a:spLocks noChangeArrowheads="1"/>
          </p:cNvSpPr>
          <p:nvPr/>
        </p:nvSpPr>
        <p:spPr bwMode="auto">
          <a:xfrm>
            <a:off x="4538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0" name="Rectangle 78"/>
          <p:cNvSpPr>
            <a:spLocks noChangeArrowheads="1"/>
          </p:cNvSpPr>
          <p:nvPr/>
        </p:nvSpPr>
        <p:spPr bwMode="auto">
          <a:xfrm>
            <a:off x="4538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1" name="Rectangle 79"/>
          <p:cNvSpPr>
            <a:spLocks noChangeArrowheads="1"/>
          </p:cNvSpPr>
          <p:nvPr/>
        </p:nvSpPr>
        <p:spPr bwMode="auto">
          <a:xfrm>
            <a:off x="4538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2" name="Rectangle 80"/>
          <p:cNvSpPr>
            <a:spLocks noChangeArrowheads="1"/>
          </p:cNvSpPr>
          <p:nvPr/>
        </p:nvSpPr>
        <p:spPr bwMode="auto">
          <a:xfrm>
            <a:off x="7967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3" name="Rectangle 81"/>
          <p:cNvSpPr>
            <a:spLocks noChangeArrowheads="1"/>
          </p:cNvSpPr>
          <p:nvPr/>
        </p:nvSpPr>
        <p:spPr bwMode="auto">
          <a:xfrm>
            <a:off x="7967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4" name="Rectangle 82"/>
          <p:cNvSpPr>
            <a:spLocks noChangeArrowheads="1"/>
          </p:cNvSpPr>
          <p:nvPr/>
        </p:nvSpPr>
        <p:spPr bwMode="auto">
          <a:xfrm>
            <a:off x="7967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5" name="Rectangle 83"/>
          <p:cNvSpPr>
            <a:spLocks noChangeArrowheads="1"/>
          </p:cNvSpPr>
          <p:nvPr/>
        </p:nvSpPr>
        <p:spPr bwMode="auto">
          <a:xfrm>
            <a:off x="7967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6" name="Rectangle 84"/>
          <p:cNvSpPr>
            <a:spLocks noChangeArrowheads="1"/>
          </p:cNvSpPr>
          <p:nvPr/>
        </p:nvSpPr>
        <p:spPr bwMode="auto">
          <a:xfrm>
            <a:off x="7967663" y="4568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7" name="Rectangle 85"/>
          <p:cNvSpPr>
            <a:spLocks noChangeArrowheads="1"/>
          </p:cNvSpPr>
          <p:nvPr/>
        </p:nvSpPr>
        <p:spPr bwMode="auto">
          <a:xfrm>
            <a:off x="7967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8" name="Rectangle 86"/>
          <p:cNvSpPr>
            <a:spLocks noChangeArrowheads="1"/>
          </p:cNvSpPr>
          <p:nvPr/>
        </p:nvSpPr>
        <p:spPr bwMode="auto">
          <a:xfrm>
            <a:off x="7967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9" name="Rectangle 87"/>
          <p:cNvSpPr>
            <a:spLocks noChangeArrowheads="1"/>
          </p:cNvSpPr>
          <p:nvPr/>
        </p:nvSpPr>
        <p:spPr bwMode="auto">
          <a:xfrm>
            <a:off x="7967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0" name="Rectangle 88"/>
          <p:cNvSpPr>
            <a:spLocks noChangeArrowheads="1"/>
          </p:cNvSpPr>
          <p:nvPr/>
        </p:nvSpPr>
        <p:spPr bwMode="auto">
          <a:xfrm>
            <a:off x="7967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1" name="Rectangle 89"/>
          <p:cNvSpPr>
            <a:spLocks noChangeArrowheads="1"/>
          </p:cNvSpPr>
          <p:nvPr/>
        </p:nvSpPr>
        <p:spPr bwMode="auto">
          <a:xfrm>
            <a:off x="5300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2" name="Rectangle 90"/>
          <p:cNvSpPr>
            <a:spLocks noChangeArrowheads="1"/>
          </p:cNvSpPr>
          <p:nvPr/>
        </p:nvSpPr>
        <p:spPr bwMode="auto">
          <a:xfrm>
            <a:off x="5681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3" name="Rectangle 91"/>
          <p:cNvSpPr>
            <a:spLocks noChangeArrowheads="1"/>
          </p:cNvSpPr>
          <p:nvPr/>
        </p:nvSpPr>
        <p:spPr bwMode="auto">
          <a:xfrm>
            <a:off x="6062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4" name="Rectangle 92"/>
          <p:cNvSpPr>
            <a:spLocks noChangeArrowheads="1"/>
          </p:cNvSpPr>
          <p:nvPr/>
        </p:nvSpPr>
        <p:spPr bwMode="auto">
          <a:xfrm>
            <a:off x="6443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5" name="Rectangle 93"/>
          <p:cNvSpPr>
            <a:spLocks noChangeArrowheads="1"/>
          </p:cNvSpPr>
          <p:nvPr/>
        </p:nvSpPr>
        <p:spPr bwMode="auto">
          <a:xfrm>
            <a:off x="6824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6" name="Rectangle 94"/>
          <p:cNvSpPr>
            <a:spLocks noChangeArrowheads="1"/>
          </p:cNvSpPr>
          <p:nvPr/>
        </p:nvSpPr>
        <p:spPr bwMode="auto">
          <a:xfrm>
            <a:off x="7205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7" name="Rectangle 95"/>
          <p:cNvSpPr>
            <a:spLocks noChangeArrowheads="1"/>
          </p:cNvSpPr>
          <p:nvPr/>
        </p:nvSpPr>
        <p:spPr bwMode="auto">
          <a:xfrm>
            <a:off x="7586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8" name="Rectangle 96"/>
          <p:cNvSpPr>
            <a:spLocks noChangeArrowheads="1"/>
          </p:cNvSpPr>
          <p:nvPr/>
        </p:nvSpPr>
        <p:spPr bwMode="auto">
          <a:xfrm>
            <a:off x="4919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9" name="Rectangle 97"/>
          <p:cNvSpPr>
            <a:spLocks noChangeArrowheads="1"/>
          </p:cNvSpPr>
          <p:nvPr/>
        </p:nvSpPr>
        <p:spPr bwMode="auto">
          <a:xfrm>
            <a:off x="4538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0" name="Rectangle 98"/>
          <p:cNvSpPr>
            <a:spLocks noChangeArrowheads="1"/>
          </p:cNvSpPr>
          <p:nvPr/>
        </p:nvSpPr>
        <p:spPr bwMode="auto">
          <a:xfrm>
            <a:off x="7967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1" name="Rectangle 99"/>
          <p:cNvSpPr>
            <a:spLocks noChangeArrowheads="1"/>
          </p:cNvSpPr>
          <p:nvPr/>
        </p:nvSpPr>
        <p:spPr bwMode="auto">
          <a:xfrm>
            <a:off x="5300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2" name="Rectangle 100"/>
          <p:cNvSpPr>
            <a:spLocks noChangeArrowheads="1"/>
          </p:cNvSpPr>
          <p:nvPr/>
        </p:nvSpPr>
        <p:spPr bwMode="auto">
          <a:xfrm>
            <a:off x="5681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3" name="Rectangle 101"/>
          <p:cNvSpPr>
            <a:spLocks noChangeArrowheads="1"/>
          </p:cNvSpPr>
          <p:nvPr/>
        </p:nvSpPr>
        <p:spPr bwMode="auto">
          <a:xfrm>
            <a:off x="6062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4" name="Rectangle 102"/>
          <p:cNvSpPr>
            <a:spLocks noChangeArrowheads="1"/>
          </p:cNvSpPr>
          <p:nvPr/>
        </p:nvSpPr>
        <p:spPr bwMode="auto">
          <a:xfrm>
            <a:off x="6443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5" name="Rectangle 103"/>
          <p:cNvSpPr>
            <a:spLocks noChangeArrowheads="1"/>
          </p:cNvSpPr>
          <p:nvPr/>
        </p:nvSpPr>
        <p:spPr bwMode="auto">
          <a:xfrm>
            <a:off x="6824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6" name="Rectangle 104"/>
          <p:cNvSpPr>
            <a:spLocks noChangeArrowheads="1"/>
          </p:cNvSpPr>
          <p:nvPr/>
        </p:nvSpPr>
        <p:spPr bwMode="auto">
          <a:xfrm>
            <a:off x="7205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7" name="Rectangle 105"/>
          <p:cNvSpPr>
            <a:spLocks noChangeArrowheads="1"/>
          </p:cNvSpPr>
          <p:nvPr/>
        </p:nvSpPr>
        <p:spPr bwMode="auto">
          <a:xfrm>
            <a:off x="7586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8" name="Rectangle 106"/>
          <p:cNvSpPr>
            <a:spLocks noChangeArrowheads="1"/>
          </p:cNvSpPr>
          <p:nvPr/>
        </p:nvSpPr>
        <p:spPr bwMode="auto">
          <a:xfrm>
            <a:off x="4919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9" name="Rectangle 108"/>
          <p:cNvSpPr>
            <a:spLocks noChangeArrowheads="1"/>
          </p:cNvSpPr>
          <p:nvPr/>
        </p:nvSpPr>
        <p:spPr bwMode="auto">
          <a:xfrm>
            <a:off x="7586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4440" name="Rectangle 109"/>
          <p:cNvSpPr>
            <a:spLocks noChangeArrowheads="1"/>
          </p:cNvSpPr>
          <p:nvPr/>
        </p:nvSpPr>
        <p:spPr bwMode="auto">
          <a:xfrm>
            <a:off x="4919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4441" name="Rectangle 110"/>
          <p:cNvSpPr>
            <a:spLocks noChangeArrowheads="1"/>
          </p:cNvSpPr>
          <p:nvPr/>
        </p:nvSpPr>
        <p:spPr bwMode="auto">
          <a:xfrm>
            <a:off x="5300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4442" name="Rectangle 111"/>
          <p:cNvSpPr>
            <a:spLocks noChangeArrowheads="1"/>
          </p:cNvSpPr>
          <p:nvPr/>
        </p:nvSpPr>
        <p:spPr bwMode="auto">
          <a:xfrm>
            <a:off x="5681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4443" name="Rectangle 112"/>
          <p:cNvSpPr>
            <a:spLocks noChangeArrowheads="1"/>
          </p:cNvSpPr>
          <p:nvPr/>
        </p:nvSpPr>
        <p:spPr bwMode="auto">
          <a:xfrm>
            <a:off x="6062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4444" name="Rectangle 113"/>
          <p:cNvSpPr>
            <a:spLocks noChangeArrowheads="1"/>
          </p:cNvSpPr>
          <p:nvPr/>
        </p:nvSpPr>
        <p:spPr bwMode="auto">
          <a:xfrm>
            <a:off x="6443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4445" name="Rectangle 114"/>
          <p:cNvSpPr>
            <a:spLocks noChangeArrowheads="1"/>
          </p:cNvSpPr>
          <p:nvPr/>
        </p:nvSpPr>
        <p:spPr bwMode="auto">
          <a:xfrm>
            <a:off x="6824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4446" name="Rectangle 115"/>
          <p:cNvSpPr>
            <a:spLocks noChangeArrowheads="1"/>
          </p:cNvSpPr>
          <p:nvPr/>
        </p:nvSpPr>
        <p:spPr bwMode="auto">
          <a:xfrm>
            <a:off x="7205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4447" name="Rectangle 116"/>
          <p:cNvSpPr>
            <a:spLocks noChangeArrowheads="1"/>
          </p:cNvSpPr>
          <p:nvPr/>
        </p:nvSpPr>
        <p:spPr bwMode="auto">
          <a:xfrm>
            <a:off x="4081463" y="5711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4448" name="Rectangle 117"/>
          <p:cNvSpPr>
            <a:spLocks noChangeArrowheads="1"/>
          </p:cNvSpPr>
          <p:nvPr/>
        </p:nvSpPr>
        <p:spPr bwMode="auto">
          <a:xfrm>
            <a:off x="4081463" y="3044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4449" name="Rectangle 118"/>
          <p:cNvSpPr>
            <a:spLocks noChangeArrowheads="1"/>
          </p:cNvSpPr>
          <p:nvPr/>
        </p:nvSpPr>
        <p:spPr bwMode="auto">
          <a:xfrm>
            <a:off x="4081463" y="3425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4450" name="Rectangle 119"/>
          <p:cNvSpPr>
            <a:spLocks noChangeArrowheads="1"/>
          </p:cNvSpPr>
          <p:nvPr/>
        </p:nvSpPr>
        <p:spPr bwMode="auto">
          <a:xfrm>
            <a:off x="4081463" y="3806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4451" name="Rectangle 120"/>
          <p:cNvSpPr>
            <a:spLocks noChangeArrowheads="1"/>
          </p:cNvSpPr>
          <p:nvPr/>
        </p:nvSpPr>
        <p:spPr bwMode="auto">
          <a:xfrm>
            <a:off x="4081463" y="4187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4452" name="Rectangle 121"/>
          <p:cNvSpPr>
            <a:spLocks noChangeArrowheads="1"/>
          </p:cNvSpPr>
          <p:nvPr/>
        </p:nvSpPr>
        <p:spPr bwMode="auto">
          <a:xfrm>
            <a:off x="4081463" y="4568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4453" name="Rectangle 122"/>
          <p:cNvSpPr>
            <a:spLocks noChangeArrowheads="1"/>
          </p:cNvSpPr>
          <p:nvPr/>
        </p:nvSpPr>
        <p:spPr bwMode="auto">
          <a:xfrm>
            <a:off x="4081463" y="4949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4454" name="Rectangle 123"/>
          <p:cNvSpPr>
            <a:spLocks noChangeArrowheads="1"/>
          </p:cNvSpPr>
          <p:nvPr/>
        </p:nvSpPr>
        <p:spPr bwMode="auto">
          <a:xfrm>
            <a:off x="4114800" y="5330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4455" name="Rectangle 124"/>
          <p:cNvSpPr>
            <a:spLocks noChangeArrowheads="1"/>
          </p:cNvSpPr>
          <p:nvPr/>
        </p:nvSpPr>
        <p:spPr bwMode="auto">
          <a:xfrm>
            <a:off x="4081463" y="6092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4456" name="Rectangle 125"/>
          <p:cNvSpPr>
            <a:spLocks noChangeArrowheads="1"/>
          </p:cNvSpPr>
          <p:nvPr/>
        </p:nvSpPr>
        <p:spPr bwMode="auto">
          <a:xfrm>
            <a:off x="4538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4457" name="Rectangle 126"/>
          <p:cNvSpPr>
            <a:spLocks noChangeArrowheads="1"/>
          </p:cNvSpPr>
          <p:nvPr/>
        </p:nvSpPr>
        <p:spPr bwMode="auto">
          <a:xfrm>
            <a:off x="7967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4458" name="Rectangle 127"/>
          <p:cNvSpPr>
            <a:spLocks noChangeArrowheads="1"/>
          </p:cNvSpPr>
          <p:nvPr/>
        </p:nvSpPr>
        <p:spPr bwMode="auto">
          <a:xfrm>
            <a:off x="41148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5059" name="Rectangle 106"/>
          <p:cNvSpPr>
            <a:spLocks noGrp="1"/>
          </p:cNvSpPr>
          <p:nvPr>
            <p:ph type="body" idx="4294967295"/>
          </p:nvPr>
        </p:nvSpPr>
        <p:spPr>
          <a:xfrm>
            <a:off x="2057400" y="1017815"/>
            <a:ext cx="8610600" cy="725488"/>
          </a:xfrm>
        </p:spPr>
        <p:txBody>
          <a:bodyPr vert="horz" wrap="square" anchor="ctr"/>
          <a:lstStyle/>
          <a:p>
            <a:pPr marL="273050" indent="-273050">
              <a:buNone/>
            </a:pPr>
            <a:r>
              <a:rPr lang="zh-CN" altLang="en-US" noProof="1"/>
              <a:t>借助于队列可求得入口到出口的最短路径</a:t>
            </a:r>
            <a:r>
              <a:rPr lang="en-US" altLang="zh-CN" noProof="1"/>
              <a:t>(</a:t>
            </a:r>
            <a:r>
              <a:rPr lang="zh-CN" altLang="en-US" noProof="1"/>
              <a:t>若存在</a:t>
            </a:r>
            <a:r>
              <a:rPr lang="en-US" altLang="zh-CN" noProof="1"/>
              <a:t>)</a:t>
            </a:r>
          </a:p>
        </p:txBody>
      </p:sp>
      <p:sp>
        <p:nvSpPr>
          <p:cNvPr id="37891"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2"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latin typeface="Times New Roman" panose="02020603050405020304" pitchFamily="18" charset="0"/>
              <a:sym typeface="Times New Roman" panose="02020603050405020304" pitchFamily="18" charset="0"/>
            </a:endParaRPr>
          </a:p>
        </p:txBody>
      </p:sp>
      <p:sp>
        <p:nvSpPr>
          <p:cNvPr id="37893"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4"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5"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6"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7"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8"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9"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0"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1"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2"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3"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4"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5"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6"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7"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8"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9"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0"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1"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2"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3"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4"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5"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6"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7"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8"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9"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0"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1"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2"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3"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4"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5"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6"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7"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8"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9"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0"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1"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2"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3"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4"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5"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6"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7"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8"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9"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0"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1"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2"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3"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4"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5"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6"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7"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8"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9"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0"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1"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2"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3"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4"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入口</a:t>
            </a:r>
          </a:p>
        </p:txBody>
      </p:sp>
      <p:sp>
        <p:nvSpPr>
          <p:cNvPr id="37955"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7956"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出口</a:t>
            </a:r>
          </a:p>
        </p:txBody>
      </p:sp>
      <p:sp>
        <p:nvSpPr>
          <p:cNvPr id="37957"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7958"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9"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0"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1"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2"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3"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4"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5"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6"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7"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8"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9"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0"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1"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2"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3"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4"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5"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6"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7"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8"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9"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0"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1"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2"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3"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4"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5"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6"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7"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8"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9"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0"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1"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2"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3"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4"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7995"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7996"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7997"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7998"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7999"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8000"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8001"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8002"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8003"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8004"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8005"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8006"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8007"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8008"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8009"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8010"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8011"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8012"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8013"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8915"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16"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8917"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18"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19"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0"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1"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2"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3"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8924"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5"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6"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7"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8"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9"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0"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1"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2"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3"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4"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5"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6"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7"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8"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9"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0"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1"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2"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3"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4"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5"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6"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7"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8"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9"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0"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1"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2"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3"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4"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5"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6"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7"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8"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9"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0"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1"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2"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3"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4"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5"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6"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7"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8"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9"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0"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1"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2"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3"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4"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5"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6"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7"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8"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入口</a:t>
            </a:r>
            <a:endParaRPr lang="zh-CN" altLang="en-US"/>
          </a:p>
        </p:txBody>
      </p:sp>
      <p:sp>
        <p:nvSpPr>
          <p:cNvPr id="38979"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8980"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出口</a:t>
            </a:r>
            <a:endParaRPr lang="zh-CN" altLang="en-US"/>
          </a:p>
        </p:txBody>
      </p:sp>
      <p:sp>
        <p:nvSpPr>
          <p:cNvPr id="38981"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8982"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3"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4"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5"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6"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7"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8"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9"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0"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1"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2"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3"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4"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5"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6"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7"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8"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9"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0"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1"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2"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3"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4"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5"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6"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7"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8"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09"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0"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1"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2"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3"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4"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5"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6"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7"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8"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9019"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9020"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9021"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9022"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9023"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9024"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9025"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9026"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9027"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9028"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9029"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9030"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9031"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9032"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9033"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9034"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9035"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9036"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9037"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9939"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0"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9941"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2"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3"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4"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5"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6"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7"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9948"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39949"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0"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1"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2"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3"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4"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5"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39956"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7"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8"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9"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0"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1"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2"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3"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4"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5"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6"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7"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8"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9"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0"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1"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2"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3"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4"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5"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6"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7"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8"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9"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0"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1"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2"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3"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4"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5"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6"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7"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8"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9"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0"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1"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2"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3"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4"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5"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6"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7"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8"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9"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00"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01"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02"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0003"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0004"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0005"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0006"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07"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08"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09"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0"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1"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2"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3"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4"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5"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6"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7"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8"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9"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0"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1"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2"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3"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4"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5"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6"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7"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8"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9"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30"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31"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32"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3"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4"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5"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6"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7"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8"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9"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40"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41"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42"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0043"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0044"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0045"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0046"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0047"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0048"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0049"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0050"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0051"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0052"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0053"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0054"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0055"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0056"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0057"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0058"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0059"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0060"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0061"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0963"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4"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0965"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6"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7"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8"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9"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0"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1"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0972"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0973"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4"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5"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6"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7"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8"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9"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0980"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0981"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2"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3"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4"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5"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6"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0987"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8"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9"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0"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1"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2"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3"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4"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5"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6"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7"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8"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9"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0"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1"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2"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3"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4"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5"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6"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7"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8"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9"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0"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1"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2"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3"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4"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5"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6"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7"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8"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9"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0"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1"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2"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3"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4"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5"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6"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1027"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1028"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1029"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1030"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1"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2"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3"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4"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5"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6"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7"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8"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9"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0"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1"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2"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3"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4"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5"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6"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7"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8"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9"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0"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1"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2"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3"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4"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5"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6"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57"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58"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59"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0"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1"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2"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3"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4"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5"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6"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1067"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1068"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1069"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1070"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1071"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1072"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1073"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1074"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1075"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1076"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1077"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1078"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1079"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1080"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1081"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1082"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1083"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1084"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1085"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87"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1988"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89"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0"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1"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2"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3"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4"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1995"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1996"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7"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8"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9"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0"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1"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2"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2003"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2004"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2005"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6"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7"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8"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9"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2010"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1"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2"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3"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4"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5"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6"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7"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2018"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9"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0"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1"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2"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3"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4"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5"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6"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7"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8"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9"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0"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1"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2"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3"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4"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5"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6"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7"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8"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9"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0"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1"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2"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3"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4"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5"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6"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7"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8"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9"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2050"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2051"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2052"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2053"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4"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5"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6"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7"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8"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9"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60"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61"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62"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3"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4"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5"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6"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7"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8"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9"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0"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1"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2"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3"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4"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5"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6"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7"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8"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9"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0"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1"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2"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3"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4"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5"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6"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7"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8"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9"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2090"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2091"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2092"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2093"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2094"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2095"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2096"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2097"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2098"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2099"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2100"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2101"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2102"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2103"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2104"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2105"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2106"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2107"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2108"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3011"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2"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3013"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4"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5"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6"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7"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8"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9"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3020"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3021"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2"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3"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4"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5"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6"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7"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3028"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3029"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3030"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3031"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2"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3"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4"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3035"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6"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7"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8"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9"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0"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1"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2"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3043"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3044"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5"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6"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7"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8"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9"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0"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3051"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2"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3"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4"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5"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6"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7"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8"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9"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0"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1"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2"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3"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4"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5"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6"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7"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8"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9"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0"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1"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2"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3"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4"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3075"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3076"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3077"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3078"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79"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0"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1"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2"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3"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4"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5"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6"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7"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88"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89"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0"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1"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2"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3"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4"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5"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6"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7"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8"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9"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0"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1"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2"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3"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4"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5"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6"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7"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8"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9"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0"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1"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2"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3"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4"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3115"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3116"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3117"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3118"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3119"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3120"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3121"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3122"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3123"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3124"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3125"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3126"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3127"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3128"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3129"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3130"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3131"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3132"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3133"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6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sp>
        <p:nvSpPr>
          <p:cNvPr id="44035"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36"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4037"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38"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39"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0"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1"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2"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3"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4044"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4045"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6"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4047"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8"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9"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0"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1"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4052"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4053"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4054"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4055"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6"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7"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8"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4059"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0"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1"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2"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3"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4"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5"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6"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4067"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4068"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4069"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0"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1"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2"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3"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4"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4075"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6"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44077"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8"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9"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0"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1"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2"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4083"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4"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5"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6"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7"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8"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9"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0"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1"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2"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3"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4"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5"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6"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7"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8"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4099"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4100"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4101"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4102"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3"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4"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5"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6"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7"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8"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9"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10"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11"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2"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3"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4"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5"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6"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7"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8"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9"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0"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1"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2"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3"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4"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5"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6"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7"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8"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29"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0"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1"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2"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3"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4"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5"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6"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7"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8"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4139"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4140"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4141"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4142"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4143"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4144"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4145"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4146"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4147"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4148"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4149"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4150"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4151"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4152"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4153"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4154"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4155"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4156"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4157"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5059"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0"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5061"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2"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5063"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4"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5"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6"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7"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5068"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5069"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0"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5071"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5072"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3"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4"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5"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5076"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5077"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5078"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5079"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0"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1"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2"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5083"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4"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5"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6"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7"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8"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9"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0"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5091"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5092"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5093"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4"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5"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6"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7"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8"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5099"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0"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5101"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2"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3"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4"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5"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6"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5107"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8"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9"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0"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1"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2"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3"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4"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5"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6"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7"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8"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9"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20"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21"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22"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5123"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5124"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5125"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5126"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27"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28"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29"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0"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1"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2"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3"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4"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5"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6"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7"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8"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9"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0"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1"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2"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3"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4"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5"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6"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7"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8"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9"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50"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51"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52"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3"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4"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5"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6"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7"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8"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9"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60"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61"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62"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5163"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5164"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5165"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5166"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5167"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5168"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5169"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5170"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5171"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5172"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5173"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5174"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5175"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5176"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5177"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5178"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5179"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5180"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5181"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6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sp>
        <p:nvSpPr>
          <p:cNvPr id="46083"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84"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6085"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86"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6087"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6088"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89"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0"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1"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6092"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6093"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4"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6095"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6096"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6097"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8"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9"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6100"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6101"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6102"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6103"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4"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5"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6"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6107"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8"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9"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0"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1"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2"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3"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4"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6115"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6116"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6117"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8"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9"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0"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1"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2"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6123"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4"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6125"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6126"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7"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8"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9"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0"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6131"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2"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3"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4"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5"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6"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7"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8"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9"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0"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1"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2"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3"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4"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5"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6"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solidFill>
                  <a:srgbClr val="000000"/>
                </a:solidFill>
                <a:latin typeface="Tahoma" panose="020B0604030504040204" pitchFamily="34" charset="0"/>
                <a:sym typeface="Tahoma" panose="020B0604030504040204" pitchFamily="34" charset="0"/>
              </a:rPr>
              <a:t>入口</a:t>
            </a:r>
            <a:endParaRPr lang="zh-CN" altLang="en-US"/>
          </a:p>
        </p:txBody>
      </p:sp>
      <p:sp>
        <p:nvSpPr>
          <p:cNvPr id="46147"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6148"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solidFill>
                  <a:srgbClr val="000000"/>
                </a:solidFill>
                <a:latin typeface="Tahoma" panose="020B0604030504040204" pitchFamily="34" charset="0"/>
                <a:sym typeface="Tahoma" panose="020B0604030504040204" pitchFamily="34" charset="0"/>
              </a:rPr>
              <a:t>出口</a:t>
            </a:r>
            <a:endParaRPr lang="zh-CN" altLang="en-US"/>
          </a:p>
        </p:txBody>
      </p:sp>
      <p:sp>
        <p:nvSpPr>
          <p:cNvPr id="46149"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6150"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1"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2"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3"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4"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5"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6"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7"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8"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9"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0"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1"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2"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3"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4"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5"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6"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7"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8"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9"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0"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1"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2"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3"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4"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5"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6"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7"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8"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9"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0"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1"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2"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3"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4"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5"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6"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6187"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6188"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6189"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6190"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6191"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6192"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6193"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6194"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6195"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6196"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6197"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6198"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6199"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6200"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6201"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6202"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6203"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6204"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6205"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7107"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08"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7109"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0"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7111"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7112"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7113"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4"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5"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7116"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7117"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8"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7119"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7120"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7121"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2"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3"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7124"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7125"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7126"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7127"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8"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9"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0"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7131"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2"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3"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4"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5"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6"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7"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8"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7139"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7140"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7141"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2"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3"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4"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5"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6"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7147"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8"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7149"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7150"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7151"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2"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3"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4"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7155"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6"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7"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8"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9"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0"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1"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2"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3"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4"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5"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6"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7"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8"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9"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70"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7171"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7172"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7173"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7174"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5"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6"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7"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8"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9"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0"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1"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2"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3"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4"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5"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6"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7"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8"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9"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0"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1"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2"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3"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4"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5"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6"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7"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8"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9"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200"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1"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2"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3"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4"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5"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6"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7"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8"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9"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10"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7211"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7212"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7213"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7214"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7215"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7216"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7217"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7218"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7219"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7220"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7221"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7222"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7223"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7224"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7225"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7226"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7227"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7228"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7229"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7230"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8131"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2"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8133"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4"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8135"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8136"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8137"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8"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9"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8140"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8141"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42"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8143"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8144"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8145"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46"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47"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8148"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8149"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8150"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8151"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2"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53"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4"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8155"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6"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7"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8"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9"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60"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1"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2"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8163"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8164"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8165"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6"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67"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8"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9"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0"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8171"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2"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8173"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8174"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8175"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6"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7"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8"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8179"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0"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1"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2"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83"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4"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5"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6"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7"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8"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9"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0"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1"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2"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3"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4"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8195"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8196"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8197"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8198"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199"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0"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1"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2"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3"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4"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5"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6"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7"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08"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09"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0"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1"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2"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3"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4"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5"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6"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7"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8"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9"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0"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1"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2"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3"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4"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5"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6"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7"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8"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9"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0"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1"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2"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3"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4"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8235"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8236"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8237"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8238"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8239"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8240"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8241"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8242"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8243"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8244"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8245"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8246"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8247"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8248"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8249"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8250"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8251"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8252"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8253"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8254"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5"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56"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9157"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58"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9159"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9160"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9161"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62"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63"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9164"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9165"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66"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9167"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9168"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9169"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70"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71"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9172"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9173"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9174"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9175"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76"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177"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78"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9179"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0"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1"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2"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83"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184"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85"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6"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9187"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9188"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9189"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0"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191"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92"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3"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4"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9195"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6"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9197"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9198"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9199"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0"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1"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2"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9203"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4"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5"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6"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207"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8"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9"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0"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1"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2"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3"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4"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215"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6"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7"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8" name="Rectangle 66"/>
          <p:cNvSpPr>
            <a:spLocks noChangeArrowheads="1"/>
          </p:cNvSpPr>
          <p:nvPr/>
        </p:nvSpPr>
        <p:spPr bwMode="auto">
          <a:xfrm>
            <a:off x="2927350" y="2060575"/>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9219"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9220"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9221"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9222"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3"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4"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5"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6"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7"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8"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9"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30"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31"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2"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3"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4"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5"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6"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7"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8"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9"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0"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1"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2"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3"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4"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5"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6"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7"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8"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49"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0"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1"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2"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3"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4"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5"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6"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7"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8"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9259"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9260"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9261"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9262"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9263"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9264"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9265"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9266"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9267"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9268"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9269"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9270"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9271"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9272"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9273"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9274"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9275"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9276"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9277"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9278"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9"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80"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0181"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82"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0183"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0184"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0185"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86"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187"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0188"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0189"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90"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0191"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0192"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0193"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94"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195"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0196"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0197"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0198"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0199"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0"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01"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02"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0203"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4"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5"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6"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07"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08"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09"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10"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0211"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0212"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0213"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14"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15"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16"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17"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218"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0219"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0"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0221"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0222"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0223"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4"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5"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6"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0227"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8"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9"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0"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31"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2"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3"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4"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5"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6"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237"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38"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39"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40"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241"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42"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50243"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0244"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50245"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0246"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47"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48"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49"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0"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1"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2"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3"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4"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5"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6"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7"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8"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9"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0"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1"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2"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3"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4"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5"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6"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7"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8"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9"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70"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71"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72"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3"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4"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5"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6"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7"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8"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9"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80"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81"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82"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0283"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0284"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0285"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0286"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0287"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0288"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0289"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0290"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0291"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0292"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0293"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0294"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0295"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0296"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0297"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0298"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0299"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0300"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0301"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0302"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51203"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04"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1205"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06"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1207"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1208"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1209"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10"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11"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1212"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1213"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14"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1215"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1216"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1217"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18"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19"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1220"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1221"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1222"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1223"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24"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25"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26"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1227"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28"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29"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30"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31"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32"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33"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34"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1235"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1236"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1237"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38"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39"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40"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41"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42"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1243"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44"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1245"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1246"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1247"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48"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49"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0"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1251"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2"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3"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4"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55"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6"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7"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8"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9"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60"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61"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62"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63"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64"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65"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66"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51267"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1268"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51269"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1270"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1"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2"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3"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4"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5"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6"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7"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8"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9"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0"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1"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2"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3"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4"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5"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6"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7"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8"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9"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0"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1"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2"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3"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4"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5"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6"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97"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98"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99"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0"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1"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2"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3"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4"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5"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6"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1307"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1308"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1309"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1310"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1311"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1312"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1313"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1314"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1315"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1316"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1317"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1318"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1319"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1320"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1321"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1322"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1323"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1324"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1325"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1326"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52227"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28"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2229"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30"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2231"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2232"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2233"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34"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35"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2236"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2237"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38"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2239"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2240"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2241"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42"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43"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2244"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2245"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2246"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2247"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48"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49"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50"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2251"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52"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53"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54"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55"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56"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57"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58"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2259"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2260"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2261"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62"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63"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64"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65"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66"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2267"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68"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2269"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2270"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2271"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2"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3"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4"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2275"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6"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7"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8"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79"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0"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1"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2"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3"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4"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85"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86"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87"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88"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89"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90"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52291"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2292"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52293"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2294"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5"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6"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7"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8"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9"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0"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1"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2"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3"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4"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5"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6"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7"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8"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9"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0"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1"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2"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3"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4"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5"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6"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7"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8"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9"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20"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1"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2"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3"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4"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5"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6"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7"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8"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9"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30"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2331"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2332"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2333"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2334"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2335"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2336"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2337"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2338"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2339"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2340"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2341"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2342"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2343"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2344"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2345"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2346"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2347"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2348"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2349"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2350"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9520" name="Line 128"/>
          <p:cNvSpPr>
            <a:spLocks noChangeShapeType="1"/>
          </p:cNvSpPr>
          <p:nvPr/>
        </p:nvSpPr>
        <p:spPr bwMode="auto">
          <a:xfrm>
            <a:off x="7069139" y="3357564"/>
            <a:ext cx="827087"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1" name="Line 129"/>
          <p:cNvSpPr>
            <a:spLocks noChangeShapeType="1"/>
          </p:cNvSpPr>
          <p:nvPr/>
        </p:nvSpPr>
        <p:spPr bwMode="auto">
          <a:xfrm>
            <a:off x="7896225" y="2565401"/>
            <a:ext cx="0" cy="777875"/>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2" name="Line 130"/>
          <p:cNvSpPr>
            <a:spLocks noChangeShapeType="1"/>
          </p:cNvSpPr>
          <p:nvPr/>
        </p:nvSpPr>
        <p:spPr bwMode="auto">
          <a:xfrm>
            <a:off x="7104064" y="2976563"/>
            <a:ext cx="1587" cy="381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3" name="Line 131"/>
          <p:cNvSpPr>
            <a:spLocks noChangeShapeType="1"/>
          </p:cNvSpPr>
          <p:nvPr/>
        </p:nvSpPr>
        <p:spPr bwMode="auto">
          <a:xfrm>
            <a:off x="6311901" y="2997200"/>
            <a:ext cx="792163" cy="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4" name="Line 132"/>
          <p:cNvSpPr>
            <a:spLocks noChangeShapeType="1"/>
          </p:cNvSpPr>
          <p:nvPr/>
        </p:nvSpPr>
        <p:spPr bwMode="auto">
          <a:xfrm>
            <a:off x="6311900" y="2997200"/>
            <a:ext cx="0" cy="381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5" name="Line 133"/>
          <p:cNvSpPr>
            <a:spLocks noChangeShapeType="1"/>
          </p:cNvSpPr>
          <p:nvPr/>
        </p:nvSpPr>
        <p:spPr bwMode="auto">
          <a:xfrm>
            <a:off x="5178426" y="3357564"/>
            <a:ext cx="1133475"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6" name="Line 134"/>
          <p:cNvSpPr>
            <a:spLocks noChangeShapeType="1"/>
          </p:cNvSpPr>
          <p:nvPr/>
        </p:nvSpPr>
        <p:spPr bwMode="auto">
          <a:xfrm>
            <a:off x="5159375" y="2622551"/>
            <a:ext cx="0" cy="741363"/>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13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9521"/>
                                        </p:tgtEl>
                                        <p:attrNameLst>
                                          <p:attrName>style.visibility</p:attrName>
                                        </p:attrNameLst>
                                      </p:cBhvr>
                                      <p:to>
                                        <p:strVal val="visible"/>
                                      </p:to>
                                    </p:set>
                                    <p:animEffect filter="wipe(up)">
                                      <p:cBhvr>
                                        <p:cTn id="7" dur="500"/>
                                        <p:tgtEl>
                                          <p:spTgt spid="5952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9520"/>
                                        </p:tgtEl>
                                        <p:attrNameLst>
                                          <p:attrName>style.visibility</p:attrName>
                                        </p:attrNameLst>
                                      </p:cBhvr>
                                      <p:to>
                                        <p:strVal val="visible"/>
                                      </p:to>
                                    </p:set>
                                    <p:animEffect filter="wipe(right)">
                                      <p:cBhvr>
                                        <p:cTn id="12" dur="500"/>
                                        <p:tgtEl>
                                          <p:spTgt spid="595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59522"/>
                                        </p:tgtEl>
                                        <p:attrNameLst>
                                          <p:attrName>style.visibility</p:attrName>
                                        </p:attrNameLst>
                                      </p:cBhvr>
                                      <p:to>
                                        <p:strVal val="visible"/>
                                      </p:to>
                                    </p:set>
                                    <p:animEffect filter="wipe(down)">
                                      <p:cBhvr>
                                        <p:cTn id="17" dur="500"/>
                                        <p:tgtEl>
                                          <p:spTgt spid="5952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59523"/>
                                        </p:tgtEl>
                                        <p:attrNameLst>
                                          <p:attrName>style.visibility</p:attrName>
                                        </p:attrNameLst>
                                      </p:cBhvr>
                                      <p:to>
                                        <p:strVal val="visible"/>
                                      </p:to>
                                    </p:set>
                                    <p:animEffect filter="wipe(right)">
                                      <p:cBhvr>
                                        <p:cTn id="22" dur="500"/>
                                        <p:tgtEl>
                                          <p:spTgt spid="5952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59524"/>
                                        </p:tgtEl>
                                        <p:attrNameLst>
                                          <p:attrName>style.visibility</p:attrName>
                                        </p:attrNameLst>
                                      </p:cBhvr>
                                      <p:to>
                                        <p:strVal val="visible"/>
                                      </p:to>
                                    </p:set>
                                    <p:animEffect filter="wipe(up)">
                                      <p:cBhvr>
                                        <p:cTn id="27" dur="500"/>
                                        <p:tgtEl>
                                          <p:spTgt spid="5952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nodeType="clickEffect">
                                  <p:stCondLst>
                                    <p:cond delay="0"/>
                                  </p:stCondLst>
                                  <p:childTnLst>
                                    <p:set>
                                      <p:cBhvr>
                                        <p:cTn id="31" dur="1" fill="hold">
                                          <p:stCondLst>
                                            <p:cond delay="0"/>
                                          </p:stCondLst>
                                        </p:cTn>
                                        <p:tgtEl>
                                          <p:spTgt spid="59525"/>
                                        </p:tgtEl>
                                        <p:attrNameLst>
                                          <p:attrName>style.visibility</p:attrName>
                                        </p:attrNameLst>
                                      </p:cBhvr>
                                      <p:to>
                                        <p:strVal val="visible"/>
                                      </p:to>
                                    </p:set>
                                    <p:animEffect filter="wipe(right)">
                                      <p:cBhvr>
                                        <p:cTn id="32" dur="500"/>
                                        <p:tgtEl>
                                          <p:spTgt spid="5952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nodeType="clickEffect">
                                  <p:stCondLst>
                                    <p:cond delay="0"/>
                                  </p:stCondLst>
                                  <p:childTnLst>
                                    <p:set>
                                      <p:cBhvr>
                                        <p:cTn id="36" dur="1" fill="hold">
                                          <p:stCondLst>
                                            <p:cond delay="0"/>
                                          </p:stCondLst>
                                        </p:cTn>
                                        <p:tgtEl>
                                          <p:spTgt spid="59526"/>
                                        </p:tgtEl>
                                        <p:attrNameLst>
                                          <p:attrName>style.visibility</p:attrName>
                                        </p:attrNameLst>
                                      </p:cBhvr>
                                      <p:to>
                                        <p:strVal val="visible"/>
                                      </p:to>
                                    </p:set>
                                    <p:animEffect filter="wipe(down)">
                                      <p:cBhvr>
                                        <p:cTn id="37" dur="500"/>
                                        <p:tgtEl>
                                          <p:spTgt spid="595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9" name="内容占位符 2"/>
          <p:cNvSpPr>
            <a:spLocks noGrp="1"/>
          </p:cNvSpPr>
          <p:nvPr>
            <p:ph idx="4294967295"/>
          </p:nvPr>
        </p:nvSpPr>
        <p:spPr>
          <a:xfrm>
            <a:off x="159798" y="1177555"/>
            <a:ext cx="11684480" cy="4351338"/>
          </a:xfrm>
        </p:spPr>
        <p:txBody>
          <a:bodyPr vert="horz" wrap="square" anchor="t">
            <a:normAutofit/>
          </a:bodyPr>
          <a:lstStyle/>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路径的保存：有时候除了要找到一个目标状态，还需要保存从初始结点到它的路径。路径可以随状态保存，也可以用链表穿起来。如果保存的所有结点或者路径长度不定，推荐使用链表。</a:t>
            </a:r>
            <a:endParaRPr lang="en-US" altLang="zh-CN" b="1" kern="100" noProof="1">
              <a:solidFill>
                <a:srgbClr val="014B88"/>
              </a:solidFill>
              <a:latin typeface="仿宋_GB2312"/>
              <a:cs typeface="Times New Roman" panose="02020603050405020304" pitchFamily="18" charset="0"/>
            </a:endParaRPr>
          </a:p>
          <a:p>
            <a:pPr lvl="1">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判重：新扩展出的节点如果和以前扩展出的节点相同，则这个新节点就不必再考虑。设定判重的方法的时候需要注意时间和空间的代价。</a:t>
            </a:r>
          </a:p>
        </p:txBody>
      </p:sp>
      <p:sp>
        <p:nvSpPr>
          <p:cNvPr id="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其他</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0419">
                                            <p:txEl>
                                              <p:pRg st="0" end="0"/>
                                            </p:txEl>
                                          </p:spTgt>
                                        </p:tgtEl>
                                        <p:attrNameLst>
                                          <p:attrName>style.visibility</p:attrName>
                                        </p:attrNameLst>
                                      </p:cBhvr>
                                      <p:to>
                                        <p:strVal val="visible"/>
                                      </p:to>
                                    </p:set>
                                    <p:animEffect transition="in" filter="wipe(down)">
                                      <p:cBhvr>
                                        <p:cTn id="7" dur="500"/>
                                        <p:tgtEl>
                                          <p:spTgt spid="6041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60419">
                                            <p:txEl>
                                              <p:pRg st="1" end="1"/>
                                            </p:txEl>
                                          </p:spTgt>
                                        </p:tgtEl>
                                        <p:attrNameLst>
                                          <p:attrName>style.visibility</p:attrName>
                                        </p:attrNameLst>
                                      </p:cBhvr>
                                      <p:to>
                                        <p:strVal val="visible"/>
                                      </p:to>
                                    </p:set>
                                    <p:animEffect transition="in" filter="wipe(down)">
                                      <p:cBhvr>
                                        <p:cTn id="12" dur="500"/>
                                        <p:tgtEl>
                                          <p:spTgt spid="6041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9" grpId="0"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838200" y="1253331"/>
            <a:ext cx="10515600" cy="4351337"/>
          </a:xfrm>
        </p:spPr>
        <p:txBody>
          <a:bodyPr>
            <a:normAutofit/>
          </a:bodyPr>
          <a:lstStyle/>
          <a:p>
            <a:pPr marL="0" indent="0">
              <a:buNone/>
            </a:pPr>
            <a:r>
              <a:rPr lang="en-US" altLang="zh-CN" b="1" dirty="0">
                <a:solidFill>
                  <a:srgbClr val="014B88"/>
                </a:solidFill>
                <a:latin typeface="Consolas" panose="020B0609020204030204" pitchFamily="49" charset="0"/>
              </a:rPr>
              <a:t>#include &lt;queue&gt;				//</a:t>
            </a:r>
            <a:r>
              <a:rPr lang="zh-CN" altLang="en-US" b="1" dirty="0">
                <a:solidFill>
                  <a:srgbClr val="014B88"/>
                </a:solidFill>
                <a:latin typeface="Consolas" panose="020B0609020204030204" pitchFamily="49" charset="0"/>
              </a:rPr>
              <a:t>头文件</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std</a:t>
            </a:r>
            <a:r>
              <a:rPr lang="en-US" altLang="zh-CN" b="1" dirty="0">
                <a:solidFill>
                  <a:srgbClr val="014B88"/>
                </a:solidFill>
                <a:latin typeface="Consolas" panose="020B0609020204030204" pitchFamily="49" charset="0"/>
              </a:rPr>
              <a:t>::queue&lt;</a:t>
            </a:r>
            <a:r>
              <a:rPr lang="en-US" altLang="zh-CN" b="1" dirty="0" err="1">
                <a:solidFill>
                  <a:srgbClr val="014B88"/>
                </a:solidFill>
                <a:latin typeface="Consolas" panose="020B0609020204030204" pitchFamily="49" charset="0"/>
              </a:rPr>
              <a:t>int</a:t>
            </a:r>
            <a:r>
              <a:rPr lang="en-US" altLang="zh-CN" b="1" dirty="0">
                <a:solidFill>
                  <a:srgbClr val="014B88"/>
                </a:solidFill>
                <a:latin typeface="Consolas" panose="020B0609020204030204" pitchFamily="49" charset="0"/>
              </a:rPr>
              <a:t>&gt; </a:t>
            </a:r>
            <a:r>
              <a:rPr lang="en-US" altLang="zh-CN" b="1" dirty="0" err="1">
                <a:solidFill>
                  <a:srgbClr val="014B88"/>
                </a:solidFill>
                <a:latin typeface="Consolas" panose="020B0609020204030204" pitchFamily="49" charset="0"/>
              </a:rPr>
              <a:t>myqueue</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定义</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myqueue.empty</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判断队列是否为空</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myqueue.size</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队列大小</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myqueue.push</a:t>
            </a:r>
            <a:r>
              <a:rPr lang="en-US" altLang="zh-CN" b="1" dirty="0">
                <a:solidFill>
                  <a:srgbClr val="014B88"/>
                </a:solidFill>
                <a:latin typeface="Consolas" panose="020B0609020204030204" pitchFamily="49" charset="0"/>
              </a:rPr>
              <a:t>(10);			//</a:t>
            </a:r>
            <a:r>
              <a:rPr lang="zh-CN" altLang="en-US" b="1" dirty="0">
                <a:solidFill>
                  <a:srgbClr val="014B88"/>
                </a:solidFill>
                <a:latin typeface="Consolas" panose="020B0609020204030204" pitchFamily="49" charset="0"/>
              </a:rPr>
              <a:t>元素进队</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myqueue.front</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获得队首元素</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myqueue.back</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获得队尾元素</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myqueue.pop</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队首出队</a:t>
            </a:r>
            <a:endParaRPr lang="en-US" altLang="zh-CN" b="1" dirty="0">
              <a:solidFill>
                <a:srgbClr val="014B88"/>
              </a:solidFill>
              <a:latin typeface="Consolas" panose="020B0609020204030204" pitchFamily="49" charset="0"/>
            </a:endParaRPr>
          </a:p>
          <a:p>
            <a:pPr marL="0" indent="0">
              <a:buNone/>
            </a:pPr>
            <a:endParaRPr lang="zh-CN" altLang="en-US" dirty="0"/>
          </a:p>
        </p:txBody>
      </p:sp>
      <p:sp>
        <p:nvSpPr>
          <p:cNvPr id="4" name="TextBox 36"/>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STL</a:t>
            </a:r>
            <a:r>
              <a:rPr lang="zh-CN" altLang="en-US" sz="3200" b="1" dirty="0">
                <a:solidFill>
                  <a:srgbClr val="C00000"/>
                </a:solidFill>
                <a:latin typeface="微软雅黑" panose="020B0503020204020204" pitchFamily="34" charset="-122"/>
                <a:ea typeface="微软雅黑" panose="020B0503020204020204" pitchFamily="34" charset="-122"/>
              </a:rPr>
              <a:t>的应用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队列</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内容占位符 2"/>
          <p:cNvSpPr>
            <a:spLocks noGrp="1"/>
          </p:cNvSpPr>
          <p:nvPr>
            <p:ph idx="4294967295"/>
          </p:nvPr>
        </p:nvSpPr>
        <p:spPr>
          <a:xfrm>
            <a:off x="5395126" y="1318768"/>
            <a:ext cx="6021558" cy="5183187"/>
          </a:xfrm>
        </p:spPr>
        <p:txBody>
          <a:bodyPr>
            <a:normAutofit/>
          </a:bodyPr>
          <a:lstStyle/>
          <a:p>
            <a:pPr eaLnBrk="1" hangingPunct="1">
              <a:lnSpc>
                <a:spcPct val="150000"/>
              </a:lnSpc>
            </a:pPr>
            <a:r>
              <a:rPr lang="zh-CN" altLang="en-US" sz="2400" b="1" kern="100" dirty="0">
                <a:solidFill>
                  <a:srgbClr val="014B88"/>
                </a:solidFill>
                <a:latin typeface="仿宋_GB2312"/>
                <a:cs typeface="Times New Roman" panose="02020603050405020304" pitchFamily="18" charset="0"/>
              </a:rPr>
              <a:t>机器人走迷宫，</a:t>
            </a:r>
            <a:r>
              <a:rPr lang="en-US" altLang="zh-CN" sz="2400" b="1" kern="100" dirty="0">
                <a:solidFill>
                  <a:srgbClr val="014B88"/>
                </a:solidFill>
                <a:latin typeface="仿宋_GB2312"/>
                <a:cs typeface="Times New Roman" panose="02020603050405020304" pitchFamily="18" charset="0"/>
              </a:rPr>
              <a:t>S</a:t>
            </a:r>
            <a:r>
              <a:rPr lang="zh-CN" altLang="en-US" sz="2400" b="1" kern="100" dirty="0">
                <a:solidFill>
                  <a:srgbClr val="014B88"/>
                </a:solidFill>
                <a:latin typeface="仿宋_GB2312"/>
                <a:cs typeface="Times New Roman" panose="02020603050405020304" pitchFamily="18" charset="0"/>
              </a:rPr>
              <a:t>是出发点，</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是目标点。</a:t>
            </a:r>
            <a:r>
              <a:rPr lang="en-US" altLang="zh-CN" sz="2400" b="1" kern="100" dirty="0">
                <a:solidFill>
                  <a:srgbClr val="014B88"/>
                </a:solidFill>
                <a:latin typeface="仿宋_GB2312"/>
                <a:cs typeface="Times New Roman" panose="02020603050405020304" pitchFamily="18" charset="0"/>
              </a:rPr>
              <a:t>’#’</a:t>
            </a:r>
            <a:r>
              <a:rPr lang="zh-CN" altLang="en-US" sz="2400" b="1" kern="100" dirty="0">
                <a:solidFill>
                  <a:srgbClr val="014B88"/>
                </a:solidFill>
                <a:latin typeface="仿宋_GB2312"/>
                <a:cs typeface="Times New Roman" panose="02020603050405020304" pitchFamily="18" charset="0"/>
              </a:rPr>
              <a:t>不能走，</a:t>
            </a:r>
            <a:r>
              <a:rPr lang="en-US" altLang="zh-CN" sz="2400" b="1" kern="100" dirty="0">
                <a:solidFill>
                  <a:srgbClr val="014B88"/>
                </a:solidFill>
                <a:latin typeface="仿宋_GB2312"/>
                <a:cs typeface="Times New Roman" panose="02020603050405020304" pitchFamily="18" charset="0"/>
              </a:rPr>
              <a:t>’.’</a:t>
            </a:r>
            <a:r>
              <a:rPr lang="zh-CN" altLang="en-US" sz="2400" b="1" kern="100" dirty="0">
                <a:solidFill>
                  <a:srgbClr val="014B88"/>
                </a:solidFill>
                <a:latin typeface="仿宋_GB2312"/>
                <a:cs typeface="Times New Roman" panose="02020603050405020304" pitchFamily="18" charset="0"/>
              </a:rPr>
              <a:t>能走</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pPr>
            <a:r>
              <a:rPr lang="zh-CN" altLang="en-US" sz="2400" b="1" kern="100" dirty="0">
                <a:solidFill>
                  <a:srgbClr val="014B88"/>
                </a:solidFill>
                <a:latin typeface="仿宋_GB2312"/>
                <a:cs typeface="Times New Roman" panose="02020603050405020304" pitchFamily="18" charset="0"/>
              </a:rPr>
              <a:t>问最少多少步可以从</a:t>
            </a:r>
            <a:r>
              <a:rPr lang="en-US" altLang="zh-CN" sz="2400" b="1" kern="100" dirty="0">
                <a:solidFill>
                  <a:srgbClr val="014B88"/>
                </a:solidFill>
                <a:latin typeface="仿宋_GB2312"/>
                <a:cs typeface="Times New Roman" panose="02020603050405020304" pitchFamily="18" charset="0"/>
              </a:rPr>
              <a:t>S</a:t>
            </a:r>
            <a:r>
              <a:rPr lang="zh-CN" altLang="en-US" sz="2400" b="1" kern="100" dirty="0">
                <a:solidFill>
                  <a:srgbClr val="014B88"/>
                </a:solidFill>
                <a:latin typeface="仿宋_GB2312"/>
                <a:cs typeface="Times New Roman" panose="02020603050405020304" pitchFamily="18" charset="0"/>
              </a:rPr>
              <a:t>走到 </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，不能走到输出</a:t>
            </a:r>
            <a:r>
              <a:rPr lang="en-US" altLang="zh-CN" sz="2400" b="1" kern="100" dirty="0">
                <a:solidFill>
                  <a:srgbClr val="014B88"/>
                </a:solidFill>
                <a:latin typeface="仿宋_GB2312"/>
                <a:cs typeface="Times New Roman" panose="02020603050405020304" pitchFamily="18" charset="0"/>
              </a:rPr>
              <a:t> -1</a:t>
            </a:r>
          </a:p>
          <a:p>
            <a:pPr eaLnBrk="1" hangingPunct="1">
              <a:lnSpc>
                <a:spcPct val="150000"/>
              </a:lnSpc>
            </a:pPr>
            <a:r>
              <a:rPr lang="zh-CN" altLang="en-US" sz="2400" b="1" kern="100" dirty="0">
                <a:solidFill>
                  <a:srgbClr val="014B88"/>
                </a:solidFill>
                <a:latin typeface="仿宋_GB2312"/>
                <a:cs typeface="Times New Roman" panose="02020603050405020304" pitchFamily="18" charset="0"/>
              </a:rPr>
              <a:t>由</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的思想，当第一次访问到某个点时，必然是经过最少的步数到达的该点</a:t>
            </a:r>
          </a:p>
        </p:txBody>
      </p:sp>
      <p:sp>
        <p:nvSpPr>
          <p:cNvPr id="4" name="Text Box 6"/>
          <p:cNvSpPr txBox="1">
            <a:spLocks noChangeArrowheads="1"/>
          </p:cNvSpPr>
          <p:nvPr/>
        </p:nvSpPr>
        <p:spPr bwMode="auto">
          <a:xfrm>
            <a:off x="474231" y="1318768"/>
            <a:ext cx="1295400" cy="3937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Input：</a:t>
            </a:r>
          </a:p>
          <a:p>
            <a:pPr eaLnBrk="1" hangingPunct="1"/>
            <a:endParaRPr lang="zh-CN" altLang="zh-CN" dirty="0">
              <a:ea typeface="宋体" panose="02010600030101010101" pitchFamily="2" charset="-122"/>
            </a:endParaRPr>
          </a:p>
          <a:p>
            <a:pPr eaLnBrk="1" hangingPunct="1"/>
            <a:r>
              <a:rPr lang="zh-CN" altLang="zh-CN" dirty="0">
                <a:ea typeface="宋体" panose="02010600030101010101" pitchFamily="2" charset="-122"/>
              </a:rPr>
              <a:t>2</a:t>
            </a:r>
          </a:p>
          <a:p>
            <a:pPr eaLnBrk="1" hangingPunct="1"/>
            <a:r>
              <a:rPr lang="zh-CN" altLang="zh-CN" dirty="0">
                <a:ea typeface="宋体" panose="02010600030101010101" pitchFamily="2" charset="-122"/>
              </a:rPr>
              <a:t>5 5</a:t>
            </a:r>
          </a:p>
          <a:p>
            <a:pPr eaLnBrk="1" hangingPunct="1"/>
            <a:r>
              <a:rPr lang="zh-CN" altLang="zh-CN" dirty="0">
                <a:ea typeface="宋体" panose="02010600030101010101" pitchFamily="2" charset="-122"/>
              </a:rPr>
              <a:t>#####</a:t>
            </a:r>
          </a:p>
          <a:p>
            <a:pPr eaLnBrk="1" hangingPunct="1"/>
            <a:r>
              <a:rPr lang="zh-CN" altLang="zh-CN" dirty="0">
                <a:ea typeface="宋体" panose="02010600030101010101" pitchFamily="2" charset="-122"/>
              </a:rPr>
              <a:t># . . . #</a:t>
            </a:r>
          </a:p>
          <a:p>
            <a:pPr eaLnBrk="1" hangingPunct="1"/>
            <a:r>
              <a:rPr lang="zh-CN" altLang="zh-CN" dirty="0">
                <a:ea typeface="宋体" panose="02010600030101010101" pitchFamily="2" charset="-122"/>
              </a:rPr>
              <a:t># .# . #</a:t>
            </a:r>
          </a:p>
          <a:p>
            <a:pPr eaLnBrk="1" hangingPunct="1"/>
            <a:r>
              <a:rPr lang="zh-CN" altLang="zh-CN" dirty="0">
                <a:ea typeface="宋体" panose="02010600030101010101" pitchFamily="2" charset="-122"/>
              </a:rPr>
              <a:t>#S#T#</a:t>
            </a:r>
          </a:p>
          <a:p>
            <a:pPr eaLnBrk="1" hangingPunct="1"/>
            <a:r>
              <a:rPr lang="zh-CN" altLang="zh-CN" dirty="0">
                <a:ea typeface="宋体" panose="02010600030101010101" pitchFamily="2" charset="-122"/>
              </a:rPr>
              <a:t>#####</a:t>
            </a:r>
          </a:p>
          <a:p>
            <a:pPr eaLnBrk="1" hangingPunct="1"/>
            <a:r>
              <a:rPr lang="zh-CN" altLang="zh-CN" dirty="0">
                <a:ea typeface="宋体" panose="02010600030101010101" pitchFamily="2" charset="-122"/>
              </a:rPr>
              <a:t>4 5</a:t>
            </a:r>
          </a:p>
          <a:p>
            <a:pPr eaLnBrk="1" hangingPunct="1"/>
            <a:r>
              <a:rPr lang="zh-CN" altLang="zh-CN" dirty="0">
                <a:ea typeface="宋体" panose="02010600030101010101" pitchFamily="2" charset="-122"/>
              </a:rPr>
              <a:t># .# . #</a:t>
            </a:r>
          </a:p>
          <a:p>
            <a:pPr eaLnBrk="1" hangingPunct="1"/>
            <a:r>
              <a:rPr lang="zh-CN" altLang="zh-CN" dirty="0">
                <a:ea typeface="宋体" panose="02010600030101010101" pitchFamily="2" charset="-122"/>
              </a:rPr>
              <a:t># .# . #</a:t>
            </a:r>
          </a:p>
          <a:p>
            <a:pPr eaLnBrk="1" hangingPunct="1"/>
            <a:r>
              <a:rPr lang="zh-CN" altLang="zh-CN" dirty="0">
                <a:ea typeface="宋体" panose="02010600030101010101" pitchFamily="2" charset="-122"/>
              </a:rPr>
              <a:t>#S#T#</a:t>
            </a:r>
          </a:p>
          <a:p>
            <a:pPr eaLnBrk="1" hangingPunct="1"/>
            <a:r>
              <a:rPr lang="zh-CN" altLang="zh-CN" dirty="0">
                <a:ea typeface="宋体" panose="02010600030101010101" pitchFamily="2" charset="-122"/>
              </a:rPr>
              <a:t>#####</a:t>
            </a:r>
          </a:p>
        </p:txBody>
      </p:sp>
      <p:sp>
        <p:nvSpPr>
          <p:cNvPr id="5" name="Text Box 7"/>
          <p:cNvSpPr txBox="1">
            <a:spLocks noChangeArrowheads="1"/>
          </p:cNvSpPr>
          <p:nvPr/>
        </p:nvSpPr>
        <p:spPr bwMode="auto">
          <a:xfrm>
            <a:off x="2763561" y="1341396"/>
            <a:ext cx="1295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Output：</a:t>
            </a:r>
          </a:p>
          <a:p>
            <a:pPr eaLnBrk="1" hangingPunct="1"/>
            <a:endParaRPr lang="zh-CN" altLang="zh-CN" dirty="0">
              <a:ea typeface="宋体" panose="02010600030101010101" pitchFamily="2" charset="-122"/>
            </a:endParaRPr>
          </a:p>
          <a:p>
            <a:pPr eaLnBrk="1" hangingPunct="1"/>
            <a:r>
              <a:rPr lang="en-US" altLang="zh-CN" dirty="0">
                <a:ea typeface="宋体" panose="02010600030101010101" pitchFamily="2" charset="-122"/>
              </a:rPr>
              <a:t>6</a:t>
            </a:r>
            <a:endParaRPr lang="zh-CN" altLang="zh-CN" dirty="0">
              <a:ea typeface="宋体" panose="02010600030101010101" pitchFamily="2" charset="-122"/>
            </a:endParaRPr>
          </a:p>
          <a:p>
            <a:pPr eaLnBrk="1" hangingPunct="1"/>
            <a:r>
              <a:rPr lang="zh-CN" altLang="zh-CN" dirty="0">
                <a:ea typeface="宋体" panose="02010600030101010101" pitchFamily="2" charset="-122"/>
              </a:rPr>
              <a:t>-1</a:t>
            </a: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3315">
                                            <p:txEl>
                                              <p:pRg st="0" end="0"/>
                                            </p:txEl>
                                          </p:spTgt>
                                        </p:tgtEl>
                                        <p:attrNameLst>
                                          <p:attrName>style.visibility</p:attrName>
                                        </p:attrNameLst>
                                      </p:cBhvr>
                                      <p:to>
                                        <p:strVal val="visible"/>
                                      </p:to>
                                    </p:set>
                                    <p:anim calcmode="lin" valueType="num">
                                      <p:cBhvr additive="base">
                                        <p:cTn id="19" dur="500" fill="hold"/>
                                        <p:tgtEl>
                                          <p:spTgt spid="13315">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3315">
                                            <p:txEl>
                                              <p:pRg st="0" end="0"/>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3315">
                                            <p:txEl>
                                              <p:pRg st="1" end="1"/>
                                            </p:txEl>
                                          </p:spTgt>
                                        </p:tgtEl>
                                        <p:attrNameLst>
                                          <p:attrName>style.visibility</p:attrName>
                                        </p:attrNameLst>
                                      </p:cBhvr>
                                      <p:to>
                                        <p:strVal val="visible"/>
                                      </p:to>
                                    </p:set>
                                    <p:anim calcmode="lin" valueType="num">
                                      <p:cBhvr additive="base">
                                        <p:cTn id="23" dur="500" fill="hold"/>
                                        <p:tgtEl>
                                          <p:spTgt spid="13315">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331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3315">
                                            <p:txEl>
                                              <p:pRg st="2" end="2"/>
                                            </p:txEl>
                                          </p:spTgt>
                                        </p:tgtEl>
                                        <p:attrNameLst>
                                          <p:attrName>style.visibility</p:attrName>
                                        </p:attrNameLst>
                                      </p:cBhvr>
                                      <p:to>
                                        <p:strVal val="visible"/>
                                      </p:to>
                                    </p:set>
                                    <p:animEffect transition="in" filter="fade">
                                      <p:cBhvr>
                                        <p:cTn id="29" dur="500"/>
                                        <p:tgtEl>
                                          <p:spTgt spid="1331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utoUpdateAnimBg="0"/>
      <p:bldP spid="5" grpId="0" autoUpdateAnimBg="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a:t>
            </a:r>
          </a:p>
        </p:txBody>
      </p:sp>
      <p:sp>
        <p:nvSpPr>
          <p:cNvPr id="2" name="文本框 1"/>
          <p:cNvSpPr txBox="1"/>
          <p:nvPr/>
        </p:nvSpPr>
        <p:spPr>
          <a:xfrm>
            <a:off x="834501" y="972053"/>
            <a:ext cx="11114843" cy="5355312"/>
          </a:xfrm>
          <a:prstGeom prst="rect">
            <a:avLst/>
          </a:prstGeom>
          <a:noFill/>
        </p:spPr>
        <p:txBody>
          <a:bodyPr wrap="square" rtlCol="0">
            <a:spAutoFit/>
          </a:bodyPr>
          <a:lstStyle/>
          <a:p>
            <a:pPr marL="342900" indent="-342900">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 使用三元组（</a:t>
            </a:r>
            <a:r>
              <a:rPr lang="en-US" altLang="zh-CN" sz="2400" b="1" kern="100" dirty="0">
                <a:solidFill>
                  <a:srgbClr val="014B88"/>
                </a:solidFill>
                <a:latin typeface="仿宋_GB2312"/>
                <a:cs typeface="Times New Roman" panose="02020603050405020304" pitchFamily="18" charset="0"/>
              </a:rPr>
              <a:t>X,Y,STEP</a:t>
            </a:r>
            <a:r>
              <a:rPr lang="zh-CN" altLang="en-US" sz="2400" b="1" kern="100" dirty="0">
                <a:solidFill>
                  <a:srgbClr val="014B88"/>
                </a:solidFill>
                <a:latin typeface="仿宋_GB2312"/>
                <a:cs typeface="Times New Roman" panose="02020603050405020304" pitchFamily="18" charset="0"/>
              </a:rPr>
              <a:t>）记录状态。（</a:t>
            </a:r>
            <a:r>
              <a:rPr lang="en-US" altLang="zh-CN" sz="2400" b="1" kern="100" dirty="0">
                <a:solidFill>
                  <a:srgbClr val="014B88"/>
                </a:solidFill>
                <a:latin typeface="仿宋_GB2312"/>
                <a:cs typeface="Times New Roman" panose="02020603050405020304" pitchFamily="18" charset="0"/>
              </a:rPr>
              <a:t>X,Y</a:t>
            </a:r>
            <a:r>
              <a:rPr lang="zh-CN" altLang="en-US" sz="2400" b="1" kern="100" dirty="0">
                <a:solidFill>
                  <a:srgbClr val="014B88"/>
                </a:solidFill>
                <a:latin typeface="仿宋_GB2312"/>
                <a:cs typeface="Times New Roman" panose="02020603050405020304" pitchFamily="18" charset="0"/>
              </a:rPr>
              <a:t>）表示当前机器人的位置，</a:t>
            </a:r>
            <a:r>
              <a:rPr lang="en-US" altLang="zh-CN" sz="2400" b="1" kern="100" dirty="0">
                <a:solidFill>
                  <a:srgbClr val="014B88"/>
                </a:solidFill>
                <a:latin typeface="仿宋_GB2312"/>
                <a:cs typeface="Times New Roman" panose="02020603050405020304" pitchFamily="18" charset="0"/>
              </a:rPr>
              <a:t>STEP</a:t>
            </a:r>
            <a:r>
              <a:rPr lang="zh-CN" altLang="en-US" sz="2400" b="1" kern="100" dirty="0">
                <a:solidFill>
                  <a:srgbClr val="014B88"/>
                </a:solidFill>
                <a:latin typeface="仿宋_GB2312"/>
                <a:cs typeface="Times New Roman" panose="02020603050405020304" pitchFamily="18" charset="0"/>
              </a:rPr>
              <a:t>表示当前已经走过的步数</a:t>
            </a:r>
          </a:p>
          <a:p>
            <a:pPr marL="342900" indent="-342900">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状态转移： </a:t>
            </a:r>
          </a:p>
          <a:p>
            <a:pPr>
              <a:lnSpc>
                <a:spcPct val="150000"/>
              </a:lnSpc>
            </a:pPr>
            <a:r>
              <a:rPr lang="zh-CN" altLang="en-US" sz="2400" b="1" kern="100" dirty="0">
                <a:solidFill>
                  <a:srgbClr val="014B88"/>
                </a:solidFill>
                <a:latin typeface="仿宋_GB2312"/>
                <a:cs typeface="Times New Roman" panose="02020603050405020304" pitchFamily="18" charset="0"/>
              </a:rPr>
              <a:t>     </a:t>
            </a:r>
            <a:r>
              <a:rPr lang="en-US" altLang="zh-CN" sz="2400" b="1" kern="100" dirty="0">
                <a:solidFill>
                  <a:srgbClr val="014B88"/>
                </a:solidFill>
                <a:latin typeface="仿宋_GB2312"/>
                <a:cs typeface="Times New Roman" panose="02020603050405020304" pitchFamily="18" charset="0"/>
              </a:rPr>
              <a:t>(X-1,Y,STEP+1)(X,Y-1,STEP+1)(X+1,Y,STEP+1)(X,Y+1,STEP+1)</a:t>
            </a:r>
          </a:p>
          <a:p>
            <a:pPr marL="342900" indent="-342900">
              <a:lnSpc>
                <a:spcPct val="150000"/>
              </a:lnSpc>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过程：</a:t>
            </a:r>
          </a:p>
          <a:p>
            <a:r>
              <a:rPr lang="en-US" altLang="zh-CN" sz="2400" b="1" kern="100" dirty="0">
                <a:solidFill>
                  <a:srgbClr val="014B88"/>
                </a:solidFill>
                <a:latin typeface="仿宋_GB2312"/>
                <a:cs typeface="Times New Roman" panose="02020603050405020304" pitchFamily="18" charset="0"/>
              </a:rPr>
              <a:t>BFS ( ) </a:t>
            </a:r>
          </a:p>
          <a:p>
            <a:r>
              <a:rPr lang="en-US" altLang="zh-CN" sz="2400" b="1" kern="100" dirty="0">
                <a:solidFill>
                  <a:srgbClr val="014B88"/>
                </a:solidFill>
                <a:latin typeface="仿宋_GB2312"/>
                <a:cs typeface="Times New Roman" panose="02020603050405020304" pitchFamily="18" charset="0"/>
              </a:rPr>
              <a:t>	S</a:t>
            </a:r>
            <a:r>
              <a:rPr lang="zh-CN" altLang="en-US" sz="2400" b="1" kern="100" dirty="0">
                <a:solidFill>
                  <a:srgbClr val="014B88"/>
                </a:solidFill>
                <a:latin typeface="仿宋_GB2312"/>
                <a:cs typeface="Times New Roman" panose="02020603050405020304" pitchFamily="18" charset="0"/>
              </a:rPr>
              <a:t>入队</a:t>
            </a: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如果队列非空</a:t>
            </a: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取出队头元素，如果该元素为终点</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，返回</a:t>
            </a:r>
            <a:r>
              <a:rPr lang="en-US" altLang="zh-CN" sz="2400" b="1" kern="100" dirty="0">
                <a:solidFill>
                  <a:srgbClr val="014B88"/>
                </a:solidFill>
                <a:latin typeface="仿宋_GB2312"/>
                <a:cs typeface="Times New Roman" panose="02020603050405020304" pitchFamily="18" charset="0"/>
              </a:rPr>
              <a:t>step</a:t>
            </a: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对该结点的每种转移状态</a:t>
            </a: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如果没有被访问过，加入队列</a:t>
            </a:r>
          </a:p>
          <a:p>
            <a:endParaRPr lang="zh-CN" altLang="en-US" dirty="0"/>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40310" y="1401205"/>
            <a:ext cx="5755690" cy="4801314"/>
          </a:xfrm>
          <a:prstGeom prst="rect">
            <a:avLst/>
          </a:prstGeom>
          <a:solidFill>
            <a:schemeClr val="tx1"/>
          </a:solidFill>
        </p:spPr>
        <p:txBody>
          <a:bodyPr wrap="square">
            <a:spAutoFit/>
          </a:bodyPr>
          <a:lstStyle/>
          <a:p>
            <a:r>
              <a:rPr lang="en-US" altLang="zh-CN" dirty="0">
                <a:solidFill>
                  <a:srgbClr val="C586C0"/>
                </a:solidFill>
                <a:latin typeface="Consolas" panose="020B0609020204030204" pitchFamily="49" charset="0"/>
              </a:rPr>
              <a:t>#include</a:t>
            </a:r>
            <a:r>
              <a:rPr lang="en-US" altLang="zh-CN" dirty="0">
                <a:solidFill>
                  <a:srgbClr val="569CD6"/>
                </a:solidFill>
                <a:latin typeface="Consolas" panose="020B0609020204030204" pitchFamily="49" charset="0"/>
              </a:rPr>
              <a:t> </a:t>
            </a:r>
            <a:r>
              <a:rPr lang="en-US" altLang="zh-CN" dirty="0">
                <a:solidFill>
                  <a:srgbClr val="CE9178"/>
                </a:solidFill>
                <a:latin typeface="Consolas" panose="020B0609020204030204" pitchFamily="49" charset="0"/>
              </a:rPr>
              <a:t>&lt;bits/</a:t>
            </a:r>
            <a:r>
              <a:rPr lang="en-US" altLang="zh-CN" dirty="0" err="1">
                <a:solidFill>
                  <a:srgbClr val="CE9178"/>
                </a:solidFill>
                <a:latin typeface="Consolas" panose="020B0609020204030204" pitchFamily="49" charset="0"/>
              </a:rPr>
              <a:t>stdc</a:t>
            </a:r>
            <a:r>
              <a:rPr lang="en-US" altLang="zh-CN" dirty="0">
                <a:solidFill>
                  <a:srgbClr val="CE9178"/>
                </a:solidFill>
                <a:latin typeface="Consolas" panose="020B0609020204030204" pitchFamily="49" charset="0"/>
              </a:rPr>
              <a:t>++.h&gt;</a:t>
            </a:r>
            <a:endParaRPr lang="en-US" altLang="zh-CN" dirty="0">
              <a:solidFill>
                <a:srgbClr val="D4D4D4"/>
              </a:solidFill>
              <a:latin typeface="Consolas" panose="020B0609020204030204" pitchFamily="49" charset="0"/>
            </a:endParaRPr>
          </a:p>
          <a:p>
            <a:r>
              <a:rPr lang="en-US" altLang="zh-CN" dirty="0">
                <a:solidFill>
                  <a:srgbClr val="C586C0"/>
                </a:solidFill>
                <a:latin typeface="Consolas" panose="020B0609020204030204" pitchFamily="49" charset="0"/>
              </a:rPr>
              <a:t>using</a:t>
            </a:r>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namespace</a:t>
            </a:r>
            <a:r>
              <a:rPr lang="en-US" altLang="zh-CN" dirty="0">
                <a:solidFill>
                  <a:srgbClr val="D4D4D4"/>
                </a:solidFill>
                <a:latin typeface="Consolas" panose="020B0609020204030204" pitchFamily="49" charset="0"/>
              </a:rPr>
              <a:t> </a:t>
            </a:r>
            <a:r>
              <a:rPr lang="en-US" altLang="zh-CN" dirty="0">
                <a:solidFill>
                  <a:srgbClr val="4EC9B0"/>
                </a:solidFill>
                <a:latin typeface="Consolas" panose="020B0609020204030204" pitchFamily="49" charset="0"/>
              </a:rPr>
              <a:t>std</a:t>
            </a:r>
            <a:r>
              <a:rPr lang="en-US" altLang="zh-CN" dirty="0">
                <a:solidFill>
                  <a:srgbClr val="D4D4D4"/>
                </a:solidFill>
                <a:latin typeface="Consolas" panose="020B0609020204030204" pitchFamily="49" charset="0"/>
              </a:rPr>
              <a:t>;</a:t>
            </a:r>
          </a:p>
          <a:p>
            <a:br>
              <a:rPr lang="en-US" altLang="zh-CN" dirty="0">
                <a:solidFill>
                  <a:srgbClr val="D4D4D4"/>
                </a:solidFill>
                <a:latin typeface="Consolas" panose="020B0609020204030204" pitchFamily="49" charset="0"/>
              </a:rPr>
            </a:br>
            <a:r>
              <a:rPr lang="en-US" altLang="zh-CN" dirty="0">
                <a:solidFill>
                  <a:srgbClr val="569CD6"/>
                </a:solidFill>
                <a:latin typeface="Consolas" panose="020B0609020204030204" pitchFamily="49" charset="0"/>
              </a:rPr>
              <a:t>struct</a:t>
            </a:r>
            <a:r>
              <a:rPr lang="en-US" altLang="zh-CN" dirty="0">
                <a:solidFill>
                  <a:srgbClr val="D4D4D4"/>
                </a:solidFill>
                <a:latin typeface="Consolas" panose="020B0609020204030204" pitchFamily="49" charset="0"/>
              </a:rPr>
              <a:t> </a:t>
            </a:r>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step</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Node</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Node</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xx</a:t>
            </a:r>
            <a:r>
              <a:rPr lang="en-US" altLang="zh-CN" dirty="0" err="1">
                <a:solidFill>
                  <a:srgbClr val="D4D4D4"/>
                </a:solidFill>
                <a:latin typeface="Consolas" panose="020B0609020204030204" pitchFamily="49" charset="0"/>
              </a:rPr>
              <a:t>,</a:t>
            </a:r>
            <a:r>
              <a:rPr lang="en-US" altLang="zh-CN" dirty="0" err="1">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yy</a:t>
            </a:r>
            <a:r>
              <a:rPr lang="en-US" altLang="zh-CN" dirty="0" err="1">
                <a:solidFill>
                  <a:srgbClr val="D4D4D4"/>
                </a:solidFill>
                <a:latin typeface="Consolas" panose="020B0609020204030204" pitchFamily="49" charset="0"/>
              </a:rPr>
              <a:t>,</a:t>
            </a:r>
            <a:r>
              <a:rPr lang="en-US" altLang="zh-CN" dirty="0" err="1">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ss</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xx</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yy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step</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ss</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a:t>
            </a:r>
          </a:p>
          <a:p>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p>
          <a:p>
            <a:r>
              <a:rPr lang="en-US" altLang="zh-CN" dirty="0">
                <a:solidFill>
                  <a:srgbClr val="4EC9B0"/>
                </a:solidFill>
                <a:latin typeface="Consolas" panose="020B0609020204030204" pitchFamily="49" charset="0"/>
              </a:rPr>
              <a:t>queue</a:t>
            </a:r>
            <a:r>
              <a:rPr lang="en-US" altLang="zh-CN" dirty="0">
                <a:solidFill>
                  <a:srgbClr val="D4D4D4"/>
                </a:solidFill>
                <a:latin typeface="Consolas" panose="020B0609020204030204" pitchFamily="49" charset="0"/>
              </a:rPr>
              <a:t> &lt;</a:t>
            </a:r>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&gt; </a:t>
            </a:r>
            <a:r>
              <a:rPr lang="en-US" altLang="zh-CN" dirty="0">
                <a:solidFill>
                  <a:srgbClr val="9CDCFE"/>
                </a:solidFill>
                <a:latin typeface="Consolas" panose="020B0609020204030204" pitchFamily="49" charset="0"/>
              </a:rPr>
              <a:t>Q</a:t>
            </a:r>
            <a:r>
              <a:rPr lang="en-US" altLang="zh-CN" dirty="0">
                <a:solidFill>
                  <a:srgbClr val="D4D4D4"/>
                </a:solidFill>
                <a:latin typeface="Consolas" panose="020B0609020204030204" pitchFamily="49" charset="0"/>
              </a:rPr>
              <a:t>;</a:t>
            </a: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dir</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4</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2</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p>
        </p:txBody>
      </p:sp>
      <p:sp>
        <p:nvSpPr>
          <p:cNvPr id="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4" name="矩形 3"/>
          <p:cNvSpPr/>
          <p:nvPr/>
        </p:nvSpPr>
        <p:spPr>
          <a:xfrm>
            <a:off x="6145220" y="58846"/>
            <a:ext cx="5874060" cy="6740307"/>
          </a:xfrm>
          <a:prstGeom prst="rect">
            <a:avLst/>
          </a:prstGeom>
          <a:solidFill>
            <a:schemeClr val="tx1"/>
          </a:solidFill>
        </p:spPr>
        <p:txBody>
          <a:bodyPr wrap="square">
            <a:spAutoFit/>
          </a:bodyPr>
          <a:lstStyle/>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main</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T</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cin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T</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char</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T</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cin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memset</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sizeof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Q</a:t>
            </a:r>
            <a:r>
              <a:rPr lang="en-US" altLang="zh-CN" dirty="0" err="1">
                <a:solidFill>
                  <a:srgbClr val="D4D4D4"/>
                </a:solidFill>
                <a:latin typeface="Consolas" panose="020B0609020204030204" pitchFamily="49" charset="0"/>
              </a:rPr>
              <a:t>.</a:t>
            </a:r>
            <a:r>
              <a:rPr lang="en-US" altLang="zh-CN" dirty="0" err="1">
                <a:solidFill>
                  <a:srgbClr val="DCDCAA"/>
                </a:solidFill>
                <a:latin typeface="Consolas" panose="020B0609020204030204" pitchFamily="49" charset="0"/>
              </a:rPr>
              <a:t>empty</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Q</a:t>
            </a:r>
            <a:r>
              <a:rPr lang="en-US" altLang="zh-CN" dirty="0" err="1">
                <a:solidFill>
                  <a:srgbClr val="D4D4D4"/>
                </a:solidFill>
                <a:latin typeface="Consolas" panose="020B0609020204030204" pitchFamily="49" charset="0"/>
              </a:rPr>
              <a:t>.</a:t>
            </a:r>
            <a:r>
              <a:rPr lang="en-US" altLang="zh-CN" dirty="0" err="1">
                <a:solidFill>
                  <a:srgbClr val="DCDCAA"/>
                </a:solidFill>
                <a:latin typeface="Consolas" panose="020B0609020204030204" pitchFamily="49" charset="0"/>
              </a:rPr>
              <a:t>pop</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cin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ex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ey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if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 </a:t>
            </a:r>
            <a:r>
              <a:rPr lang="en-US" altLang="zh-CN" dirty="0">
                <a:solidFill>
                  <a:srgbClr val="CE9178"/>
                </a:solidFill>
                <a:latin typeface="Consolas" panose="020B0609020204030204" pitchFamily="49" charset="0"/>
              </a:rPr>
              <a:t>'S'</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if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 </a:t>
            </a:r>
            <a:r>
              <a:rPr lang="en-US" altLang="zh-CN" dirty="0">
                <a:solidFill>
                  <a:srgbClr val="CE9178"/>
                </a:solidFill>
                <a:latin typeface="Consolas" panose="020B0609020204030204" pitchFamily="49" charset="0"/>
              </a:rPr>
              <a:t>'T'</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ex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ey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77554" y="2078301"/>
            <a:ext cx="2459114" cy="2308324"/>
          </a:xfrm>
          <a:prstGeom prst="rect">
            <a:avLst/>
          </a:prstGeom>
          <a:solidFill>
            <a:schemeClr val="tx1"/>
          </a:solidFill>
        </p:spPr>
        <p:txBody>
          <a:bodyPr wrap="square">
            <a:spAutoFit/>
          </a:bodyPr>
          <a:lstStyle/>
          <a:p>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start</a:t>
            </a:r>
            <a:r>
              <a:rPr lang="en-US" altLang="zh-CN" dirty="0">
                <a:solidFill>
                  <a:srgbClr val="D4D4D4"/>
                </a:solidFill>
                <a:latin typeface="Consolas" panose="020B0609020204030204" pitchFamily="49" charset="0"/>
              </a:rPr>
              <a:t>;</a:t>
            </a:r>
          </a:p>
          <a:p>
            <a:r>
              <a:rPr lang="en-US" altLang="zh-CN" dirty="0" err="1">
                <a:solidFill>
                  <a:srgbClr val="9CDCFE"/>
                </a:solidFill>
                <a:latin typeface="Consolas" panose="020B0609020204030204" pitchFamily="49" charset="0"/>
              </a:rPr>
              <a:t>start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sx</a:t>
            </a:r>
            <a:r>
              <a:rPr lang="en-US" altLang="zh-CN" dirty="0">
                <a:solidFill>
                  <a:srgbClr val="D4D4D4"/>
                </a:solidFill>
                <a:latin typeface="Consolas" panose="020B0609020204030204" pitchFamily="49" charset="0"/>
              </a:rPr>
              <a:t>;</a:t>
            </a:r>
          </a:p>
          <a:p>
            <a:r>
              <a:rPr lang="en-US" altLang="zh-CN" dirty="0" err="1">
                <a:solidFill>
                  <a:srgbClr val="9CDCFE"/>
                </a:solidFill>
                <a:latin typeface="Consolas" panose="020B0609020204030204" pitchFamily="49" charset="0"/>
              </a:rPr>
              <a:t>start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a:t>
            </a:r>
          </a:p>
          <a:p>
            <a:r>
              <a:rPr lang="en-US" altLang="zh-CN" dirty="0" err="1">
                <a:solidFill>
                  <a:srgbClr val="9CDCFE"/>
                </a:solidFill>
                <a:latin typeface="Consolas" panose="020B0609020204030204" pitchFamily="49" charset="0"/>
              </a:rPr>
              <a:t>start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step</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p>
          <a:p>
            <a:br>
              <a:rPr lang="en-US" altLang="zh-CN" dirty="0">
                <a:solidFill>
                  <a:srgbClr val="D4D4D4"/>
                </a:solidFill>
                <a:latin typeface="Consolas" panose="020B0609020204030204" pitchFamily="49" charset="0"/>
              </a:rPr>
            </a:br>
            <a:r>
              <a:rPr lang="en-US" altLang="zh-CN" dirty="0" err="1">
                <a:solidFill>
                  <a:srgbClr val="9CDCFE"/>
                </a:solidFill>
                <a:latin typeface="Consolas" panose="020B0609020204030204" pitchFamily="49" charset="0"/>
              </a:rPr>
              <a:t>Q</a:t>
            </a:r>
            <a:r>
              <a:rPr lang="en-US" altLang="zh-CN" dirty="0" err="1">
                <a:solidFill>
                  <a:srgbClr val="D4D4D4"/>
                </a:solidFill>
                <a:latin typeface="Consolas" panose="020B0609020204030204" pitchFamily="49" charset="0"/>
              </a:rPr>
              <a:t>.</a:t>
            </a:r>
            <a:r>
              <a:rPr lang="en-US" altLang="zh-CN" dirty="0" err="1">
                <a:solidFill>
                  <a:srgbClr val="DCDCAA"/>
                </a:solidFill>
                <a:latin typeface="Consolas" panose="020B0609020204030204" pitchFamily="49" charset="0"/>
              </a:rPr>
              <a:t>push</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start</a:t>
            </a:r>
            <a:r>
              <a:rPr lang="en-US" altLang="zh-CN" dirty="0">
                <a:solidFill>
                  <a:srgbClr val="D4D4D4"/>
                </a:solidFill>
                <a:latin typeface="Consolas" panose="020B0609020204030204" pitchFamily="49" charset="0"/>
              </a:rPr>
              <a:t>);</a:t>
            </a:r>
          </a:p>
          <a:p>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sx</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ans</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p>
        </p:txBody>
      </p:sp>
      <p:sp>
        <p:nvSpPr>
          <p:cNvPr id="3" name="矩形 2"/>
          <p:cNvSpPr/>
          <p:nvPr/>
        </p:nvSpPr>
        <p:spPr>
          <a:xfrm>
            <a:off x="2710649" y="166568"/>
            <a:ext cx="9481351" cy="6524863"/>
          </a:xfrm>
          <a:prstGeom prst="rect">
            <a:avLst/>
          </a:prstGeom>
          <a:solidFill>
            <a:schemeClr val="tx1"/>
          </a:solidFill>
        </p:spPr>
        <p:txBody>
          <a:bodyPr wrap="square">
            <a:spAutoFit/>
          </a:bodyPr>
          <a:lstStyle/>
          <a:p>
            <a:r>
              <a:rPr lang="en-US" altLang="zh-CN" dirty="0">
                <a:solidFill>
                  <a:srgbClr val="D4D4D4"/>
                </a:solidFill>
                <a:latin typeface="Consolas" panose="020B0609020204030204" pitchFamily="49" charset="0"/>
              </a:rPr>
              <a:t>   </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while</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empty</a:t>
            </a:r>
            <a:r>
              <a:rPr lang="en-US" altLang="zh-CN" sz="1600" dirty="0">
                <a:solidFill>
                  <a:srgbClr val="D4D4D4"/>
                </a:solidFill>
                <a:latin typeface="Consolas" panose="020B0609020204030204" pitchFamily="49" charset="0"/>
              </a:rPr>
              <a:t>()) {</a:t>
            </a:r>
          </a:p>
          <a:p>
            <a:r>
              <a:rPr lang="en-US" altLang="zh-CN" sz="1600" dirty="0">
                <a:solidFill>
                  <a:srgbClr val="D4D4D4"/>
                </a:solidFill>
                <a:latin typeface="Consolas" panose="020B0609020204030204" pitchFamily="49" charset="0"/>
              </a:rPr>
              <a:t>            </a:t>
            </a:r>
            <a:r>
              <a:rPr lang="en-US" altLang="zh-CN" sz="1600" dirty="0">
                <a:solidFill>
                  <a:srgbClr val="4EC9B0"/>
                </a:solidFill>
                <a:latin typeface="Consolas" panose="020B0609020204030204" pitchFamily="49" charset="0"/>
              </a:rPr>
              <a:t>Node</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head</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front</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pop</a:t>
            </a:r>
            <a:r>
              <a:rPr lang="en-US" altLang="zh-CN" sz="1600" dirty="0">
                <a:solidFill>
                  <a:srgbClr val="D4D4D4"/>
                </a:solidFill>
                <a:latin typeface="Consolas" panose="020B0609020204030204" pitchFamily="49" charset="0"/>
              </a:rPr>
              <a:t>();</a:t>
            </a:r>
            <a:br>
              <a:rPr lang="en-US" altLang="zh-CN" sz="1600" dirty="0">
                <a:solidFill>
                  <a:srgbClr val="D4D4D4"/>
                </a:solidFill>
                <a:latin typeface="Consolas" panose="020B0609020204030204" pitchFamily="49" charset="0"/>
              </a:rPr>
            </a:b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'T'</a:t>
            </a:r>
            <a:r>
              <a:rPr lang="en-US" altLang="zh-CN" sz="1600" dirty="0">
                <a:solidFill>
                  <a:srgbClr val="D4D4D4"/>
                </a:solidFill>
                <a:latin typeface="Consolas" panose="020B0609020204030204" pitchFamily="49" charset="0"/>
              </a:rPr>
              <a:t>) {</a:t>
            </a: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ans</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step</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break</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for</a:t>
            </a:r>
            <a:r>
              <a:rPr lang="en-US" altLang="zh-CN" sz="1600" dirty="0">
                <a:solidFill>
                  <a:srgbClr val="D4D4D4"/>
                </a:solidFill>
                <a:latin typeface="Consolas" panose="020B0609020204030204" pitchFamily="49" charset="0"/>
              </a:rPr>
              <a:t>(</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&lt; </a:t>
            </a:r>
            <a:r>
              <a:rPr lang="en-US" altLang="zh-CN" sz="1600" dirty="0">
                <a:solidFill>
                  <a:srgbClr val="B5CEA8"/>
                </a:solidFill>
                <a:latin typeface="Consolas" panose="020B0609020204030204" pitchFamily="49" charset="0"/>
              </a:rPr>
              <a:t>4</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p>
          <a:p>
            <a:r>
              <a:rPr lang="en-US" altLang="zh-CN"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nx</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dir</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dir</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 &lt;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 &gt;= </a:t>
            </a:r>
            <a:r>
              <a:rPr lang="en-US" altLang="zh-CN" sz="1600" dirty="0">
                <a:solidFill>
                  <a:srgbClr val="9CDCFE"/>
                </a:solidFill>
                <a:latin typeface="Consolas" panose="020B0609020204030204" pitchFamily="49" charset="0"/>
              </a:rPr>
              <a:t>N</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&lt;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&gt;= </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a:solidFill>
                  <a:srgbClr val="C586C0"/>
                </a:solidFill>
                <a:latin typeface="Consolas" panose="020B0609020204030204" pitchFamily="49" charset="0"/>
              </a:rPr>
              <a:t>continue</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visit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r>
              <a:rPr lang="en-US" altLang="zh-CN" sz="1600" dirty="0">
                <a:solidFill>
                  <a:srgbClr val="C586C0"/>
                </a:solidFill>
                <a:latin typeface="Consolas" panose="020B0609020204030204" pitchFamily="49" charset="0"/>
              </a:rPr>
              <a:t>continue</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'S'</a:t>
            </a:r>
            <a:r>
              <a:rPr lang="en-US" altLang="zh-CN" sz="1600" dirty="0">
                <a:solidFill>
                  <a:srgbClr val="D4D4D4"/>
                </a:solidFill>
                <a:latin typeface="Consolas" panose="020B0609020204030204" pitchFamily="49" charset="0"/>
              </a:rPr>
              <a:t>) {</a:t>
            </a:r>
          </a:p>
          <a:p>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visit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4EC9B0"/>
                </a:solidFill>
                <a:latin typeface="Consolas" panose="020B0609020204030204" pitchFamily="49" charset="0"/>
              </a:rPr>
              <a:t>Node</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step</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step</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foot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foot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a:t>
            </a:r>
            <a:br>
              <a:rPr lang="en-US" altLang="zh-CN" sz="1600" dirty="0">
                <a:solidFill>
                  <a:srgbClr val="D4D4D4"/>
                </a:solidFill>
                <a:latin typeface="Consolas" panose="020B0609020204030204" pitchFamily="49" charset="0"/>
              </a:rPr>
            </a:b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push</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nnode</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p>
          <a:p>
            <a:r>
              <a:rPr lang="en-US" altLang="zh-CN" sz="1600" dirty="0">
                <a:solidFill>
                  <a:srgbClr val="D4D4D4"/>
                </a:solidFill>
                <a:latin typeface="Consolas" panose="020B0609020204030204" pitchFamily="49" charset="0"/>
              </a:rPr>
              <a:t>            }</a:t>
            </a:r>
          </a:p>
          <a:p>
            <a:r>
              <a:rPr lang="en-US" altLang="zh-CN" sz="1600" dirty="0">
                <a:solidFill>
                  <a:srgbClr val="D4D4D4"/>
                </a:solidFill>
                <a:latin typeface="Consolas" panose="020B0609020204030204" pitchFamily="49" charset="0"/>
              </a:rPr>
              <a:t>        }</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923277" y="1264496"/>
            <a:ext cx="10670958" cy="4524315"/>
          </a:xfrm>
          <a:prstGeom prst="rect">
            <a:avLst/>
          </a:prstGeom>
          <a:solidFill>
            <a:schemeClr val="tx1"/>
          </a:solidFill>
        </p:spPr>
        <p:txBody>
          <a:bodyPr wrap="square">
            <a:spAutoFit/>
          </a:bodyPr>
          <a:lstStyle/>
          <a:p>
            <a:r>
              <a:rPr lang="en-US" altLang="zh-CN" dirty="0">
                <a:solidFill>
                  <a:srgbClr val="569CD6"/>
                </a:solidFill>
                <a:latin typeface="Consolas" panose="020B0609020204030204" pitchFamily="49" charset="0"/>
              </a:rPr>
              <a:t>        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prex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ex</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ey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err="1">
                <a:solidFill>
                  <a:srgbClr val="9CDCFE"/>
                </a:solidFill>
                <a:latin typeface="Consolas" panose="020B0609020204030204" pitchFamily="49" charset="0"/>
              </a:rPr>
              <a:t>ans</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cout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a:solidFill>
                  <a:srgbClr val="CE9178"/>
                </a:solidFill>
                <a:latin typeface="Consolas" panose="020B0609020204030204" pitchFamily="49" charset="0"/>
              </a:rPr>
              <a:t>' '</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endl</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tx</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ty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tx</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ty</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cout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ans</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endl</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p>
          <a:p>
            <a:br>
              <a:rPr lang="en-US" altLang="zh-CN" dirty="0">
                <a:solidFill>
                  <a:srgbClr val="D4D4D4"/>
                </a:solidFill>
                <a:latin typeface="Consolas" panose="020B0609020204030204" pitchFamily="49" charset="0"/>
              </a:rPr>
            </a:br>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return</a:t>
            </a:r>
            <a:r>
              <a:rPr lang="en-US" altLang="zh-CN" dirty="0">
                <a:solidFill>
                  <a:srgbClr val="D4D4D4"/>
                </a:solidFill>
                <a:latin typeface="Consolas" panose="020B0609020204030204" pitchFamily="49" charset="0"/>
              </a:rPr>
              <a:t>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p>
          <a:p>
            <a:br>
              <a:rPr lang="en-US" altLang="zh-CN" dirty="0">
                <a:solidFill>
                  <a:srgbClr val="D4D4D4"/>
                </a:solidFill>
                <a:latin typeface="Consolas" panose="020B0609020204030204" pitchFamily="49" charset="0"/>
              </a:rPr>
            </a:br>
            <a:r>
              <a:rPr lang="en-US" altLang="zh-CN" dirty="0">
                <a:solidFill>
                  <a:srgbClr val="D4D4D4"/>
                </a:solidFill>
                <a:latin typeface="Consolas" panose="020B0609020204030204" pitchFamily="49" charset="0"/>
              </a:rPr>
              <a:t>}</a:t>
            </a:r>
            <a:endParaRPr lang="en-US" altLang="zh-CN" b="0" dirty="0">
              <a:solidFill>
                <a:srgbClr val="D4D4D4"/>
              </a:solidFill>
              <a:effectLst/>
              <a:latin typeface="Consolas" panose="020B0609020204030204" pitchFamily="49"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5477522" y="1125538"/>
            <a:ext cx="6312023" cy="5183187"/>
          </a:xfrm>
        </p:spPr>
        <p:txBody>
          <a:bodyPr>
            <a:normAutofit/>
          </a:bodyPr>
          <a:lstStyle/>
          <a:p>
            <a:pPr>
              <a:lnSpc>
                <a:spcPct val="150000"/>
              </a:lnSpc>
              <a:defRPr/>
            </a:pPr>
            <a:r>
              <a:rPr lang="zh-CN" altLang="en-US" sz="2400" b="1" kern="100" dirty="0">
                <a:solidFill>
                  <a:srgbClr val="014B88"/>
                </a:solidFill>
                <a:latin typeface="仿宋_GB2312"/>
                <a:cs typeface="Times New Roman" panose="02020603050405020304" pitchFamily="18" charset="0"/>
              </a:rPr>
              <a:t>机器人必须转向某个方向才能向某个方向走，转向算一步</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依然</a:t>
            </a:r>
            <a:r>
              <a:rPr lang="en-US" altLang="zh-CN" sz="2400" b="1" kern="100" dirty="0">
                <a:solidFill>
                  <a:srgbClr val="014B88"/>
                </a:solidFill>
                <a:latin typeface="仿宋_GB2312"/>
                <a:cs typeface="Times New Roman" panose="02020603050405020304" pitchFamily="18" charset="0"/>
              </a:rPr>
              <a:t>BFS</a:t>
            </a:r>
          </a:p>
          <a:p>
            <a:pPr>
              <a:lnSpc>
                <a:spcPct val="150000"/>
              </a:lnSpc>
              <a:defRPr/>
            </a:pPr>
            <a:r>
              <a:rPr lang="zh-CN" altLang="en-US" sz="2400" b="1" kern="100" dirty="0">
                <a:solidFill>
                  <a:srgbClr val="014B88"/>
                </a:solidFill>
                <a:latin typeface="仿宋_GB2312"/>
                <a:cs typeface="Times New Roman" panose="02020603050405020304" pitchFamily="18" charset="0"/>
              </a:rPr>
              <a:t>状态 ？状态转移 ？</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状态中加一个方向</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Y</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STEP</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DI</a:t>
            </a:r>
            <a:r>
              <a:rPr lang="zh-CN" altLang="en-US" sz="2400" b="1" kern="100" dirty="0">
                <a:solidFill>
                  <a:srgbClr val="014B88"/>
                </a:solidFill>
                <a:latin typeface="仿宋_GB2312"/>
                <a:cs typeface="Times New Roman" panose="02020603050405020304" pitchFamily="18" charset="0"/>
              </a:rPr>
              <a:t>）</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转移：向左转，向右转，当前方向向前走一步</a:t>
            </a:r>
            <a:endParaRPr lang="en-US" altLang="zh-CN" sz="2400" b="1" kern="100" dirty="0">
              <a:solidFill>
                <a:srgbClr val="014B88"/>
              </a:solidFill>
              <a:latin typeface="仿宋_GB2312"/>
              <a:cs typeface="Times New Roman" panose="02020603050405020304" pitchFamily="18" charset="0"/>
            </a:endParaRPr>
          </a:p>
        </p:txBody>
      </p:sp>
      <p:sp>
        <p:nvSpPr>
          <p:cNvPr id="4" name="Text Box 6"/>
          <p:cNvSpPr txBox="1">
            <a:spLocks noChangeArrowheads="1"/>
          </p:cNvSpPr>
          <p:nvPr/>
        </p:nvSpPr>
        <p:spPr bwMode="auto">
          <a:xfrm>
            <a:off x="758317" y="1298576"/>
            <a:ext cx="1295400" cy="3937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Input：</a:t>
            </a:r>
          </a:p>
          <a:p>
            <a:pPr eaLnBrk="1" hangingPunct="1"/>
            <a:endParaRPr lang="zh-CN" altLang="zh-CN" dirty="0">
              <a:ea typeface="宋体" panose="02010600030101010101" pitchFamily="2" charset="-122"/>
            </a:endParaRPr>
          </a:p>
          <a:p>
            <a:pPr eaLnBrk="1" hangingPunct="1"/>
            <a:r>
              <a:rPr lang="zh-CN" altLang="zh-CN" dirty="0">
                <a:ea typeface="宋体" panose="02010600030101010101" pitchFamily="2" charset="-122"/>
              </a:rPr>
              <a:t>2</a:t>
            </a:r>
          </a:p>
          <a:p>
            <a:pPr eaLnBrk="1" hangingPunct="1"/>
            <a:r>
              <a:rPr lang="zh-CN" altLang="zh-CN" dirty="0">
                <a:ea typeface="宋体" panose="02010600030101010101" pitchFamily="2" charset="-122"/>
              </a:rPr>
              <a:t>5 5</a:t>
            </a:r>
          </a:p>
          <a:p>
            <a:pPr eaLnBrk="1" hangingPunct="1"/>
            <a:r>
              <a:rPr lang="zh-CN" altLang="zh-CN" dirty="0">
                <a:ea typeface="宋体" panose="02010600030101010101" pitchFamily="2" charset="-122"/>
              </a:rPr>
              <a:t>#####</a:t>
            </a:r>
          </a:p>
          <a:p>
            <a:pPr eaLnBrk="1" hangingPunct="1"/>
            <a:r>
              <a:rPr lang="zh-CN" altLang="zh-CN" dirty="0">
                <a:ea typeface="宋体" panose="02010600030101010101" pitchFamily="2" charset="-122"/>
              </a:rPr>
              <a:t># . . . #</a:t>
            </a:r>
          </a:p>
          <a:p>
            <a:pPr eaLnBrk="1" hangingPunct="1"/>
            <a:r>
              <a:rPr lang="zh-CN" altLang="zh-CN" dirty="0">
                <a:ea typeface="宋体" panose="02010600030101010101" pitchFamily="2" charset="-122"/>
              </a:rPr>
              <a:t># .# . #</a:t>
            </a:r>
          </a:p>
          <a:p>
            <a:pPr eaLnBrk="1" hangingPunct="1"/>
            <a:r>
              <a:rPr lang="zh-CN" altLang="zh-CN" dirty="0">
                <a:ea typeface="宋体" panose="02010600030101010101" pitchFamily="2" charset="-122"/>
              </a:rPr>
              <a:t>#S#T#</a:t>
            </a:r>
          </a:p>
          <a:p>
            <a:pPr eaLnBrk="1" hangingPunct="1"/>
            <a:r>
              <a:rPr lang="zh-CN" altLang="zh-CN" dirty="0">
                <a:ea typeface="宋体" panose="02010600030101010101" pitchFamily="2" charset="-122"/>
              </a:rPr>
              <a:t>#####</a:t>
            </a:r>
          </a:p>
          <a:p>
            <a:pPr eaLnBrk="1" hangingPunct="1"/>
            <a:r>
              <a:rPr lang="zh-CN" altLang="zh-CN" dirty="0">
                <a:ea typeface="宋体" panose="02010600030101010101" pitchFamily="2" charset="-122"/>
              </a:rPr>
              <a:t>4 5</a:t>
            </a:r>
          </a:p>
          <a:p>
            <a:pPr eaLnBrk="1" hangingPunct="1"/>
            <a:r>
              <a:rPr lang="zh-CN" altLang="zh-CN" dirty="0">
                <a:ea typeface="宋体" panose="02010600030101010101" pitchFamily="2" charset="-122"/>
              </a:rPr>
              <a:t># .# . #</a:t>
            </a:r>
          </a:p>
          <a:p>
            <a:pPr eaLnBrk="1" hangingPunct="1"/>
            <a:r>
              <a:rPr lang="zh-CN" altLang="zh-CN" dirty="0">
                <a:ea typeface="宋体" panose="02010600030101010101" pitchFamily="2" charset="-122"/>
              </a:rPr>
              <a:t># .# . #</a:t>
            </a:r>
          </a:p>
          <a:p>
            <a:pPr eaLnBrk="1" hangingPunct="1"/>
            <a:r>
              <a:rPr lang="zh-CN" altLang="zh-CN" dirty="0">
                <a:ea typeface="宋体" panose="02010600030101010101" pitchFamily="2" charset="-122"/>
              </a:rPr>
              <a:t>#S#T#</a:t>
            </a:r>
          </a:p>
          <a:p>
            <a:pPr eaLnBrk="1" hangingPunct="1"/>
            <a:r>
              <a:rPr lang="zh-CN" altLang="zh-CN" dirty="0">
                <a:ea typeface="宋体" panose="02010600030101010101" pitchFamily="2" charset="-122"/>
              </a:rPr>
              <a:t>#####</a:t>
            </a:r>
          </a:p>
        </p:txBody>
      </p:sp>
      <p:sp>
        <p:nvSpPr>
          <p:cNvPr id="5" name="Text Box 7"/>
          <p:cNvSpPr txBox="1">
            <a:spLocks noChangeArrowheads="1"/>
          </p:cNvSpPr>
          <p:nvPr/>
        </p:nvSpPr>
        <p:spPr bwMode="auto">
          <a:xfrm>
            <a:off x="3038768" y="1298576"/>
            <a:ext cx="1295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Output：</a:t>
            </a:r>
          </a:p>
          <a:p>
            <a:pPr eaLnBrk="1" hangingPunct="1"/>
            <a:endParaRPr lang="zh-CN" altLang="zh-CN" dirty="0">
              <a:ea typeface="宋体" panose="02010600030101010101" pitchFamily="2" charset="-122"/>
            </a:endParaRPr>
          </a:p>
          <a:p>
            <a:pPr eaLnBrk="1" hangingPunct="1"/>
            <a:r>
              <a:rPr lang="en-US" altLang="zh-CN" dirty="0">
                <a:ea typeface="宋体" panose="02010600030101010101" pitchFamily="2" charset="-122"/>
              </a:rPr>
              <a:t>8</a:t>
            </a:r>
            <a:endParaRPr lang="zh-CN" altLang="zh-CN" dirty="0">
              <a:ea typeface="宋体" panose="02010600030101010101" pitchFamily="2" charset="-122"/>
            </a:endParaRPr>
          </a:p>
          <a:p>
            <a:pPr eaLnBrk="1" hangingPunct="1"/>
            <a:r>
              <a:rPr lang="zh-CN" altLang="zh-CN" dirty="0">
                <a:ea typeface="宋体" panose="02010600030101010101" pitchFamily="2" charset="-122"/>
              </a:rPr>
              <a:t>-1</a:t>
            </a: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RobotB</a:t>
            </a:r>
            <a:r>
              <a:rPr lang="en-US" altLang="zh-CN" sz="3200" b="1" dirty="0">
                <a:solidFill>
                  <a:srgbClr val="C00000"/>
                </a:solidFill>
                <a:latin typeface="微软雅黑" panose="020B0503020204020204" pitchFamily="34" charset="-122"/>
                <a:ea typeface="微软雅黑" panose="020B0503020204020204" pitchFamily="34" charset="-122"/>
              </a:rPr>
              <a:t> in Maze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
                                            <p:txEl>
                                              <p:pRg st="0" end="0"/>
                                            </p:txEl>
                                          </p:spTgt>
                                        </p:tgtEl>
                                        <p:attrNameLst>
                                          <p:attrName>style.visibility</p:attrName>
                                        </p:attrNameLst>
                                      </p:cBhvr>
                                      <p:to>
                                        <p:strVal val="visible"/>
                                      </p:to>
                                    </p:set>
                                    <p:animEffect transition="in" filter="fade">
                                      <p:cBhvr>
                                        <p:cTn id="19" dur="500"/>
                                        <p:tgtEl>
                                          <p:spTgt spid="3">
                                            <p:txEl>
                                              <p:pRg st="0" end="0"/>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1" end="1"/>
                                            </p:txEl>
                                          </p:spTgt>
                                        </p:tgtEl>
                                        <p:attrNameLst>
                                          <p:attrName>style.visibility</p:attrName>
                                        </p:attrNameLst>
                                      </p:cBhvr>
                                      <p:to>
                                        <p:strVal val="visible"/>
                                      </p:to>
                                    </p:set>
                                    <p:animEffect transition="in" filter="fade">
                                      <p:cBhvr>
                                        <p:cTn id="22" dur="500"/>
                                        <p:tgtEl>
                                          <p:spTgt spid="3">
                                            <p:txEl>
                                              <p:pRg st="1" end="1"/>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Effect transition="in" filter="fade">
                                      <p:cBhvr>
                                        <p:cTn id="25" dur="500"/>
                                        <p:tgtEl>
                                          <p:spTgt spid="3">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nodeType="clickEffect">
                                  <p:stCondLst>
                                    <p:cond delay="0"/>
                                  </p:stCondLst>
                                  <p:childTnLst>
                                    <p:set>
                                      <p:cBhvr>
                                        <p:cTn id="29" dur="1" fill="hold">
                                          <p:stCondLst>
                                            <p:cond delay="0"/>
                                          </p:stCondLst>
                                        </p:cTn>
                                        <p:tgtEl>
                                          <p:spTgt spid="3">
                                            <p:txEl>
                                              <p:pRg st="3" end="3"/>
                                            </p:txEl>
                                          </p:spTgt>
                                        </p:tgtEl>
                                        <p:attrNameLst>
                                          <p:attrName>style.visibility</p:attrName>
                                        </p:attrNameLst>
                                      </p:cBhvr>
                                      <p:to>
                                        <p:strVal val="visible"/>
                                      </p:to>
                                    </p:set>
                                    <p:animEffect transition="in" filter="fade">
                                      <p:cBhvr>
                                        <p:cTn id="30" dur="1000"/>
                                        <p:tgtEl>
                                          <p:spTgt spid="3">
                                            <p:txEl>
                                              <p:pRg st="3" end="3"/>
                                            </p:txEl>
                                          </p:spTgt>
                                        </p:tgtEl>
                                      </p:cBhvr>
                                    </p:animEffect>
                                    <p:anim calcmode="lin" valueType="num">
                                      <p:cBhvr>
                                        <p:cTn id="31"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2" dur="1000" fill="hold"/>
                                        <p:tgtEl>
                                          <p:spTgt spid="3">
                                            <p:txEl>
                                              <p:pRg st="3" end="3"/>
                                            </p:txEl>
                                          </p:spTgt>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3">
                                            <p:txEl>
                                              <p:pRg st="5" end="5"/>
                                            </p:txEl>
                                          </p:spTgt>
                                        </p:tgtEl>
                                        <p:attrNameLst>
                                          <p:attrName>style.visibility</p:attrName>
                                        </p:attrNameLst>
                                      </p:cBhvr>
                                      <p:to>
                                        <p:strVal val="visible"/>
                                      </p:to>
                                    </p:set>
                                    <p:animEffect transition="in" filter="fade">
                                      <p:cBhvr>
                                        <p:cTn id="40" dur="1000"/>
                                        <p:tgtEl>
                                          <p:spTgt spid="3">
                                            <p:txEl>
                                              <p:pRg st="5" end="5"/>
                                            </p:txEl>
                                          </p:spTgt>
                                        </p:tgtEl>
                                      </p:cBhvr>
                                    </p:animEffect>
                                    <p:anim calcmode="lin" valueType="num">
                                      <p:cBhvr>
                                        <p:cTn id="41"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42" dur="1000" fill="hold"/>
                                        <p:tgtEl>
                                          <p:spTgt spid="3">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utoUpdateAnimBg="0"/>
      <p:bldP spid="5" grpId="0" autoUpdateAnimBg="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257452" y="972053"/>
            <a:ext cx="10515600" cy="4351337"/>
          </a:xfrm>
        </p:spPr>
        <p:txBody>
          <a:bodyPr/>
          <a:lstStyle/>
          <a:p>
            <a:pPr>
              <a:lnSpc>
                <a:spcPct val="150000"/>
              </a:lnSpc>
              <a:defRPr/>
            </a:pPr>
            <a:r>
              <a:rPr lang="zh-CN" altLang="en-US" sz="2400" b="1" kern="100" dirty="0">
                <a:solidFill>
                  <a:srgbClr val="014B88"/>
                </a:solidFill>
                <a:latin typeface="仿宋_GB2312"/>
                <a:cs typeface="Times New Roman" panose="02020603050405020304" pitchFamily="18" charset="0"/>
              </a:rPr>
              <a:t>问题描述：输入</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M</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为矩形的大小，</a:t>
            </a:r>
            <a:r>
              <a:rPr lang="en-US" altLang="zh-CN" sz="2400" b="1" kern="100" dirty="0">
                <a:solidFill>
                  <a:srgbClr val="014B88"/>
                </a:solidFill>
                <a:latin typeface="仿宋_GB2312"/>
                <a:cs typeface="Times New Roman" panose="02020603050405020304" pitchFamily="18" charset="0"/>
              </a:rPr>
              <a:t>M</a:t>
            </a:r>
            <a:r>
              <a:rPr lang="zh-CN" altLang="en-US" sz="2400" b="1" kern="100" dirty="0">
                <a:solidFill>
                  <a:srgbClr val="014B88"/>
                </a:solidFill>
                <a:latin typeface="仿宋_GB2312"/>
                <a:cs typeface="Times New Roman" panose="02020603050405020304" pitchFamily="18" charset="0"/>
              </a:rPr>
              <a:t>为炸弹的个数，然后给出</a:t>
            </a:r>
            <a:r>
              <a:rPr lang="en-US" altLang="zh-CN" sz="2400" b="1" kern="100" dirty="0">
                <a:solidFill>
                  <a:srgbClr val="014B88"/>
                </a:solidFill>
                <a:latin typeface="仿宋_GB2312"/>
                <a:cs typeface="Times New Roman" panose="02020603050405020304" pitchFamily="18" charset="0"/>
              </a:rPr>
              <a:t>M</a:t>
            </a:r>
            <a:r>
              <a:rPr lang="zh-CN" altLang="en-US" sz="2400" b="1" kern="100" dirty="0">
                <a:solidFill>
                  <a:srgbClr val="014B88"/>
                </a:solidFill>
                <a:latin typeface="仿宋_GB2312"/>
                <a:cs typeface="Times New Roman" panose="02020603050405020304" pitchFamily="18" charset="0"/>
              </a:rPr>
              <a:t>个炸弹的位置，最后给出点击的位置，输出点击以后的状态。</a:t>
            </a:r>
            <a:endParaRPr lang="en-US" altLang="zh-CN" sz="2400" b="1" kern="100" dirty="0">
              <a:solidFill>
                <a:srgbClr val="014B88"/>
              </a:solidFill>
              <a:latin typeface="仿宋_GB2312"/>
              <a:cs typeface="Times New Roman" panose="02020603050405020304" pitchFamily="18" charset="0"/>
            </a:endParaRPr>
          </a:p>
          <a:p>
            <a:pPr marL="0" indent="0" eaLnBrk="1" hangingPunct="1">
              <a:buNone/>
              <a:defRPr/>
            </a:pPr>
            <a:r>
              <a:rPr lang="en-US" altLang="zh-CN" dirty="0"/>
              <a:t>                                     OUTPUT</a:t>
            </a:r>
          </a:p>
          <a:p>
            <a:pPr eaLnBrk="1" hangingPunct="1">
              <a:defRPr/>
            </a:pPr>
            <a:endParaRPr lang="en-US" altLang="zh-CN" dirty="0"/>
          </a:p>
          <a:p>
            <a:pPr marL="0" indent="0">
              <a:buNone/>
              <a:defRPr/>
            </a:pPr>
            <a:r>
              <a:rPr lang="en-US" altLang="zh-CN" dirty="0"/>
              <a:t>                                                   </a:t>
            </a:r>
          </a:p>
          <a:p>
            <a:pPr eaLnBrk="1" hangingPunct="1">
              <a:defRPr/>
            </a:pPr>
            <a:endParaRPr lang="zh-CN" altLang="en-US" dirty="0"/>
          </a:p>
        </p:txBody>
      </p:sp>
      <p:pic>
        <p:nvPicPr>
          <p:cNvPr id="1638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92619" y="2193923"/>
            <a:ext cx="1562100" cy="197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8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07851" y="2205038"/>
            <a:ext cx="1562100" cy="197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390" name="矩形 5"/>
          <p:cNvSpPr>
            <a:spLocks noChangeArrowheads="1"/>
          </p:cNvSpPr>
          <p:nvPr/>
        </p:nvSpPr>
        <p:spPr bwMode="auto">
          <a:xfrm>
            <a:off x="717550" y="2232026"/>
            <a:ext cx="1728787" cy="3889375"/>
          </a:xfrm>
          <a:prstGeom prst="rect">
            <a:avLst/>
          </a:prstGeom>
          <a:solidFill>
            <a:schemeClr val="accent1"/>
          </a:solidFill>
          <a:ln w="9525" algn="ctr">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en-US" altLang="zh-CN" i="0" dirty="0"/>
              <a:t>INPUT</a:t>
            </a:r>
          </a:p>
          <a:p>
            <a:pPr eaLnBrk="1" hangingPunct="1"/>
            <a:r>
              <a:rPr lang="en-US" altLang="zh-CN" i="0" dirty="0"/>
              <a:t>9 10 </a:t>
            </a:r>
          </a:p>
          <a:p>
            <a:pPr eaLnBrk="1" hangingPunct="1"/>
            <a:r>
              <a:rPr lang="en-US" altLang="zh-CN" i="0" dirty="0"/>
              <a:t>1 5 </a:t>
            </a:r>
          </a:p>
          <a:p>
            <a:pPr eaLnBrk="1" hangingPunct="1"/>
            <a:r>
              <a:rPr lang="en-US" altLang="zh-CN" i="0" dirty="0"/>
              <a:t>1 7</a:t>
            </a:r>
          </a:p>
          <a:p>
            <a:pPr eaLnBrk="1" hangingPunct="1"/>
            <a:r>
              <a:rPr lang="en-US" altLang="zh-CN" i="0" dirty="0"/>
              <a:t>2 3 </a:t>
            </a:r>
          </a:p>
          <a:p>
            <a:pPr eaLnBrk="1" hangingPunct="1"/>
            <a:r>
              <a:rPr lang="en-US" altLang="zh-CN" i="0" dirty="0"/>
              <a:t>2 5 </a:t>
            </a:r>
          </a:p>
          <a:p>
            <a:pPr eaLnBrk="1" hangingPunct="1"/>
            <a:r>
              <a:rPr lang="en-US" altLang="zh-CN" i="0" dirty="0"/>
              <a:t>4 8 </a:t>
            </a:r>
          </a:p>
          <a:p>
            <a:pPr eaLnBrk="1" hangingPunct="1"/>
            <a:r>
              <a:rPr lang="en-US" altLang="zh-CN" i="0" dirty="0"/>
              <a:t>5 2 </a:t>
            </a:r>
          </a:p>
          <a:p>
            <a:pPr eaLnBrk="1" hangingPunct="1"/>
            <a:r>
              <a:rPr lang="en-US" altLang="zh-CN" i="0" dirty="0"/>
              <a:t>7 7 </a:t>
            </a:r>
          </a:p>
          <a:p>
            <a:pPr eaLnBrk="1" hangingPunct="1"/>
            <a:r>
              <a:rPr lang="en-US" altLang="zh-CN" i="0" dirty="0"/>
              <a:t>7 9 </a:t>
            </a:r>
          </a:p>
          <a:p>
            <a:pPr eaLnBrk="1" hangingPunct="1"/>
            <a:r>
              <a:rPr lang="en-US" altLang="zh-CN" i="0" dirty="0"/>
              <a:t>8 6 </a:t>
            </a:r>
          </a:p>
          <a:p>
            <a:pPr eaLnBrk="1" hangingPunct="1"/>
            <a:r>
              <a:rPr lang="en-US" altLang="zh-CN" i="0" dirty="0"/>
              <a:t>9 2</a:t>
            </a:r>
          </a:p>
          <a:p>
            <a:pPr eaLnBrk="1" hangingPunct="1"/>
            <a:r>
              <a:rPr lang="en-US" altLang="zh-CN" i="0" dirty="0"/>
              <a:t> </a:t>
            </a:r>
          </a:p>
          <a:p>
            <a:pPr eaLnBrk="1" hangingPunct="1"/>
            <a:r>
              <a:rPr lang="en-US" altLang="zh-CN" i="0" dirty="0"/>
              <a:t>5 5</a:t>
            </a:r>
            <a:endParaRPr lang="zh-CN" altLang="en-US" i="0" dirty="0"/>
          </a:p>
        </p:txBody>
      </p:sp>
      <p:pic>
        <p:nvPicPr>
          <p:cNvPr id="1639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5005" y="2918870"/>
            <a:ext cx="1887537" cy="280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Mine</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1" name="内容占位符 2"/>
          <p:cNvSpPr>
            <a:spLocks noGrp="1"/>
          </p:cNvSpPr>
          <p:nvPr>
            <p:ph idx="4294967295"/>
          </p:nvPr>
        </p:nvSpPr>
        <p:spPr>
          <a:xfrm>
            <a:off x="541538" y="1253331"/>
            <a:ext cx="10515600" cy="4351337"/>
          </a:xfrm>
        </p:spPr>
        <p:txBody>
          <a:bodyPr>
            <a:noAutofit/>
          </a:bodyPr>
          <a:lstStyle/>
          <a:p>
            <a:pPr>
              <a:lnSpc>
                <a:spcPct val="150000"/>
              </a:lnSpc>
              <a:defRPr/>
            </a:pPr>
            <a:r>
              <a:rPr lang="zh-CN" altLang="en-US" sz="2400" b="1" kern="100" dirty="0">
                <a:solidFill>
                  <a:srgbClr val="014B88"/>
                </a:solidFill>
                <a:latin typeface="仿宋_GB2312"/>
                <a:cs typeface="Times New Roman" panose="02020603050405020304" pitchFamily="18" charset="0"/>
              </a:rPr>
              <a:t>问题描述：对一个数 </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，可以进行如下操作：</a:t>
            </a:r>
            <a:r>
              <a:rPr lang="en-US" altLang="zh-CN" sz="2400" b="1" kern="100" dirty="0">
                <a:solidFill>
                  <a:srgbClr val="014B88"/>
                </a:solidFill>
                <a:latin typeface="仿宋_GB2312"/>
                <a:cs typeface="Times New Roman" panose="02020603050405020304" pitchFamily="18" charset="0"/>
              </a:rPr>
              <a:t>X+1</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X-1 </a:t>
            </a:r>
            <a:r>
              <a:rPr lang="zh-CN" altLang="en-US" sz="2400" b="1" kern="100" dirty="0">
                <a:solidFill>
                  <a:srgbClr val="014B88"/>
                </a:solidFill>
                <a:latin typeface="仿宋_GB2312"/>
                <a:cs typeface="Times New Roman" panose="02020603050405020304" pitchFamily="18" charset="0"/>
              </a:rPr>
              <a:t>和 </a:t>
            </a:r>
            <a:r>
              <a:rPr lang="en-US" altLang="zh-CN" sz="2400" b="1" kern="100" dirty="0">
                <a:solidFill>
                  <a:srgbClr val="014B88"/>
                </a:solidFill>
                <a:latin typeface="仿宋_GB2312"/>
                <a:cs typeface="Times New Roman" panose="02020603050405020304" pitchFamily="18" charset="0"/>
              </a:rPr>
              <a:t>2</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，给两个数</a:t>
            </a:r>
            <a:r>
              <a:rPr lang="en-US" altLang="zh-CN" sz="2400" b="1" kern="100" dirty="0">
                <a:solidFill>
                  <a:srgbClr val="014B88"/>
                </a:solidFill>
                <a:latin typeface="仿宋_GB2312"/>
                <a:cs typeface="Times New Roman" panose="02020603050405020304" pitchFamily="18" charset="0"/>
              </a:rPr>
              <a:t> N</a:t>
            </a:r>
            <a:r>
              <a:rPr lang="zh-CN" altLang="en-US" sz="2400" b="1" kern="100" dirty="0">
                <a:solidFill>
                  <a:srgbClr val="014B88"/>
                </a:solidFill>
                <a:latin typeface="仿宋_GB2312"/>
                <a:cs typeface="Times New Roman" panose="02020603050405020304" pitchFamily="18" charset="0"/>
              </a:rPr>
              <a:t>和</a:t>
            </a:r>
            <a:r>
              <a:rPr lang="en-US" altLang="zh-CN" sz="2400" b="1" kern="100" dirty="0">
                <a:solidFill>
                  <a:srgbClr val="014B88"/>
                </a:solidFill>
                <a:latin typeface="仿宋_GB2312"/>
                <a:cs typeface="Times New Roman" panose="02020603050405020304" pitchFamily="18" charset="0"/>
              </a:rPr>
              <a:t> K</a:t>
            </a:r>
            <a:r>
              <a:rPr lang="zh-CN" altLang="en-US" sz="2400" b="1" kern="100" dirty="0">
                <a:solidFill>
                  <a:srgbClr val="014B88"/>
                </a:solidFill>
                <a:latin typeface="仿宋_GB2312"/>
                <a:cs typeface="Times New Roman" panose="02020603050405020304" pitchFamily="18" charset="0"/>
              </a:rPr>
              <a:t>，问从</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到</a:t>
            </a:r>
            <a:r>
              <a:rPr lang="en-US" altLang="zh-CN" sz="2400" b="1" kern="100" dirty="0">
                <a:solidFill>
                  <a:srgbClr val="014B88"/>
                </a:solidFill>
                <a:latin typeface="仿宋_GB2312"/>
                <a:cs typeface="Times New Roman" panose="02020603050405020304" pitchFamily="18" charset="0"/>
              </a:rPr>
              <a:t>K</a:t>
            </a:r>
            <a:r>
              <a:rPr lang="zh-CN" altLang="en-US" sz="2400" b="1" kern="100" dirty="0">
                <a:solidFill>
                  <a:srgbClr val="014B88"/>
                </a:solidFill>
                <a:latin typeface="仿宋_GB2312"/>
                <a:cs typeface="Times New Roman" panose="02020603050405020304" pitchFamily="18" charset="0"/>
              </a:rPr>
              <a:t>最少需要几步？ 如</a:t>
            </a:r>
            <a:r>
              <a:rPr lang="en-US" altLang="zh-CN" sz="2400" b="1" kern="100" dirty="0">
                <a:solidFill>
                  <a:srgbClr val="014B88"/>
                </a:solidFill>
                <a:latin typeface="仿宋_GB2312"/>
                <a:cs typeface="Times New Roman" panose="02020603050405020304" pitchFamily="18" charset="0"/>
              </a:rPr>
              <a:t>  N=5 K= 17</a:t>
            </a:r>
            <a:r>
              <a:rPr lang="zh-CN" altLang="en-US" sz="2400" b="1" kern="100" dirty="0">
                <a:solidFill>
                  <a:srgbClr val="014B88"/>
                </a:solidFill>
                <a:latin typeface="仿宋_GB2312"/>
                <a:cs typeface="Times New Roman" panose="02020603050405020304" pitchFamily="18" charset="0"/>
              </a:rPr>
              <a:t>？</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怎样进行</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，状态怎么表示，怎样转移？</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状态：中间计算值</a:t>
            </a:r>
            <a:r>
              <a:rPr lang="en-US" altLang="zh-CN" sz="2400" b="1" kern="100" dirty="0">
                <a:solidFill>
                  <a:srgbClr val="014B88"/>
                </a:solidFill>
                <a:latin typeface="仿宋_GB2312"/>
                <a:cs typeface="Times New Roman" panose="02020603050405020304" pitchFamily="18" charset="0"/>
              </a:rPr>
              <a:t>T</a:t>
            </a:r>
          </a:p>
          <a:p>
            <a:pPr>
              <a:lnSpc>
                <a:spcPct val="150000"/>
              </a:lnSpc>
              <a:defRPr/>
            </a:pPr>
            <a:r>
              <a:rPr lang="zh-CN" altLang="en-US" sz="2400" b="1" kern="100" dirty="0">
                <a:solidFill>
                  <a:srgbClr val="014B88"/>
                </a:solidFill>
                <a:latin typeface="仿宋_GB2312"/>
                <a:cs typeface="Times New Roman" panose="02020603050405020304" pitchFamily="18" charset="0"/>
              </a:rPr>
              <a:t>初始状态：</a:t>
            </a:r>
            <a:r>
              <a:rPr lang="en-US" altLang="zh-CN" sz="2400" b="1" kern="100" dirty="0">
                <a:solidFill>
                  <a:srgbClr val="014B88"/>
                </a:solidFill>
                <a:latin typeface="仿宋_GB2312"/>
                <a:cs typeface="Times New Roman" panose="02020603050405020304" pitchFamily="18" charset="0"/>
              </a:rPr>
              <a:t>N</a:t>
            </a:r>
          </a:p>
          <a:p>
            <a:pPr>
              <a:lnSpc>
                <a:spcPct val="150000"/>
              </a:lnSpc>
              <a:defRPr/>
            </a:pPr>
            <a:r>
              <a:rPr lang="zh-CN" altLang="en-US" sz="2400" b="1" kern="100" dirty="0">
                <a:solidFill>
                  <a:srgbClr val="014B88"/>
                </a:solidFill>
                <a:latin typeface="仿宋_GB2312"/>
                <a:cs typeface="Times New Roman" panose="02020603050405020304" pitchFamily="18" charset="0"/>
              </a:rPr>
              <a:t>目标状态：</a:t>
            </a:r>
            <a:r>
              <a:rPr lang="en-US" altLang="zh-CN" sz="2400" b="1" kern="100" dirty="0">
                <a:solidFill>
                  <a:srgbClr val="014B88"/>
                </a:solidFill>
                <a:latin typeface="仿宋_GB2312"/>
                <a:cs typeface="Times New Roman" panose="02020603050405020304" pitchFamily="18" charset="0"/>
              </a:rPr>
              <a:t>K</a:t>
            </a:r>
          </a:p>
          <a:p>
            <a:pPr>
              <a:lnSpc>
                <a:spcPct val="150000"/>
              </a:lnSpc>
              <a:defRPr/>
            </a:pPr>
            <a:r>
              <a:rPr lang="zh-CN" altLang="en-US" sz="2400" b="1" kern="100" dirty="0">
                <a:solidFill>
                  <a:srgbClr val="014B88"/>
                </a:solidFill>
                <a:latin typeface="仿宋_GB2312"/>
                <a:cs typeface="Times New Roman" panose="02020603050405020304" pitchFamily="18" charset="0"/>
              </a:rPr>
              <a:t>转移：</a:t>
            </a:r>
            <a:r>
              <a:rPr lang="en-US" altLang="zh-CN" sz="2400" b="1" kern="100" dirty="0">
                <a:solidFill>
                  <a:srgbClr val="014B88"/>
                </a:solidFill>
                <a:latin typeface="仿宋_GB2312"/>
                <a:cs typeface="Times New Roman" panose="02020603050405020304" pitchFamily="18" charset="0"/>
              </a:rPr>
              <a:t>T+1</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T-1, 2</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T</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Catch that cow</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411">
                                            <p:txEl>
                                              <p:pRg st="3" end="3"/>
                                            </p:txEl>
                                          </p:spTgt>
                                        </p:tgtEl>
                                        <p:attrNameLst>
                                          <p:attrName>style.visibility</p:attrName>
                                        </p:attrNameLst>
                                      </p:cBhvr>
                                      <p:to>
                                        <p:strVal val="visible"/>
                                      </p:to>
                                    </p:set>
                                    <p:animEffect transition="in" filter="fade">
                                      <p:cBhvr>
                                        <p:cTn id="7" dur="500"/>
                                        <p:tgtEl>
                                          <p:spTgt spid="17411">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7411">
                                            <p:txEl>
                                              <p:pRg st="4" end="4"/>
                                            </p:txEl>
                                          </p:spTgt>
                                        </p:tgtEl>
                                        <p:attrNameLst>
                                          <p:attrName>style.visibility</p:attrName>
                                        </p:attrNameLst>
                                      </p:cBhvr>
                                      <p:to>
                                        <p:strVal val="visible"/>
                                      </p:to>
                                    </p:set>
                                    <p:animEffect transition="in" filter="fade">
                                      <p:cBhvr>
                                        <p:cTn id="10" dur="500"/>
                                        <p:tgtEl>
                                          <p:spTgt spid="17411">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7411">
                                            <p:txEl>
                                              <p:pRg st="5" end="5"/>
                                            </p:txEl>
                                          </p:spTgt>
                                        </p:tgtEl>
                                        <p:attrNameLst>
                                          <p:attrName>style.visibility</p:attrName>
                                        </p:attrNameLst>
                                      </p:cBhvr>
                                      <p:to>
                                        <p:strVal val="visible"/>
                                      </p:to>
                                    </p:set>
                                    <p:animEffect transition="in" filter="fade">
                                      <p:cBhvr>
                                        <p:cTn id="13" dur="500"/>
                                        <p:tgtEl>
                                          <p:spTgt spid="17411">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17411">
                                            <p:txEl>
                                              <p:pRg st="6" end="6"/>
                                            </p:txEl>
                                          </p:spTgt>
                                        </p:tgtEl>
                                        <p:attrNameLst>
                                          <p:attrName>style.visibility</p:attrName>
                                        </p:attrNameLst>
                                      </p:cBhvr>
                                      <p:to>
                                        <p:strVal val="visible"/>
                                      </p:to>
                                    </p:set>
                                    <p:anim calcmode="lin" valueType="num">
                                      <p:cBhvr additive="base">
                                        <p:cTn id="18" dur="500" fill="hold"/>
                                        <p:tgtEl>
                                          <p:spTgt spid="17411">
                                            <p:txEl>
                                              <p:pRg st="6" end="6"/>
                                            </p:txEl>
                                          </p:spTgt>
                                        </p:tgtEl>
                                        <p:attrNameLst>
                                          <p:attrName>ppt_x</p:attrName>
                                        </p:attrNameLst>
                                      </p:cBhvr>
                                      <p:tavLst>
                                        <p:tav tm="0">
                                          <p:val>
                                            <p:strVal val="#ppt_x"/>
                                          </p:val>
                                        </p:tav>
                                        <p:tav tm="100000">
                                          <p:val>
                                            <p:strVal val="#ppt_x"/>
                                          </p:val>
                                        </p:tav>
                                      </p:tavLst>
                                    </p:anim>
                                    <p:anim calcmode="lin" valueType="num">
                                      <p:cBhvr additive="base">
                                        <p:cTn id="19" dur="500" fill="hold"/>
                                        <p:tgtEl>
                                          <p:spTgt spid="17411">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内容占位符 2"/>
          <p:cNvSpPr>
            <a:spLocks noGrp="1"/>
          </p:cNvSpPr>
          <p:nvPr>
            <p:ph idx="4294967295"/>
          </p:nvPr>
        </p:nvSpPr>
        <p:spPr>
          <a:xfrm>
            <a:off x="532660" y="1253331"/>
            <a:ext cx="10515600" cy="4351337"/>
          </a:xfrm>
        </p:spPr>
        <p:txBody>
          <a:bodyPr/>
          <a:lstStyle/>
          <a:p>
            <a:pPr eaLnBrk="1" hangingPunct="1">
              <a:lnSpc>
                <a:spcPct val="150000"/>
              </a:lnSpc>
            </a:pPr>
            <a:r>
              <a:rPr lang="zh-CN" altLang="en-US" sz="2400" b="1" kern="100" dirty="0">
                <a:solidFill>
                  <a:srgbClr val="014B88"/>
                </a:solidFill>
                <a:latin typeface="仿宋_GB2312"/>
                <a:cs typeface="Times New Roman" panose="02020603050405020304" pitchFamily="18" charset="0"/>
              </a:rPr>
              <a:t>问题描述：一个</a:t>
            </a:r>
            <a:r>
              <a:rPr lang="en-US" altLang="zh-CN" sz="2400" b="1" kern="100" dirty="0">
                <a:solidFill>
                  <a:srgbClr val="014B88"/>
                </a:solidFill>
                <a:latin typeface="仿宋_GB2312"/>
                <a:cs typeface="Times New Roman" panose="02020603050405020304" pitchFamily="18" charset="0"/>
              </a:rPr>
              <a:t>4×4</a:t>
            </a:r>
            <a:r>
              <a:rPr lang="zh-CN" altLang="en-US" sz="2400" b="1" kern="100" dirty="0">
                <a:solidFill>
                  <a:srgbClr val="014B88"/>
                </a:solidFill>
                <a:latin typeface="仿宋_GB2312"/>
                <a:cs typeface="Times New Roman" panose="02020603050405020304" pitchFamily="18" charset="0"/>
              </a:rPr>
              <a:t>的棋盘，上面有黑子白子，每次可以选择一个子将该子与该子周围的所有子翻面（黑变白，白变黑），给出初始状态，问最少多少步可以将所有的子全部变为同一种颜色？</a:t>
            </a:r>
          </a:p>
        </p:txBody>
      </p:sp>
      <p:pic>
        <p:nvPicPr>
          <p:cNvPr id="1843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24076" y="3506849"/>
            <a:ext cx="3048000" cy="270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437" name="矩形 3"/>
          <p:cNvSpPr>
            <a:spLocks noChangeArrowheads="1"/>
          </p:cNvSpPr>
          <p:nvPr/>
        </p:nvSpPr>
        <p:spPr bwMode="auto">
          <a:xfrm>
            <a:off x="7030668" y="3506849"/>
            <a:ext cx="2159000" cy="2792412"/>
          </a:xfrm>
          <a:prstGeom prst="rect">
            <a:avLst/>
          </a:prstGeom>
          <a:solidFill>
            <a:schemeClr val="accent1"/>
          </a:solidFill>
          <a:ln w="9525" algn="ctr">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en-US" i="0" dirty="0"/>
              <a:t>输入：</a:t>
            </a:r>
            <a:endParaRPr lang="en-US" altLang="zh-CN" i="0" dirty="0"/>
          </a:p>
          <a:p>
            <a:pPr eaLnBrk="1" hangingPunct="1"/>
            <a:endParaRPr lang="en-US" altLang="zh-CN" i="0" dirty="0"/>
          </a:p>
          <a:p>
            <a:pPr eaLnBrk="1" hangingPunct="1"/>
            <a:r>
              <a:rPr lang="en-US" altLang="zh-CN" i="0" dirty="0" err="1"/>
              <a:t>bwwb</a:t>
            </a:r>
            <a:r>
              <a:rPr lang="en-US" altLang="zh-CN" i="0" dirty="0"/>
              <a:t> </a:t>
            </a:r>
          </a:p>
          <a:p>
            <a:pPr eaLnBrk="1" hangingPunct="1"/>
            <a:r>
              <a:rPr lang="en-US" altLang="zh-CN" i="0" dirty="0" err="1"/>
              <a:t>bbwb</a:t>
            </a:r>
            <a:r>
              <a:rPr lang="en-US" altLang="zh-CN" i="0" dirty="0"/>
              <a:t> </a:t>
            </a:r>
          </a:p>
          <a:p>
            <a:pPr eaLnBrk="1" hangingPunct="1"/>
            <a:r>
              <a:rPr lang="en-US" altLang="zh-CN" i="0" dirty="0" err="1"/>
              <a:t>bwwb</a:t>
            </a:r>
            <a:r>
              <a:rPr lang="en-US" altLang="zh-CN" i="0" dirty="0"/>
              <a:t> </a:t>
            </a:r>
          </a:p>
          <a:p>
            <a:pPr eaLnBrk="1" hangingPunct="1"/>
            <a:r>
              <a:rPr lang="en-US" altLang="zh-CN" i="0" dirty="0" err="1"/>
              <a:t>bwww</a:t>
            </a:r>
            <a:endParaRPr lang="en-US" altLang="zh-CN" i="0" dirty="0"/>
          </a:p>
          <a:p>
            <a:pPr eaLnBrk="1" hangingPunct="1"/>
            <a:endParaRPr lang="en-US" altLang="zh-CN" i="0" dirty="0"/>
          </a:p>
          <a:p>
            <a:pPr eaLnBrk="1" hangingPunct="1"/>
            <a:r>
              <a:rPr lang="zh-CN" altLang="en-US" i="0" dirty="0"/>
              <a:t>输出</a:t>
            </a:r>
            <a:endParaRPr lang="en-US" altLang="zh-CN" i="0" dirty="0"/>
          </a:p>
          <a:p>
            <a:pPr eaLnBrk="1" hangingPunct="1"/>
            <a:endParaRPr lang="en-US" altLang="zh-CN" i="0" dirty="0"/>
          </a:p>
          <a:p>
            <a:pPr eaLnBrk="1" hangingPunct="1"/>
            <a:r>
              <a:rPr lang="en-US" altLang="zh-CN" i="0" dirty="0"/>
              <a:t>4</a:t>
            </a:r>
            <a:endParaRPr lang="zh-CN" altLang="en-US" i="0" dirty="0"/>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Flip Game</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568171" y="1529557"/>
            <a:ext cx="10515600" cy="4351337"/>
          </a:xfrm>
        </p:spPr>
        <p:txBody>
          <a:bodyPr>
            <a:normAutofit lnSpcReduction="10000"/>
          </a:bodyPr>
          <a:lstStyle/>
          <a:p>
            <a:pPr eaLnBrk="1" hangingPunct="1">
              <a:lnSpc>
                <a:spcPct val="150000"/>
              </a:lnSpc>
              <a:defRPr/>
            </a:pPr>
            <a:r>
              <a:rPr lang="en-US" altLang="zh-CN" sz="2400" b="1" kern="100" dirty="0">
                <a:solidFill>
                  <a:srgbClr val="014B88"/>
                </a:solidFill>
                <a:latin typeface="仿宋_GB2312"/>
                <a:cs typeface="Times New Roman" panose="02020603050405020304" pitchFamily="18" charset="0"/>
              </a:rPr>
              <a:t>BFS</a:t>
            </a: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状态怎么表示？</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en-US" altLang="zh-CN" sz="2400" b="1" kern="100" dirty="0">
                <a:solidFill>
                  <a:srgbClr val="014B88"/>
                </a:solidFill>
                <a:latin typeface="仿宋_GB2312"/>
                <a:cs typeface="Times New Roman" panose="02020603050405020304" pitchFamily="18" charset="0"/>
              </a:rPr>
              <a:t>16</a:t>
            </a:r>
            <a:r>
              <a:rPr lang="zh-CN" altLang="en-US" sz="2400" b="1" kern="100" dirty="0">
                <a:solidFill>
                  <a:srgbClr val="014B88"/>
                </a:solidFill>
                <a:latin typeface="仿宋_GB2312"/>
                <a:cs typeface="Times New Roman" panose="02020603050405020304" pitchFamily="18" charset="0"/>
              </a:rPr>
              <a:t>个子的棋盘上面只有黑白两种子</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使用二进制表示棋盘，白子为 </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，黑子为 </a:t>
            </a:r>
            <a:r>
              <a:rPr lang="en-US" altLang="zh-CN" sz="2400" b="1" kern="100" dirty="0">
                <a:solidFill>
                  <a:srgbClr val="014B88"/>
                </a:solidFill>
                <a:latin typeface="仿宋_GB2312"/>
                <a:cs typeface="Times New Roman" panose="02020603050405020304" pitchFamily="18" charset="0"/>
              </a:rPr>
              <a:t>1</a:t>
            </a:r>
            <a:r>
              <a:rPr lang="zh-CN" altLang="en-US" sz="2400" b="1" kern="100" dirty="0">
                <a:solidFill>
                  <a:srgbClr val="014B88"/>
                </a:solidFill>
                <a:latin typeface="仿宋_GB2312"/>
                <a:cs typeface="Times New Roman" panose="02020603050405020304" pitchFamily="18" charset="0"/>
              </a:rPr>
              <a:t>，则该棋盘可以表示为（</a:t>
            </a:r>
            <a:r>
              <a:rPr lang="en-US" altLang="zh-CN" sz="2400" b="1" kern="100" dirty="0">
                <a:solidFill>
                  <a:srgbClr val="014B88"/>
                </a:solidFill>
                <a:latin typeface="仿宋_GB2312"/>
                <a:cs typeface="Times New Roman" panose="02020603050405020304" pitchFamily="18" charset="0"/>
              </a:rPr>
              <a:t>1010    0000    1101    1001</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B  </a:t>
            </a:r>
            <a:r>
              <a:rPr lang="zh-CN" altLang="en-US" sz="2400" b="1" kern="100" dirty="0">
                <a:solidFill>
                  <a:srgbClr val="014B88"/>
                </a:solidFill>
                <a:latin typeface="仿宋_GB2312"/>
                <a:cs typeface="Times New Roman" panose="02020603050405020304" pitchFamily="18" charset="0"/>
              </a:rPr>
              <a:t>即 </a:t>
            </a:r>
            <a:r>
              <a:rPr lang="en-US" altLang="zh-CN" sz="2400" b="1" kern="100" dirty="0">
                <a:solidFill>
                  <a:srgbClr val="014B88"/>
                </a:solidFill>
                <a:latin typeface="仿宋_GB2312"/>
                <a:cs typeface="Times New Roman" panose="02020603050405020304" pitchFamily="18" charset="0"/>
              </a:rPr>
              <a:t>41177 D</a:t>
            </a: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初始状态：输入</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目标状态：</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或者</a:t>
            </a:r>
            <a:r>
              <a:rPr lang="en-US" altLang="zh-CN" sz="2400" b="1" kern="100" dirty="0">
                <a:solidFill>
                  <a:srgbClr val="014B88"/>
                </a:solidFill>
                <a:latin typeface="仿宋_GB2312"/>
                <a:cs typeface="Times New Roman" panose="02020603050405020304" pitchFamily="18" charset="0"/>
              </a:rPr>
              <a:t>2^16-1</a:t>
            </a:r>
          </a:p>
          <a:p>
            <a:pPr marL="0" indent="0">
              <a:buNone/>
              <a:defRPr/>
            </a:pPr>
            <a:endParaRPr lang="en-US" altLang="zh-CN" dirty="0"/>
          </a:p>
          <a:p>
            <a:pPr eaLnBrk="1" hangingPunct="1">
              <a:defRPr/>
            </a:pPr>
            <a:endParaRPr lang="zh-CN" altLang="en-US" dirty="0"/>
          </a:p>
        </p:txBody>
      </p:sp>
      <p:pic>
        <p:nvPicPr>
          <p:cNvPr id="1946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40689" y="620714"/>
            <a:ext cx="2016125" cy="1817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Flip Game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fade">
                                      <p:cBhvr>
                                        <p:cTn id="7" dur="500"/>
                                        <p:tgtEl>
                                          <p:spTgt spid="3">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3" end="3"/>
                                            </p:txEl>
                                          </p:spTgt>
                                        </p:tgtEl>
                                        <p:attrNameLst>
                                          <p:attrName>style.visibility</p:attrName>
                                        </p:attrNameLst>
                                      </p:cBhvr>
                                      <p:to>
                                        <p:strVal val="visible"/>
                                      </p:to>
                                    </p:set>
                                    <p:animEffect transition="in" filter="fade">
                                      <p:cBhvr>
                                        <p:cTn id="10" dur="500"/>
                                        <p:tgtEl>
                                          <p:spTgt spid="3">
                                            <p:txEl>
                                              <p:pRg st="3" end="3"/>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Effect transition="in" filter="fade">
                                      <p:cBhvr>
                                        <p:cTn id="13" dur="500"/>
                                        <p:tgtEl>
                                          <p:spTgt spid="3">
                                            <p:txEl>
                                              <p:pRg st="4" end="4"/>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5" end="5"/>
                                            </p:txEl>
                                          </p:spTgt>
                                        </p:tgtEl>
                                        <p:attrNameLst>
                                          <p:attrName>style.visibility</p:attrName>
                                        </p:attrNameLst>
                                      </p:cBhvr>
                                      <p:to>
                                        <p:strVal val="visible"/>
                                      </p:to>
                                    </p:set>
                                    <p:animEffect transition="in" filter="fade">
                                      <p:cBhvr>
                                        <p:cTn id="16"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1" name="内容占位符 2"/>
          <p:cNvSpPr>
            <a:spLocks noGrp="1"/>
          </p:cNvSpPr>
          <p:nvPr>
            <p:ph idx="4294967295"/>
          </p:nvPr>
        </p:nvSpPr>
        <p:spPr>
          <a:xfrm>
            <a:off x="507520" y="1113870"/>
            <a:ext cx="11299781" cy="4498975"/>
          </a:xfrm>
        </p:spPr>
        <p:txBody>
          <a:bodyPr vert="horz" wrap="square" lIns="91440" tIns="45720" rIns="91440" bIns="45720" numCol="1" rtlCol="0" anchor="t" anchorCtr="0" compatLnSpc="1">
            <a:normAutofit/>
          </a:bodyPr>
          <a:lstStyle/>
          <a:p>
            <a:pPr marL="228600" indent="-228600">
              <a:lnSpc>
                <a:spcPct val="150000"/>
              </a:lnSpc>
              <a:buNone/>
            </a:pPr>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有一个</a:t>
            </a:r>
            <a:r>
              <a:rPr lang="en-US" altLang="zh-CN" sz="2400" b="1" kern="100" dirty="0">
                <a:solidFill>
                  <a:srgbClr val="014B88"/>
                </a:solidFill>
                <a:latin typeface="仿宋_GB2312"/>
                <a:cs typeface="Times New Roman" panose="02020603050405020304" pitchFamily="18" charset="0"/>
              </a:rPr>
              <a:t>3*3</a:t>
            </a:r>
            <a:r>
              <a:rPr lang="zh-CN" altLang="en-US" sz="2400" b="1" kern="100" dirty="0">
                <a:solidFill>
                  <a:srgbClr val="014B88"/>
                </a:solidFill>
                <a:latin typeface="仿宋_GB2312"/>
                <a:cs typeface="Times New Roman" panose="02020603050405020304" pitchFamily="18" charset="0"/>
              </a:rPr>
              <a:t>的棋盘，其中有</a:t>
            </a:r>
            <a:r>
              <a:rPr lang="en-US" altLang="zh-CN" sz="2400" b="1" kern="100" dirty="0">
                <a:solidFill>
                  <a:srgbClr val="014B88"/>
                </a:solidFill>
                <a:latin typeface="仿宋_GB2312"/>
                <a:cs typeface="Times New Roman" panose="02020603050405020304" pitchFamily="18" charset="0"/>
              </a:rPr>
              <a:t>0-8</a:t>
            </a:r>
            <a:r>
              <a:rPr lang="zh-CN" altLang="en-US" sz="2400" b="1" kern="100" dirty="0">
                <a:solidFill>
                  <a:srgbClr val="014B88"/>
                </a:solidFill>
                <a:latin typeface="仿宋_GB2312"/>
                <a:cs typeface="Times New Roman" panose="02020603050405020304" pitchFamily="18" charset="0"/>
              </a:rPr>
              <a:t>共</a:t>
            </a:r>
            <a:r>
              <a:rPr lang="en-US" altLang="zh-CN" sz="2400" b="1" kern="100" dirty="0">
                <a:solidFill>
                  <a:srgbClr val="014B88"/>
                </a:solidFill>
                <a:latin typeface="仿宋_GB2312"/>
                <a:cs typeface="Times New Roman" panose="02020603050405020304" pitchFamily="18" charset="0"/>
              </a:rPr>
              <a:t>9</a:t>
            </a:r>
            <a:r>
              <a:rPr lang="zh-CN" altLang="en-US" sz="2400" b="1" kern="100" dirty="0">
                <a:solidFill>
                  <a:srgbClr val="014B88"/>
                </a:solidFill>
                <a:latin typeface="仿宋_GB2312"/>
                <a:cs typeface="Times New Roman" panose="02020603050405020304" pitchFamily="18" charset="0"/>
              </a:rPr>
              <a:t>个数字，</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表示空格，其他的数字可以和</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交换位置。求由初始状态到达目标状态的步数最少的解？</a:t>
            </a:r>
            <a:br>
              <a:rPr lang="zh-CN" altLang="en-US" dirty="0">
                <a:effectLst/>
              </a:rPr>
            </a:br>
            <a:r>
              <a:rPr lang="zh-CN" altLang="en-US" dirty="0">
                <a:effectLst/>
              </a:rPr>
              <a:t>　　</a:t>
            </a:r>
            <a:r>
              <a:rPr lang="en-US" altLang="zh-CN" dirty="0">
                <a:effectLst/>
              </a:rPr>
              <a:t>1 2 3</a:t>
            </a:r>
            <a:br>
              <a:rPr lang="en-US" altLang="zh-CN" dirty="0">
                <a:effectLst/>
              </a:rPr>
            </a:br>
            <a:r>
              <a:rPr lang="zh-CN" altLang="en-US" dirty="0">
                <a:effectLst/>
              </a:rPr>
              <a:t>　　</a:t>
            </a:r>
            <a:r>
              <a:rPr lang="en-US" altLang="zh-CN" dirty="0">
                <a:effectLst/>
              </a:rPr>
              <a:t>4 5 6</a:t>
            </a:r>
            <a:br>
              <a:rPr lang="en-US" altLang="zh-CN" dirty="0">
                <a:effectLst/>
              </a:rPr>
            </a:br>
            <a:r>
              <a:rPr lang="zh-CN" altLang="en-US" dirty="0">
                <a:effectLst/>
              </a:rPr>
              <a:t>　　</a:t>
            </a:r>
            <a:r>
              <a:rPr lang="en-US" altLang="zh-CN" dirty="0">
                <a:effectLst/>
              </a:rPr>
              <a:t>7 8 0</a:t>
            </a:r>
            <a:br>
              <a:rPr lang="en-US" altLang="zh-CN" dirty="0">
                <a:effectLst/>
              </a:rPr>
            </a:br>
            <a:endParaRPr lang="en-US" altLang="zh-CN" dirty="0">
              <a:effectLst/>
            </a:endParaRPr>
          </a:p>
        </p:txBody>
      </p:sp>
      <p:grpSp>
        <p:nvGrpSpPr>
          <p:cNvPr id="64515" name="组合 6"/>
          <p:cNvGrpSpPr/>
          <p:nvPr/>
        </p:nvGrpSpPr>
        <p:grpSpPr bwMode="auto">
          <a:xfrm>
            <a:off x="5808664" y="4581526"/>
            <a:ext cx="3406775" cy="1484313"/>
            <a:chOff x="0" y="0"/>
            <a:chExt cx="4543425" cy="1484313"/>
          </a:xfrm>
        </p:grpSpPr>
        <p:pic>
          <p:nvPicPr>
            <p:cNvPr id="64516" name="tab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65475" y="20637"/>
              <a:ext cx="1377950" cy="1463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517" name="tab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377950" cy="1463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18" name="Line 40"/>
            <p:cNvSpPr>
              <a:spLocks noChangeShapeType="1"/>
            </p:cNvSpPr>
            <p:nvPr/>
          </p:nvSpPr>
          <p:spPr bwMode="auto">
            <a:xfrm flipV="1">
              <a:off x="1536700" y="758825"/>
              <a:ext cx="1444625" cy="12700"/>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sp>
        <p:nvSpPr>
          <p:cNvPr id="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5" name="Rectangle 3"/>
          <p:cNvSpPr>
            <a:spLocks noGrp="1"/>
          </p:cNvSpPr>
          <p:nvPr>
            <p:ph idx="4294967295"/>
          </p:nvPr>
        </p:nvSpPr>
        <p:spPr>
          <a:xfrm>
            <a:off x="1298667" y="1566631"/>
            <a:ext cx="8540750" cy="4498975"/>
          </a:xfrm>
        </p:spPr>
        <p:txBody>
          <a:bodyPr vert="horz" wrap="square" anchor="t"/>
          <a:lstStyle/>
          <a:p>
            <a:pPr lvl="1" algn="just">
              <a:buFont typeface="Wingdings" panose="05000000000000000000" pitchFamily="2" charset="2"/>
              <a:buNone/>
            </a:pPr>
            <a:r>
              <a:rPr lang="zh-CN" altLang="en-US" noProof="1">
                <a:solidFill>
                  <a:srgbClr val="FF0000"/>
                </a:solidFill>
              </a:rPr>
              <a:t>优先扩展浅层节点</a:t>
            </a:r>
            <a:r>
              <a:rPr lang="zh-CN" altLang="en-US" noProof="1"/>
              <a:t>，逐渐深入</a:t>
            </a:r>
          </a:p>
        </p:txBody>
      </p:sp>
      <p:sp>
        <p:nvSpPr>
          <p:cNvPr id="65539" name="页脚占位符 4"/>
          <p:cNvSpPr txBox="1">
            <a:spLocks noGrp="1" noChangeArrowheads="1"/>
          </p:cNvSpPr>
          <p:nvPr/>
        </p:nvSpPr>
        <p:spPr bwMode="auto">
          <a:xfrm>
            <a:off x="2152650" y="6356351"/>
            <a:ext cx="2057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fld id="{C3685648-F2F6-4775-B8F8-FA007D9BAA37}" type="slidenum">
              <a:rPr lang="zh-CN" altLang="en-US" sz="1200">
                <a:latin typeface="Verdana" panose="020B0604030504040204" pitchFamily="34" charset="0"/>
              </a:rPr>
              <a:t>101</a:t>
            </a:fld>
            <a:endParaRPr lang="zh-CN" altLang="en-US" sz="1200">
              <a:latin typeface="Verdana" panose="020B0604030504040204" pitchFamily="34" charset="0"/>
            </a:endParaRPr>
          </a:p>
        </p:txBody>
      </p:sp>
      <p:sp>
        <p:nvSpPr>
          <p:cNvPr id="65540" name="Text Box 4"/>
          <p:cNvSpPr txBox="1">
            <a:spLocks noChangeArrowheads="1"/>
          </p:cNvSpPr>
          <p:nvPr/>
        </p:nvSpPr>
        <p:spPr bwMode="auto">
          <a:xfrm>
            <a:off x="4948099" y="2740381"/>
            <a:ext cx="685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a:latin typeface="Book Antiqua" panose="02040602050305030304" pitchFamily="18" charset="0"/>
                <a:ea typeface="黑体" panose="02010609060101010101" pitchFamily="49" charset="-122"/>
              </a:rPr>
              <a:t>第一层</a:t>
            </a:r>
          </a:p>
        </p:txBody>
      </p:sp>
      <p:sp>
        <p:nvSpPr>
          <p:cNvPr id="65541" name="Text Box 5"/>
          <p:cNvSpPr txBox="1">
            <a:spLocks noChangeArrowheads="1"/>
          </p:cNvSpPr>
          <p:nvPr/>
        </p:nvSpPr>
        <p:spPr bwMode="auto">
          <a:xfrm>
            <a:off x="4441687" y="3680181"/>
            <a:ext cx="685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a:latin typeface="Book Antiqua" panose="02040602050305030304" pitchFamily="18" charset="0"/>
                <a:ea typeface="黑体" panose="02010609060101010101" pitchFamily="49" charset="-122"/>
              </a:rPr>
              <a:t>第二层</a:t>
            </a:r>
          </a:p>
        </p:txBody>
      </p:sp>
      <p:sp>
        <p:nvSpPr>
          <p:cNvPr id="65542" name="Text Box 6"/>
          <p:cNvSpPr txBox="1">
            <a:spLocks noChangeArrowheads="1"/>
          </p:cNvSpPr>
          <p:nvPr/>
        </p:nvSpPr>
        <p:spPr bwMode="auto">
          <a:xfrm>
            <a:off x="3549512" y="4886681"/>
            <a:ext cx="7350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a:latin typeface="Book Antiqua" panose="02040602050305030304" pitchFamily="18" charset="0"/>
                <a:ea typeface="黑体" panose="02010609060101010101" pitchFamily="49" charset="-122"/>
              </a:rPr>
              <a:t>第三层</a:t>
            </a:r>
          </a:p>
        </p:txBody>
      </p:sp>
      <p:graphicFrame>
        <p:nvGraphicFramePr>
          <p:cNvPr id="64520" name="表格 64519"/>
          <p:cNvGraphicFramePr/>
          <p:nvPr/>
        </p:nvGraphicFramePr>
        <p:xfrm>
          <a:off x="5678349" y="2551468"/>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64538" name="表格 64537"/>
          <p:cNvGraphicFramePr/>
          <p:nvPr/>
        </p:nvGraphicFramePr>
        <p:xfrm>
          <a:off x="5222737" y="3545243"/>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64556" name="表格 64555"/>
          <p:cNvGraphicFramePr/>
          <p:nvPr/>
        </p:nvGraphicFramePr>
        <p:xfrm>
          <a:off x="6075224" y="3548418"/>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64574" name="表格 64573"/>
          <p:cNvGraphicFramePr/>
          <p:nvPr/>
        </p:nvGraphicFramePr>
        <p:xfrm>
          <a:off x="6132374" y="4766031"/>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64592" name="表格 64591"/>
          <p:cNvGraphicFramePr/>
          <p:nvPr/>
        </p:nvGraphicFramePr>
        <p:xfrm>
          <a:off x="5221149" y="4764443"/>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64610" name="表格 64609"/>
          <p:cNvGraphicFramePr/>
          <p:nvPr/>
        </p:nvGraphicFramePr>
        <p:xfrm>
          <a:off x="4316274" y="4712055"/>
          <a:ext cx="558492" cy="735012"/>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6275">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59" marB="45759">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59" marB="45759">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6">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59" marB="45759">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5651" name="Line 115"/>
          <p:cNvSpPr>
            <a:spLocks noChangeShapeType="1"/>
          </p:cNvSpPr>
          <p:nvPr/>
        </p:nvSpPr>
        <p:spPr bwMode="auto">
          <a:xfrm flipH="1">
            <a:off x="5452924" y="3257905"/>
            <a:ext cx="477838" cy="27781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2" name="Line 116"/>
          <p:cNvSpPr>
            <a:spLocks noChangeShapeType="1"/>
          </p:cNvSpPr>
          <p:nvPr/>
        </p:nvSpPr>
        <p:spPr bwMode="auto">
          <a:xfrm>
            <a:off x="5930763" y="3257905"/>
            <a:ext cx="427037" cy="29051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3" name="Line 117"/>
          <p:cNvSpPr>
            <a:spLocks noChangeShapeType="1"/>
          </p:cNvSpPr>
          <p:nvPr/>
        </p:nvSpPr>
        <p:spPr bwMode="auto">
          <a:xfrm flipH="1">
            <a:off x="4638537" y="4224692"/>
            <a:ext cx="825500" cy="47783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4" name="Line 118"/>
          <p:cNvSpPr>
            <a:spLocks noChangeShapeType="1"/>
          </p:cNvSpPr>
          <p:nvPr/>
        </p:nvSpPr>
        <p:spPr bwMode="auto">
          <a:xfrm>
            <a:off x="5443399" y="4224693"/>
            <a:ext cx="0" cy="517525"/>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5" name="Line 119"/>
          <p:cNvSpPr>
            <a:spLocks noChangeShapeType="1"/>
          </p:cNvSpPr>
          <p:nvPr/>
        </p:nvSpPr>
        <p:spPr bwMode="auto">
          <a:xfrm>
            <a:off x="5443399" y="4237392"/>
            <a:ext cx="1004888" cy="51593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6" name="Line 120"/>
          <p:cNvSpPr>
            <a:spLocks noChangeShapeType="1"/>
          </p:cNvSpPr>
          <p:nvPr/>
        </p:nvSpPr>
        <p:spPr bwMode="auto">
          <a:xfrm>
            <a:off x="6327638" y="4237393"/>
            <a:ext cx="1163637" cy="569913"/>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9" name="Rectangle 3"/>
          <p:cNvSpPr>
            <a:spLocks noGrp="1"/>
          </p:cNvSpPr>
          <p:nvPr>
            <p:ph idx="4294967295"/>
          </p:nvPr>
        </p:nvSpPr>
        <p:spPr>
          <a:xfrm>
            <a:off x="1552267" y="1488282"/>
            <a:ext cx="8540750" cy="4498975"/>
          </a:xfrm>
        </p:spPr>
        <p:txBody>
          <a:bodyPr vert="horz" wrap="square" anchor="t"/>
          <a:lstStyle/>
          <a:p>
            <a:pPr lvl="1" algn="just">
              <a:buFont typeface="Wingdings" panose="05000000000000000000" pitchFamily="2" charset="2"/>
              <a:buNone/>
            </a:pPr>
            <a:r>
              <a:rPr lang="en-US" altLang="zh-CN" noProof="1"/>
              <a:t>	</a:t>
            </a:r>
            <a:r>
              <a:rPr lang="zh-CN" altLang="en-US" noProof="1"/>
              <a:t>用</a:t>
            </a:r>
            <a:r>
              <a:rPr lang="zh-CN" altLang="en-US" noProof="1">
                <a:solidFill>
                  <a:srgbClr val="FF0000"/>
                </a:solidFill>
              </a:rPr>
              <a:t>队列</a:t>
            </a:r>
            <a:r>
              <a:rPr lang="zh-CN" altLang="en-US" noProof="1"/>
              <a:t>保存待扩展的节点，从队首队取出节点，扩展出的新节点放入队尾，直到找到目标节点（问题的解）</a:t>
            </a:r>
          </a:p>
        </p:txBody>
      </p:sp>
      <p:graphicFrame>
        <p:nvGraphicFramePr>
          <p:cNvPr id="65540" name="表格 65539"/>
          <p:cNvGraphicFramePr/>
          <p:nvPr/>
        </p:nvGraphicFramePr>
        <p:xfrm>
          <a:off x="3836988" y="3643314"/>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6581" name="Rectangle 22"/>
          <p:cNvSpPr>
            <a:spLocks noChangeArrowheads="1"/>
          </p:cNvSpPr>
          <p:nvPr/>
        </p:nvSpPr>
        <p:spPr bwMode="auto">
          <a:xfrm>
            <a:off x="3690938" y="3549650"/>
            <a:ext cx="3568700" cy="9144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sz="2800">
              <a:latin typeface="宋体" panose="02010600030101010101" pitchFamily="2" charset="-122"/>
            </a:endParaRPr>
          </a:p>
        </p:txBody>
      </p:sp>
      <p:sp>
        <p:nvSpPr>
          <p:cNvPr id="66582" name="Line 23"/>
          <p:cNvSpPr>
            <a:spLocks noChangeShapeType="1"/>
          </p:cNvSpPr>
          <p:nvPr/>
        </p:nvSpPr>
        <p:spPr bwMode="auto">
          <a:xfrm flipH="1">
            <a:off x="2846389" y="3549650"/>
            <a:ext cx="854075"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583" name="Line 24"/>
          <p:cNvSpPr>
            <a:spLocks noChangeShapeType="1"/>
          </p:cNvSpPr>
          <p:nvPr/>
        </p:nvSpPr>
        <p:spPr bwMode="auto">
          <a:xfrm flipH="1">
            <a:off x="2884489" y="4452938"/>
            <a:ext cx="846137"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584" name="Line 25"/>
          <p:cNvSpPr>
            <a:spLocks noChangeShapeType="1"/>
          </p:cNvSpPr>
          <p:nvPr/>
        </p:nvSpPr>
        <p:spPr bwMode="auto">
          <a:xfrm>
            <a:off x="4437063" y="3536950"/>
            <a:ext cx="0" cy="914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65562" name="表格 65561"/>
          <p:cNvGraphicFramePr/>
          <p:nvPr/>
        </p:nvGraphicFramePr>
        <p:xfrm>
          <a:off x="4548188" y="3651251"/>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6603" name="Line 44"/>
          <p:cNvSpPr>
            <a:spLocks noChangeShapeType="1"/>
          </p:cNvSpPr>
          <p:nvPr/>
        </p:nvSpPr>
        <p:spPr bwMode="auto">
          <a:xfrm>
            <a:off x="5146675" y="3544888"/>
            <a:ext cx="0" cy="914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65581" name="表格 65580"/>
          <p:cNvGraphicFramePr/>
          <p:nvPr/>
        </p:nvGraphicFramePr>
        <p:xfrm>
          <a:off x="5264150" y="3636964"/>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6622" name="Line 63"/>
          <p:cNvSpPr>
            <a:spLocks noChangeShapeType="1"/>
          </p:cNvSpPr>
          <p:nvPr/>
        </p:nvSpPr>
        <p:spPr bwMode="auto">
          <a:xfrm>
            <a:off x="5862638" y="3530600"/>
            <a:ext cx="0" cy="914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5600" name="Line 64"/>
          <p:cNvSpPr>
            <a:spLocks noChangeShapeType="1"/>
          </p:cNvSpPr>
          <p:nvPr/>
        </p:nvSpPr>
        <p:spPr bwMode="auto">
          <a:xfrm>
            <a:off x="4078288" y="3059114"/>
            <a:ext cx="0" cy="384175"/>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65601" name="表格 65600"/>
          <p:cNvGraphicFramePr/>
          <p:nvPr/>
        </p:nvGraphicFramePr>
        <p:xfrm>
          <a:off x="3309938" y="4886326"/>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65619" name="表格 65618"/>
          <p:cNvGraphicFramePr/>
          <p:nvPr/>
        </p:nvGraphicFramePr>
        <p:xfrm>
          <a:off x="4065588" y="4884739"/>
          <a:ext cx="558492" cy="733425"/>
        </p:xfrm>
        <a:graphic>
          <a:graphicData uri="http://schemas.openxmlformats.org/drawingml/2006/table">
            <a:tbl>
              <a:tblPr/>
              <a:tblGrid>
                <a:gridCol w="186164">
                  <a:extLst>
                    <a:ext uri="{9D8B030D-6E8A-4147-A177-3AD203B41FA5}">
                      <a16:colId xmlns:a16="http://schemas.microsoft.com/office/drawing/2014/main" val="20000"/>
                    </a:ext>
                  </a:extLst>
                </a:gridCol>
                <a:gridCol w="186164">
                  <a:extLst>
                    <a:ext uri="{9D8B030D-6E8A-4147-A177-3AD203B41FA5}">
                      <a16:colId xmlns:a16="http://schemas.microsoft.com/office/drawing/2014/main" val="20001"/>
                    </a:ext>
                  </a:extLst>
                </a:gridCol>
                <a:gridCol w="186164">
                  <a:extLst>
                    <a:ext uri="{9D8B030D-6E8A-4147-A177-3AD203B41FA5}">
                      <a16:colId xmlns:a16="http://schemas.microsoft.com/office/drawing/2014/main" val="20002"/>
                    </a:ext>
                  </a:extLst>
                </a:gridCol>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5637" name="Line 101"/>
          <p:cNvSpPr>
            <a:spLocks noChangeShapeType="1"/>
          </p:cNvSpPr>
          <p:nvPr/>
        </p:nvSpPr>
        <p:spPr bwMode="auto">
          <a:xfrm flipH="1">
            <a:off x="3611563" y="4357689"/>
            <a:ext cx="436562" cy="477837"/>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38" name="Line 102"/>
          <p:cNvSpPr>
            <a:spLocks noChangeShapeType="1"/>
          </p:cNvSpPr>
          <p:nvPr/>
        </p:nvSpPr>
        <p:spPr bwMode="auto">
          <a:xfrm>
            <a:off x="4078288" y="4357688"/>
            <a:ext cx="258762" cy="45085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39" name="Line 103"/>
          <p:cNvSpPr>
            <a:spLocks noChangeShapeType="1"/>
          </p:cNvSpPr>
          <p:nvPr/>
        </p:nvSpPr>
        <p:spPr bwMode="auto">
          <a:xfrm flipV="1">
            <a:off x="4724401" y="4556126"/>
            <a:ext cx="1401763" cy="703263"/>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40" name="Line 104"/>
          <p:cNvSpPr>
            <a:spLocks noChangeShapeType="1"/>
          </p:cNvSpPr>
          <p:nvPr/>
        </p:nvSpPr>
        <p:spPr bwMode="auto">
          <a:xfrm>
            <a:off x="6180138" y="3067051"/>
            <a:ext cx="0" cy="384175"/>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6664" name="Line 105"/>
          <p:cNvSpPr>
            <a:spLocks noChangeShapeType="1"/>
          </p:cNvSpPr>
          <p:nvPr/>
        </p:nvSpPr>
        <p:spPr bwMode="auto">
          <a:xfrm>
            <a:off x="7250113" y="3549650"/>
            <a:ext cx="214471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665" name="Line 106"/>
          <p:cNvSpPr>
            <a:spLocks noChangeShapeType="1"/>
          </p:cNvSpPr>
          <p:nvPr/>
        </p:nvSpPr>
        <p:spPr bwMode="auto">
          <a:xfrm>
            <a:off x="7210425" y="4451350"/>
            <a:ext cx="21844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666" name="页脚占位符 4"/>
          <p:cNvSpPr txBox="1">
            <a:spLocks noGrp="1" noChangeArrowheads="1"/>
          </p:cNvSpPr>
          <p:nvPr/>
        </p:nvSpPr>
        <p:spPr bwMode="auto">
          <a:xfrm>
            <a:off x="2152650" y="6356351"/>
            <a:ext cx="2057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fld id="{7D3D1D8C-13EA-4B4A-8E6E-38C71ECDF9FB}" type="slidenum">
              <a:rPr lang="zh-CN" altLang="en-US" sz="1200">
                <a:latin typeface="Verdana" panose="020B0604030504040204" pitchFamily="34" charset="0"/>
              </a:rPr>
              <a:t>102</a:t>
            </a:fld>
            <a:endParaRPr lang="zh-CN" altLang="en-US" sz="1200">
              <a:latin typeface="Verdana" panose="020B0604030504040204" pitchFamily="34" charset="0"/>
            </a:endParaRPr>
          </a:p>
        </p:txBody>
      </p:sp>
      <p:sp>
        <p:nvSpPr>
          <p:cNvPr id="2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5601"/>
                                        </p:tgtEl>
                                        <p:attrNameLst>
                                          <p:attrName>style.visibility</p:attrName>
                                        </p:attrNameLst>
                                      </p:cBhvr>
                                      <p:to>
                                        <p:strVal val="visible"/>
                                      </p:to>
                                    </p:set>
                                    <p:animEffect transition="in" filter="blinds(horizontal)">
                                      <p:cBhvr>
                                        <p:cTn id="7" dur="500"/>
                                        <p:tgtEl>
                                          <p:spTgt spid="65601"/>
                                        </p:tgtEl>
                                      </p:cBhvr>
                                    </p:animEffect>
                                  </p:childTnLst>
                                </p:cTn>
                              </p:par>
                              <p:par>
                                <p:cTn id="8" presetID="3" presetClass="entr" presetSubtype="10" fill="hold" nodeType="withEffect">
                                  <p:stCondLst>
                                    <p:cond delay="0"/>
                                  </p:stCondLst>
                                  <p:childTnLst>
                                    <p:set>
                                      <p:cBhvr>
                                        <p:cTn id="9" dur="1" fill="hold">
                                          <p:stCondLst>
                                            <p:cond delay="0"/>
                                          </p:stCondLst>
                                        </p:cTn>
                                        <p:tgtEl>
                                          <p:spTgt spid="65619"/>
                                        </p:tgtEl>
                                        <p:attrNameLst>
                                          <p:attrName>style.visibility</p:attrName>
                                        </p:attrNameLst>
                                      </p:cBhvr>
                                      <p:to>
                                        <p:strVal val="visible"/>
                                      </p:to>
                                    </p:set>
                                    <p:animEffect transition="in" filter="blinds(horizontal)">
                                      <p:cBhvr>
                                        <p:cTn id="10" dur="500"/>
                                        <p:tgtEl>
                                          <p:spTgt spid="65619"/>
                                        </p:tgtEl>
                                      </p:cBhvr>
                                    </p:animEffect>
                                  </p:childTnLst>
                                </p:cTn>
                              </p:par>
                              <p:par>
                                <p:cTn id="11" presetID="3" presetClass="entr" presetSubtype="10" fill="hold" nodeType="withEffect">
                                  <p:stCondLst>
                                    <p:cond delay="0"/>
                                  </p:stCondLst>
                                  <p:childTnLst>
                                    <p:set>
                                      <p:cBhvr>
                                        <p:cTn id="12" dur="1" fill="hold">
                                          <p:stCondLst>
                                            <p:cond delay="0"/>
                                          </p:stCondLst>
                                        </p:cTn>
                                        <p:tgtEl>
                                          <p:spTgt spid="65637"/>
                                        </p:tgtEl>
                                        <p:attrNameLst>
                                          <p:attrName>style.visibility</p:attrName>
                                        </p:attrNameLst>
                                      </p:cBhvr>
                                      <p:to>
                                        <p:strVal val="visible"/>
                                      </p:to>
                                    </p:set>
                                    <p:animEffect transition="in" filter="blinds(horizontal)">
                                      <p:cBhvr>
                                        <p:cTn id="13" dur="500"/>
                                        <p:tgtEl>
                                          <p:spTgt spid="65637"/>
                                        </p:tgtEl>
                                      </p:cBhvr>
                                    </p:animEffect>
                                  </p:childTnLst>
                                </p:cTn>
                              </p:par>
                              <p:par>
                                <p:cTn id="14" presetID="3" presetClass="entr" presetSubtype="10" fill="hold" nodeType="withEffect">
                                  <p:stCondLst>
                                    <p:cond delay="0"/>
                                  </p:stCondLst>
                                  <p:childTnLst>
                                    <p:set>
                                      <p:cBhvr>
                                        <p:cTn id="15" dur="1" fill="hold">
                                          <p:stCondLst>
                                            <p:cond delay="0"/>
                                          </p:stCondLst>
                                        </p:cTn>
                                        <p:tgtEl>
                                          <p:spTgt spid="65638"/>
                                        </p:tgtEl>
                                        <p:attrNameLst>
                                          <p:attrName>style.visibility</p:attrName>
                                        </p:attrNameLst>
                                      </p:cBhvr>
                                      <p:to>
                                        <p:strVal val="visible"/>
                                      </p:to>
                                    </p:set>
                                    <p:animEffect transition="in" filter="blinds(horizontal)">
                                      <p:cBhvr>
                                        <p:cTn id="16" dur="500"/>
                                        <p:tgtEl>
                                          <p:spTgt spid="65638"/>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65639"/>
                                        </p:tgtEl>
                                        <p:attrNameLst>
                                          <p:attrName>style.visibility</p:attrName>
                                        </p:attrNameLst>
                                      </p:cBhvr>
                                      <p:to>
                                        <p:strVal val="visible"/>
                                      </p:to>
                                    </p:set>
                                    <p:animEffect transition="in" filter="blinds(horizontal)">
                                      <p:cBhvr>
                                        <p:cTn id="21" dur="500"/>
                                        <p:tgtEl>
                                          <p:spTgt spid="65639"/>
                                        </p:tgtEl>
                                      </p:cBhvr>
                                    </p:animEffect>
                                  </p:childTnLst>
                                </p:cTn>
                              </p:par>
                            </p:childTnLst>
                          </p:cTn>
                        </p:par>
                      </p:childTnLst>
                    </p:cTn>
                  </p:par>
                  <p:par>
                    <p:cTn id="22" fill="hold">
                      <p:stCondLst>
                        <p:cond delay="indefinite"/>
                      </p:stCondLst>
                      <p:childTnLst>
                        <p:par>
                          <p:cTn id="23" fill="hold">
                            <p:stCondLst>
                              <p:cond delay="0"/>
                            </p:stCondLst>
                            <p:childTnLst>
                              <p:par>
                                <p:cTn id="24" presetID="0" presetClass="path" presetSubtype="0" accel="50000" decel="50000" fill="hold" nodeType="clickEffect">
                                  <p:stCondLst>
                                    <p:cond delay="0"/>
                                  </p:stCondLst>
                                  <p:childTnLst>
                                    <p:animMotion origin="layout" path="M -2.77778E-7 0 L 0.39427 -0.17847 " pathEditMode="relative" rAng="0" ptsTypes="AA">
                                      <p:cBhvr>
                                        <p:cTn id="25" dur="2000" fill="hold"/>
                                        <p:tgtEl>
                                          <p:spTgt spid="65601"/>
                                        </p:tgtEl>
                                        <p:attrNameLst>
                                          <p:attrName>ppt_x</p:attrName>
                                          <p:attrName>ppt_y</p:attrName>
                                        </p:attrNameLst>
                                      </p:cBhvr>
                                      <p:rCtr x="1970500" y="-893400"/>
                                    </p:animMotion>
                                  </p:childTnLst>
                                </p:cTn>
                              </p:par>
                              <p:par>
                                <p:cTn id="26" presetID="0" presetClass="path" presetSubtype="0" accel="50000" decel="50000" fill="hold" nodeType="withEffect">
                                  <p:stCondLst>
                                    <p:cond delay="0"/>
                                  </p:stCondLst>
                                  <p:childTnLst>
                                    <p:animMotion origin="layout" path="M 2.77778E-7 1.48148E-6 L 0.38663 -0.17824 " pathEditMode="relative" rAng="0" ptsTypes="AA">
                                      <p:cBhvr>
                                        <p:cTn id="27" dur="2000" fill="hold"/>
                                        <p:tgtEl>
                                          <p:spTgt spid="65619"/>
                                        </p:tgtEl>
                                        <p:attrNameLst>
                                          <p:attrName>ppt_x</p:attrName>
                                          <p:attrName>ppt_y</p:attrName>
                                        </p:attrNameLst>
                                      </p:cBhvr>
                                      <p:rCtr x="1932300" y="-891100"/>
                                    </p:animMotion>
                                  </p:childTnLst>
                                </p:cTn>
                              </p:par>
                              <p:par>
                                <p:cTn id="28" presetID="3" presetClass="exit" presetSubtype="10" fill="hold" nodeType="withEffect">
                                  <p:stCondLst>
                                    <p:cond delay="0"/>
                                  </p:stCondLst>
                                  <p:childTnLst>
                                    <p:animEffect transition="out" filter="blinds(horizontal)">
                                      <p:cBhvr>
                                        <p:cTn id="29" dur="500"/>
                                        <p:tgtEl>
                                          <p:spTgt spid="65637"/>
                                        </p:tgtEl>
                                      </p:cBhvr>
                                    </p:animEffect>
                                    <p:set>
                                      <p:cBhvr>
                                        <p:cTn id="30" dur="1" fill="hold">
                                          <p:stCondLst>
                                            <p:cond delay="499"/>
                                          </p:stCondLst>
                                        </p:cTn>
                                        <p:tgtEl>
                                          <p:spTgt spid="65637"/>
                                        </p:tgtEl>
                                        <p:attrNameLst>
                                          <p:attrName>style.visibility</p:attrName>
                                        </p:attrNameLst>
                                      </p:cBhvr>
                                      <p:to>
                                        <p:strVal val="hidden"/>
                                      </p:to>
                                    </p:set>
                                  </p:childTnLst>
                                </p:cTn>
                              </p:par>
                              <p:par>
                                <p:cTn id="31" presetID="3" presetClass="exit" presetSubtype="10" fill="hold" nodeType="withEffect">
                                  <p:stCondLst>
                                    <p:cond delay="0"/>
                                  </p:stCondLst>
                                  <p:childTnLst>
                                    <p:animEffect transition="out" filter="blinds(horizontal)">
                                      <p:cBhvr>
                                        <p:cTn id="32" dur="500"/>
                                        <p:tgtEl>
                                          <p:spTgt spid="65638"/>
                                        </p:tgtEl>
                                      </p:cBhvr>
                                    </p:animEffect>
                                    <p:set>
                                      <p:cBhvr>
                                        <p:cTn id="33" dur="1" fill="hold">
                                          <p:stCondLst>
                                            <p:cond delay="499"/>
                                          </p:stCondLst>
                                        </p:cTn>
                                        <p:tgtEl>
                                          <p:spTgt spid="65638"/>
                                        </p:tgtEl>
                                        <p:attrNameLst>
                                          <p:attrName>style.visibility</p:attrName>
                                        </p:attrNameLst>
                                      </p:cBhvr>
                                      <p:to>
                                        <p:strVal val="hidden"/>
                                      </p:to>
                                    </p:set>
                                  </p:childTnLst>
                                </p:cTn>
                              </p:par>
                              <p:par>
                                <p:cTn id="34" presetID="3" presetClass="exit" presetSubtype="10" fill="hold" nodeType="withEffect">
                                  <p:stCondLst>
                                    <p:cond delay="0"/>
                                  </p:stCondLst>
                                  <p:childTnLst>
                                    <p:animEffect transition="out" filter="blinds(horizontal)">
                                      <p:cBhvr>
                                        <p:cTn id="35" dur="500"/>
                                        <p:tgtEl>
                                          <p:spTgt spid="65639"/>
                                        </p:tgtEl>
                                      </p:cBhvr>
                                    </p:animEffect>
                                    <p:set>
                                      <p:cBhvr>
                                        <p:cTn id="36" dur="1" fill="hold">
                                          <p:stCondLst>
                                            <p:cond delay="499"/>
                                          </p:stCondLst>
                                        </p:cTn>
                                        <p:tgtEl>
                                          <p:spTgt spid="65639"/>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0.00365 -0.00671 L 0.18473 -0.00671 " pathEditMode="relative" rAng="0" ptsTypes="AA">
                                      <p:cBhvr>
                                        <p:cTn id="40" dur="2000" fill="hold"/>
                                        <p:tgtEl>
                                          <p:spTgt spid="65640"/>
                                        </p:tgtEl>
                                        <p:attrNameLst>
                                          <p:attrName>ppt_x</p:attrName>
                                          <p:attrName>ppt_y</p:attrName>
                                        </p:attrNameLst>
                                      </p:cBhvr>
                                      <p:rCtr x="0" y="0"/>
                                    </p:animMotion>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0.00295 -0.00555 L 0.10521 -0.00555 " pathEditMode="relative" rAng="0" ptsTypes="AA">
                                      <p:cBhvr>
                                        <p:cTn id="44" dur="2000" fill="hold"/>
                                        <p:tgtEl>
                                          <p:spTgt spid="65600"/>
                                        </p:tgtEl>
                                        <p:attrNameLst>
                                          <p:attrName>ppt_x</p:attrName>
                                          <p:attrName>ppt_y</p:attrName>
                                        </p:attrNameLst>
                                      </p:cBhvr>
                                      <p:rCtr x="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5"/>
          <p:cNvSpPr txBox="1"/>
          <p:nvPr/>
        </p:nvSpPr>
        <p:spPr>
          <a:xfrm>
            <a:off x="1522811" y="1905000"/>
            <a:ext cx="9146382" cy="4267200"/>
          </a:xfrm>
          <a:prstGeom prst="rect">
            <a:avLst/>
          </a:prstGeom>
        </p:spPr>
        <p:txBody>
          <a:bodyPr vert="horz" wrap="square" lIns="91440" tIns="45720" rIns="91440" bIns="45720" rtlCol="0" anchor="t">
            <a:normAutofit/>
          </a:bodyPr>
          <a:lstStyle>
            <a:lvl1pPr marL="274320" indent="-274320" algn="l" defTabSz="914400" rtl="0" eaLnBrk="1" latinLnBrk="0" hangingPunct="1">
              <a:lnSpc>
                <a:spcPct val="90000"/>
              </a:lnSpc>
              <a:spcBef>
                <a:spcPts val="1800"/>
              </a:spcBef>
              <a:buSzPct val="80000"/>
              <a:buFont typeface="Wingdings" panose="05000000000000000000" pitchFamily="2" charset="2"/>
              <a:buChar char="§"/>
              <a:defRPr lang="zh-CN" sz="2400" kern="1200">
                <a:solidFill>
                  <a:schemeClr val="tx1"/>
                </a:solidFill>
                <a:latin typeface="微软雅黑" panose="020B0503020204020204" pitchFamily="34" charset="-122"/>
                <a:ea typeface="微软雅黑" panose="020B0503020204020204" pitchFamily="34" charset="-122"/>
                <a:cs typeface="+mn-cs"/>
              </a:defRPr>
            </a:lvl1pPr>
            <a:lvl2pPr marL="575945" indent="-274320" algn="l" defTabSz="914400" rtl="0" eaLnBrk="1" latinLnBrk="0" hangingPunct="1">
              <a:lnSpc>
                <a:spcPct val="90000"/>
              </a:lnSpc>
              <a:spcBef>
                <a:spcPts val="600"/>
              </a:spcBef>
              <a:buSzPct val="100000"/>
              <a:buFont typeface="Consolas" panose="020B0609020204030204" pitchFamily="49" charset="0"/>
              <a:buChar char="–"/>
              <a:defRPr lang="zh-CN" sz="2000" kern="1200">
                <a:solidFill>
                  <a:schemeClr val="tx1"/>
                </a:solidFill>
                <a:latin typeface="微软雅黑" panose="020B0503020204020204" pitchFamily="34" charset="-122"/>
                <a:ea typeface="微软雅黑" panose="020B0503020204020204" pitchFamily="34" charset="-122"/>
                <a:cs typeface="+mn-cs"/>
              </a:defRPr>
            </a:lvl2pPr>
            <a:lvl3pPr marL="804545" indent="-228600" algn="l" defTabSz="914400" rtl="0" eaLnBrk="1" latinLnBrk="0" hangingPunct="1">
              <a:lnSpc>
                <a:spcPct val="90000"/>
              </a:lnSpc>
              <a:spcBef>
                <a:spcPts val="600"/>
              </a:spcBef>
              <a:buSzPct val="80000"/>
              <a:buFont typeface="Wingdings" panose="05000000000000000000" pitchFamily="2" charset="2"/>
              <a:buChar char="§"/>
              <a:defRPr lang="zh-CN" sz="1800" kern="1200">
                <a:solidFill>
                  <a:schemeClr val="tx1"/>
                </a:solidFill>
                <a:latin typeface="微软雅黑" panose="020B0503020204020204" pitchFamily="34" charset="-122"/>
                <a:ea typeface="微软雅黑" panose="020B0503020204020204" pitchFamily="34" charset="-122"/>
                <a:cs typeface="+mn-cs"/>
              </a:defRPr>
            </a:lvl3pPr>
            <a:lvl4pPr marL="1033145" indent="-228600" algn="l" defTabSz="914400" rtl="0" eaLnBrk="1" latinLnBrk="0" hangingPunct="1">
              <a:lnSpc>
                <a:spcPct val="90000"/>
              </a:lnSpc>
              <a:spcBef>
                <a:spcPts val="600"/>
              </a:spcBef>
              <a:buSzPct val="100000"/>
              <a:buFont typeface="Consolas" panose="020B0609020204030204" pitchFamily="49" charset="0"/>
              <a:buChar char="–"/>
              <a:defRPr lang="zh-CN" sz="1600" kern="1200">
                <a:solidFill>
                  <a:schemeClr val="tx1"/>
                </a:solidFill>
                <a:latin typeface="微软雅黑" panose="020B0503020204020204" pitchFamily="34" charset="-122"/>
                <a:ea typeface="微软雅黑" panose="020B0503020204020204" pitchFamily="34" charset="-122"/>
                <a:cs typeface="+mn-cs"/>
              </a:defRPr>
            </a:lvl4pPr>
            <a:lvl5pPr marL="1261745" indent="-228600" algn="l" defTabSz="914400" rtl="0" eaLnBrk="1" latinLnBrk="0" hangingPunct="1">
              <a:lnSpc>
                <a:spcPct val="90000"/>
              </a:lnSpc>
              <a:spcBef>
                <a:spcPts val="600"/>
              </a:spcBef>
              <a:buSzPct val="80000"/>
              <a:buFont typeface="Wingdings" panose="05000000000000000000" pitchFamily="2" charset="2"/>
              <a:buChar char="§"/>
              <a:defRPr lang="zh-CN" sz="1600" kern="1200">
                <a:solidFill>
                  <a:schemeClr val="tx1"/>
                </a:solidFill>
                <a:latin typeface="微软雅黑" panose="020B0503020204020204" pitchFamily="34" charset="-122"/>
                <a:ea typeface="微软雅黑" panose="020B0503020204020204" pitchFamily="34" charset="-122"/>
                <a:cs typeface="+mn-cs"/>
              </a:defRPr>
            </a:lvl5pPr>
            <a:lvl6pPr marL="1490345" indent="-228600" algn="l" defTabSz="914400" rtl="0" eaLnBrk="1" latinLnBrk="0" hangingPunct="1">
              <a:lnSpc>
                <a:spcPct val="90000"/>
              </a:lnSpc>
              <a:spcBef>
                <a:spcPts val="600"/>
              </a:spcBef>
              <a:buSzPct val="100000"/>
              <a:buFont typeface="Consolas" panose="020B0609020204030204" pitchFamily="49" charset="0"/>
              <a:buChar char="–"/>
              <a:defRPr lang="zh-CN" sz="1600" kern="1200">
                <a:solidFill>
                  <a:schemeClr val="tx1"/>
                </a:solidFill>
                <a:latin typeface="+mn-lt"/>
                <a:ea typeface="+mn-ea"/>
                <a:cs typeface="+mn-cs"/>
              </a:defRPr>
            </a:lvl6pPr>
            <a:lvl7pPr marL="1718945" indent="-228600" algn="l" defTabSz="914400" rtl="0" eaLnBrk="1" latinLnBrk="0" hangingPunct="1">
              <a:lnSpc>
                <a:spcPct val="90000"/>
              </a:lnSpc>
              <a:spcBef>
                <a:spcPts val="600"/>
              </a:spcBef>
              <a:buSzPct val="80000"/>
              <a:buFont typeface="Wingdings" panose="05000000000000000000" pitchFamily="2" charset="2"/>
              <a:buChar char="§"/>
              <a:defRPr lang="zh-CN" sz="1600" kern="1200">
                <a:solidFill>
                  <a:schemeClr val="tx1"/>
                </a:solidFill>
                <a:latin typeface="+mn-lt"/>
                <a:ea typeface="+mn-ea"/>
                <a:cs typeface="+mn-cs"/>
              </a:defRPr>
            </a:lvl7pPr>
            <a:lvl8pPr marL="1947545" indent="-228600" algn="l" defTabSz="914400" rtl="0" eaLnBrk="1" latinLnBrk="0" hangingPunct="1">
              <a:lnSpc>
                <a:spcPct val="90000"/>
              </a:lnSpc>
              <a:spcBef>
                <a:spcPts val="600"/>
              </a:spcBef>
              <a:buSzPct val="100000"/>
              <a:buFont typeface="Consolas" panose="020B0609020204030204" pitchFamily="49" charset="0"/>
              <a:buChar char="–"/>
              <a:defRPr lang="zh-CN" sz="1600" kern="1200">
                <a:solidFill>
                  <a:schemeClr val="tx1"/>
                </a:solidFill>
                <a:latin typeface="+mn-lt"/>
                <a:ea typeface="+mn-ea"/>
                <a:cs typeface="+mn-cs"/>
              </a:defRPr>
            </a:lvl8pPr>
            <a:lvl9pPr marL="2176145" indent="-228600" algn="l" defTabSz="914400" rtl="0" eaLnBrk="1" latinLnBrk="0" hangingPunct="1">
              <a:lnSpc>
                <a:spcPct val="90000"/>
              </a:lnSpc>
              <a:spcBef>
                <a:spcPts val="600"/>
              </a:spcBef>
              <a:buSzPct val="80000"/>
              <a:buFont typeface="Wingdings" panose="05000000000000000000" pitchFamily="2" charset="2"/>
              <a:buChar char="§"/>
              <a:defRPr lang="zh-CN" sz="1600" kern="1200">
                <a:solidFill>
                  <a:schemeClr val="tx1"/>
                </a:solidFill>
                <a:latin typeface="+mn-lt"/>
                <a:ea typeface="+mn-ea"/>
                <a:cs typeface="+mn-cs"/>
              </a:defRPr>
            </a:lvl9pPr>
          </a:lstStyle>
          <a:p>
            <a:pPr>
              <a:buFont typeface="Arial" panose="020B0604020202020204" pitchFamily="34" charset="0"/>
              <a:buNone/>
            </a:pPr>
            <a:r>
              <a:rPr lang="zh-CN" altLang="en-US" noProof="1"/>
              <a:t>	合理编码，减小存储代价</a:t>
            </a:r>
          </a:p>
          <a:p>
            <a:pPr lvl="1">
              <a:buFont typeface="Wingdings" panose="05000000000000000000" pitchFamily="2" charset="2"/>
              <a:buNone/>
            </a:pPr>
            <a:r>
              <a:rPr lang="zh-CN" altLang="en-US" noProof="1"/>
              <a:t>不同的编码方式所需要的存储空间会有较大差别</a:t>
            </a:r>
          </a:p>
          <a:p>
            <a:pPr lvl="1"/>
            <a:endParaRPr lang="zh-CN" altLang="en-US" noProof="1"/>
          </a:p>
        </p:txBody>
      </p:sp>
      <p:graphicFrame>
        <p:nvGraphicFramePr>
          <p:cNvPr id="8" name="表格 7"/>
          <p:cNvGraphicFramePr/>
          <p:nvPr/>
        </p:nvGraphicFramePr>
        <p:xfrm>
          <a:off x="2416175" y="3417889"/>
          <a:ext cx="915988" cy="1217613"/>
        </p:xfrm>
        <a:graphic>
          <a:graphicData uri="http://schemas.openxmlformats.org/drawingml/2006/table">
            <a:tbl>
              <a:tblPr/>
              <a:tblGrid>
                <a:gridCol w="292100">
                  <a:extLst>
                    <a:ext uri="{9D8B030D-6E8A-4147-A177-3AD203B41FA5}">
                      <a16:colId xmlns:a16="http://schemas.microsoft.com/office/drawing/2014/main" val="20000"/>
                    </a:ext>
                  </a:extLst>
                </a:gridCol>
                <a:gridCol w="336550">
                  <a:extLst>
                    <a:ext uri="{9D8B030D-6E8A-4147-A177-3AD203B41FA5}">
                      <a16:colId xmlns:a16="http://schemas.microsoft.com/office/drawing/2014/main" val="20001"/>
                    </a:ext>
                  </a:extLst>
                </a:gridCol>
                <a:gridCol w="287338">
                  <a:extLst>
                    <a:ext uri="{9D8B030D-6E8A-4147-A177-3AD203B41FA5}">
                      <a16:colId xmlns:a16="http://schemas.microsoft.com/office/drawing/2014/main" val="20002"/>
                    </a:ext>
                  </a:extLst>
                </a:gridCol>
              </a:tblGrid>
              <a:tr h="406400">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8</a:t>
                      </a:r>
                      <a:endParaRPr lang="zh-CN" altLang="en-US" sz="1900">
                        <a:latin typeface="Arial" panose="020B0604020202020204" pitchFamily="34" charset="0"/>
                      </a:endParaRPr>
                    </a:p>
                  </a:txBody>
                  <a:tcPr>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2</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3</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04813">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4</a:t>
                      </a:r>
                      <a:endParaRPr lang="zh-CN" altLang="en-US" sz="1900">
                        <a:latin typeface="Arial" panose="020B0604020202020204" pitchFamily="34" charset="0"/>
                      </a:endParaRPr>
                    </a:p>
                  </a:txBody>
                  <a:tcPr>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dirty="0">
                          <a:latin typeface="Arial" panose="020B0604020202020204" pitchFamily="34" charset="0"/>
                        </a:rPr>
                        <a:t>1</a:t>
                      </a:r>
                      <a:endParaRPr lang="zh-CN" altLang="en-US" sz="1900" dirty="0">
                        <a:latin typeface="Arial" panose="020B0604020202020204" pitchFamily="34" charset="0"/>
                      </a:endParaRPr>
                    </a:p>
                  </a:txBody>
                  <a:tcPr>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6</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400">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5</a:t>
                      </a:r>
                      <a:endParaRPr lang="zh-CN" altLang="en-US" sz="1900">
                        <a:latin typeface="Arial" panose="020B0604020202020204" pitchFamily="34" charset="0"/>
                      </a:endParaRPr>
                    </a:p>
                  </a:txBody>
                  <a:tcPr>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7</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900" dirty="0">
                        <a:latin typeface="Arial" panose="020B0604020202020204" pitchFamily="34" charset="0"/>
                      </a:endParaRPr>
                    </a:p>
                  </a:txBody>
                  <a:tcPr>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9" name="Text Box 25"/>
          <p:cNvSpPr txBox="1">
            <a:spLocks noChangeArrowheads="1"/>
          </p:cNvSpPr>
          <p:nvPr/>
        </p:nvSpPr>
        <p:spPr bwMode="auto">
          <a:xfrm>
            <a:off x="3941471" y="3269894"/>
            <a:ext cx="464502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Char char="Ø"/>
            </a:pPr>
            <a:r>
              <a:rPr lang="zh-CN" altLang="en-US" sz="2000" dirty="0">
                <a:latin typeface="Book Antiqua" panose="02040602050305030304" pitchFamily="18" charset="0"/>
                <a:ea typeface="黑体" panose="02010609060101010101" pitchFamily="49" charset="-122"/>
              </a:rPr>
              <a:t>方案一：每个节点对应于一个九进制数（</a:t>
            </a:r>
            <a:r>
              <a:rPr lang="zh-CN" altLang="en-US" sz="2000" dirty="0">
                <a:latin typeface="Book Antiqua" panose="02040602050305030304" pitchFamily="18" charset="0"/>
              </a:rPr>
              <a:t> </a:t>
            </a:r>
            <a:r>
              <a:rPr lang="en-US" altLang="zh-CN" sz="2000" dirty="0">
                <a:latin typeface="Book Antiqua" panose="02040602050305030304" pitchFamily="18" charset="0"/>
              </a:rPr>
              <a:t>48427562</a:t>
            </a:r>
            <a:r>
              <a:rPr lang="zh-CN" altLang="en-US" sz="2000" dirty="0">
                <a:latin typeface="Book Antiqua" panose="02040602050305030304" pitchFamily="18" charset="0"/>
              </a:rPr>
              <a:t>）</a:t>
            </a:r>
            <a:endParaRPr lang="zh-CN" altLang="en-US" sz="2000" dirty="0">
              <a:latin typeface="Book Antiqua" panose="02040602050305030304" pitchFamily="18" charset="0"/>
              <a:ea typeface="黑体" panose="02010609060101010101" pitchFamily="49" charset="-122"/>
            </a:endParaRPr>
          </a:p>
          <a:p>
            <a:pPr>
              <a:buFont typeface="Wingdings" panose="05000000000000000000" pitchFamily="2" charset="2"/>
              <a:buChar char="Ø"/>
            </a:pPr>
            <a:endParaRPr lang="zh-CN" altLang="en-US" sz="2000" dirty="0">
              <a:latin typeface="Book Antiqua" panose="02040602050305030304" pitchFamily="18" charset="0"/>
              <a:ea typeface="黑体" panose="02010609060101010101" pitchFamily="49" charset="-122"/>
            </a:endParaRPr>
          </a:p>
          <a:p>
            <a:pPr>
              <a:buFont typeface="Wingdings" panose="05000000000000000000" pitchFamily="2" charset="2"/>
              <a:buChar char="Ø"/>
            </a:pPr>
            <a:r>
              <a:rPr lang="zh-CN" altLang="en-US" sz="2000" dirty="0">
                <a:latin typeface="Book Antiqua" panose="02040602050305030304" pitchFamily="18" charset="0"/>
                <a:ea typeface="黑体" panose="02010609060101010101" pitchFamily="49" charset="-122"/>
              </a:rPr>
              <a:t>方案二：为节点编号（</a:t>
            </a:r>
            <a:r>
              <a:rPr lang="zh-CN" altLang="en-US" sz="2000" dirty="0">
                <a:latin typeface="Book Antiqua" panose="02040602050305030304" pitchFamily="18" charset="0"/>
              </a:rPr>
              <a:t> </a:t>
            </a:r>
            <a:r>
              <a:rPr lang="en-US" altLang="zh-CN" sz="2000" dirty="0">
                <a:latin typeface="Book Antiqua" panose="02040602050305030304" pitchFamily="18" charset="0"/>
              </a:rPr>
              <a:t>362880</a:t>
            </a:r>
            <a:r>
              <a:rPr lang="zh-CN" altLang="en-US" sz="2000" dirty="0">
                <a:latin typeface="Book Antiqua" panose="02040602050305030304" pitchFamily="18" charset="0"/>
              </a:rPr>
              <a:t>）</a:t>
            </a:r>
            <a:endParaRPr lang="zh-CN" altLang="en-US" sz="2000" dirty="0">
              <a:latin typeface="Book Antiqua" panose="02040602050305030304" pitchFamily="18" charset="0"/>
              <a:ea typeface="黑体" panose="02010609060101010101" pitchFamily="49" charset="-122"/>
            </a:endParaRP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判重</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9">
                                            <p:txEl>
                                              <p:pRg st="2" end="2"/>
                                            </p:txEl>
                                          </p:spTgt>
                                        </p:tgtEl>
                                        <p:attrNameLst>
                                          <p:attrName>style.visibility</p:attrName>
                                        </p:attrNameLst>
                                      </p:cBhvr>
                                      <p:to>
                                        <p:strVal val="visible"/>
                                      </p:to>
                                    </p:set>
                                    <p:animEffect transition="in" filter="fade">
                                      <p:cBhvr>
                                        <p:cTn id="11" dur="500"/>
                                        <p:tgtEl>
                                          <p:spTgt spid="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719091" y="1098905"/>
            <a:ext cx="8207375" cy="1150937"/>
          </a:xfrm>
        </p:spPr>
        <p:txBody>
          <a:bodyPr/>
          <a:lstStyle/>
          <a:p>
            <a:pPr>
              <a:defRPr/>
            </a:pPr>
            <a:r>
              <a:rPr lang="zh-CN" altLang="en-US" sz="2400" b="1" kern="100" dirty="0">
                <a:solidFill>
                  <a:srgbClr val="014B88"/>
                </a:solidFill>
                <a:latin typeface="仿宋_GB2312"/>
                <a:cs typeface="Times New Roman" panose="02020603050405020304" pitchFamily="18" charset="0"/>
              </a:rPr>
              <a:t>一般解决“最快到达”问题</a:t>
            </a:r>
            <a:endParaRPr lang="en-US" altLang="zh-CN" sz="2400" b="1" kern="100" dirty="0">
              <a:solidFill>
                <a:srgbClr val="014B88"/>
              </a:solidFill>
              <a:latin typeface="仿宋_GB2312"/>
              <a:cs typeface="Times New Roman" panose="02020603050405020304" pitchFamily="18" charset="0"/>
            </a:endParaRPr>
          </a:p>
          <a:p>
            <a:pPr>
              <a:defRPr/>
            </a:pPr>
            <a:r>
              <a:rPr lang="zh-CN" altLang="en-US" sz="2400" b="1" kern="100" dirty="0">
                <a:solidFill>
                  <a:srgbClr val="014B88"/>
                </a:solidFill>
                <a:latin typeface="仿宋_GB2312"/>
                <a:cs typeface="Times New Roman" panose="02020603050405020304" pitchFamily="18" charset="0"/>
              </a:rPr>
              <a:t>状态的表示与状态的转移是难点，需要仔细考虑</a:t>
            </a:r>
            <a:endParaRPr lang="en-US" altLang="zh-CN" sz="2400" b="1" kern="100" dirty="0">
              <a:solidFill>
                <a:srgbClr val="014B88"/>
              </a:solidFill>
              <a:latin typeface="仿宋_GB2312"/>
              <a:cs typeface="Times New Roman" panose="02020603050405020304" pitchFamily="18" charset="0"/>
            </a:endParaRPr>
          </a:p>
          <a:p>
            <a:pPr marL="0" indent="0">
              <a:buNone/>
              <a:defRPr/>
            </a:pPr>
            <a:endParaRPr lang="zh-CN" altLang="en-US" dirty="0"/>
          </a:p>
        </p:txBody>
      </p:sp>
      <p:sp>
        <p:nvSpPr>
          <p:cNvPr id="4" name="矩形 3"/>
          <p:cNvSpPr>
            <a:spLocks noChangeArrowheads="1"/>
          </p:cNvSpPr>
          <p:nvPr/>
        </p:nvSpPr>
        <p:spPr bwMode="auto">
          <a:xfrm>
            <a:off x="1114378" y="2376694"/>
            <a:ext cx="10027098"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en-US" altLang="zh-CN" sz="2400" i="0" dirty="0">
                <a:latin typeface="Consolas" panose="020B0609020204030204" pitchFamily="49" charset="0"/>
              </a:rPr>
              <a:t>BFS (  )  {</a:t>
            </a:r>
          </a:p>
          <a:p>
            <a:pPr eaLnBrk="1" hangingPunct="1"/>
            <a:r>
              <a:rPr lang="en-US" altLang="zh-CN" sz="2400" i="0" dirty="0">
                <a:latin typeface="Consolas" panose="020B0609020204030204" pitchFamily="49" charset="0"/>
              </a:rPr>
              <a:t>	</a:t>
            </a:r>
            <a:r>
              <a:rPr lang="zh-CN" altLang="en-US" sz="2400" i="0" dirty="0">
                <a:latin typeface="Consolas" panose="020B0609020204030204" pitchFamily="49" charset="0"/>
              </a:rPr>
              <a:t>初始点加入队列；</a:t>
            </a:r>
          </a:p>
          <a:p>
            <a:pPr eaLnBrk="1" hangingPunct="1"/>
            <a:r>
              <a:rPr lang="zh-CN" altLang="en-US" sz="2400" i="0" dirty="0">
                <a:latin typeface="Consolas" panose="020B0609020204030204" pitchFamily="49" charset="0"/>
              </a:rPr>
              <a:t>	</a:t>
            </a:r>
            <a:r>
              <a:rPr lang="en-US" altLang="zh-CN" sz="2400" i="0" dirty="0">
                <a:latin typeface="Consolas" panose="020B0609020204030204" pitchFamily="49" charset="0"/>
              </a:rPr>
              <a:t>while (</a:t>
            </a:r>
            <a:r>
              <a:rPr lang="zh-CN" altLang="en-US" sz="2400" i="0" dirty="0">
                <a:latin typeface="Consolas" panose="020B0609020204030204" pitchFamily="49" charset="0"/>
              </a:rPr>
              <a:t>队列非空）</a:t>
            </a:r>
            <a:r>
              <a:rPr lang="en-US" altLang="zh-CN" sz="2400" i="0" dirty="0">
                <a:latin typeface="Consolas" panose="020B0609020204030204" pitchFamily="49" charset="0"/>
              </a:rPr>
              <a:t>{</a:t>
            </a:r>
          </a:p>
          <a:p>
            <a:pPr eaLnBrk="1" hangingPunct="1"/>
            <a:r>
              <a:rPr lang="en-US" altLang="zh-CN" sz="2400" i="0" dirty="0">
                <a:latin typeface="Consolas" panose="020B0609020204030204" pitchFamily="49" charset="0"/>
              </a:rPr>
              <a:t>		</a:t>
            </a:r>
            <a:r>
              <a:rPr lang="zh-CN" altLang="en-US" sz="2400" i="0" dirty="0">
                <a:latin typeface="Consolas" panose="020B0609020204030204" pitchFamily="49" charset="0"/>
              </a:rPr>
              <a:t>取出队头结点</a:t>
            </a:r>
            <a:r>
              <a:rPr lang="en-US" altLang="zh-CN" sz="2400" i="0" dirty="0">
                <a:latin typeface="Consolas" panose="020B0609020204030204" pitchFamily="49" charset="0"/>
              </a:rPr>
              <a:t>;</a:t>
            </a:r>
            <a:r>
              <a:rPr lang="zh-CN" altLang="en-US" sz="2400" i="0" dirty="0">
                <a:latin typeface="Consolas" panose="020B0609020204030204" pitchFamily="49" charset="0"/>
              </a:rPr>
              <a:t>（出队操作）</a:t>
            </a:r>
          </a:p>
          <a:p>
            <a:pPr eaLnBrk="1" hangingPunct="1"/>
            <a:r>
              <a:rPr lang="zh-CN" altLang="en-US" sz="2400" i="0" dirty="0">
                <a:latin typeface="Consolas" panose="020B0609020204030204" pitchFamily="49" charset="0"/>
              </a:rPr>
              <a:t>		如果为目标状态，返回结果</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对该结点的每一种符合转移规则的转移状态</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如果该状态没有被访问过：将其加入队列中</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a:t>
            </a:r>
            <a:r>
              <a:rPr lang="en-US" altLang="zh-CN" sz="2400" i="0" dirty="0">
                <a:latin typeface="Consolas" panose="020B0609020204030204" pitchFamily="49" charset="0"/>
              </a:rPr>
              <a:t>}</a:t>
            </a:r>
          </a:p>
          <a:p>
            <a:pPr eaLnBrk="1" hangingPunct="1"/>
            <a:r>
              <a:rPr lang="en-US" altLang="zh-CN" sz="2400" i="0" dirty="0">
                <a:latin typeface="Consolas" panose="020B0609020204030204" pitchFamily="49" charset="0"/>
              </a:rPr>
              <a:t>	</a:t>
            </a:r>
            <a:r>
              <a:rPr lang="zh-CN" altLang="en-US" sz="2400" i="0" dirty="0">
                <a:latin typeface="Consolas" panose="020B0609020204030204" pitchFamily="49" charset="0"/>
              </a:rPr>
              <a:t>未找到可行解，返回</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en-US" altLang="zh-CN" sz="2400" i="0" dirty="0">
                <a:latin typeface="Consolas" panose="020B0609020204030204" pitchFamily="49" charset="0"/>
              </a:rPr>
              <a:t>}</a:t>
            </a:r>
            <a:endParaRPr lang="zh-CN" altLang="en-US" sz="2400" i="0" dirty="0">
              <a:latin typeface="Consolas" panose="020B0609020204030204" pitchFamily="49" charset="0"/>
            </a:endParaRPr>
          </a:p>
        </p:txBody>
      </p:sp>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小结</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arn(inVertical)">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1" name="文本占位符 17410"/>
          <p:cNvSpPr>
            <a:spLocks noGrp="1" noRot="1"/>
          </p:cNvSpPr>
          <p:nvPr>
            <p:ph type="body" sz="half" idx="4294967295"/>
          </p:nvPr>
        </p:nvSpPr>
        <p:spPr>
          <a:xfrm>
            <a:off x="408373" y="1609078"/>
            <a:ext cx="7182035" cy="4408488"/>
          </a:xfrm>
        </p:spPr>
        <p:txBody>
          <a:bodyPr/>
          <a:lstStyle/>
          <a:p>
            <a:pPr>
              <a:buFont typeface="Arial" panose="020B0604020202020204" pitchFamily="34" charset="0"/>
              <a:buNone/>
            </a:pPr>
            <a:r>
              <a:rPr lang="en-US" altLang="zh-CN" noProof="1"/>
              <a:t>   </a:t>
            </a:r>
            <a:r>
              <a:rPr lang="zh-CN" altLang="en-US" sz="2600" b="1" kern="100" noProof="1">
                <a:solidFill>
                  <a:srgbClr val="014B88"/>
                </a:solidFill>
                <a:latin typeface="仿宋_GB2312"/>
                <a:cs typeface="Times New Roman" panose="02020603050405020304" pitchFamily="18" charset="0"/>
              </a:rPr>
              <a:t>算法描述：</a:t>
            </a:r>
          </a:p>
          <a:p>
            <a:pPr>
              <a:lnSpc>
                <a:spcPct val="150000"/>
              </a:lnSpc>
              <a:buFont typeface="Arial" panose="020B0604020202020204" pitchFamily="34" charset="0"/>
              <a:buNone/>
            </a:pPr>
            <a:r>
              <a:rPr lang="zh-CN" altLang="en-US" sz="2600" b="1" kern="100" noProof="1">
                <a:solidFill>
                  <a:srgbClr val="014B88"/>
                </a:solidFill>
                <a:latin typeface="仿宋_GB2312"/>
                <a:cs typeface="Times New Roman" panose="02020603050405020304" pitchFamily="18" charset="0"/>
              </a:rPr>
              <a:t>		按照深度优先的顺序遍历状态空间，通常用递归</a:t>
            </a:r>
            <a:r>
              <a:rPr lang="en-US" altLang="zh-CN" sz="2600" b="1" kern="100" noProof="1">
                <a:solidFill>
                  <a:srgbClr val="014B88"/>
                </a:solidFill>
                <a:latin typeface="仿宋_GB2312"/>
                <a:cs typeface="Times New Roman" panose="02020603050405020304" pitchFamily="18" charset="0"/>
              </a:rPr>
              <a:t>(</a:t>
            </a:r>
            <a:r>
              <a:rPr lang="zh-CN" altLang="en-US" sz="2600" b="1" kern="100" noProof="1">
                <a:solidFill>
                  <a:srgbClr val="014B88"/>
                </a:solidFill>
                <a:latin typeface="仿宋_GB2312"/>
                <a:cs typeface="Times New Roman" panose="02020603050405020304" pitchFamily="18" charset="0"/>
              </a:rPr>
              <a:t>栈</a:t>
            </a:r>
            <a:r>
              <a:rPr lang="en-US" altLang="zh-CN" sz="2600" b="1" kern="100" noProof="1">
                <a:solidFill>
                  <a:srgbClr val="014B88"/>
                </a:solidFill>
                <a:latin typeface="仿宋_GB2312"/>
                <a:cs typeface="Times New Roman" panose="02020603050405020304" pitchFamily="18" charset="0"/>
              </a:rPr>
              <a:t>)</a:t>
            </a:r>
            <a:r>
              <a:rPr lang="zh-CN" altLang="en-US" sz="2600" b="1" kern="100" noProof="1">
                <a:solidFill>
                  <a:srgbClr val="014B88"/>
                </a:solidFill>
                <a:latin typeface="仿宋_GB2312"/>
                <a:cs typeface="Times New Roman" panose="02020603050405020304" pitchFamily="18" charset="0"/>
              </a:rPr>
              <a:t>来实现。</a:t>
            </a:r>
          </a:p>
          <a:p>
            <a:pPr>
              <a:lnSpc>
                <a:spcPct val="150000"/>
              </a:lnSpc>
              <a:buFont typeface="Arial" panose="020B0604020202020204" pitchFamily="34" charset="0"/>
              <a:buNone/>
            </a:pPr>
            <a:r>
              <a:rPr lang="zh-CN" altLang="en-US" sz="2600" b="1" kern="100" noProof="1">
                <a:solidFill>
                  <a:srgbClr val="014B88"/>
                </a:solidFill>
                <a:latin typeface="仿宋_GB2312"/>
                <a:cs typeface="Times New Roman" panose="02020603050405020304" pitchFamily="18" charset="0"/>
              </a:rPr>
              <a:t>		显然，深度优先搜索是一个递归的过程。为了判断在遍历过程中每个点是否被访问过，可以设定</a:t>
            </a:r>
            <a:r>
              <a:rPr lang="en-US" altLang="zh-CN" sz="2600" b="1" kern="100" noProof="1">
                <a:solidFill>
                  <a:srgbClr val="014B88"/>
                </a:solidFill>
                <a:latin typeface="仿宋_GB2312"/>
                <a:cs typeface="Times New Roman" panose="02020603050405020304" pitchFamily="18" charset="0"/>
              </a:rPr>
              <a:t>visit[maxn]</a:t>
            </a:r>
            <a:r>
              <a:rPr lang="zh-CN" altLang="en-US" sz="2600" b="1" kern="100" noProof="1">
                <a:solidFill>
                  <a:srgbClr val="014B88"/>
                </a:solidFill>
                <a:latin typeface="仿宋_GB2312"/>
                <a:cs typeface="Times New Roman" panose="02020603050405020304" pitchFamily="18" charset="0"/>
              </a:rPr>
              <a:t>数组来记录该定点是否被访问过。</a:t>
            </a:r>
          </a:p>
          <a:p>
            <a:pPr>
              <a:buFont typeface="Arial" panose="020B0604020202020204" pitchFamily="34" charset="0"/>
              <a:buNone/>
            </a:pPr>
            <a:endParaRPr lang="zh-CN" altLang="en-US" noProof="1"/>
          </a:p>
        </p:txBody>
      </p:sp>
      <p:pic>
        <p:nvPicPr>
          <p:cNvPr id="10243" name="内容占位符 3" descr="300px-Depth-first-tree_svg.png"/>
          <p:cNvPicPr>
            <a:picLocks noGrp="1" noChangeAspect="1" noChangeArrowheads="1"/>
          </p:cNvPicPr>
          <p:nvPr>
            <p:ph type="body" sz="half" idx="4294967295"/>
          </p:nvPr>
        </p:nvPicPr>
        <p:blipFill>
          <a:blip r:embed="rId2">
            <a:extLst>
              <a:ext uri="{28A0092B-C50C-407E-A947-70E740481C1C}">
                <a14:useLocalDpi xmlns:a14="http://schemas.microsoft.com/office/drawing/2010/main" val="0"/>
              </a:ext>
            </a:extLst>
          </a:blip>
          <a:srcRect/>
          <a:stretch>
            <a:fillRect/>
          </a:stretch>
        </p:blipFill>
        <p:spPr bwMode="auto">
          <a:xfrm>
            <a:off x="7296850" y="1681995"/>
            <a:ext cx="4695961" cy="3005415"/>
          </a:xfrm>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深度优先搜索（</a:t>
            </a: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文本占位符 18434"/>
          <p:cNvSpPr>
            <a:spLocks noGrp="1" noRot="1"/>
          </p:cNvSpPr>
          <p:nvPr>
            <p:ph type="body" idx="4294967295"/>
          </p:nvPr>
        </p:nvSpPr>
        <p:spPr>
          <a:xfrm>
            <a:off x="838200" y="1367301"/>
            <a:ext cx="11084511" cy="4351337"/>
          </a:xfrm>
        </p:spPr>
        <p:txBody>
          <a:bodyPr>
            <a:normAutofit lnSpcReduction="10000"/>
          </a:bodyPr>
          <a:lstStyle/>
          <a:p>
            <a:pPr>
              <a:lnSpc>
                <a:spcPct val="80000"/>
              </a:lnSpc>
              <a:spcBef>
                <a:spcPts val="1300"/>
              </a:spcBef>
              <a:buFont typeface="Arial" panose="020B0604020202020204" pitchFamily="34" charset="0"/>
              <a:buNone/>
            </a:pPr>
            <a:r>
              <a:rPr lang="en-US" sz="2600" b="1" noProof="1">
                <a:solidFill>
                  <a:srgbClr val="014B88"/>
                </a:solidFill>
                <a:latin typeface="Consolas" panose="020B0609020204030204" pitchFamily="49" charset="0"/>
              </a:rPr>
              <a:t>void DFS(node v)</a:t>
            </a:r>
            <a:r>
              <a:rPr lang="en-US" sz="3500" b="1" noProof="1">
                <a:solidFill>
                  <a:srgbClr val="014B88"/>
                </a:solidFill>
                <a:latin typeface="Consolas" panose="020B0609020204030204" pitchFamily="49" charset="0"/>
              </a:rPr>
              <a:t>{</a:t>
            </a: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a:t>
            </a:r>
            <a:r>
              <a:rPr lang="zh-CN" altLang="en-US" b="1" noProof="1">
                <a:solidFill>
                  <a:srgbClr val="014B88"/>
                </a:solidFill>
                <a:latin typeface="Consolas" panose="020B0609020204030204" pitchFamily="49" charset="0"/>
              </a:rPr>
              <a:t>从第</a:t>
            </a:r>
            <a:r>
              <a:rPr lang="en-US" altLang="zh-CN" b="1" noProof="1">
                <a:solidFill>
                  <a:srgbClr val="014B88"/>
                </a:solidFill>
                <a:latin typeface="Consolas" panose="020B0609020204030204" pitchFamily="49" charset="0"/>
              </a:rPr>
              <a:t>v</a:t>
            </a:r>
            <a:r>
              <a:rPr lang="zh-CN" altLang="en-US" b="1" noProof="1">
                <a:solidFill>
                  <a:srgbClr val="014B88"/>
                </a:solidFill>
                <a:latin typeface="Consolas" panose="020B0609020204030204" pitchFamily="49" charset="0"/>
              </a:rPr>
              <a:t>个顶点出发递归地深度优先遍历</a:t>
            </a: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visit[v] = true;</a:t>
            </a: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a:t>
            </a:r>
            <a:r>
              <a:rPr lang="zh-CN" altLang="en-US" b="1" noProof="1">
                <a:solidFill>
                  <a:srgbClr val="014B88"/>
                </a:solidFill>
                <a:latin typeface="Consolas" panose="020B0609020204030204" pitchFamily="49" charset="0"/>
              </a:rPr>
              <a:t>具体函数内容</a:t>
            </a: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a:t>
            </a:r>
            <a:r>
              <a:rPr lang="zh-CN" altLang="en-US" b="1" noProof="1">
                <a:solidFill>
                  <a:srgbClr val="014B88"/>
                </a:solidFill>
                <a:latin typeface="Consolas" panose="020B0609020204030204" pitchFamily="49" charset="0"/>
              </a:rPr>
              <a:t>对于每个和</a:t>
            </a:r>
            <a:r>
              <a:rPr lang="en-US" altLang="zh-CN" b="1" noProof="1">
                <a:solidFill>
                  <a:srgbClr val="014B88"/>
                </a:solidFill>
                <a:latin typeface="Consolas" panose="020B0609020204030204" pitchFamily="49" charset="0"/>
              </a:rPr>
              <a:t>v</a:t>
            </a:r>
            <a:r>
              <a:rPr lang="zh-CN" altLang="en-US" b="1" noProof="1">
                <a:solidFill>
                  <a:srgbClr val="014B88"/>
                </a:solidFill>
                <a:latin typeface="Consolas" panose="020B0609020204030204" pitchFamily="49" charset="0"/>
              </a:rPr>
              <a:t>相邻的点</a:t>
            </a:r>
            <a:r>
              <a:rPr lang="en-US" altLang="zh-CN" b="1" noProof="1">
                <a:solidFill>
                  <a:srgbClr val="014B88"/>
                </a:solidFill>
                <a:latin typeface="Consolas" panose="020B0609020204030204" pitchFamily="49" charset="0"/>
              </a:rPr>
              <a:t>w</a:t>
            </a: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if(!visit[w])DFS(w);	//</a:t>
            </a:r>
            <a:r>
              <a:rPr lang="zh-CN" altLang="en-US" b="1" noProof="1">
                <a:solidFill>
                  <a:srgbClr val="014B88"/>
                </a:solidFill>
                <a:latin typeface="Consolas" panose="020B0609020204030204" pitchFamily="49" charset="0"/>
              </a:rPr>
              <a:t>对</a:t>
            </a:r>
            <a:r>
              <a:rPr lang="en-US" altLang="zh-CN" b="1" noProof="1">
                <a:solidFill>
                  <a:srgbClr val="014B88"/>
                </a:solidFill>
                <a:latin typeface="Consolas" panose="020B0609020204030204" pitchFamily="49" charset="0"/>
              </a:rPr>
              <a:t>v</a:t>
            </a:r>
            <a:r>
              <a:rPr lang="zh-CN" altLang="en-US" b="1" noProof="1">
                <a:solidFill>
                  <a:srgbClr val="014B88"/>
                </a:solidFill>
                <a:latin typeface="Consolas" panose="020B0609020204030204" pitchFamily="49" charset="0"/>
              </a:rPr>
              <a:t>的尚未访问的邻接顶点</a:t>
            </a:r>
            <a:r>
              <a:rPr lang="en-US" altLang="zh-CN" b="1" noProof="1">
                <a:solidFill>
                  <a:srgbClr val="014B88"/>
                </a:solidFill>
                <a:latin typeface="Consolas" panose="020B0609020204030204" pitchFamily="49" charset="0"/>
              </a:rPr>
              <a:t>w</a:t>
            </a:r>
            <a:r>
              <a:rPr lang="zh-CN" altLang="en-US" b="1" noProof="1">
                <a:solidFill>
                  <a:srgbClr val="014B88"/>
                </a:solidFill>
                <a:latin typeface="Consolas" panose="020B0609020204030204" pitchFamily="49" charset="0"/>
              </a:rPr>
              <a:t>递归调用</a:t>
            </a: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a:t>
            </a:r>
          </a:p>
          <a:p>
            <a:pPr>
              <a:lnSpc>
                <a:spcPct val="80000"/>
              </a:lnSpc>
              <a:buFont typeface="Arial" panose="020B0604020202020204" pitchFamily="34" charset="0"/>
              <a:buNone/>
            </a:pPr>
            <a:r>
              <a:rPr lang="en-US" noProof="1"/>
              <a:t>	</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深度优先搜索（</a:t>
            </a: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内容占位符 4"/>
          <p:cNvSpPr>
            <a:spLocks noGrp="1"/>
          </p:cNvSpPr>
          <p:nvPr>
            <p:ph idx="4294967295"/>
          </p:nvPr>
        </p:nvSpPr>
        <p:spPr>
          <a:xfrm>
            <a:off x="510127" y="1171991"/>
            <a:ext cx="11333825" cy="4351337"/>
          </a:xfrm>
        </p:spPr>
        <p:txBody>
          <a:bodyPr>
            <a:normAutofit/>
          </a:bodyPr>
          <a:lstStyle/>
          <a:p>
            <a:pPr marL="0" indent="0" eaLnBrk="1" hangingPunct="1">
              <a:lnSpc>
                <a:spcPct val="150000"/>
              </a:lnSpc>
              <a:buNone/>
            </a:pPr>
            <a:r>
              <a:rPr lang="zh-CN" altLang="en-US" sz="2600" b="1" kern="100" dirty="0">
                <a:solidFill>
                  <a:srgbClr val="014B88"/>
                </a:solidFill>
                <a:cs typeface="Times New Roman" panose="02020603050405020304" pitchFamily="18" charset="0"/>
              </a:rPr>
              <a:t>从初始状态</a:t>
            </a:r>
            <a:r>
              <a:rPr lang="en-US" altLang="zh-CN" sz="2600" b="1" kern="100" dirty="0">
                <a:solidFill>
                  <a:srgbClr val="014B88"/>
                </a:solidFill>
                <a:cs typeface="Times New Roman" panose="02020603050405020304" pitchFamily="18" charset="0"/>
              </a:rPr>
              <a:t>S</a:t>
            </a:r>
            <a:r>
              <a:rPr lang="zh-CN" altLang="en-US" sz="2600" b="1" kern="100" dirty="0">
                <a:solidFill>
                  <a:srgbClr val="014B88"/>
                </a:solidFill>
                <a:cs typeface="Times New Roman" panose="02020603050405020304" pitchFamily="18" charset="0"/>
              </a:rPr>
              <a:t>开始，利用规则生成搜索树下一层任一个结点，检查是否出现目标状态</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，若未出现，以此状态利用规则生成再下一层任一个结点，再检查是否为目标节点</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若未出现，继续以上操作过程，一直进行到叶节点（即不能再生成新状态节点），当它仍不是目标状态，回溯到上一层结果，取另一可能扩展搜索的分支。生成新状态节点。若仍不是目标状态，就按该分支一直扩展到叶节点，若仍不是目标，采用相同的回溯办法回退到上层节点，扩展可能态</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时的分支生成新状态，</a:t>
            </a:r>
            <a:r>
              <a:rPr lang="en-US" altLang="zh-CN" sz="2600" b="1" kern="100" dirty="0">
                <a:solidFill>
                  <a:srgbClr val="014B88"/>
                </a:solidFill>
                <a:cs typeface="Times New Roman" panose="02020603050405020304" pitchFamily="18" charset="0"/>
              </a:rPr>
              <a:t>…</a:t>
            </a:r>
            <a:r>
              <a:rPr lang="zh-CN" altLang="en-US" sz="2600" b="1" kern="100" dirty="0">
                <a:solidFill>
                  <a:srgbClr val="014B88"/>
                </a:solidFill>
                <a:cs typeface="Times New Roman" panose="02020603050405020304" pitchFamily="18" charset="0"/>
              </a:rPr>
              <a:t>，一直进行下去，直到找到目标状态</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为止。</a:t>
            </a:r>
          </a:p>
          <a:p>
            <a:pPr eaLnBrk="1" hangingPunct="1"/>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算法思想</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124"/>
          <p:cNvSpPr>
            <a:spLocks noGrp="1"/>
          </p:cNvSpPr>
          <p:nvPr>
            <p:ph type="body" idx="4294967295"/>
          </p:nvPr>
        </p:nvSpPr>
        <p:spPr>
          <a:xfrm>
            <a:off x="316876" y="1100931"/>
            <a:ext cx="11875124" cy="827088"/>
          </a:xfrm>
        </p:spPr>
        <p:txBody>
          <a:bodyPr vert="horz" wrap="square" anchor="ctr"/>
          <a:lstStyle/>
          <a:p>
            <a:pPr marL="273050" indent="-273050">
              <a:buNone/>
            </a:pPr>
            <a:r>
              <a:rPr lang="zh-CN" altLang="en-US" sz="2600" b="1" kern="100" noProof="1">
                <a:latin typeface="仿宋_GB2312"/>
                <a:cs typeface="Times New Roman" panose="02020603050405020304" pitchFamily="18" charset="0"/>
              </a:rPr>
              <a:t>在寻找出口的过程中，每前进一步，当前位置入栈；每回退一步，栈顶元素出栈</a:t>
            </a:r>
          </a:p>
        </p:txBody>
      </p:sp>
      <p:sp>
        <p:nvSpPr>
          <p:cNvPr id="15362" name="Rectangle 2"/>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3" name="Rectangle 3"/>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4" name="Rectangle 4"/>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5" name="Rectangle 5"/>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6" name="Rectangle 6"/>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7" name="Rectangle 7"/>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8" name="Rectangle 8"/>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9" name="Rectangle 9"/>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0" name="Rectangle 10"/>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1" name="Rectangle 11"/>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2" name="Rectangle 12"/>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3" name="Rectangle 13"/>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4" name="Rectangle 14"/>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5" name="Rectangle 15"/>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6" name="Rectangle 16"/>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7" name="Rectangle 17"/>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8" name="Rectangle 18"/>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9" name="Rectangle 19"/>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0" name="Rectangle 20"/>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1" name="Rectangle 21"/>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2" name="Rectangle 22"/>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3" name="Rectangle 23"/>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4" name="Rectangle 24"/>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5" name="Rectangle 25"/>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6" name="Rectangle 26"/>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7" name="Rectangle 27"/>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8" name="Rectangle 28"/>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9" name="Rectangle 29"/>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0" name="Rectangle 30"/>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1" name="Rectangle 31"/>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2" name="Rectangle 32"/>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3" name="Rectangle 33"/>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4" name="Rectangle 34"/>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5" name="Rectangle 35"/>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6" name="Rectangle 36"/>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7" name="Rectangle 37"/>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8" name="Rectangle 38"/>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9" name="Rectangle 39"/>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0" name="Rectangle 40"/>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1" name="Rectangle 41"/>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2" name="Rectangle 42"/>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3" name="Rectangle 43"/>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4" name="Rectangle 44"/>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5" name="Rectangle 45"/>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6" name="Rectangle 46"/>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7" name="Rectangle 47"/>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8" name="Rectangle 48"/>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9" name="Rectangle 49"/>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0" name="Rectangle 50"/>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1" name="Rectangle 51"/>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2" name="Rectangle 52"/>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3" name="Rectangle 53"/>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4" name="Rectangle 54"/>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5" name="Rectangle 55"/>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6" name="Rectangle 56"/>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7" name="Rectangle 57"/>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8" name="Rectangle 58"/>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9" name="Rectangle 59"/>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0" name="Rectangle 60"/>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1" name="Rectangle 61"/>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2" name="Rectangle 62"/>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3" name="Rectangle 63"/>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4" name="Rectangle 64"/>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5" name="Rectangle 65"/>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6" name="Rectangle 66"/>
          <p:cNvSpPr>
            <a:spLocks noChangeArrowheads="1"/>
          </p:cNvSpPr>
          <p:nvPr/>
        </p:nvSpPr>
        <p:spPr bwMode="auto">
          <a:xfrm>
            <a:off x="8153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5427" name="Rectangle 67"/>
          <p:cNvSpPr>
            <a:spLocks noChangeArrowheads="1"/>
          </p:cNvSpPr>
          <p:nvPr/>
        </p:nvSpPr>
        <p:spPr bwMode="auto">
          <a:xfrm>
            <a:off x="5486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5428" name="Rectangle 68"/>
          <p:cNvSpPr>
            <a:spLocks noChangeArrowheads="1"/>
          </p:cNvSpPr>
          <p:nvPr/>
        </p:nvSpPr>
        <p:spPr bwMode="auto">
          <a:xfrm>
            <a:off x="5867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5429" name="Rectangle 69"/>
          <p:cNvSpPr>
            <a:spLocks noChangeArrowheads="1"/>
          </p:cNvSpPr>
          <p:nvPr/>
        </p:nvSpPr>
        <p:spPr bwMode="auto">
          <a:xfrm>
            <a:off x="6240463" y="191611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5430" name="Rectangle 70"/>
          <p:cNvSpPr>
            <a:spLocks noChangeArrowheads="1"/>
          </p:cNvSpPr>
          <p:nvPr/>
        </p:nvSpPr>
        <p:spPr bwMode="auto">
          <a:xfrm>
            <a:off x="6629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5431" name="Rectangle 71"/>
          <p:cNvSpPr>
            <a:spLocks noChangeArrowheads="1"/>
          </p:cNvSpPr>
          <p:nvPr/>
        </p:nvSpPr>
        <p:spPr bwMode="auto">
          <a:xfrm>
            <a:off x="7010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5432" name="Rectangle 72"/>
          <p:cNvSpPr>
            <a:spLocks noChangeArrowheads="1"/>
          </p:cNvSpPr>
          <p:nvPr/>
        </p:nvSpPr>
        <p:spPr bwMode="auto">
          <a:xfrm>
            <a:off x="7391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5433" name="Rectangle 73"/>
          <p:cNvSpPr>
            <a:spLocks noChangeArrowheads="1"/>
          </p:cNvSpPr>
          <p:nvPr/>
        </p:nvSpPr>
        <p:spPr bwMode="auto">
          <a:xfrm>
            <a:off x="7772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5434" name="Rectangle 74"/>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5435" name="Rectangle 75"/>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5436" name="Rectangle 76"/>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5437" name="Rectangle 77"/>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5438" name="Rectangle 78"/>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5439" name="Rectangle 79"/>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5440" name="Rectangle 80"/>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5441" name="Rectangle 81"/>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5442" name="Rectangle 83"/>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3" name="Rectangle 84"/>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4" name="Rectangle 85"/>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5" name="Rectangle 86"/>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6" name="Rectangle 87"/>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7" name="Rectangle 88"/>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8" name="Rectangle 89"/>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9" name="Rectangle 90"/>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50" name="Rectangle 91"/>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51" name="Rectangle 92"/>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5452" name="Rectangle 93"/>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3" name="Rectangle 94"/>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4" name="Rectangle 95"/>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5" name="Rectangle 96"/>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6" name="Rectangle 97"/>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7" name="Rectangle 98"/>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8" name="Rectangle 99"/>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9" name="Rectangle 100"/>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0" name="Rectangle 101"/>
          <p:cNvSpPr>
            <a:spLocks noChangeArrowheads="1"/>
          </p:cNvSpPr>
          <p:nvPr/>
        </p:nvSpPr>
        <p:spPr bwMode="auto">
          <a:xfrm>
            <a:off x="8543925" y="573405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1" name="Rectangle 102"/>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2" name="Rectangle 103"/>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3" name="Rectangle 104"/>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4" name="Rectangle 105"/>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5" name="Rectangle 106"/>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6" name="Rectangle 107"/>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7" name="Rectangle 108"/>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8" name="Rectangle 109"/>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9" name="Rectangle 110"/>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0" name="Rectangle 111"/>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1" name="Rectangle 112"/>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2" name="Rectangle 113"/>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3" name="Rectangle 114"/>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4" name="Rectangle 115"/>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5" name="Rectangle 116"/>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6" name="Rectangle 117"/>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7" name="Rectangle 118"/>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8" name="Rectangle 119"/>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9" name="Rectangle 120"/>
          <p:cNvSpPr>
            <a:spLocks noChangeArrowheads="1"/>
          </p:cNvSpPr>
          <p:nvPr/>
        </p:nvSpPr>
        <p:spPr bwMode="auto">
          <a:xfrm>
            <a:off x="5105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5480" name="Rectangle 121"/>
          <p:cNvSpPr>
            <a:spLocks noChangeArrowheads="1"/>
          </p:cNvSpPr>
          <p:nvPr/>
        </p:nvSpPr>
        <p:spPr bwMode="auto">
          <a:xfrm>
            <a:off x="8543925" y="191611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5481" name="Rectangle 122"/>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pic>
        <p:nvPicPr>
          <p:cNvPr id="15482" name="Picture 12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2667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22652" name="Group 124"/>
          <p:cNvGrpSpPr/>
          <p:nvPr/>
        </p:nvGrpSpPr>
        <p:grpSpPr bwMode="auto">
          <a:xfrm>
            <a:off x="1905000" y="2133601"/>
            <a:ext cx="1981200" cy="4054475"/>
            <a:chOff x="0" y="0"/>
            <a:chExt cx="1248" cy="2554"/>
          </a:xfrm>
        </p:grpSpPr>
        <p:grpSp>
          <p:nvGrpSpPr>
            <p:cNvPr id="15484" name="Group 125"/>
            <p:cNvGrpSpPr/>
            <p:nvPr/>
          </p:nvGrpSpPr>
          <p:grpSpPr bwMode="auto">
            <a:xfrm>
              <a:off x="336" y="0"/>
              <a:ext cx="912" cy="2544"/>
              <a:chOff x="0" y="0"/>
              <a:chExt cx="1056" cy="1392"/>
            </a:xfrm>
          </p:grpSpPr>
          <p:sp>
            <p:nvSpPr>
              <p:cNvPr id="15485"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86"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87"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488" name="Text Box 130"/>
            <p:cNvSpPr>
              <a:spLocks noChangeArrowheads="1"/>
            </p:cNvSpPr>
            <p:nvPr/>
          </p:nvSpPr>
          <p:spPr bwMode="auto">
            <a:xfrm>
              <a:off x="0" y="2304"/>
              <a:ext cx="24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5489" name="Rectangle 131"/>
            <p:cNvSpPr>
              <a:spLocks noChangeArrowheads="1"/>
            </p:cNvSpPr>
            <p:nvPr/>
          </p:nvSpPr>
          <p:spPr bwMode="auto">
            <a:xfrm>
              <a:off x="336" y="2362"/>
              <a:ext cx="912" cy="18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grpSp>
      <p:sp>
        <p:nvSpPr>
          <p:cNvPr id="13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2652"/>
                                        </p:tgtEl>
                                        <p:attrNameLst>
                                          <p:attrName>style.visibility</p:attrName>
                                        </p:attrNameLst>
                                      </p:cBhvr>
                                      <p:to>
                                        <p:strVal val="visible"/>
                                      </p:to>
                                    </p:set>
                                    <p:animEffect filter="wipe(down)">
                                      <p:cBhvr>
                                        <p:cTn id="7" dur="500"/>
                                        <p:tgtEl>
                                          <p:spTgt spid="226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2668588"/>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3556" name="Rectangle 3"/>
          <p:cNvSpPr>
            <a:spLocks noChangeArrowheads="1"/>
          </p:cNvSpPr>
          <p:nvPr/>
        </p:nvSpPr>
        <p:spPr bwMode="auto">
          <a:xfrm>
            <a:off x="5486400" y="2668588"/>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6388" name="Rectangle 4"/>
          <p:cNvSpPr>
            <a:spLocks noChangeArrowheads="1"/>
          </p:cNvSpPr>
          <p:nvPr/>
        </p:nvSpPr>
        <p:spPr bwMode="auto">
          <a:xfrm>
            <a:off x="5867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89" name="Rectangle 5"/>
          <p:cNvSpPr>
            <a:spLocks noChangeArrowheads="1"/>
          </p:cNvSpPr>
          <p:nvPr/>
        </p:nvSpPr>
        <p:spPr bwMode="auto">
          <a:xfrm>
            <a:off x="6248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0" name="Rectangle 6"/>
          <p:cNvSpPr>
            <a:spLocks noChangeArrowheads="1"/>
          </p:cNvSpPr>
          <p:nvPr/>
        </p:nvSpPr>
        <p:spPr bwMode="auto">
          <a:xfrm>
            <a:off x="6629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1" name="Rectangle 7"/>
          <p:cNvSpPr>
            <a:spLocks noChangeArrowheads="1"/>
          </p:cNvSpPr>
          <p:nvPr/>
        </p:nvSpPr>
        <p:spPr bwMode="auto">
          <a:xfrm>
            <a:off x="7010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2" name="Rectangle 8"/>
          <p:cNvSpPr>
            <a:spLocks noChangeArrowheads="1"/>
          </p:cNvSpPr>
          <p:nvPr/>
        </p:nvSpPr>
        <p:spPr bwMode="auto">
          <a:xfrm>
            <a:off x="7391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3" name="Rectangle 9"/>
          <p:cNvSpPr>
            <a:spLocks noChangeArrowheads="1"/>
          </p:cNvSpPr>
          <p:nvPr/>
        </p:nvSpPr>
        <p:spPr bwMode="auto">
          <a:xfrm>
            <a:off x="7772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4" name="Rectangle 10"/>
          <p:cNvSpPr>
            <a:spLocks noChangeArrowheads="1"/>
          </p:cNvSpPr>
          <p:nvPr/>
        </p:nvSpPr>
        <p:spPr bwMode="auto">
          <a:xfrm>
            <a:off x="8153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5" name="Rectangle 11"/>
          <p:cNvSpPr>
            <a:spLocks noChangeArrowheads="1"/>
          </p:cNvSpPr>
          <p:nvPr/>
        </p:nvSpPr>
        <p:spPr bwMode="auto">
          <a:xfrm>
            <a:off x="5486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6" name="Rectangle 12"/>
          <p:cNvSpPr>
            <a:spLocks noChangeArrowheads="1"/>
          </p:cNvSpPr>
          <p:nvPr/>
        </p:nvSpPr>
        <p:spPr bwMode="auto">
          <a:xfrm>
            <a:off x="5867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7" name="Rectangle 13"/>
          <p:cNvSpPr>
            <a:spLocks noChangeArrowheads="1"/>
          </p:cNvSpPr>
          <p:nvPr/>
        </p:nvSpPr>
        <p:spPr bwMode="auto">
          <a:xfrm>
            <a:off x="6248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8" name="Rectangle 14"/>
          <p:cNvSpPr>
            <a:spLocks noChangeArrowheads="1"/>
          </p:cNvSpPr>
          <p:nvPr/>
        </p:nvSpPr>
        <p:spPr bwMode="auto">
          <a:xfrm>
            <a:off x="6629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9" name="Rectangle 15"/>
          <p:cNvSpPr>
            <a:spLocks noChangeArrowheads="1"/>
          </p:cNvSpPr>
          <p:nvPr/>
        </p:nvSpPr>
        <p:spPr bwMode="auto">
          <a:xfrm>
            <a:off x="7010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0" name="Rectangle 16"/>
          <p:cNvSpPr>
            <a:spLocks noChangeArrowheads="1"/>
          </p:cNvSpPr>
          <p:nvPr/>
        </p:nvSpPr>
        <p:spPr bwMode="auto">
          <a:xfrm>
            <a:off x="7391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1" name="Rectangle 17"/>
          <p:cNvSpPr>
            <a:spLocks noChangeArrowheads="1"/>
          </p:cNvSpPr>
          <p:nvPr/>
        </p:nvSpPr>
        <p:spPr bwMode="auto">
          <a:xfrm>
            <a:off x="7772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2" name="Rectangle 18"/>
          <p:cNvSpPr>
            <a:spLocks noChangeArrowheads="1"/>
          </p:cNvSpPr>
          <p:nvPr/>
        </p:nvSpPr>
        <p:spPr bwMode="auto">
          <a:xfrm>
            <a:off x="8153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3" name="Rectangle 19"/>
          <p:cNvSpPr>
            <a:spLocks noChangeArrowheads="1"/>
          </p:cNvSpPr>
          <p:nvPr/>
        </p:nvSpPr>
        <p:spPr bwMode="auto">
          <a:xfrm>
            <a:off x="5486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4" name="Rectangle 20"/>
          <p:cNvSpPr>
            <a:spLocks noChangeArrowheads="1"/>
          </p:cNvSpPr>
          <p:nvPr/>
        </p:nvSpPr>
        <p:spPr bwMode="auto">
          <a:xfrm>
            <a:off x="5867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5" name="Rectangle 21"/>
          <p:cNvSpPr>
            <a:spLocks noChangeArrowheads="1"/>
          </p:cNvSpPr>
          <p:nvPr/>
        </p:nvSpPr>
        <p:spPr bwMode="auto">
          <a:xfrm>
            <a:off x="6248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6" name="Rectangle 22"/>
          <p:cNvSpPr>
            <a:spLocks noChangeArrowheads="1"/>
          </p:cNvSpPr>
          <p:nvPr/>
        </p:nvSpPr>
        <p:spPr bwMode="auto">
          <a:xfrm>
            <a:off x="6629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7" name="Rectangle 23"/>
          <p:cNvSpPr>
            <a:spLocks noChangeArrowheads="1"/>
          </p:cNvSpPr>
          <p:nvPr/>
        </p:nvSpPr>
        <p:spPr bwMode="auto">
          <a:xfrm>
            <a:off x="7010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8" name="Rectangle 24"/>
          <p:cNvSpPr>
            <a:spLocks noChangeArrowheads="1"/>
          </p:cNvSpPr>
          <p:nvPr/>
        </p:nvSpPr>
        <p:spPr bwMode="auto">
          <a:xfrm>
            <a:off x="7391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9" name="Rectangle 25"/>
          <p:cNvSpPr>
            <a:spLocks noChangeArrowheads="1"/>
          </p:cNvSpPr>
          <p:nvPr/>
        </p:nvSpPr>
        <p:spPr bwMode="auto">
          <a:xfrm>
            <a:off x="7772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0" name="Rectangle 26"/>
          <p:cNvSpPr>
            <a:spLocks noChangeArrowheads="1"/>
          </p:cNvSpPr>
          <p:nvPr/>
        </p:nvSpPr>
        <p:spPr bwMode="auto">
          <a:xfrm>
            <a:off x="8153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1" name="Rectangle 27"/>
          <p:cNvSpPr>
            <a:spLocks noChangeArrowheads="1"/>
          </p:cNvSpPr>
          <p:nvPr/>
        </p:nvSpPr>
        <p:spPr bwMode="auto">
          <a:xfrm>
            <a:off x="5486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2" name="Rectangle 28"/>
          <p:cNvSpPr>
            <a:spLocks noChangeArrowheads="1"/>
          </p:cNvSpPr>
          <p:nvPr/>
        </p:nvSpPr>
        <p:spPr bwMode="auto">
          <a:xfrm>
            <a:off x="5867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3" name="Rectangle 29"/>
          <p:cNvSpPr>
            <a:spLocks noChangeArrowheads="1"/>
          </p:cNvSpPr>
          <p:nvPr/>
        </p:nvSpPr>
        <p:spPr bwMode="auto">
          <a:xfrm>
            <a:off x="6248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4" name="Rectangle 30"/>
          <p:cNvSpPr>
            <a:spLocks noChangeArrowheads="1"/>
          </p:cNvSpPr>
          <p:nvPr/>
        </p:nvSpPr>
        <p:spPr bwMode="auto">
          <a:xfrm>
            <a:off x="6629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5" name="Rectangle 31"/>
          <p:cNvSpPr>
            <a:spLocks noChangeArrowheads="1"/>
          </p:cNvSpPr>
          <p:nvPr/>
        </p:nvSpPr>
        <p:spPr bwMode="auto">
          <a:xfrm>
            <a:off x="7010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6" name="Rectangle 32"/>
          <p:cNvSpPr>
            <a:spLocks noChangeArrowheads="1"/>
          </p:cNvSpPr>
          <p:nvPr/>
        </p:nvSpPr>
        <p:spPr bwMode="auto">
          <a:xfrm>
            <a:off x="7391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7" name="Rectangle 33"/>
          <p:cNvSpPr>
            <a:spLocks noChangeArrowheads="1"/>
          </p:cNvSpPr>
          <p:nvPr/>
        </p:nvSpPr>
        <p:spPr bwMode="auto">
          <a:xfrm>
            <a:off x="7772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8" name="Rectangle 34"/>
          <p:cNvSpPr>
            <a:spLocks noChangeArrowheads="1"/>
          </p:cNvSpPr>
          <p:nvPr/>
        </p:nvSpPr>
        <p:spPr bwMode="auto">
          <a:xfrm>
            <a:off x="8153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9" name="Rectangle 35"/>
          <p:cNvSpPr>
            <a:spLocks noChangeArrowheads="1"/>
          </p:cNvSpPr>
          <p:nvPr/>
        </p:nvSpPr>
        <p:spPr bwMode="auto">
          <a:xfrm>
            <a:off x="5486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0" name="Rectangle 36"/>
          <p:cNvSpPr>
            <a:spLocks noChangeArrowheads="1"/>
          </p:cNvSpPr>
          <p:nvPr/>
        </p:nvSpPr>
        <p:spPr bwMode="auto">
          <a:xfrm>
            <a:off x="5867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1" name="Rectangle 37"/>
          <p:cNvSpPr>
            <a:spLocks noChangeArrowheads="1"/>
          </p:cNvSpPr>
          <p:nvPr/>
        </p:nvSpPr>
        <p:spPr bwMode="auto">
          <a:xfrm>
            <a:off x="6248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2" name="Rectangle 38"/>
          <p:cNvSpPr>
            <a:spLocks noChangeArrowheads="1"/>
          </p:cNvSpPr>
          <p:nvPr/>
        </p:nvSpPr>
        <p:spPr bwMode="auto">
          <a:xfrm>
            <a:off x="6629400" y="4192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3" name="Rectangle 39"/>
          <p:cNvSpPr>
            <a:spLocks noChangeArrowheads="1"/>
          </p:cNvSpPr>
          <p:nvPr/>
        </p:nvSpPr>
        <p:spPr bwMode="auto">
          <a:xfrm>
            <a:off x="7010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4" name="Rectangle 40"/>
          <p:cNvSpPr>
            <a:spLocks noChangeArrowheads="1"/>
          </p:cNvSpPr>
          <p:nvPr/>
        </p:nvSpPr>
        <p:spPr bwMode="auto">
          <a:xfrm>
            <a:off x="7391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5" name="Rectangle 41"/>
          <p:cNvSpPr>
            <a:spLocks noChangeArrowheads="1"/>
          </p:cNvSpPr>
          <p:nvPr/>
        </p:nvSpPr>
        <p:spPr bwMode="auto">
          <a:xfrm>
            <a:off x="7772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6" name="Rectangle 42"/>
          <p:cNvSpPr>
            <a:spLocks noChangeArrowheads="1"/>
          </p:cNvSpPr>
          <p:nvPr/>
        </p:nvSpPr>
        <p:spPr bwMode="auto">
          <a:xfrm>
            <a:off x="8153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7" name="Rectangle 43"/>
          <p:cNvSpPr>
            <a:spLocks noChangeArrowheads="1"/>
          </p:cNvSpPr>
          <p:nvPr/>
        </p:nvSpPr>
        <p:spPr bwMode="auto">
          <a:xfrm>
            <a:off x="5486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8" name="Rectangle 44"/>
          <p:cNvSpPr>
            <a:spLocks noChangeArrowheads="1"/>
          </p:cNvSpPr>
          <p:nvPr/>
        </p:nvSpPr>
        <p:spPr bwMode="auto">
          <a:xfrm>
            <a:off x="5867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9" name="Rectangle 45"/>
          <p:cNvSpPr>
            <a:spLocks noChangeArrowheads="1"/>
          </p:cNvSpPr>
          <p:nvPr/>
        </p:nvSpPr>
        <p:spPr bwMode="auto">
          <a:xfrm>
            <a:off x="6248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0" name="Rectangle 46"/>
          <p:cNvSpPr>
            <a:spLocks noChangeArrowheads="1"/>
          </p:cNvSpPr>
          <p:nvPr/>
        </p:nvSpPr>
        <p:spPr bwMode="auto">
          <a:xfrm>
            <a:off x="6629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1" name="Rectangle 47"/>
          <p:cNvSpPr>
            <a:spLocks noChangeArrowheads="1"/>
          </p:cNvSpPr>
          <p:nvPr/>
        </p:nvSpPr>
        <p:spPr bwMode="auto">
          <a:xfrm>
            <a:off x="7010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2" name="Rectangle 48"/>
          <p:cNvSpPr>
            <a:spLocks noChangeArrowheads="1"/>
          </p:cNvSpPr>
          <p:nvPr/>
        </p:nvSpPr>
        <p:spPr bwMode="auto">
          <a:xfrm>
            <a:off x="7391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3" name="Rectangle 49"/>
          <p:cNvSpPr>
            <a:spLocks noChangeArrowheads="1"/>
          </p:cNvSpPr>
          <p:nvPr/>
        </p:nvSpPr>
        <p:spPr bwMode="auto">
          <a:xfrm>
            <a:off x="7772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4" name="Rectangle 50"/>
          <p:cNvSpPr>
            <a:spLocks noChangeArrowheads="1"/>
          </p:cNvSpPr>
          <p:nvPr/>
        </p:nvSpPr>
        <p:spPr bwMode="auto">
          <a:xfrm>
            <a:off x="8153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5" name="Rectangle 51"/>
          <p:cNvSpPr>
            <a:spLocks noChangeArrowheads="1"/>
          </p:cNvSpPr>
          <p:nvPr/>
        </p:nvSpPr>
        <p:spPr bwMode="auto">
          <a:xfrm>
            <a:off x="5486400" y="4954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6" name="Rectangle 52"/>
          <p:cNvSpPr>
            <a:spLocks noChangeArrowheads="1"/>
          </p:cNvSpPr>
          <p:nvPr/>
        </p:nvSpPr>
        <p:spPr bwMode="auto">
          <a:xfrm>
            <a:off x="5867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7" name="Rectangle 53"/>
          <p:cNvSpPr>
            <a:spLocks noChangeArrowheads="1"/>
          </p:cNvSpPr>
          <p:nvPr/>
        </p:nvSpPr>
        <p:spPr bwMode="auto">
          <a:xfrm>
            <a:off x="6248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8" name="Rectangle 54"/>
          <p:cNvSpPr>
            <a:spLocks noChangeArrowheads="1"/>
          </p:cNvSpPr>
          <p:nvPr/>
        </p:nvSpPr>
        <p:spPr bwMode="auto">
          <a:xfrm>
            <a:off x="6629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9" name="Rectangle 55"/>
          <p:cNvSpPr>
            <a:spLocks noChangeArrowheads="1"/>
          </p:cNvSpPr>
          <p:nvPr/>
        </p:nvSpPr>
        <p:spPr bwMode="auto">
          <a:xfrm>
            <a:off x="7010400" y="4954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0" name="Rectangle 56"/>
          <p:cNvSpPr>
            <a:spLocks noChangeArrowheads="1"/>
          </p:cNvSpPr>
          <p:nvPr/>
        </p:nvSpPr>
        <p:spPr bwMode="auto">
          <a:xfrm>
            <a:off x="7391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1" name="Rectangle 57"/>
          <p:cNvSpPr>
            <a:spLocks noChangeArrowheads="1"/>
          </p:cNvSpPr>
          <p:nvPr/>
        </p:nvSpPr>
        <p:spPr bwMode="auto">
          <a:xfrm>
            <a:off x="7772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2" name="Rectangle 58"/>
          <p:cNvSpPr>
            <a:spLocks noChangeArrowheads="1"/>
          </p:cNvSpPr>
          <p:nvPr/>
        </p:nvSpPr>
        <p:spPr bwMode="auto">
          <a:xfrm>
            <a:off x="8153400" y="4954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3" name="Rectangle 59"/>
          <p:cNvSpPr>
            <a:spLocks noChangeArrowheads="1"/>
          </p:cNvSpPr>
          <p:nvPr/>
        </p:nvSpPr>
        <p:spPr bwMode="auto">
          <a:xfrm>
            <a:off x="5486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4" name="Rectangle 60"/>
          <p:cNvSpPr>
            <a:spLocks noChangeArrowheads="1"/>
          </p:cNvSpPr>
          <p:nvPr/>
        </p:nvSpPr>
        <p:spPr bwMode="auto">
          <a:xfrm>
            <a:off x="5867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5" name="Rectangle 61"/>
          <p:cNvSpPr>
            <a:spLocks noChangeArrowheads="1"/>
          </p:cNvSpPr>
          <p:nvPr/>
        </p:nvSpPr>
        <p:spPr bwMode="auto">
          <a:xfrm>
            <a:off x="6248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6" name="Rectangle 62"/>
          <p:cNvSpPr>
            <a:spLocks noChangeArrowheads="1"/>
          </p:cNvSpPr>
          <p:nvPr/>
        </p:nvSpPr>
        <p:spPr bwMode="auto">
          <a:xfrm>
            <a:off x="6629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7" name="Rectangle 63"/>
          <p:cNvSpPr>
            <a:spLocks noChangeArrowheads="1"/>
          </p:cNvSpPr>
          <p:nvPr/>
        </p:nvSpPr>
        <p:spPr bwMode="auto">
          <a:xfrm>
            <a:off x="7010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8" name="Rectangle 64"/>
          <p:cNvSpPr>
            <a:spLocks noChangeArrowheads="1"/>
          </p:cNvSpPr>
          <p:nvPr/>
        </p:nvSpPr>
        <p:spPr bwMode="auto">
          <a:xfrm>
            <a:off x="7391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9" name="Rectangle 65"/>
          <p:cNvSpPr>
            <a:spLocks noChangeArrowheads="1"/>
          </p:cNvSpPr>
          <p:nvPr/>
        </p:nvSpPr>
        <p:spPr bwMode="auto">
          <a:xfrm>
            <a:off x="7772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50" name="Rectangle 66"/>
          <p:cNvSpPr>
            <a:spLocks noChangeArrowheads="1"/>
          </p:cNvSpPr>
          <p:nvPr/>
        </p:nvSpPr>
        <p:spPr bwMode="auto">
          <a:xfrm>
            <a:off x="8153400" y="5335588"/>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51" name="Rectangle 67"/>
          <p:cNvSpPr>
            <a:spLocks noChangeArrowheads="1"/>
          </p:cNvSpPr>
          <p:nvPr/>
        </p:nvSpPr>
        <p:spPr bwMode="auto">
          <a:xfrm>
            <a:off x="8153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6452" name="Rectangle 68"/>
          <p:cNvSpPr>
            <a:spLocks noChangeArrowheads="1"/>
          </p:cNvSpPr>
          <p:nvPr/>
        </p:nvSpPr>
        <p:spPr bwMode="auto">
          <a:xfrm>
            <a:off x="5486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6453" name="Rectangle 69"/>
          <p:cNvSpPr>
            <a:spLocks noChangeArrowheads="1"/>
          </p:cNvSpPr>
          <p:nvPr/>
        </p:nvSpPr>
        <p:spPr bwMode="auto">
          <a:xfrm>
            <a:off x="5880100" y="184467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6454" name="Rectangle 70"/>
          <p:cNvSpPr>
            <a:spLocks noChangeArrowheads="1"/>
          </p:cNvSpPr>
          <p:nvPr/>
        </p:nvSpPr>
        <p:spPr bwMode="auto">
          <a:xfrm>
            <a:off x="6248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6455" name="Rectangle 71"/>
          <p:cNvSpPr>
            <a:spLocks noChangeArrowheads="1"/>
          </p:cNvSpPr>
          <p:nvPr/>
        </p:nvSpPr>
        <p:spPr bwMode="auto">
          <a:xfrm>
            <a:off x="6629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6456" name="Rectangle 72"/>
          <p:cNvSpPr>
            <a:spLocks noChangeArrowheads="1"/>
          </p:cNvSpPr>
          <p:nvPr/>
        </p:nvSpPr>
        <p:spPr bwMode="auto">
          <a:xfrm>
            <a:off x="7010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6457" name="Rectangle 73"/>
          <p:cNvSpPr>
            <a:spLocks noChangeArrowheads="1"/>
          </p:cNvSpPr>
          <p:nvPr/>
        </p:nvSpPr>
        <p:spPr bwMode="auto">
          <a:xfrm>
            <a:off x="7391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6458" name="Rectangle 74"/>
          <p:cNvSpPr>
            <a:spLocks noChangeArrowheads="1"/>
          </p:cNvSpPr>
          <p:nvPr/>
        </p:nvSpPr>
        <p:spPr bwMode="auto">
          <a:xfrm>
            <a:off x="7751763" y="184467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6459" name="Rectangle 75"/>
          <p:cNvSpPr>
            <a:spLocks noChangeArrowheads="1"/>
          </p:cNvSpPr>
          <p:nvPr/>
        </p:nvSpPr>
        <p:spPr bwMode="auto">
          <a:xfrm>
            <a:off x="4648200" y="5335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6460" name="Rectangle 76"/>
          <p:cNvSpPr>
            <a:spLocks noChangeArrowheads="1"/>
          </p:cNvSpPr>
          <p:nvPr/>
        </p:nvSpPr>
        <p:spPr bwMode="auto">
          <a:xfrm>
            <a:off x="4648200" y="2668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6461" name="Rectangle 77"/>
          <p:cNvSpPr>
            <a:spLocks noChangeArrowheads="1"/>
          </p:cNvSpPr>
          <p:nvPr/>
        </p:nvSpPr>
        <p:spPr bwMode="auto">
          <a:xfrm>
            <a:off x="4648200" y="3049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6462" name="Rectangle 78"/>
          <p:cNvSpPr>
            <a:spLocks noChangeArrowheads="1"/>
          </p:cNvSpPr>
          <p:nvPr/>
        </p:nvSpPr>
        <p:spPr bwMode="auto">
          <a:xfrm>
            <a:off x="4648200" y="3430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6463" name="Rectangle 79"/>
          <p:cNvSpPr>
            <a:spLocks noChangeArrowheads="1"/>
          </p:cNvSpPr>
          <p:nvPr/>
        </p:nvSpPr>
        <p:spPr bwMode="auto">
          <a:xfrm>
            <a:off x="4648200" y="3811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6464" name="Rectangle 80"/>
          <p:cNvSpPr>
            <a:spLocks noChangeArrowheads="1"/>
          </p:cNvSpPr>
          <p:nvPr/>
        </p:nvSpPr>
        <p:spPr bwMode="auto">
          <a:xfrm>
            <a:off x="4648200" y="4192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6465" name="Rectangle 81"/>
          <p:cNvSpPr>
            <a:spLocks noChangeArrowheads="1"/>
          </p:cNvSpPr>
          <p:nvPr/>
        </p:nvSpPr>
        <p:spPr bwMode="auto">
          <a:xfrm>
            <a:off x="4648200" y="4573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6466" name="Rectangle 82"/>
          <p:cNvSpPr>
            <a:spLocks noChangeArrowheads="1"/>
          </p:cNvSpPr>
          <p:nvPr/>
        </p:nvSpPr>
        <p:spPr bwMode="auto">
          <a:xfrm>
            <a:off x="4648200" y="4954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6467" name="Rectangle 84"/>
          <p:cNvSpPr>
            <a:spLocks noChangeArrowheads="1"/>
          </p:cNvSpPr>
          <p:nvPr/>
        </p:nvSpPr>
        <p:spPr bwMode="auto">
          <a:xfrm>
            <a:off x="5105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68" name="Rectangle 85"/>
          <p:cNvSpPr>
            <a:spLocks noChangeArrowheads="1"/>
          </p:cNvSpPr>
          <p:nvPr/>
        </p:nvSpPr>
        <p:spPr bwMode="auto">
          <a:xfrm>
            <a:off x="5105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69" name="Rectangle 86"/>
          <p:cNvSpPr>
            <a:spLocks noChangeArrowheads="1"/>
          </p:cNvSpPr>
          <p:nvPr/>
        </p:nvSpPr>
        <p:spPr bwMode="auto">
          <a:xfrm>
            <a:off x="5105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0" name="Rectangle 87"/>
          <p:cNvSpPr>
            <a:spLocks noChangeArrowheads="1"/>
          </p:cNvSpPr>
          <p:nvPr/>
        </p:nvSpPr>
        <p:spPr bwMode="auto">
          <a:xfrm>
            <a:off x="5105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1" name="Rectangle 88"/>
          <p:cNvSpPr>
            <a:spLocks noChangeArrowheads="1"/>
          </p:cNvSpPr>
          <p:nvPr/>
        </p:nvSpPr>
        <p:spPr bwMode="auto">
          <a:xfrm>
            <a:off x="5105400" y="4192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2" name="Rectangle 89"/>
          <p:cNvSpPr>
            <a:spLocks noChangeArrowheads="1"/>
          </p:cNvSpPr>
          <p:nvPr/>
        </p:nvSpPr>
        <p:spPr bwMode="auto">
          <a:xfrm>
            <a:off x="5105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3" name="Rectangle 90"/>
          <p:cNvSpPr>
            <a:spLocks noChangeArrowheads="1"/>
          </p:cNvSpPr>
          <p:nvPr/>
        </p:nvSpPr>
        <p:spPr bwMode="auto">
          <a:xfrm>
            <a:off x="5105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4" name="Rectangle 91"/>
          <p:cNvSpPr>
            <a:spLocks noChangeArrowheads="1"/>
          </p:cNvSpPr>
          <p:nvPr/>
        </p:nvSpPr>
        <p:spPr bwMode="auto">
          <a:xfrm>
            <a:off x="5105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5" name="Rectangle 92"/>
          <p:cNvSpPr>
            <a:spLocks noChangeArrowheads="1"/>
          </p:cNvSpPr>
          <p:nvPr/>
        </p:nvSpPr>
        <p:spPr bwMode="auto">
          <a:xfrm>
            <a:off x="5105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6" name="Rectangle 93"/>
          <p:cNvSpPr>
            <a:spLocks noChangeArrowheads="1"/>
          </p:cNvSpPr>
          <p:nvPr/>
        </p:nvSpPr>
        <p:spPr bwMode="auto">
          <a:xfrm>
            <a:off x="4648200" y="5716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6477" name="Rectangle 94"/>
          <p:cNvSpPr>
            <a:spLocks noChangeArrowheads="1"/>
          </p:cNvSpPr>
          <p:nvPr/>
        </p:nvSpPr>
        <p:spPr bwMode="auto">
          <a:xfrm>
            <a:off x="8534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78" name="Rectangle 95"/>
          <p:cNvSpPr>
            <a:spLocks noChangeArrowheads="1"/>
          </p:cNvSpPr>
          <p:nvPr/>
        </p:nvSpPr>
        <p:spPr bwMode="auto">
          <a:xfrm>
            <a:off x="8534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79" name="Rectangle 96"/>
          <p:cNvSpPr>
            <a:spLocks noChangeArrowheads="1"/>
          </p:cNvSpPr>
          <p:nvPr/>
        </p:nvSpPr>
        <p:spPr bwMode="auto">
          <a:xfrm>
            <a:off x="8534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0" name="Rectangle 97"/>
          <p:cNvSpPr>
            <a:spLocks noChangeArrowheads="1"/>
          </p:cNvSpPr>
          <p:nvPr/>
        </p:nvSpPr>
        <p:spPr bwMode="auto">
          <a:xfrm>
            <a:off x="8534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1" name="Rectangle 98"/>
          <p:cNvSpPr>
            <a:spLocks noChangeArrowheads="1"/>
          </p:cNvSpPr>
          <p:nvPr/>
        </p:nvSpPr>
        <p:spPr bwMode="auto">
          <a:xfrm>
            <a:off x="8534400" y="4192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2" name="Rectangle 99"/>
          <p:cNvSpPr>
            <a:spLocks noChangeArrowheads="1"/>
          </p:cNvSpPr>
          <p:nvPr/>
        </p:nvSpPr>
        <p:spPr bwMode="auto">
          <a:xfrm>
            <a:off x="8534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3" name="Rectangle 100"/>
          <p:cNvSpPr>
            <a:spLocks noChangeArrowheads="1"/>
          </p:cNvSpPr>
          <p:nvPr/>
        </p:nvSpPr>
        <p:spPr bwMode="auto">
          <a:xfrm>
            <a:off x="8534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4" name="Rectangle 101"/>
          <p:cNvSpPr>
            <a:spLocks noChangeArrowheads="1"/>
          </p:cNvSpPr>
          <p:nvPr/>
        </p:nvSpPr>
        <p:spPr bwMode="auto">
          <a:xfrm>
            <a:off x="8534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5" name="Rectangle 102"/>
          <p:cNvSpPr>
            <a:spLocks noChangeArrowheads="1"/>
          </p:cNvSpPr>
          <p:nvPr/>
        </p:nvSpPr>
        <p:spPr bwMode="auto">
          <a:xfrm>
            <a:off x="8534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6" name="Rectangle 103"/>
          <p:cNvSpPr>
            <a:spLocks noChangeArrowheads="1"/>
          </p:cNvSpPr>
          <p:nvPr/>
        </p:nvSpPr>
        <p:spPr bwMode="auto">
          <a:xfrm>
            <a:off x="5867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7" name="Rectangle 104"/>
          <p:cNvSpPr>
            <a:spLocks noChangeArrowheads="1"/>
          </p:cNvSpPr>
          <p:nvPr/>
        </p:nvSpPr>
        <p:spPr bwMode="auto">
          <a:xfrm>
            <a:off x="6248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8" name="Rectangle 105"/>
          <p:cNvSpPr>
            <a:spLocks noChangeArrowheads="1"/>
          </p:cNvSpPr>
          <p:nvPr/>
        </p:nvSpPr>
        <p:spPr bwMode="auto">
          <a:xfrm>
            <a:off x="6629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9" name="Rectangle 106"/>
          <p:cNvSpPr>
            <a:spLocks noChangeArrowheads="1"/>
          </p:cNvSpPr>
          <p:nvPr/>
        </p:nvSpPr>
        <p:spPr bwMode="auto">
          <a:xfrm>
            <a:off x="7010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0" name="Rectangle 107"/>
          <p:cNvSpPr>
            <a:spLocks noChangeArrowheads="1"/>
          </p:cNvSpPr>
          <p:nvPr/>
        </p:nvSpPr>
        <p:spPr bwMode="auto">
          <a:xfrm>
            <a:off x="7391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1" name="Rectangle 108"/>
          <p:cNvSpPr>
            <a:spLocks noChangeArrowheads="1"/>
          </p:cNvSpPr>
          <p:nvPr/>
        </p:nvSpPr>
        <p:spPr bwMode="auto">
          <a:xfrm>
            <a:off x="7772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2" name="Rectangle 109"/>
          <p:cNvSpPr>
            <a:spLocks noChangeArrowheads="1"/>
          </p:cNvSpPr>
          <p:nvPr/>
        </p:nvSpPr>
        <p:spPr bwMode="auto">
          <a:xfrm>
            <a:off x="8153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3" name="Rectangle 110"/>
          <p:cNvSpPr>
            <a:spLocks noChangeArrowheads="1"/>
          </p:cNvSpPr>
          <p:nvPr/>
        </p:nvSpPr>
        <p:spPr bwMode="auto">
          <a:xfrm>
            <a:off x="5486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4" name="Rectangle 111"/>
          <p:cNvSpPr>
            <a:spLocks noChangeArrowheads="1"/>
          </p:cNvSpPr>
          <p:nvPr/>
        </p:nvSpPr>
        <p:spPr bwMode="auto">
          <a:xfrm>
            <a:off x="5105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95" name="Rectangle 112"/>
          <p:cNvSpPr>
            <a:spLocks noChangeArrowheads="1"/>
          </p:cNvSpPr>
          <p:nvPr/>
        </p:nvSpPr>
        <p:spPr bwMode="auto">
          <a:xfrm>
            <a:off x="8534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6" name="Rectangle 113"/>
          <p:cNvSpPr>
            <a:spLocks noChangeArrowheads="1"/>
          </p:cNvSpPr>
          <p:nvPr/>
        </p:nvSpPr>
        <p:spPr bwMode="auto">
          <a:xfrm>
            <a:off x="5867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7" name="Rectangle 114"/>
          <p:cNvSpPr>
            <a:spLocks noChangeArrowheads="1"/>
          </p:cNvSpPr>
          <p:nvPr/>
        </p:nvSpPr>
        <p:spPr bwMode="auto">
          <a:xfrm>
            <a:off x="6248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8" name="Rectangle 115"/>
          <p:cNvSpPr>
            <a:spLocks noChangeArrowheads="1"/>
          </p:cNvSpPr>
          <p:nvPr/>
        </p:nvSpPr>
        <p:spPr bwMode="auto">
          <a:xfrm>
            <a:off x="6629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9" name="Rectangle 116"/>
          <p:cNvSpPr>
            <a:spLocks noChangeArrowheads="1"/>
          </p:cNvSpPr>
          <p:nvPr/>
        </p:nvSpPr>
        <p:spPr bwMode="auto">
          <a:xfrm>
            <a:off x="7010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0" name="Rectangle 117"/>
          <p:cNvSpPr>
            <a:spLocks noChangeArrowheads="1"/>
          </p:cNvSpPr>
          <p:nvPr/>
        </p:nvSpPr>
        <p:spPr bwMode="auto">
          <a:xfrm>
            <a:off x="7391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1" name="Rectangle 118"/>
          <p:cNvSpPr>
            <a:spLocks noChangeArrowheads="1"/>
          </p:cNvSpPr>
          <p:nvPr/>
        </p:nvSpPr>
        <p:spPr bwMode="auto">
          <a:xfrm>
            <a:off x="7772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2" name="Rectangle 119"/>
          <p:cNvSpPr>
            <a:spLocks noChangeArrowheads="1"/>
          </p:cNvSpPr>
          <p:nvPr/>
        </p:nvSpPr>
        <p:spPr bwMode="auto">
          <a:xfrm>
            <a:off x="8153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3" name="Rectangle 120"/>
          <p:cNvSpPr>
            <a:spLocks noChangeArrowheads="1"/>
          </p:cNvSpPr>
          <p:nvPr/>
        </p:nvSpPr>
        <p:spPr bwMode="auto">
          <a:xfrm>
            <a:off x="5486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4" name="Rectangle 121"/>
          <p:cNvSpPr>
            <a:spLocks noChangeArrowheads="1"/>
          </p:cNvSpPr>
          <p:nvPr/>
        </p:nvSpPr>
        <p:spPr bwMode="auto">
          <a:xfrm>
            <a:off x="5105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6505" name="Rectangle 122"/>
          <p:cNvSpPr>
            <a:spLocks noChangeArrowheads="1"/>
          </p:cNvSpPr>
          <p:nvPr/>
        </p:nvSpPr>
        <p:spPr bwMode="auto">
          <a:xfrm>
            <a:off x="8534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6506" name="Rectangle 123"/>
          <p:cNvSpPr>
            <a:spLocks noChangeArrowheads="1"/>
          </p:cNvSpPr>
          <p:nvPr/>
        </p:nvSpPr>
        <p:spPr bwMode="auto">
          <a:xfrm>
            <a:off x="4648200" y="2287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pic>
        <p:nvPicPr>
          <p:cNvPr id="23676" name="Picture 12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3049588"/>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16508" name="Group 124"/>
          <p:cNvGrpSpPr/>
          <p:nvPr/>
        </p:nvGrpSpPr>
        <p:grpSpPr bwMode="auto">
          <a:xfrm>
            <a:off x="2438400" y="1677988"/>
            <a:ext cx="1447800" cy="4494212"/>
            <a:chOff x="0" y="0"/>
            <a:chExt cx="1056" cy="1392"/>
          </a:xfrm>
        </p:grpSpPr>
        <p:sp>
          <p:nvSpPr>
            <p:cNvPr id="16509"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510"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511"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6512" name="Text Box 129"/>
          <p:cNvSpPr>
            <a:spLocks noChangeArrowheads="1"/>
          </p:cNvSpPr>
          <p:nvPr/>
        </p:nvSpPr>
        <p:spPr bwMode="auto">
          <a:xfrm>
            <a:off x="1905000" y="5748339"/>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6513" name="Rectangle 130"/>
          <p:cNvSpPr>
            <a:spLocks noChangeArrowheads="1"/>
          </p:cNvSpPr>
          <p:nvPr/>
        </p:nvSpPr>
        <p:spPr bwMode="auto">
          <a:xfrm>
            <a:off x="2438401" y="5849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3683" name="Rectangle 131"/>
          <p:cNvSpPr>
            <a:spLocks noChangeArrowheads="1"/>
          </p:cNvSpPr>
          <p:nvPr/>
        </p:nvSpPr>
        <p:spPr bwMode="auto">
          <a:xfrm>
            <a:off x="2438401" y="5546726"/>
            <a:ext cx="1439863" cy="322263"/>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13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4"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3556"/>
                                        </p:tgtEl>
                                        <p:attrNameLst>
                                          <p:attrName>style.visibility</p:attrName>
                                        </p:attrNameLst>
                                      </p:cBhvr>
                                      <p:to>
                                        <p:strVal val="visible"/>
                                      </p:to>
                                    </p:set>
                                    <p:animEffect filter="wipe(up)">
                                      <p:cBhvr>
                                        <p:cTn id="7" dur="500"/>
                                        <p:tgtEl>
                                          <p:spTgt spid="23556"/>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3676"/>
                                        </p:tgtEl>
                                        <p:attrNameLst>
                                          <p:attrName>style.visibility</p:attrName>
                                        </p:attrNameLst>
                                      </p:cBhvr>
                                      <p:to>
                                        <p:strVal val="visible"/>
                                      </p:to>
                                    </p:set>
                                    <p:animEffect filter="slide(fromTop)">
                                      <p:cBhvr>
                                        <p:cTn id="11" dur="500"/>
                                        <p:tgtEl>
                                          <p:spTgt spid="23676"/>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3683"/>
                                        </p:tgtEl>
                                        <p:attrNameLst>
                                          <p:attrName>style.visibility</p:attrName>
                                        </p:attrNameLst>
                                      </p:cBhvr>
                                      <p:to>
                                        <p:strVal val="visible"/>
                                      </p:to>
                                    </p:set>
                                    <p:anim calcmode="lin" valueType="num">
                                      <p:cBhvr>
                                        <p:cTn id="15" dur="500" fill="hold"/>
                                        <p:tgtEl>
                                          <p:spTgt spid="23683"/>
                                        </p:tgtEl>
                                        <p:attrNameLst>
                                          <p:attrName>ppt_x</p:attrName>
                                        </p:attrNameLst>
                                      </p:cBhvr>
                                      <p:tavLst>
                                        <p:tav tm="0">
                                          <p:val>
                                            <p:strVal val="#ppt_x"/>
                                          </p:val>
                                        </p:tav>
                                        <p:tav tm="100000">
                                          <p:val>
                                            <p:strVal val="#ppt_x"/>
                                          </p:val>
                                        </p:tav>
                                      </p:tavLst>
                                    </p:anim>
                                    <p:anim calcmode="lin" valueType="num">
                                      <p:cBhvr>
                                        <p:cTn id="16" dur="500" fill="hold"/>
                                        <p:tgtEl>
                                          <p:spTgt spid="23683"/>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4">
                                            <p:txEl>
                                              <p:pRg st="0" end="0"/>
                                            </p:txEl>
                                          </p:spTgt>
                                        </p:tgtEl>
                                        <p:attrNameLst>
                                          <p:attrName>style.visibility</p:attrName>
                                        </p:attrNameLst>
                                      </p:cBhvr>
                                      <p:to>
                                        <p:strVal val="visible"/>
                                      </p:to>
                                    </p:set>
                                    <p:animEffect filter="wipe(left)">
                                      <p:cBhvr>
                                        <p:cTn id="21" dur="500"/>
                                        <p:tgtEl>
                                          <p:spTgt spid="13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6" grpId="0" bldLvl="0" animBg="1"/>
      <p:bldP spid="23683" grpId="0" bldLvl="0" animBg="1"/>
      <p:bldP spid="134" grpId="0" build="p" bldLvl="0"/>
    </p:bldLst>
  </p:timing>
</p:sld>
</file>

<file path=ppt/slides/slide1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3048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411"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7412"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3"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4"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5"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6"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7"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8"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9" name="Rectangle 11"/>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0" name="Rectangle 12"/>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1" name="Rectangle 13"/>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2" name="Rectangle 14"/>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3" name="Rectangle 15"/>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4" name="Rectangle 16"/>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5" name="Rectangle 17"/>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6" name="Rectangle 18"/>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7" name="Rectangle 19"/>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8" name="Rectangle 20"/>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9" name="Rectangle 21"/>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0" name="Rectangle 22"/>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1" name="Rectangle 23"/>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2" name="Rectangle 24"/>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3" name="Rectangle 25"/>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4" name="Rectangle 26"/>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5" name="Rectangle 27"/>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6" name="Rectangle 28"/>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7" name="Rectangle 29"/>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8" name="Rectangle 30"/>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9" name="Rectangle 31"/>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0" name="Rectangle 32"/>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1" name="Rectangle 33"/>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2" name="Rectangle 34"/>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3" name="Rectangle 35"/>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4" name="Rectangle 36"/>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5" name="Rectangle 37"/>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6" name="Rectangle 38"/>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7" name="Rectangle 39"/>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8" name="Rectangle 40"/>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9" name="Rectangle 41"/>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0" name="Rectangle 42"/>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1" name="Rectangle 43"/>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2" name="Rectangle 44"/>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3" name="Rectangle 45"/>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4" name="Rectangle 46"/>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5" name="Rectangle 47"/>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6" name="Rectangle 48"/>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7" name="Rectangle 49"/>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8" name="Rectangle 50"/>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9" name="Rectangle 51"/>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0" name="Rectangle 52"/>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1" name="Rectangle 53"/>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2" name="Rectangle 54"/>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3" name="Rectangle 55"/>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4" name="Rectangle 56"/>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5" name="Rectangle 57"/>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6" name="Rectangle 58"/>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7" name="Rectangle 59"/>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8" name="Rectangle 60"/>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9" name="Rectangle 61"/>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0" name="Rectangle 62"/>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1" name="Rectangle 63"/>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2" name="Rectangle 64"/>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3" name="Rectangle 65"/>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4" name="Rectangle 67"/>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5" name="Rectangle 68"/>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6" name="Rectangle 69"/>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7" name="Rectangle 70"/>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8" name="Rectangle 71"/>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9" name="Rectangle 72"/>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0" name="Rectangle 73"/>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1" name="Rectangle 74"/>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2" name="Rectangle 75"/>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3" name="Rectangle 76"/>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4" name="Rectangle 77"/>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5" name="Rectangle 78"/>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6" name="Rectangle 79"/>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7" name="Rectangle 80"/>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8" name="Rectangle 81"/>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9" name="Rectangle 82"/>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0" name="Rectangle 83"/>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1" name="Rectangle 84"/>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2" name="Rectangle 85"/>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3" name="Rectangle 86"/>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4" name="Rectangle 87"/>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5" name="Rectangle 88"/>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6" name="Rectangle 89"/>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7" name="Rectangle 90"/>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8" name="Rectangle 91"/>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9" name="Rectangle 92"/>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500" name="Rectangle 93"/>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1" name="Rectangle 94"/>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2" name="Rectangle 95"/>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3" name="Rectangle 96"/>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4" name="Rectangle 97"/>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5" name="Rectangle 98"/>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6" name="Rectangle 99"/>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7" name="Rectangle 100"/>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8" name="Rectangle 101"/>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9" name="Rectangle 102"/>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24679" name="Picture 10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3429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511" name="Rectangle 104"/>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7512" name="Rectangle 105"/>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7513" name="Rectangle 106"/>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7514" name="Rectangle 107"/>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7515" name="Rectangle 108"/>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7516" name="Rectangle 109"/>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7517" name="Rectangle 110"/>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7518" name="Rectangle 111"/>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7519" name="Rectangle 112"/>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7520" name="Rectangle 113"/>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7521" name="Rectangle 114"/>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7522" name="Rectangle 115"/>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7523" name="Rectangle 116"/>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7524" name="Rectangle 117"/>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7525" name="Rectangle 118"/>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7526" name="Rectangle 119"/>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7527" name="Rectangle 120"/>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7528" name="Rectangle 121"/>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7529" name="Rectangle 122"/>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7530" name="Rectangle 123"/>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17531" name="Group 124"/>
          <p:cNvGrpSpPr/>
          <p:nvPr/>
        </p:nvGrpSpPr>
        <p:grpSpPr bwMode="auto">
          <a:xfrm>
            <a:off x="2438400" y="1676401"/>
            <a:ext cx="1447800" cy="4494213"/>
            <a:chOff x="0" y="0"/>
            <a:chExt cx="1056" cy="1392"/>
          </a:xfrm>
        </p:grpSpPr>
        <p:sp>
          <p:nvSpPr>
            <p:cNvPr id="17532" name="Line 125"/>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533" name="Line 126"/>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534" name="Line 127"/>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7535" name="Text Box 128"/>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7536" name="Rectangle 129"/>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17537" name="Rectangle 130"/>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4707" name="Rectangle 131"/>
          <p:cNvSpPr>
            <a:spLocks noChangeArrowheads="1"/>
          </p:cNvSpPr>
          <p:nvPr/>
        </p:nvSpPr>
        <p:spPr bwMode="auto">
          <a:xfrm>
            <a:off x="5486400" y="3048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708" name="Rectangle 132"/>
          <p:cNvSpPr>
            <a:spLocks noChangeArrowheads="1"/>
          </p:cNvSpPr>
          <p:nvPr/>
        </p:nvSpPr>
        <p:spPr bwMode="auto">
          <a:xfrm>
            <a:off x="2438401" y="52403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13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5"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4707"/>
                                        </p:tgtEl>
                                        <p:attrNameLst>
                                          <p:attrName>style.visibility</p:attrName>
                                        </p:attrNameLst>
                                      </p:cBhvr>
                                      <p:to>
                                        <p:strVal val="visible"/>
                                      </p:to>
                                    </p:set>
                                    <p:animEffect filter="wipe(up)">
                                      <p:cBhvr>
                                        <p:cTn id="7" dur="500"/>
                                        <p:tgtEl>
                                          <p:spTgt spid="24707"/>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4679"/>
                                        </p:tgtEl>
                                        <p:attrNameLst>
                                          <p:attrName>style.visibility</p:attrName>
                                        </p:attrNameLst>
                                      </p:cBhvr>
                                      <p:to>
                                        <p:strVal val="visible"/>
                                      </p:to>
                                    </p:set>
                                    <p:animEffect filter="slide(fromTop)">
                                      <p:cBhvr>
                                        <p:cTn id="11" dur="500"/>
                                        <p:tgtEl>
                                          <p:spTgt spid="24679"/>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4708"/>
                                        </p:tgtEl>
                                        <p:attrNameLst>
                                          <p:attrName>style.visibility</p:attrName>
                                        </p:attrNameLst>
                                      </p:cBhvr>
                                      <p:to>
                                        <p:strVal val="visible"/>
                                      </p:to>
                                    </p:set>
                                    <p:anim calcmode="lin" valueType="num">
                                      <p:cBhvr>
                                        <p:cTn id="15" dur="500" fill="hold"/>
                                        <p:tgtEl>
                                          <p:spTgt spid="24708"/>
                                        </p:tgtEl>
                                        <p:attrNameLst>
                                          <p:attrName>ppt_x</p:attrName>
                                        </p:attrNameLst>
                                      </p:cBhvr>
                                      <p:tavLst>
                                        <p:tav tm="0">
                                          <p:val>
                                            <p:strVal val="#ppt_x"/>
                                          </p:val>
                                        </p:tav>
                                        <p:tav tm="100000">
                                          <p:val>
                                            <p:strVal val="#ppt_x"/>
                                          </p:val>
                                        </p:tav>
                                      </p:tavLst>
                                    </p:anim>
                                    <p:anim calcmode="lin" valueType="num">
                                      <p:cBhvr>
                                        <p:cTn id="16" dur="500" fill="hold"/>
                                        <p:tgtEl>
                                          <p:spTgt spid="24708"/>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5">
                                            <p:txEl>
                                              <p:pRg st="0" end="0"/>
                                            </p:txEl>
                                          </p:spTgt>
                                        </p:tgtEl>
                                        <p:attrNameLst>
                                          <p:attrName>style.visibility</p:attrName>
                                        </p:attrNameLst>
                                      </p:cBhvr>
                                      <p:to>
                                        <p:strVal val="visible"/>
                                      </p:to>
                                    </p:set>
                                    <p:animEffect filter="wipe(left)">
                                      <p:cBhvr>
                                        <p:cTn id="21" dur="500"/>
                                        <p:tgtEl>
                                          <p:spTgt spid="1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07" grpId="0" bldLvl="0" animBg="1"/>
      <p:bldP spid="24708" grpId="0" bldLvl="0" animBg="1"/>
      <p:bldP spid="135" grpId="0" build="p" bldLvl="0"/>
    </p:bldLst>
  </p:timing>
</p:sld>
</file>

<file path=ppt/slides/slide1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i</a:t>
            </a:r>
            <a:endParaRPr lang="en-US" altLang="zh-CN"/>
          </a:p>
        </p:txBody>
      </p:sp>
      <p:sp>
        <p:nvSpPr>
          <p:cNvPr id="18435" name="Rectangle 3"/>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6" name="Rectangle 4"/>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7" name="Rectangle 5"/>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8" name="Rectangle 6"/>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9" name="Rectangle 7"/>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0" name="Rectangle 8"/>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1" name="Rectangle 9"/>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2" name="Rectangle 10"/>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i</a:t>
            </a:r>
            <a:endParaRPr lang="en-US" altLang="zh-CN"/>
          </a:p>
        </p:txBody>
      </p:sp>
      <p:sp>
        <p:nvSpPr>
          <p:cNvPr id="18443" name="Rectangle 11"/>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4" name="Rectangle 12"/>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5" name="Rectangle 13"/>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6" name="Rectangle 14"/>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7" name="Rectangle 15"/>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8" name="Rectangle 16"/>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9" name="Rectangle 17"/>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0" name="Rectangle 18"/>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1" name="Rectangle 19"/>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2" name="Rectangle 20"/>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3" name="Rectangle 21"/>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4" name="Rectangle 22"/>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5" name="Rectangle 23"/>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6" name="Rectangle 24"/>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7" name="Rectangle 25"/>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8" name="Rectangle 26"/>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9" name="Rectangle 27"/>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0" name="Rectangle 28"/>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1" name="Rectangle 29"/>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2" name="Rectangle 30"/>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3" name="Rectangle 31"/>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4" name="Rectangle 32"/>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5" name="Rectangle 33"/>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6" name="Rectangle 34"/>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7" name="Rectangle 35"/>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8" name="Rectangle 36"/>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9" name="Rectangle 37"/>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0" name="Rectangle 38"/>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1" name="Rectangle 39"/>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2" name="Rectangle 40"/>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3" name="Rectangle 41"/>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4" name="Rectangle 42"/>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5" name="Rectangle 43"/>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6" name="Rectangle 44"/>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7" name="Rectangle 45"/>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8" name="Rectangle 46"/>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9" name="Rectangle 47"/>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0" name="Rectangle 48"/>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1" name="Rectangle 49"/>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2" name="Rectangle 50"/>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3" name="Rectangle 51"/>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4" name="Rectangle 52"/>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5" name="Rectangle 53"/>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6" name="Rectangle 54"/>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7" name="Rectangle 55"/>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8" name="Rectangle 56"/>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9" name="Rectangle 57"/>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0" name="Rectangle 58"/>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1" name="Rectangle 59"/>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2" name="Rectangle 60"/>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3" name="Rectangle 61"/>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4" name="Rectangle 62"/>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5" name="Rectangle 63"/>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6" name="Rectangle 64"/>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7" name="Rectangle 6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8" name="Rectangle 6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9" name="Rectangle 6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0" name="Rectangle 6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1" name="Rectangle 7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2" name="Rectangle 7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3" name="Rectangle 7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4" name="Rectangle 7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5" name="Rectangle 7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6" name="Rectangle 7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7" name="Rectangle 7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8" name="Rectangle 7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9" name="Rectangle 7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0" name="Rectangle 7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1" name="Rectangle 8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2" name="Rectangle 8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3" name="Rectangle 8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4" name="Rectangle 8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5" name="Rectangle 8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6" name="Rectangle 8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7" name="Rectangle 8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8" name="Rectangle 8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9" name="Rectangle 8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0" name="Rectangle 8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1" name="Rectangle 9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2" name="Rectangle 9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3" name="Rectangle 9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4" name="Rectangle 9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5" name="Rectangle 9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6" name="Rectangle 9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7" name="Rectangle 9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8" name="Rectangle 9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9" name="Rectangle 9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30" name="Rectangle 9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31" name="Rectangle 10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32" name="Rectangle 10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25702" name="Picture 10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3810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8534" name="Rectangle 103"/>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8535" name="Rectangle 104"/>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8536" name="Rectangle 105"/>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8537" name="Rectangle 106"/>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8538" name="Rectangle 107"/>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8539" name="Rectangle 108"/>
          <p:cNvSpPr>
            <a:spLocks noChangeArrowheads="1"/>
          </p:cNvSpPr>
          <p:nvPr/>
        </p:nvSpPr>
        <p:spPr bwMode="auto">
          <a:xfrm>
            <a:off x="7032625" y="184467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8540" name="Rectangle 109"/>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8541" name="Rectangle 110"/>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8542" name="Rectangle 111"/>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8543" name="Rectangle 112"/>
          <p:cNvSpPr>
            <a:spLocks noChangeArrowheads="1"/>
          </p:cNvSpPr>
          <p:nvPr/>
        </p:nvSpPr>
        <p:spPr bwMode="auto">
          <a:xfrm>
            <a:off x="4656138" y="263683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8544" name="Rectangle 113"/>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8545" name="Rectangle 114"/>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8546" name="Rectangle 115"/>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8547" name="Rectangle 116"/>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8548" name="Rectangle 117"/>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8549" name="Rectangle 118"/>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8550" name="Rectangle 119"/>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8551" name="Rectangle 120"/>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8552" name="Rectangle 121"/>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8553" name="Rectangle 122"/>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18554" name="Group 123"/>
          <p:cNvGrpSpPr/>
          <p:nvPr/>
        </p:nvGrpSpPr>
        <p:grpSpPr bwMode="auto">
          <a:xfrm>
            <a:off x="2438400" y="1676401"/>
            <a:ext cx="1447800" cy="4494213"/>
            <a:chOff x="0" y="0"/>
            <a:chExt cx="1056" cy="1392"/>
          </a:xfrm>
        </p:grpSpPr>
        <p:sp>
          <p:nvSpPr>
            <p:cNvPr id="18555" name="Line 124"/>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8556" name="Line 125"/>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8557" name="Line 126"/>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8558" name="Text Box 127"/>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8559" name="Rectangle 128"/>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18560" name="Rectangle 129"/>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5730" name="Rectangle 130"/>
          <p:cNvSpPr>
            <a:spLocks noChangeArrowheads="1"/>
          </p:cNvSpPr>
          <p:nvPr/>
        </p:nvSpPr>
        <p:spPr bwMode="auto">
          <a:xfrm>
            <a:off x="2438401" y="49355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18562" name="Rectangle 131"/>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pic>
        <p:nvPicPr>
          <p:cNvPr id="18563" name="Picture 13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3429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733" name="Rectangle 133"/>
          <p:cNvSpPr>
            <a:spLocks noChangeArrowheads="1"/>
          </p:cNvSpPr>
          <p:nvPr/>
        </p:nvSpPr>
        <p:spPr bwMode="auto">
          <a:xfrm>
            <a:off x="5486400" y="3429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i</a:t>
            </a:r>
            <a:endParaRPr lang="en-US" altLang="zh-CN"/>
          </a:p>
        </p:txBody>
      </p:sp>
      <p:sp>
        <p:nvSpPr>
          <p:cNvPr id="13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6"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5733"/>
                                        </p:tgtEl>
                                        <p:attrNameLst>
                                          <p:attrName>style.visibility</p:attrName>
                                        </p:attrNameLst>
                                      </p:cBhvr>
                                      <p:to>
                                        <p:strVal val="visible"/>
                                      </p:to>
                                    </p:set>
                                    <p:animEffect filter="wipe(up)">
                                      <p:cBhvr>
                                        <p:cTn id="7" dur="500"/>
                                        <p:tgtEl>
                                          <p:spTgt spid="25733"/>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5702"/>
                                        </p:tgtEl>
                                        <p:attrNameLst>
                                          <p:attrName>style.visibility</p:attrName>
                                        </p:attrNameLst>
                                      </p:cBhvr>
                                      <p:to>
                                        <p:strVal val="visible"/>
                                      </p:to>
                                    </p:set>
                                    <p:animEffect filter="slide(fromTop)">
                                      <p:cBhvr>
                                        <p:cTn id="11" dur="500"/>
                                        <p:tgtEl>
                                          <p:spTgt spid="25702"/>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5730"/>
                                        </p:tgtEl>
                                        <p:attrNameLst>
                                          <p:attrName>style.visibility</p:attrName>
                                        </p:attrNameLst>
                                      </p:cBhvr>
                                      <p:to>
                                        <p:strVal val="visible"/>
                                      </p:to>
                                    </p:set>
                                    <p:anim calcmode="lin" valueType="num">
                                      <p:cBhvr>
                                        <p:cTn id="15" dur="500" fill="hold"/>
                                        <p:tgtEl>
                                          <p:spTgt spid="25730"/>
                                        </p:tgtEl>
                                        <p:attrNameLst>
                                          <p:attrName>ppt_x</p:attrName>
                                        </p:attrNameLst>
                                      </p:cBhvr>
                                      <p:tavLst>
                                        <p:tav tm="0">
                                          <p:val>
                                            <p:strVal val="#ppt_x"/>
                                          </p:val>
                                        </p:tav>
                                        <p:tav tm="100000">
                                          <p:val>
                                            <p:strVal val="#ppt_x"/>
                                          </p:val>
                                        </p:tav>
                                      </p:tavLst>
                                    </p:anim>
                                    <p:anim calcmode="lin" valueType="num">
                                      <p:cBhvr>
                                        <p:cTn id="16" dur="500" fill="hold"/>
                                        <p:tgtEl>
                                          <p:spTgt spid="25730"/>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6">
                                            <p:txEl>
                                              <p:pRg st="0" end="0"/>
                                            </p:txEl>
                                          </p:spTgt>
                                        </p:tgtEl>
                                        <p:attrNameLst>
                                          <p:attrName>style.visibility</p:attrName>
                                        </p:attrNameLst>
                                      </p:cBhvr>
                                      <p:to>
                                        <p:strVal val="visible"/>
                                      </p:to>
                                    </p:set>
                                    <p:animEffect filter="wipe(left)">
                                      <p:cBhvr>
                                        <p:cTn id="21" dur="500"/>
                                        <p:tgtEl>
                                          <p:spTgt spid="1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30" grpId="0" bldLvl="0" animBg="1"/>
      <p:bldP spid="25733" grpId="0" bldLvl="0" animBg="1"/>
      <p:bldP spid="136" grpId="0" build="p" bldLvl="0"/>
    </p:bldLst>
  </p:timing>
</p:sld>
</file>

<file path=ppt/slides/slide11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945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3810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9459"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60"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1"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2"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3"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4"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5"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6"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7"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68"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9"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0"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1"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2"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3"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4"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5"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76"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7"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8"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9"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0"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1"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2"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2" name="Rectangle 27"/>
          <p:cNvSpPr>
            <a:spLocks noChangeArrowheads="1"/>
          </p:cNvSpPr>
          <p:nvPr/>
        </p:nvSpPr>
        <p:spPr bwMode="auto">
          <a:xfrm>
            <a:off x="5486400" y="3810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84"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5"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6"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7"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8"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9"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0"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1"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2"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3"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4"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5"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6"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7"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8"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9"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0"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1"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2"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3"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4"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5"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6"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7"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8"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9"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0"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1"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2"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3"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4"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5"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6"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7"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8"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9"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0"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1"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2"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3"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4"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5"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6"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7"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8"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9"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30"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31"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32"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3"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4"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5"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6"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7"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8"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9"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0"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1"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2"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3"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4"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5"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6"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7"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8"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9"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50"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1"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2"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3"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4"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5"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6"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7"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8"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26728"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9560"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9561"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9562"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9563"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9564"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9565"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9566"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9567"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9568"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9569"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9570"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9571"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9572"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9573"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9574"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9575"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9576"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9577"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9578"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9579"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19580" name="Group 125"/>
          <p:cNvGrpSpPr/>
          <p:nvPr/>
        </p:nvGrpSpPr>
        <p:grpSpPr bwMode="auto">
          <a:xfrm>
            <a:off x="2438400" y="1676401"/>
            <a:ext cx="1447800" cy="4494213"/>
            <a:chOff x="0" y="0"/>
            <a:chExt cx="1056" cy="1392"/>
          </a:xfrm>
        </p:grpSpPr>
        <p:sp>
          <p:nvSpPr>
            <p:cNvPr id="19581"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9582"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9583"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9584"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9585"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19586"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6756" name="Rectangle 132"/>
          <p:cNvSpPr>
            <a:spLocks noChangeArrowheads="1"/>
          </p:cNvSpPr>
          <p:nvPr/>
        </p:nvSpPr>
        <p:spPr bwMode="auto">
          <a:xfrm>
            <a:off x="2438401" y="46307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19588"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19589"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13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7"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6652"/>
                                        </p:tgtEl>
                                        <p:attrNameLst>
                                          <p:attrName>style.visibility</p:attrName>
                                        </p:attrNameLst>
                                      </p:cBhvr>
                                      <p:to>
                                        <p:strVal val="visible"/>
                                      </p:to>
                                    </p:set>
                                    <p:animEffect filter="wipe(up)">
                                      <p:cBhvr>
                                        <p:cTn id="7" dur="500"/>
                                        <p:tgtEl>
                                          <p:spTgt spid="26652"/>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6728"/>
                                        </p:tgtEl>
                                        <p:attrNameLst>
                                          <p:attrName>style.visibility</p:attrName>
                                        </p:attrNameLst>
                                      </p:cBhvr>
                                      <p:to>
                                        <p:strVal val="visible"/>
                                      </p:to>
                                    </p:set>
                                    <p:animEffect filter="slide(fromTop)">
                                      <p:cBhvr>
                                        <p:cTn id="11" dur="500"/>
                                        <p:tgtEl>
                                          <p:spTgt spid="26728"/>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6756"/>
                                        </p:tgtEl>
                                        <p:attrNameLst>
                                          <p:attrName>style.visibility</p:attrName>
                                        </p:attrNameLst>
                                      </p:cBhvr>
                                      <p:to>
                                        <p:strVal val="visible"/>
                                      </p:to>
                                    </p:set>
                                    <p:anim calcmode="lin" valueType="num">
                                      <p:cBhvr>
                                        <p:cTn id="15" dur="500" fill="hold"/>
                                        <p:tgtEl>
                                          <p:spTgt spid="26756"/>
                                        </p:tgtEl>
                                        <p:attrNameLst>
                                          <p:attrName>ppt_x</p:attrName>
                                        </p:attrNameLst>
                                      </p:cBhvr>
                                      <p:tavLst>
                                        <p:tav tm="0">
                                          <p:val>
                                            <p:strVal val="#ppt_x"/>
                                          </p:val>
                                        </p:tav>
                                        <p:tav tm="100000">
                                          <p:val>
                                            <p:strVal val="#ppt_x"/>
                                          </p:val>
                                        </p:tav>
                                      </p:tavLst>
                                    </p:anim>
                                    <p:anim calcmode="lin" valueType="num">
                                      <p:cBhvr>
                                        <p:cTn id="16" dur="500" fill="hold"/>
                                        <p:tgtEl>
                                          <p:spTgt spid="26756"/>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7">
                                            <p:txEl>
                                              <p:pRg st="0" end="0"/>
                                            </p:txEl>
                                          </p:spTgt>
                                        </p:tgtEl>
                                        <p:attrNameLst>
                                          <p:attrName>style.visibility</p:attrName>
                                        </p:attrNameLst>
                                      </p:cBhvr>
                                      <p:to>
                                        <p:strVal val="visible"/>
                                      </p:to>
                                    </p:set>
                                    <p:animEffect filter="wipe(left)">
                                      <p:cBhvr>
                                        <p:cTn id="21" dur="500"/>
                                        <p:tgtEl>
                                          <p:spTgt spid="1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52" grpId="0" bldLvl="0" animBg="1"/>
      <p:bldP spid="26756" grpId="0" bldLvl="0" animBg="1"/>
      <p:bldP spid="137" grpId="0" build="p" bldLvl="0"/>
    </p:bldLst>
  </p:timing>
</p:sld>
</file>

<file path=ppt/slides/slide11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7651" name="Rectangle 136"/>
          <p:cNvSpPr>
            <a:spLocks noGrp="1"/>
          </p:cNvSpPr>
          <p:nvPr>
            <p:ph type="body" idx="4294967295"/>
          </p:nvPr>
        </p:nvSpPr>
        <p:spPr>
          <a:xfrm>
            <a:off x="5410876" y="1254125"/>
            <a:ext cx="3199047" cy="574675"/>
          </a:xfrm>
        </p:spPr>
        <p:txBody>
          <a:bodyPr vert="horz" wrap="square" anchor="ctr"/>
          <a:lstStyle/>
          <a:p>
            <a:pPr lvl="1">
              <a:buFont typeface="Wingdings" panose="05000000000000000000" pitchFamily="2" charset="2"/>
              <a:buNone/>
            </a:pPr>
            <a:r>
              <a:rPr lang="zh-CN" altLang="en-US" b="1" noProof="1"/>
              <a:t>向下方前进一步</a:t>
            </a:r>
            <a:endParaRPr lang="zh-CN" altLang="en-US" noProof="1"/>
          </a:p>
        </p:txBody>
      </p:sp>
      <p:pic>
        <p:nvPicPr>
          <p:cNvPr id="20483"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0484"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485"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6"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7"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8"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9"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0"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1"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2"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493"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4"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5"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6"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7"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8"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9"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0"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501"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2"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3"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4"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5"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6"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7"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8"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509"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0"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1"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2"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3"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4"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5"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5" name="Rectangle 35"/>
          <p:cNvSpPr>
            <a:spLocks noChangeArrowheads="1"/>
          </p:cNvSpPr>
          <p:nvPr/>
        </p:nvSpPr>
        <p:spPr bwMode="auto">
          <a:xfrm>
            <a:off x="5486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517"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8"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9"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0"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1"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2"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3"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4"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5"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6"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7"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8"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9"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0"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1"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2"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3"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4"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5"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6"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7"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8"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9"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0"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1"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2"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3"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4"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5"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6"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7"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8"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49"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0"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1"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2"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3"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4"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5"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6"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7"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58"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59"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0"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1"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2"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3"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4"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5"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6"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7"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8"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9"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0"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1"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2"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3"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4"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75"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6"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7"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8"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9"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0"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1"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2"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3"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27753"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0585"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0586"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0587"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0588"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0589"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0590"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0591"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0592"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0593"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0594"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0595"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0596"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0597"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0598"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0599"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0600"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0601"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0602"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0603"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0604"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0605" name="Group 125"/>
          <p:cNvGrpSpPr/>
          <p:nvPr/>
        </p:nvGrpSpPr>
        <p:grpSpPr bwMode="auto">
          <a:xfrm>
            <a:off x="2438400" y="1676401"/>
            <a:ext cx="1447800" cy="4494213"/>
            <a:chOff x="0" y="0"/>
            <a:chExt cx="1056" cy="1392"/>
          </a:xfrm>
        </p:grpSpPr>
        <p:sp>
          <p:nvSpPr>
            <p:cNvPr id="20606"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607"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608"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0609"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0610"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0611"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7781" name="Rectangle 132"/>
          <p:cNvSpPr>
            <a:spLocks noChangeArrowheads="1"/>
          </p:cNvSpPr>
          <p:nvPr/>
        </p:nvSpPr>
        <p:spPr bwMode="auto">
          <a:xfrm>
            <a:off x="2438401" y="43259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20613"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0614"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0615"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13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7651">
                                            <p:txEl>
                                              <p:pRg st="0" end="0"/>
                                            </p:txEl>
                                          </p:spTgt>
                                        </p:tgtEl>
                                        <p:attrNameLst>
                                          <p:attrName>style.visibility</p:attrName>
                                        </p:attrNameLst>
                                      </p:cBhvr>
                                      <p:to>
                                        <p:strVal val="visible"/>
                                      </p:to>
                                    </p:set>
                                    <p:animEffect filter="wipe(left)">
                                      <p:cBhvr>
                                        <p:cTn id="7" dur="500"/>
                                        <p:tgtEl>
                                          <p:spTgt spid="27651">
                                            <p:txEl>
                                              <p:pRg st="0" end="0"/>
                                            </p:txEl>
                                          </p:spTgt>
                                        </p:tgtEl>
                                      </p:cBhvr>
                                    </p:animEffect>
                                  </p:childTnLst>
                                </p:cTn>
                              </p:par>
                            </p:childTnLst>
                          </p:cTn>
                        </p:par>
                        <p:par>
                          <p:cTn id="8" fill="hold">
                            <p:stCondLst>
                              <p:cond delay="500"/>
                            </p:stCondLst>
                            <p:childTnLst>
                              <p:par>
                                <p:cTn id="9" presetID="22" presetClass="entr" presetSubtype="1" fill="hold" grpId="0" nodeType="afterEffect">
                                  <p:stCondLst>
                                    <p:cond delay="1000"/>
                                  </p:stCondLst>
                                  <p:childTnLst>
                                    <p:set>
                                      <p:cBhvr>
                                        <p:cTn id="10" dur="1" fill="hold">
                                          <p:stCondLst>
                                            <p:cond delay="0"/>
                                          </p:stCondLst>
                                        </p:cTn>
                                        <p:tgtEl>
                                          <p:spTgt spid="27685"/>
                                        </p:tgtEl>
                                        <p:attrNameLst>
                                          <p:attrName>style.visibility</p:attrName>
                                        </p:attrNameLst>
                                      </p:cBhvr>
                                      <p:to>
                                        <p:strVal val="visible"/>
                                      </p:to>
                                    </p:set>
                                    <p:animEffect filter="wipe(up)">
                                      <p:cBhvr>
                                        <p:cTn id="11" dur="500"/>
                                        <p:tgtEl>
                                          <p:spTgt spid="27685"/>
                                        </p:tgtEl>
                                      </p:cBhvr>
                                    </p:animEffect>
                                  </p:childTnLst>
                                </p:cTn>
                              </p:par>
                            </p:childTnLst>
                          </p:cTn>
                        </p:par>
                        <p:par>
                          <p:cTn id="12" fill="hold">
                            <p:stCondLst>
                              <p:cond delay="2000"/>
                            </p:stCondLst>
                            <p:childTnLst>
                              <p:par>
                                <p:cTn id="13" presetID="12" presetClass="entr" presetSubtype="1" fill="hold" nodeType="afterEffect">
                                  <p:stCondLst>
                                    <p:cond delay="0"/>
                                  </p:stCondLst>
                                  <p:childTnLst>
                                    <p:set>
                                      <p:cBhvr>
                                        <p:cTn id="14" dur="1" fill="hold">
                                          <p:stCondLst>
                                            <p:cond delay="0"/>
                                          </p:stCondLst>
                                        </p:cTn>
                                        <p:tgtEl>
                                          <p:spTgt spid="27753"/>
                                        </p:tgtEl>
                                        <p:attrNameLst>
                                          <p:attrName>style.visibility</p:attrName>
                                        </p:attrNameLst>
                                      </p:cBhvr>
                                      <p:to>
                                        <p:strVal val="visible"/>
                                      </p:to>
                                    </p:set>
                                    <p:animEffect filter="slide(fromTop)">
                                      <p:cBhvr>
                                        <p:cTn id="15" dur="500"/>
                                        <p:tgtEl>
                                          <p:spTgt spid="27753"/>
                                        </p:tgtEl>
                                      </p:cBhvr>
                                    </p:animEffect>
                                  </p:childTnLst>
                                </p:cTn>
                              </p:par>
                            </p:childTnLst>
                          </p:cTn>
                        </p:par>
                        <p:par>
                          <p:cTn id="16" fill="hold">
                            <p:stCondLst>
                              <p:cond delay="2500"/>
                            </p:stCondLst>
                            <p:childTnLst>
                              <p:par>
                                <p:cTn id="17" presetID="2" presetClass="entr" presetSubtype="1" fill="hold" grpId="0" nodeType="afterEffect">
                                  <p:stCondLst>
                                    <p:cond delay="2000"/>
                                  </p:stCondLst>
                                  <p:childTnLst>
                                    <p:set>
                                      <p:cBhvr>
                                        <p:cTn id="18" dur="1" fill="hold">
                                          <p:stCondLst>
                                            <p:cond delay="0"/>
                                          </p:stCondLst>
                                        </p:cTn>
                                        <p:tgtEl>
                                          <p:spTgt spid="27781"/>
                                        </p:tgtEl>
                                        <p:attrNameLst>
                                          <p:attrName>style.visibility</p:attrName>
                                        </p:attrNameLst>
                                      </p:cBhvr>
                                      <p:to>
                                        <p:strVal val="visible"/>
                                      </p:to>
                                    </p:set>
                                    <p:anim calcmode="lin" valueType="num">
                                      <p:cBhvr>
                                        <p:cTn id="19" dur="500" fill="hold"/>
                                        <p:tgtEl>
                                          <p:spTgt spid="27781"/>
                                        </p:tgtEl>
                                        <p:attrNameLst>
                                          <p:attrName>ppt_x</p:attrName>
                                        </p:attrNameLst>
                                      </p:cBhvr>
                                      <p:tavLst>
                                        <p:tav tm="0">
                                          <p:val>
                                            <p:strVal val="#ppt_x"/>
                                          </p:val>
                                        </p:tav>
                                        <p:tav tm="100000">
                                          <p:val>
                                            <p:strVal val="#ppt_x"/>
                                          </p:val>
                                        </p:tav>
                                      </p:tavLst>
                                    </p:anim>
                                    <p:anim calcmode="lin" valueType="num">
                                      <p:cBhvr>
                                        <p:cTn id="20" dur="500" fill="hold"/>
                                        <p:tgtEl>
                                          <p:spTgt spid="2778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1" grpId="0" build="p" bldLvl="0"/>
      <p:bldP spid="27685" grpId="0" bldLvl="0" animBg="1"/>
      <p:bldP spid="27781" grpId="0" bldLvl="0" animBg="1"/>
    </p:bldLst>
  </p:timing>
</p:sld>
</file>

<file path=ppt/slides/slide1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2150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1507"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08"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09"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0"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1"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2"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3"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4"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5"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16"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7"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8"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9"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0"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1"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2"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3"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24"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5"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6"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7"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8"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9"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0"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1"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32"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3"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4"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5"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6"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7"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8"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9"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40"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1"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2"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3"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4"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5"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6"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6" name="Rectangle 43"/>
          <p:cNvSpPr>
            <a:spLocks noChangeArrowheads="1"/>
          </p:cNvSpPr>
          <p:nvPr/>
        </p:nvSpPr>
        <p:spPr bwMode="auto">
          <a:xfrm>
            <a:off x="5486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48"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9"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0"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1"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2"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3"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4"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5"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6"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7"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8"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9"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0"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1"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2"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3"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4"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5"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6"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7"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8"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9"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70"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71"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2"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3"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4"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5"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6"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7"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8"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9"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80"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1"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2"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3"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4"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5"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6"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7"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8"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9"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0"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1"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2"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3"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4"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5"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6"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7"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98"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99"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0"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1"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2"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3"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4"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5"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6"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28776"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1608"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1609"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1610"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1611"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1612"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1613"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1614"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1615"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1616"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1617"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1618"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1619"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1620"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1621"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1622"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1623"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1624"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1625"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1626"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1627"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1628" name="Group 125"/>
          <p:cNvGrpSpPr/>
          <p:nvPr/>
        </p:nvGrpSpPr>
        <p:grpSpPr bwMode="auto">
          <a:xfrm>
            <a:off x="2438400" y="1676401"/>
            <a:ext cx="1447800" cy="4494213"/>
            <a:chOff x="0" y="0"/>
            <a:chExt cx="1056" cy="1392"/>
          </a:xfrm>
        </p:grpSpPr>
        <p:sp>
          <p:nvSpPr>
            <p:cNvPr id="21629"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1630"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1631"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1632"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1633"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1634"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8804" name="Rectangle 132"/>
          <p:cNvSpPr>
            <a:spLocks noChangeArrowheads="1"/>
          </p:cNvSpPr>
          <p:nvPr/>
        </p:nvSpPr>
        <p:spPr bwMode="auto">
          <a:xfrm>
            <a:off x="2438401" y="40211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(7,1)</a:t>
            </a:r>
            <a:endParaRPr lang="en-US" altLang="zh-CN"/>
          </a:p>
        </p:txBody>
      </p:sp>
      <p:sp>
        <p:nvSpPr>
          <p:cNvPr id="21636"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1637"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1638"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21639" name="Rectangle 136"/>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13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9"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8716"/>
                                        </p:tgtEl>
                                        <p:attrNameLst>
                                          <p:attrName>style.visibility</p:attrName>
                                        </p:attrNameLst>
                                      </p:cBhvr>
                                      <p:to>
                                        <p:strVal val="visible"/>
                                      </p:to>
                                    </p:set>
                                    <p:animEffect filter="wipe(up)">
                                      <p:cBhvr>
                                        <p:cTn id="7" dur="500"/>
                                        <p:tgtEl>
                                          <p:spTgt spid="28716"/>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8776"/>
                                        </p:tgtEl>
                                        <p:attrNameLst>
                                          <p:attrName>style.visibility</p:attrName>
                                        </p:attrNameLst>
                                      </p:cBhvr>
                                      <p:to>
                                        <p:strVal val="visible"/>
                                      </p:to>
                                    </p:set>
                                    <p:animEffect filter="slide(fromTop)">
                                      <p:cBhvr>
                                        <p:cTn id="11" dur="500"/>
                                        <p:tgtEl>
                                          <p:spTgt spid="28776"/>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8804"/>
                                        </p:tgtEl>
                                        <p:attrNameLst>
                                          <p:attrName>style.visibility</p:attrName>
                                        </p:attrNameLst>
                                      </p:cBhvr>
                                      <p:to>
                                        <p:strVal val="visible"/>
                                      </p:to>
                                    </p:set>
                                    <p:anim calcmode="lin" valueType="num">
                                      <p:cBhvr>
                                        <p:cTn id="15" dur="500" fill="hold"/>
                                        <p:tgtEl>
                                          <p:spTgt spid="28804"/>
                                        </p:tgtEl>
                                        <p:attrNameLst>
                                          <p:attrName>ppt_x</p:attrName>
                                        </p:attrNameLst>
                                      </p:cBhvr>
                                      <p:tavLst>
                                        <p:tav tm="0">
                                          <p:val>
                                            <p:strVal val="#ppt_x"/>
                                          </p:val>
                                        </p:tav>
                                        <p:tav tm="100000">
                                          <p:val>
                                            <p:strVal val="#ppt_x"/>
                                          </p:val>
                                        </p:tav>
                                      </p:tavLst>
                                    </p:anim>
                                    <p:anim calcmode="lin" valueType="num">
                                      <p:cBhvr>
                                        <p:cTn id="16" dur="500" fill="hold"/>
                                        <p:tgtEl>
                                          <p:spTgt spid="28804"/>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9">
                                            <p:txEl>
                                              <p:pRg st="0" end="0"/>
                                            </p:txEl>
                                          </p:spTgt>
                                        </p:tgtEl>
                                        <p:attrNameLst>
                                          <p:attrName>style.visibility</p:attrName>
                                        </p:attrNameLst>
                                      </p:cBhvr>
                                      <p:to>
                                        <p:strVal val="visible"/>
                                      </p:to>
                                    </p:set>
                                    <p:animEffect filter="wipe(left)">
                                      <p:cBhvr>
                                        <p:cTn id="21" dur="500"/>
                                        <p:tgtEl>
                                          <p:spTgt spid="13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16" grpId="0" bldLvl="0" animBg="1"/>
      <p:bldP spid="28804" grpId="0" bldLvl="0" animBg="1"/>
      <p:bldP spid="139" grpId="0" build="p" bldLvl="0"/>
    </p:bldLst>
  </p:timing>
</p:sld>
</file>

<file path=ppt/slides/slide11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9698" name="Rectangle 68"/>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29699" name="Rectangle 126"/>
          <p:cNvSpPr>
            <a:spLocks noGrp="1"/>
          </p:cNvSpPr>
          <p:nvPr>
            <p:ph type="body" idx="4294967295"/>
          </p:nvPr>
        </p:nvSpPr>
        <p:spPr>
          <a:xfrm>
            <a:off x="3314700" y="1160211"/>
            <a:ext cx="8153400" cy="609600"/>
          </a:xfrm>
        </p:spPr>
        <p:txBody>
          <a:bodyPr vert="horz" wrap="square" anchor="ctr">
            <a:normAutofit fontScale="92500"/>
          </a:bodyPr>
          <a:lstStyle/>
          <a:p>
            <a:pPr marL="273050" indent="-273050">
              <a:buNone/>
            </a:pPr>
            <a:r>
              <a:rPr lang="en-US" altLang="zh-CN" sz="2000" noProof="1"/>
              <a:t>		</a:t>
            </a:r>
            <a:r>
              <a:rPr lang="zh-CN" altLang="en-US" sz="2400" b="1" noProof="1"/>
              <a:t>向下方 、右方、左方均不能前进，上方是来路，则后退</a:t>
            </a:r>
          </a:p>
        </p:txBody>
      </p:sp>
      <p:sp>
        <p:nvSpPr>
          <p:cNvPr id="22531" name="Rectangle 2"/>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pic>
        <p:nvPicPr>
          <p:cNvPr id="22532"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2533" name="Rectangle 4"/>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34" name="Rectangle 5"/>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5" name="Rectangle 6"/>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6" name="Rectangle 7"/>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7" name="Rectangle 8"/>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8" name="Rectangle 9"/>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9" name="Rectangle 10"/>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0" name="Rectangle 11"/>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1" name="Rectangle 12"/>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42" name="Rectangle 13"/>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3" name="Rectangle 14"/>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4" name="Rectangle 15"/>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5" name="Rectangle 16"/>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6" name="Rectangle 17"/>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7" name="Rectangle 18"/>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8" name="Rectangle 19"/>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9" name="Rectangle 20"/>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50" name="Rectangle 21"/>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1" name="Rectangle 22"/>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2" name="Rectangle 23"/>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3" name="Rectangle 24"/>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4" name="Rectangle 25"/>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5" name="Rectangle 26"/>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6" name="Rectangle 27"/>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7" name="Rectangle 28"/>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58" name="Rectangle 29"/>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9" name="Rectangle 30"/>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0" name="Rectangle 31"/>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1" name="Rectangle 32"/>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2" name="Rectangle 33"/>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3" name="Rectangle 34"/>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4" name="Rectangle 35"/>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5" name="Rectangle 36"/>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66" name="Rectangle 37"/>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7" name="Rectangle 38"/>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8" name="Rectangle 39"/>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9" name="Rectangle 40"/>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0" name="Rectangle 41"/>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1" name="Rectangle 42"/>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2" name="Rectangle 43"/>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3" name="Rectangle 44"/>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latin typeface="Tahoma" panose="020B0604030504040204" pitchFamily="34" charset="0"/>
              <a:sym typeface="Tahoma" panose="020B0604030504040204" pitchFamily="34" charset="0"/>
            </a:endParaRPr>
          </a:p>
        </p:txBody>
      </p:sp>
      <p:sp>
        <p:nvSpPr>
          <p:cNvPr id="22574" name="Rectangle 45"/>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5" name="Rectangle 46"/>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6" name="Rectangle 47"/>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7" name="Rectangle 48"/>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8" name="Rectangle 49"/>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9" name="Rectangle 50"/>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0" name="Rectangle 51"/>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0" name="Rectangle 52"/>
          <p:cNvSpPr>
            <a:spLocks noChangeArrowheads="1"/>
          </p:cNvSpPr>
          <p:nvPr/>
        </p:nvSpPr>
        <p:spPr bwMode="auto">
          <a:xfrm>
            <a:off x="5486400" y="4953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2582" name="Rectangle 53"/>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3" name="Rectangle 54"/>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4" name="Rectangle 55"/>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5" name="Rectangle 56"/>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6" name="Rectangle 57"/>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7" name="Rectangle 58"/>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8" name="Rectangle 59"/>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9" name="Rectangle 60"/>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0" name="Rectangle 61"/>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1" name="Rectangle 62"/>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2" name="Rectangle 63"/>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3" name="Rectangle 64"/>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4" name="Rectangle 65"/>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5" name="Rectangle 66"/>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6" name="Rectangle 67"/>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7" name="Rectangle 69"/>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8" name="Rectangle 70"/>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9" name="Rectangle 71"/>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0" name="Rectangle 72"/>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1" name="Rectangle 73"/>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2" name="Rectangle 74"/>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3" name="Rectangle 75"/>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4" name="Rectangle 76"/>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5" name="Rectangle 77"/>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6" name="Rectangle 78"/>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7" name="Rectangle 79"/>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8" name="Rectangle 80"/>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9" name="Rectangle 81"/>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0" name="Rectangle 82"/>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1" name="Rectangle 83"/>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2" name="Rectangle 84"/>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3" name="Rectangle 85"/>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4" name="Rectangle 86"/>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5" name="Rectangle 87"/>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6" name="Rectangle 88"/>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7" name="Rectangle 89"/>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8" name="Rectangle 90"/>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9" name="Rectangle 91"/>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0" name="Rectangle 92"/>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1" name="Rectangle 93"/>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2" name="Rectangle 94"/>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3" name="Rectangle 95"/>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4" name="Rectangle 96"/>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5" name="Rectangle 97"/>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6" name="Rectangle 98"/>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7" name="Rectangle 99"/>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8" name="Rectangle 100"/>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9" name="Rectangle 101"/>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30" name="Rectangle 102"/>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31" name="Rectangle 103"/>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32" name="Rectangle 104"/>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29802" name="Picture 10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2634" name="Rectangle 106"/>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2635" name="Rectangle 107"/>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2636" name="Rectangle 108"/>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2637" name="Rectangle 109"/>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2638" name="Rectangle 110"/>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2639" name="Rectangle 111"/>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2640" name="Rectangle 112"/>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2641" name="Rectangle 113"/>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2642" name="Rectangle 114"/>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2643" name="Rectangle 115"/>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2644" name="Rectangle 116"/>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2645" name="Rectangle 117"/>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2646" name="Rectangle 118"/>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2647" name="Rectangle 119"/>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2648" name="Rectangle 120"/>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2649" name="Rectangle 121"/>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2650" name="Rectangle 122"/>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2651" name="Rectangle 123"/>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2652" name="Rectangle 124"/>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2653" name="Rectangle 125"/>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2654" name="Group 127"/>
          <p:cNvGrpSpPr/>
          <p:nvPr/>
        </p:nvGrpSpPr>
        <p:grpSpPr bwMode="auto">
          <a:xfrm>
            <a:off x="2438400" y="1676401"/>
            <a:ext cx="1447800" cy="4494213"/>
            <a:chOff x="0" y="0"/>
            <a:chExt cx="1056" cy="1392"/>
          </a:xfrm>
        </p:grpSpPr>
        <p:sp>
          <p:nvSpPr>
            <p:cNvPr id="22655" name="Line 128"/>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2656" name="Line 129"/>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2657" name="Line 130"/>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2658" name="Text Box 131"/>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2659" name="Rectangle 132"/>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2660" name="Rectangle 133"/>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2661" name="Rectangle 134"/>
          <p:cNvSpPr>
            <a:spLocks noChangeArrowheads="1"/>
          </p:cNvSpPr>
          <p:nvPr/>
        </p:nvSpPr>
        <p:spPr bwMode="auto">
          <a:xfrm>
            <a:off x="2452689" y="4021138"/>
            <a:ext cx="1425575"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(7,1)</a:t>
            </a:r>
            <a:endParaRPr lang="en-US" altLang="zh-CN"/>
          </a:p>
        </p:txBody>
      </p:sp>
      <p:sp>
        <p:nvSpPr>
          <p:cNvPr id="22662" name="Rectangle 135"/>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2663" name="Rectangle 136"/>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2664" name="Rectangle 137"/>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22665" name="Rectangle 138"/>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29835" name="Rectangle 139"/>
          <p:cNvSpPr>
            <a:spLocks noChangeArrowheads="1"/>
          </p:cNvSpPr>
          <p:nvPr/>
        </p:nvSpPr>
        <p:spPr bwMode="auto">
          <a:xfrm>
            <a:off x="2452688" y="4021138"/>
            <a:ext cx="1414462" cy="322262"/>
          </a:xfrm>
          <a:prstGeom prst="rect">
            <a:avLst/>
          </a:prstGeom>
          <a:solidFill>
            <a:schemeClr val="bg1"/>
          </a:solidFill>
          <a:ln w="9525">
            <a:solidFill>
              <a:schemeClr val="bg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sz="2000" b="1">
              <a:solidFill>
                <a:srgbClr val="000000"/>
              </a:solidFill>
              <a:latin typeface="楷体_GB2312" pitchFamily="1" charset="-122"/>
              <a:sym typeface="楷体_GB2312" pitchFamily="1" charset="-122"/>
            </a:endParaRPr>
          </a:p>
        </p:txBody>
      </p:sp>
      <p:sp>
        <p:nvSpPr>
          <p:cNvPr id="141"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699">
                                            <p:txEl>
                                              <p:pRg st="0" end="0"/>
                                            </p:txEl>
                                          </p:spTgt>
                                        </p:tgtEl>
                                        <p:attrNameLst>
                                          <p:attrName>style.visibility</p:attrName>
                                        </p:attrNameLst>
                                      </p:cBhvr>
                                      <p:to>
                                        <p:strVal val="visible"/>
                                      </p:to>
                                    </p:set>
                                    <p:animEffect filter="wipe(left)">
                                      <p:cBhvr>
                                        <p:cTn id="7" dur="500"/>
                                        <p:tgtEl>
                                          <p:spTgt spid="2969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9750"/>
                                        </p:tgtEl>
                                        <p:attrNameLst>
                                          <p:attrName>style.visibility</p:attrName>
                                        </p:attrNameLst>
                                      </p:cBhvr>
                                      <p:to>
                                        <p:strVal val="visible"/>
                                      </p:to>
                                    </p:set>
                                    <p:animEffect filter="wipe(down)">
                                      <p:cBhvr>
                                        <p:cTn id="12" dur="500"/>
                                        <p:tgtEl>
                                          <p:spTgt spid="29750"/>
                                        </p:tgtEl>
                                      </p:cBhvr>
                                    </p:animEffect>
                                  </p:childTnLst>
                                </p:cTn>
                              </p:par>
                            </p:childTnLst>
                          </p:cTn>
                        </p:par>
                        <p:par>
                          <p:cTn id="13" fill="hold">
                            <p:stCondLst>
                              <p:cond delay="500"/>
                            </p:stCondLst>
                            <p:childTnLst>
                              <p:par>
                                <p:cTn id="14" presetID="12" presetClass="entr" presetSubtype="4" fill="hold" nodeType="afterEffect">
                                  <p:stCondLst>
                                    <p:cond delay="0"/>
                                  </p:stCondLst>
                                  <p:childTnLst>
                                    <p:set>
                                      <p:cBhvr>
                                        <p:cTn id="15" dur="1" fill="hold">
                                          <p:stCondLst>
                                            <p:cond delay="0"/>
                                          </p:stCondLst>
                                        </p:cTn>
                                        <p:tgtEl>
                                          <p:spTgt spid="29802"/>
                                        </p:tgtEl>
                                        <p:attrNameLst>
                                          <p:attrName>style.visibility</p:attrName>
                                        </p:attrNameLst>
                                      </p:cBhvr>
                                      <p:to>
                                        <p:strVal val="visible"/>
                                      </p:to>
                                    </p:set>
                                    <p:animEffect filter="slide(fromBottom)">
                                      <p:cBhvr>
                                        <p:cTn id="16" dur="500"/>
                                        <p:tgtEl>
                                          <p:spTgt spid="29802"/>
                                        </p:tgtEl>
                                      </p:cBhvr>
                                    </p:animEffect>
                                  </p:childTnLst>
                                </p:cTn>
                              </p:par>
                            </p:childTnLst>
                          </p:cTn>
                        </p:par>
                        <p:par>
                          <p:cTn id="17" fill="hold">
                            <p:stCondLst>
                              <p:cond delay="1000"/>
                            </p:stCondLst>
                            <p:childTnLst>
                              <p:par>
                                <p:cTn id="18" presetID="22" presetClass="entr" presetSubtype="4" fill="hold" grpId="0" nodeType="afterEffect">
                                  <p:stCondLst>
                                    <p:cond delay="2000"/>
                                  </p:stCondLst>
                                  <p:childTnLst>
                                    <p:set>
                                      <p:cBhvr>
                                        <p:cTn id="19" dur="1" fill="hold">
                                          <p:stCondLst>
                                            <p:cond delay="0"/>
                                          </p:stCondLst>
                                        </p:cTn>
                                        <p:tgtEl>
                                          <p:spTgt spid="29835"/>
                                        </p:tgtEl>
                                        <p:attrNameLst>
                                          <p:attrName>style.visibility</p:attrName>
                                        </p:attrNameLst>
                                      </p:cBhvr>
                                      <p:to>
                                        <p:strVal val="visible"/>
                                      </p:to>
                                    </p:set>
                                    <p:animEffect filter="wipe(down)">
                                      <p:cBhvr>
                                        <p:cTn id="20" dur="500"/>
                                        <p:tgtEl>
                                          <p:spTgt spid="298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uild="p" bldLvl="0"/>
      <p:bldP spid="29750" grpId="0" bldLvl="0" animBg="1"/>
      <p:bldP spid="29835" grpId="0" bldLvl="0" animBg="1"/>
    </p:bldLst>
  </p:timing>
</p:sld>
</file>

<file path=ppt/slides/slide11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722" name="Rectangle 68"/>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0723" name="Rectangle 138"/>
          <p:cNvSpPr>
            <a:spLocks noGrp="1"/>
          </p:cNvSpPr>
          <p:nvPr>
            <p:ph type="body" idx="4294967295"/>
          </p:nvPr>
        </p:nvSpPr>
        <p:spPr>
          <a:xfrm>
            <a:off x="3543300" y="1210470"/>
            <a:ext cx="8077200" cy="609600"/>
          </a:xfrm>
        </p:spPr>
        <p:txBody>
          <a:bodyPr vert="horz" wrap="square" anchor="ctr">
            <a:normAutofit fontScale="92500"/>
          </a:bodyPr>
          <a:lstStyle/>
          <a:p>
            <a:pPr marL="273050" indent="-273050">
              <a:buNone/>
            </a:pPr>
            <a:r>
              <a:rPr lang="en-US" altLang="zh-CN" sz="2000" noProof="1"/>
              <a:t>		</a:t>
            </a:r>
            <a:r>
              <a:rPr lang="zh-CN" altLang="en-US" sz="2200" b="1" noProof="1"/>
              <a:t>向右方、左方均不能前进，下方路不通，上方是来路，则后退</a:t>
            </a:r>
          </a:p>
        </p:txBody>
      </p:sp>
      <p:sp>
        <p:nvSpPr>
          <p:cNvPr id="23555" name="Rectangle 2"/>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pic>
        <p:nvPicPr>
          <p:cNvPr id="23556"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3557" name="Rectangle 4"/>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58" name="Rectangle 5"/>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59" name="Rectangle 6"/>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0" name="Rectangle 7"/>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1" name="Rectangle 8"/>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2" name="Rectangle 9"/>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3" name="Rectangle 10"/>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4" name="Rectangle 11"/>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5" name="Rectangle 12"/>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66" name="Rectangle 13"/>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7" name="Rectangle 14"/>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8" name="Rectangle 15"/>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9" name="Rectangle 16"/>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0" name="Rectangle 17"/>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1" name="Rectangle 18"/>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2" name="Rectangle 19"/>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3" name="Rectangle 20"/>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74" name="Rectangle 21"/>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5" name="Rectangle 22"/>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6" name="Rectangle 23"/>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7" name="Rectangle 24"/>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8" name="Rectangle 25"/>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9" name="Rectangle 26"/>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0" name="Rectangle 27"/>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1" name="Rectangle 28"/>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82" name="Rectangle 29"/>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3" name="Rectangle 30"/>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4" name="Rectangle 31"/>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5" name="Rectangle 32"/>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6" name="Rectangle 33"/>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7" name="Rectangle 34"/>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8" name="Rectangle 35"/>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9" name="Rectangle 36"/>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latin typeface="Tahoma" panose="020B0604030504040204" pitchFamily="34" charset="0"/>
              <a:sym typeface="Tahoma" panose="020B0604030504040204" pitchFamily="34" charset="0"/>
            </a:endParaRPr>
          </a:p>
        </p:txBody>
      </p:sp>
      <p:sp>
        <p:nvSpPr>
          <p:cNvPr id="23590" name="Rectangle 37"/>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1" name="Rectangle 38"/>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2" name="Rectangle 39"/>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3" name="Rectangle 40"/>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4" name="Rectangle 41"/>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5" name="Rectangle 42"/>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6" name="Rectangle 43"/>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6" name="Rectangle 44"/>
          <p:cNvSpPr>
            <a:spLocks noChangeArrowheads="1"/>
          </p:cNvSpPr>
          <p:nvPr/>
        </p:nvSpPr>
        <p:spPr bwMode="auto">
          <a:xfrm>
            <a:off x="5486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3598" name="Rectangle 45"/>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9" name="Rectangle 46"/>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0" name="Rectangle 47"/>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1" name="Rectangle 48"/>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2" name="Rectangle 49"/>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3" name="Rectangle 50"/>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4" name="Rectangle 51"/>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5" name="Rectangle 52"/>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3606" name="Rectangle 53"/>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7" name="Rectangle 54"/>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8" name="Rectangle 55"/>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9" name="Rectangle 56"/>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0" name="Rectangle 57"/>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1" name="Rectangle 58"/>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2" name="Rectangle 59"/>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3" name="Rectangle 60"/>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4" name="Rectangle 61"/>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5" name="Rectangle 62"/>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6" name="Rectangle 63"/>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7" name="Rectangle 64"/>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8" name="Rectangle 65"/>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9" name="Rectangle 66"/>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0" name="Rectangle 67"/>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1" name="Rectangle 69"/>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2" name="Rectangle 70"/>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3" name="Rectangle 71"/>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4" name="Rectangle 72"/>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5" name="Rectangle 73"/>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6" name="Rectangle 74"/>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7" name="Rectangle 75"/>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8" name="Rectangle 76"/>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9" name="Rectangle 77"/>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0" name="Rectangle 78"/>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1" name="Rectangle 79"/>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2" name="Rectangle 80"/>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3" name="Rectangle 81"/>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4" name="Rectangle 82"/>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5" name="Rectangle 83"/>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6" name="Rectangle 84"/>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7" name="Rectangle 85"/>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8" name="Rectangle 86"/>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9" name="Rectangle 87"/>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0" name="Rectangle 88"/>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1" name="Rectangle 89"/>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2" name="Rectangle 90"/>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3" name="Rectangle 91"/>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4" name="Rectangle 92"/>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5" name="Rectangle 93"/>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6" name="Rectangle 94"/>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7" name="Rectangle 95"/>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48" name="Rectangle 96"/>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49" name="Rectangle 97"/>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0" name="Rectangle 98"/>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1" name="Rectangle 99"/>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2" name="Rectangle 100"/>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3" name="Rectangle 101"/>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4" name="Rectangle 102"/>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5" name="Rectangle 103"/>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6" name="Rectangle 104"/>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0826" name="Picture 10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3658" name="Rectangle 106"/>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3659" name="Rectangle 107"/>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3660" name="Rectangle 108"/>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3661" name="Rectangle 109"/>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3662" name="Rectangle 110"/>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3663" name="Rectangle 111"/>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3664" name="Rectangle 112"/>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3665" name="Rectangle 113"/>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3666" name="Rectangle 114"/>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3667" name="Rectangle 115"/>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3668" name="Rectangle 116"/>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3669" name="Rectangle 117"/>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3670" name="Rectangle 118"/>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3671" name="Rectangle 119"/>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3672" name="Rectangle 120"/>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3673" name="Rectangle 121"/>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3674" name="Rectangle 122"/>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3675" name="Rectangle 123"/>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3676" name="Rectangle 124"/>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3677" name="Rectangle 125"/>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3678" name="Group 126"/>
          <p:cNvGrpSpPr/>
          <p:nvPr/>
        </p:nvGrpSpPr>
        <p:grpSpPr bwMode="auto">
          <a:xfrm>
            <a:off x="2438400" y="1676401"/>
            <a:ext cx="1447800" cy="4494213"/>
            <a:chOff x="0" y="0"/>
            <a:chExt cx="1056" cy="1392"/>
          </a:xfrm>
        </p:grpSpPr>
        <p:sp>
          <p:nvSpPr>
            <p:cNvPr id="23679"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80"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81"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3682"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3683"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3684"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3685"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3686"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3687"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23688" name="Rectangle 136"/>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30858" name="Rectangle 137"/>
          <p:cNvSpPr>
            <a:spLocks noChangeArrowheads="1"/>
          </p:cNvSpPr>
          <p:nvPr/>
        </p:nvSpPr>
        <p:spPr bwMode="auto">
          <a:xfrm>
            <a:off x="2452688" y="4325938"/>
            <a:ext cx="1414462" cy="322262"/>
          </a:xfrm>
          <a:prstGeom prst="rect">
            <a:avLst/>
          </a:prstGeom>
          <a:solidFill>
            <a:schemeClr val="bg1"/>
          </a:solidFill>
          <a:ln w="9525">
            <a:solidFill>
              <a:schemeClr val="bg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sz="2000" b="1">
              <a:solidFill>
                <a:srgbClr val="000000"/>
              </a:solidFill>
              <a:latin typeface="楷体_GB2312" pitchFamily="1" charset="-122"/>
              <a:sym typeface="楷体_GB2312" pitchFamily="1" charset="-122"/>
            </a:endParaRPr>
          </a:p>
        </p:txBody>
      </p:sp>
      <p:sp>
        <p:nvSpPr>
          <p:cNvPr id="14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723">
                                            <p:txEl>
                                              <p:pRg st="0" end="0"/>
                                            </p:txEl>
                                          </p:spTgt>
                                        </p:tgtEl>
                                        <p:attrNameLst>
                                          <p:attrName>style.visibility</p:attrName>
                                        </p:attrNameLst>
                                      </p:cBhvr>
                                      <p:to>
                                        <p:strVal val="visible"/>
                                      </p:to>
                                    </p:set>
                                    <p:animEffect filter="wipe(left)">
                                      <p:cBhvr>
                                        <p:cTn id="7" dur="500"/>
                                        <p:tgtEl>
                                          <p:spTgt spid="3072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0766"/>
                                        </p:tgtEl>
                                        <p:attrNameLst>
                                          <p:attrName>style.visibility</p:attrName>
                                        </p:attrNameLst>
                                      </p:cBhvr>
                                      <p:to>
                                        <p:strVal val="visible"/>
                                      </p:to>
                                    </p:set>
                                    <p:animEffect filter="wipe(down)">
                                      <p:cBhvr>
                                        <p:cTn id="12" dur="500"/>
                                        <p:tgtEl>
                                          <p:spTgt spid="30766"/>
                                        </p:tgtEl>
                                      </p:cBhvr>
                                    </p:animEffect>
                                  </p:childTnLst>
                                </p:cTn>
                              </p:par>
                            </p:childTnLst>
                          </p:cTn>
                        </p:par>
                        <p:par>
                          <p:cTn id="13" fill="hold">
                            <p:stCondLst>
                              <p:cond delay="500"/>
                            </p:stCondLst>
                            <p:childTnLst>
                              <p:par>
                                <p:cTn id="14" presetID="12" presetClass="entr" presetSubtype="4" fill="hold" nodeType="afterEffect">
                                  <p:stCondLst>
                                    <p:cond delay="0"/>
                                  </p:stCondLst>
                                  <p:childTnLst>
                                    <p:set>
                                      <p:cBhvr>
                                        <p:cTn id="15" dur="1" fill="hold">
                                          <p:stCondLst>
                                            <p:cond delay="0"/>
                                          </p:stCondLst>
                                        </p:cTn>
                                        <p:tgtEl>
                                          <p:spTgt spid="30826"/>
                                        </p:tgtEl>
                                        <p:attrNameLst>
                                          <p:attrName>style.visibility</p:attrName>
                                        </p:attrNameLst>
                                      </p:cBhvr>
                                      <p:to>
                                        <p:strVal val="visible"/>
                                      </p:to>
                                    </p:set>
                                    <p:animEffect filter="slide(fromBottom)">
                                      <p:cBhvr>
                                        <p:cTn id="16" dur="500"/>
                                        <p:tgtEl>
                                          <p:spTgt spid="30826"/>
                                        </p:tgtEl>
                                      </p:cBhvr>
                                    </p:animEffect>
                                  </p:childTnLst>
                                </p:cTn>
                              </p:par>
                            </p:childTnLst>
                          </p:cTn>
                        </p:par>
                        <p:par>
                          <p:cTn id="17" fill="hold">
                            <p:stCondLst>
                              <p:cond delay="1000"/>
                            </p:stCondLst>
                            <p:childTnLst>
                              <p:par>
                                <p:cTn id="18" presetID="22" presetClass="entr" presetSubtype="4" fill="hold" grpId="0" nodeType="afterEffect">
                                  <p:stCondLst>
                                    <p:cond delay="2000"/>
                                  </p:stCondLst>
                                  <p:childTnLst>
                                    <p:set>
                                      <p:cBhvr>
                                        <p:cTn id="19" dur="1" fill="hold">
                                          <p:stCondLst>
                                            <p:cond delay="0"/>
                                          </p:stCondLst>
                                        </p:cTn>
                                        <p:tgtEl>
                                          <p:spTgt spid="30858"/>
                                        </p:tgtEl>
                                        <p:attrNameLst>
                                          <p:attrName>style.visibility</p:attrName>
                                        </p:attrNameLst>
                                      </p:cBhvr>
                                      <p:to>
                                        <p:strVal val="visible"/>
                                      </p:to>
                                    </p:set>
                                    <p:animEffect filter="wipe(down)">
                                      <p:cBhvr>
                                        <p:cTn id="20" dur="500"/>
                                        <p:tgtEl>
                                          <p:spTgt spid="308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3" grpId="0" build="p" bldLvl="0"/>
      <p:bldP spid="30766" grpId="0" bldLvl="0" animBg="1"/>
      <p:bldP spid="30858" grpId="0" bldLvl="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7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pic>
        <p:nvPicPr>
          <p:cNvPr id="2457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4579"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580"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1"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2"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3"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4"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5"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6"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7"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588"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9"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0"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1"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2"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3"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4"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5"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596"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7"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8"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9"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0"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1"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2"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3"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604"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5"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6"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7"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8"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9"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0"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0" name="Rectangle 35"/>
          <p:cNvSpPr>
            <a:spLocks noChangeArrowheads="1"/>
          </p:cNvSpPr>
          <p:nvPr/>
        </p:nvSpPr>
        <p:spPr bwMode="auto">
          <a:xfrm>
            <a:off x="5486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612"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3"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4"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5"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6"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7"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8"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9"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4620"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1"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2"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3"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4"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5"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6"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7"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4628"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9"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0"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1"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2"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3"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4"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5"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6"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7"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8"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9"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0"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1"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2"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3" name="Rectangle 67"/>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8</a:t>
            </a:r>
            <a:endParaRPr lang="en-US" altLang="zh-CN"/>
          </a:p>
        </p:txBody>
      </p:sp>
      <p:sp>
        <p:nvSpPr>
          <p:cNvPr id="24644" name="Rectangle 68"/>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1</a:t>
            </a:r>
            <a:endParaRPr lang="en-US" altLang="zh-CN"/>
          </a:p>
        </p:txBody>
      </p:sp>
      <p:sp>
        <p:nvSpPr>
          <p:cNvPr id="24645" name="Rectangle 69"/>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2</a:t>
            </a:r>
            <a:endParaRPr lang="en-US" altLang="zh-CN"/>
          </a:p>
        </p:txBody>
      </p:sp>
      <p:sp>
        <p:nvSpPr>
          <p:cNvPr id="24646" name="Rectangle 70"/>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3</a:t>
            </a:r>
            <a:endParaRPr lang="en-US" altLang="zh-CN"/>
          </a:p>
        </p:txBody>
      </p:sp>
      <p:sp>
        <p:nvSpPr>
          <p:cNvPr id="24647" name="Rectangle 71"/>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4</a:t>
            </a:r>
            <a:endParaRPr lang="en-US" altLang="zh-CN"/>
          </a:p>
        </p:txBody>
      </p:sp>
      <p:sp>
        <p:nvSpPr>
          <p:cNvPr id="24648" name="Rectangle 72"/>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5</a:t>
            </a:r>
            <a:endParaRPr lang="en-US" altLang="zh-CN"/>
          </a:p>
        </p:txBody>
      </p:sp>
      <p:sp>
        <p:nvSpPr>
          <p:cNvPr id="24649" name="Rectangle 73"/>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6</a:t>
            </a:r>
            <a:endParaRPr lang="en-US" altLang="zh-CN"/>
          </a:p>
        </p:txBody>
      </p:sp>
      <p:sp>
        <p:nvSpPr>
          <p:cNvPr id="24650" name="Rectangle 74"/>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7</a:t>
            </a:r>
            <a:endParaRPr lang="en-US" altLang="zh-CN"/>
          </a:p>
        </p:txBody>
      </p:sp>
      <p:sp>
        <p:nvSpPr>
          <p:cNvPr id="24651" name="Rectangle 7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2" name="Rectangle 7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3" name="Rectangle 7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4" name="Rectangle 7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5" name="Rectangle 8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6" name="Rectangle 8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7" name="Rectangle 8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8" name="Rectangle 8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9" name="Rectangle 8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60" name="Rectangle 8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1" name="Rectangle 8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2" name="Rectangle 8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3" name="Rectangle 8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4" name="Rectangle 8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5" name="Rectangle 9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6" name="Rectangle 9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7" name="Rectangle 9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8" name="Rectangle 9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69" name="Rectangle 9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0" name="Rectangle 9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1" name="Rectangle 9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2" name="Rectangle 9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3" name="Rectangle 9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4" name="Rectangle 9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5" name="Rectangle 10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6" name="Rectangle 10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7" name="Rectangle 10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8" name="Rectangle 10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79" name="Rectangle 10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0" name="Rectangle 10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1" name="Rectangle 10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2" name="Rectangle 10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3" name="Rectangle 10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4" name="Rectangle 10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5" name="Rectangle 11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6" name="Rectangle 11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7" name="Rectangle 11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0</a:t>
            </a:r>
            <a:endParaRPr lang="en-US" altLang="zh-CN"/>
          </a:p>
        </p:txBody>
      </p:sp>
      <p:sp>
        <p:nvSpPr>
          <p:cNvPr id="24688" name="Rectangle 11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9</a:t>
            </a:r>
            <a:endParaRPr lang="en-US" altLang="zh-CN"/>
          </a:p>
        </p:txBody>
      </p:sp>
      <p:pic>
        <p:nvPicPr>
          <p:cNvPr id="31858" name="Picture 11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67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4690" name="Rectangle 11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4691" name="Rectangle 11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4692" name="Rectangle 11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4693" name="Rectangle 11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4694" name="Rectangle 11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4695" name="Rectangle 12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4696" name="Rectangle 12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4697" name="Rectangle 12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4698" name="Rectangle 12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4699" name="Rectangle 12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4700" name="Rectangle 12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4701" name="Rectangle 12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4702" name="Rectangle 12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4703" name="Rectangle 12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4704" name="Rectangle 12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4705" name="Rectangle 13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4706" name="Rectangle 13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4707" name="Rectangle 13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4708" name="Rectangle 13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4709" name="Rectangle 13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4710" name="Group 135"/>
          <p:cNvGrpSpPr/>
          <p:nvPr/>
        </p:nvGrpSpPr>
        <p:grpSpPr bwMode="auto">
          <a:xfrm>
            <a:off x="2438400" y="1676401"/>
            <a:ext cx="1447800" cy="4494213"/>
            <a:chOff x="0" y="0"/>
            <a:chExt cx="1056" cy="1392"/>
          </a:xfrm>
        </p:grpSpPr>
        <p:sp>
          <p:nvSpPr>
            <p:cNvPr id="24711" name="Line 13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4712" name="Line 13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4713" name="Line 13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4714" name="Text Box 13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4715" name="Rectangle 14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4716" name="Rectangle 14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4717" name="Rectangle 142"/>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4718" name="Rectangle 143"/>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4719" name="Rectangle 144"/>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1889" name="Rectangle 145"/>
          <p:cNvSpPr>
            <a:spLocks noChangeArrowheads="1"/>
          </p:cNvSpPr>
          <p:nvPr/>
        </p:nvSpPr>
        <p:spPr bwMode="auto">
          <a:xfrm>
            <a:off x="2438401" y="43259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1890" name="Rectangle 146"/>
          <p:cNvSpPr/>
          <p:nvPr/>
        </p:nvSpPr>
        <p:spPr>
          <a:xfrm>
            <a:off x="4082250" y="1289050"/>
            <a:ext cx="7772400" cy="609600"/>
          </a:xfrm>
          <a:prstGeom prst="rect">
            <a:avLst/>
          </a:prstGeom>
          <a:noFill/>
          <a:ln w="9525">
            <a:noFill/>
          </a:ln>
        </p:spPr>
        <p:txBody>
          <a:bodyPr/>
          <a:lstStyle/>
          <a:p>
            <a:pPr marL="742950" lvl="1" indent="-285750">
              <a:spcBef>
                <a:spcPct val="20000"/>
              </a:spcBef>
              <a:buClr>
                <a:schemeClr val="folHlink"/>
              </a:buClr>
            </a:pPr>
            <a:r>
              <a:rPr lang="en-US" altLang="zh-CN" b="1" noProof="1">
                <a:effectLst>
                  <a:outerShdw blurRad="38100" dist="38100" dir="2700000">
                    <a:srgbClr val="C0C0C0"/>
                  </a:outerShdw>
                </a:effectLst>
                <a:latin typeface="Tahoma" panose="020B0604030504040204" pitchFamily="34" charset="0"/>
                <a:cs typeface="+mn-ea"/>
              </a:rPr>
              <a:t>			</a:t>
            </a:r>
            <a:r>
              <a:rPr lang="zh-CN" altLang="en-US" sz="2200" b="1" noProof="1"/>
              <a:t>向右方前进一步</a:t>
            </a:r>
          </a:p>
        </p:txBody>
      </p:sp>
      <p:sp>
        <p:nvSpPr>
          <p:cNvPr id="14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1890">
                                            <p:txEl>
                                              <p:pRg st="0" end="0"/>
                                            </p:txEl>
                                          </p:spTgt>
                                        </p:tgtEl>
                                        <p:attrNameLst>
                                          <p:attrName>style.visibility</p:attrName>
                                        </p:attrNameLst>
                                      </p:cBhvr>
                                      <p:to>
                                        <p:strVal val="visible"/>
                                      </p:to>
                                    </p:set>
                                    <p:animEffect filter="wipe(left)">
                                      <p:cBhvr>
                                        <p:cTn id="7" dur="500"/>
                                        <p:tgtEl>
                                          <p:spTgt spid="3189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1780"/>
                                        </p:tgtEl>
                                        <p:attrNameLst>
                                          <p:attrName>style.visibility</p:attrName>
                                        </p:attrNameLst>
                                      </p:cBhvr>
                                      <p:to>
                                        <p:strVal val="visible"/>
                                      </p:to>
                                    </p:set>
                                    <p:animEffect filter="wipe(down)">
                                      <p:cBhvr>
                                        <p:cTn id="12" dur="500"/>
                                        <p:tgtEl>
                                          <p:spTgt spid="31780"/>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1858"/>
                                        </p:tgtEl>
                                        <p:attrNameLst>
                                          <p:attrName>style.visibility</p:attrName>
                                        </p:attrNameLst>
                                      </p:cBhvr>
                                      <p:to>
                                        <p:strVal val="visible"/>
                                      </p:to>
                                    </p:set>
                                    <p:animEffect filter="slide(fromLeft)">
                                      <p:cBhvr>
                                        <p:cTn id="16" dur="500"/>
                                        <p:tgtEl>
                                          <p:spTgt spid="31858"/>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1889"/>
                                        </p:tgtEl>
                                        <p:attrNameLst>
                                          <p:attrName>style.visibility</p:attrName>
                                        </p:attrNameLst>
                                      </p:cBhvr>
                                      <p:to>
                                        <p:strVal val="visible"/>
                                      </p:to>
                                    </p:set>
                                    <p:anim calcmode="lin" valueType="num">
                                      <p:cBhvr>
                                        <p:cTn id="20" dur="500" fill="hold"/>
                                        <p:tgtEl>
                                          <p:spTgt spid="31889"/>
                                        </p:tgtEl>
                                        <p:attrNameLst>
                                          <p:attrName>ppt_x</p:attrName>
                                        </p:attrNameLst>
                                      </p:cBhvr>
                                      <p:tavLst>
                                        <p:tav tm="0">
                                          <p:val>
                                            <p:strVal val="#ppt_x"/>
                                          </p:val>
                                        </p:tav>
                                        <p:tav tm="100000">
                                          <p:val>
                                            <p:strVal val="#ppt_x"/>
                                          </p:val>
                                        </p:tav>
                                      </p:tavLst>
                                    </p:anim>
                                    <p:anim calcmode="lin" valueType="num">
                                      <p:cBhvr>
                                        <p:cTn id="21" dur="500" fill="hold"/>
                                        <p:tgtEl>
                                          <p:spTgt spid="3188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80" grpId="0" bldLvl="0" animBg="1"/>
      <p:bldP spid="31889" grpId="0" bldLvl="0" animBg="1"/>
      <p:bldP spid="31890" grpId="0" build="p" bldLvl="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25602"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67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772" name="Rectangle 3"/>
          <p:cNvSpPr>
            <a:spLocks noChangeArrowheads="1"/>
          </p:cNvSpPr>
          <p:nvPr/>
        </p:nvSpPr>
        <p:spPr bwMode="auto">
          <a:xfrm>
            <a:off x="5867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04" name="Rectangle 4"/>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05" name="Rectangle 5"/>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6" name="Rectangle 6"/>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7" name="Rectangle 7"/>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8" name="Rectangle 8"/>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9" name="Rectangle 9"/>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0" name="Rectangle 10"/>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1" name="Rectangle 11"/>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2" name="Rectangle 12"/>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13" name="Rectangle 13"/>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4" name="Rectangle 14"/>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5" name="Rectangle 15"/>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6" name="Rectangle 16"/>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7" name="Rectangle 17"/>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8" name="Rectangle 18"/>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9" name="Rectangle 19"/>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0" name="Rectangle 20"/>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21" name="Rectangle 21"/>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2" name="Rectangle 22"/>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3" name="Rectangle 23"/>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4" name="Rectangle 24"/>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5" name="Rectangle 25"/>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6" name="Rectangle 26"/>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7" name="Rectangle 27"/>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8" name="Rectangle 28"/>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29" name="Rectangle 29"/>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0" name="Rectangle 30"/>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1" name="Rectangle 31"/>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2" name="Rectangle 32"/>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3" name="Rectangle 33"/>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4" name="Rectangle 34"/>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5" name="Rectangle 35"/>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6" name="Rectangle 36"/>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37"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8"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9"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0"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1"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2"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3"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5644"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5"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6"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7"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8"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9"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0"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1"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5652"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3"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4"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5"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6"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7"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8"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9"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0"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1"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2"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3"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4"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5"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6"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7"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8"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9"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0"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1"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2"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3"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4"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5"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6"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7"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8"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9"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0"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1"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2"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3"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4"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5"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6"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7"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8"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9"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0"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1"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2"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3"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4"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5"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6"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7"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8"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9"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700"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701"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702"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2872"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8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704"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5705"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5706"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5707"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5708"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5709"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5710"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5711"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5712"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5713"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5714"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5715"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5716"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5717"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5718"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5719"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5720"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5721"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5722"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5723"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2893" name="Rectangle 125"/>
          <p:cNvSpPr>
            <a:spLocks noChangeArrowheads="1"/>
          </p:cNvSpPr>
          <p:nvPr/>
        </p:nvSpPr>
        <p:spPr bwMode="auto">
          <a:xfrm>
            <a:off x="2362200" y="1299639"/>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25725" name="Group 126"/>
          <p:cNvGrpSpPr/>
          <p:nvPr/>
        </p:nvGrpSpPr>
        <p:grpSpPr bwMode="auto">
          <a:xfrm>
            <a:off x="2438400" y="1676401"/>
            <a:ext cx="1447800" cy="4494213"/>
            <a:chOff x="0" y="0"/>
            <a:chExt cx="1056" cy="1392"/>
          </a:xfrm>
        </p:grpSpPr>
        <p:sp>
          <p:nvSpPr>
            <p:cNvPr id="25726"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5727"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5728"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5729"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5730"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5731"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5732"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5733"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5734"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2904" name="Rectangle 136"/>
          <p:cNvSpPr>
            <a:spLocks noChangeArrowheads="1"/>
          </p:cNvSpPr>
          <p:nvPr/>
        </p:nvSpPr>
        <p:spPr bwMode="auto">
          <a:xfrm>
            <a:off x="2438401" y="40211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5736"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13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2893">
                                            <p:txEl>
                                              <p:pRg st="0" end="0"/>
                                            </p:txEl>
                                          </p:spTgt>
                                        </p:tgtEl>
                                        <p:attrNameLst>
                                          <p:attrName>style.visibility</p:attrName>
                                        </p:attrNameLst>
                                      </p:cBhvr>
                                      <p:to>
                                        <p:strVal val="visible"/>
                                      </p:to>
                                    </p:set>
                                    <p:animEffect filter="wipe(left)">
                                      <p:cBhvr>
                                        <p:cTn id="7" dur="500"/>
                                        <p:tgtEl>
                                          <p:spTgt spid="3289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2772"/>
                                        </p:tgtEl>
                                        <p:attrNameLst>
                                          <p:attrName>style.visibility</p:attrName>
                                        </p:attrNameLst>
                                      </p:cBhvr>
                                      <p:to>
                                        <p:strVal val="visible"/>
                                      </p:to>
                                    </p:set>
                                    <p:animEffect filter="wipe(left)">
                                      <p:cBhvr>
                                        <p:cTn id="12" dur="500"/>
                                        <p:tgtEl>
                                          <p:spTgt spid="32772"/>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2872"/>
                                        </p:tgtEl>
                                        <p:attrNameLst>
                                          <p:attrName>style.visibility</p:attrName>
                                        </p:attrNameLst>
                                      </p:cBhvr>
                                      <p:to>
                                        <p:strVal val="visible"/>
                                      </p:to>
                                    </p:set>
                                    <p:animEffect filter="slide(fromLeft)">
                                      <p:cBhvr>
                                        <p:cTn id="16" dur="500"/>
                                        <p:tgtEl>
                                          <p:spTgt spid="32872"/>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2904"/>
                                        </p:tgtEl>
                                        <p:attrNameLst>
                                          <p:attrName>style.visibility</p:attrName>
                                        </p:attrNameLst>
                                      </p:cBhvr>
                                      <p:to>
                                        <p:strVal val="visible"/>
                                      </p:to>
                                    </p:set>
                                    <p:anim calcmode="lin" valueType="num">
                                      <p:cBhvr>
                                        <p:cTn id="20" dur="500" fill="hold"/>
                                        <p:tgtEl>
                                          <p:spTgt spid="32904"/>
                                        </p:tgtEl>
                                        <p:attrNameLst>
                                          <p:attrName>ppt_x</p:attrName>
                                        </p:attrNameLst>
                                      </p:cBhvr>
                                      <p:tavLst>
                                        <p:tav tm="0">
                                          <p:val>
                                            <p:strVal val="#ppt_x"/>
                                          </p:val>
                                        </p:tav>
                                        <p:tav tm="100000">
                                          <p:val>
                                            <p:strVal val="#ppt_x"/>
                                          </p:val>
                                        </p:tav>
                                      </p:tavLst>
                                    </p:anim>
                                    <p:anim calcmode="lin" valueType="num">
                                      <p:cBhvr>
                                        <p:cTn id="21" dur="500" fill="hold"/>
                                        <p:tgtEl>
                                          <p:spTgt spid="3290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2" grpId="0" bldLvl="0" animBg="1"/>
      <p:bldP spid="32893" grpId="0" build="p" bldLvl="0"/>
      <p:bldP spid="32904" grpId="0" bldLvl="0" animBg="1"/>
    </p:bldLst>
  </p:timing>
</p:sld>
</file>

<file path=ppt/slides/slide1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3794" name="Rectangle 7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3795" name="Rectangle 135"/>
          <p:cNvSpPr>
            <a:spLocks noGrp="1"/>
          </p:cNvSpPr>
          <p:nvPr>
            <p:ph type="body" idx="4294967295"/>
          </p:nvPr>
        </p:nvSpPr>
        <p:spPr>
          <a:xfrm>
            <a:off x="4114800" y="1216025"/>
            <a:ext cx="7700962" cy="574675"/>
          </a:xfrm>
        </p:spPr>
        <p:txBody>
          <a:bodyPr vert="horz" wrap="square" anchor="ctr"/>
          <a:lstStyle/>
          <a:p>
            <a:pPr lvl="1">
              <a:buFont typeface="Wingdings" panose="05000000000000000000" pitchFamily="2" charset="2"/>
              <a:buNone/>
            </a:pPr>
            <a:r>
              <a:rPr lang="en-US" altLang="zh-CN" noProof="1"/>
              <a:t>			</a:t>
            </a:r>
            <a:r>
              <a:rPr lang="zh-CN" altLang="en-US" sz="2200" b="1" noProof="1"/>
              <a:t>向下方前进一步</a:t>
            </a:r>
          </a:p>
        </p:txBody>
      </p:sp>
      <p:pic>
        <p:nvPicPr>
          <p:cNvPr id="26627"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8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6628"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29"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0"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1"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2"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3"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4"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5"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6"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37"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8"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9"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0"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1"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2"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3"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4"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45"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6"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7"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8"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9"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0"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1"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2"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53"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4"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5"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6"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7"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8"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9"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0"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61"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1" name="Rectangle 37"/>
          <p:cNvSpPr>
            <a:spLocks noChangeArrowheads="1"/>
          </p:cNvSpPr>
          <p:nvPr/>
        </p:nvSpPr>
        <p:spPr bwMode="auto">
          <a:xfrm>
            <a:off x="6248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63"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4"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5"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6"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7"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8"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6669"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0"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1"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2"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3"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4"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5"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6"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6677"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8"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9"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0"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1"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2"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3"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4"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5"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6"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7"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8"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9"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90"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91"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92" name="Rectangle 67"/>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8</a:t>
            </a:r>
            <a:endParaRPr lang="en-US" altLang="zh-CN"/>
          </a:p>
        </p:txBody>
      </p:sp>
      <p:sp>
        <p:nvSpPr>
          <p:cNvPr id="26693" name="Rectangle 68"/>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1</a:t>
            </a:r>
            <a:endParaRPr lang="en-US" altLang="zh-CN"/>
          </a:p>
        </p:txBody>
      </p:sp>
      <p:sp>
        <p:nvSpPr>
          <p:cNvPr id="26694" name="Rectangle 69"/>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2</a:t>
            </a:r>
            <a:endParaRPr lang="en-US" altLang="zh-CN"/>
          </a:p>
        </p:txBody>
      </p:sp>
      <p:sp>
        <p:nvSpPr>
          <p:cNvPr id="26695" name="Rectangle 70"/>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3</a:t>
            </a:r>
            <a:endParaRPr lang="en-US" altLang="zh-CN"/>
          </a:p>
        </p:txBody>
      </p:sp>
      <p:sp>
        <p:nvSpPr>
          <p:cNvPr id="26696" name="Rectangle 71"/>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4</a:t>
            </a:r>
            <a:endParaRPr lang="en-US" altLang="zh-CN"/>
          </a:p>
        </p:txBody>
      </p:sp>
      <p:sp>
        <p:nvSpPr>
          <p:cNvPr id="26697" name="Rectangle 72"/>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5</a:t>
            </a:r>
            <a:endParaRPr lang="en-US" altLang="zh-CN"/>
          </a:p>
        </p:txBody>
      </p:sp>
      <p:sp>
        <p:nvSpPr>
          <p:cNvPr id="26698" name="Rectangle 73"/>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6</a:t>
            </a:r>
            <a:endParaRPr lang="en-US" altLang="zh-CN"/>
          </a:p>
        </p:txBody>
      </p:sp>
      <p:sp>
        <p:nvSpPr>
          <p:cNvPr id="26699" name="Rectangle 74"/>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7</a:t>
            </a:r>
            <a:endParaRPr lang="en-US" altLang="zh-CN"/>
          </a:p>
        </p:txBody>
      </p:sp>
      <p:sp>
        <p:nvSpPr>
          <p:cNvPr id="26700" name="Rectangle 7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1" name="Rectangle 7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2" name="Rectangle 7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3" name="Rectangle 7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4" name="Rectangle 8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5" name="Rectangle 8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6" name="Rectangle 8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7" name="Rectangle 8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8" name="Rectangle 8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9" name="Rectangle 8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0" name="Rectangle 8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1" name="Rectangle 8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2" name="Rectangle 8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3" name="Rectangle 8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4" name="Rectangle 9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5" name="Rectangle 9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6" name="Rectangle 9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7" name="Rectangle 9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8" name="Rectangle 9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9" name="Rectangle 9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0" name="Rectangle 9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1" name="Rectangle 9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2" name="Rectangle 9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3" name="Rectangle 9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4" name="Rectangle 10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5" name="Rectangle 10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6" name="Rectangle 10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27" name="Rectangle 10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8" name="Rectangle 10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9" name="Rectangle 10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0" name="Rectangle 10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1" name="Rectangle 10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2" name="Rectangle 10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3" name="Rectangle 10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4" name="Rectangle 11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5" name="Rectangle 11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6" name="Rectangle 11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0</a:t>
            </a:r>
            <a:endParaRPr lang="en-US" altLang="zh-CN"/>
          </a:p>
        </p:txBody>
      </p:sp>
      <p:sp>
        <p:nvSpPr>
          <p:cNvPr id="26737" name="Rectangle 11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9</a:t>
            </a:r>
            <a:endParaRPr lang="en-US" altLang="zh-CN"/>
          </a:p>
        </p:txBody>
      </p:sp>
      <p:pic>
        <p:nvPicPr>
          <p:cNvPr id="33907" name="Picture 11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8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6739" name="Rectangle 11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6740" name="Rectangle 11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6741" name="Rectangle 11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6742" name="Rectangle 11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6743" name="Rectangle 11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6744" name="Rectangle 12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6745" name="Rectangle 12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6746" name="Rectangle 12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6747" name="Rectangle 12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6748" name="Rectangle 12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6749" name="Rectangle 12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6750" name="Rectangle 12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6751" name="Rectangle 12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6752" name="Rectangle 12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6753" name="Rectangle 12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6754" name="Rectangle 13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6755" name="Rectangle 13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6756" name="Rectangle 13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6757" name="Rectangle 13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6758" name="Rectangle 13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6759" name="Group 136"/>
          <p:cNvGrpSpPr/>
          <p:nvPr/>
        </p:nvGrpSpPr>
        <p:grpSpPr bwMode="auto">
          <a:xfrm>
            <a:off x="2438400" y="1676401"/>
            <a:ext cx="1447800" cy="4494213"/>
            <a:chOff x="0" y="0"/>
            <a:chExt cx="1056" cy="1392"/>
          </a:xfrm>
        </p:grpSpPr>
        <p:sp>
          <p:nvSpPr>
            <p:cNvPr id="26760" name="Line 13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6761" name="Line 13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6762" name="Line 13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6763" name="Text Box 14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6764" name="Rectangle 14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6765" name="Rectangle 14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6766" name="Rectangle 14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6767" name="Rectangle 14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6768" name="Rectangle 14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3938" name="Rectangle 146"/>
          <p:cNvSpPr>
            <a:spLocks noChangeArrowheads="1"/>
          </p:cNvSpPr>
          <p:nvPr/>
        </p:nvSpPr>
        <p:spPr bwMode="auto">
          <a:xfrm>
            <a:off x="2438401" y="37163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26770" name="Rectangle 14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6771" name="Rectangle 14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15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3795">
                                            <p:txEl>
                                              <p:pRg st="0" end="0"/>
                                            </p:txEl>
                                          </p:spTgt>
                                        </p:tgtEl>
                                        <p:attrNameLst>
                                          <p:attrName>style.visibility</p:attrName>
                                        </p:attrNameLst>
                                      </p:cBhvr>
                                      <p:to>
                                        <p:strVal val="visible"/>
                                      </p:to>
                                    </p:set>
                                    <p:animEffect filter="wipe(left)">
                                      <p:cBhvr>
                                        <p:cTn id="7" dur="500"/>
                                        <p:tgtEl>
                                          <p:spTgt spid="3379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3831"/>
                                        </p:tgtEl>
                                        <p:attrNameLst>
                                          <p:attrName>style.visibility</p:attrName>
                                        </p:attrNameLst>
                                      </p:cBhvr>
                                      <p:to>
                                        <p:strVal val="visible"/>
                                      </p:to>
                                    </p:set>
                                    <p:animEffect filter="wipe(up)">
                                      <p:cBhvr>
                                        <p:cTn id="12" dur="500"/>
                                        <p:tgtEl>
                                          <p:spTgt spid="33831"/>
                                        </p:tgtEl>
                                      </p:cBhvr>
                                    </p:animEffect>
                                  </p:childTnLst>
                                </p:cTn>
                              </p:par>
                            </p:childTnLst>
                          </p:cTn>
                        </p:par>
                        <p:par>
                          <p:cTn id="13" fill="hold">
                            <p:stCondLst>
                              <p:cond delay="500"/>
                            </p:stCondLst>
                            <p:childTnLst>
                              <p:par>
                                <p:cTn id="14" presetID="12" presetClass="entr" presetSubtype="1" fill="hold" nodeType="afterEffect">
                                  <p:stCondLst>
                                    <p:cond delay="0"/>
                                  </p:stCondLst>
                                  <p:childTnLst>
                                    <p:set>
                                      <p:cBhvr>
                                        <p:cTn id="15" dur="1" fill="hold">
                                          <p:stCondLst>
                                            <p:cond delay="0"/>
                                          </p:stCondLst>
                                        </p:cTn>
                                        <p:tgtEl>
                                          <p:spTgt spid="33907"/>
                                        </p:tgtEl>
                                        <p:attrNameLst>
                                          <p:attrName>style.visibility</p:attrName>
                                        </p:attrNameLst>
                                      </p:cBhvr>
                                      <p:to>
                                        <p:strVal val="visible"/>
                                      </p:to>
                                    </p:set>
                                    <p:animEffect filter="slide(fromTop)">
                                      <p:cBhvr>
                                        <p:cTn id="16" dur="500"/>
                                        <p:tgtEl>
                                          <p:spTgt spid="33907"/>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3938"/>
                                        </p:tgtEl>
                                        <p:attrNameLst>
                                          <p:attrName>style.visibility</p:attrName>
                                        </p:attrNameLst>
                                      </p:cBhvr>
                                      <p:to>
                                        <p:strVal val="visible"/>
                                      </p:to>
                                    </p:set>
                                    <p:anim calcmode="lin" valueType="num">
                                      <p:cBhvr>
                                        <p:cTn id="20" dur="500" fill="hold"/>
                                        <p:tgtEl>
                                          <p:spTgt spid="33938"/>
                                        </p:tgtEl>
                                        <p:attrNameLst>
                                          <p:attrName>ppt_x</p:attrName>
                                        </p:attrNameLst>
                                      </p:cBhvr>
                                      <p:tavLst>
                                        <p:tav tm="0">
                                          <p:val>
                                            <p:strVal val="#ppt_x"/>
                                          </p:val>
                                        </p:tav>
                                        <p:tav tm="100000">
                                          <p:val>
                                            <p:strVal val="#ppt_x"/>
                                          </p:val>
                                        </p:tav>
                                      </p:tavLst>
                                    </p:anim>
                                    <p:anim calcmode="lin" valueType="num">
                                      <p:cBhvr>
                                        <p:cTn id="21" dur="500" fill="hold"/>
                                        <p:tgtEl>
                                          <p:spTgt spid="339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5" grpId="0" build="p" bldLvl="0"/>
      <p:bldP spid="33831" grpId="0" bldLvl="0" animBg="1"/>
      <p:bldP spid="33938" grpId="0" bldLvl="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66"/>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pic>
        <p:nvPicPr>
          <p:cNvPr id="2765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8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7651"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52"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3"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4"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5"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6"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7"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8"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9"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60"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1"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2"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3"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4"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5"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6"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7"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68"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9"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0"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1"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2"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3"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4"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5"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76"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7"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8"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9"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0"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1"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2"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3"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84"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85"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86"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7"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8"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9"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0"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1"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7692"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3" name="Rectangle 45"/>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4" name="Rectangle 46"/>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5" name="Rectangle 47"/>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6" name="Rectangle 48"/>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7" name="Rectangle 49"/>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8" name="Rectangle 50"/>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7699" name="Rectangle 51"/>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0" name="Rectangle 52"/>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1" name="Rectangle 53"/>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2" name="Rectangle 54"/>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3" name="Rectangle 55"/>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4" name="Rectangle 56"/>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5" name="Rectangle 57"/>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6" name="Rectangle 58"/>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7" name="Rectangle 59"/>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8" name="Rectangle 60"/>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9" name="Rectangle 61"/>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0" name="Rectangle 62"/>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1" name="Rectangle 63"/>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2" name="Rectangle 64"/>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3" name="Rectangle 65"/>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4" name="Rectangle 67"/>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5" name="Rectangle 68"/>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6" name="Rectangle 69"/>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7" name="Rectangle 70"/>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8" name="Rectangle 71"/>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9" name="Rectangle 72"/>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0" name="Rectangle 73"/>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1" name="Rectangle 74"/>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2" name="Rectangle 75"/>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3" name="Rectangle 76"/>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4" name="Rectangle 77"/>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5" name="Rectangle 78"/>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6" name="Rectangle 79"/>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7" name="Rectangle 80"/>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8" name="Rectangle 81"/>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9" name="Rectangle 82"/>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0" name="Rectangle 83"/>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1" name="Rectangle 84"/>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2" name="Rectangle 85"/>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3" name="Rectangle 86"/>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4" name="Rectangle 87"/>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5" name="Rectangle 88"/>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6" name="Rectangle 89"/>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7" name="Rectangle 90"/>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8" name="Rectangle 91"/>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9" name="Rectangle 92"/>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40" name="Rectangle 93"/>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1" name="Rectangle 94"/>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2" name="Rectangle 95"/>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3" name="Rectangle 96"/>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4" name="Rectangle 97"/>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5" name="Rectangle 98"/>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6" name="Rectangle 99"/>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7" name="Rectangle 100"/>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8" name="Rectangle 101"/>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9" name="Rectangle 102"/>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4919" name="Picture 10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29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7751" name="Rectangle 104"/>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7752" name="Rectangle 105"/>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7753" name="Rectangle 106"/>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7754" name="Rectangle 107"/>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7755" name="Rectangle 108"/>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7756" name="Rectangle 109"/>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7757" name="Rectangle 110"/>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7758" name="Rectangle 111"/>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7759" name="Rectangle 112"/>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7760" name="Rectangle 113"/>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7761" name="Rectangle 114"/>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7762" name="Rectangle 115"/>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7763" name="Rectangle 116"/>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7764" name="Rectangle 117"/>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7765" name="Rectangle 118"/>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7766" name="Rectangle 119"/>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7767" name="Rectangle 120"/>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7768" name="Rectangle 121"/>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7769" name="Rectangle 122"/>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7770" name="Rectangle 123"/>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4940" name="Rectangle 124"/>
          <p:cNvSpPr>
            <a:spLocks noChangeArrowheads="1"/>
          </p:cNvSpPr>
          <p:nvPr/>
        </p:nvSpPr>
        <p:spPr bwMode="auto">
          <a:xfrm>
            <a:off x="3237390" y="1286920"/>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27772" name="Group 125"/>
          <p:cNvGrpSpPr/>
          <p:nvPr/>
        </p:nvGrpSpPr>
        <p:grpSpPr bwMode="auto">
          <a:xfrm>
            <a:off x="2438400" y="1676401"/>
            <a:ext cx="1447800" cy="4494213"/>
            <a:chOff x="0" y="0"/>
            <a:chExt cx="1056" cy="1392"/>
          </a:xfrm>
        </p:grpSpPr>
        <p:sp>
          <p:nvSpPr>
            <p:cNvPr id="27773"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7774"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7775"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7776"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7777"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7778"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7779" name="Rectangle 132"/>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7780" name="Rectangle 133"/>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7781" name="Rectangle 134"/>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4951" name="Rectangle 135"/>
          <p:cNvSpPr>
            <a:spLocks noChangeArrowheads="1"/>
          </p:cNvSpPr>
          <p:nvPr/>
        </p:nvSpPr>
        <p:spPr bwMode="auto">
          <a:xfrm>
            <a:off x="2438401" y="34115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27783" name="Rectangle 136"/>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7784" name="Rectangle 137"/>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7785" name="Rectangle 138"/>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4955" name="Rectangle 139"/>
          <p:cNvSpPr>
            <a:spLocks noChangeArrowheads="1"/>
          </p:cNvSpPr>
          <p:nvPr/>
        </p:nvSpPr>
        <p:spPr bwMode="auto">
          <a:xfrm>
            <a:off x="6248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41"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4940">
                                            <p:txEl>
                                              <p:pRg st="0" end="0"/>
                                            </p:txEl>
                                          </p:spTgt>
                                        </p:tgtEl>
                                        <p:attrNameLst>
                                          <p:attrName>style.visibility</p:attrName>
                                        </p:attrNameLst>
                                      </p:cBhvr>
                                      <p:to>
                                        <p:strVal val="visible"/>
                                      </p:to>
                                    </p:set>
                                    <p:animEffect filter="wipe(left)">
                                      <p:cBhvr>
                                        <p:cTn id="7" dur="500"/>
                                        <p:tgtEl>
                                          <p:spTgt spid="3494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4955"/>
                                        </p:tgtEl>
                                        <p:attrNameLst>
                                          <p:attrName>style.visibility</p:attrName>
                                        </p:attrNameLst>
                                      </p:cBhvr>
                                      <p:to>
                                        <p:strVal val="visible"/>
                                      </p:to>
                                    </p:set>
                                    <p:animEffect filter="wipe(left)">
                                      <p:cBhvr>
                                        <p:cTn id="12" dur="500"/>
                                        <p:tgtEl>
                                          <p:spTgt spid="34955"/>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4919"/>
                                        </p:tgtEl>
                                        <p:attrNameLst>
                                          <p:attrName>style.visibility</p:attrName>
                                        </p:attrNameLst>
                                      </p:cBhvr>
                                      <p:to>
                                        <p:strVal val="visible"/>
                                      </p:to>
                                    </p:set>
                                    <p:animEffect filter="slide(fromLeft)">
                                      <p:cBhvr>
                                        <p:cTn id="16" dur="500"/>
                                        <p:tgtEl>
                                          <p:spTgt spid="34919"/>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4951"/>
                                        </p:tgtEl>
                                        <p:attrNameLst>
                                          <p:attrName>style.visibility</p:attrName>
                                        </p:attrNameLst>
                                      </p:cBhvr>
                                      <p:to>
                                        <p:strVal val="visible"/>
                                      </p:to>
                                    </p:set>
                                    <p:anim calcmode="lin" valueType="num">
                                      <p:cBhvr>
                                        <p:cTn id="20" dur="500" fill="hold"/>
                                        <p:tgtEl>
                                          <p:spTgt spid="34951"/>
                                        </p:tgtEl>
                                        <p:attrNameLst>
                                          <p:attrName>ppt_x</p:attrName>
                                        </p:attrNameLst>
                                      </p:cBhvr>
                                      <p:tavLst>
                                        <p:tav tm="0">
                                          <p:val>
                                            <p:strVal val="#ppt_x"/>
                                          </p:val>
                                        </p:tav>
                                        <p:tav tm="100000">
                                          <p:val>
                                            <p:strVal val="#ppt_x"/>
                                          </p:val>
                                        </p:tav>
                                      </p:tavLst>
                                    </p:anim>
                                    <p:anim calcmode="lin" valueType="num">
                                      <p:cBhvr>
                                        <p:cTn id="21" dur="500" fill="hold"/>
                                        <p:tgtEl>
                                          <p:spTgt spid="3495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40" grpId="0" build="p" bldLvl="0"/>
      <p:bldP spid="34951" grpId="0" bldLvl="0" animBg="1"/>
      <p:bldP spid="34955" grpId="0" bldLvl="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286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29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8675"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676"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77"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78"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79"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0"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1"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2"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3"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684"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5"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6"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7"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8"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9"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0"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1"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692"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3"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4"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5"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6"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7"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8"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9"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00"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1"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2"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3"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4"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5"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6"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7"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08"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09"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10"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1"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2"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3"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4"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5"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8716"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7"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5887" name="Rectangle 46"/>
          <p:cNvSpPr>
            <a:spLocks noChangeArrowheads="1"/>
          </p:cNvSpPr>
          <p:nvPr/>
        </p:nvSpPr>
        <p:spPr bwMode="auto">
          <a:xfrm>
            <a:off x="6629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19"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0"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1"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2"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3"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8724"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5"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6"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7"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8"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9"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0"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1"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2"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3"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4"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5"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6"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7"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8"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9"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0"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1"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2"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3"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4"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5"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6"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7"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8"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9"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0"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1"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2"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3"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4"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5"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6"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7"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8"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9"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0"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1"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2"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3"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4"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5"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6"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7"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8"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9"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0"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1"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2"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3"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4"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35944"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10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8776"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8777"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8778"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8779"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8780"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8781"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8782"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8783"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8784"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8785"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8786"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8787"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8788"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8789"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8790"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8791"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8792"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8793"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8794"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8795"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5965" name="Rectangle 125"/>
          <p:cNvSpPr>
            <a:spLocks noChangeArrowheads="1"/>
          </p:cNvSpPr>
          <p:nvPr/>
        </p:nvSpPr>
        <p:spPr bwMode="auto">
          <a:xfrm>
            <a:off x="3314700" y="1247399"/>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28797" name="Group 126"/>
          <p:cNvGrpSpPr/>
          <p:nvPr/>
        </p:nvGrpSpPr>
        <p:grpSpPr bwMode="auto">
          <a:xfrm>
            <a:off x="2438400" y="1676401"/>
            <a:ext cx="1447800" cy="4494213"/>
            <a:chOff x="0" y="0"/>
            <a:chExt cx="1056" cy="1392"/>
          </a:xfrm>
        </p:grpSpPr>
        <p:sp>
          <p:nvSpPr>
            <p:cNvPr id="28798"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799"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800"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8801"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8802"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8803"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8804"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8805"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8806"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5976" name="Rectangle 136"/>
          <p:cNvSpPr>
            <a:spLocks noChangeArrowheads="1"/>
          </p:cNvSpPr>
          <p:nvPr/>
        </p:nvSpPr>
        <p:spPr bwMode="auto">
          <a:xfrm>
            <a:off x="2438401" y="31067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28808"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8809"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8810"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28811"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142"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5965">
                                            <p:txEl>
                                              <p:pRg st="0" end="0"/>
                                            </p:txEl>
                                          </p:spTgt>
                                        </p:tgtEl>
                                        <p:attrNameLst>
                                          <p:attrName>style.visibility</p:attrName>
                                        </p:attrNameLst>
                                      </p:cBhvr>
                                      <p:to>
                                        <p:strVal val="visible"/>
                                      </p:to>
                                    </p:set>
                                    <p:animEffect filter="wipe(left)">
                                      <p:cBhvr>
                                        <p:cTn id="7" dur="500"/>
                                        <p:tgtEl>
                                          <p:spTgt spid="3596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5887"/>
                                        </p:tgtEl>
                                        <p:attrNameLst>
                                          <p:attrName>style.visibility</p:attrName>
                                        </p:attrNameLst>
                                      </p:cBhvr>
                                      <p:to>
                                        <p:strVal val="visible"/>
                                      </p:to>
                                    </p:set>
                                    <p:animEffect filter="wipe(left)">
                                      <p:cBhvr>
                                        <p:cTn id="12" dur="500"/>
                                        <p:tgtEl>
                                          <p:spTgt spid="35887"/>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5944"/>
                                        </p:tgtEl>
                                        <p:attrNameLst>
                                          <p:attrName>style.visibility</p:attrName>
                                        </p:attrNameLst>
                                      </p:cBhvr>
                                      <p:to>
                                        <p:strVal val="visible"/>
                                      </p:to>
                                    </p:set>
                                    <p:animEffect filter="slide(fromLeft)">
                                      <p:cBhvr>
                                        <p:cTn id="16" dur="500"/>
                                        <p:tgtEl>
                                          <p:spTgt spid="35944"/>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5976"/>
                                        </p:tgtEl>
                                        <p:attrNameLst>
                                          <p:attrName>style.visibility</p:attrName>
                                        </p:attrNameLst>
                                      </p:cBhvr>
                                      <p:to>
                                        <p:strVal val="visible"/>
                                      </p:to>
                                    </p:set>
                                    <p:anim calcmode="lin" valueType="num">
                                      <p:cBhvr>
                                        <p:cTn id="20" dur="500" fill="hold"/>
                                        <p:tgtEl>
                                          <p:spTgt spid="35976"/>
                                        </p:tgtEl>
                                        <p:attrNameLst>
                                          <p:attrName>ppt_x</p:attrName>
                                        </p:attrNameLst>
                                      </p:cBhvr>
                                      <p:tavLst>
                                        <p:tav tm="0">
                                          <p:val>
                                            <p:strVal val="#ppt_x"/>
                                          </p:val>
                                        </p:tav>
                                        <p:tav tm="100000">
                                          <p:val>
                                            <p:strVal val="#ppt_x"/>
                                          </p:val>
                                        </p:tav>
                                      </p:tavLst>
                                    </p:anim>
                                    <p:anim calcmode="lin" valueType="num">
                                      <p:cBhvr>
                                        <p:cTn id="21" dur="500" fill="hold"/>
                                        <p:tgtEl>
                                          <p:spTgt spid="359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87" grpId="0" bldLvl="0" animBg="1"/>
      <p:bldP spid="35965" grpId="0" build="p" bldLvl="0"/>
      <p:bldP spid="35976" grpId="0" bldLvl="0" animBg="1"/>
    </p:bldLst>
  </p:timing>
</p:sld>
</file>

<file path=ppt/slides/slide12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866" name="Rectangle 7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sp>
        <p:nvSpPr>
          <p:cNvPr id="36867" name="Rectangle 135"/>
          <p:cNvSpPr>
            <a:spLocks noGrp="1"/>
          </p:cNvSpPr>
          <p:nvPr>
            <p:ph type="body" idx="4294967295"/>
          </p:nvPr>
        </p:nvSpPr>
        <p:spPr>
          <a:xfrm>
            <a:off x="4112419" y="1269999"/>
            <a:ext cx="7700962" cy="574675"/>
          </a:xfrm>
        </p:spPr>
        <p:txBody>
          <a:bodyPr vert="horz" wrap="square" anchor="ctr"/>
          <a:lstStyle/>
          <a:p>
            <a:pPr marL="273050" indent="-273050">
              <a:buNone/>
            </a:pPr>
            <a:r>
              <a:rPr lang="en-US" altLang="zh-CN" sz="2000" noProof="1"/>
              <a:t>			</a:t>
            </a:r>
            <a:r>
              <a:rPr lang="zh-CN" altLang="en-US" sz="2200" b="1" noProof="1"/>
              <a:t>向下方前进一步</a:t>
            </a:r>
          </a:p>
        </p:txBody>
      </p:sp>
      <p:pic>
        <p:nvPicPr>
          <p:cNvPr id="29699"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10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700"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01"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2"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3"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4"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5"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6"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7"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8"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09"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0"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1"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2"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3"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4"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5"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6"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17"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8"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9"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0"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1"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2"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3"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4"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25"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6"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7"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8"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9"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0"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1"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2"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33"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34"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35"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6"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7"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8"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9"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0"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9741"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2"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43"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6913" name="Rectangle 47"/>
          <p:cNvSpPr>
            <a:spLocks noChangeArrowheads="1"/>
          </p:cNvSpPr>
          <p:nvPr/>
        </p:nvSpPr>
        <p:spPr bwMode="auto">
          <a:xfrm>
            <a:off x="7010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45"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6"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7"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8"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9749"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0"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1"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2"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3"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4"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5"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6"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7"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8"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9"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0"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1"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2"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3"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4" name="Rectangle 67"/>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8</a:t>
            </a:r>
            <a:endParaRPr lang="en-US" altLang="zh-CN"/>
          </a:p>
        </p:txBody>
      </p:sp>
      <p:sp>
        <p:nvSpPr>
          <p:cNvPr id="29765" name="Rectangle 68"/>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1</a:t>
            </a:r>
            <a:endParaRPr lang="en-US" altLang="zh-CN"/>
          </a:p>
        </p:txBody>
      </p:sp>
      <p:sp>
        <p:nvSpPr>
          <p:cNvPr id="29766" name="Rectangle 69"/>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2</a:t>
            </a:r>
            <a:endParaRPr lang="en-US" altLang="zh-CN"/>
          </a:p>
        </p:txBody>
      </p:sp>
      <p:sp>
        <p:nvSpPr>
          <p:cNvPr id="29767" name="Rectangle 70"/>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3</a:t>
            </a:r>
            <a:endParaRPr lang="en-US" altLang="zh-CN"/>
          </a:p>
        </p:txBody>
      </p:sp>
      <p:sp>
        <p:nvSpPr>
          <p:cNvPr id="29768" name="Rectangle 71"/>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4</a:t>
            </a:r>
            <a:endParaRPr lang="en-US" altLang="zh-CN"/>
          </a:p>
        </p:txBody>
      </p:sp>
      <p:sp>
        <p:nvSpPr>
          <p:cNvPr id="29769" name="Rectangle 72"/>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5</a:t>
            </a:r>
            <a:endParaRPr lang="en-US" altLang="zh-CN"/>
          </a:p>
        </p:txBody>
      </p:sp>
      <p:sp>
        <p:nvSpPr>
          <p:cNvPr id="29770" name="Rectangle 73"/>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6</a:t>
            </a:r>
            <a:endParaRPr lang="en-US" altLang="zh-CN"/>
          </a:p>
        </p:txBody>
      </p:sp>
      <p:sp>
        <p:nvSpPr>
          <p:cNvPr id="29771" name="Rectangle 74"/>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7</a:t>
            </a:r>
            <a:endParaRPr lang="en-US" altLang="zh-CN"/>
          </a:p>
        </p:txBody>
      </p:sp>
      <p:sp>
        <p:nvSpPr>
          <p:cNvPr id="29772" name="Rectangle 7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3" name="Rectangle 7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4" name="Rectangle 7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5" name="Rectangle 7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6" name="Rectangle 8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7" name="Rectangle 8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8" name="Rectangle 8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9" name="Rectangle 8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80" name="Rectangle 8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81" name="Rectangle 8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2" name="Rectangle 8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3" name="Rectangle 8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4" name="Rectangle 8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5" name="Rectangle 8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6" name="Rectangle 9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7" name="Rectangle 9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8" name="Rectangle 9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9" name="Rectangle 9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0" name="Rectangle 9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1" name="Rectangle 9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2" name="Rectangle 9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3" name="Rectangle 9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4" name="Rectangle 9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5" name="Rectangle 9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6" name="Rectangle 10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7" name="Rectangle 10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8" name="Rectangle 10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99" name="Rectangle 10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0" name="Rectangle 10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1" name="Rectangle 10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2" name="Rectangle 10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3" name="Rectangle 10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4" name="Rectangle 10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5" name="Rectangle 10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6" name="Rectangle 11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7" name="Rectangle 11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8" name="Rectangle 11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0</a:t>
            </a:r>
            <a:endParaRPr lang="en-US" altLang="zh-CN"/>
          </a:p>
        </p:txBody>
      </p:sp>
      <p:sp>
        <p:nvSpPr>
          <p:cNvPr id="29809" name="Rectangle 11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9</a:t>
            </a:r>
            <a:endParaRPr lang="en-US" altLang="zh-CN"/>
          </a:p>
        </p:txBody>
      </p:sp>
      <p:pic>
        <p:nvPicPr>
          <p:cNvPr id="36979" name="Picture 11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10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811" name="Rectangle 11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9812" name="Rectangle 11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9813" name="Rectangle 11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9814" name="Rectangle 11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9815" name="Rectangle 11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9816" name="Rectangle 12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9817" name="Rectangle 12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9818" name="Rectangle 12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9819" name="Rectangle 12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9820" name="Rectangle 12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9821" name="Rectangle 12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9822" name="Rectangle 12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9823" name="Rectangle 12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9824" name="Rectangle 12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9825" name="Rectangle 12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9826" name="Rectangle 13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9827" name="Rectangle 13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9828" name="Rectangle 13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9829" name="Rectangle 13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9830" name="Rectangle 13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9831" name="Group 136"/>
          <p:cNvGrpSpPr/>
          <p:nvPr/>
        </p:nvGrpSpPr>
        <p:grpSpPr bwMode="auto">
          <a:xfrm>
            <a:off x="2438400" y="1676401"/>
            <a:ext cx="1447800" cy="4494213"/>
            <a:chOff x="0" y="0"/>
            <a:chExt cx="1056" cy="1392"/>
          </a:xfrm>
        </p:grpSpPr>
        <p:sp>
          <p:nvSpPr>
            <p:cNvPr id="29832" name="Line 13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9833" name="Line 13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9834" name="Line 13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9835" name="Text Box 14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9836" name="Rectangle 14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9837" name="Rectangle 14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9838" name="Rectangle 14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9839" name="Rectangle 14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9840" name="Rectangle 14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7010" name="Rectangle 146"/>
          <p:cNvSpPr>
            <a:spLocks noChangeArrowheads="1"/>
          </p:cNvSpPr>
          <p:nvPr/>
        </p:nvSpPr>
        <p:spPr bwMode="auto">
          <a:xfrm>
            <a:off x="2438401" y="28019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29842" name="Rectangle 14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9843" name="Rectangle 14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9844" name="Rectangle 14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29845" name="Rectangle 15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29846" name="Rectangle 15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15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6867">
                                            <p:txEl>
                                              <p:pRg st="0" end="0"/>
                                            </p:txEl>
                                          </p:spTgt>
                                        </p:tgtEl>
                                        <p:attrNameLst>
                                          <p:attrName>style.visibility</p:attrName>
                                        </p:attrNameLst>
                                      </p:cBhvr>
                                      <p:to>
                                        <p:strVal val="visible"/>
                                      </p:to>
                                    </p:set>
                                    <p:animEffect filter="wipe(left)">
                                      <p:cBhvr>
                                        <p:cTn id="7" dur="500"/>
                                        <p:tgtEl>
                                          <p:spTgt spid="3686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6913"/>
                                        </p:tgtEl>
                                        <p:attrNameLst>
                                          <p:attrName>style.visibility</p:attrName>
                                        </p:attrNameLst>
                                      </p:cBhvr>
                                      <p:to>
                                        <p:strVal val="visible"/>
                                      </p:to>
                                    </p:set>
                                    <p:animEffect filter="wipe(up)">
                                      <p:cBhvr>
                                        <p:cTn id="12" dur="500"/>
                                        <p:tgtEl>
                                          <p:spTgt spid="36913"/>
                                        </p:tgtEl>
                                      </p:cBhvr>
                                    </p:animEffect>
                                  </p:childTnLst>
                                </p:cTn>
                              </p:par>
                            </p:childTnLst>
                          </p:cTn>
                        </p:par>
                        <p:par>
                          <p:cTn id="13" fill="hold">
                            <p:stCondLst>
                              <p:cond delay="500"/>
                            </p:stCondLst>
                            <p:childTnLst>
                              <p:par>
                                <p:cTn id="14" presetID="12" presetClass="entr" presetSubtype="1" fill="hold" nodeType="afterEffect">
                                  <p:stCondLst>
                                    <p:cond delay="0"/>
                                  </p:stCondLst>
                                  <p:childTnLst>
                                    <p:set>
                                      <p:cBhvr>
                                        <p:cTn id="15" dur="1" fill="hold">
                                          <p:stCondLst>
                                            <p:cond delay="0"/>
                                          </p:stCondLst>
                                        </p:cTn>
                                        <p:tgtEl>
                                          <p:spTgt spid="36979"/>
                                        </p:tgtEl>
                                        <p:attrNameLst>
                                          <p:attrName>style.visibility</p:attrName>
                                        </p:attrNameLst>
                                      </p:cBhvr>
                                      <p:to>
                                        <p:strVal val="visible"/>
                                      </p:to>
                                    </p:set>
                                    <p:animEffect filter="slide(fromTop)">
                                      <p:cBhvr>
                                        <p:cTn id="16" dur="500"/>
                                        <p:tgtEl>
                                          <p:spTgt spid="36979"/>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7010"/>
                                        </p:tgtEl>
                                        <p:attrNameLst>
                                          <p:attrName>style.visibility</p:attrName>
                                        </p:attrNameLst>
                                      </p:cBhvr>
                                      <p:to>
                                        <p:strVal val="visible"/>
                                      </p:to>
                                    </p:set>
                                    <p:anim calcmode="lin" valueType="num">
                                      <p:cBhvr>
                                        <p:cTn id="20" dur="500" fill="hold"/>
                                        <p:tgtEl>
                                          <p:spTgt spid="37010"/>
                                        </p:tgtEl>
                                        <p:attrNameLst>
                                          <p:attrName>ppt_x</p:attrName>
                                        </p:attrNameLst>
                                      </p:cBhvr>
                                      <p:tavLst>
                                        <p:tav tm="0">
                                          <p:val>
                                            <p:strVal val="#ppt_x"/>
                                          </p:val>
                                        </p:tav>
                                        <p:tav tm="100000">
                                          <p:val>
                                            <p:strVal val="#ppt_x"/>
                                          </p:val>
                                        </p:tav>
                                      </p:tavLst>
                                    </p:anim>
                                    <p:anim calcmode="lin" valueType="num">
                                      <p:cBhvr>
                                        <p:cTn id="21" dur="500" fill="hold"/>
                                        <p:tgtEl>
                                          <p:spTgt spid="3701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7" grpId="0" build="p" bldLvl="0"/>
      <p:bldP spid="36913" grpId="0" bldLvl="0" animBg="1"/>
      <p:bldP spid="37010" grpId="0" bldLvl="0" animBg="1"/>
    </p:bldLst>
  </p:timing>
</p:sld>
</file>

<file path=ppt/slides/slide12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890" name="Rectangle 67"/>
          <p:cNvSpPr>
            <a:spLocks noGrp="1"/>
          </p:cNvSpPr>
          <p:nvPr>
            <p:ph type="title" idx="4294967295"/>
          </p:nvPr>
        </p:nvSpPr>
        <p:spPr>
          <a:xfrm>
            <a:off x="0" y="0"/>
            <a:ext cx="8229600" cy="1143000"/>
          </a:xfrm>
        </p:spPr>
        <p:txBody>
          <a:bodyPr vert="horz" wrap="square" anchor="b"/>
          <a:lstStyle/>
          <a:p>
            <a:r>
              <a:rPr lang="en-US" altLang="zh-CN" b="1" noProof="1"/>
              <a:t> </a:t>
            </a:r>
            <a:endParaRPr lang="en-US" altLang="zh-CN" noProof="1"/>
          </a:p>
        </p:txBody>
      </p:sp>
      <p:sp>
        <p:nvSpPr>
          <p:cNvPr id="37891" name="Rectangle 125"/>
          <p:cNvSpPr>
            <a:spLocks noGrp="1"/>
          </p:cNvSpPr>
          <p:nvPr>
            <p:ph type="body" idx="4294967295"/>
          </p:nvPr>
        </p:nvSpPr>
        <p:spPr>
          <a:xfrm>
            <a:off x="4067452" y="1254125"/>
            <a:ext cx="7700962" cy="574675"/>
          </a:xfrm>
        </p:spPr>
        <p:txBody>
          <a:bodyPr vert="horz" wrap="square" anchor="ctr"/>
          <a:lstStyle/>
          <a:p>
            <a:pPr marL="273050" indent="-273050">
              <a:buNone/>
            </a:pPr>
            <a:r>
              <a:rPr lang="en-US" altLang="zh-CN" sz="2000" noProof="1"/>
              <a:t>			</a:t>
            </a:r>
            <a:r>
              <a:rPr lang="zh-CN" altLang="en-US" sz="2200" b="1" noProof="1"/>
              <a:t>向下方前进一步</a:t>
            </a:r>
          </a:p>
        </p:txBody>
      </p:sp>
      <p:pic>
        <p:nvPicPr>
          <p:cNvPr id="30723"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10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0724"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25"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6"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7"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8"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9"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0"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1"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2"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33"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4"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5"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6"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7"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8"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9"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0"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41"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2"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3"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4"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5"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6"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7"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8"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49"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0"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1"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2"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3"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4"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5"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6"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57"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58"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59"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0"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1"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2"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3"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4"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0765"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6"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67"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68"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69"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0"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1"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2"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0773"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4"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5"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5" name="Rectangle 55"/>
          <p:cNvSpPr>
            <a:spLocks noChangeArrowheads="1"/>
          </p:cNvSpPr>
          <p:nvPr/>
        </p:nvSpPr>
        <p:spPr bwMode="auto">
          <a:xfrm>
            <a:off x="7010400" y="4953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77"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8"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9"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0"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1"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2"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3"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4"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5"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6"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7"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8"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89"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0"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1"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2"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3"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4"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5"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6"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7"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98"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99"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0"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1"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2"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3"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4"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5"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6"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7"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8"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9"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0"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1"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2"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3"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4"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5"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6"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7"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8"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9"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0"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1"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2"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3"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7993"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10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0825"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0826"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0827"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0828"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0829"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0830"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0831"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0832"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0833"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0834"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0835"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0836"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0837"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0838"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0839"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0840"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0841"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0842"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0843"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0844"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30845" name="Group 126"/>
          <p:cNvGrpSpPr/>
          <p:nvPr/>
        </p:nvGrpSpPr>
        <p:grpSpPr bwMode="auto">
          <a:xfrm>
            <a:off x="2438400" y="1676401"/>
            <a:ext cx="1447800" cy="4494213"/>
            <a:chOff x="0" y="0"/>
            <a:chExt cx="1056" cy="1392"/>
          </a:xfrm>
        </p:grpSpPr>
        <p:sp>
          <p:nvSpPr>
            <p:cNvPr id="30846"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0847"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0848"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0849"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0850"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0851"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0852"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0853"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0854"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8024" name="Rectangle 136"/>
          <p:cNvSpPr>
            <a:spLocks noChangeArrowheads="1"/>
          </p:cNvSpPr>
          <p:nvPr/>
        </p:nvSpPr>
        <p:spPr bwMode="auto">
          <a:xfrm>
            <a:off x="2438401" y="24971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30856"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0857"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0858"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0859"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0860" name="Rectangle 14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0861" name="Rectangle 142"/>
          <p:cNvSpPr>
            <a:spLocks noChangeArrowheads="1"/>
          </p:cNvSpPr>
          <p:nvPr/>
        </p:nvSpPr>
        <p:spPr bwMode="auto">
          <a:xfrm>
            <a:off x="2438401" y="2801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14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7891">
                                            <p:txEl>
                                              <p:pRg st="0" end="0"/>
                                            </p:txEl>
                                          </p:spTgt>
                                        </p:tgtEl>
                                        <p:attrNameLst>
                                          <p:attrName>style.visibility</p:attrName>
                                        </p:attrNameLst>
                                      </p:cBhvr>
                                      <p:to>
                                        <p:strVal val="visible"/>
                                      </p:to>
                                    </p:set>
                                    <p:animEffect filter="wipe(left)">
                                      <p:cBhvr>
                                        <p:cTn id="7" dur="500"/>
                                        <p:tgtEl>
                                          <p:spTgt spid="3789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7945"/>
                                        </p:tgtEl>
                                        <p:attrNameLst>
                                          <p:attrName>style.visibility</p:attrName>
                                        </p:attrNameLst>
                                      </p:cBhvr>
                                      <p:to>
                                        <p:strVal val="visible"/>
                                      </p:to>
                                    </p:set>
                                    <p:animEffect filter="wipe(up)">
                                      <p:cBhvr>
                                        <p:cTn id="12" dur="500"/>
                                        <p:tgtEl>
                                          <p:spTgt spid="37945"/>
                                        </p:tgtEl>
                                      </p:cBhvr>
                                    </p:animEffect>
                                  </p:childTnLst>
                                </p:cTn>
                              </p:par>
                            </p:childTnLst>
                          </p:cTn>
                        </p:par>
                        <p:par>
                          <p:cTn id="13" fill="hold">
                            <p:stCondLst>
                              <p:cond delay="500"/>
                            </p:stCondLst>
                            <p:childTnLst>
                              <p:par>
                                <p:cTn id="14" presetID="12" presetClass="entr" presetSubtype="1" fill="hold" nodeType="afterEffect">
                                  <p:stCondLst>
                                    <p:cond delay="0"/>
                                  </p:stCondLst>
                                  <p:childTnLst>
                                    <p:set>
                                      <p:cBhvr>
                                        <p:cTn id="15" dur="1" fill="hold">
                                          <p:stCondLst>
                                            <p:cond delay="0"/>
                                          </p:stCondLst>
                                        </p:cTn>
                                        <p:tgtEl>
                                          <p:spTgt spid="37993"/>
                                        </p:tgtEl>
                                        <p:attrNameLst>
                                          <p:attrName>style.visibility</p:attrName>
                                        </p:attrNameLst>
                                      </p:cBhvr>
                                      <p:to>
                                        <p:strVal val="visible"/>
                                      </p:to>
                                    </p:set>
                                    <p:animEffect filter="slide(fromTop)">
                                      <p:cBhvr>
                                        <p:cTn id="16" dur="500"/>
                                        <p:tgtEl>
                                          <p:spTgt spid="37993"/>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8024"/>
                                        </p:tgtEl>
                                        <p:attrNameLst>
                                          <p:attrName>style.visibility</p:attrName>
                                        </p:attrNameLst>
                                      </p:cBhvr>
                                      <p:to>
                                        <p:strVal val="visible"/>
                                      </p:to>
                                    </p:set>
                                    <p:anim calcmode="lin" valueType="num">
                                      <p:cBhvr>
                                        <p:cTn id="20" dur="500" fill="hold"/>
                                        <p:tgtEl>
                                          <p:spTgt spid="38024"/>
                                        </p:tgtEl>
                                        <p:attrNameLst>
                                          <p:attrName>ppt_x</p:attrName>
                                        </p:attrNameLst>
                                      </p:cBhvr>
                                      <p:tavLst>
                                        <p:tav tm="0">
                                          <p:val>
                                            <p:strVal val="#ppt_x"/>
                                          </p:val>
                                        </p:tav>
                                        <p:tav tm="100000">
                                          <p:val>
                                            <p:strVal val="#ppt_x"/>
                                          </p:val>
                                        </p:tav>
                                      </p:tavLst>
                                    </p:anim>
                                    <p:anim calcmode="lin" valueType="num">
                                      <p:cBhvr>
                                        <p:cTn id="21" dur="500" fill="hold"/>
                                        <p:tgtEl>
                                          <p:spTgt spid="3802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1" grpId="0" build="p" bldLvl="0"/>
      <p:bldP spid="37945" grpId="0" bldLvl="0" animBg="1"/>
      <p:bldP spid="38024" grpId="0" bldLvl="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3174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10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1747"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48"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49"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0"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1"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2"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3"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4"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5"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56"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7"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8"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9"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0"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1"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2"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3"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64"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5"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6"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7"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8"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9"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0"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1"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72"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3"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4"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5"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6"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7"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8"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9"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80"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81"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82"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3"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4"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5"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6"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7"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1788"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9"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90"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91"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92"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3"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4"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5"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1796"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7"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8"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9"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800"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1"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2"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3"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4"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5"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6"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6" name="Rectangle 63"/>
          <p:cNvSpPr>
            <a:spLocks noChangeArrowheads="1"/>
          </p:cNvSpPr>
          <p:nvPr/>
        </p:nvSpPr>
        <p:spPr bwMode="auto">
          <a:xfrm>
            <a:off x="7010400" y="5334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808"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9"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0"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1"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2"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3"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4"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5"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6"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7"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8"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9"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0"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1"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2"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3"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4"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5"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6"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7"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8"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9"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0"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1"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2"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3"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4"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5"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6"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7"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8"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9"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0"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1"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2"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3"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4"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5"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6"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39016"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91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1848"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1849"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1850"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1851"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1852"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1853"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1854"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1855"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1856"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8</a:t>
            </a:r>
            <a:endParaRPr lang="en-US" altLang="zh-CN">
              <a:solidFill>
                <a:schemeClr val="tx2"/>
              </a:solidFill>
            </a:endParaRPr>
          </a:p>
        </p:txBody>
      </p:sp>
      <p:sp>
        <p:nvSpPr>
          <p:cNvPr id="31857"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1</a:t>
            </a:r>
            <a:endParaRPr lang="en-US" altLang="zh-CN">
              <a:solidFill>
                <a:schemeClr val="tx2"/>
              </a:solidFill>
            </a:endParaRPr>
          </a:p>
        </p:txBody>
      </p:sp>
      <p:sp>
        <p:nvSpPr>
          <p:cNvPr id="31858"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2</a:t>
            </a:r>
            <a:endParaRPr lang="en-US" altLang="zh-CN">
              <a:solidFill>
                <a:schemeClr val="tx2"/>
              </a:solidFill>
            </a:endParaRPr>
          </a:p>
        </p:txBody>
      </p:sp>
      <p:sp>
        <p:nvSpPr>
          <p:cNvPr id="31859"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3</a:t>
            </a:r>
            <a:endParaRPr lang="en-US" altLang="zh-CN">
              <a:solidFill>
                <a:schemeClr val="tx2"/>
              </a:solidFill>
            </a:endParaRPr>
          </a:p>
        </p:txBody>
      </p:sp>
      <p:sp>
        <p:nvSpPr>
          <p:cNvPr id="31860"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4</a:t>
            </a:r>
            <a:endParaRPr lang="en-US" altLang="zh-CN">
              <a:solidFill>
                <a:schemeClr val="tx2"/>
              </a:solidFill>
            </a:endParaRPr>
          </a:p>
        </p:txBody>
      </p:sp>
      <p:sp>
        <p:nvSpPr>
          <p:cNvPr id="31861"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5</a:t>
            </a:r>
            <a:endParaRPr lang="en-US" altLang="zh-CN">
              <a:solidFill>
                <a:schemeClr val="tx2"/>
              </a:solidFill>
            </a:endParaRPr>
          </a:p>
        </p:txBody>
      </p:sp>
      <p:sp>
        <p:nvSpPr>
          <p:cNvPr id="31862"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6</a:t>
            </a:r>
            <a:endParaRPr lang="en-US" altLang="zh-CN">
              <a:solidFill>
                <a:schemeClr val="tx2"/>
              </a:solidFill>
            </a:endParaRPr>
          </a:p>
        </p:txBody>
      </p:sp>
      <p:sp>
        <p:nvSpPr>
          <p:cNvPr id="31863"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7</a:t>
            </a:r>
            <a:endParaRPr lang="en-US" altLang="zh-CN">
              <a:solidFill>
                <a:schemeClr val="tx2"/>
              </a:solidFill>
            </a:endParaRPr>
          </a:p>
        </p:txBody>
      </p:sp>
      <p:sp>
        <p:nvSpPr>
          <p:cNvPr id="31864"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9</a:t>
            </a:r>
            <a:endParaRPr lang="en-US" altLang="zh-CN">
              <a:solidFill>
                <a:schemeClr val="tx2"/>
              </a:solidFill>
            </a:endParaRPr>
          </a:p>
        </p:txBody>
      </p:sp>
      <p:sp>
        <p:nvSpPr>
          <p:cNvPr id="31865"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1866"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1867"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0</a:t>
            </a:r>
            <a:endParaRPr lang="en-US" altLang="zh-CN">
              <a:solidFill>
                <a:schemeClr val="tx2"/>
              </a:solidFill>
            </a:endParaRPr>
          </a:p>
        </p:txBody>
      </p:sp>
      <p:sp>
        <p:nvSpPr>
          <p:cNvPr id="39037" name="Rectangle 125"/>
          <p:cNvSpPr>
            <a:spLocks noChangeArrowheads="1"/>
          </p:cNvSpPr>
          <p:nvPr/>
        </p:nvSpPr>
        <p:spPr bwMode="auto">
          <a:xfrm>
            <a:off x="3314700" y="1255714"/>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31869" name="Group 126"/>
          <p:cNvGrpSpPr/>
          <p:nvPr/>
        </p:nvGrpSpPr>
        <p:grpSpPr bwMode="auto">
          <a:xfrm>
            <a:off x="2438400" y="1676401"/>
            <a:ext cx="1447800" cy="4494213"/>
            <a:chOff x="0" y="0"/>
            <a:chExt cx="1056" cy="1392"/>
          </a:xfrm>
        </p:grpSpPr>
        <p:sp>
          <p:nvSpPr>
            <p:cNvPr id="31870"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1871"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1872"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1873"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1874"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1875"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1876"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1877"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1878"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9048" name="Rectangle 136"/>
          <p:cNvSpPr>
            <a:spLocks noChangeArrowheads="1"/>
          </p:cNvSpPr>
          <p:nvPr/>
        </p:nvSpPr>
        <p:spPr bwMode="auto">
          <a:xfrm>
            <a:off x="2438401" y="21923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sp>
        <p:nvSpPr>
          <p:cNvPr id="31880"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1881"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1882"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1883"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1884" name="Rectangle 14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1885" name="Rectangle 142"/>
          <p:cNvSpPr>
            <a:spLocks noChangeArrowheads="1"/>
          </p:cNvSpPr>
          <p:nvPr/>
        </p:nvSpPr>
        <p:spPr bwMode="auto">
          <a:xfrm>
            <a:off x="2438401" y="2801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31886" name="Rectangle 143"/>
          <p:cNvSpPr>
            <a:spLocks noChangeArrowheads="1"/>
          </p:cNvSpPr>
          <p:nvPr/>
        </p:nvSpPr>
        <p:spPr bwMode="auto">
          <a:xfrm>
            <a:off x="2438401" y="2497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14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9037">
                                            <p:txEl>
                                              <p:pRg st="0" end="0"/>
                                            </p:txEl>
                                          </p:spTgt>
                                        </p:tgtEl>
                                        <p:attrNameLst>
                                          <p:attrName>style.visibility</p:attrName>
                                        </p:attrNameLst>
                                      </p:cBhvr>
                                      <p:to>
                                        <p:strVal val="visible"/>
                                      </p:to>
                                    </p:set>
                                    <p:animEffect filter="wipe(left)">
                                      <p:cBhvr>
                                        <p:cTn id="7" dur="500"/>
                                        <p:tgtEl>
                                          <p:spTgt spid="3903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8976"/>
                                        </p:tgtEl>
                                        <p:attrNameLst>
                                          <p:attrName>style.visibility</p:attrName>
                                        </p:attrNameLst>
                                      </p:cBhvr>
                                      <p:to>
                                        <p:strVal val="visible"/>
                                      </p:to>
                                    </p:set>
                                    <p:animEffect filter="wipe(up)">
                                      <p:cBhvr>
                                        <p:cTn id="12" dur="500"/>
                                        <p:tgtEl>
                                          <p:spTgt spid="38976"/>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9016"/>
                                        </p:tgtEl>
                                        <p:attrNameLst>
                                          <p:attrName>style.visibility</p:attrName>
                                        </p:attrNameLst>
                                      </p:cBhvr>
                                      <p:to>
                                        <p:strVal val="visible"/>
                                      </p:to>
                                    </p:set>
                                    <p:animEffect filter="slide(fromLeft)">
                                      <p:cBhvr>
                                        <p:cTn id="16" dur="500"/>
                                        <p:tgtEl>
                                          <p:spTgt spid="39016"/>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9048"/>
                                        </p:tgtEl>
                                        <p:attrNameLst>
                                          <p:attrName>style.visibility</p:attrName>
                                        </p:attrNameLst>
                                      </p:cBhvr>
                                      <p:to>
                                        <p:strVal val="visible"/>
                                      </p:to>
                                    </p:set>
                                    <p:anim calcmode="lin" valueType="num">
                                      <p:cBhvr>
                                        <p:cTn id="20" dur="500" fill="hold"/>
                                        <p:tgtEl>
                                          <p:spTgt spid="39048"/>
                                        </p:tgtEl>
                                        <p:attrNameLst>
                                          <p:attrName>ppt_x</p:attrName>
                                        </p:attrNameLst>
                                      </p:cBhvr>
                                      <p:tavLst>
                                        <p:tav tm="0">
                                          <p:val>
                                            <p:strVal val="#ppt_x"/>
                                          </p:val>
                                        </p:tav>
                                        <p:tav tm="100000">
                                          <p:val>
                                            <p:strVal val="#ppt_x"/>
                                          </p:val>
                                        </p:tav>
                                      </p:tavLst>
                                    </p:anim>
                                    <p:anim calcmode="lin" valueType="num">
                                      <p:cBhvr>
                                        <p:cTn id="21" dur="500" fill="hold"/>
                                        <p:tgtEl>
                                          <p:spTgt spid="3904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76" grpId="0" bldLvl="0" animBg="1"/>
      <p:bldP spid="39037" grpId="0" build="p" bldLvl="0"/>
      <p:bldP spid="39048" grpId="0" bldLvl="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3277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91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771"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72"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3"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4"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5"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6"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7"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8"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9"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80"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1"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2"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3"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4"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5"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6"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7"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88"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9"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0"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1"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2"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3"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4"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5"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96"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7"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8"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9"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0"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1"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2"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3"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04"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05"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06"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7"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8"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9"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0"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1"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2812"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3"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14"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15"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16"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7"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8"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9"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2820"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1"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2"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3"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24"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5"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6"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7"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8"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9"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0"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1"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40001" name="Rectangle 64"/>
          <p:cNvSpPr>
            <a:spLocks noChangeArrowheads="1"/>
          </p:cNvSpPr>
          <p:nvPr/>
        </p:nvSpPr>
        <p:spPr bwMode="auto">
          <a:xfrm>
            <a:off x="7391400" y="5334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33"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4"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5"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6"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7"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8"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9"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0"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1"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2"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3"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44"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5"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6"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7"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8"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9"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50"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51"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52"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3"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4"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5"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6"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7"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8"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9"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60"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61"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2"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3"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4"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5"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6"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7"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8"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9"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70"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40040" name="Picture 10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72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872"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2873"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2874"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2875"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2876"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2877"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2878"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2879"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2880"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2881"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2882"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2883"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2884"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2885"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2886"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2887"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2888"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2889"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2890"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2891"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0061" name="Rectangle 125"/>
          <p:cNvSpPr>
            <a:spLocks noChangeArrowheads="1"/>
          </p:cNvSpPr>
          <p:nvPr/>
        </p:nvSpPr>
        <p:spPr bwMode="auto">
          <a:xfrm>
            <a:off x="3249737" y="1230816"/>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32893" name="Group 126"/>
          <p:cNvGrpSpPr/>
          <p:nvPr/>
        </p:nvGrpSpPr>
        <p:grpSpPr bwMode="auto">
          <a:xfrm>
            <a:off x="2438400" y="1676401"/>
            <a:ext cx="1447800" cy="4494213"/>
            <a:chOff x="0" y="0"/>
            <a:chExt cx="1056" cy="1392"/>
          </a:xfrm>
        </p:grpSpPr>
        <p:sp>
          <p:nvSpPr>
            <p:cNvPr id="32894"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895"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896"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2897"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2898"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2899"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2900"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2901"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2902"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40072" name="Rectangle 136"/>
          <p:cNvSpPr>
            <a:spLocks noChangeArrowheads="1"/>
          </p:cNvSpPr>
          <p:nvPr/>
        </p:nvSpPr>
        <p:spPr bwMode="auto">
          <a:xfrm>
            <a:off x="2438401" y="1905001"/>
            <a:ext cx="1439863" cy="322263"/>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(8,7)</a:t>
            </a:r>
            <a:endParaRPr lang="en-US" altLang="zh-CN"/>
          </a:p>
        </p:txBody>
      </p:sp>
      <p:sp>
        <p:nvSpPr>
          <p:cNvPr id="32904"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2905"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2906"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2907"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2908" name="Rectangle 14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2909" name="Rectangle 142"/>
          <p:cNvSpPr>
            <a:spLocks noChangeArrowheads="1"/>
          </p:cNvSpPr>
          <p:nvPr/>
        </p:nvSpPr>
        <p:spPr bwMode="auto">
          <a:xfrm>
            <a:off x="2438401" y="2801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32910" name="Rectangle 143"/>
          <p:cNvSpPr>
            <a:spLocks noChangeArrowheads="1"/>
          </p:cNvSpPr>
          <p:nvPr/>
        </p:nvSpPr>
        <p:spPr bwMode="auto">
          <a:xfrm>
            <a:off x="2438401" y="2497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32911" name="Rectangle 144"/>
          <p:cNvSpPr>
            <a:spLocks noChangeArrowheads="1"/>
          </p:cNvSpPr>
          <p:nvPr/>
        </p:nvSpPr>
        <p:spPr bwMode="auto">
          <a:xfrm>
            <a:off x="2438401" y="2209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sp>
        <p:nvSpPr>
          <p:cNvPr id="14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0061">
                                            <p:txEl>
                                              <p:pRg st="0" end="0"/>
                                            </p:txEl>
                                          </p:spTgt>
                                        </p:tgtEl>
                                        <p:attrNameLst>
                                          <p:attrName>style.visibility</p:attrName>
                                        </p:attrNameLst>
                                      </p:cBhvr>
                                      <p:to>
                                        <p:strVal val="visible"/>
                                      </p:to>
                                    </p:set>
                                    <p:animEffect filter="wipe(left)">
                                      <p:cBhvr>
                                        <p:cTn id="7" dur="500"/>
                                        <p:tgtEl>
                                          <p:spTgt spid="4006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0001"/>
                                        </p:tgtEl>
                                        <p:attrNameLst>
                                          <p:attrName>style.visibility</p:attrName>
                                        </p:attrNameLst>
                                      </p:cBhvr>
                                      <p:to>
                                        <p:strVal val="visible"/>
                                      </p:to>
                                    </p:set>
                                    <p:animEffect filter="wipe(left)">
                                      <p:cBhvr>
                                        <p:cTn id="12" dur="500"/>
                                        <p:tgtEl>
                                          <p:spTgt spid="40001"/>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40040"/>
                                        </p:tgtEl>
                                        <p:attrNameLst>
                                          <p:attrName>style.visibility</p:attrName>
                                        </p:attrNameLst>
                                      </p:cBhvr>
                                      <p:to>
                                        <p:strVal val="visible"/>
                                      </p:to>
                                    </p:set>
                                    <p:animEffect filter="slide(fromLeft)">
                                      <p:cBhvr>
                                        <p:cTn id="16" dur="500"/>
                                        <p:tgtEl>
                                          <p:spTgt spid="40040"/>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40072"/>
                                        </p:tgtEl>
                                        <p:attrNameLst>
                                          <p:attrName>style.visibility</p:attrName>
                                        </p:attrNameLst>
                                      </p:cBhvr>
                                      <p:to>
                                        <p:strVal val="visible"/>
                                      </p:to>
                                    </p:set>
                                    <p:anim calcmode="lin" valueType="num">
                                      <p:cBhvr>
                                        <p:cTn id="20" dur="500" fill="hold"/>
                                        <p:tgtEl>
                                          <p:spTgt spid="40072"/>
                                        </p:tgtEl>
                                        <p:attrNameLst>
                                          <p:attrName>ppt_x</p:attrName>
                                        </p:attrNameLst>
                                      </p:cBhvr>
                                      <p:tavLst>
                                        <p:tav tm="0">
                                          <p:val>
                                            <p:strVal val="#ppt_x"/>
                                          </p:val>
                                        </p:tav>
                                        <p:tav tm="100000">
                                          <p:val>
                                            <p:strVal val="#ppt_x"/>
                                          </p:val>
                                        </p:tav>
                                      </p:tavLst>
                                    </p:anim>
                                    <p:anim calcmode="lin" valueType="num">
                                      <p:cBhvr>
                                        <p:cTn id="21" dur="500" fill="hold"/>
                                        <p:tgtEl>
                                          <p:spTgt spid="4007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01" grpId="0" bldLvl="0" animBg="1"/>
      <p:bldP spid="40061" grpId="0" build="p" bldLvl="0"/>
      <p:bldP spid="40072" grpId="0" bldLvl="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65"/>
          <p:cNvSpPr>
            <a:spLocks noGrp="1"/>
          </p:cNvSpPr>
          <p:nvPr>
            <p:ph type="title" idx="4294967295"/>
          </p:nvPr>
        </p:nvSpPr>
        <p:spPr>
          <a:xfrm>
            <a:off x="3962400" y="115888"/>
            <a:ext cx="8229600" cy="1143000"/>
          </a:xfrm>
        </p:spPr>
        <p:txBody>
          <a:bodyPr vert="horz" wrap="square" anchor="b"/>
          <a:lstStyle/>
          <a:p>
            <a:r>
              <a:rPr lang="en-US" altLang="zh-CN" b="1" noProof="1"/>
              <a:t> </a:t>
            </a:r>
            <a:endParaRPr lang="en-US" altLang="zh-CN" noProof="1"/>
          </a:p>
        </p:txBody>
      </p:sp>
      <p:pic>
        <p:nvPicPr>
          <p:cNvPr id="3379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72400" y="5351463"/>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3795" name="Rectangle 3"/>
          <p:cNvSpPr>
            <a:spLocks noChangeArrowheads="1"/>
          </p:cNvSpPr>
          <p:nvPr/>
        </p:nvSpPr>
        <p:spPr bwMode="auto">
          <a:xfrm>
            <a:off x="5486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796" name="Rectangle 4"/>
          <p:cNvSpPr>
            <a:spLocks noChangeArrowheads="1"/>
          </p:cNvSpPr>
          <p:nvPr/>
        </p:nvSpPr>
        <p:spPr bwMode="auto">
          <a:xfrm>
            <a:off x="5867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797" name="Rectangle 5"/>
          <p:cNvSpPr>
            <a:spLocks noChangeArrowheads="1"/>
          </p:cNvSpPr>
          <p:nvPr/>
        </p:nvSpPr>
        <p:spPr bwMode="auto">
          <a:xfrm>
            <a:off x="6248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798" name="Rectangle 6"/>
          <p:cNvSpPr>
            <a:spLocks noChangeArrowheads="1"/>
          </p:cNvSpPr>
          <p:nvPr/>
        </p:nvSpPr>
        <p:spPr bwMode="auto">
          <a:xfrm>
            <a:off x="6629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799" name="Rectangle 7"/>
          <p:cNvSpPr>
            <a:spLocks noChangeArrowheads="1"/>
          </p:cNvSpPr>
          <p:nvPr/>
        </p:nvSpPr>
        <p:spPr bwMode="auto">
          <a:xfrm>
            <a:off x="7010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0" name="Rectangle 8"/>
          <p:cNvSpPr>
            <a:spLocks noChangeArrowheads="1"/>
          </p:cNvSpPr>
          <p:nvPr/>
        </p:nvSpPr>
        <p:spPr bwMode="auto">
          <a:xfrm>
            <a:off x="7391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1" name="Rectangle 9"/>
          <p:cNvSpPr>
            <a:spLocks noChangeArrowheads="1"/>
          </p:cNvSpPr>
          <p:nvPr/>
        </p:nvSpPr>
        <p:spPr bwMode="auto">
          <a:xfrm>
            <a:off x="7772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2" name="Rectangle 10"/>
          <p:cNvSpPr>
            <a:spLocks noChangeArrowheads="1"/>
          </p:cNvSpPr>
          <p:nvPr/>
        </p:nvSpPr>
        <p:spPr bwMode="auto">
          <a:xfrm>
            <a:off x="8153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3" name="Rectangle 11"/>
          <p:cNvSpPr>
            <a:spLocks noChangeArrowheads="1"/>
          </p:cNvSpPr>
          <p:nvPr/>
        </p:nvSpPr>
        <p:spPr bwMode="auto">
          <a:xfrm>
            <a:off x="5486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04" name="Rectangle 12"/>
          <p:cNvSpPr>
            <a:spLocks noChangeArrowheads="1"/>
          </p:cNvSpPr>
          <p:nvPr/>
        </p:nvSpPr>
        <p:spPr bwMode="auto">
          <a:xfrm>
            <a:off x="5867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5" name="Rectangle 13"/>
          <p:cNvSpPr>
            <a:spLocks noChangeArrowheads="1"/>
          </p:cNvSpPr>
          <p:nvPr/>
        </p:nvSpPr>
        <p:spPr bwMode="auto">
          <a:xfrm>
            <a:off x="6248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6" name="Rectangle 14"/>
          <p:cNvSpPr>
            <a:spLocks noChangeArrowheads="1"/>
          </p:cNvSpPr>
          <p:nvPr/>
        </p:nvSpPr>
        <p:spPr bwMode="auto">
          <a:xfrm>
            <a:off x="6629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7" name="Rectangle 15"/>
          <p:cNvSpPr>
            <a:spLocks noChangeArrowheads="1"/>
          </p:cNvSpPr>
          <p:nvPr/>
        </p:nvSpPr>
        <p:spPr bwMode="auto">
          <a:xfrm>
            <a:off x="7010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8" name="Rectangle 16"/>
          <p:cNvSpPr>
            <a:spLocks noChangeArrowheads="1"/>
          </p:cNvSpPr>
          <p:nvPr/>
        </p:nvSpPr>
        <p:spPr bwMode="auto">
          <a:xfrm>
            <a:off x="7391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9" name="Rectangle 17"/>
          <p:cNvSpPr>
            <a:spLocks noChangeArrowheads="1"/>
          </p:cNvSpPr>
          <p:nvPr/>
        </p:nvSpPr>
        <p:spPr bwMode="auto">
          <a:xfrm>
            <a:off x="7772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0" name="Rectangle 18"/>
          <p:cNvSpPr>
            <a:spLocks noChangeArrowheads="1"/>
          </p:cNvSpPr>
          <p:nvPr/>
        </p:nvSpPr>
        <p:spPr bwMode="auto">
          <a:xfrm>
            <a:off x="8153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1" name="Rectangle 19"/>
          <p:cNvSpPr>
            <a:spLocks noChangeArrowheads="1"/>
          </p:cNvSpPr>
          <p:nvPr/>
        </p:nvSpPr>
        <p:spPr bwMode="auto">
          <a:xfrm>
            <a:off x="5486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12" name="Rectangle 20"/>
          <p:cNvSpPr>
            <a:spLocks noChangeArrowheads="1"/>
          </p:cNvSpPr>
          <p:nvPr/>
        </p:nvSpPr>
        <p:spPr bwMode="auto">
          <a:xfrm>
            <a:off x="5867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3" name="Rectangle 21"/>
          <p:cNvSpPr>
            <a:spLocks noChangeArrowheads="1"/>
          </p:cNvSpPr>
          <p:nvPr/>
        </p:nvSpPr>
        <p:spPr bwMode="auto">
          <a:xfrm>
            <a:off x="6248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4" name="Rectangle 22"/>
          <p:cNvSpPr>
            <a:spLocks noChangeArrowheads="1"/>
          </p:cNvSpPr>
          <p:nvPr/>
        </p:nvSpPr>
        <p:spPr bwMode="auto">
          <a:xfrm>
            <a:off x="6629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5" name="Rectangle 23"/>
          <p:cNvSpPr>
            <a:spLocks noChangeArrowheads="1"/>
          </p:cNvSpPr>
          <p:nvPr/>
        </p:nvSpPr>
        <p:spPr bwMode="auto">
          <a:xfrm>
            <a:off x="7010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6" name="Rectangle 24"/>
          <p:cNvSpPr>
            <a:spLocks noChangeArrowheads="1"/>
          </p:cNvSpPr>
          <p:nvPr/>
        </p:nvSpPr>
        <p:spPr bwMode="auto">
          <a:xfrm>
            <a:off x="7391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7" name="Rectangle 25"/>
          <p:cNvSpPr>
            <a:spLocks noChangeArrowheads="1"/>
          </p:cNvSpPr>
          <p:nvPr/>
        </p:nvSpPr>
        <p:spPr bwMode="auto">
          <a:xfrm>
            <a:off x="7772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8" name="Rectangle 26"/>
          <p:cNvSpPr>
            <a:spLocks noChangeArrowheads="1"/>
          </p:cNvSpPr>
          <p:nvPr/>
        </p:nvSpPr>
        <p:spPr bwMode="auto">
          <a:xfrm>
            <a:off x="8153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9" name="Rectangle 27"/>
          <p:cNvSpPr>
            <a:spLocks noChangeArrowheads="1"/>
          </p:cNvSpPr>
          <p:nvPr/>
        </p:nvSpPr>
        <p:spPr bwMode="auto">
          <a:xfrm>
            <a:off x="5486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20" name="Rectangle 28"/>
          <p:cNvSpPr>
            <a:spLocks noChangeArrowheads="1"/>
          </p:cNvSpPr>
          <p:nvPr/>
        </p:nvSpPr>
        <p:spPr bwMode="auto">
          <a:xfrm>
            <a:off x="5867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1" name="Rectangle 29"/>
          <p:cNvSpPr>
            <a:spLocks noChangeArrowheads="1"/>
          </p:cNvSpPr>
          <p:nvPr/>
        </p:nvSpPr>
        <p:spPr bwMode="auto">
          <a:xfrm>
            <a:off x="6248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2" name="Rectangle 30"/>
          <p:cNvSpPr>
            <a:spLocks noChangeArrowheads="1"/>
          </p:cNvSpPr>
          <p:nvPr/>
        </p:nvSpPr>
        <p:spPr bwMode="auto">
          <a:xfrm>
            <a:off x="6629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3" name="Rectangle 31"/>
          <p:cNvSpPr>
            <a:spLocks noChangeArrowheads="1"/>
          </p:cNvSpPr>
          <p:nvPr/>
        </p:nvSpPr>
        <p:spPr bwMode="auto">
          <a:xfrm>
            <a:off x="7010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4" name="Rectangle 32"/>
          <p:cNvSpPr>
            <a:spLocks noChangeArrowheads="1"/>
          </p:cNvSpPr>
          <p:nvPr/>
        </p:nvSpPr>
        <p:spPr bwMode="auto">
          <a:xfrm>
            <a:off x="7391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5" name="Rectangle 33"/>
          <p:cNvSpPr>
            <a:spLocks noChangeArrowheads="1"/>
          </p:cNvSpPr>
          <p:nvPr/>
        </p:nvSpPr>
        <p:spPr bwMode="auto">
          <a:xfrm>
            <a:off x="7772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6" name="Rectangle 34"/>
          <p:cNvSpPr>
            <a:spLocks noChangeArrowheads="1"/>
          </p:cNvSpPr>
          <p:nvPr/>
        </p:nvSpPr>
        <p:spPr bwMode="auto">
          <a:xfrm>
            <a:off x="8153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7" name="Rectangle 35"/>
          <p:cNvSpPr>
            <a:spLocks noChangeArrowheads="1"/>
          </p:cNvSpPr>
          <p:nvPr/>
        </p:nvSpPr>
        <p:spPr bwMode="auto">
          <a:xfrm>
            <a:off x="5486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28" name="Rectangle 36"/>
          <p:cNvSpPr>
            <a:spLocks noChangeArrowheads="1"/>
          </p:cNvSpPr>
          <p:nvPr/>
        </p:nvSpPr>
        <p:spPr bwMode="auto">
          <a:xfrm>
            <a:off x="5867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29" name="Rectangle 37"/>
          <p:cNvSpPr>
            <a:spLocks noChangeArrowheads="1"/>
          </p:cNvSpPr>
          <p:nvPr/>
        </p:nvSpPr>
        <p:spPr bwMode="auto">
          <a:xfrm>
            <a:off x="6248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0" name="Rectangle 38"/>
          <p:cNvSpPr>
            <a:spLocks noChangeArrowheads="1"/>
          </p:cNvSpPr>
          <p:nvPr/>
        </p:nvSpPr>
        <p:spPr bwMode="auto">
          <a:xfrm>
            <a:off x="6629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1" name="Rectangle 39"/>
          <p:cNvSpPr>
            <a:spLocks noChangeArrowheads="1"/>
          </p:cNvSpPr>
          <p:nvPr/>
        </p:nvSpPr>
        <p:spPr bwMode="auto">
          <a:xfrm>
            <a:off x="7010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2" name="Rectangle 40"/>
          <p:cNvSpPr>
            <a:spLocks noChangeArrowheads="1"/>
          </p:cNvSpPr>
          <p:nvPr/>
        </p:nvSpPr>
        <p:spPr bwMode="auto">
          <a:xfrm>
            <a:off x="7391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3" name="Rectangle 41"/>
          <p:cNvSpPr>
            <a:spLocks noChangeArrowheads="1"/>
          </p:cNvSpPr>
          <p:nvPr/>
        </p:nvSpPr>
        <p:spPr bwMode="auto">
          <a:xfrm>
            <a:off x="7772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4" name="Rectangle 42"/>
          <p:cNvSpPr>
            <a:spLocks noChangeArrowheads="1"/>
          </p:cNvSpPr>
          <p:nvPr/>
        </p:nvSpPr>
        <p:spPr bwMode="auto">
          <a:xfrm>
            <a:off x="8153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5" name="Rectangle 43"/>
          <p:cNvSpPr>
            <a:spLocks noChangeArrowheads="1"/>
          </p:cNvSpPr>
          <p:nvPr/>
        </p:nvSpPr>
        <p:spPr bwMode="auto">
          <a:xfrm>
            <a:off x="5486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3836" name="Rectangle 44"/>
          <p:cNvSpPr>
            <a:spLocks noChangeArrowheads="1"/>
          </p:cNvSpPr>
          <p:nvPr/>
        </p:nvSpPr>
        <p:spPr bwMode="auto">
          <a:xfrm>
            <a:off x="5867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7" name="Rectangle 45"/>
          <p:cNvSpPr>
            <a:spLocks noChangeArrowheads="1"/>
          </p:cNvSpPr>
          <p:nvPr/>
        </p:nvSpPr>
        <p:spPr bwMode="auto">
          <a:xfrm>
            <a:off x="6248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8" name="Rectangle 46"/>
          <p:cNvSpPr>
            <a:spLocks noChangeArrowheads="1"/>
          </p:cNvSpPr>
          <p:nvPr/>
        </p:nvSpPr>
        <p:spPr bwMode="auto">
          <a:xfrm>
            <a:off x="6629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9" name="Rectangle 47"/>
          <p:cNvSpPr>
            <a:spLocks noChangeArrowheads="1"/>
          </p:cNvSpPr>
          <p:nvPr/>
        </p:nvSpPr>
        <p:spPr bwMode="auto">
          <a:xfrm>
            <a:off x="7010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40" name="Rectangle 48"/>
          <p:cNvSpPr>
            <a:spLocks noChangeArrowheads="1"/>
          </p:cNvSpPr>
          <p:nvPr/>
        </p:nvSpPr>
        <p:spPr bwMode="auto">
          <a:xfrm>
            <a:off x="7391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1" name="Rectangle 49"/>
          <p:cNvSpPr>
            <a:spLocks noChangeArrowheads="1"/>
          </p:cNvSpPr>
          <p:nvPr/>
        </p:nvSpPr>
        <p:spPr bwMode="auto">
          <a:xfrm>
            <a:off x="7772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2" name="Rectangle 50"/>
          <p:cNvSpPr>
            <a:spLocks noChangeArrowheads="1"/>
          </p:cNvSpPr>
          <p:nvPr/>
        </p:nvSpPr>
        <p:spPr bwMode="auto">
          <a:xfrm>
            <a:off x="8153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3" name="Rectangle 51"/>
          <p:cNvSpPr>
            <a:spLocks noChangeArrowheads="1"/>
          </p:cNvSpPr>
          <p:nvPr/>
        </p:nvSpPr>
        <p:spPr bwMode="auto">
          <a:xfrm>
            <a:off x="5486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3844" name="Rectangle 52"/>
          <p:cNvSpPr>
            <a:spLocks noChangeArrowheads="1"/>
          </p:cNvSpPr>
          <p:nvPr/>
        </p:nvSpPr>
        <p:spPr bwMode="auto">
          <a:xfrm>
            <a:off x="5867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5" name="Rectangle 53"/>
          <p:cNvSpPr>
            <a:spLocks noChangeArrowheads="1"/>
          </p:cNvSpPr>
          <p:nvPr/>
        </p:nvSpPr>
        <p:spPr bwMode="auto">
          <a:xfrm>
            <a:off x="6248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6" name="Rectangle 54"/>
          <p:cNvSpPr>
            <a:spLocks noChangeArrowheads="1"/>
          </p:cNvSpPr>
          <p:nvPr/>
        </p:nvSpPr>
        <p:spPr bwMode="auto">
          <a:xfrm>
            <a:off x="6629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7" name="Rectangle 55"/>
          <p:cNvSpPr>
            <a:spLocks noChangeArrowheads="1"/>
          </p:cNvSpPr>
          <p:nvPr/>
        </p:nvSpPr>
        <p:spPr bwMode="auto">
          <a:xfrm>
            <a:off x="7010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48" name="Rectangle 56"/>
          <p:cNvSpPr>
            <a:spLocks noChangeArrowheads="1"/>
          </p:cNvSpPr>
          <p:nvPr/>
        </p:nvSpPr>
        <p:spPr bwMode="auto">
          <a:xfrm>
            <a:off x="7391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9" name="Rectangle 57"/>
          <p:cNvSpPr>
            <a:spLocks noChangeArrowheads="1"/>
          </p:cNvSpPr>
          <p:nvPr/>
        </p:nvSpPr>
        <p:spPr bwMode="auto">
          <a:xfrm>
            <a:off x="7772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0" name="Rectangle 58"/>
          <p:cNvSpPr>
            <a:spLocks noChangeArrowheads="1"/>
          </p:cNvSpPr>
          <p:nvPr/>
        </p:nvSpPr>
        <p:spPr bwMode="auto">
          <a:xfrm>
            <a:off x="8153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1" name="Rectangle 59"/>
          <p:cNvSpPr>
            <a:spLocks noChangeArrowheads="1"/>
          </p:cNvSpPr>
          <p:nvPr/>
        </p:nvSpPr>
        <p:spPr bwMode="auto">
          <a:xfrm>
            <a:off x="5486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2" name="Rectangle 60"/>
          <p:cNvSpPr>
            <a:spLocks noChangeArrowheads="1"/>
          </p:cNvSpPr>
          <p:nvPr/>
        </p:nvSpPr>
        <p:spPr bwMode="auto">
          <a:xfrm>
            <a:off x="5867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3" name="Rectangle 61"/>
          <p:cNvSpPr>
            <a:spLocks noChangeArrowheads="1"/>
          </p:cNvSpPr>
          <p:nvPr/>
        </p:nvSpPr>
        <p:spPr bwMode="auto">
          <a:xfrm>
            <a:off x="6248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4" name="Rectangle 62"/>
          <p:cNvSpPr>
            <a:spLocks noChangeArrowheads="1"/>
          </p:cNvSpPr>
          <p:nvPr/>
        </p:nvSpPr>
        <p:spPr bwMode="auto">
          <a:xfrm>
            <a:off x="6629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5" name="Rectangle 63"/>
          <p:cNvSpPr>
            <a:spLocks noChangeArrowheads="1"/>
          </p:cNvSpPr>
          <p:nvPr/>
        </p:nvSpPr>
        <p:spPr bwMode="auto">
          <a:xfrm>
            <a:off x="7010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56" name="Rectangle 64"/>
          <p:cNvSpPr>
            <a:spLocks noChangeArrowheads="1"/>
          </p:cNvSpPr>
          <p:nvPr/>
        </p:nvSpPr>
        <p:spPr bwMode="auto">
          <a:xfrm>
            <a:off x="8153400" y="5351463"/>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7" name="Rectangle 66"/>
          <p:cNvSpPr>
            <a:spLocks noChangeArrowheads="1"/>
          </p:cNvSpPr>
          <p:nvPr/>
        </p:nvSpPr>
        <p:spPr bwMode="auto">
          <a:xfrm>
            <a:off x="5105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8" name="Rectangle 67"/>
          <p:cNvSpPr>
            <a:spLocks noChangeArrowheads="1"/>
          </p:cNvSpPr>
          <p:nvPr/>
        </p:nvSpPr>
        <p:spPr bwMode="auto">
          <a:xfrm>
            <a:off x="5105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9" name="Rectangle 68"/>
          <p:cNvSpPr>
            <a:spLocks noChangeArrowheads="1"/>
          </p:cNvSpPr>
          <p:nvPr/>
        </p:nvSpPr>
        <p:spPr bwMode="auto">
          <a:xfrm>
            <a:off x="5105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0" name="Rectangle 69"/>
          <p:cNvSpPr>
            <a:spLocks noChangeArrowheads="1"/>
          </p:cNvSpPr>
          <p:nvPr/>
        </p:nvSpPr>
        <p:spPr bwMode="auto">
          <a:xfrm>
            <a:off x="5105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1" name="Rectangle 70"/>
          <p:cNvSpPr>
            <a:spLocks noChangeArrowheads="1"/>
          </p:cNvSpPr>
          <p:nvPr/>
        </p:nvSpPr>
        <p:spPr bwMode="auto">
          <a:xfrm>
            <a:off x="5105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2" name="Rectangle 71"/>
          <p:cNvSpPr>
            <a:spLocks noChangeArrowheads="1"/>
          </p:cNvSpPr>
          <p:nvPr/>
        </p:nvSpPr>
        <p:spPr bwMode="auto">
          <a:xfrm>
            <a:off x="5105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3" name="Rectangle 72"/>
          <p:cNvSpPr>
            <a:spLocks noChangeArrowheads="1"/>
          </p:cNvSpPr>
          <p:nvPr/>
        </p:nvSpPr>
        <p:spPr bwMode="auto">
          <a:xfrm>
            <a:off x="5105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4" name="Rectangle 73"/>
          <p:cNvSpPr>
            <a:spLocks noChangeArrowheads="1"/>
          </p:cNvSpPr>
          <p:nvPr/>
        </p:nvSpPr>
        <p:spPr bwMode="auto">
          <a:xfrm>
            <a:off x="5105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5" name="Rectangle 74"/>
          <p:cNvSpPr>
            <a:spLocks noChangeArrowheads="1"/>
          </p:cNvSpPr>
          <p:nvPr/>
        </p:nvSpPr>
        <p:spPr bwMode="auto">
          <a:xfrm>
            <a:off x="5105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66" name="Rectangle 75"/>
          <p:cNvSpPr>
            <a:spLocks noChangeArrowheads="1"/>
          </p:cNvSpPr>
          <p:nvPr/>
        </p:nvSpPr>
        <p:spPr bwMode="auto">
          <a:xfrm>
            <a:off x="8534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7" name="Rectangle 76"/>
          <p:cNvSpPr>
            <a:spLocks noChangeArrowheads="1"/>
          </p:cNvSpPr>
          <p:nvPr/>
        </p:nvSpPr>
        <p:spPr bwMode="auto">
          <a:xfrm>
            <a:off x="8534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8" name="Rectangle 77"/>
          <p:cNvSpPr>
            <a:spLocks noChangeArrowheads="1"/>
          </p:cNvSpPr>
          <p:nvPr/>
        </p:nvSpPr>
        <p:spPr bwMode="auto">
          <a:xfrm>
            <a:off x="8534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9" name="Rectangle 78"/>
          <p:cNvSpPr>
            <a:spLocks noChangeArrowheads="1"/>
          </p:cNvSpPr>
          <p:nvPr/>
        </p:nvSpPr>
        <p:spPr bwMode="auto">
          <a:xfrm>
            <a:off x="8534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0" name="Rectangle 79"/>
          <p:cNvSpPr>
            <a:spLocks noChangeArrowheads="1"/>
          </p:cNvSpPr>
          <p:nvPr/>
        </p:nvSpPr>
        <p:spPr bwMode="auto">
          <a:xfrm>
            <a:off x="8534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1" name="Rectangle 80"/>
          <p:cNvSpPr>
            <a:spLocks noChangeArrowheads="1"/>
          </p:cNvSpPr>
          <p:nvPr/>
        </p:nvSpPr>
        <p:spPr bwMode="auto">
          <a:xfrm>
            <a:off x="8534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2" name="Rectangle 81"/>
          <p:cNvSpPr>
            <a:spLocks noChangeArrowheads="1"/>
          </p:cNvSpPr>
          <p:nvPr/>
        </p:nvSpPr>
        <p:spPr bwMode="auto">
          <a:xfrm>
            <a:off x="8534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3" name="Rectangle 82"/>
          <p:cNvSpPr>
            <a:spLocks noChangeArrowheads="1"/>
          </p:cNvSpPr>
          <p:nvPr/>
        </p:nvSpPr>
        <p:spPr bwMode="auto">
          <a:xfrm>
            <a:off x="8534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4" name="Rectangle 83"/>
          <p:cNvSpPr>
            <a:spLocks noChangeArrowheads="1"/>
          </p:cNvSpPr>
          <p:nvPr/>
        </p:nvSpPr>
        <p:spPr bwMode="auto">
          <a:xfrm>
            <a:off x="8534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5" name="Rectangle 84"/>
          <p:cNvSpPr>
            <a:spLocks noChangeArrowheads="1"/>
          </p:cNvSpPr>
          <p:nvPr/>
        </p:nvSpPr>
        <p:spPr bwMode="auto">
          <a:xfrm>
            <a:off x="5867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6" name="Rectangle 85"/>
          <p:cNvSpPr>
            <a:spLocks noChangeArrowheads="1"/>
          </p:cNvSpPr>
          <p:nvPr/>
        </p:nvSpPr>
        <p:spPr bwMode="auto">
          <a:xfrm>
            <a:off x="6248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7" name="Rectangle 86"/>
          <p:cNvSpPr>
            <a:spLocks noChangeArrowheads="1"/>
          </p:cNvSpPr>
          <p:nvPr/>
        </p:nvSpPr>
        <p:spPr bwMode="auto">
          <a:xfrm>
            <a:off x="6629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8" name="Rectangle 87"/>
          <p:cNvSpPr>
            <a:spLocks noChangeArrowheads="1"/>
          </p:cNvSpPr>
          <p:nvPr/>
        </p:nvSpPr>
        <p:spPr bwMode="auto">
          <a:xfrm>
            <a:off x="7010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9" name="Rectangle 88"/>
          <p:cNvSpPr>
            <a:spLocks noChangeArrowheads="1"/>
          </p:cNvSpPr>
          <p:nvPr/>
        </p:nvSpPr>
        <p:spPr bwMode="auto">
          <a:xfrm>
            <a:off x="7391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0" name="Rectangle 89"/>
          <p:cNvSpPr>
            <a:spLocks noChangeArrowheads="1"/>
          </p:cNvSpPr>
          <p:nvPr/>
        </p:nvSpPr>
        <p:spPr bwMode="auto">
          <a:xfrm>
            <a:off x="7772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1" name="Rectangle 90"/>
          <p:cNvSpPr>
            <a:spLocks noChangeArrowheads="1"/>
          </p:cNvSpPr>
          <p:nvPr/>
        </p:nvSpPr>
        <p:spPr bwMode="auto">
          <a:xfrm>
            <a:off x="8153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2" name="Rectangle 91"/>
          <p:cNvSpPr>
            <a:spLocks noChangeArrowheads="1"/>
          </p:cNvSpPr>
          <p:nvPr/>
        </p:nvSpPr>
        <p:spPr bwMode="auto">
          <a:xfrm>
            <a:off x="5486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3" name="Rectangle 92"/>
          <p:cNvSpPr>
            <a:spLocks noChangeArrowheads="1"/>
          </p:cNvSpPr>
          <p:nvPr/>
        </p:nvSpPr>
        <p:spPr bwMode="auto">
          <a:xfrm>
            <a:off x="5105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4" name="Rectangle 93"/>
          <p:cNvSpPr>
            <a:spLocks noChangeArrowheads="1"/>
          </p:cNvSpPr>
          <p:nvPr/>
        </p:nvSpPr>
        <p:spPr bwMode="auto">
          <a:xfrm>
            <a:off x="8534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5" name="Rectangle 94"/>
          <p:cNvSpPr>
            <a:spLocks noChangeArrowheads="1"/>
          </p:cNvSpPr>
          <p:nvPr/>
        </p:nvSpPr>
        <p:spPr bwMode="auto">
          <a:xfrm>
            <a:off x="5867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6" name="Rectangle 95"/>
          <p:cNvSpPr>
            <a:spLocks noChangeArrowheads="1"/>
          </p:cNvSpPr>
          <p:nvPr/>
        </p:nvSpPr>
        <p:spPr bwMode="auto">
          <a:xfrm>
            <a:off x="6248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7" name="Rectangle 96"/>
          <p:cNvSpPr>
            <a:spLocks noChangeArrowheads="1"/>
          </p:cNvSpPr>
          <p:nvPr/>
        </p:nvSpPr>
        <p:spPr bwMode="auto">
          <a:xfrm>
            <a:off x="6629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8" name="Rectangle 97"/>
          <p:cNvSpPr>
            <a:spLocks noChangeArrowheads="1"/>
          </p:cNvSpPr>
          <p:nvPr/>
        </p:nvSpPr>
        <p:spPr bwMode="auto">
          <a:xfrm>
            <a:off x="7010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9" name="Rectangle 98"/>
          <p:cNvSpPr>
            <a:spLocks noChangeArrowheads="1"/>
          </p:cNvSpPr>
          <p:nvPr/>
        </p:nvSpPr>
        <p:spPr bwMode="auto">
          <a:xfrm>
            <a:off x="7391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0" name="Rectangle 99"/>
          <p:cNvSpPr>
            <a:spLocks noChangeArrowheads="1"/>
          </p:cNvSpPr>
          <p:nvPr/>
        </p:nvSpPr>
        <p:spPr bwMode="auto">
          <a:xfrm>
            <a:off x="7772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1" name="Rectangle 100"/>
          <p:cNvSpPr>
            <a:spLocks noChangeArrowheads="1"/>
          </p:cNvSpPr>
          <p:nvPr/>
        </p:nvSpPr>
        <p:spPr bwMode="auto">
          <a:xfrm>
            <a:off x="8153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2" name="Rectangle 101"/>
          <p:cNvSpPr>
            <a:spLocks noChangeArrowheads="1"/>
          </p:cNvSpPr>
          <p:nvPr/>
        </p:nvSpPr>
        <p:spPr bwMode="auto">
          <a:xfrm>
            <a:off x="5486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3" name="Rectangle 102"/>
          <p:cNvSpPr>
            <a:spLocks noChangeArrowheads="1"/>
          </p:cNvSpPr>
          <p:nvPr/>
        </p:nvSpPr>
        <p:spPr bwMode="auto">
          <a:xfrm>
            <a:off x="8153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3894" name="Rectangle 103"/>
          <p:cNvSpPr>
            <a:spLocks noChangeArrowheads="1"/>
          </p:cNvSpPr>
          <p:nvPr/>
        </p:nvSpPr>
        <p:spPr bwMode="auto">
          <a:xfrm>
            <a:off x="5486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3895" name="Rectangle 104"/>
          <p:cNvSpPr>
            <a:spLocks noChangeArrowheads="1"/>
          </p:cNvSpPr>
          <p:nvPr/>
        </p:nvSpPr>
        <p:spPr bwMode="auto">
          <a:xfrm>
            <a:off x="5867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3896" name="Rectangle 105"/>
          <p:cNvSpPr>
            <a:spLocks noChangeArrowheads="1"/>
          </p:cNvSpPr>
          <p:nvPr/>
        </p:nvSpPr>
        <p:spPr bwMode="auto">
          <a:xfrm>
            <a:off x="6248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3897" name="Rectangle 106"/>
          <p:cNvSpPr>
            <a:spLocks noChangeArrowheads="1"/>
          </p:cNvSpPr>
          <p:nvPr/>
        </p:nvSpPr>
        <p:spPr bwMode="auto">
          <a:xfrm>
            <a:off x="6629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3898" name="Rectangle 107"/>
          <p:cNvSpPr>
            <a:spLocks noChangeArrowheads="1"/>
          </p:cNvSpPr>
          <p:nvPr/>
        </p:nvSpPr>
        <p:spPr bwMode="auto">
          <a:xfrm>
            <a:off x="7010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3899" name="Rectangle 108"/>
          <p:cNvSpPr>
            <a:spLocks noChangeArrowheads="1"/>
          </p:cNvSpPr>
          <p:nvPr/>
        </p:nvSpPr>
        <p:spPr bwMode="auto">
          <a:xfrm>
            <a:off x="7391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3900" name="Rectangle 109"/>
          <p:cNvSpPr>
            <a:spLocks noChangeArrowheads="1"/>
          </p:cNvSpPr>
          <p:nvPr/>
        </p:nvSpPr>
        <p:spPr bwMode="auto">
          <a:xfrm>
            <a:off x="7772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3901" name="Rectangle 110"/>
          <p:cNvSpPr>
            <a:spLocks noChangeArrowheads="1"/>
          </p:cNvSpPr>
          <p:nvPr/>
        </p:nvSpPr>
        <p:spPr bwMode="auto">
          <a:xfrm>
            <a:off x="4648200" y="5351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3902" name="Rectangle 111"/>
          <p:cNvSpPr>
            <a:spLocks noChangeArrowheads="1"/>
          </p:cNvSpPr>
          <p:nvPr/>
        </p:nvSpPr>
        <p:spPr bwMode="auto">
          <a:xfrm>
            <a:off x="4648200" y="2684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3903" name="Rectangle 112"/>
          <p:cNvSpPr>
            <a:spLocks noChangeArrowheads="1"/>
          </p:cNvSpPr>
          <p:nvPr/>
        </p:nvSpPr>
        <p:spPr bwMode="auto">
          <a:xfrm>
            <a:off x="4648200" y="3065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3904" name="Rectangle 113"/>
          <p:cNvSpPr>
            <a:spLocks noChangeArrowheads="1"/>
          </p:cNvSpPr>
          <p:nvPr/>
        </p:nvSpPr>
        <p:spPr bwMode="auto">
          <a:xfrm>
            <a:off x="4648200" y="3446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3905" name="Rectangle 114"/>
          <p:cNvSpPr>
            <a:spLocks noChangeArrowheads="1"/>
          </p:cNvSpPr>
          <p:nvPr/>
        </p:nvSpPr>
        <p:spPr bwMode="auto">
          <a:xfrm>
            <a:off x="4648200" y="3827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3906" name="Rectangle 115"/>
          <p:cNvSpPr>
            <a:spLocks noChangeArrowheads="1"/>
          </p:cNvSpPr>
          <p:nvPr/>
        </p:nvSpPr>
        <p:spPr bwMode="auto">
          <a:xfrm>
            <a:off x="4648200" y="4208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3907" name="Rectangle 116"/>
          <p:cNvSpPr>
            <a:spLocks noChangeArrowheads="1"/>
          </p:cNvSpPr>
          <p:nvPr/>
        </p:nvSpPr>
        <p:spPr bwMode="auto">
          <a:xfrm>
            <a:off x="4648200" y="4589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3908" name="Rectangle 117"/>
          <p:cNvSpPr>
            <a:spLocks noChangeArrowheads="1"/>
          </p:cNvSpPr>
          <p:nvPr/>
        </p:nvSpPr>
        <p:spPr bwMode="auto">
          <a:xfrm>
            <a:off x="4648200" y="4970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3909" name="Rectangle 118"/>
          <p:cNvSpPr>
            <a:spLocks noChangeArrowheads="1"/>
          </p:cNvSpPr>
          <p:nvPr/>
        </p:nvSpPr>
        <p:spPr bwMode="auto">
          <a:xfrm>
            <a:off x="4648200" y="5732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3910" name="Rectangle 119"/>
          <p:cNvSpPr>
            <a:spLocks noChangeArrowheads="1"/>
          </p:cNvSpPr>
          <p:nvPr/>
        </p:nvSpPr>
        <p:spPr bwMode="auto">
          <a:xfrm>
            <a:off x="5105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3911" name="Rectangle 120"/>
          <p:cNvSpPr>
            <a:spLocks noChangeArrowheads="1"/>
          </p:cNvSpPr>
          <p:nvPr/>
        </p:nvSpPr>
        <p:spPr bwMode="auto">
          <a:xfrm>
            <a:off x="8534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3912" name="Rectangle 121"/>
          <p:cNvSpPr>
            <a:spLocks noChangeArrowheads="1"/>
          </p:cNvSpPr>
          <p:nvPr/>
        </p:nvSpPr>
        <p:spPr bwMode="auto">
          <a:xfrm>
            <a:off x="4648200" y="2303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1082" name="Rectangle 122"/>
          <p:cNvSpPr>
            <a:spLocks noChangeArrowheads="1"/>
          </p:cNvSpPr>
          <p:nvPr/>
        </p:nvSpPr>
        <p:spPr bwMode="auto">
          <a:xfrm>
            <a:off x="2552700" y="1275264"/>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下方路不通，向右方前进一步，到达出口</a:t>
            </a:r>
            <a:endParaRPr lang="zh-CN" altLang="en-US" sz="2200" b="1" dirty="0">
              <a:latin typeface="+mn-lt"/>
              <a:ea typeface="+mn-ea"/>
            </a:endParaRPr>
          </a:p>
        </p:txBody>
      </p:sp>
      <p:grpSp>
        <p:nvGrpSpPr>
          <p:cNvPr id="33914" name="Group 123"/>
          <p:cNvGrpSpPr/>
          <p:nvPr/>
        </p:nvGrpSpPr>
        <p:grpSpPr bwMode="auto">
          <a:xfrm>
            <a:off x="2438400" y="1693863"/>
            <a:ext cx="1447800" cy="4494212"/>
            <a:chOff x="0" y="0"/>
            <a:chExt cx="1056" cy="1392"/>
          </a:xfrm>
        </p:grpSpPr>
        <p:sp>
          <p:nvSpPr>
            <p:cNvPr id="33915" name="Line 124"/>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3916" name="Line 125"/>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3917" name="Line 126"/>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3918" name="Text Box 127"/>
          <p:cNvSpPr>
            <a:spLocks noChangeArrowheads="1"/>
          </p:cNvSpPr>
          <p:nvPr/>
        </p:nvSpPr>
        <p:spPr bwMode="auto">
          <a:xfrm>
            <a:off x="1905000" y="5764214"/>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3919" name="Rectangle 128"/>
          <p:cNvSpPr>
            <a:spLocks noChangeArrowheads="1"/>
          </p:cNvSpPr>
          <p:nvPr/>
        </p:nvSpPr>
        <p:spPr bwMode="auto">
          <a:xfrm>
            <a:off x="2438401" y="586581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3920" name="Rectangle 129"/>
          <p:cNvSpPr>
            <a:spLocks noChangeArrowheads="1"/>
          </p:cNvSpPr>
          <p:nvPr/>
        </p:nvSpPr>
        <p:spPr bwMode="auto">
          <a:xfrm>
            <a:off x="2438401" y="5562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3921" name="Rectangle 130"/>
          <p:cNvSpPr>
            <a:spLocks noChangeArrowheads="1"/>
          </p:cNvSpPr>
          <p:nvPr/>
        </p:nvSpPr>
        <p:spPr bwMode="auto">
          <a:xfrm>
            <a:off x="2438401" y="5257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3922" name="Rectangle 131"/>
          <p:cNvSpPr>
            <a:spLocks noChangeArrowheads="1"/>
          </p:cNvSpPr>
          <p:nvPr/>
        </p:nvSpPr>
        <p:spPr bwMode="auto">
          <a:xfrm>
            <a:off x="2438401" y="4953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3923" name="Rectangle 132"/>
          <p:cNvSpPr>
            <a:spLocks noChangeArrowheads="1"/>
          </p:cNvSpPr>
          <p:nvPr/>
        </p:nvSpPr>
        <p:spPr bwMode="auto">
          <a:xfrm>
            <a:off x="2438401" y="4648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41093" name="Rectangle 133"/>
          <p:cNvSpPr>
            <a:spLocks noChangeArrowheads="1"/>
          </p:cNvSpPr>
          <p:nvPr/>
        </p:nvSpPr>
        <p:spPr bwMode="auto">
          <a:xfrm>
            <a:off x="2438401" y="1600201"/>
            <a:ext cx="1439863" cy="322263"/>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(8,8)</a:t>
            </a:r>
            <a:endParaRPr lang="en-US" altLang="zh-CN"/>
          </a:p>
        </p:txBody>
      </p:sp>
      <p:sp>
        <p:nvSpPr>
          <p:cNvPr id="33925" name="Rectangle 134"/>
          <p:cNvSpPr>
            <a:spLocks noChangeArrowheads="1"/>
          </p:cNvSpPr>
          <p:nvPr/>
        </p:nvSpPr>
        <p:spPr bwMode="auto">
          <a:xfrm>
            <a:off x="2438401" y="4343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3926" name="Rectangle 135"/>
          <p:cNvSpPr>
            <a:spLocks noChangeArrowheads="1"/>
          </p:cNvSpPr>
          <p:nvPr/>
        </p:nvSpPr>
        <p:spPr bwMode="auto">
          <a:xfrm>
            <a:off x="2438401" y="4038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3927" name="Rectangle 136"/>
          <p:cNvSpPr>
            <a:spLocks noChangeArrowheads="1"/>
          </p:cNvSpPr>
          <p:nvPr/>
        </p:nvSpPr>
        <p:spPr bwMode="auto">
          <a:xfrm>
            <a:off x="2438401" y="3733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3928" name="Rectangle 137"/>
          <p:cNvSpPr>
            <a:spLocks noChangeArrowheads="1"/>
          </p:cNvSpPr>
          <p:nvPr/>
        </p:nvSpPr>
        <p:spPr bwMode="auto">
          <a:xfrm>
            <a:off x="2438401" y="3429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3929" name="Rectangle 138"/>
          <p:cNvSpPr>
            <a:spLocks noChangeArrowheads="1"/>
          </p:cNvSpPr>
          <p:nvPr/>
        </p:nvSpPr>
        <p:spPr bwMode="auto">
          <a:xfrm>
            <a:off x="2438401" y="3124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3930" name="Rectangle 139"/>
          <p:cNvSpPr>
            <a:spLocks noChangeArrowheads="1"/>
          </p:cNvSpPr>
          <p:nvPr/>
        </p:nvSpPr>
        <p:spPr bwMode="auto">
          <a:xfrm>
            <a:off x="2438401" y="2819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33931" name="Rectangle 140"/>
          <p:cNvSpPr>
            <a:spLocks noChangeArrowheads="1"/>
          </p:cNvSpPr>
          <p:nvPr/>
        </p:nvSpPr>
        <p:spPr bwMode="auto">
          <a:xfrm>
            <a:off x="2438401" y="2514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33932" name="Rectangle 141"/>
          <p:cNvSpPr>
            <a:spLocks noChangeArrowheads="1"/>
          </p:cNvSpPr>
          <p:nvPr/>
        </p:nvSpPr>
        <p:spPr bwMode="auto">
          <a:xfrm>
            <a:off x="2438401" y="222726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pic>
        <p:nvPicPr>
          <p:cNvPr id="41102" name="Picture 14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153400" y="5351463"/>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3934" name="Rectangle 143"/>
          <p:cNvSpPr>
            <a:spLocks noChangeArrowheads="1"/>
          </p:cNvSpPr>
          <p:nvPr/>
        </p:nvSpPr>
        <p:spPr bwMode="auto">
          <a:xfrm>
            <a:off x="7391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41104" name="Rectangle 144"/>
          <p:cNvSpPr>
            <a:spLocks noChangeArrowheads="1"/>
          </p:cNvSpPr>
          <p:nvPr/>
        </p:nvSpPr>
        <p:spPr bwMode="auto">
          <a:xfrm>
            <a:off x="7772400" y="5351463"/>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936" name="Rectangle 145"/>
          <p:cNvSpPr>
            <a:spLocks noChangeArrowheads="1"/>
          </p:cNvSpPr>
          <p:nvPr/>
        </p:nvSpPr>
        <p:spPr bwMode="auto">
          <a:xfrm>
            <a:off x="2438401" y="1905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(8,7)</a:t>
            </a:r>
            <a:endParaRPr lang="en-US" altLang="zh-CN"/>
          </a:p>
        </p:txBody>
      </p:sp>
      <p:sp>
        <p:nvSpPr>
          <p:cNvPr id="14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1082">
                                            <p:txEl>
                                              <p:pRg st="0" end="0"/>
                                            </p:txEl>
                                          </p:spTgt>
                                        </p:tgtEl>
                                        <p:attrNameLst>
                                          <p:attrName>style.visibility</p:attrName>
                                        </p:attrNameLst>
                                      </p:cBhvr>
                                      <p:to>
                                        <p:strVal val="visible"/>
                                      </p:to>
                                    </p:set>
                                    <p:animEffect filter="wipe(left)">
                                      <p:cBhvr>
                                        <p:cTn id="7" dur="500"/>
                                        <p:tgtEl>
                                          <p:spTgt spid="4108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1104"/>
                                        </p:tgtEl>
                                        <p:attrNameLst>
                                          <p:attrName>style.visibility</p:attrName>
                                        </p:attrNameLst>
                                      </p:cBhvr>
                                      <p:to>
                                        <p:strVal val="visible"/>
                                      </p:to>
                                    </p:set>
                                    <p:animEffect filter="wipe(left)">
                                      <p:cBhvr>
                                        <p:cTn id="12" dur="500"/>
                                        <p:tgtEl>
                                          <p:spTgt spid="41104"/>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41102"/>
                                        </p:tgtEl>
                                        <p:attrNameLst>
                                          <p:attrName>style.visibility</p:attrName>
                                        </p:attrNameLst>
                                      </p:cBhvr>
                                      <p:to>
                                        <p:strVal val="visible"/>
                                      </p:to>
                                    </p:set>
                                    <p:animEffect filter="slide(fromLeft)">
                                      <p:cBhvr>
                                        <p:cTn id="16" dur="500"/>
                                        <p:tgtEl>
                                          <p:spTgt spid="41102"/>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41093"/>
                                        </p:tgtEl>
                                        <p:attrNameLst>
                                          <p:attrName>style.visibility</p:attrName>
                                        </p:attrNameLst>
                                      </p:cBhvr>
                                      <p:to>
                                        <p:strVal val="visible"/>
                                      </p:to>
                                    </p:set>
                                    <p:anim calcmode="lin" valueType="num">
                                      <p:cBhvr>
                                        <p:cTn id="20" dur="500" fill="hold"/>
                                        <p:tgtEl>
                                          <p:spTgt spid="41093"/>
                                        </p:tgtEl>
                                        <p:attrNameLst>
                                          <p:attrName>ppt_x</p:attrName>
                                        </p:attrNameLst>
                                      </p:cBhvr>
                                      <p:tavLst>
                                        <p:tav tm="0">
                                          <p:val>
                                            <p:strVal val="#ppt_x"/>
                                          </p:val>
                                        </p:tav>
                                        <p:tav tm="100000">
                                          <p:val>
                                            <p:strVal val="#ppt_x"/>
                                          </p:val>
                                        </p:tav>
                                      </p:tavLst>
                                    </p:anim>
                                    <p:anim calcmode="lin" valueType="num">
                                      <p:cBhvr>
                                        <p:cTn id="21" dur="500" fill="hold"/>
                                        <p:tgtEl>
                                          <p:spTgt spid="4109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82" grpId="0" build="p" bldLvl="0"/>
      <p:bldP spid="41093" grpId="0" bldLvl="0" animBg="1"/>
      <p:bldP spid="41104" grpId="0" bldLvl="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4"/>
          <p:cNvSpPr>
            <a:spLocks noGrp="1"/>
          </p:cNvSpPr>
          <p:nvPr>
            <p:ph type="title" idx="4294967295"/>
          </p:nvPr>
        </p:nvSpPr>
        <p:spPr>
          <a:xfrm>
            <a:off x="0" y="274638"/>
            <a:ext cx="8229600" cy="1143000"/>
          </a:xfrm>
        </p:spPr>
        <p:txBody>
          <a:bodyPr vert="horz" wrap="square" anchor="b"/>
          <a:lstStyle/>
          <a:p>
            <a:r>
              <a:rPr lang="en-US" altLang="zh-CN" noProof="1"/>
              <a:t> </a:t>
            </a:r>
          </a:p>
        </p:txBody>
      </p:sp>
      <p:sp>
        <p:nvSpPr>
          <p:cNvPr id="41987" name="Rectangle 132"/>
          <p:cNvSpPr>
            <a:spLocks noGrp="1"/>
          </p:cNvSpPr>
          <p:nvPr>
            <p:ph type="body" idx="4294967295"/>
          </p:nvPr>
        </p:nvSpPr>
        <p:spPr>
          <a:xfrm>
            <a:off x="5813394" y="1211895"/>
            <a:ext cx="2244006" cy="533400"/>
          </a:xfrm>
        </p:spPr>
        <p:txBody>
          <a:bodyPr vert="horz" wrap="square" anchor="ctr"/>
          <a:lstStyle/>
          <a:p>
            <a:pPr marL="609600" indent="-609600">
              <a:buNone/>
            </a:pPr>
            <a:r>
              <a:rPr lang="zh-CN" altLang="en-US" sz="2200" b="1" noProof="1"/>
              <a:t>用栈保存了路径</a:t>
            </a:r>
          </a:p>
        </p:txBody>
      </p:sp>
      <p:sp>
        <p:nvSpPr>
          <p:cNvPr id="34819" name="Rectangle 2"/>
          <p:cNvSpPr>
            <a:spLocks noChangeArrowheads="1"/>
          </p:cNvSpPr>
          <p:nvPr/>
        </p:nvSpPr>
        <p:spPr bwMode="auto">
          <a:xfrm>
            <a:off x="5486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20" name="Rectangle 3"/>
          <p:cNvSpPr>
            <a:spLocks noChangeArrowheads="1"/>
          </p:cNvSpPr>
          <p:nvPr/>
        </p:nvSpPr>
        <p:spPr bwMode="auto">
          <a:xfrm>
            <a:off x="5867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1" name="Rectangle 4"/>
          <p:cNvSpPr>
            <a:spLocks noChangeArrowheads="1"/>
          </p:cNvSpPr>
          <p:nvPr/>
        </p:nvSpPr>
        <p:spPr bwMode="auto">
          <a:xfrm>
            <a:off x="6248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2" name="Rectangle 5"/>
          <p:cNvSpPr>
            <a:spLocks noChangeArrowheads="1"/>
          </p:cNvSpPr>
          <p:nvPr/>
        </p:nvSpPr>
        <p:spPr bwMode="auto">
          <a:xfrm>
            <a:off x="6629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3" name="Rectangle 6"/>
          <p:cNvSpPr>
            <a:spLocks noChangeArrowheads="1"/>
          </p:cNvSpPr>
          <p:nvPr/>
        </p:nvSpPr>
        <p:spPr bwMode="auto">
          <a:xfrm>
            <a:off x="7010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4" name="Rectangle 7"/>
          <p:cNvSpPr>
            <a:spLocks noChangeArrowheads="1"/>
          </p:cNvSpPr>
          <p:nvPr/>
        </p:nvSpPr>
        <p:spPr bwMode="auto">
          <a:xfrm>
            <a:off x="7391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5" name="Rectangle 8"/>
          <p:cNvSpPr>
            <a:spLocks noChangeArrowheads="1"/>
          </p:cNvSpPr>
          <p:nvPr/>
        </p:nvSpPr>
        <p:spPr bwMode="auto">
          <a:xfrm>
            <a:off x="7772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6" name="Rectangle 9"/>
          <p:cNvSpPr>
            <a:spLocks noChangeArrowheads="1"/>
          </p:cNvSpPr>
          <p:nvPr/>
        </p:nvSpPr>
        <p:spPr bwMode="auto">
          <a:xfrm>
            <a:off x="8153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7" name="Rectangle 10"/>
          <p:cNvSpPr>
            <a:spLocks noChangeArrowheads="1"/>
          </p:cNvSpPr>
          <p:nvPr/>
        </p:nvSpPr>
        <p:spPr bwMode="auto">
          <a:xfrm>
            <a:off x="5486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28" name="Rectangle 11"/>
          <p:cNvSpPr>
            <a:spLocks noChangeArrowheads="1"/>
          </p:cNvSpPr>
          <p:nvPr/>
        </p:nvSpPr>
        <p:spPr bwMode="auto">
          <a:xfrm>
            <a:off x="5867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9" name="Rectangle 12"/>
          <p:cNvSpPr>
            <a:spLocks noChangeArrowheads="1"/>
          </p:cNvSpPr>
          <p:nvPr/>
        </p:nvSpPr>
        <p:spPr bwMode="auto">
          <a:xfrm>
            <a:off x="6248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0" name="Rectangle 13"/>
          <p:cNvSpPr>
            <a:spLocks noChangeArrowheads="1"/>
          </p:cNvSpPr>
          <p:nvPr/>
        </p:nvSpPr>
        <p:spPr bwMode="auto">
          <a:xfrm>
            <a:off x="6629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1" name="Rectangle 14"/>
          <p:cNvSpPr>
            <a:spLocks noChangeArrowheads="1"/>
          </p:cNvSpPr>
          <p:nvPr/>
        </p:nvSpPr>
        <p:spPr bwMode="auto">
          <a:xfrm>
            <a:off x="7010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2" name="Rectangle 15"/>
          <p:cNvSpPr>
            <a:spLocks noChangeArrowheads="1"/>
          </p:cNvSpPr>
          <p:nvPr/>
        </p:nvSpPr>
        <p:spPr bwMode="auto">
          <a:xfrm>
            <a:off x="7391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3" name="Rectangle 16"/>
          <p:cNvSpPr>
            <a:spLocks noChangeArrowheads="1"/>
          </p:cNvSpPr>
          <p:nvPr/>
        </p:nvSpPr>
        <p:spPr bwMode="auto">
          <a:xfrm>
            <a:off x="7772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4" name="Rectangle 17"/>
          <p:cNvSpPr>
            <a:spLocks noChangeArrowheads="1"/>
          </p:cNvSpPr>
          <p:nvPr/>
        </p:nvSpPr>
        <p:spPr bwMode="auto">
          <a:xfrm>
            <a:off x="8153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5" name="Rectangle 18"/>
          <p:cNvSpPr>
            <a:spLocks noChangeArrowheads="1"/>
          </p:cNvSpPr>
          <p:nvPr/>
        </p:nvSpPr>
        <p:spPr bwMode="auto">
          <a:xfrm>
            <a:off x="5486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36" name="Rectangle 19"/>
          <p:cNvSpPr>
            <a:spLocks noChangeArrowheads="1"/>
          </p:cNvSpPr>
          <p:nvPr/>
        </p:nvSpPr>
        <p:spPr bwMode="auto">
          <a:xfrm>
            <a:off x="5867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7" name="Rectangle 20"/>
          <p:cNvSpPr>
            <a:spLocks noChangeArrowheads="1"/>
          </p:cNvSpPr>
          <p:nvPr/>
        </p:nvSpPr>
        <p:spPr bwMode="auto">
          <a:xfrm>
            <a:off x="6248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8" name="Rectangle 21"/>
          <p:cNvSpPr>
            <a:spLocks noChangeArrowheads="1"/>
          </p:cNvSpPr>
          <p:nvPr/>
        </p:nvSpPr>
        <p:spPr bwMode="auto">
          <a:xfrm>
            <a:off x="6629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9" name="Rectangle 22"/>
          <p:cNvSpPr>
            <a:spLocks noChangeArrowheads="1"/>
          </p:cNvSpPr>
          <p:nvPr/>
        </p:nvSpPr>
        <p:spPr bwMode="auto">
          <a:xfrm>
            <a:off x="7010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0" name="Rectangle 23"/>
          <p:cNvSpPr>
            <a:spLocks noChangeArrowheads="1"/>
          </p:cNvSpPr>
          <p:nvPr/>
        </p:nvSpPr>
        <p:spPr bwMode="auto">
          <a:xfrm>
            <a:off x="7391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1" name="Rectangle 24"/>
          <p:cNvSpPr>
            <a:spLocks noChangeArrowheads="1"/>
          </p:cNvSpPr>
          <p:nvPr/>
        </p:nvSpPr>
        <p:spPr bwMode="auto">
          <a:xfrm>
            <a:off x="7772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2" name="Rectangle 25"/>
          <p:cNvSpPr>
            <a:spLocks noChangeArrowheads="1"/>
          </p:cNvSpPr>
          <p:nvPr/>
        </p:nvSpPr>
        <p:spPr bwMode="auto">
          <a:xfrm>
            <a:off x="8153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3" name="Rectangle 26"/>
          <p:cNvSpPr>
            <a:spLocks noChangeArrowheads="1"/>
          </p:cNvSpPr>
          <p:nvPr/>
        </p:nvSpPr>
        <p:spPr bwMode="auto">
          <a:xfrm>
            <a:off x="5486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44" name="Rectangle 27"/>
          <p:cNvSpPr>
            <a:spLocks noChangeArrowheads="1"/>
          </p:cNvSpPr>
          <p:nvPr/>
        </p:nvSpPr>
        <p:spPr bwMode="auto">
          <a:xfrm>
            <a:off x="5867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5" name="Rectangle 28"/>
          <p:cNvSpPr>
            <a:spLocks noChangeArrowheads="1"/>
          </p:cNvSpPr>
          <p:nvPr/>
        </p:nvSpPr>
        <p:spPr bwMode="auto">
          <a:xfrm>
            <a:off x="6248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6" name="Rectangle 29"/>
          <p:cNvSpPr>
            <a:spLocks noChangeArrowheads="1"/>
          </p:cNvSpPr>
          <p:nvPr/>
        </p:nvSpPr>
        <p:spPr bwMode="auto">
          <a:xfrm>
            <a:off x="6629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7" name="Rectangle 30"/>
          <p:cNvSpPr>
            <a:spLocks noChangeArrowheads="1"/>
          </p:cNvSpPr>
          <p:nvPr/>
        </p:nvSpPr>
        <p:spPr bwMode="auto">
          <a:xfrm>
            <a:off x="7010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8" name="Rectangle 31"/>
          <p:cNvSpPr>
            <a:spLocks noChangeArrowheads="1"/>
          </p:cNvSpPr>
          <p:nvPr/>
        </p:nvSpPr>
        <p:spPr bwMode="auto">
          <a:xfrm>
            <a:off x="7391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9" name="Rectangle 32"/>
          <p:cNvSpPr>
            <a:spLocks noChangeArrowheads="1"/>
          </p:cNvSpPr>
          <p:nvPr/>
        </p:nvSpPr>
        <p:spPr bwMode="auto">
          <a:xfrm>
            <a:off x="7772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0" name="Rectangle 33"/>
          <p:cNvSpPr>
            <a:spLocks noChangeArrowheads="1"/>
          </p:cNvSpPr>
          <p:nvPr/>
        </p:nvSpPr>
        <p:spPr bwMode="auto">
          <a:xfrm>
            <a:off x="8153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1" name="Rectangle 34"/>
          <p:cNvSpPr>
            <a:spLocks noChangeArrowheads="1"/>
          </p:cNvSpPr>
          <p:nvPr/>
        </p:nvSpPr>
        <p:spPr bwMode="auto">
          <a:xfrm>
            <a:off x="5486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52" name="Rectangle 35"/>
          <p:cNvSpPr>
            <a:spLocks noChangeArrowheads="1"/>
          </p:cNvSpPr>
          <p:nvPr/>
        </p:nvSpPr>
        <p:spPr bwMode="auto">
          <a:xfrm>
            <a:off x="5867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53" name="Rectangle 36"/>
          <p:cNvSpPr>
            <a:spLocks noChangeArrowheads="1"/>
          </p:cNvSpPr>
          <p:nvPr/>
        </p:nvSpPr>
        <p:spPr bwMode="auto">
          <a:xfrm>
            <a:off x="6248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54" name="Rectangle 37"/>
          <p:cNvSpPr>
            <a:spLocks noChangeArrowheads="1"/>
          </p:cNvSpPr>
          <p:nvPr/>
        </p:nvSpPr>
        <p:spPr bwMode="auto">
          <a:xfrm>
            <a:off x="6629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5" name="Rectangle 38"/>
          <p:cNvSpPr>
            <a:spLocks noChangeArrowheads="1"/>
          </p:cNvSpPr>
          <p:nvPr/>
        </p:nvSpPr>
        <p:spPr bwMode="auto">
          <a:xfrm>
            <a:off x="7010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6" name="Rectangle 39"/>
          <p:cNvSpPr>
            <a:spLocks noChangeArrowheads="1"/>
          </p:cNvSpPr>
          <p:nvPr/>
        </p:nvSpPr>
        <p:spPr bwMode="auto">
          <a:xfrm>
            <a:off x="7391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7" name="Rectangle 40"/>
          <p:cNvSpPr>
            <a:spLocks noChangeArrowheads="1"/>
          </p:cNvSpPr>
          <p:nvPr/>
        </p:nvSpPr>
        <p:spPr bwMode="auto">
          <a:xfrm>
            <a:off x="7772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8" name="Rectangle 41"/>
          <p:cNvSpPr>
            <a:spLocks noChangeArrowheads="1"/>
          </p:cNvSpPr>
          <p:nvPr/>
        </p:nvSpPr>
        <p:spPr bwMode="auto">
          <a:xfrm>
            <a:off x="8153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9" name="Rectangle 42"/>
          <p:cNvSpPr>
            <a:spLocks noChangeArrowheads="1"/>
          </p:cNvSpPr>
          <p:nvPr/>
        </p:nvSpPr>
        <p:spPr bwMode="auto">
          <a:xfrm>
            <a:off x="5486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4860" name="Rectangle 43"/>
          <p:cNvSpPr>
            <a:spLocks noChangeArrowheads="1"/>
          </p:cNvSpPr>
          <p:nvPr/>
        </p:nvSpPr>
        <p:spPr bwMode="auto">
          <a:xfrm>
            <a:off x="5867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1" name="Rectangle 44"/>
          <p:cNvSpPr>
            <a:spLocks noChangeArrowheads="1"/>
          </p:cNvSpPr>
          <p:nvPr/>
        </p:nvSpPr>
        <p:spPr bwMode="auto">
          <a:xfrm>
            <a:off x="6248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62" name="Rectangle 45"/>
          <p:cNvSpPr>
            <a:spLocks noChangeArrowheads="1"/>
          </p:cNvSpPr>
          <p:nvPr/>
        </p:nvSpPr>
        <p:spPr bwMode="auto">
          <a:xfrm>
            <a:off x="6629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63" name="Rectangle 46"/>
          <p:cNvSpPr>
            <a:spLocks noChangeArrowheads="1"/>
          </p:cNvSpPr>
          <p:nvPr/>
        </p:nvSpPr>
        <p:spPr bwMode="auto">
          <a:xfrm>
            <a:off x="7010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64" name="Rectangle 47"/>
          <p:cNvSpPr>
            <a:spLocks noChangeArrowheads="1"/>
          </p:cNvSpPr>
          <p:nvPr/>
        </p:nvSpPr>
        <p:spPr bwMode="auto">
          <a:xfrm>
            <a:off x="7391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5" name="Rectangle 48"/>
          <p:cNvSpPr>
            <a:spLocks noChangeArrowheads="1"/>
          </p:cNvSpPr>
          <p:nvPr/>
        </p:nvSpPr>
        <p:spPr bwMode="auto">
          <a:xfrm>
            <a:off x="7772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6" name="Rectangle 49"/>
          <p:cNvSpPr>
            <a:spLocks noChangeArrowheads="1"/>
          </p:cNvSpPr>
          <p:nvPr/>
        </p:nvSpPr>
        <p:spPr bwMode="auto">
          <a:xfrm>
            <a:off x="8153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7" name="Rectangle 50"/>
          <p:cNvSpPr>
            <a:spLocks noChangeArrowheads="1"/>
          </p:cNvSpPr>
          <p:nvPr/>
        </p:nvSpPr>
        <p:spPr bwMode="auto">
          <a:xfrm>
            <a:off x="5486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4868" name="Rectangle 51"/>
          <p:cNvSpPr>
            <a:spLocks noChangeArrowheads="1"/>
          </p:cNvSpPr>
          <p:nvPr/>
        </p:nvSpPr>
        <p:spPr bwMode="auto">
          <a:xfrm>
            <a:off x="5867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9" name="Rectangle 52"/>
          <p:cNvSpPr>
            <a:spLocks noChangeArrowheads="1"/>
          </p:cNvSpPr>
          <p:nvPr/>
        </p:nvSpPr>
        <p:spPr bwMode="auto">
          <a:xfrm>
            <a:off x="6248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0" name="Rectangle 53"/>
          <p:cNvSpPr>
            <a:spLocks noChangeArrowheads="1"/>
          </p:cNvSpPr>
          <p:nvPr/>
        </p:nvSpPr>
        <p:spPr bwMode="auto">
          <a:xfrm>
            <a:off x="6629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1" name="Rectangle 54"/>
          <p:cNvSpPr>
            <a:spLocks noChangeArrowheads="1"/>
          </p:cNvSpPr>
          <p:nvPr/>
        </p:nvSpPr>
        <p:spPr bwMode="auto">
          <a:xfrm>
            <a:off x="7010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72" name="Rectangle 55"/>
          <p:cNvSpPr>
            <a:spLocks noChangeArrowheads="1"/>
          </p:cNvSpPr>
          <p:nvPr/>
        </p:nvSpPr>
        <p:spPr bwMode="auto">
          <a:xfrm>
            <a:off x="7391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3" name="Rectangle 56"/>
          <p:cNvSpPr>
            <a:spLocks noChangeArrowheads="1"/>
          </p:cNvSpPr>
          <p:nvPr/>
        </p:nvSpPr>
        <p:spPr bwMode="auto">
          <a:xfrm>
            <a:off x="7772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4" name="Rectangle 57"/>
          <p:cNvSpPr>
            <a:spLocks noChangeArrowheads="1"/>
          </p:cNvSpPr>
          <p:nvPr/>
        </p:nvSpPr>
        <p:spPr bwMode="auto">
          <a:xfrm>
            <a:off x="8153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5" name="Rectangle 58"/>
          <p:cNvSpPr>
            <a:spLocks noChangeArrowheads="1"/>
          </p:cNvSpPr>
          <p:nvPr/>
        </p:nvSpPr>
        <p:spPr bwMode="auto">
          <a:xfrm>
            <a:off x="5486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6" name="Rectangle 59"/>
          <p:cNvSpPr>
            <a:spLocks noChangeArrowheads="1"/>
          </p:cNvSpPr>
          <p:nvPr/>
        </p:nvSpPr>
        <p:spPr bwMode="auto">
          <a:xfrm>
            <a:off x="5867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7" name="Rectangle 60"/>
          <p:cNvSpPr>
            <a:spLocks noChangeArrowheads="1"/>
          </p:cNvSpPr>
          <p:nvPr/>
        </p:nvSpPr>
        <p:spPr bwMode="auto">
          <a:xfrm>
            <a:off x="6248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8" name="Rectangle 61"/>
          <p:cNvSpPr>
            <a:spLocks noChangeArrowheads="1"/>
          </p:cNvSpPr>
          <p:nvPr/>
        </p:nvSpPr>
        <p:spPr bwMode="auto">
          <a:xfrm>
            <a:off x="6629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9" name="Rectangle 62"/>
          <p:cNvSpPr>
            <a:spLocks noChangeArrowheads="1"/>
          </p:cNvSpPr>
          <p:nvPr/>
        </p:nvSpPr>
        <p:spPr bwMode="auto">
          <a:xfrm>
            <a:off x="7010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80" name="Rectangle 63"/>
          <p:cNvSpPr>
            <a:spLocks noChangeArrowheads="1"/>
          </p:cNvSpPr>
          <p:nvPr/>
        </p:nvSpPr>
        <p:spPr bwMode="auto">
          <a:xfrm>
            <a:off x="7391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81" name="Rectangle 64"/>
          <p:cNvSpPr>
            <a:spLocks noChangeArrowheads="1"/>
          </p:cNvSpPr>
          <p:nvPr/>
        </p:nvSpPr>
        <p:spPr bwMode="auto">
          <a:xfrm>
            <a:off x="7772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82" name="Rectangle 65"/>
          <p:cNvSpPr>
            <a:spLocks noChangeArrowheads="1"/>
          </p:cNvSpPr>
          <p:nvPr/>
        </p:nvSpPr>
        <p:spPr bwMode="auto">
          <a:xfrm>
            <a:off x="8153400" y="5351463"/>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83" name="Rectangle 66"/>
          <p:cNvSpPr>
            <a:spLocks noChangeArrowheads="1"/>
          </p:cNvSpPr>
          <p:nvPr/>
        </p:nvSpPr>
        <p:spPr bwMode="auto">
          <a:xfrm>
            <a:off x="4648200" y="5351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4884" name="Rectangle 67"/>
          <p:cNvSpPr>
            <a:spLocks noChangeArrowheads="1"/>
          </p:cNvSpPr>
          <p:nvPr/>
        </p:nvSpPr>
        <p:spPr bwMode="auto">
          <a:xfrm>
            <a:off x="4648200" y="2684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4885" name="Rectangle 68"/>
          <p:cNvSpPr>
            <a:spLocks noChangeArrowheads="1"/>
          </p:cNvSpPr>
          <p:nvPr/>
        </p:nvSpPr>
        <p:spPr bwMode="auto">
          <a:xfrm>
            <a:off x="4648200" y="3065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4886" name="Rectangle 69"/>
          <p:cNvSpPr>
            <a:spLocks noChangeArrowheads="1"/>
          </p:cNvSpPr>
          <p:nvPr/>
        </p:nvSpPr>
        <p:spPr bwMode="auto">
          <a:xfrm>
            <a:off x="4648200" y="3446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4887" name="Rectangle 70"/>
          <p:cNvSpPr>
            <a:spLocks noChangeArrowheads="1"/>
          </p:cNvSpPr>
          <p:nvPr/>
        </p:nvSpPr>
        <p:spPr bwMode="auto">
          <a:xfrm>
            <a:off x="4648200" y="3827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4888" name="Rectangle 71"/>
          <p:cNvSpPr>
            <a:spLocks noChangeArrowheads="1"/>
          </p:cNvSpPr>
          <p:nvPr/>
        </p:nvSpPr>
        <p:spPr bwMode="auto">
          <a:xfrm>
            <a:off x="4648200" y="4208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4889" name="Rectangle 72"/>
          <p:cNvSpPr>
            <a:spLocks noChangeArrowheads="1"/>
          </p:cNvSpPr>
          <p:nvPr/>
        </p:nvSpPr>
        <p:spPr bwMode="auto">
          <a:xfrm>
            <a:off x="4648200" y="4589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4890" name="Rectangle 73"/>
          <p:cNvSpPr>
            <a:spLocks noChangeArrowheads="1"/>
          </p:cNvSpPr>
          <p:nvPr/>
        </p:nvSpPr>
        <p:spPr bwMode="auto">
          <a:xfrm>
            <a:off x="4648200" y="4970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4891" name="Rectangle 75"/>
          <p:cNvSpPr>
            <a:spLocks noChangeArrowheads="1"/>
          </p:cNvSpPr>
          <p:nvPr/>
        </p:nvSpPr>
        <p:spPr bwMode="auto">
          <a:xfrm>
            <a:off x="5105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2" name="Rectangle 76"/>
          <p:cNvSpPr>
            <a:spLocks noChangeArrowheads="1"/>
          </p:cNvSpPr>
          <p:nvPr/>
        </p:nvSpPr>
        <p:spPr bwMode="auto">
          <a:xfrm>
            <a:off x="5105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3" name="Rectangle 77"/>
          <p:cNvSpPr>
            <a:spLocks noChangeArrowheads="1"/>
          </p:cNvSpPr>
          <p:nvPr/>
        </p:nvSpPr>
        <p:spPr bwMode="auto">
          <a:xfrm>
            <a:off x="5105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4" name="Rectangle 78"/>
          <p:cNvSpPr>
            <a:spLocks noChangeArrowheads="1"/>
          </p:cNvSpPr>
          <p:nvPr/>
        </p:nvSpPr>
        <p:spPr bwMode="auto">
          <a:xfrm>
            <a:off x="5105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5" name="Rectangle 79"/>
          <p:cNvSpPr>
            <a:spLocks noChangeArrowheads="1"/>
          </p:cNvSpPr>
          <p:nvPr/>
        </p:nvSpPr>
        <p:spPr bwMode="auto">
          <a:xfrm>
            <a:off x="5105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6" name="Rectangle 80"/>
          <p:cNvSpPr>
            <a:spLocks noChangeArrowheads="1"/>
          </p:cNvSpPr>
          <p:nvPr/>
        </p:nvSpPr>
        <p:spPr bwMode="auto">
          <a:xfrm>
            <a:off x="5105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7" name="Rectangle 81"/>
          <p:cNvSpPr>
            <a:spLocks noChangeArrowheads="1"/>
          </p:cNvSpPr>
          <p:nvPr/>
        </p:nvSpPr>
        <p:spPr bwMode="auto">
          <a:xfrm>
            <a:off x="5105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8" name="Rectangle 82"/>
          <p:cNvSpPr>
            <a:spLocks noChangeArrowheads="1"/>
          </p:cNvSpPr>
          <p:nvPr/>
        </p:nvSpPr>
        <p:spPr bwMode="auto">
          <a:xfrm>
            <a:off x="5105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9" name="Rectangle 83"/>
          <p:cNvSpPr>
            <a:spLocks noChangeArrowheads="1"/>
          </p:cNvSpPr>
          <p:nvPr/>
        </p:nvSpPr>
        <p:spPr bwMode="auto">
          <a:xfrm>
            <a:off x="5105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0" name="Rectangle 84"/>
          <p:cNvSpPr>
            <a:spLocks noChangeArrowheads="1"/>
          </p:cNvSpPr>
          <p:nvPr/>
        </p:nvSpPr>
        <p:spPr bwMode="auto">
          <a:xfrm>
            <a:off x="4648200" y="5732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4901" name="Rectangle 85"/>
          <p:cNvSpPr>
            <a:spLocks noChangeArrowheads="1"/>
          </p:cNvSpPr>
          <p:nvPr/>
        </p:nvSpPr>
        <p:spPr bwMode="auto">
          <a:xfrm>
            <a:off x="8534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2" name="Rectangle 86"/>
          <p:cNvSpPr>
            <a:spLocks noChangeArrowheads="1"/>
          </p:cNvSpPr>
          <p:nvPr/>
        </p:nvSpPr>
        <p:spPr bwMode="auto">
          <a:xfrm>
            <a:off x="8534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3" name="Rectangle 87"/>
          <p:cNvSpPr>
            <a:spLocks noChangeArrowheads="1"/>
          </p:cNvSpPr>
          <p:nvPr/>
        </p:nvSpPr>
        <p:spPr bwMode="auto">
          <a:xfrm>
            <a:off x="8534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4" name="Rectangle 88"/>
          <p:cNvSpPr>
            <a:spLocks noChangeArrowheads="1"/>
          </p:cNvSpPr>
          <p:nvPr/>
        </p:nvSpPr>
        <p:spPr bwMode="auto">
          <a:xfrm>
            <a:off x="8534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5" name="Rectangle 89"/>
          <p:cNvSpPr>
            <a:spLocks noChangeArrowheads="1"/>
          </p:cNvSpPr>
          <p:nvPr/>
        </p:nvSpPr>
        <p:spPr bwMode="auto">
          <a:xfrm>
            <a:off x="8534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6" name="Rectangle 90"/>
          <p:cNvSpPr>
            <a:spLocks noChangeArrowheads="1"/>
          </p:cNvSpPr>
          <p:nvPr/>
        </p:nvSpPr>
        <p:spPr bwMode="auto">
          <a:xfrm>
            <a:off x="8534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7" name="Rectangle 91"/>
          <p:cNvSpPr>
            <a:spLocks noChangeArrowheads="1"/>
          </p:cNvSpPr>
          <p:nvPr/>
        </p:nvSpPr>
        <p:spPr bwMode="auto">
          <a:xfrm>
            <a:off x="8534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8" name="Rectangle 92"/>
          <p:cNvSpPr>
            <a:spLocks noChangeArrowheads="1"/>
          </p:cNvSpPr>
          <p:nvPr/>
        </p:nvSpPr>
        <p:spPr bwMode="auto">
          <a:xfrm>
            <a:off x="8534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9" name="Rectangle 93"/>
          <p:cNvSpPr>
            <a:spLocks noChangeArrowheads="1"/>
          </p:cNvSpPr>
          <p:nvPr/>
        </p:nvSpPr>
        <p:spPr bwMode="auto">
          <a:xfrm>
            <a:off x="8534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0" name="Rectangle 94"/>
          <p:cNvSpPr>
            <a:spLocks noChangeArrowheads="1"/>
          </p:cNvSpPr>
          <p:nvPr/>
        </p:nvSpPr>
        <p:spPr bwMode="auto">
          <a:xfrm>
            <a:off x="5867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1" name="Rectangle 95"/>
          <p:cNvSpPr>
            <a:spLocks noChangeArrowheads="1"/>
          </p:cNvSpPr>
          <p:nvPr/>
        </p:nvSpPr>
        <p:spPr bwMode="auto">
          <a:xfrm>
            <a:off x="6248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2" name="Rectangle 96"/>
          <p:cNvSpPr>
            <a:spLocks noChangeArrowheads="1"/>
          </p:cNvSpPr>
          <p:nvPr/>
        </p:nvSpPr>
        <p:spPr bwMode="auto">
          <a:xfrm>
            <a:off x="6629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3" name="Rectangle 97"/>
          <p:cNvSpPr>
            <a:spLocks noChangeArrowheads="1"/>
          </p:cNvSpPr>
          <p:nvPr/>
        </p:nvSpPr>
        <p:spPr bwMode="auto">
          <a:xfrm>
            <a:off x="7010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4" name="Rectangle 98"/>
          <p:cNvSpPr>
            <a:spLocks noChangeArrowheads="1"/>
          </p:cNvSpPr>
          <p:nvPr/>
        </p:nvSpPr>
        <p:spPr bwMode="auto">
          <a:xfrm>
            <a:off x="7391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5" name="Rectangle 99"/>
          <p:cNvSpPr>
            <a:spLocks noChangeArrowheads="1"/>
          </p:cNvSpPr>
          <p:nvPr/>
        </p:nvSpPr>
        <p:spPr bwMode="auto">
          <a:xfrm>
            <a:off x="7772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6" name="Rectangle 100"/>
          <p:cNvSpPr>
            <a:spLocks noChangeArrowheads="1"/>
          </p:cNvSpPr>
          <p:nvPr/>
        </p:nvSpPr>
        <p:spPr bwMode="auto">
          <a:xfrm>
            <a:off x="8153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7" name="Rectangle 101"/>
          <p:cNvSpPr>
            <a:spLocks noChangeArrowheads="1"/>
          </p:cNvSpPr>
          <p:nvPr/>
        </p:nvSpPr>
        <p:spPr bwMode="auto">
          <a:xfrm>
            <a:off x="5486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8" name="Rectangle 102"/>
          <p:cNvSpPr>
            <a:spLocks noChangeArrowheads="1"/>
          </p:cNvSpPr>
          <p:nvPr/>
        </p:nvSpPr>
        <p:spPr bwMode="auto">
          <a:xfrm>
            <a:off x="5105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9" name="Rectangle 103"/>
          <p:cNvSpPr>
            <a:spLocks noChangeArrowheads="1"/>
          </p:cNvSpPr>
          <p:nvPr/>
        </p:nvSpPr>
        <p:spPr bwMode="auto">
          <a:xfrm>
            <a:off x="8534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0" name="Rectangle 104"/>
          <p:cNvSpPr>
            <a:spLocks noChangeArrowheads="1"/>
          </p:cNvSpPr>
          <p:nvPr/>
        </p:nvSpPr>
        <p:spPr bwMode="auto">
          <a:xfrm>
            <a:off x="5867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1" name="Rectangle 105"/>
          <p:cNvSpPr>
            <a:spLocks noChangeArrowheads="1"/>
          </p:cNvSpPr>
          <p:nvPr/>
        </p:nvSpPr>
        <p:spPr bwMode="auto">
          <a:xfrm>
            <a:off x="6248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2" name="Rectangle 106"/>
          <p:cNvSpPr>
            <a:spLocks noChangeArrowheads="1"/>
          </p:cNvSpPr>
          <p:nvPr/>
        </p:nvSpPr>
        <p:spPr bwMode="auto">
          <a:xfrm>
            <a:off x="6629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3" name="Rectangle 107"/>
          <p:cNvSpPr>
            <a:spLocks noChangeArrowheads="1"/>
          </p:cNvSpPr>
          <p:nvPr/>
        </p:nvSpPr>
        <p:spPr bwMode="auto">
          <a:xfrm>
            <a:off x="7010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4" name="Rectangle 108"/>
          <p:cNvSpPr>
            <a:spLocks noChangeArrowheads="1"/>
          </p:cNvSpPr>
          <p:nvPr/>
        </p:nvSpPr>
        <p:spPr bwMode="auto">
          <a:xfrm>
            <a:off x="7391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5" name="Rectangle 109"/>
          <p:cNvSpPr>
            <a:spLocks noChangeArrowheads="1"/>
          </p:cNvSpPr>
          <p:nvPr/>
        </p:nvSpPr>
        <p:spPr bwMode="auto">
          <a:xfrm>
            <a:off x="7772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6" name="Rectangle 110"/>
          <p:cNvSpPr>
            <a:spLocks noChangeArrowheads="1"/>
          </p:cNvSpPr>
          <p:nvPr/>
        </p:nvSpPr>
        <p:spPr bwMode="auto">
          <a:xfrm>
            <a:off x="8153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7" name="Rectangle 111"/>
          <p:cNvSpPr>
            <a:spLocks noChangeArrowheads="1"/>
          </p:cNvSpPr>
          <p:nvPr/>
        </p:nvSpPr>
        <p:spPr bwMode="auto">
          <a:xfrm>
            <a:off x="5486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grpSp>
        <p:nvGrpSpPr>
          <p:cNvPr id="34928" name="Group 112"/>
          <p:cNvGrpSpPr/>
          <p:nvPr/>
        </p:nvGrpSpPr>
        <p:grpSpPr bwMode="auto">
          <a:xfrm>
            <a:off x="5105400" y="1846263"/>
            <a:ext cx="3810000" cy="381000"/>
            <a:chOff x="0" y="0"/>
            <a:chExt cx="2400" cy="240"/>
          </a:xfrm>
        </p:grpSpPr>
        <p:sp>
          <p:nvSpPr>
            <p:cNvPr id="34929" name="Rectangle 113"/>
            <p:cNvSpPr>
              <a:spLocks noChangeArrowheads="1"/>
            </p:cNvSpPr>
            <p:nvPr/>
          </p:nvSpPr>
          <p:spPr bwMode="auto">
            <a:xfrm>
              <a:off x="192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4930" name="Rectangle 114"/>
            <p:cNvSpPr>
              <a:spLocks noChangeArrowheads="1"/>
            </p:cNvSpPr>
            <p:nvPr/>
          </p:nvSpPr>
          <p:spPr bwMode="auto">
            <a:xfrm>
              <a:off x="2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4931" name="Rectangle 115"/>
            <p:cNvSpPr>
              <a:spLocks noChangeArrowheads="1"/>
            </p:cNvSpPr>
            <p:nvPr/>
          </p:nvSpPr>
          <p:spPr bwMode="auto">
            <a:xfrm>
              <a:off x="4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4932" name="Rectangle 116"/>
            <p:cNvSpPr>
              <a:spLocks noChangeArrowheads="1"/>
            </p:cNvSpPr>
            <p:nvPr/>
          </p:nvSpPr>
          <p:spPr bwMode="auto">
            <a:xfrm>
              <a:off x="72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4933" name="Rectangle 117"/>
            <p:cNvSpPr>
              <a:spLocks noChangeArrowheads="1"/>
            </p:cNvSpPr>
            <p:nvPr/>
          </p:nvSpPr>
          <p:spPr bwMode="auto">
            <a:xfrm>
              <a:off x="96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4934" name="Rectangle 118"/>
            <p:cNvSpPr>
              <a:spLocks noChangeArrowheads="1"/>
            </p:cNvSpPr>
            <p:nvPr/>
          </p:nvSpPr>
          <p:spPr bwMode="auto">
            <a:xfrm>
              <a:off x="120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4935" name="Rectangle 119"/>
            <p:cNvSpPr>
              <a:spLocks noChangeArrowheads="1"/>
            </p:cNvSpPr>
            <p:nvPr/>
          </p:nvSpPr>
          <p:spPr bwMode="auto">
            <a:xfrm>
              <a:off x="14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4936" name="Rectangle 120"/>
            <p:cNvSpPr>
              <a:spLocks noChangeArrowheads="1"/>
            </p:cNvSpPr>
            <p:nvPr/>
          </p:nvSpPr>
          <p:spPr bwMode="auto">
            <a:xfrm>
              <a:off x="16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4937" name="Rectangle 121"/>
            <p:cNvSpPr>
              <a:spLocks noChangeArrowheads="1"/>
            </p:cNvSpPr>
            <p:nvPr/>
          </p:nvSpPr>
          <p:spPr bwMode="auto">
            <a:xfrm>
              <a:off x="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4938" name="Rectangle 122"/>
            <p:cNvSpPr>
              <a:spLocks noChangeArrowheads="1"/>
            </p:cNvSpPr>
            <p:nvPr/>
          </p:nvSpPr>
          <p:spPr bwMode="auto">
            <a:xfrm>
              <a:off x="216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grpSp>
      <p:sp>
        <p:nvSpPr>
          <p:cNvPr id="34939" name="Rectangle 123"/>
          <p:cNvSpPr>
            <a:spLocks noChangeArrowheads="1"/>
          </p:cNvSpPr>
          <p:nvPr/>
        </p:nvSpPr>
        <p:spPr bwMode="auto">
          <a:xfrm>
            <a:off x="4648200" y="2303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pic>
        <p:nvPicPr>
          <p:cNvPr id="34940" name="Picture 12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153400" y="5351463"/>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42110" name="Line 125"/>
          <p:cNvSpPr>
            <a:spLocks noChangeShapeType="1"/>
          </p:cNvSpPr>
          <p:nvPr/>
        </p:nvSpPr>
        <p:spPr bwMode="auto">
          <a:xfrm>
            <a:off x="5562600" y="2913064"/>
            <a:ext cx="1524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1" name="Line 126"/>
          <p:cNvSpPr>
            <a:spLocks noChangeShapeType="1"/>
          </p:cNvSpPr>
          <p:nvPr/>
        </p:nvSpPr>
        <p:spPr bwMode="auto">
          <a:xfrm>
            <a:off x="5715000" y="2913063"/>
            <a:ext cx="0" cy="1524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2" name="Line 127"/>
          <p:cNvSpPr>
            <a:spLocks noChangeShapeType="1"/>
          </p:cNvSpPr>
          <p:nvPr/>
        </p:nvSpPr>
        <p:spPr bwMode="auto">
          <a:xfrm>
            <a:off x="5715000" y="4437064"/>
            <a:ext cx="7620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3" name="Line 128"/>
          <p:cNvSpPr>
            <a:spLocks noChangeShapeType="1"/>
          </p:cNvSpPr>
          <p:nvPr/>
        </p:nvSpPr>
        <p:spPr bwMode="auto">
          <a:xfrm>
            <a:off x="6477000" y="4437063"/>
            <a:ext cx="0" cy="381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4" name="Line 129"/>
          <p:cNvSpPr>
            <a:spLocks noChangeShapeType="1"/>
          </p:cNvSpPr>
          <p:nvPr/>
        </p:nvSpPr>
        <p:spPr bwMode="auto">
          <a:xfrm>
            <a:off x="6477000" y="4818064"/>
            <a:ext cx="7620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5" name="Line 130"/>
          <p:cNvSpPr>
            <a:spLocks noChangeShapeType="1"/>
          </p:cNvSpPr>
          <p:nvPr/>
        </p:nvSpPr>
        <p:spPr bwMode="auto">
          <a:xfrm>
            <a:off x="7239000" y="4818063"/>
            <a:ext cx="0" cy="762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6" name="Line 131"/>
          <p:cNvSpPr>
            <a:spLocks noChangeShapeType="1"/>
          </p:cNvSpPr>
          <p:nvPr/>
        </p:nvSpPr>
        <p:spPr bwMode="auto">
          <a:xfrm>
            <a:off x="7239000" y="5580064"/>
            <a:ext cx="9144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grpSp>
        <p:nvGrpSpPr>
          <p:cNvPr id="34948" name="Group 133"/>
          <p:cNvGrpSpPr/>
          <p:nvPr/>
        </p:nvGrpSpPr>
        <p:grpSpPr bwMode="auto">
          <a:xfrm>
            <a:off x="2438400" y="1693863"/>
            <a:ext cx="1447800" cy="4494212"/>
            <a:chOff x="0" y="0"/>
            <a:chExt cx="1056" cy="1392"/>
          </a:xfrm>
        </p:grpSpPr>
        <p:sp>
          <p:nvSpPr>
            <p:cNvPr id="34949" name="Line 134"/>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4950" name="Line 135"/>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4951" name="Line 136"/>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4952" name="Text Box 137"/>
          <p:cNvSpPr>
            <a:spLocks noChangeArrowheads="1"/>
          </p:cNvSpPr>
          <p:nvPr/>
        </p:nvSpPr>
        <p:spPr bwMode="auto">
          <a:xfrm>
            <a:off x="1905000" y="5764214"/>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42122" name="Rectangle 138"/>
          <p:cNvSpPr>
            <a:spLocks noChangeArrowheads="1"/>
          </p:cNvSpPr>
          <p:nvPr/>
        </p:nvSpPr>
        <p:spPr bwMode="auto">
          <a:xfrm>
            <a:off x="2438401" y="586581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42123" name="Rectangle 139"/>
          <p:cNvSpPr>
            <a:spLocks noChangeArrowheads="1"/>
          </p:cNvSpPr>
          <p:nvPr/>
        </p:nvSpPr>
        <p:spPr bwMode="auto">
          <a:xfrm>
            <a:off x="2438401" y="5562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42124" name="Rectangle 140"/>
          <p:cNvSpPr>
            <a:spLocks noChangeArrowheads="1"/>
          </p:cNvSpPr>
          <p:nvPr/>
        </p:nvSpPr>
        <p:spPr bwMode="auto">
          <a:xfrm>
            <a:off x="2438401" y="5257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42125" name="Rectangle 141"/>
          <p:cNvSpPr>
            <a:spLocks noChangeArrowheads="1"/>
          </p:cNvSpPr>
          <p:nvPr/>
        </p:nvSpPr>
        <p:spPr bwMode="auto">
          <a:xfrm>
            <a:off x="2438401" y="4953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42126" name="Rectangle 142"/>
          <p:cNvSpPr>
            <a:spLocks noChangeArrowheads="1"/>
          </p:cNvSpPr>
          <p:nvPr/>
        </p:nvSpPr>
        <p:spPr bwMode="auto">
          <a:xfrm>
            <a:off x="2438401" y="4648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42127" name="Rectangle 143"/>
          <p:cNvSpPr>
            <a:spLocks noChangeArrowheads="1"/>
          </p:cNvSpPr>
          <p:nvPr/>
        </p:nvSpPr>
        <p:spPr bwMode="auto">
          <a:xfrm>
            <a:off x="2438401" y="1600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(8,8)</a:t>
            </a:r>
            <a:endParaRPr lang="en-US" altLang="zh-CN"/>
          </a:p>
        </p:txBody>
      </p:sp>
      <p:sp>
        <p:nvSpPr>
          <p:cNvPr id="42128" name="Rectangle 144"/>
          <p:cNvSpPr>
            <a:spLocks noChangeArrowheads="1"/>
          </p:cNvSpPr>
          <p:nvPr/>
        </p:nvSpPr>
        <p:spPr bwMode="auto">
          <a:xfrm>
            <a:off x="2438401" y="4343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42129" name="Rectangle 145"/>
          <p:cNvSpPr>
            <a:spLocks noChangeArrowheads="1"/>
          </p:cNvSpPr>
          <p:nvPr/>
        </p:nvSpPr>
        <p:spPr bwMode="auto">
          <a:xfrm>
            <a:off x="2438401" y="4038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42130" name="Rectangle 146"/>
          <p:cNvSpPr>
            <a:spLocks noChangeArrowheads="1"/>
          </p:cNvSpPr>
          <p:nvPr/>
        </p:nvSpPr>
        <p:spPr bwMode="auto">
          <a:xfrm>
            <a:off x="2438401" y="3733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42131" name="Rectangle 147"/>
          <p:cNvSpPr>
            <a:spLocks noChangeArrowheads="1"/>
          </p:cNvSpPr>
          <p:nvPr/>
        </p:nvSpPr>
        <p:spPr bwMode="auto">
          <a:xfrm>
            <a:off x="2438401" y="3429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42132" name="Rectangle 148"/>
          <p:cNvSpPr>
            <a:spLocks noChangeArrowheads="1"/>
          </p:cNvSpPr>
          <p:nvPr/>
        </p:nvSpPr>
        <p:spPr bwMode="auto">
          <a:xfrm>
            <a:off x="2438401" y="3124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42133" name="Rectangle 149"/>
          <p:cNvSpPr>
            <a:spLocks noChangeArrowheads="1"/>
          </p:cNvSpPr>
          <p:nvPr/>
        </p:nvSpPr>
        <p:spPr bwMode="auto">
          <a:xfrm>
            <a:off x="2438401" y="2819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42134" name="Rectangle 150"/>
          <p:cNvSpPr>
            <a:spLocks noChangeArrowheads="1"/>
          </p:cNvSpPr>
          <p:nvPr/>
        </p:nvSpPr>
        <p:spPr bwMode="auto">
          <a:xfrm>
            <a:off x="2438401" y="2514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42135" name="Rectangle 151"/>
          <p:cNvSpPr>
            <a:spLocks noChangeArrowheads="1"/>
          </p:cNvSpPr>
          <p:nvPr/>
        </p:nvSpPr>
        <p:spPr bwMode="auto">
          <a:xfrm>
            <a:off x="2438401" y="222726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sp>
        <p:nvSpPr>
          <p:cNvPr id="42136" name="Rectangle 152"/>
          <p:cNvSpPr>
            <a:spLocks noChangeArrowheads="1"/>
          </p:cNvSpPr>
          <p:nvPr/>
        </p:nvSpPr>
        <p:spPr bwMode="auto">
          <a:xfrm>
            <a:off x="2438401" y="1905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(8,7)</a:t>
            </a:r>
            <a:endParaRPr lang="en-US" altLang="zh-CN"/>
          </a:p>
        </p:txBody>
      </p:sp>
      <p:sp>
        <p:nvSpPr>
          <p:cNvPr id="15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2110"/>
                                        </p:tgtEl>
                                        <p:attrNameLst>
                                          <p:attrName>style.visibility</p:attrName>
                                        </p:attrNameLst>
                                      </p:cBhvr>
                                      <p:to>
                                        <p:strVal val="visible"/>
                                      </p:to>
                                    </p:set>
                                    <p:animEffect filter="wipe(left)">
                                      <p:cBhvr>
                                        <p:cTn id="7" dur="500"/>
                                        <p:tgtEl>
                                          <p:spTgt spid="42110"/>
                                        </p:tgtEl>
                                      </p:cBhvr>
                                    </p:animEffect>
                                  </p:childTnLst>
                                </p:cTn>
                              </p:par>
                            </p:childTnLst>
                          </p:cTn>
                        </p:par>
                        <p:par>
                          <p:cTn id="8" fill="hold">
                            <p:stCondLst>
                              <p:cond delay="500"/>
                            </p:stCondLst>
                            <p:childTnLst>
                              <p:par>
                                <p:cTn id="9" presetID="22" presetClass="entr" presetSubtype="1" fill="hold" nodeType="afterEffect">
                                  <p:stCondLst>
                                    <p:cond delay="1000"/>
                                  </p:stCondLst>
                                  <p:childTnLst>
                                    <p:set>
                                      <p:cBhvr>
                                        <p:cTn id="10" dur="1" fill="hold">
                                          <p:stCondLst>
                                            <p:cond delay="0"/>
                                          </p:stCondLst>
                                        </p:cTn>
                                        <p:tgtEl>
                                          <p:spTgt spid="42111"/>
                                        </p:tgtEl>
                                        <p:attrNameLst>
                                          <p:attrName>style.visibility</p:attrName>
                                        </p:attrNameLst>
                                      </p:cBhvr>
                                      <p:to>
                                        <p:strVal val="visible"/>
                                      </p:to>
                                    </p:set>
                                    <p:animEffect filter="wipe(up)">
                                      <p:cBhvr>
                                        <p:cTn id="11" dur="500"/>
                                        <p:tgtEl>
                                          <p:spTgt spid="42111"/>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42112"/>
                                        </p:tgtEl>
                                        <p:attrNameLst>
                                          <p:attrName>style.visibility</p:attrName>
                                        </p:attrNameLst>
                                      </p:cBhvr>
                                      <p:to>
                                        <p:strVal val="visible"/>
                                      </p:to>
                                    </p:set>
                                    <p:animEffect filter="wipe(left)">
                                      <p:cBhvr>
                                        <p:cTn id="15" dur="500"/>
                                        <p:tgtEl>
                                          <p:spTgt spid="42112"/>
                                        </p:tgtEl>
                                      </p:cBhvr>
                                    </p:animEffect>
                                  </p:childTnLst>
                                </p:cTn>
                              </p:par>
                            </p:childTnLst>
                          </p:cTn>
                        </p:par>
                        <p:par>
                          <p:cTn id="16" fill="hold">
                            <p:stCondLst>
                              <p:cond delay="2500"/>
                            </p:stCondLst>
                            <p:childTnLst>
                              <p:par>
                                <p:cTn id="17" presetID="22" presetClass="entr" presetSubtype="1" fill="hold" nodeType="afterEffect">
                                  <p:stCondLst>
                                    <p:cond delay="0"/>
                                  </p:stCondLst>
                                  <p:childTnLst>
                                    <p:set>
                                      <p:cBhvr>
                                        <p:cTn id="18" dur="1" fill="hold">
                                          <p:stCondLst>
                                            <p:cond delay="0"/>
                                          </p:stCondLst>
                                        </p:cTn>
                                        <p:tgtEl>
                                          <p:spTgt spid="42113"/>
                                        </p:tgtEl>
                                        <p:attrNameLst>
                                          <p:attrName>style.visibility</p:attrName>
                                        </p:attrNameLst>
                                      </p:cBhvr>
                                      <p:to>
                                        <p:strVal val="visible"/>
                                      </p:to>
                                    </p:set>
                                    <p:animEffect filter="wipe(up)">
                                      <p:cBhvr>
                                        <p:cTn id="19" dur="500"/>
                                        <p:tgtEl>
                                          <p:spTgt spid="42113"/>
                                        </p:tgtEl>
                                      </p:cBhvr>
                                    </p:animEffect>
                                  </p:childTnLst>
                                </p:cTn>
                              </p:par>
                            </p:childTnLst>
                          </p:cTn>
                        </p:par>
                        <p:par>
                          <p:cTn id="20" fill="hold">
                            <p:stCondLst>
                              <p:cond delay="3000"/>
                            </p:stCondLst>
                            <p:childTnLst>
                              <p:par>
                                <p:cTn id="21" presetID="22" presetClass="entr" presetSubtype="8" fill="hold" nodeType="afterEffect">
                                  <p:stCondLst>
                                    <p:cond delay="0"/>
                                  </p:stCondLst>
                                  <p:childTnLst>
                                    <p:set>
                                      <p:cBhvr>
                                        <p:cTn id="22" dur="1" fill="hold">
                                          <p:stCondLst>
                                            <p:cond delay="0"/>
                                          </p:stCondLst>
                                        </p:cTn>
                                        <p:tgtEl>
                                          <p:spTgt spid="42114"/>
                                        </p:tgtEl>
                                        <p:attrNameLst>
                                          <p:attrName>style.visibility</p:attrName>
                                        </p:attrNameLst>
                                      </p:cBhvr>
                                      <p:to>
                                        <p:strVal val="visible"/>
                                      </p:to>
                                    </p:set>
                                    <p:animEffect filter="wipe(left)">
                                      <p:cBhvr>
                                        <p:cTn id="23" dur="500"/>
                                        <p:tgtEl>
                                          <p:spTgt spid="42114"/>
                                        </p:tgtEl>
                                      </p:cBhvr>
                                    </p:animEffect>
                                  </p:childTnLst>
                                </p:cTn>
                              </p:par>
                            </p:childTnLst>
                          </p:cTn>
                        </p:par>
                        <p:par>
                          <p:cTn id="24" fill="hold">
                            <p:stCondLst>
                              <p:cond delay="3500"/>
                            </p:stCondLst>
                            <p:childTnLst>
                              <p:par>
                                <p:cTn id="25" presetID="22" presetClass="entr" presetSubtype="1" fill="hold" nodeType="afterEffect">
                                  <p:stCondLst>
                                    <p:cond delay="0"/>
                                  </p:stCondLst>
                                  <p:childTnLst>
                                    <p:set>
                                      <p:cBhvr>
                                        <p:cTn id="26" dur="1" fill="hold">
                                          <p:stCondLst>
                                            <p:cond delay="0"/>
                                          </p:stCondLst>
                                        </p:cTn>
                                        <p:tgtEl>
                                          <p:spTgt spid="42115"/>
                                        </p:tgtEl>
                                        <p:attrNameLst>
                                          <p:attrName>style.visibility</p:attrName>
                                        </p:attrNameLst>
                                      </p:cBhvr>
                                      <p:to>
                                        <p:strVal val="visible"/>
                                      </p:to>
                                    </p:set>
                                    <p:animEffect filter="wipe(up)">
                                      <p:cBhvr>
                                        <p:cTn id="27" dur="500"/>
                                        <p:tgtEl>
                                          <p:spTgt spid="42115"/>
                                        </p:tgtEl>
                                      </p:cBhvr>
                                    </p:animEffect>
                                  </p:childTnLst>
                                </p:cTn>
                              </p:par>
                            </p:childTnLst>
                          </p:cTn>
                        </p:par>
                        <p:par>
                          <p:cTn id="28" fill="hold">
                            <p:stCondLst>
                              <p:cond delay="4000"/>
                            </p:stCondLst>
                            <p:childTnLst>
                              <p:par>
                                <p:cTn id="29" presetID="22" presetClass="entr" presetSubtype="8" fill="hold" nodeType="afterEffect">
                                  <p:stCondLst>
                                    <p:cond delay="0"/>
                                  </p:stCondLst>
                                  <p:childTnLst>
                                    <p:set>
                                      <p:cBhvr>
                                        <p:cTn id="30" dur="1" fill="hold">
                                          <p:stCondLst>
                                            <p:cond delay="0"/>
                                          </p:stCondLst>
                                        </p:cTn>
                                        <p:tgtEl>
                                          <p:spTgt spid="42116"/>
                                        </p:tgtEl>
                                        <p:attrNameLst>
                                          <p:attrName>style.visibility</p:attrName>
                                        </p:attrNameLst>
                                      </p:cBhvr>
                                      <p:to>
                                        <p:strVal val="visible"/>
                                      </p:to>
                                    </p:set>
                                    <p:animEffect filter="wipe(left)">
                                      <p:cBhvr>
                                        <p:cTn id="31" dur="500"/>
                                        <p:tgtEl>
                                          <p:spTgt spid="42116"/>
                                        </p:tgtEl>
                                      </p:cBhvr>
                                    </p:animEffect>
                                  </p:childTnLst>
                                </p:cTn>
                              </p:par>
                            </p:childTnLst>
                          </p:cTn>
                        </p:par>
                        <p:par>
                          <p:cTn id="32" fill="hold">
                            <p:stCondLst>
                              <p:cond delay="4500"/>
                            </p:stCondLst>
                            <p:childTnLst>
                              <p:par>
                                <p:cTn id="33" presetID="22" presetClass="entr" presetSubtype="4" fill="hold" grpId="0" nodeType="afterEffect">
                                  <p:stCondLst>
                                    <p:cond delay="0"/>
                                  </p:stCondLst>
                                  <p:childTnLst>
                                    <p:set>
                                      <p:cBhvr>
                                        <p:cTn id="34" dur="1" fill="hold">
                                          <p:stCondLst>
                                            <p:cond delay="0"/>
                                          </p:stCondLst>
                                        </p:cTn>
                                        <p:tgtEl>
                                          <p:spTgt spid="42122"/>
                                        </p:tgtEl>
                                        <p:attrNameLst>
                                          <p:attrName>style.visibility</p:attrName>
                                        </p:attrNameLst>
                                      </p:cBhvr>
                                      <p:to>
                                        <p:strVal val="visible"/>
                                      </p:to>
                                    </p:set>
                                    <p:animEffect filter="wipe(down)">
                                      <p:cBhvr>
                                        <p:cTn id="35" dur="500"/>
                                        <p:tgtEl>
                                          <p:spTgt spid="42122"/>
                                        </p:tgtEl>
                                      </p:cBhvr>
                                    </p:animEffect>
                                  </p:childTnLst>
                                </p:cTn>
                              </p:par>
                            </p:childTnLst>
                          </p:cTn>
                        </p:par>
                        <p:par>
                          <p:cTn id="36" fill="hold">
                            <p:stCondLst>
                              <p:cond delay="5000"/>
                            </p:stCondLst>
                            <p:childTnLst>
                              <p:par>
                                <p:cTn id="37" presetID="22" presetClass="entr" presetSubtype="4" fill="hold" grpId="0" nodeType="afterEffect">
                                  <p:stCondLst>
                                    <p:cond delay="0"/>
                                  </p:stCondLst>
                                  <p:childTnLst>
                                    <p:set>
                                      <p:cBhvr>
                                        <p:cTn id="38" dur="1" fill="hold">
                                          <p:stCondLst>
                                            <p:cond delay="0"/>
                                          </p:stCondLst>
                                        </p:cTn>
                                        <p:tgtEl>
                                          <p:spTgt spid="42123"/>
                                        </p:tgtEl>
                                        <p:attrNameLst>
                                          <p:attrName>style.visibility</p:attrName>
                                        </p:attrNameLst>
                                      </p:cBhvr>
                                      <p:to>
                                        <p:strVal val="visible"/>
                                      </p:to>
                                    </p:set>
                                    <p:animEffect filter="wipe(down)">
                                      <p:cBhvr>
                                        <p:cTn id="39" dur="500"/>
                                        <p:tgtEl>
                                          <p:spTgt spid="42123"/>
                                        </p:tgtEl>
                                      </p:cBhvr>
                                    </p:animEffect>
                                  </p:childTnLst>
                                </p:cTn>
                              </p:par>
                            </p:childTnLst>
                          </p:cTn>
                        </p:par>
                        <p:par>
                          <p:cTn id="40" fill="hold">
                            <p:stCondLst>
                              <p:cond delay="5500"/>
                            </p:stCondLst>
                            <p:childTnLst>
                              <p:par>
                                <p:cTn id="41" presetID="22" presetClass="entr" presetSubtype="4" fill="hold" grpId="0" nodeType="afterEffect">
                                  <p:stCondLst>
                                    <p:cond delay="0"/>
                                  </p:stCondLst>
                                  <p:childTnLst>
                                    <p:set>
                                      <p:cBhvr>
                                        <p:cTn id="42" dur="1" fill="hold">
                                          <p:stCondLst>
                                            <p:cond delay="0"/>
                                          </p:stCondLst>
                                        </p:cTn>
                                        <p:tgtEl>
                                          <p:spTgt spid="42124"/>
                                        </p:tgtEl>
                                        <p:attrNameLst>
                                          <p:attrName>style.visibility</p:attrName>
                                        </p:attrNameLst>
                                      </p:cBhvr>
                                      <p:to>
                                        <p:strVal val="visible"/>
                                      </p:to>
                                    </p:set>
                                    <p:animEffect filter="wipe(down)">
                                      <p:cBhvr>
                                        <p:cTn id="43" dur="500"/>
                                        <p:tgtEl>
                                          <p:spTgt spid="42124"/>
                                        </p:tgtEl>
                                      </p:cBhvr>
                                    </p:animEffect>
                                  </p:childTnLst>
                                </p:cTn>
                              </p:par>
                            </p:childTnLst>
                          </p:cTn>
                        </p:par>
                        <p:par>
                          <p:cTn id="44" fill="hold">
                            <p:stCondLst>
                              <p:cond delay="6000"/>
                            </p:stCondLst>
                            <p:childTnLst>
                              <p:par>
                                <p:cTn id="45" presetID="22" presetClass="entr" presetSubtype="4" fill="hold" grpId="0" nodeType="afterEffect">
                                  <p:stCondLst>
                                    <p:cond delay="0"/>
                                  </p:stCondLst>
                                  <p:childTnLst>
                                    <p:set>
                                      <p:cBhvr>
                                        <p:cTn id="46" dur="1" fill="hold">
                                          <p:stCondLst>
                                            <p:cond delay="0"/>
                                          </p:stCondLst>
                                        </p:cTn>
                                        <p:tgtEl>
                                          <p:spTgt spid="42125"/>
                                        </p:tgtEl>
                                        <p:attrNameLst>
                                          <p:attrName>style.visibility</p:attrName>
                                        </p:attrNameLst>
                                      </p:cBhvr>
                                      <p:to>
                                        <p:strVal val="visible"/>
                                      </p:to>
                                    </p:set>
                                    <p:animEffect filter="wipe(down)">
                                      <p:cBhvr>
                                        <p:cTn id="47" dur="500"/>
                                        <p:tgtEl>
                                          <p:spTgt spid="42125"/>
                                        </p:tgtEl>
                                      </p:cBhvr>
                                    </p:animEffect>
                                  </p:childTnLst>
                                </p:cTn>
                              </p:par>
                            </p:childTnLst>
                          </p:cTn>
                        </p:par>
                        <p:par>
                          <p:cTn id="48" fill="hold">
                            <p:stCondLst>
                              <p:cond delay="6500"/>
                            </p:stCondLst>
                            <p:childTnLst>
                              <p:par>
                                <p:cTn id="49" presetID="22" presetClass="entr" presetSubtype="4" fill="hold" grpId="0" nodeType="afterEffect">
                                  <p:stCondLst>
                                    <p:cond delay="0"/>
                                  </p:stCondLst>
                                  <p:childTnLst>
                                    <p:set>
                                      <p:cBhvr>
                                        <p:cTn id="50" dur="1" fill="hold">
                                          <p:stCondLst>
                                            <p:cond delay="0"/>
                                          </p:stCondLst>
                                        </p:cTn>
                                        <p:tgtEl>
                                          <p:spTgt spid="42126"/>
                                        </p:tgtEl>
                                        <p:attrNameLst>
                                          <p:attrName>style.visibility</p:attrName>
                                        </p:attrNameLst>
                                      </p:cBhvr>
                                      <p:to>
                                        <p:strVal val="visible"/>
                                      </p:to>
                                    </p:set>
                                    <p:animEffect filter="wipe(down)">
                                      <p:cBhvr>
                                        <p:cTn id="51" dur="500"/>
                                        <p:tgtEl>
                                          <p:spTgt spid="42126"/>
                                        </p:tgtEl>
                                      </p:cBhvr>
                                    </p:animEffect>
                                  </p:childTnLst>
                                </p:cTn>
                              </p:par>
                            </p:childTnLst>
                          </p:cTn>
                        </p:par>
                        <p:par>
                          <p:cTn id="52" fill="hold">
                            <p:stCondLst>
                              <p:cond delay="7000"/>
                            </p:stCondLst>
                            <p:childTnLst>
                              <p:par>
                                <p:cTn id="53" presetID="22" presetClass="entr" presetSubtype="4" fill="hold" grpId="0" nodeType="afterEffect">
                                  <p:stCondLst>
                                    <p:cond delay="0"/>
                                  </p:stCondLst>
                                  <p:childTnLst>
                                    <p:set>
                                      <p:cBhvr>
                                        <p:cTn id="54" dur="1" fill="hold">
                                          <p:stCondLst>
                                            <p:cond delay="0"/>
                                          </p:stCondLst>
                                        </p:cTn>
                                        <p:tgtEl>
                                          <p:spTgt spid="42128"/>
                                        </p:tgtEl>
                                        <p:attrNameLst>
                                          <p:attrName>style.visibility</p:attrName>
                                        </p:attrNameLst>
                                      </p:cBhvr>
                                      <p:to>
                                        <p:strVal val="visible"/>
                                      </p:to>
                                    </p:set>
                                    <p:animEffect filter="wipe(down)">
                                      <p:cBhvr>
                                        <p:cTn id="55" dur="500"/>
                                        <p:tgtEl>
                                          <p:spTgt spid="42128"/>
                                        </p:tgtEl>
                                      </p:cBhvr>
                                    </p:animEffect>
                                  </p:childTnLst>
                                </p:cTn>
                              </p:par>
                            </p:childTnLst>
                          </p:cTn>
                        </p:par>
                        <p:par>
                          <p:cTn id="56" fill="hold">
                            <p:stCondLst>
                              <p:cond delay="7500"/>
                            </p:stCondLst>
                            <p:childTnLst>
                              <p:par>
                                <p:cTn id="57" presetID="22" presetClass="entr" presetSubtype="4" fill="hold" grpId="0" nodeType="afterEffect">
                                  <p:stCondLst>
                                    <p:cond delay="0"/>
                                  </p:stCondLst>
                                  <p:childTnLst>
                                    <p:set>
                                      <p:cBhvr>
                                        <p:cTn id="58" dur="1" fill="hold">
                                          <p:stCondLst>
                                            <p:cond delay="0"/>
                                          </p:stCondLst>
                                        </p:cTn>
                                        <p:tgtEl>
                                          <p:spTgt spid="42129"/>
                                        </p:tgtEl>
                                        <p:attrNameLst>
                                          <p:attrName>style.visibility</p:attrName>
                                        </p:attrNameLst>
                                      </p:cBhvr>
                                      <p:to>
                                        <p:strVal val="visible"/>
                                      </p:to>
                                    </p:set>
                                    <p:animEffect filter="wipe(down)">
                                      <p:cBhvr>
                                        <p:cTn id="59" dur="500"/>
                                        <p:tgtEl>
                                          <p:spTgt spid="42129"/>
                                        </p:tgtEl>
                                      </p:cBhvr>
                                    </p:animEffect>
                                  </p:childTnLst>
                                </p:cTn>
                              </p:par>
                            </p:childTnLst>
                          </p:cTn>
                        </p:par>
                        <p:par>
                          <p:cTn id="60" fill="hold">
                            <p:stCondLst>
                              <p:cond delay="8000"/>
                            </p:stCondLst>
                            <p:childTnLst>
                              <p:par>
                                <p:cTn id="61" presetID="22" presetClass="entr" presetSubtype="4" fill="hold" grpId="0" nodeType="afterEffect">
                                  <p:stCondLst>
                                    <p:cond delay="0"/>
                                  </p:stCondLst>
                                  <p:childTnLst>
                                    <p:set>
                                      <p:cBhvr>
                                        <p:cTn id="62" dur="1" fill="hold">
                                          <p:stCondLst>
                                            <p:cond delay="0"/>
                                          </p:stCondLst>
                                        </p:cTn>
                                        <p:tgtEl>
                                          <p:spTgt spid="42130"/>
                                        </p:tgtEl>
                                        <p:attrNameLst>
                                          <p:attrName>style.visibility</p:attrName>
                                        </p:attrNameLst>
                                      </p:cBhvr>
                                      <p:to>
                                        <p:strVal val="visible"/>
                                      </p:to>
                                    </p:set>
                                    <p:animEffect filter="wipe(down)">
                                      <p:cBhvr>
                                        <p:cTn id="63" dur="500"/>
                                        <p:tgtEl>
                                          <p:spTgt spid="42130"/>
                                        </p:tgtEl>
                                      </p:cBhvr>
                                    </p:animEffect>
                                  </p:childTnLst>
                                </p:cTn>
                              </p:par>
                            </p:childTnLst>
                          </p:cTn>
                        </p:par>
                        <p:par>
                          <p:cTn id="64" fill="hold">
                            <p:stCondLst>
                              <p:cond delay="8500"/>
                            </p:stCondLst>
                            <p:childTnLst>
                              <p:par>
                                <p:cTn id="65" presetID="22" presetClass="entr" presetSubtype="4" fill="hold" grpId="0" nodeType="afterEffect">
                                  <p:stCondLst>
                                    <p:cond delay="0"/>
                                  </p:stCondLst>
                                  <p:childTnLst>
                                    <p:set>
                                      <p:cBhvr>
                                        <p:cTn id="66" dur="1" fill="hold">
                                          <p:stCondLst>
                                            <p:cond delay="0"/>
                                          </p:stCondLst>
                                        </p:cTn>
                                        <p:tgtEl>
                                          <p:spTgt spid="42131"/>
                                        </p:tgtEl>
                                        <p:attrNameLst>
                                          <p:attrName>style.visibility</p:attrName>
                                        </p:attrNameLst>
                                      </p:cBhvr>
                                      <p:to>
                                        <p:strVal val="visible"/>
                                      </p:to>
                                    </p:set>
                                    <p:animEffect filter="wipe(down)">
                                      <p:cBhvr>
                                        <p:cTn id="67" dur="500"/>
                                        <p:tgtEl>
                                          <p:spTgt spid="42131"/>
                                        </p:tgtEl>
                                      </p:cBhvr>
                                    </p:animEffect>
                                  </p:childTnLst>
                                </p:cTn>
                              </p:par>
                            </p:childTnLst>
                          </p:cTn>
                        </p:par>
                        <p:par>
                          <p:cTn id="68" fill="hold">
                            <p:stCondLst>
                              <p:cond delay="9000"/>
                            </p:stCondLst>
                            <p:childTnLst>
                              <p:par>
                                <p:cTn id="69" presetID="22" presetClass="entr" presetSubtype="4" fill="hold" grpId="0" nodeType="afterEffect">
                                  <p:stCondLst>
                                    <p:cond delay="0"/>
                                  </p:stCondLst>
                                  <p:childTnLst>
                                    <p:set>
                                      <p:cBhvr>
                                        <p:cTn id="70" dur="1" fill="hold">
                                          <p:stCondLst>
                                            <p:cond delay="0"/>
                                          </p:stCondLst>
                                        </p:cTn>
                                        <p:tgtEl>
                                          <p:spTgt spid="42132"/>
                                        </p:tgtEl>
                                        <p:attrNameLst>
                                          <p:attrName>style.visibility</p:attrName>
                                        </p:attrNameLst>
                                      </p:cBhvr>
                                      <p:to>
                                        <p:strVal val="visible"/>
                                      </p:to>
                                    </p:set>
                                    <p:animEffect filter="wipe(down)">
                                      <p:cBhvr>
                                        <p:cTn id="71" dur="500"/>
                                        <p:tgtEl>
                                          <p:spTgt spid="42132"/>
                                        </p:tgtEl>
                                      </p:cBhvr>
                                    </p:animEffect>
                                  </p:childTnLst>
                                </p:cTn>
                              </p:par>
                            </p:childTnLst>
                          </p:cTn>
                        </p:par>
                        <p:par>
                          <p:cTn id="72" fill="hold">
                            <p:stCondLst>
                              <p:cond delay="9500"/>
                            </p:stCondLst>
                            <p:childTnLst>
                              <p:par>
                                <p:cTn id="73" presetID="22" presetClass="entr" presetSubtype="4" fill="hold" grpId="0" nodeType="afterEffect">
                                  <p:stCondLst>
                                    <p:cond delay="0"/>
                                  </p:stCondLst>
                                  <p:childTnLst>
                                    <p:set>
                                      <p:cBhvr>
                                        <p:cTn id="74" dur="1" fill="hold">
                                          <p:stCondLst>
                                            <p:cond delay="0"/>
                                          </p:stCondLst>
                                        </p:cTn>
                                        <p:tgtEl>
                                          <p:spTgt spid="42133"/>
                                        </p:tgtEl>
                                        <p:attrNameLst>
                                          <p:attrName>style.visibility</p:attrName>
                                        </p:attrNameLst>
                                      </p:cBhvr>
                                      <p:to>
                                        <p:strVal val="visible"/>
                                      </p:to>
                                    </p:set>
                                    <p:animEffect filter="wipe(down)">
                                      <p:cBhvr>
                                        <p:cTn id="75" dur="500"/>
                                        <p:tgtEl>
                                          <p:spTgt spid="42133"/>
                                        </p:tgtEl>
                                      </p:cBhvr>
                                    </p:animEffect>
                                  </p:childTnLst>
                                </p:cTn>
                              </p:par>
                            </p:childTnLst>
                          </p:cTn>
                        </p:par>
                        <p:par>
                          <p:cTn id="76" fill="hold">
                            <p:stCondLst>
                              <p:cond delay="10000"/>
                            </p:stCondLst>
                            <p:childTnLst>
                              <p:par>
                                <p:cTn id="77" presetID="22" presetClass="entr" presetSubtype="4" fill="hold" grpId="0" nodeType="afterEffect">
                                  <p:stCondLst>
                                    <p:cond delay="0"/>
                                  </p:stCondLst>
                                  <p:childTnLst>
                                    <p:set>
                                      <p:cBhvr>
                                        <p:cTn id="78" dur="1" fill="hold">
                                          <p:stCondLst>
                                            <p:cond delay="0"/>
                                          </p:stCondLst>
                                        </p:cTn>
                                        <p:tgtEl>
                                          <p:spTgt spid="42134"/>
                                        </p:tgtEl>
                                        <p:attrNameLst>
                                          <p:attrName>style.visibility</p:attrName>
                                        </p:attrNameLst>
                                      </p:cBhvr>
                                      <p:to>
                                        <p:strVal val="visible"/>
                                      </p:to>
                                    </p:set>
                                    <p:animEffect filter="wipe(down)">
                                      <p:cBhvr>
                                        <p:cTn id="79" dur="500"/>
                                        <p:tgtEl>
                                          <p:spTgt spid="42134"/>
                                        </p:tgtEl>
                                      </p:cBhvr>
                                    </p:animEffect>
                                  </p:childTnLst>
                                </p:cTn>
                              </p:par>
                            </p:childTnLst>
                          </p:cTn>
                        </p:par>
                        <p:par>
                          <p:cTn id="80" fill="hold">
                            <p:stCondLst>
                              <p:cond delay="10500"/>
                            </p:stCondLst>
                            <p:childTnLst>
                              <p:par>
                                <p:cTn id="81" presetID="22" presetClass="entr" presetSubtype="4" fill="hold" grpId="0" nodeType="afterEffect">
                                  <p:stCondLst>
                                    <p:cond delay="0"/>
                                  </p:stCondLst>
                                  <p:childTnLst>
                                    <p:set>
                                      <p:cBhvr>
                                        <p:cTn id="82" dur="1" fill="hold">
                                          <p:stCondLst>
                                            <p:cond delay="0"/>
                                          </p:stCondLst>
                                        </p:cTn>
                                        <p:tgtEl>
                                          <p:spTgt spid="42135"/>
                                        </p:tgtEl>
                                        <p:attrNameLst>
                                          <p:attrName>style.visibility</p:attrName>
                                        </p:attrNameLst>
                                      </p:cBhvr>
                                      <p:to>
                                        <p:strVal val="visible"/>
                                      </p:to>
                                    </p:set>
                                    <p:animEffect filter="wipe(down)">
                                      <p:cBhvr>
                                        <p:cTn id="83" dur="500"/>
                                        <p:tgtEl>
                                          <p:spTgt spid="42135"/>
                                        </p:tgtEl>
                                      </p:cBhvr>
                                    </p:animEffect>
                                  </p:childTnLst>
                                </p:cTn>
                              </p:par>
                            </p:childTnLst>
                          </p:cTn>
                        </p:par>
                        <p:par>
                          <p:cTn id="84" fill="hold">
                            <p:stCondLst>
                              <p:cond delay="11000"/>
                            </p:stCondLst>
                            <p:childTnLst>
                              <p:par>
                                <p:cTn id="85" presetID="22" presetClass="entr" presetSubtype="4" fill="hold" grpId="0" nodeType="afterEffect">
                                  <p:stCondLst>
                                    <p:cond delay="0"/>
                                  </p:stCondLst>
                                  <p:childTnLst>
                                    <p:set>
                                      <p:cBhvr>
                                        <p:cTn id="86" dur="1" fill="hold">
                                          <p:stCondLst>
                                            <p:cond delay="0"/>
                                          </p:stCondLst>
                                        </p:cTn>
                                        <p:tgtEl>
                                          <p:spTgt spid="42136"/>
                                        </p:tgtEl>
                                        <p:attrNameLst>
                                          <p:attrName>style.visibility</p:attrName>
                                        </p:attrNameLst>
                                      </p:cBhvr>
                                      <p:to>
                                        <p:strVal val="visible"/>
                                      </p:to>
                                    </p:set>
                                    <p:animEffect filter="wipe(down)">
                                      <p:cBhvr>
                                        <p:cTn id="87" dur="500"/>
                                        <p:tgtEl>
                                          <p:spTgt spid="42136"/>
                                        </p:tgtEl>
                                      </p:cBhvr>
                                    </p:animEffect>
                                  </p:childTnLst>
                                </p:cTn>
                              </p:par>
                            </p:childTnLst>
                          </p:cTn>
                        </p:par>
                        <p:par>
                          <p:cTn id="88" fill="hold">
                            <p:stCondLst>
                              <p:cond delay="11500"/>
                            </p:stCondLst>
                            <p:childTnLst>
                              <p:par>
                                <p:cTn id="89" presetID="22" presetClass="entr" presetSubtype="4" fill="hold" grpId="0" nodeType="afterEffect">
                                  <p:stCondLst>
                                    <p:cond delay="0"/>
                                  </p:stCondLst>
                                  <p:childTnLst>
                                    <p:set>
                                      <p:cBhvr>
                                        <p:cTn id="90" dur="1" fill="hold">
                                          <p:stCondLst>
                                            <p:cond delay="0"/>
                                          </p:stCondLst>
                                        </p:cTn>
                                        <p:tgtEl>
                                          <p:spTgt spid="42127"/>
                                        </p:tgtEl>
                                        <p:attrNameLst>
                                          <p:attrName>style.visibility</p:attrName>
                                        </p:attrNameLst>
                                      </p:cBhvr>
                                      <p:to>
                                        <p:strVal val="visible"/>
                                      </p:to>
                                    </p:set>
                                    <p:animEffect filter="wipe(down)">
                                      <p:cBhvr>
                                        <p:cTn id="91" dur="500"/>
                                        <p:tgtEl>
                                          <p:spTgt spid="42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122" grpId="0" bldLvl="0" animBg="1"/>
      <p:bldP spid="42123" grpId="0" bldLvl="0" animBg="1"/>
      <p:bldP spid="42124" grpId="0" bldLvl="0" animBg="1"/>
      <p:bldP spid="42125" grpId="0" bldLvl="0" animBg="1"/>
      <p:bldP spid="42126" grpId="0" bldLvl="0" animBg="1"/>
      <p:bldP spid="42127" grpId="0" bldLvl="0" animBg="1"/>
      <p:bldP spid="42128" grpId="0" bldLvl="0" animBg="1"/>
      <p:bldP spid="42129" grpId="0" bldLvl="0" animBg="1"/>
      <p:bldP spid="42130" grpId="0" bldLvl="0" animBg="1"/>
      <p:bldP spid="42131" grpId="0" bldLvl="0" animBg="1"/>
      <p:bldP spid="42132" grpId="0" bldLvl="0" animBg="1"/>
      <p:bldP spid="42133" grpId="0" bldLvl="0" animBg="1"/>
      <p:bldP spid="42134" grpId="0" bldLvl="0" animBg="1"/>
      <p:bldP spid="42135" grpId="0" bldLvl="0" animBg="1"/>
      <p:bldP spid="42136" grpId="0" bldLvl="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488271" y="1074338"/>
            <a:ext cx="11256886" cy="4351337"/>
          </a:xfrm>
        </p:spPr>
        <p:txBody>
          <a:bodyPr>
            <a:normAutofit fontScale="85000" lnSpcReduction="20000"/>
          </a:bodyPr>
          <a:lstStyle/>
          <a:p>
            <a:pPr marL="0" indent="0" eaLnBrk="1" hangingPunct="1">
              <a:lnSpc>
                <a:spcPct val="160000"/>
              </a:lnSpc>
              <a:buNone/>
              <a:defRPr/>
            </a:pPr>
            <a:r>
              <a:rPr lang="zh-CN" altLang="en-US" b="1" kern="100" dirty="0">
                <a:solidFill>
                  <a:srgbClr val="014B88"/>
                </a:solidFill>
                <a:cs typeface="Times New Roman" panose="02020603050405020304" pitchFamily="18" charset="0"/>
              </a:rPr>
              <a:t>在</a:t>
            </a:r>
            <a:r>
              <a:rPr lang="en-US" altLang="zh-CN" b="1" kern="100" dirty="0" err="1">
                <a:solidFill>
                  <a:srgbClr val="014B88"/>
                </a:solidFill>
                <a:cs typeface="Times New Roman" panose="02020603050405020304" pitchFamily="18" charset="0"/>
              </a:rPr>
              <a:t>n×n</a:t>
            </a:r>
            <a:r>
              <a:rPr lang="en-US" altLang="zh-CN" b="1" kern="100" dirty="0">
                <a:solidFill>
                  <a:srgbClr val="014B88"/>
                </a:solidFill>
                <a:cs typeface="Times New Roman" panose="02020603050405020304" pitchFamily="18" charset="0"/>
              </a:rPr>
              <a:t> </a:t>
            </a:r>
            <a:r>
              <a:rPr lang="zh-CN" altLang="en-US" b="1" kern="100" dirty="0">
                <a:solidFill>
                  <a:srgbClr val="014B88"/>
                </a:solidFill>
                <a:cs typeface="Times New Roman" panose="02020603050405020304" pitchFamily="18" charset="0"/>
              </a:rPr>
              <a:t>格的棋盘上放置彼此不受攻击的</a:t>
            </a:r>
            <a:r>
              <a:rPr lang="en-US" altLang="zh-CN" b="1" kern="100" dirty="0">
                <a:solidFill>
                  <a:srgbClr val="014B88"/>
                </a:solidFill>
                <a:cs typeface="Times New Roman" panose="02020603050405020304" pitchFamily="18" charset="0"/>
              </a:rPr>
              <a:t>n </a:t>
            </a:r>
            <a:r>
              <a:rPr lang="zh-CN" altLang="en-US" b="1" kern="100" dirty="0">
                <a:solidFill>
                  <a:srgbClr val="014B88"/>
                </a:solidFill>
                <a:cs typeface="Times New Roman" panose="02020603050405020304" pitchFamily="18" charset="0"/>
              </a:rPr>
              <a:t>个皇后。按照国际象棋的规则，皇后可以攻击与之处在同一行或同一列或同一斜线上的棋子。</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后问题等价于在</a:t>
            </a:r>
            <a:r>
              <a:rPr lang="en-US" altLang="zh-CN" b="1" kern="100" dirty="0" err="1">
                <a:solidFill>
                  <a:srgbClr val="014B88"/>
                </a:solidFill>
                <a:cs typeface="Times New Roman" panose="02020603050405020304" pitchFamily="18" charset="0"/>
              </a:rPr>
              <a:t>n×n</a:t>
            </a:r>
            <a:r>
              <a:rPr lang="zh-CN" altLang="en-US" b="1" kern="100" dirty="0">
                <a:solidFill>
                  <a:srgbClr val="014B88"/>
                </a:solidFill>
                <a:cs typeface="Times New Roman" panose="02020603050405020304" pitchFamily="18" charset="0"/>
              </a:rPr>
              <a:t>格的棋盘上放置</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个皇后，任何</a:t>
            </a:r>
            <a:r>
              <a:rPr lang="en-US" altLang="zh-CN" b="1" kern="100" dirty="0">
                <a:solidFill>
                  <a:srgbClr val="014B88"/>
                </a:solidFill>
                <a:cs typeface="Times New Roman" panose="02020603050405020304" pitchFamily="18" charset="0"/>
              </a:rPr>
              <a:t>2 </a:t>
            </a:r>
            <a:r>
              <a:rPr lang="zh-CN" altLang="en-US" b="1" kern="100" dirty="0">
                <a:solidFill>
                  <a:srgbClr val="014B88"/>
                </a:solidFill>
                <a:cs typeface="Times New Roman" panose="02020603050405020304" pitchFamily="18" charset="0"/>
              </a:rPr>
              <a:t>个皇后不放在同一行或同一列或同一斜线上。输入</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，计算出的彼此不受攻击的</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个皇后的一个放置方案输出。第</a:t>
            </a:r>
            <a:r>
              <a:rPr lang="en-US" altLang="zh-CN" b="1" kern="100" dirty="0">
                <a:solidFill>
                  <a:srgbClr val="014B88"/>
                </a:solidFill>
                <a:cs typeface="Times New Roman" panose="02020603050405020304" pitchFamily="18" charset="0"/>
              </a:rPr>
              <a:t>1</a:t>
            </a:r>
            <a:r>
              <a:rPr lang="zh-CN" altLang="en-US" b="1" kern="100" dirty="0">
                <a:solidFill>
                  <a:srgbClr val="014B88"/>
                </a:solidFill>
                <a:cs typeface="Times New Roman" panose="02020603050405020304" pitchFamily="18" charset="0"/>
              </a:rPr>
              <a:t>行是</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个皇后的放置方案。</a:t>
            </a:r>
            <a:endParaRPr lang="en-US" altLang="zh-CN" b="1" kern="100" dirty="0">
              <a:solidFill>
                <a:srgbClr val="014B88"/>
              </a:solidFill>
              <a:cs typeface="Times New Roman" panose="02020603050405020304" pitchFamily="18" charset="0"/>
            </a:endParaRPr>
          </a:p>
          <a:p>
            <a:pPr eaLnBrk="1" hangingPunct="1">
              <a:defRPr/>
            </a:pPr>
            <a:endParaRPr lang="zh-CN" altLang="en-US" b="1" kern="100" dirty="0">
              <a:solidFill>
                <a:srgbClr val="014B88"/>
              </a:solidFill>
              <a:cs typeface="Times New Roman" panose="02020603050405020304" pitchFamily="18" charset="0"/>
            </a:endParaRPr>
          </a:p>
          <a:p>
            <a:pPr marL="0" indent="0" eaLnBrk="1" hangingPunct="1">
              <a:lnSpc>
                <a:spcPct val="80000"/>
              </a:lnSpc>
              <a:buNone/>
              <a:defRPr/>
            </a:pPr>
            <a:r>
              <a:rPr lang="en-US" altLang="zh-CN" b="1" kern="100" dirty="0">
                <a:solidFill>
                  <a:srgbClr val="014B88"/>
                </a:solidFill>
                <a:cs typeface="Times New Roman" panose="02020603050405020304" pitchFamily="18" charset="0"/>
              </a:rPr>
              <a:t>Input </a:t>
            </a:r>
          </a:p>
          <a:p>
            <a:pPr marL="0" indent="0">
              <a:lnSpc>
                <a:spcPct val="80000"/>
              </a:lnSpc>
              <a:buNone/>
              <a:defRPr/>
            </a:pPr>
            <a:r>
              <a:rPr lang="en-US" altLang="zh-CN" b="1" kern="100" dirty="0">
                <a:solidFill>
                  <a:srgbClr val="014B88"/>
                </a:solidFill>
                <a:cs typeface="Times New Roman" panose="02020603050405020304" pitchFamily="18" charset="0"/>
              </a:rPr>
              <a:t>     5 </a:t>
            </a:r>
          </a:p>
          <a:p>
            <a:pPr marL="0" indent="0">
              <a:lnSpc>
                <a:spcPct val="80000"/>
              </a:lnSpc>
              <a:buNone/>
              <a:defRPr/>
            </a:pPr>
            <a:endParaRPr lang="en-US" altLang="zh-CN" b="1" kern="100" dirty="0">
              <a:solidFill>
                <a:srgbClr val="014B88"/>
              </a:solidFill>
              <a:cs typeface="Times New Roman" panose="02020603050405020304" pitchFamily="18" charset="0"/>
            </a:endParaRPr>
          </a:p>
          <a:p>
            <a:pPr marL="0" indent="0" eaLnBrk="1" hangingPunct="1">
              <a:lnSpc>
                <a:spcPct val="80000"/>
              </a:lnSpc>
              <a:buNone/>
              <a:defRPr/>
            </a:pPr>
            <a:r>
              <a:rPr lang="en-US" altLang="zh-CN" b="1" kern="100" dirty="0">
                <a:solidFill>
                  <a:srgbClr val="014B88"/>
                </a:solidFill>
                <a:cs typeface="Times New Roman" panose="02020603050405020304" pitchFamily="18" charset="0"/>
              </a:rPr>
              <a:t>Output </a:t>
            </a:r>
          </a:p>
          <a:p>
            <a:pPr marL="0" indent="0">
              <a:lnSpc>
                <a:spcPct val="80000"/>
              </a:lnSpc>
              <a:buNone/>
              <a:defRPr/>
            </a:pPr>
            <a:r>
              <a:rPr lang="en-US" altLang="zh-CN" b="1" kern="100" dirty="0">
                <a:solidFill>
                  <a:srgbClr val="014B88"/>
                </a:solidFill>
                <a:cs typeface="Times New Roman" panose="02020603050405020304" pitchFamily="18" charset="0"/>
              </a:rPr>
              <a:t>     1 3 5 2 4 </a:t>
            </a:r>
          </a:p>
          <a:p>
            <a:pPr eaLnBrk="1" hangingPunct="1">
              <a:defRPr/>
            </a:pPr>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 name="矩形: 圆角 1"/>
          <p:cNvSpPr/>
          <p:nvPr/>
        </p:nvSpPr>
        <p:spPr>
          <a:xfrm>
            <a:off x="6177040" y="-4523"/>
            <a:ext cx="6022020" cy="6858000"/>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7107" name="Rectangle 3"/>
          <p:cNvSpPr>
            <a:spLocks noGrp="1" noChangeArrowheads="1"/>
          </p:cNvSpPr>
          <p:nvPr>
            <p:ph type="body" idx="4294967295"/>
          </p:nvPr>
        </p:nvSpPr>
        <p:spPr>
          <a:xfrm>
            <a:off x="756404" y="1775618"/>
            <a:ext cx="3373515" cy="4525963"/>
          </a:xfrm>
        </p:spPr>
        <p:txBody>
          <a:bodyPr/>
          <a:lstStyle/>
          <a:p>
            <a:pPr eaLnBrk="1" hangingPunct="1"/>
            <a:r>
              <a:rPr lang="en-US" altLang="zh-CN" sz="2400" b="1" kern="100" dirty="0">
                <a:solidFill>
                  <a:srgbClr val="014B88"/>
                </a:solidFill>
                <a:cs typeface="Times New Roman" panose="02020603050405020304" pitchFamily="18" charset="0"/>
              </a:rPr>
              <a:t>Sample Input </a:t>
            </a:r>
          </a:p>
          <a:p>
            <a:pPr eaLnBrk="1" hangingPunct="1"/>
            <a:r>
              <a:rPr lang="en-US" altLang="zh-CN" sz="2400" b="1" kern="100" dirty="0">
                <a:solidFill>
                  <a:srgbClr val="014B88"/>
                </a:solidFill>
                <a:cs typeface="Times New Roman" panose="02020603050405020304" pitchFamily="18" charset="0"/>
              </a:rPr>
              <a:t>4 </a:t>
            </a:r>
          </a:p>
          <a:p>
            <a:pPr eaLnBrk="1" hangingPunct="1"/>
            <a:r>
              <a:rPr lang="en-US" altLang="zh-CN" sz="2400" b="1" kern="100" dirty="0">
                <a:solidFill>
                  <a:srgbClr val="014B88"/>
                </a:solidFill>
                <a:cs typeface="Times New Roman" panose="02020603050405020304" pitchFamily="18" charset="0"/>
              </a:rPr>
              <a:t>Sample Output </a:t>
            </a:r>
          </a:p>
          <a:p>
            <a:pPr eaLnBrk="1" hangingPunct="1"/>
            <a:r>
              <a:rPr lang="en-US" altLang="zh-CN" sz="2400" b="1" kern="100" dirty="0">
                <a:solidFill>
                  <a:srgbClr val="014B88"/>
                </a:solidFill>
                <a:cs typeface="Times New Roman" panose="02020603050405020304" pitchFamily="18" charset="0"/>
              </a:rPr>
              <a:t>2 4 1 3</a:t>
            </a:r>
          </a:p>
          <a:p>
            <a:pPr eaLnBrk="1" hangingPunct="1"/>
            <a:endParaRPr lang="en-US" altLang="zh-CN" dirty="0"/>
          </a:p>
        </p:txBody>
      </p:sp>
      <p:graphicFrame>
        <p:nvGraphicFramePr>
          <p:cNvPr id="47108" name="Object 4"/>
          <p:cNvGraphicFramePr>
            <a:graphicFrameLocks noChangeAspect="1"/>
          </p:cNvGraphicFramePr>
          <p:nvPr/>
        </p:nvGraphicFramePr>
        <p:xfrm>
          <a:off x="7207928" y="1889380"/>
          <a:ext cx="3881438" cy="3352800"/>
        </p:xfrm>
        <a:graphic>
          <a:graphicData uri="http://schemas.openxmlformats.org/presentationml/2006/ole">
            <mc:AlternateContent xmlns:mc="http://schemas.openxmlformats.org/markup-compatibility/2006">
              <mc:Choice xmlns:v="urn:schemas-microsoft-com:vml" Requires="v">
                <p:oleObj spid="_x0000_s1040" name="Document" r:id="rId3" imgW="6941820" imgH="4222750" progId="Word.Document.8">
                  <p:embed/>
                </p:oleObj>
              </mc:Choice>
              <mc:Fallback>
                <p:oleObj name="Document" r:id="rId3" imgW="6941820" imgH="4222750" progId="Word.Document.8">
                  <p:embed/>
                  <p:pic>
                    <p:nvPicPr>
                      <p:cNvPr id="47108" name="Object 4"/>
                      <p:cNvPicPr>
                        <a:picLocks noChangeAspect="1" noChangeArrowheads="1"/>
                      </p:cNvPicPr>
                      <p:nvPr/>
                    </p:nvPicPr>
                    <p:blipFill>
                      <a:blip r:embed="rId4"/>
                      <a:srcRect/>
                      <a:stretch>
                        <a:fillRect/>
                      </a:stretch>
                    </p:blipFill>
                    <p:spPr bwMode="auto">
                      <a:xfrm>
                        <a:off x="7207928" y="1889380"/>
                        <a:ext cx="3881438" cy="3352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圆角 5"/>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5602"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2064" name="文档" r:id="rId3" imgW="7092950" imgH="4625340" progId="Word.Document.8">
                  <p:embed/>
                </p:oleObj>
              </mc:Choice>
              <mc:Fallback>
                <p:oleObj name="文档" r:id="rId3" imgW="7092950" imgH="4625340" progId="Word.Document.8">
                  <p:embed/>
                  <p:pic>
                    <p:nvPicPr>
                      <p:cNvPr id="25602"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603"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dirty="0">
                <a:latin typeface="Times New Roman" panose="02020603050405020304" pitchFamily="18" charset="0"/>
              </a:rPr>
              <a:t>( )</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圆角 8"/>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6626"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3088" name="文档" r:id="rId3" imgW="7092950" imgH="4625340" progId="Word.Document.8">
                  <p:embed/>
                </p:oleObj>
              </mc:Choice>
              <mc:Fallback>
                <p:oleObj name="文档" r:id="rId3" imgW="7092950" imgH="4625340" progId="Word.Document.8">
                  <p:embed/>
                  <p:pic>
                    <p:nvPicPr>
                      <p:cNvPr id="26626"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6627"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26628"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6629" name="Text Box 5"/>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a:t>
            </a:r>
            <a:endParaRPr kumimoji="1" lang="en-US" altLang="zh-CN" sz="2400">
              <a:latin typeface="Times New Roman" panose="02020603050405020304" pitchFamily="18" charset="0"/>
            </a:endParaRPr>
          </a:p>
        </p:txBody>
      </p:sp>
      <p:sp>
        <p:nvSpPr>
          <p:cNvPr id="26630" name="Line 6"/>
          <p:cNvSpPr>
            <a:spLocks noChangeShapeType="1"/>
          </p:cNvSpPr>
          <p:nvPr/>
        </p:nvSpPr>
        <p:spPr bwMode="auto">
          <a:xfrm flipH="1">
            <a:off x="2362200" y="1295400"/>
            <a:ext cx="685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7650"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4112" name="文档" r:id="rId3" imgW="7092950" imgH="4625340" progId="Word.Document.8">
                  <p:embed/>
                </p:oleObj>
              </mc:Choice>
              <mc:Fallback>
                <p:oleObj name="文档" r:id="rId3" imgW="7092950" imgH="4625340" progId="Word.Document.8">
                  <p:embed/>
                  <p:pic>
                    <p:nvPicPr>
                      <p:cNvPr id="2765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651"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27652"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7653" name="Text Box 5"/>
          <p:cNvSpPr txBox="1">
            <a:spLocks noChangeArrowheads="1"/>
          </p:cNvSpPr>
          <p:nvPr/>
        </p:nvSpPr>
        <p:spPr bwMode="auto">
          <a:xfrm>
            <a:off x="78486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7654"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27655"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56"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 (2,3))</a:t>
            </a:r>
            <a:endParaRPr kumimoji="1" lang="en-US" altLang="zh-CN" sz="2400">
              <a:latin typeface="Times New Roman" panose="02020603050405020304" pitchFamily="18" charset="0"/>
            </a:endParaRPr>
          </a:p>
        </p:txBody>
      </p:sp>
      <p:sp>
        <p:nvSpPr>
          <p:cNvPr id="27657"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8674"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5136" name="文档" r:id="rId3" imgW="7092950" imgH="4625340" progId="Word.Document.8">
                  <p:embed/>
                </p:oleObj>
              </mc:Choice>
              <mc:Fallback>
                <p:oleObj name="文档" r:id="rId3" imgW="7092950" imgH="4625340" progId="Word.Document.8">
                  <p:embed/>
                  <p:pic>
                    <p:nvPicPr>
                      <p:cNvPr id="28674"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8675"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28676"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8677" name="Text Box 5"/>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28678" name="Line 6"/>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79" name="Text Box 7"/>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28680" name="Line 8"/>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1" name="Line 9"/>
          <p:cNvSpPr>
            <a:spLocks noChangeShapeType="1"/>
          </p:cNvSpPr>
          <p:nvPr/>
        </p:nvSpPr>
        <p:spPr bwMode="auto">
          <a:xfrm flipV="1">
            <a:off x="2362200" y="2209800"/>
            <a:ext cx="0" cy="6858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圆角 14"/>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9698"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6160" name="文档" r:id="rId3" imgW="7092950" imgH="4625340" progId="Word.Document.8">
                  <p:embed/>
                </p:oleObj>
              </mc:Choice>
              <mc:Fallback>
                <p:oleObj name="文档" r:id="rId3" imgW="7092950" imgH="4625340" progId="Word.Document.8">
                  <p:embed/>
                  <p:pic>
                    <p:nvPicPr>
                      <p:cNvPr id="2969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699"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29700"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9701" name="Text Box 5"/>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9702"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29703"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4"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29705"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6" name="Line 10"/>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7" name="Text Box 11"/>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 (2,4))</a:t>
            </a:r>
            <a:endParaRPr kumimoji="1" lang="en-US" altLang="zh-CN" sz="2400">
              <a:latin typeface="Times New Roman" panose="02020603050405020304" pitchFamily="18" charset="0"/>
            </a:endParaRPr>
          </a:p>
        </p:txBody>
      </p:sp>
      <p:sp>
        <p:nvSpPr>
          <p:cNvPr id="29708" name="Line 12"/>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圆角 16"/>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0722"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7184" name="文档" r:id="rId3" imgW="7092950" imgH="4625340" progId="Word.Document.8">
                  <p:embed/>
                </p:oleObj>
              </mc:Choice>
              <mc:Fallback>
                <p:oleObj name="文档" r:id="rId3" imgW="7092950" imgH="4625340" progId="Word.Document.8">
                  <p:embed/>
                  <p:pic>
                    <p:nvPicPr>
                      <p:cNvPr id="30722"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723"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0724"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0725" name="Text Box 5"/>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0726"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0727"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28"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0729"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30" name="Line 10"/>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31" name="Text Box 11"/>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0732" name="Line 12"/>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33" name="Text Box 13"/>
          <p:cNvSpPr txBox="1">
            <a:spLocks noChangeArrowheads="1"/>
          </p:cNvSpPr>
          <p:nvPr/>
        </p:nvSpPr>
        <p:spPr bwMode="auto">
          <a:xfrm>
            <a:off x="7239000" y="13716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0734" name="Text Box 14"/>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0735" name="Line 15"/>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圆角 17"/>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1746"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8208" name="文档" r:id="rId3" imgW="7092950" imgH="4625340" progId="Word.Document.8">
                  <p:embed/>
                </p:oleObj>
              </mc:Choice>
              <mc:Fallback>
                <p:oleObj name="文档" r:id="rId3" imgW="7092950" imgH="4625340" progId="Word.Document.8">
                  <p:embed/>
                  <p:pic>
                    <p:nvPicPr>
                      <p:cNvPr id="31746"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747"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1748"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1749" name="Text Box 5"/>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1750"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1751"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2"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1753"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4" name="Line 10"/>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5" name="Text Box 11"/>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1756" name="Line 12"/>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7" name="Text Box 13"/>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p>
        </p:txBody>
      </p:sp>
      <p:sp>
        <p:nvSpPr>
          <p:cNvPr id="31758" name="Line 14"/>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9" name="Line 15"/>
          <p:cNvSpPr>
            <a:spLocks noChangeShapeType="1"/>
          </p:cNvSpPr>
          <p:nvPr/>
        </p:nvSpPr>
        <p:spPr bwMode="auto">
          <a:xfrm flipV="1">
            <a:off x="3276600" y="3657600"/>
            <a:ext cx="990600" cy="5334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圆角 16"/>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2770"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9232" name="文档" r:id="rId3" imgW="7092950" imgH="4625340" progId="Word.Document.8">
                  <p:embed/>
                </p:oleObj>
              </mc:Choice>
              <mc:Fallback>
                <p:oleObj name="文档" r:id="rId3" imgW="7092950" imgH="4625340" progId="Word.Document.8">
                  <p:embed/>
                  <p:pic>
                    <p:nvPicPr>
                      <p:cNvPr id="3277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771"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2772"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2773" name="Text Box 5"/>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2774" name="Line 6"/>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75" name="Text Box 7"/>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2776" name="Line 8"/>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77" name="Line 9"/>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78" name="Text Box 10"/>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2779" name="Line 11"/>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80" name="Text Box 12"/>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p>
        </p:txBody>
      </p:sp>
      <p:sp>
        <p:nvSpPr>
          <p:cNvPr id="32781" name="Line 13"/>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82" name="Line 14"/>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83" name="Line 15"/>
          <p:cNvSpPr>
            <a:spLocks noChangeShapeType="1"/>
          </p:cNvSpPr>
          <p:nvPr/>
        </p:nvSpPr>
        <p:spPr bwMode="auto">
          <a:xfrm flipH="1" flipV="1">
            <a:off x="2819400" y="2133600"/>
            <a:ext cx="1219200" cy="6858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圆角 17"/>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3794"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0256" name="文档" r:id="rId3" imgW="7092950" imgH="4625340" progId="Word.Document.8">
                  <p:embed/>
                </p:oleObj>
              </mc:Choice>
              <mc:Fallback>
                <p:oleObj name="文档" r:id="rId3" imgW="7092950" imgH="4625340" progId="Word.Document.8">
                  <p:embed/>
                  <p:pic>
                    <p:nvPicPr>
                      <p:cNvPr id="33794"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795"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3796"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3797"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798"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3799"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0"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1"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3802"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3"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p>
        </p:txBody>
      </p:sp>
      <p:sp>
        <p:nvSpPr>
          <p:cNvPr id="33804"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5"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6"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7" name="Line 15"/>
          <p:cNvSpPr>
            <a:spLocks noChangeShapeType="1"/>
          </p:cNvSpPr>
          <p:nvPr/>
        </p:nvSpPr>
        <p:spPr bwMode="auto">
          <a:xfrm flipV="1">
            <a:off x="2667000" y="1447800"/>
            <a:ext cx="457200" cy="3048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圆角 20"/>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4818"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1280" name="文档" r:id="rId3" imgW="7092950" imgH="4625340" progId="Word.Document.8">
                  <p:embed/>
                </p:oleObj>
              </mc:Choice>
              <mc:Fallback>
                <p:oleObj name="文档" r:id="rId3" imgW="7092950" imgH="4625340" progId="Word.Document.8">
                  <p:embed/>
                  <p:pic>
                    <p:nvPicPr>
                      <p:cNvPr id="3481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4819"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4820"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4821"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2"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4823"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4"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5"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4826"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7"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p>
        </p:txBody>
      </p:sp>
      <p:sp>
        <p:nvSpPr>
          <p:cNvPr id="34828"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9"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30"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31"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32"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4833"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a:t>
            </a:r>
            <a:endParaRPr kumimoji="1" lang="en-US" altLang="zh-CN" sz="2400">
              <a:latin typeface="Times New Roman" panose="02020603050405020304" pitchFamily="18" charset="0"/>
            </a:endParaRPr>
          </a:p>
        </p:txBody>
      </p:sp>
      <p:sp>
        <p:nvSpPr>
          <p:cNvPr id="34834"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矩形: 圆角 22"/>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5842"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2304" name="文档" r:id="rId3" imgW="7092950" imgH="4625340" progId="Word.Document.8">
                  <p:embed/>
                </p:oleObj>
              </mc:Choice>
              <mc:Fallback>
                <p:oleObj name="文档" r:id="rId3" imgW="7092950" imgH="4625340" progId="Word.Document.8">
                  <p:embed/>
                  <p:pic>
                    <p:nvPicPr>
                      <p:cNvPr id="35842"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5843"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5844"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5845"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46"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5847"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48"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49"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5850"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1"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p>
        </p:txBody>
      </p:sp>
      <p:sp>
        <p:nvSpPr>
          <p:cNvPr id="35852"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3"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4"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5"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6"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5857"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a:t>
            </a:r>
          </a:p>
        </p:txBody>
      </p:sp>
      <p:sp>
        <p:nvSpPr>
          <p:cNvPr id="35858"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9" name="Text Box 19"/>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5860" name="Text Box 20"/>
          <p:cNvSpPr txBox="1">
            <a:spLocks noChangeArrowheads="1"/>
          </p:cNvSpPr>
          <p:nvPr/>
        </p:nvSpPr>
        <p:spPr bwMode="auto">
          <a:xfrm>
            <a:off x="5638800" y="32004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 (2,4))</a:t>
            </a:r>
            <a:endParaRPr kumimoji="1" lang="en-US" altLang="zh-CN" sz="2400">
              <a:latin typeface="Times New Roman" panose="02020603050405020304" pitchFamily="18" charset="0"/>
            </a:endParaRPr>
          </a:p>
        </p:txBody>
      </p:sp>
      <p:sp>
        <p:nvSpPr>
          <p:cNvPr id="35861" name="Line 21"/>
          <p:cNvSpPr>
            <a:spLocks noChangeShapeType="1"/>
          </p:cNvSpPr>
          <p:nvPr/>
        </p:nvSpPr>
        <p:spPr bwMode="auto">
          <a:xfrm>
            <a:off x="5486400" y="2362200"/>
            <a:ext cx="9906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圆角 26"/>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6866"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3328" name="文档" r:id="rId3" imgW="7092950" imgH="4625340" progId="Word.Document.8">
                  <p:embed/>
                </p:oleObj>
              </mc:Choice>
              <mc:Fallback>
                <p:oleObj name="文档" r:id="rId3" imgW="7092950" imgH="4625340" progId="Word.Document.8">
                  <p:embed/>
                  <p:pic>
                    <p:nvPicPr>
                      <p:cNvPr id="36866"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6867"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6868"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6869"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0"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6871"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2"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3"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6874"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5"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p>
        </p:txBody>
      </p:sp>
      <p:sp>
        <p:nvSpPr>
          <p:cNvPr id="36876"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7"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8"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9"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0"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6881"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a:t>
            </a:r>
          </a:p>
        </p:txBody>
      </p:sp>
      <p:sp>
        <p:nvSpPr>
          <p:cNvPr id="36882"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3" name="Text Box 19"/>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6884" name="Text Box 20"/>
          <p:cNvSpPr txBox="1">
            <a:spLocks noChangeArrowheads="1"/>
          </p:cNvSpPr>
          <p:nvPr/>
        </p:nvSpPr>
        <p:spPr bwMode="auto">
          <a:xfrm>
            <a:off x="5638800" y="32004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 (2,4))</a:t>
            </a:r>
          </a:p>
        </p:txBody>
      </p:sp>
      <p:sp>
        <p:nvSpPr>
          <p:cNvPr id="36885" name="Line 21"/>
          <p:cNvSpPr>
            <a:spLocks noChangeShapeType="1"/>
          </p:cNvSpPr>
          <p:nvPr/>
        </p:nvSpPr>
        <p:spPr bwMode="auto">
          <a:xfrm>
            <a:off x="5486400" y="2362200"/>
            <a:ext cx="9906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6" name="Text Box 22"/>
          <p:cNvSpPr txBox="1">
            <a:spLocks noChangeArrowheads="1"/>
          </p:cNvSpPr>
          <p:nvPr/>
        </p:nvSpPr>
        <p:spPr bwMode="auto">
          <a:xfrm>
            <a:off x="6629400" y="13716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6887" name="Text Box 23"/>
          <p:cNvSpPr txBox="1">
            <a:spLocks noChangeArrowheads="1"/>
          </p:cNvSpPr>
          <p:nvPr/>
        </p:nvSpPr>
        <p:spPr bwMode="auto">
          <a:xfrm>
            <a:off x="5308600" y="42672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 (2,4) (3,1))</a:t>
            </a:r>
            <a:endParaRPr kumimoji="1" lang="en-US" altLang="zh-CN" sz="2400">
              <a:latin typeface="Times New Roman" panose="02020603050405020304" pitchFamily="18" charset="0"/>
            </a:endParaRPr>
          </a:p>
        </p:txBody>
      </p:sp>
      <p:sp>
        <p:nvSpPr>
          <p:cNvPr id="36888" name="Line 24"/>
          <p:cNvSpPr>
            <a:spLocks noChangeShapeType="1"/>
          </p:cNvSpPr>
          <p:nvPr/>
        </p:nvSpPr>
        <p:spPr bwMode="auto">
          <a:xfrm>
            <a:off x="6477000" y="3733800"/>
            <a:ext cx="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矩形: 圆角 28"/>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7890"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4352" name="文档" r:id="rId3" imgW="7092950" imgH="4625340" progId="Word.Document.8">
                  <p:embed/>
                </p:oleObj>
              </mc:Choice>
              <mc:Fallback>
                <p:oleObj name="文档" r:id="rId3" imgW="7092950" imgH="4625340" progId="Word.Document.8">
                  <p:embed/>
                  <p:pic>
                    <p:nvPicPr>
                      <p:cNvPr id="3789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7891"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p>
        </p:txBody>
      </p:sp>
      <p:sp>
        <p:nvSpPr>
          <p:cNvPr id="37892"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p>
        </p:txBody>
      </p:sp>
      <p:sp>
        <p:nvSpPr>
          <p:cNvPr id="37893"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4"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p>
        </p:txBody>
      </p:sp>
      <p:sp>
        <p:nvSpPr>
          <p:cNvPr id="37895"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6"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7"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p>
        </p:txBody>
      </p:sp>
      <p:sp>
        <p:nvSpPr>
          <p:cNvPr id="37898"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9"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p>
        </p:txBody>
      </p:sp>
      <p:sp>
        <p:nvSpPr>
          <p:cNvPr id="37900"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1"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2"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3"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4"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05"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a:t>
            </a:r>
          </a:p>
        </p:txBody>
      </p:sp>
      <p:sp>
        <p:nvSpPr>
          <p:cNvPr id="37906"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7" name="Text Box 19"/>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08" name="Text Box 20"/>
          <p:cNvSpPr txBox="1">
            <a:spLocks noChangeArrowheads="1"/>
          </p:cNvSpPr>
          <p:nvPr/>
        </p:nvSpPr>
        <p:spPr bwMode="auto">
          <a:xfrm>
            <a:off x="5638800" y="32004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 (2,4))</a:t>
            </a:r>
          </a:p>
        </p:txBody>
      </p:sp>
      <p:sp>
        <p:nvSpPr>
          <p:cNvPr id="37909" name="Line 21"/>
          <p:cNvSpPr>
            <a:spLocks noChangeShapeType="1"/>
          </p:cNvSpPr>
          <p:nvPr/>
        </p:nvSpPr>
        <p:spPr bwMode="auto">
          <a:xfrm>
            <a:off x="5486400" y="2362200"/>
            <a:ext cx="9906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0" name="Text Box 22"/>
          <p:cNvSpPr txBox="1">
            <a:spLocks noChangeArrowheads="1"/>
          </p:cNvSpPr>
          <p:nvPr/>
        </p:nvSpPr>
        <p:spPr bwMode="auto">
          <a:xfrm>
            <a:off x="6629400" y="13716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11" name="Text Box 23"/>
          <p:cNvSpPr txBox="1">
            <a:spLocks noChangeArrowheads="1"/>
          </p:cNvSpPr>
          <p:nvPr/>
        </p:nvSpPr>
        <p:spPr bwMode="auto">
          <a:xfrm>
            <a:off x="5308600" y="42672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 (2,4) (3,1))</a:t>
            </a:r>
          </a:p>
        </p:txBody>
      </p:sp>
      <p:sp>
        <p:nvSpPr>
          <p:cNvPr id="37912" name="Line 24"/>
          <p:cNvSpPr>
            <a:spLocks noChangeShapeType="1"/>
          </p:cNvSpPr>
          <p:nvPr/>
        </p:nvSpPr>
        <p:spPr bwMode="auto">
          <a:xfrm>
            <a:off x="6477000" y="3733800"/>
            <a:ext cx="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3" name="Text Box 25"/>
          <p:cNvSpPr txBox="1">
            <a:spLocks noChangeArrowheads="1"/>
          </p:cNvSpPr>
          <p:nvPr/>
        </p:nvSpPr>
        <p:spPr bwMode="auto">
          <a:xfrm>
            <a:off x="7848600" y="19050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14" name="Text Box 26"/>
          <p:cNvSpPr txBox="1">
            <a:spLocks noChangeArrowheads="1"/>
          </p:cNvSpPr>
          <p:nvPr/>
        </p:nvSpPr>
        <p:spPr bwMode="auto">
          <a:xfrm>
            <a:off x="5003800" y="5486400"/>
            <a:ext cx="29527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 (2,4) (3,1) (4,3))</a:t>
            </a:r>
            <a:endParaRPr kumimoji="1" lang="en-US" altLang="zh-CN" sz="2400">
              <a:latin typeface="Times New Roman" panose="02020603050405020304" pitchFamily="18" charset="0"/>
            </a:endParaRPr>
          </a:p>
        </p:txBody>
      </p:sp>
      <p:sp>
        <p:nvSpPr>
          <p:cNvPr id="37915" name="Line 27"/>
          <p:cNvSpPr>
            <a:spLocks noChangeShapeType="1"/>
          </p:cNvSpPr>
          <p:nvPr/>
        </p:nvSpPr>
        <p:spPr bwMode="auto">
          <a:xfrm>
            <a:off x="6477000" y="4876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754602" y="1162235"/>
            <a:ext cx="10582182" cy="4267200"/>
          </a:xfrm>
        </p:spPr>
        <p:txBody>
          <a:bodyPr/>
          <a:lstStyle/>
          <a:p>
            <a:pPr marL="0" indent="0">
              <a:lnSpc>
                <a:spcPct val="150000"/>
              </a:lnSpc>
              <a:buNone/>
            </a:pPr>
            <a:r>
              <a:rPr lang="zh-CN" altLang="en-US" sz="2400" b="1" kern="100" noProof="1">
                <a:solidFill>
                  <a:srgbClr val="014B88"/>
                </a:solidFill>
                <a:latin typeface="仿宋_GB2312"/>
                <a:cs typeface="Times New Roman" panose="02020603050405020304" pitchFamily="18" charset="0"/>
              </a:rPr>
              <a:t>输入一个</a:t>
            </a:r>
            <a:r>
              <a:rPr lang="en-US" altLang="zh-CN" sz="2400" b="1" kern="100" noProof="1">
                <a:solidFill>
                  <a:srgbClr val="014B88"/>
                </a:solidFill>
                <a:latin typeface="仿宋_GB2312"/>
                <a:cs typeface="Times New Roman" panose="02020603050405020304" pitchFamily="18" charset="0"/>
              </a:rPr>
              <a:t>m</a:t>
            </a:r>
            <a:r>
              <a:rPr lang="zh-CN" altLang="en-US" sz="2400" b="1" kern="100" noProof="1">
                <a:solidFill>
                  <a:srgbClr val="014B88"/>
                </a:solidFill>
                <a:latin typeface="仿宋_GB2312"/>
                <a:cs typeface="Times New Roman" panose="02020603050405020304" pitchFamily="18" charset="0"/>
              </a:rPr>
              <a:t>行</a:t>
            </a:r>
            <a:r>
              <a:rPr lang="en-US" altLang="zh-CN" sz="2400" b="1" kern="100" noProof="1">
                <a:solidFill>
                  <a:srgbClr val="014B88"/>
                </a:solidFill>
                <a:latin typeface="仿宋_GB2312"/>
                <a:cs typeface="Times New Roman" panose="02020603050405020304" pitchFamily="18" charset="0"/>
              </a:rPr>
              <a:t>n</a:t>
            </a:r>
            <a:r>
              <a:rPr lang="zh-CN" altLang="en-US" sz="2400" b="1" kern="100" noProof="1">
                <a:solidFill>
                  <a:srgbClr val="014B88"/>
                </a:solidFill>
                <a:latin typeface="仿宋_GB2312"/>
                <a:cs typeface="Times New Roman" panose="02020603050405020304" pitchFamily="18" charset="0"/>
              </a:rPr>
              <a:t>列的字符矩阵，统计字符</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组成多少个八连块。如果两个字符</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所在的格子相邻（横，竖，或者对角线方向），就说它们属于同一个八连块。</a:t>
            </a:r>
          </a:p>
          <a:p>
            <a:pPr marL="0" indent="0">
              <a:buNone/>
            </a:pPr>
            <a:r>
              <a:rPr lang="en-US" altLang="zh-CN" noProof="1"/>
              <a:t>			* *  *  * @</a:t>
            </a:r>
          </a:p>
          <a:p>
            <a:pPr marL="0" indent="0">
              <a:buNone/>
            </a:pPr>
            <a:r>
              <a:rPr lang="en-US" altLang="zh-CN" noProof="1"/>
              <a:t>			* @ @ * @</a:t>
            </a:r>
          </a:p>
          <a:p>
            <a:pPr marL="0" indent="0">
              <a:buNone/>
            </a:pPr>
            <a:r>
              <a:rPr lang="en-US" altLang="zh-CN" noProof="1"/>
              <a:t>			* @ *  * @</a:t>
            </a:r>
          </a:p>
          <a:p>
            <a:pPr marL="0" indent="0">
              <a:buNone/>
            </a:pPr>
            <a:r>
              <a:rPr lang="en-US" altLang="zh-CN" noProof="1"/>
              <a:t>			@ @@ * @</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油田问题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639192" y="972053"/>
            <a:ext cx="11034944" cy="5243009"/>
          </a:xfrm>
        </p:spPr>
        <p:txBody>
          <a:bodyPr/>
          <a:lstStyle/>
          <a:p>
            <a:pPr>
              <a:lnSpc>
                <a:spcPct val="150000"/>
              </a:lnSpc>
              <a:buFont typeface="Wingdings" panose="05000000000000000000" pitchFamily="2" charset="2"/>
              <a:buChar char="l"/>
            </a:pPr>
            <a:r>
              <a:rPr lang="zh-CN" altLang="en-US" sz="2400" b="1" kern="100" noProof="1">
                <a:solidFill>
                  <a:srgbClr val="014B88"/>
                </a:solidFill>
                <a:latin typeface="仿宋_GB2312"/>
                <a:cs typeface="Times New Roman" panose="02020603050405020304" pitchFamily="18" charset="0"/>
              </a:rPr>
              <a:t>  此题也可以</a:t>
            </a:r>
            <a:r>
              <a:rPr lang="en-US" altLang="zh-CN" sz="2400" b="1" kern="100" noProof="1">
                <a:solidFill>
                  <a:srgbClr val="014B88"/>
                </a:solidFill>
                <a:latin typeface="仿宋_GB2312"/>
                <a:cs typeface="Times New Roman" panose="02020603050405020304" pitchFamily="18" charset="0"/>
              </a:rPr>
              <a:t>DFS</a:t>
            </a:r>
            <a:r>
              <a:rPr lang="zh-CN" altLang="en-US" sz="2400" b="1" kern="100" noProof="1">
                <a:solidFill>
                  <a:srgbClr val="014B88"/>
                </a:solidFill>
                <a:latin typeface="仿宋_GB2312"/>
                <a:cs typeface="Times New Roman" panose="02020603050405020304" pitchFamily="18" charset="0"/>
              </a:rPr>
              <a:t>和</a:t>
            </a:r>
            <a:r>
              <a:rPr lang="en-US" altLang="zh-CN" sz="2400" b="1" kern="100" noProof="1">
                <a:solidFill>
                  <a:srgbClr val="014B88"/>
                </a:solidFill>
                <a:latin typeface="仿宋_GB2312"/>
                <a:cs typeface="Times New Roman" panose="02020603050405020304" pitchFamily="18" charset="0"/>
              </a:rPr>
              <a:t>BFS</a:t>
            </a:r>
            <a:r>
              <a:rPr lang="zh-CN" altLang="en-US" sz="2400" b="1" kern="100" noProof="1">
                <a:solidFill>
                  <a:srgbClr val="014B88"/>
                </a:solidFill>
                <a:latin typeface="仿宋_GB2312"/>
                <a:cs typeface="Times New Roman" panose="02020603050405020304" pitchFamily="18" charset="0"/>
              </a:rPr>
              <a:t>遍历。</a:t>
            </a:r>
            <a:r>
              <a:rPr lang="en-US" altLang="zh-CN" sz="2400" b="1" kern="100" noProof="1">
                <a:solidFill>
                  <a:srgbClr val="014B88"/>
                </a:solidFill>
                <a:latin typeface="仿宋_GB2312"/>
                <a:cs typeface="Times New Roman" panose="02020603050405020304" pitchFamily="18" charset="0"/>
              </a:rPr>
              <a:t>DFS</a:t>
            </a:r>
            <a:r>
              <a:rPr lang="zh-CN" altLang="en-US" sz="2400" b="1" kern="100" noProof="1">
                <a:solidFill>
                  <a:srgbClr val="014B88"/>
                </a:solidFill>
                <a:latin typeface="仿宋_GB2312"/>
                <a:cs typeface="Times New Roman" panose="02020603050405020304" pitchFamily="18" charset="0"/>
              </a:rPr>
              <a:t>更容易编写，一般用</a:t>
            </a:r>
            <a:r>
              <a:rPr lang="en-US" altLang="zh-CN" sz="2400" b="1" kern="100" noProof="1">
                <a:solidFill>
                  <a:srgbClr val="014B88"/>
                </a:solidFill>
                <a:latin typeface="仿宋_GB2312"/>
                <a:cs typeface="Times New Roman" panose="02020603050405020304" pitchFamily="18" charset="0"/>
              </a:rPr>
              <a:t>DFS</a:t>
            </a:r>
            <a:r>
              <a:rPr lang="zh-CN" altLang="en-US" sz="2400" b="1" kern="100" noProof="1">
                <a:solidFill>
                  <a:srgbClr val="014B88"/>
                </a:solidFill>
                <a:latin typeface="仿宋_GB2312"/>
                <a:cs typeface="Times New Roman" panose="02020603050405020304" pitchFamily="18" charset="0"/>
              </a:rPr>
              <a:t>找连通块：从每个</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出发，递归遍历它周围的</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格子。每次访问一个格子时就给他写上一个</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连通分量编号</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，这样就可以在访问之前检查它是否已经有了编号，从而避免同一个格子访问多次。</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油田问题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1" name="文本占位符 68610"/>
          <p:cNvSpPr>
            <a:spLocks noGrp="1" noRot="1"/>
          </p:cNvSpPr>
          <p:nvPr>
            <p:ph type="body" idx="4294967295"/>
          </p:nvPr>
        </p:nvSpPr>
        <p:spPr>
          <a:xfrm>
            <a:off x="-107617" y="1253331"/>
            <a:ext cx="12126897" cy="651653"/>
          </a:xfrm>
        </p:spPr>
        <p:txBody>
          <a:bodyPr/>
          <a:lstStyle/>
          <a:p>
            <a:pPr>
              <a:buFont typeface="Arial" panose="020B0604020202020204" pitchFamily="34" charset="0"/>
              <a:buNone/>
            </a:pPr>
            <a:r>
              <a:rPr lang="en-US" altLang="zh-CN" noProof="1"/>
              <a:t>		</a:t>
            </a:r>
            <a:r>
              <a:rPr lang="en-US" altLang="zh-CN" sz="2400" b="1" kern="100" noProof="1">
                <a:solidFill>
                  <a:srgbClr val="014B88"/>
                </a:solidFill>
                <a:latin typeface="仿宋_GB2312"/>
                <a:cs typeface="Times New Roman" panose="02020603050405020304" pitchFamily="18" charset="0"/>
              </a:rPr>
              <a:t>  </a:t>
            </a:r>
            <a:r>
              <a:rPr lang="zh-CN" altLang="en-US" sz="2400" b="1" kern="100" noProof="1">
                <a:solidFill>
                  <a:srgbClr val="014B88"/>
                </a:solidFill>
                <a:latin typeface="仿宋_GB2312"/>
                <a:cs typeface="Times New Roman" panose="02020603050405020304" pitchFamily="18" charset="0"/>
              </a:rPr>
              <a:t>给定</a:t>
            </a:r>
            <a:r>
              <a:rPr lang="en-US" altLang="zh-CN" sz="2400" b="1" kern="100" noProof="1">
                <a:solidFill>
                  <a:srgbClr val="014B88"/>
                </a:solidFill>
                <a:latin typeface="仿宋_GB2312"/>
                <a:cs typeface="Times New Roman" panose="02020603050405020304" pitchFamily="18" charset="0"/>
              </a:rPr>
              <a:t>n</a:t>
            </a:r>
            <a:r>
              <a:rPr lang="zh-CN" altLang="en-US" sz="2400" b="1" kern="100" noProof="1">
                <a:solidFill>
                  <a:srgbClr val="014B88"/>
                </a:solidFill>
                <a:latin typeface="仿宋_GB2312"/>
                <a:cs typeface="Times New Roman" panose="02020603050405020304" pitchFamily="18" charset="0"/>
              </a:rPr>
              <a:t>，求一个</a:t>
            </a:r>
            <a:r>
              <a:rPr lang="en-US" altLang="zh-CN" sz="2400" b="1" kern="100" noProof="1">
                <a:solidFill>
                  <a:srgbClr val="014B88"/>
                </a:solidFill>
                <a:latin typeface="仿宋_GB2312"/>
                <a:cs typeface="Times New Roman" panose="02020603050405020304" pitchFamily="18" charset="0"/>
              </a:rPr>
              <a:t>1 ~ n</a:t>
            </a:r>
            <a:r>
              <a:rPr lang="zh-CN" altLang="en-US" sz="2400" b="1" kern="100" noProof="1">
                <a:solidFill>
                  <a:srgbClr val="014B88"/>
                </a:solidFill>
                <a:latin typeface="仿宋_GB2312"/>
                <a:cs typeface="Times New Roman" panose="02020603050405020304" pitchFamily="18" charset="0"/>
              </a:rPr>
              <a:t>的圆环，使得该圆环任意两个相邻的数的和为素数。</a:t>
            </a:r>
          </a:p>
        </p:txBody>
      </p:sp>
      <p:pic>
        <p:nvPicPr>
          <p:cNvPr id="56323" name="Picture 4" descr="showim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80467" y="2186262"/>
            <a:ext cx="295275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素数环问题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334800" y="1145358"/>
            <a:ext cx="10515600" cy="4351337"/>
          </a:xfrm>
        </p:spPr>
        <p:txBody>
          <a:bodyPr/>
          <a:lstStyle/>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从</a:t>
            </a:r>
            <a:r>
              <a:rPr lang="en-US" altLang="zh-CN" b="1" kern="100" noProof="1">
                <a:solidFill>
                  <a:srgbClr val="014B88"/>
                </a:solidFill>
                <a:latin typeface="仿宋_GB2312"/>
                <a:cs typeface="Times New Roman" panose="02020603050405020304" pitchFamily="18" charset="0"/>
              </a:rPr>
              <a:t>1</a:t>
            </a:r>
            <a:r>
              <a:rPr lang="zh-CN" altLang="en-US" b="1" kern="100" noProof="1">
                <a:solidFill>
                  <a:srgbClr val="014B88"/>
                </a:solidFill>
                <a:latin typeface="仿宋_GB2312"/>
                <a:cs typeface="Times New Roman" panose="02020603050405020304" pitchFamily="18" charset="0"/>
              </a:rPr>
              <a:t>开始，将</a:t>
            </a:r>
            <a:r>
              <a:rPr lang="en-US" altLang="zh-CN" b="1" kern="100" noProof="1">
                <a:solidFill>
                  <a:srgbClr val="014B88"/>
                </a:solidFill>
                <a:latin typeface="仿宋_GB2312"/>
                <a:cs typeface="Times New Roman" panose="02020603050405020304" pitchFamily="18" charset="0"/>
              </a:rPr>
              <a:t>1</a:t>
            </a:r>
            <a:r>
              <a:rPr lang="zh-CN" altLang="en-US" b="1" kern="100" noProof="1">
                <a:solidFill>
                  <a:srgbClr val="014B88"/>
                </a:solidFill>
                <a:latin typeface="仿宋_GB2312"/>
                <a:cs typeface="Times New Roman" panose="02020603050405020304" pitchFamily="18" charset="0"/>
              </a:rPr>
              <a:t>作为树的根节点，不断向下</a:t>
            </a:r>
            <a:r>
              <a:rPr lang="en-US" altLang="zh-CN" b="1" kern="100" noProof="1">
                <a:solidFill>
                  <a:srgbClr val="014B88"/>
                </a:solidFill>
                <a:latin typeface="仿宋_GB2312"/>
                <a:cs typeface="Times New Roman" panose="02020603050405020304" pitchFamily="18" charset="0"/>
              </a:rPr>
              <a:t>dfs</a:t>
            </a:r>
            <a:r>
              <a:rPr lang="zh-CN" altLang="en-US" b="1" kern="100" noProof="1">
                <a:solidFill>
                  <a:srgbClr val="014B88"/>
                </a:solidFill>
                <a:latin typeface="仿宋_GB2312"/>
                <a:cs typeface="Times New Roman" panose="02020603050405020304" pitchFamily="18" charset="0"/>
              </a:rPr>
              <a:t>搜索可行解。</a:t>
            </a:r>
          </a:p>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注意判断解是否可行的函数的使用。</a:t>
            </a:r>
          </a:p>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注意终止条件。</a:t>
            </a:r>
            <a:endParaRPr lang="zh-CN" altLang="en-US" noProof="1"/>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素数环问题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一种可行方法</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pic>
        <p:nvPicPr>
          <p:cNvPr id="5" name="内容占位符 3" descr="QQ图片20170114145746"/>
          <p:cNvPicPr>
            <a:picLocks noChangeAspect="1" noChangeArrowheads="1"/>
          </p:cNvPicPr>
          <p:nvPr/>
        </p:nvPicPr>
        <p:blipFill rotWithShape="1">
          <a:blip r:embed="rId2">
            <a:extLst>
              <a:ext uri="{28A0092B-C50C-407E-A947-70E740481C1C}">
                <a14:useLocalDpi xmlns:a14="http://schemas.microsoft.com/office/drawing/2010/main" val="0"/>
              </a:ext>
            </a:extLst>
          </a:blip>
          <a:srcRect l="976"/>
          <a:stretch>
            <a:fillRect/>
          </a:stretch>
        </p:blipFill>
        <p:spPr bwMode="auto">
          <a:xfrm>
            <a:off x="6232124" y="2038625"/>
            <a:ext cx="5586891" cy="4498975"/>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9" name="Rectangle 2"/>
          <p:cNvSpPr txBox="1">
            <a:spLocks noChangeArrowheads="1"/>
          </p:cNvSpPr>
          <p:nvPr/>
        </p:nvSpPr>
        <p:spPr bwMode="auto">
          <a:xfrm>
            <a:off x="1752600" y="304800"/>
            <a:ext cx="86868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r" eaLnBrk="1" hangingPunct="1"/>
            <a:endParaRPr lang="zh-CN" altLang="zh-CN" sz="2600">
              <a:ea typeface="宋体" panose="02010600030101010101" pitchFamily="2" charset="-122"/>
            </a:endParaRPr>
          </a:p>
        </p:txBody>
      </p:sp>
      <p:sp>
        <p:nvSpPr>
          <p:cNvPr id="45060" name="Rectangle 2"/>
          <p:cNvSpPr>
            <a:spLocks noGrp="1" noChangeArrowheads="1"/>
          </p:cNvSpPr>
          <p:nvPr/>
        </p:nvSpPr>
        <p:spPr bwMode="auto">
          <a:xfrm>
            <a:off x="1981200" y="476250"/>
            <a:ext cx="82296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r>
              <a:rPr lang="en-US" altLang="zh-CN" sz="4400">
                <a:solidFill>
                  <a:schemeClr val="bg1"/>
                </a:solidFill>
                <a:ea typeface="宋体" panose="02010600030101010101" pitchFamily="2" charset="-122"/>
              </a:rPr>
              <a:t>DFS </a:t>
            </a:r>
            <a:r>
              <a:rPr lang="zh-CN" altLang="en-US" sz="4400">
                <a:solidFill>
                  <a:schemeClr val="bg1"/>
                </a:solidFill>
                <a:ea typeface="宋体" panose="02010600030101010101" pitchFamily="2" charset="-122"/>
              </a:rPr>
              <a:t>对状态的搜索</a:t>
            </a:r>
            <a:endParaRPr lang="en-US" altLang="zh-CN" sz="4400">
              <a:solidFill>
                <a:schemeClr val="bg1"/>
              </a:solidFill>
              <a:ea typeface="宋体" panose="02010600030101010101" pitchFamily="2" charset="-122"/>
            </a:endParaRPr>
          </a:p>
        </p:txBody>
      </p:sp>
      <p:sp>
        <p:nvSpPr>
          <p:cNvPr id="45061" name="Text Box 4"/>
          <p:cNvSpPr txBox="1">
            <a:spLocks noChangeArrowheads="1"/>
          </p:cNvSpPr>
          <p:nvPr/>
        </p:nvSpPr>
        <p:spPr bwMode="auto">
          <a:xfrm>
            <a:off x="689530" y="1204098"/>
            <a:ext cx="8229600" cy="4525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void DFS( int depth ){</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if (depth &gt; n){</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if (</a:t>
            </a:r>
            <a:r>
              <a:rPr lang="zh-CN" altLang="en-US" sz="2000" i="0" dirty="0">
                <a:ea typeface="宋体" panose="02010600030101010101" pitchFamily="2" charset="-122"/>
              </a:rPr>
              <a:t>搜索到结果</a:t>
            </a:r>
            <a:r>
              <a:rPr lang="en-US" altLang="zh-CN" sz="2000" i="0" dirty="0">
                <a:ea typeface="宋体" panose="02010600030101010101" pitchFamily="2" charset="-122"/>
              </a:rPr>
              <a:t>)  </a:t>
            </a:r>
            <a:r>
              <a:rPr lang="zh-CN" altLang="en-US" sz="2000" i="0" dirty="0">
                <a:ea typeface="宋体" panose="02010600030101010101" pitchFamily="2" charset="-122"/>
              </a:rPr>
              <a:t>比较并记录</a:t>
            </a:r>
            <a:r>
              <a:rPr lang="en-US" altLang="zh-CN" sz="2000" i="0" dirty="0">
                <a:ea typeface="宋体" panose="02010600030101010101" pitchFamily="2" charset="-122"/>
              </a:rPr>
              <a:t>;</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return;</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else{</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for(</a:t>
            </a:r>
            <a:r>
              <a:rPr lang="zh-CN" altLang="en-US" sz="2000" i="0" dirty="0">
                <a:ea typeface="宋体" panose="02010600030101010101" pitchFamily="2" charset="-122"/>
              </a:rPr>
              <a:t>所有状态</a:t>
            </a:r>
            <a:r>
              <a:rPr lang="en-US" altLang="zh-CN" sz="2000" i="0" dirty="0">
                <a:ea typeface="宋体" panose="02010600030101010101" pitchFamily="2" charset="-122"/>
              </a:rPr>
              <a:t>)</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if (</a:t>
            </a:r>
            <a:r>
              <a:rPr lang="zh-CN" altLang="en-US" sz="2000" i="0" dirty="0">
                <a:ea typeface="宋体" panose="02010600030101010101" pitchFamily="2" charset="-122"/>
              </a:rPr>
              <a:t>符合递归条件</a:t>
            </a:r>
            <a:r>
              <a:rPr lang="en-US" altLang="zh-CN" sz="2000" i="0" dirty="0">
                <a:ea typeface="宋体" panose="02010600030101010101" pitchFamily="2" charset="-122"/>
              </a:rPr>
              <a:t>){</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r>
              <a:rPr lang="zh-CN" altLang="en-US" sz="2000" i="0" dirty="0">
                <a:ea typeface="宋体" panose="02010600030101010101" pitchFamily="2" charset="-122"/>
              </a:rPr>
              <a:t>标记状态</a:t>
            </a:r>
            <a:r>
              <a:rPr lang="en-US" altLang="zh-CN" sz="2000" i="0" dirty="0">
                <a:ea typeface="宋体" panose="02010600030101010101" pitchFamily="2" charset="-122"/>
              </a:rPr>
              <a:t>;</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r>
              <a:rPr lang="en-US" altLang="zh-CN" sz="2000" i="0" dirty="0" err="1">
                <a:ea typeface="宋体" panose="02010600030101010101" pitchFamily="2" charset="-122"/>
              </a:rPr>
              <a:t>dfs</a:t>
            </a:r>
            <a:r>
              <a:rPr lang="en-US" altLang="zh-CN" sz="2000" i="0" dirty="0">
                <a:ea typeface="宋体" panose="02010600030101010101" pitchFamily="2" charset="-122"/>
              </a:rPr>
              <a:t>( depth + 1 );</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r>
              <a:rPr lang="zh-CN" altLang="en-US" sz="2000" i="0" dirty="0">
                <a:ea typeface="宋体" panose="02010600030101010101" pitchFamily="2" charset="-122"/>
              </a:rPr>
              <a:t>回溯</a:t>
            </a:r>
            <a:r>
              <a:rPr lang="en-US" altLang="zh-CN" sz="2000" i="0" dirty="0">
                <a:ea typeface="宋体" panose="02010600030101010101" pitchFamily="2" charset="-122"/>
              </a:rPr>
              <a:t>;</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a:t>
            </a:r>
          </a:p>
        </p:txBody>
      </p:sp>
      <p:sp>
        <p:nvSpPr>
          <p:cNvPr id="45062" name="Text Box 5"/>
          <p:cNvSpPr txBox="1">
            <a:spLocks noChangeArrowheads="1"/>
          </p:cNvSpPr>
          <p:nvPr/>
        </p:nvSpPr>
        <p:spPr bwMode="auto">
          <a:xfrm>
            <a:off x="5334770" y="991334"/>
            <a:ext cx="6025657" cy="4794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marL="171450" lvl="1" indent="0" algn="just" eaLnBrk="1" hangingPunct="1">
              <a:lnSpc>
                <a:spcPct val="200000"/>
              </a:lnSpc>
              <a:spcBef>
                <a:spcPts val="500"/>
              </a:spcBef>
              <a:buClr>
                <a:srgbClr val="F9F9F9"/>
              </a:buClr>
              <a:buSzPct val="65000"/>
            </a:pPr>
            <a:r>
              <a:rPr lang="zh-CN" altLang="en-US" sz="2400" i="0" kern="100" dirty="0">
                <a:solidFill>
                  <a:srgbClr val="014B88"/>
                </a:solidFill>
                <a:latin typeface="仿宋_GB2312"/>
                <a:ea typeface="+mn-ea"/>
                <a:cs typeface="Times New Roman" panose="02020603050405020304" pitchFamily="18" charset="0"/>
              </a:rPr>
              <a:t>可以看到，这样的搜索，时间复杂度是</a:t>
            </a:r>
            <a:r>
              <a:rPr lang="en-US" altLang="zh-CN" sz="2400" i="0" kern="100" dirty="0">
                <a:solidFill>
                  <a:srgbClr val="014B88"/>
                </a:solidFill>
                <a:latin typeface="仿宋_GB2312"/>
                <a:ea typeface="+mn-ea"/>
                <a:cs typeface="Times New Roman" panose="02020603050405020304" pitchFamily="18" charset="0"/>
              </a:rPr>
              <a:t>(</a:t>
            </a:r>
            <a:r>
              <a:rPr lang="en-US" altLang="zh-CN" sz="2400" i="0" kern="100" dirty="0" err="1">
                <a:solidFill>
                  <a:srgbClr val="014B88"/>
                </a:solidFill>
                <a:latin typeface="仿宋_GB2312"/>
                <a:ea typeface="+mn-ea"/>
                <a:cs typeface="Times New Roman" panose="02020603050405020304" pitchFamily="18" charset="0"/>
              </a:rPr>
              <a:t>a^n</a:t>
            </a:r>
            <a:r>
              <a:rPr lang="en-US" altLang="zh-CN" sz="2400" i="0" kern="100" dirty="0">
                <a:solidFill>
                  <a:srgbClr val="014B88"/>
                </a:solidFill>
                <a:latin typeface="仿宋_GB2312"/>
                <a:ea typeface="+mn-ea"/>
                <a:cs typeface="Times New Roman" panose="02020603050405020304" pitchFamily="18" charset="0"/>
              </a:rPr>
              <a:t>)</a:t>
            </a:r>
            <a:r>
              <a:rPr lang="zh-CN" altLang="en-US" sz="2400" i="0" kern="100" dirty="0">
                <a:solidFill>
                  <a:srgbClr val="014B88"/>
                </a:solidFill>
                <a:latin typeface="仿宋_GB2312"/>
                <a:ea typeface="+mn-ea"/>
                <a:cs typeface="Times New Roman" panose="02020603050405020304" pitchFamily="18" charset="0"/>
              </a:rPr>
              <a:t>的，</a:t>
            </a:r>
            <a:r>
              <a:rPr lang="en-US" altLang="zh-CN" sz="2400" i="0" kern="100" dirty="0">
                <a:solidFill>
                  <a:srgbClr val="014B88"/>
                </a:solidFill>
                <a:latin typeface="仿宋_GB2312"/>
                <a:ea typeface="+mn-ea"/>
                <a:cs typeface="Times New Roman" panose="02020603050405020304" pitchFamily="18" charset="0"/>
              </a:rPr>
              <a:t>a</a:t>
            </a:r>
            <a:r>
              <a:rPr lang="zh-CN" altLang="en-US" sz="2400" i="0" kern="100" dirty="0">
                <a:solidFill>
                  <a:srgbClr val="014B88"/>
                </a:solidFill>
                <a:latin typeface="仿宋_GB2312"/>
                <a:ea typeface="+mn-ea"/>
                <a:cs typeface="Times New Roman" panose="02020603050405020304" pitchFamily="18" charset="0"/>
              </a:rPr>
              <a:t>为每次的状态数，</a:t>
            </a:r>
            <a:r>
              <a:rPr lang="en-US" altLang="zh-CN" sz="2400" i="0" kern="100" dirty="0">
                <a:solidFill>
                  <a:srgbClr val="014B88"/>
                </a:solidFill>
                <a:latin typeface="仿宋_GB2312"/>
                <a:ea typeface="+mn-ea"/>
                <a:cs typeface="Times New Roman" panose="02020603050405020304" pitchFamily="18" charset="0"/>
              </a:rPr>
              <a:t>n</a:t>
            </a:r>
            <a:r>
              <a:rPr lang="zh-CN" altLang="en-US" sz="2400" i="0" kern="100" dirty="0">
                <a:solidFill>
                  <a:srgbClr val="014B88"/>
                </a:solidFill>
                <a:latin typeface="仿宋_GB2312"/>
                <a:ea typeface="+mn-ea"/>
                <a:cs typeface="Times New Roman" panose="02020603050405020304" pitchFamily="18" charset="0"/>
              </a:rPr>
              <a:t>为总的递归层数；这个复杂度属于指数复杂度，当</a:t>
            </a:r>
            <a:r>
              <a:rPr lang="en-US" altLang="zh-CN" sz="2400" i="0" kern="100" dirty="0">
                <a:solidFill>
                  <a:srgbClr val="014B88"/>
                </a:solidFill>
                <a:latin typeface="仿宋_GB2312"/>
                <a:ea typeface="+mn-ea"/>
                <a:cs typeface="Times New Roman" panose="02020603050405020304" pitchFamily="18" charset="0"/>
              </a:rPr>
              <a:t>n</a:t>
            </a:r>
            <a:r>
              <a:rPr lang="zh-CN" altLang="en-US" sz="2400" i="0" kern="100" dirty="0">
                <a:solidFill>
                  <a:srgbClr val="014B88"/>
                </a:solidFill>
                <a:latin typeface="仿宋_GB2312"/>
                <a:ea typeface="+mn-ea"/>
                <a:cs typeface="Times New Roman" panose="02020603050405020304" pitchFamily="18" charset="0"/>
              </a:rPr>
              <a:t>比较大时，很容易超时，所以，一般在</a:t>
            </a:r>
            <a:r>
              <a:rPr lang="en-US" altLang="zh-CN" sz="2400" i="0" kern="100" dirty="0">
                <a:solidFill>
                  <a:srgbClr val="014B88"/>
                </a:solidFill>
                <a:latin typeface="仿宋_GB2312"/>
                <a:ea typeface="+mn-ea"/>
                <a:cs typeface="Times New Roman" panose="02020603050405020304" pitchFamily="18" charset="0"/>
              </a:rPr>
              <a:t>n</a:t>
            </a:r>
            <a:r>
              <a:rPr lang="zh-CN" altLang="en-US" sz="2400" i="0" kern="100" dirty="0">
                <a:solidFill>
                  <a:srgbClr val="014B88"/>
                </a:solidFill>
                <a:latin typeface="仿宋_GB2312"/>
                <a:ea typeface="+mn-ea"/>
                <a:cs typeface="Times New Roman" panose="02020603050405020304" pitchFamily="18" charset="0"/>
              </a:rPr>
              <a:t>比较小的时候可以考虑</a:t>
            </a:r>
            <a:r>
              <a:rPr lang="en-US" altLang="zh-CN" sz="2400" i="0" kern="100" dirty="0">
                <a:solidFill>
                  <a:srgbClr val="014B88"/>
                </a:solidFill>
                <a:latin typeface="仿宋_GB2312"/>
                <a:ea typeface="+mn-ea"/>
                <a:cs typeface="Times New Roman" panose="02020603050405020304" pitchFamily="18" charset="0"/>
              </a:rPr>
              <a:t>DFS</a:t>
            </a:r>
          </a:p>
          <a:p>
            <a:pPr marL="171450" lvl="1" indent="0" algn="just" eaLnBrk="1" hangingPunct="1">
              <a:lnSpc>
                <a:spcPct val="200000"/>
              </a:lnSpc>
              <a:spcBef>
                <a:spcPts val="500"/>
              </a:spcBef>
              <a:buClr>
                <a:srgbClr val="F9F9F9"/>
              </a:buClr>
              <a:buSzPct val="65000"/>
            </a:pPr>
            <a:r>
              <a:rPr lang="zh-CN" altLang="en-US" sz="2400" i="0" kern="100" dirty="0">
                <a:solidFill>
                  <a:srgbClr val="014B88"/>
                </a:solidFill>
                <a:latin typeface="仿宋_GB2312"/>
                <a:ea typeface="+mn-ea"/>
                <a:cs typeface="Times New Roman" panose="02020603050405020304" pitchFamily="18" charset="0"/>
              </a:rPr>
              <a:t>很多情况下需要</a:t>
            </a:r>
            <a:r>
              <a:rPr lang="zh-CN" altLang="en-US" sz="3600" i="0" kern="100" dirty="0">
                <a:solidFill>
                  <a:srgbClr val="FF0000"/>
                </a:solidFill>
                <a:latin typeface="仿宋_GB2312"/>
                <a:ea typeface="+mn-ea"/>
                <a:cs typeface="Times New Roman" panose="02020603050405020304" pitchFamily="18" charset="0"/>
              </a:rPr>
              <a:t>剪枝</a:t>
            </a:r>
            <a:r>
              <a:rPr lang="zh-CN" altLang="en-US" sz="3600" i="0" dirty="0">
                <a:solidFill>
                  <a:schemeClr val="bg1"/>
                </a:solidFill>
                <a:ea typeface="宋体" panose="02010600030101010101" pitchFamily="2" charset="-122"/>
              </a:rPr>
              <a:t>。</a:t>
            </a:r>
            <a:endParaRPr lang="zh-CN" altLang="en-US" sz="2400" i="0" dirty="0">
              <a:solidFill>
                <a:schemeClr val="bg1"/>
              </a:solidFill>
              <a:ea typeface="宋体" panose="02010600030101010101" pitchFamily="2" charset="-122"/>
            </a:endParaRPr>
          </a:p>
        </p:txBody>
      </p:sp>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7" name="内容占位符 2"/>
          <p:cNvSpPr txBox="1">
            <a:spLocks noChangeArrowheads="1"/>
          </p:cNvSpPr>
          <p:nvPr/>
        </p:nvSpPr>
        <p:spPr bwMode="auto">
          <a:xfrm>
            <a:off x="510111" y="1006475"/>
            <a:ext cx="10942083" cy="2471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48005" indent="-41148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lvl="1" algn="just">
              <a:lnSpc>
                <a:spcPct val="200000"/>
              </a:lnSpc>
              <a:spcBef>
                <a:spcPts val="500"/>
              </a:spcBef>
              <a:buClr>
                <a:srgbClr val="F9F9F9"/>
              </a:buClr>
              <a:buSzPct val="65000"/>
            </a:pPr>
            <a:r>
              <a:rPr lang="zh-CN" altLang="en-US" sz="2400" b="1" kern="100" dirty="0">
                <a:solidFill>
                  <a:srgbClr val="014B88"/>
                </a:solidFill>
                <a:latin typeface="仿宋_GB2312"/>
                <a:ea typeface="+mn-ea"/>
                <a:cs typeface="Times New Roman" panose="02020603050405020304" pitchFamily="18" charset="0"/>
              </a:rPr>
              <a:t>因为大量的搜索状态空间可以看成一个树形结构，我们的任务就是探测每个叶子节点来获取信息，如果我们能在某个结点就将其所有子结点的可能性都排除我们就能减少搜索量</a:t>
            </a:r>
          </a:p>
        </p:txBody>
      </p:sp>
      <p:sp>
        <p:nvSpPr>
          <p:cNvPr id="62468" name="椭圆 5"/>
          <p:cNvSpPr>
            <a:spLocks noChangeArrowheads="1"/>
          </p:cNvSpPr>
          <p:nvPr/>
        </p:nvSpPr>
        <p:spPr bwMode="auto">
          <a:xfrm>
            <a:off x="5667376" y="3857626"/>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69" name="椭圆 6"/>
          <p:cNvSpPr>
            <a:spLocks noChangeArrowheads="1"/>
          </p:cNvSpPr>
          <p:nvPr/>
        </p:nvSpPr>
        <p:spPr bwMode="auto">
          <a:xfrm>
            <a:off x="5095876" y="435768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0" name="椭圆 7"/>
          <p:cNvSpPr>
            <a:spLocks noChangeArrowheads="1"/>
          </p:cNvSpPr>
          <p:nvPr/>
        </p:nvSpPr>
        <p:spPr bwMode="auto">
          <a:xfrm>
            <a:off x="5738813" y="4357688"/>
            <a:ext cx="214312"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1" name="椭圆 8"/>
          <p:cNvSpPr>
            <a:spLocks noChangeArrowheads="1"/>
          </p:cNvSpPr>
          <p:nvPr/>
        </p:nvSpPr>
        <p:spPr bwMode="auto">
          <a:xfrm>
            <a:off x="6238876" y="435768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2" name="椭圆 9"/>
          <p:cNvSpPr>
            <a:spLocks noChangeArrowheads="1"/>
          </p:cNvSpPr>
          <p:nvPr/>
        </p:nvSpPr>
        <p:spPr bwMode="auto">
          <a:xfrm>
            <a:off x="5524501" y="48577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3" name="椭圆 10"/>
          <p:cNvSpPr>
            <a:spLocks noChangeArrowheads="1"/>
          </p:cNvSpPr>
          <p:nvPr/>
        </p:nvSpPr>
        <p:spPr bwMode="auto">
          <a:xfrm>
            <a:off x="4381501" y="550068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4" name="椭圆 11"/>
          <p:cNvSpPr>
            <a:spLocks noChangeArrowheads="1"/>
          </p:cNvSpPr>
          <p:nvPr/>
        </p:nvSpPr>
        <p:spPr bwMode="auto">
          <a:xfrm>
            <a:off x="5095876" y="54292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5" name="椭圆 12"/>
          <p:cNvSpPr>
            <a:spLocks noChangeArrowheads="1"/>
          </p:cNvSpPr>
          <p:nvPr/>
        </p:nvSpPr>
        <p:spPr bwMode="auto">
          <a:xfrm>
            <a:off x="4810126" y="48577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6" name="椭圆 13"/>
          <p:cNvSpPr>
            <a:spLocks noChangeArrowheads="1"/>
          </p:cNvSpPr>
          <p:nvPr/>
        </p:nvSpPr>
        <p:spPr bwMode="auto">
          <a:xfrm>
            <a:off x="6024563" y="4786313"/>
            <a:ext cx="214312"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7" name="椭圆 14"/>
          <p:cNvSpPr>
            <a:spLocks noChangeArrowheads="1"/>
          </p:cNvSpPr>
          <p:nvPr/>
        </p:nvSpPr>
        <p:spPr bwMode="auto">
          <a:xfrm>
            <a:off x="5810251" y="54292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8" name="椭圆 15"/>
          <p:cNvSpPr>
            <a:spLocks noChangeArrowheads="1"/>
          </p:cNvSpPr>
          <p:nvPr/>
        </p:nvSpPr>
        <p:spPr bwMode="auto">
          <a:xfrm>
            <a:off x="6096001" y="578643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cxnSp>
        <p:nvCxnSpPr>
          <p:cNvPr id="62479" name="直接箭头连接符 16"/>
          <p:cNvCxnSpPr>
            <a:cxnSpLocks noChangeShapeType="1"/>
            <a:stCxn id="62468" idx="3"/>
            <a:endCxn id="62469" idx="7"/>
          </p:cNvCxnSpPr>
          <p:nvPr/>
        </p:nvCxnSpPr>
        <p:spPr bwMode="auto">
          <a:xfrm rot="5400000">
            <a:off x="5314157" y="4004470"/>
            <a:ext cx="349250" cy="420687"/>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0" name="直接箭头连接符 17"/>
          <p:cNvCxnSpPr>
            <a:cxnSpLocks noChangeShapeType="1"/>
            <a:stCxn id="62468" idx="4"/>
            <a:endCxn id="62470" idx="0"/>
          </p:cNvCxnSpPr>
          <p:nvPr/>
        </p:nvCxnSpPr>
        <p:spPr bwMode="auto">
          <a:xfrm rot="16200000" flipH="1">
            <a:off x="5666582" y="4179095"/>
            <a:ext cx="285750" cy="71437"/>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1" name="直接箭头连接符 18"/>
          <p:cNvCxnSpPr>
            <a:cxnSpLocks noChangeShapeType="1"/>
            <a:stCxn id="62468" idx="5"/>
            <a:endCxn id="62471" idx="0"/>
          </p:cNvCxnSpPr>
          <p:nvPr/>
        </p:nvCxnSpPr>
        <p:spPr bwMode="auto">
          <a:xfrm rot="16200000" flipH="1">
            <a:off x="5939632" y="3950495"/>
            <a:ext cx="317500" cy="496887"/>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2" name="直接箭头连接符 19"/>
          <p:cNvCxnSpPr>
            <a:cxnSpLocks noChangeShapeType="1"/>
            <a:stCxn id="62469" idx="4"/>
            <a:endCxn id="62475" idx="7"/>
          </p:cNvCxnSpPr>
          <p:nvPr/>
        </p:nvCxnSpPr>
        <p:spPr bwMode="auto">
          <a:xfrm rot="5400000">
            <a:off x="4938713" y="4625975"/>
            <a:ext cx="317500" cy="20955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3" name="直接箭头连接符 20"/>
          <p:cNvCxnSpPr>
            <a:cxnSpLocks noChangeShapeType="1"/>
            <a:stCxn id="62475" idx="4"/>
            <a:endCxn id="62473" idx="7"/>
          </p:cNvCxnSpPr>
          <p:nvPr/>
        </p:nvCxnSpPr>
        <p:spPr bwMode="auto">
          <a:xfrm rot="5400000">
            <a:off x="4510089" y="5126039"/>
            <a:ext cx="460375" cy="352425"/>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4" name="直接箭头连接符 21"/>
          <p:cNvCxnSpPr>
            <a:cxnSpLocks noChangeShapeType="1"/>
            <a:stCxn id="62475" idx="6"/>
            <a:endCxn id="62474" idx="0"/>
          </p:cNvCxnSpPr>
          <p:nvPr/>
        </p:nvCxnSpPr>
        <p:spPr bwMode="auto">
          <a:xfrm>
            <a:off x="5024438" y="4965700"/>
            <a:ext cx="177800" cy="46355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5" name="直接箭头连接符 22"/>
          <p:cNvCxnSpPr>
            <a:cxnSpLocks noChangeShapeType="1"/>
            <a:stCxn id="62470" idx="4"/>
            <a:endCxn id="62472" idx="7"/>
          </p:cNvCxnSpPr>
          <p:nvPr/>
        </p:nvCxnSpPr>
        <p:spPr bwMode="auto">
          <a:xfrm rot="5400000">
            <a:off x="5615782" y="4660107"/>
            <a:ext cx="317500" cy="138113"/>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6" name="直接箭头连接符 23"/>
          <p:cNvCxnSpPr>
            <a:cxnSpLocks noChangeShapeType="1"/>
            <a:stCxn id="62470" idx="6"/>
            <a:endCxn id="62476" idx="1"/>
          </p:cNvCxnSpPr>
          <p:nvPr/>
        </p:nvCxnSpPr>
        <p:spPr bwMode="auto">
          <a:xfrm>
            <a:off x="5953125" y="4465639"/>
            <a:ext cx="103188" cy="352425"/>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7" name="直接箭头连接符 24"/>
          <p:cNvCxnSpPr>
            <a:cxnSpLocks noChangeShapeType="1"/>
            <a:stCxn id="62476" idx="4"/>
            <a:endCxn id="62477" idx="0"/>
          </p:cNvCxnSpPr>
          <p:nvPr/>
        </p:nvCxnSpPr>
        <p:spPr bwMode="auto">
          <a:xfrm rot="5400000">
            <a:off x="5810251" y="5106988"/>
            <a:ext cx="428625" cy="21590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8" name="直接箭头连接符 25"/>
          <p:cNvCxnSpPr>
            <a:cxnSpLocks noChangeShapeType="1"/>
            <a:stCxn id="62477" idx="5"/>
            <a:endCxn id="62478" idx="1"/>
          </p:cNvCxnSpPr>
          <p:nvPr/>
        </p:nvCxnSpPr>
        <p:spPr bwMode="auto">
          <a:xfrm rot="16200000" flipH="1">
            <a:off x="5956301" y="5648326"/>
            <a:ext cx="206375" cy="13335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sp>
        <p:nvSpPr>
          <p:cNvPr id="62489" name="椭圆 26"/>
          <p:cNvSpPr>
            <a:spLocks noChangeArrowheads="1"/>
          </p:cNvSpPr>
          <p:nvPr/>
        </p:nvSpPr>
        <p:spPr bwMode="auto">
          <a:xfrm>
            <a:off x="5310188" y="4286250"/>
            <a:ext cx="1143000" cy="2071688"/>
          </a:xfrm>
          <a:prstGeom prst="ellipse">
            <a:avLst/>
          </a:prstGeom>
          <a:noFill/>
          <a:ln w="25400">
            <a:solidFill>
              <a:srgbClr val="FF0000"/>
            </a:solidFill>
            <a:rou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sz="1600">
              <a:solidFill>
                <a:srgbClr val="FFFFFF"/>
              </a:solidFill>
              <a:latin typeface="Book Antiqua" panose="02040602050305030304" pitchFamily="18" charset="0"/>
            </a:endParaRPr>
          </a:p>
        </p:txBody>
      </p:sp>
      <p:sp>
        <p:nvSpPr>
          <p:cNvPr id="2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剪枝</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6" fill="hold" grpId="0" nodeType="clickEffect">
                                  <p:stCondLst>
                                    <p:cond delay="0"/>
                                  </p:stCondLst>
                                  <p:childTnLst>
                                    <p:set>
                                      <p:cBhvr>
                                        <p:cTn id="6" dur="1" fill="hold">
                                          <p:stCondLst>
                                            <p:cond delay="0"/>
                                          </p:stCondLst>
                                        </p:cTn>
                                        <p:tgtEl>
                                          <p:spTgt spid="62468"/>
                                        </p:tgtEl>
                                        <p:attrNameLst>
                                          <p:attrName>style.visibility</p:attrName>
                                        </p:attrNameLst>
                                      </p:cBhvr>
                                      <p:to>
                                        <p:strVal val="visible"/>
                                      </p:to>
                                    </p:set>
                                    <p:animEffect transition="in" filter="barn(inHorizontal)">
                                      <p:cBhvr>
                                        <p:cTn id="7" dur="500"/>
                                        <p:tgtEl>
                                          <p:spTgt spid="62468"/>
                                        </p:tgtEl>
                                      </p:cBhvr>
                                    </p:animEffect>
                                  </p:childTnLst>
                                </p:cTn>
                              </p:par>
                              <p:par>
                                <p:cTn id="8" presetID="16" presetClass="entr" presetSubtype="26" fill="hold" grpId="0" nodeType="withEffect">
                                  <p:stCondLst>
                                    <p:cond delay="0"/>
                                  </p:stCondLst>
                                  <p:childTnLst>
                                    <p:set>
                                      <p:cBhvr>
                                        <p:cTn id="9" dur="1" fill="hold">
                                          <p:stCondLst>
                                            <p:cond delay="0"/>
                                          </p:stCondLst>
                                        </p:cTn>
                                        <p:tgtEl>
                                          <p:spTgt spid="62469"/>
                                        </p:tgtEl>
                                        <p:attrNameLst>
                                          <p:attrName>style.visibility</p:attrName>
                                        </p:attrNameLst>
                                      </p:cBhvr>
                                      <p:to>
                                        <p:strVal val="visible"/>
                                      </p:to>
                                    </p:set>
                                    <p:animEffect transition="in" filter="barn(inHorizontal)">
                                      <p:cBhvr>
                                        <p:cTn id="10" dur="500"/>
                                        <p:tgtEl>
                                          <p:spTgt spid="62469"/>
                                        </p:tgtEl>
                                      </p:cBhvr>
                                    </p:animEffect>
                                  </p:childTnLst>
                                </p:cTn>
                              </p:par>
                              <p:par>
                                <p:cTn id="11" presetID="16" presetClass="entr" presetSubtype="26" fill="hold" grpId="0" nodeType="withEffect">
                                  <p:stCondLst>
                                    <p:cond delay="0"/>
                                  </p:stCondLst>
                                  <p:childTnLst>
                                    <p:set>
                                      <p:cBhvr>
                                        <p:cTn id="12" dur="1" fill="hold">
                                          <p:stCondLst>
                                            <p:cond delay="0"/>
                                          </p:stCondLst>
                                        </p:cTn>
                                        <p:tgtEl>
                                          <p:spTgt spid="62470"/>
                                        </p:tgtEl>
                                        <p:attrNameLst>
                                          <p:attrName>style.visibility</p:attrName>
                                        </p:attrNameLst>
                                      </p:cBhvr>
                                      <p:to>
                                        <p:strVal val="visible"/>
                                      </p:to>
                                    </p:set>
                                    <p:animEffect transition="in" filter="barn(inHorizontal)">
                                      <p:cBhvr>
                                        <p:cTn id="13" dur="500"/>
                                        <p:tgtEl>
                                          <p:spTgt spid="62470"/>
                                        </p:tgtEl>
                                      </p:cBhvr>
                                    </p:animEffect>
                                  </p:childTnLst>
                                </p:cTn>
                              </p:par>
                              <p:par>
                                <p:cTn id="14" presetID="16" presetClass="entr" presetSubtype="26" fill="hold" grpId="0" nodeType="withEffect">
                                  <p:stCondLst>
                                    <p:cond delay="0"/>
                                  </p:stCondLst>
                                  <p:childTnLst>
                                    <p:set>
                                      <p:cBhvr>
                                        <p:cTn id="15" dur="1" fill="hold">
                                          <p:stCondLst>
                                            <p:cond delay="0"/>
                                          </p:stCondLst>
                                        </p:cTn>
                                        <p:tgtEl>
                                          <p:spTgt spid="62471"/>
                                        </p:tgtEl>
                                        <p:attrNameLst>
                                          <p:attrName>style.visibility</p:attrName>
                                        </p:attrNameLst>
                                      </p:cBhvr>
                                      <p:to>
                                        <p:strVal val="visible"/>
                                      </p:to>
                                    </p:set>
                                    <p:animEffect transition="in" filter="barn(inHorizontal)">
                                      <p:cBhvr>
                                        <p:cTn id="16" dur="500"/>
                                        <p:tgtEl>
                                          <p:spTgt spid="62471"/>
                                        </p:tgtEl>
                                      </p:cBhvr>
                                    </p:animEffect>
                                  </p:childTnLst>
                                </p:cTn>
                              </p:par>
                              <p:par>
                                <p:cTn id="17" presetID="16" presetClass="entr" presetSubtype="26" fill="hold" grpId="0" nodeType="withEffect">
                                  <p:stCondLst>
                                    <p:cond delay="0"/>
                                  </p:stCondLst>
                                  <p:childTnLst>
                                    <p:set>
                                      <p:cBhvr>
                                        <p:cTn id="18" dur="1" fill="hold">
                                          <p:stCondLst>
                                            <p:cond delay="0"/>
                                          </p:stCondLst>
                                        </p:cTn>
                                        <p:tgtEl>
                                          <p:spTgt spid="62472"/>
                                        </p:tgtEl>
                                        <p:attrNameLst>
                                          <p:attrName>style.visibility</p:attrName>
                                        </p:attrNameLst>
                                      </p:cBhvr>
                                      <p:to>
                                        <p:strVal val="visible"/>
                                      </p:to>
                                    </p:set>
                                    <p:animEffect transition="in" filter="barn(inHorizontal)">
                                      <p:cBhvr>
                                        <p:cTn id="19" dur="500"/>
                                        <p:tgtEl>
                                          <p:spTgt spid="62472"/>
                                        </p:tgtEl>
                                      </p:cBhvr>
                                    </p:animEffect>
                                  </p:childTnLst>
                                </p:cTn>
                              </p:par>
                              <p:par>
                                <p:cTn id="20" presetID="16" presetClass="entr" presetSubtype="26" fill="hold" grpId="0" nodeType="withEffect">
                                  <p:stCondLst>
                                    <p:cond delay="0"/>
                                  </p:stCondLst>
                                  <p:childTnLst>
                                    <p:set>
                                      <p:cBhvr>
                                        <p:cTn id="21" dur="1" fill="hold">
                                          <p:stCondLst>
                                            <p:cond delay="0"/>
                                          </p:stCondLst>
                                        </p:cTn>
                                        <p:tgtEl>
                                          <p:spTgt spid="62473"/>
                                        </p:tgtEl>
                                        <p:attrNameLst>
                                          <p:attrName>style.visibility</p:attrName>
                                        </p:attrNameLst>
                                      </p:cBhvr>
                                      <p:to>
                                        <p:strVal val="visible"/>
                                      </p:to>
                                    </p:set>
                                    <p:animEffect transition="in" filter="barn(inHorizontal)">
                                      <p:cBhvr>
                                        <p:cTn id="22" dur="500"/>
                                        <p:tgtEl>
                                          <p:spTgt spid="62473"/>
                                        </p:tgtEl>
                                      </p:cBhvr>
                                    </p:animEffect>
                                  </p:childTnLst>
                                </p:cTn>
                              </p:par>
                              <p:par>
                                <p:cTn id="23" presetID="16" presetClass="entr" presetSubtype="26" fill="hold" grpId="0" nodeType="withEffect">
                                  <p:stCondLst>
                                    <p:cond delay="0"/>
                                  </p:stCondLst>
                                  <p:childTnLst>
                                    <p:set>
                                      <p:cBhvr>
                                        <p:cTn id="24" dur="1" fill="hold">
                                          <p:stCondLst>
                                            <p:cond delay="0"/>
                                          </p:stCondLst>
                                        </p:cTn>
                                        <p:tgtEl>
                                          <p:spTgt spid="62474"/>
                                        </p:tgtEl>
                                        <p:attrNameLst>
                                          <p:attrName>style.visibility</p:attrName>
                                        </p:attrNameLst>
                                      </p:cBhvr>
                                      <p:to>
                                        <p:strVal val="visible"/>
                                      </p:to>
                                    </p:set>
                                    <p:animEffect transition="in" filter="barn(inHorizontal)">
                                      <p:cBhvr>
                                        <p:cTn id="25" dur="500"/>
                                        <p:tgtEl>
                                          <p:spTgt spid="62474"/>
                                        </p:tgtEl>
                                      </p:cBhvr>
                                    </p:animEffect>
                                  </p:childTnLst>
                                </p:cTn>
                              </p:par>
                              <p:par>
                                <p:cTn id="26" presetID="16" presetClass="entr" presetSubtype="26" fill="hold" grpId="0" nodeType="withEffect">
                                  <p:stCondLst>
                                    <p:cond delay="0"/>
                                  </p:stCondLst>
                                  <p:childTnLst>
                                    <p:set>
                                      <p:cBhvr>
                                        <p:cTn id="27" dur="1" fill="hold">
                                          <p:stCondLst>
                                            <p:cond delay="0"/>
                                          </p:stCondLst>
                                        </p:cTn>
                                        <p:tgtEl>
                                          <p:spTgt spid="62475"/>
                                        </p:tgtEl>
                                        <p:attrNameLst>
                                          <p:attrName>style.visibility</p:attrName>
                                        </p:attrNameLst>
                                      </p:cBhvr>
                                      <p:to>
                                        <p:strVal val="visible"/>
                                      </p:to>
                                    </p:set>
                                    <p:animEffect transition="in" filter="barn(inHorizontal)">
                                      <p:cBhvr>
                                        <p:cTn id="28" dur="500"/>
                                        <p:tgtEl>
                                          <p:spTgt spid="62475"/>
                                        </p:tgtEl>
                                      </p:cBhvr>
                                    </p:animEffect>
                                  </p:childTnLst>
                                </p:cTn>
                              </p:par>
                              <p:par>
                                <p:cTn id="29" presetID="16" presetClass="entr" presetSubtype="26" fill="hold" grpId="0" nodeType="withEffect">
                                  <p:stCondLst>
                                    <p:cond delay="0"/>
                                  </p:stCondLst>
                                  <p:childTnLst>
                                    <p:set>
                                      <p:cBhvr>
                                        <p:cTn id="30" dur="1" fill="hold">
                                          <p:stCondLst>
                                            <p:cond delay="0"/>
                                          </p:stCondLst>
                                        </p:cTn>
                                        <p:tgtEl>
                                          <p:spTgt spid="62476"/>
                                        </p:tgtEl>
                                        <p:attrNameLst>
                                          <p:attrName>style.visibility</p:attrName>
                                        </p:attrNameLst>
                                      </p:cBhvr>
                                      <p:to>
                                        <p:strVal val="visible"/>
                                      </p:to>
                                    </p:set>
                                    <p:animEffect transition="in" filter="barn(inHorizontal)">
                                      <p:cBhvr>
                                        <p:cTn id="31" dur="500"/>
                                        <p:tgtEl>
                                          <p:spTgt spid="62476"/>
                                        </p:tgtEl>
                                      </p:cBhvr>
                                    </p:animEffect>
                                  </p:childTnLst>
                                </p:cTn>
                              </p:par>
                              <p:par>
                                <p:cTn id="32" presetID="16" presetClass="entr" presetSubtype="26" fill="hold" grpId="0" nodeType="withEffect">
                                  <p:stCondLst>
                                    <p:cond delay="0"/>
                                  </p:stCondLst>
                                  <p:childTnLst>
                                    <p:set>
                                      <p:cBhvr>
                                        <p:cTn id="33" dur="1" fill="hold">
                                          <p:stCondLst>
                                            <p:cond delay="0"/>
                                          </p:stCondLst>
                                        </p:cTn>
                                        <p:tgtEl>
                                          <p:spTgt spid="62477"/>
                                        </p:tgtEl>
                                        <p:attrNameLst>
                                          <p:attrName>style.visibility</p:attrName>
                                        </p:attrNameLst>
                                      </p:cBhvr>
                                      <p:to>
                                        <p:strVal val="visible"/>
                                      </p:to>
                                    </p:set>
                                    <p:animEffect transition="in" filter="barn(inHorizontal)">
                                      <p:cBhvr>
                                        <p:cTn id="34" dur="500"/>
                                        <p:tgtEl>
                                          <p:spTgt spid="62477"/>
                                        </p:tgtEl>
                                      </p:cBhvr>
                                    </p:animEffect>
                                  </p:childTnLst>
                                </p:cTn>
                              </p:par>
                              <p:par>
                                <p:cTn id="35" presetID="16" presetClass="entr" presetSubtype="26" fill="hold" grpId="0" nodeType="withEffect">
                                  <p:stCondLst>
                                    <p:cond delay="0"/>
                                  </p:stCondLst>
                                  <p:childTnLst>
                                    <p:set>
                                      <p:cBhvr>
                                        <p:cTn id="36" dur="1" fill="hold">
                                          <p:stCondLst>
                                            <p:cond delay="0"/>
                                          </p:stCondLst>
                                        </p:cTn>
                                        <p:tgtEl>
                                          <p:spTgt spid="62478"/>
                                        </p:tgtEl>
                                        <p:attrNameLst>
                                          <p:attrName>style.visibility</p:attrName>
                                        </p:attrNameLst>
                                      </p:cBhvr>
                                      <p:to>
                                        <p:strVal val="visible"/>
                                      </p:to>
                                    </p:set>
                                    <p:animEffect transition="in" filter="barn(inHorizontal)">
                                      <p:cBhvr>
                                        <p:cTn id="37" dur="500"/>
                                        <p:tgtEl>
                                          <p:spTgt spid="62478"/>
                                        </p:tgtEl>
                                      </p:cBhvr>
                                    </p:animEffect>
                                  </p:childTnLst>
                                </p:cTn>
                              </p:par>
                              <p:par>
                                <p:cTn id="38" presetID="16" presetClass="entr" presetSubtype="26" fill="hold" nodeType="withEffect">
                                  <p:stCondLst>
                                    <p:cond delay="0"/>
                                  </p:stCondLst>
                                  <p:childTnLst>
                                    <p:set>
                                      <p:cBhvr>
                                        <p:cTn id="39" dur="1" fill="hold">
                                          <p:stCondLst>
                                            <p:cond delay="0"/>
                                          </p:stCondLst>
                                        </p:cTn>
                                        <p:tgtEl>
                                          <p:spTgt spid="62479"/>
                                        </p:tgtEl>
                                        <p:attrNameLst>
                                          <p:attrName>style.visibility</p:attrName>
                                        </p:attrNameLst>
                                      </p:cBhvr>
                                      <p:to>
                                        <p:strVal val="visible"/>
                                      </p:to>
                                    </p:set>
                                    <p:animEffect transition="in" filter="barn(inHorizontal)">
                                      <p:cBhvr>
                                        <p:cTn id="40" dur="500"/>
                                        <p:tgtEl>
                                          <p:spTgt spid="62479"/>
                                        </p:tgtEl>
                                      </p:cBhvr>
                                    </p:animEffect>
                                  </p:childTnLst>
                                </p:cTn>
                              </p:par>
                              <p:par>
                                <p:cTn id="41" presetID="16" presetClass="entr" presetSubtype="26" fill="hold" nodeType="withEffect">
                                  <p:stCondLst>
                                    <p:cond delay="0"/>
                                  </p:stCondLst>
                                  <p:childTnLst>
                                    <p:set>
                                      <p:cBhvr>
                                        <p:cTn id="42" dur="1" fill="hold">
                                          <p:stCondLst>
                                            <p:cond delay="0"/>
                                          </p:stCondLst>
                                        </p:cTn>
                                        <p:tgtEl>
                                          <p:spTgt spid="62480"/>
                                        </p:tgtEl>
                                        <p:attrNameLst>
                                          <p:attrName>style.visibility</p:attrName>
                                        </p:attrNameLst>
                                      </p:cBhvr>
                                      <p:to>
                                        <p:strVal val="visible"/>
                                      </p:to>
                                    </p:set>
                                    <p:animEffect transition="in" filter="barn(inHorizontal)">
                                      <p:cBhvr>
                                        <p:cTn id="43" dur="500"/>
                                        <p:tgtEl>
                                          <p:spTgt spid="62480"/>
                                        </p:tgtEl>
                                      </p:cBhvr>
                                    </p:animEffect>
                                  </p:childTnLst>
                                </p:cTn>
                              </p:par>
                              <p:par>
                                <p:cTn id="44" presetID="16" presetClass="entr" presetSubtype="26" fill="hold" nodeType="withEffect">
                                  <p:stCondLst>
                                    <p:cond delay="0"/>
                                  </p:stCondLst>
                                  <p:childTnLst>
                                    <p:set>
                                      <p:cBhvr>
                                        <p:cTn id="45" dur="1" fill="hold">
                                          <p:stCondLst>
                                            <p:cond delay="0"/>
                                          </p:stCondLst>
                                        </p:cTn>
                                        <p:tgtEl>
                                          <p:spTgt spid="62481"/>
                                        </p:tgtEl>
                                        <p:attrNameLst>
                                          <p:attrName>style.visibility</p:attrName>
                                        </p:attrNameLst>
                                      </p:cBhvr>
                                      <p:to>
                                        <p:strVal val="visible"/>
                                      </p:to>
                                    </p:set>
                                    <p:animEffect transition="in" filter="barn(inHorizontal)">
                                      <p:cBhvr>
                                        <p:cTn id="46" dur="500"/>
                                        <p:tgtEl>
                                          <p:spTgt spid="62481"/>
                                        </p:tgtEl>
                                      </p:cBhvr>
                                    </p:animEffect>
                                  </p:childTnLst>
                                </p:cTn>
                              </p:par>
                              <p:par>
                                <p:cTn id="47" presetID="16" presetClass="entr" presetSubtype="26" fill="hold" nodeType="withEffect">
                                  <p:stCondLst>
                                    <p:cond delay="0"/>
                                  </p:stCondLst>
                                  <p:childTnLst>
                                    <p:set>
                                      <p:cBhvr>
                                        <p:cTn id="48" dur="1" fill="hold">
                                          <p:stCondLst>
                                            <p:cond delay="0"/>
                                          </p:stCondLst>
                                        </p:cTn>
                                        <p:tgtEl>
                                          <p:spTgt spid="62482"/>
                                        </p:tgtEl>
                                        <p:attrNameLst>
                                          <p:attrName>style.visibility</p:attrName>
                                        </p:attrNameLst>
                                      </p:cBhvr>
                                      <p:to>
                                        <p:strVal val="visible"/>
                                      </p:to>
                                    </p:set>
                                    <p:animEffect transition="in" filter="barn(inHorizontal)">
                                      <p:cBhvr>
                                        <p:cTn id="49" dur="500"/>
                                        <p:tgtEl>
                                          <p:spTgt spid="62482"/>
                                        </p:tgtEl>
                                      </p:cBhvr>
                                    </p:animEffect>
                                  </p:childTnLst>
                                </p:cTn>
                              </p:par>
                              <p:par>
                                <p:cTn id="50" presetID="16" presetClass="entr" presetSubtype="26" fill="hold" nodeType="withEffect">
                                  <p:stCondLst>
                                    <p:cond delay="0"/>
                                  </p:stCondLst>
                                  <p:childTnLst>
                                    <p:set>
                                      <p:cBhvr>
                                        <p:cTn id="51" dur="1" fill="hold">
                                          <p:stCondLst>
                                            <p:cond delay="0"/>
                                          </p:stCondLst>
                                        </p:cTn>
                                        <p:tgtEl>
                                          <p:spTgt spid="62483"/>
                                        </p:tgtEl>
                                        <p:attrNameLst>
                                          <p:attrName>style.visibility</p:attrName>
                                        </p:attrNameLst>
                                      </p:cBhvr>
                                      <p:to>
                                        <p:strVal val="visible"/>
                                      </p:to>
                                    </p:set>
                                    <p:animEffect transition="in" filter="barn(inHorizontal)">
                                      <p:cBhvr>
                                        <p:cTn id="52" dur="500"/>
                                        <p:tgtEl>
                                          <p:spTgt spid="62483"/>
                                        </p:tgtEl>
                                      </p:cBhvr>
                                    </p:animEffect>
                                  </p:childTnLst>
                                </p:cTn>
                              </p:par>
                              <p:par>
                                <p:cTn id="53" presetID="16" presetClass="entr" presetSubtype="26" fill="hold" nodeType="withEffect">
                                  <p:stCondLst>
                                    <p:cond delay="0"/>
                                  </p:stCondLst>
                                  <p:childTnLst>
                                    <p:set>
                                      <p:cBhvr>
                                        <p:cTn id="54" dur="1" fill="hold">
                                          <p:stCondLst>
                                            <p:cond delay="0"/>
                                          </p:stCondLst>
                                        </p:cTn>
                                        <p:tgtEl>
                                          <p:spTgt spid="62484"/>
                                        </p:tgtEl>
                                        <p:attrNameLst>
                                          <p:attrName>style.visibility</p:attrName>
                                        </p:attrNameLst>
                                      </p:cBhvr>
                                      <p:to>
                                        <p:strVal val="visible"/>
                                      </p:to>
                                    </p:set>
                                    <p:animEffect transition="in" filter="barn(inHorizontal)">
                                      <p:cBhvr>
                                        <p:cTn id="55" dur="500"/>
                                        <p:tgtEl>
                                          <p:spTgt spid="62484"/>
                                        </p:tgtEl>
                                      </p:cBhvr>
                                    </p:animEffect>
                                  </p:childTnLst>
                                </p:cTn>
                              </p:par>
                              <p:par>
                                <p:cTn id="56" presetID="16" presetClass="entr" presetSubtype="26" fill="hold" nodeType="withEffect">
                                  <p:stCondLst>
                                    <p:cond delay="0"/>
                                  </p:stCondLst>
                                  <p:childTnLst>
                                    <p:set>
                                      <p:cBhvr>
                                        <p:cTn id="57" dur="1" fill="hold">
                                          <p:stCondLst>
                                            <p:cond delay="0"/>
                                          </p:stCondLst>
                                        </p:cTn>
                                        <p:tgtEl>
                                          <p:spTgt spid="62485"/>
                                        </p:tgtEl>
                                        <p:attrNameLst>
                                          <p:attrName>style.visibility</p:attrName>
                                        </p:attrNameLst>
                                      </p:cBhvr>
                                      <p:to>
                                        <p:strVal val="visible"/>
                                      </p:to>
                                    </p:set>
                                    <p:animEffect transition="in" filter="barn(inHorizontal)">
                                      <p:cBhvr>
                                        <p:cTn id="58" dur="500"/>
                                        <p:tgtEl>
                                          <p:spTgt spid="62485"/>
                                        </p:tgtEl>
                                      </p:cBhvr>
                                    </p:animEffect>
                                  </p:childTnLst>
                                </p:cTn>
                              </p:par>
                              <p:par>
                                <p:cTn id="59" presetID="16" presetClass="entr" presetSubtype="26" fill="hold" nodeType="withEffect">
                                  <p:stCondLst>
                                    <p:cond delay="0"/>
                                  </p:stCondLst>
                                  <p:childTnLst>
                                    <p:set>
                                      <p:cBhvr>
                                        <p:cTn id="60" dur="1" fill="hold">
                                          <p:stCondLst>
                                            <p:cond delay="0"/>
                                          </p:stCondLst>
                                        </p:cTn>
                                        <p:tgtEl>
                                          <p:spTgt spid="62486"/>
                                        </p:tgtEl>
                                        <p:attrNameLst>
                                          <p:attrName>style.visibility</p:attrName>
                                        </p:attrNameLst>
                                      </p:cBhvr>
                                      <p:to>
                                        <p:strVal val="visible"/>
                                      </p:to>
                                    </p:set>
                                    <p:animEffect transition="in" filter="barn(inHorizontal)">
                                      <p:cBhvr>
                                        <p:cTn id="61" dur="500"/>
                                        <p:tgtEl>
                                          <p:spTgt spid="62486"/>
                                        </p:tgtEl>
                                      </p:cBhvr>
                                    </p:animEffect>
                                  </p:childTnLst>
                                </p:cTn>
                              </p:par>
                              <p:par>
                                <p:cTn id="62" presetID="16" presetClass="entr" presetSubtype="26" fill="hold" nodeType="withEffect">
                                  <p:stCondLst>
                                    <p:cond delay="0"/>
                                  </p:stCondLst>
                                  <p:childTnLst>
                                    <p:set>
                                      <p:cBhvr>
                                        <p:cTn id="63" dur="1" fill="hold">
                                          <p:stCondLst>
                                            <p:cond delay="0"/>
                                          </p:stCondLst>
                                        </p:cTn>
                                        <p:tgtEl>
                                          <p:spTgt spid="62487"/>
                                        </p:tgtEl>
                                        <p:attrNameLst>
                                          <p:attrName>style.visibility</p:attrName>
                                        </p:attrNameLst>
                                      </p:cBhvr>
                                      <p:to>
                                        <p:strVal val="visible"/>
                                      </p:to>
                                    </p:set>
                                    <p:animEffect transition="in" filter="barn(inHorizontal)">
                                      <p:cBhvr>
                                        <p:cTn id="64" dur="500"/>
                                        <p:tgtEl>
                                          <p:spTgt spid="62487"/>
                                        </p:tgtEl>
                                      </p:cBhvr>
                                    </p:animEffect>
                                  </p:childTnLst>
                                </p:cTn>
                              </p:par>
                              <p:par>
                                <p:cTn id="65" presetID="16" presetClass="entr" presetSubtype="26" fill="hold" nodeType="withEffect">
                                  <p:stCondLst>
                                    <p:cond delay="0"/>
                                  </p:stCondLst>
                                  <p:childTnLst>
                                    <p:set>
                                      <p:cBhvr>
                                        <p:cTn id="66" dur="1" fill="hold">
                                          <p:stCondLst>
                                            <p:cond delay="0"/>
                                          </p:stCondLst>
                                        </p:cTn>
                                        <p:tgtEl>
                                          <p:spTgt spid="62488"/>
                                        </p:tgtEl>
                                        <p:attrNameLst>
                                          <p:attrName>style.visibility</p:attrName>
                                        </p:attrNameLst>
                                      </p:cBhvr>
                                      <p:to>
                                        <p:strVal val="visible"/>
                                      </p:to>
                                    </p:set>
                                    <p:animEffect transition="in" filter="barn(inHorizontal)">
                                      <p:cBhvr>
                                        <p:cTn id="67" dur="500"/>
                                        <p:tgtEl>
                                          <p:spTgt spid="62488"/>
                                        </p:tgtEl>
                                      </p:cBhvr>
                                    </p:animEffect>
                                  </p:childTnLst>
                                </p:cTn>
                              </p:par>
                            </p:childTnLst>
                          </p:cTn>
                        </p:par>
                      </p:childTnLst>
                    </p:cTn>
                  </p:par>
                  <p:par>
                    <p:cTn id="68" fill="hold">
                      <p:stCondLst>
                        <p:cond delay="indefinite"/>
                      </p:stCondLst>
                      <p:childTnLst>
                        <p:par>
                          <p:cTn id="69" fill="hold">
                            <p:stCondLst>
                              <p:cond delay="0"/>
                            </p:stCondLst>
                            <p:childTnLst>
                              <p:par>
                                <p:cTn id="70" presetID="13" presetClass="entr" presetSubtype="16" fill="hold" grpId="0" nodeType="clickEffect">
                                  <p:stCondLst>
                                    <p:cond delay="0"/>
                                  </p:stCondLst>
                                  <p:childTnLst>
                                    <p:set>
                                      <p:cBhvr>
                                        <p:cTn id="71" dur="1" fill="hold">
                                          <p:stCondLst>
                                            <p:cond delay="0"/>
                                          </p:stCondLst>
                                        </p:cTn>
                                        <p:tgtEl>
                                          <p:spTgt spid="62489"/>
                                        </p:tgtEl>
                                        <p:attrNameLst>
                                          <p:attrName>style.visibility</p:attrName>
                                        </p:attrNameLst>
                                      </p:cBhvr>
                                      <p:to>
                                        <p:strVal val="visible"/>
                                      </p:to>
                                    </p:set>
                                    <p:animEffect transition="in" filter="plus(in)">
                                      <p:cBhvr>
                                        <p:cTn id="72" dur="2000"/>
                                        <p:tgtEl>
                                          <p:spTgt spid="624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8" grpId="0" animBg="1"/>
      <p:bldP spid="62469" grpId="0" animBg="1"/>
      <p:bldP spid="62470" grpId="0" animBg="1"/>
      <p:bldP spid="62471" grpId="0" animBg="1"/>
      <p:bldP spid="62472" grpId="0" animBg="1"/>
      <p:bldP spid="62473" grpId="0" animBg="1"/>
      <p:bldP spid="62474" grpId="0" animBg="1"/>
      <p:bldP spid="62475" grpId="0" animBg="1"/>
      <p:bldP spid="62476" grpId="0" animBg="1"/>
      <p:bldP spid="62477" grpId="0" animBg="1"/>
      <p:bldP spid="62478" grpId="0" animBg="1"/>
      <p:bldP spid="62489"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1" name="内容占位符 2"/>
          <p:cNvSpPr>
            <a:spLocks noGrp="1"/>
          </p:cNvSpPr>
          <p:nvPr>
            <p:ph idx="4294967295"/>
          </p:nvPr>
        </p:nvSpPr>
        <p:spPr>
          <a:xfrm>
            <a:off x="488272" y="1100970"/>
            <a:ext cx="10515600" cy="4351337"/>
          </a:xfrm>
        </p:spPr>
        <p:txBody>
          <a:bodyPr/>
          <a:lstStyle/>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经典剪枝</a:t>
            </a:r>
            <a:r>
              <a:rPr lang="en-US" altLang="zh-CN" sz="2400" b="1" kern="100" dirty="0">
                <a:solidFill>
                  <a:srgbClr val="014B88"/>
                </a:solidFill>
                <a:latin typeface="仿宋_GB2312"/>
                <a:cs typeface="Times New Roman" panose="02020603050405020304" pitchFamily="18" charset="0"/>
              </a:rPr>
              <a:t>——Sticks</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hlinkClick r:id="rId2"/>
              </a:rPr>
              <a:t>POJ1011</a:t>
            </a:r>
            <a:r>
              <a:rPr lang="zh-CN" altLang="en-US" sz="2400" b="1" kern="100" dirty="0">
                <a:solidFill>
                  <a:srgbClr val="014B88"/>
                </a:solidFill>
                <a:latin typeface="仿宋_GB2312"/>
                <a:cs typeface="Times New Roman" panose="02020603050405020304" pitchFamily="18" charset="0"/>
              </a:rPr>
              <a:t>）</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问题描述：乔治有一堆长度相同的木棍，他将这些木棍切成若干（不超过</a:t>
            </a:r>
            <a:r>
              <a:rPr lang="en-US" altLang="zh-CN" sz="2400" b="1" kern="100" dirty="0">
                <a:solidFill>
                  <a:srgbClr val="014B88"/>
                </a:solidFill>
                <a:latin typeface="仿宋_GB2312"/>
                <a:cs typeface="Times New Roman" panose="02020603050405020304" pitchFamily="18" charset="0"/>
              </a:rPr>
              <a:t>64</a:t>
            </a:r>
            <a:r>
              <a:rPr lang="zh-CN" altLang="en-US" sz="2400" b="1" kern="100" dirty="0">
                <a:solidFill>
                  <a:srgbClr val="014B88"/>
                </a:solidFill>
                <a:latin typeface="仿宋_GB2312"/>
                <a:cs typeface="Times New Roman" panose="02020603050405020304" pitchFamily="18" charset="0"/>
              </a:rPr>
              <a:t>根）长度不超过</a:t>
            </a:r>
            <a:r>
              <a:rPr lang="en-US" altLang="zh-CN" sz="2400" b="1" kern="100" dirty="0">
                <a:solidFill>
                  <a:srgbClr val="014B88"/>
                </a:solidFill>
                <a:latin typeface="仿宋_GB2312"/>
                <a:cs typeface="Times New Roman" panose="02020603050405020304" pitchFamily="18" charset="0"/>
              </a:rPr>
              <a:t>50</a:t>
            </a:r>
            <a:r>
              <a:rPr lang="zh-CN" altLang="en-US" sz="2400" b="1" kern="100" dirty="0">
                <a:solidFill>
                  <a:srgbClr val="014B88"/>
                </a:solidFill>
                <a:latin typeface="仿宋_GB2312"/>
                <a:cs typeface="Times New Roman" panose="02020603050405020304" pitchFamily="18" charset="0"/>
              </a:rPr>
              <a:t>的小木棍，问原来的木棍可能的最短长度为多少 ？输入</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，然后给出</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个小木棍的长度，输出结果。（保证有解）</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搜索方法：从小到大枚举可能的长度</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，然后判断是否可行（</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根小木棒能否恰好拼成整数根 </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长的木棒）。</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不加优化纯暴力</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必然超时</a:t>
            </a:r>
            <a:endParaRPr lang="en-US" altLang="zh-CN" sz="2400" b="1" kern="100" dirty="0">
              <a:solidFill>
                <a:srgbClr val="014B88"/>
              </a:solidFill>
              <a:latin typeface="仿宋_GB2312"/>
              <a:cs typeface="Times New Roman" panose="02020603050405020304" pitchFamily="18" charset="0"/>
            </a:endParaRPr>
          </a:p>
          <a:p>
            <a:pPr eaLnBrk="1" hangingPunct="1"/>
            <a:endParaRPr lang="en-US" altLang="zh-CN" dirty="0"/>
          </a:p>
          <a:p>
            <a:pPr eaLnBrk="1" hangingPunct="1"/>
            <a:endParaRPr lang="en-US" altLang="zh-CN"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488271" y="1109848"/>
            <a:ext cx="10515600" cy="4351337"/>
          </a:xfrm>
        </p:spPr>
        <p:txBody>
          <a:bodyPr>
            <a:normAutofit/>
          </a:bodyPr>
          <a:lstStyle/>
          <a:p>
            <a:pPr>
              <a:lnSpc>
                <a:spcPct val="150000"/>
              </a:lnSpc>
              <a:buFont typeface="Wingdings" panose="05000000000000000000" pitchFamily="2" charset="2"/>
              <a:buChar char="l"/>
              <a:defRPr/>
            </a:pPr>
            <a:r>
              <a:rPr lang="zh-CN" altLang="en-US" sz="2400" b="1" kern="100" dirty="0">
                <a:solidFill>
                  <a:srgbClr val="014B88"/>
                </a:solidFill>
                <a:latin typeface="仿宋_GB2312"/>
                <a:cs typeface="Times New Roman" panose="02020603050405020304" pitchFamily="18" charset="0"/>
              </a:rPr>
              <a:t>不可行的情况：当前剩余小木棍不能凑出完整的一根长度为</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的木棍</a:t>
            </a:r>
            <a:endParaRPr lang="en-US" altLang="zh-CN" sz="2400" b="1" kern="100" dirty="0">
              <a:solidFill>
                <a:srgbClr val="014B88"/>
              </a:solidFill>
              <a:latin typeface="仿宋_GB2312"/>
              <a:cs typeface="Times New Roman" panose="02020603050405020304" pitchFamily="18" charset="0"/>
            </a:endParaRPr>
          </a:p>
          <a:p>
            <a:pPr marL="0" indent="0">
              <a:lnSpc>
                <a:spcPct val="150000"/>
              </a:lnSpc>
              <a:buNone/>
              <a:defRPr/>
            </a:pPr>
            <a:r>
              <a:rPr lang="zh-CN" altLang="en-US" sz="2400" b="1" kern="100" dirty="0">
                <a:solidFill>
                  <a:srgbClr val="014B88"/>
                </a:solidFill>
                <a:latin typeface="仿宋_GB2312"/>
                <a:cs typeface="Times New Roman" panose="02020603050405020304" pitchFamily="18" charset="0"/>
              </a:rPr>
              <a:t>优化策略：</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1</a:t>
            </a:r>
            <a:r>
              <a:rPr lang="zh-CN" altLang="en-US" sz="2400" b="1" kern="100" dirty="0">
                <a:solidFill>
                  <a:srgbClr val="014B88"/>
                </a:solidFill>
                <a:latin typeface="仿宋_GB2312"/>
                <a:cs typeface="Times New Roman" panose="02020603050405020304" pitchFamily="18" charset="0"/>
              </a:rPr>
              <a:t>、枚举原始木棍长度时从小木棍的最大长度开始，且枚举的长度</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是所有小木棍总长度的约数，最后一根长木棍不用拼凑</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2</a:t>
            </a:r>
            <a:r>
              <a:rPr lang="zh-CN" altLang="en-US" sz="2400" b="1" kern="100" dirty="0">
                <a:solidFill>
                  <a:srgbClr val="014B88"/>
                </a:solidFill>
                <a:latin typeface="仿宋_GB2312"/>
                <a:cs typeface="Times New Roman" panose="02020603050405020304" pitchFamily="18" charset="0"/>
              </a:rPr>
              <a:t>、将小木棍按照长度降序排列，先凑比较长的木棍，出现不可行的情况时更容易显现</a:t>
            </a:r>
            <a:endParaRPr lang="en-US" altLang="zh-CN" sz="2400" b="1" kern="100" dirty="0">
              <a:solidFill>
                <a:srgbClr val="014B88"/>
              </a:solidFill>
              <a:latin typeface="仿宋_GB2312"/>
              <a:cs typeface="Times New Roman" panose="02020603050405020304" pitchFamily="18" charset="0"/>
            </a:endParaRPr>
          </a:p>
          <a:p>
            <a:pPr marL="457200" indent="-457200">
              <a:buFont typeface="Wingdings" panose="05000000000000000000" pitchFamily="2" charset="2"/>
              <a:buAutoNum type="arabicPeriod"/>
              <a:defRPr/>
            </a:pPr>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 calcmode="lin" valueType="num">
                                      <p:cBhvr additive="base">
                                        <p:cTn id="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anim calcmode="lin" valueType="num">
                                      <p:cBhvr additive="base">
                                        <p:cTn id="13"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523783" y="1253331"/>
            <a:ext cx="10515600" cy="4351337"/>
          </a:xfrm>
        </p:spPr>
        <p:txBody>
          <a:bodyPr>
            <a:normAutofit fontScale="85000" lnSpcReduction="10000"/>
          </a:bodyPr>
          <a:lstStyle/>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3</a:t>
            </a:r>
            <a:r>
              <a:rPr lang="zh-CN" altLang="en-US" sz="2400" b="1" kern="100" dirty="0">
                <a:solidFill>
                  <a:srgbClr val="014B88"/>
                </a:solidFill>
                <a:latin typeface="仿宋_GB2312"/>
                <a:cs typeface="Times New Roman" panose="02020603050405020304" pitchFamily="18" charset="0"/>
              </a:rPr>
              <a:t>、如果当前要从头开始拼凑一根长为</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的木棍，尝试一根小木棍，但不可行的话，剪枝（回溯到上一层），因为这根小木棍总要放到一根长木棍里</a:t>
            </a:r>
            <a:endParaRPr lang="en-US" altLang="zh-CN" sz="2400" b="1" kern="100" dirty="0">
              <a:solidFill>
                <a:srgbClr val="014B88"/>
              </a:solidFill>
              <a:latin typeface="仿宋_GB2312"/>
              <a:cs typeface="Times New Roman" panose="02020603050405020304" pitchFamily="18" charset="0"/>
            </a:endParaRPr>
          </a:p>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4</a:t>
            </a:r>
            <a:r>
              <a:rPr lang="zh-CN" altLang="en-US" sz="2400" b="1" kern="100" dirty="0">
                <a:solidFill>
                  <a:srgbClr val="014B88"/>
                </a:solidFill>
                <a:latin typeface="仿宋_GB2312"/>
                <a:cs typeface="Times New Roman" panose="02020603050405020304" pitchFamily="18" charset="0"/>
              </a:rPr>
              <a:t>、如果当前放上当前小木棍恰好可以凑出一根长木棍的时候，但后面提示失败，剪枝，因为如果当前小木棍不可行，就必须使用后面更短的木棍来代替该小木棍，使得后面更加不可能拼凑成功</a:t>
            </a:r>
            <a:endParaRPr lang="en-US" altLang="zh-CN" sz="2400" b="1" kern="100" dirty="0">
              <a:solidFill>
                <a:srgbClr val="014B88"/>
              </a:solidFill>
              <a:latin typeface="仿宋_GB2312"/>
              <a:cs typeface="Times New Roman" panose="02020603050405020304" pitchFamily="18" charset="0"/>
            </a:endParaRPr>
          </a:p>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5</a:t>
            </a:r>
            <a:r>
              <a:rPr lang="zh-CN" altLang="en-US" sz="2400" b="1" kern="100" dirty="0">
                <a:solidFill>
                  <a:srgbClr val="014B88"/>
                </a:solidFill>
                <a:latin typeface="仿宋_GB2312"/>
                <a:cs typeface="Times New Roman" panose="02020603050405020304" pitchFamily="18" charset="0"/>
              </a:rPr>
              <a:t>、凑满一根长木棍之前，只需从上一层递归过程试到的小木棍的下一根开始即可，因为前面的都不可行</a:t>
            </a:r>
            <a:endParaRPr lang="en-US" altLang="zh-CN" sz="2400" b="1" kern="100" dirty="0">
              <a:solidFill>
                <a:srgbClr val="014B88"/>
              </a:solidFill>
              <a:latin typeface="仿宋_GB2312"/>
              <a:cs typeface="Times New Roman" panose="02020603050405020304" pitchFamily="18" charset="0"/>
            </a:endParaRPr>
          </a:p>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6</a:t>
            </a:r>
            <a:r>
              <a:rPr lang="zh-CN" altLang="en-US" sz="2400" b="1" kern="100" dirty="0">
                <a:solidFill>
                  <a:srgbClr val="014B88"/>
                </a:solidFill>
                <a:latin typeface="仿宋_GB2312"/>
                <a:cs typeface="Times New Roman" panose="02020603050405020304" pitchFamily="18" charset="0"/>
              </a:rPr>
              <a:t>、跳过重复长度的木棍，如果当前木棍不可行，那么和其同样长度的木棍一样不可行</a:t>
            </a:r>
            <a:endParaRPr lang="en-US" altLang="zh-CN" sz="2400" b="1" kern="100" dirty="0">
              <a:solidFill>
                <a:srgbClr val="014B88"/>
              </a:solidFill>
              <a:latin typeface="仿宋_GB2312"/>
              <a:cs typeface="Times New Roman" panose="02020603050405020304" pitchFamily="18" charset="0"/>
            </a:endParaRPr>
          </a:p>
          <a:p>
            <a:pPr marL="457200" indent="-457200">
              <a:buFont typeface="Wingdings" panose="05000000000000000000" pitchFamily="2" charset="2"/>
              <a:buAutoNum type="arabicPeriod" startAt="5"/>
              <a:defRPr/>
            </a:pPr>
            <a:endParaRPr lang="en-US" altLang="zh-CN" dirty="0"/>
          </a:p>
          <a:p>
            <a:pPr eaLnBrk="1" hangingPunct="1">
              <a:defRPr/>
            </a:pPr>
            <a:endParaRPr lang="zh-CN" altLang="en-US" dirty="0"/>
          </a:p>
          <a:p>
            <a:pPr eaLnBrk="1" hangingPunct="1">
              <a:defRPr/>
            </a:pPr>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36"/>
          <p:cNvSpPr txBox="1"/>
          <p:nvPr/>
        </p:nvSpPr>
        <p:spPr>
          <a:xfrm>
            <a:off x="166124" y="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 |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4" name="矩形 3"/>
          <p:cNvSpPr/>
          <p:nvPr/>
        </p:nvSpPr>
        <p:spPr>
          <a:xfrm>
            <a:off x="41429" y="610136"/>
            <a:ext cx="12109141" cy="6247864"/>
          </a:xfrm>
          <a:prstGeom prst="rect">
            <a:avLst/>
          </a:prstGeom>
          <a:solidFill>
            <a:schemeClr val="tx1"/>
          </a:solidFill>
        </p:spPr>
        <p:txBody>
          <a:bodyPr wrap="square">
            <a:spAutoFit/>
          </a:bodyPr>
          <a:lstStyle/>
          <a:p>
            <a:r>
              <a:rPr lang="en-US" altLang="zh-CN" sz="1600" dirty="0">
                <a:solidFill>
                  <a:srgbClr val="C586C0"/>
                </a:solidFill>
                <a:latin typeface="Consolas" panose="020B0609020204030204" pitchFamily="49" charset="0"/>
              </a:rPr>
              <a:t>#include</a:t>
            </a:r>
            <a:r>
              <a:rPr lang="en-US" altLang="zh-CN" sz="1600" dirty="0">
                <a:solidFill>
                  <a:srgbClr val="569CD6"/>
                </a:solidFill>
                <a:latin typeface="Consolas" panose="020B0609020204030204" pitchFamily="49" charset="0"/>
              </a:rPr>
              <a:t> </a:t>
            </a:r>
            <a:r>
              <a:rPr lang="en-US" altLang="zh-CN" sz="1600" dirty="0">
                <a:solidFill>
                  <a:srgbClr val="CE9178"/>
                </a:solidFill>
                <a:latin typeface="Consolas" panose="020B0609020204030204" pitchFamily="49" charset="0"/>
              </a:rPr>
              <a:t>&lt;</a:t>
            </a:r>
            <a:r>
              <a:rPr lang="en-US" altLang="zh-CN" sz="1600" dirty="0" err="1">
                <a:solidFill>
                  <a:srgbClr val="CE9178"/>
                </a:solidFill>
                <a:latin typeface="Consolas" panose="020B0609020204030204" pitchFamily="49" charset="0"/>
              </a:rPr>
              <a:t>cstdio</a:t>
            </a:r>
            <a:r>
              <a:rPr lang="en-US" altLang="zh-CN" sz="1600" dirty="0">
                <a:solidFill>
                  <a:srgbClr val="CE9178"/>
                </a:solidFill>
                <a:latin typeface="Consolas" panose="020B0609020204030204" pitchFamily="49" charset="0"/>
              </a:rPr>
              <a:t>&gt;</a:t>
            </a:r>
            <a:endParaRPr lang="en-US" altLang="zh-CN" sz="1600" dirty="0">
              <a:solidFill>
                <a:srgbClr val="D4D4D4"/>
              </a:solidFill>
              <a:latin typeface="Consolas" panose="020B0609020204030204" pitchFamily="49" charset="0"/>
            </a:endParaRPr>
          </a:p>
          <a:p>
            <a:r>
              <a:rPr lang="en-US" altLang="zh-CN" sz="1600" dirty="0">
                <a:solidFill>
                  <a:srgbClr val="C586C0"/>
                </a:solidFill>
                <a:latin typeface="Consolas" panose="020B0609020204030204" pitchFamily="49" charset="0"/>
              </a:rPr>
              <a:t>#include</a:t>
            </a:r>
            <a:r>
              <a:rPr lang="en-US" altLang="zh-CN" sz="1600" dirty="0">
                <a:solidFill>
                  <a:srgbClr val="569CD6"/>
                </a:solidFill>
                <a:latin typeface="Consolas" panose="020B0609020204030204" pitchFamily="49" charset="0"/>
              </a:rPr>
              <a:t> </a:t>
            </a:r>
            <a:r>
              <a:rPr lang="en-US" altLang="zh-CN" sz="1600" dirty="0">
                <a:solidFill>
                  <a:srgbClr val="CE9178"/>
                </a:solidFill>
                <a:latin typeface="Consolas" panose="020B0609020204030204" pitchFamily="49" charset="0"/>
              </a:rPr>
              <a:t>&lt;</a:t>
            </a:r>
            <a:r>
              <a:rPr lang="en-US" altLang="zh-CN" sz="1600" dirty="0" err="1">
                <a:solidFill>
                  <a:srgbClr val="CE9178"/>
                </a:solidFill>
                <a:latin typeface="Consolas" panose="020B0609020204030204" pitchFamily="49" charset="0"/>
              </a:rPr>
              <a:t>cstring</a:t>
            </a:r>
            <a:r>
              <a:rPr lang="en-US" altLang="zh-CN" sz="1600" dirty="0">
                <a:solidFill>
                  <a:srgbClr val="CE9178"/>
                </a:solidFill>
                <a:latin typeface="Consolas" panose="020B0609020204030204" pitchFamily="49" charset="0"/>
              </a:rPr>
              <a:t>&gt;</a:t>
            </a:r>
            <a:endParaRPr lang="en-US" altLang="zh-CN" sz="1600" dirty="0">
              <a:solidFill>
                <a:srgbClr val="D4D4D4"/>
              </a:solidFill>
              <a:latin typeface="Consolas" panose="020B0609020204030204" pitchFamily="49" charset="0"/>
            </a:endParaRPr>
          </a:p>
          <a:p>
            <a:r>
              <a:rPr lang="en-US" altLang="zh-CN" sz="1600" dirty="0">
                <a:solidFill>
                  <a:srgbClr val="C586C0"/>
                </a:solidFill>
                <a:latin typeface="Consolas" panose="020B0609020204030204" pitchFamily="49" charset="0"/>
              </a:rPr>
              <a:t>#include</a:t>
            </a:r>
            <a:r>
              <a:rPr lang="en-US" altLang="zh-CN" sz="1600" dirty="0">
                <a:solidFill>
                  <a:srgbClr val="569CD6"/>
                </a:solidFill>
                <a:latin typeface="Consolas" panose="020B0609020204030204" pitchFamily="49" charset="0"/>
              </a:rPr>
              <a:t> </a:t>
            </a:r>
            <a:r>
              <a:rPr lang="en-US" altLang="zh-CN" sz="1600" dirty="0">
                <a:solidFill>
                  <a:srgbClr val="CE9178"/>
                </a:solidFill>
                <a:latin typeface="Consolas" panose="020B0609020204030204" pitchFamily="49" charset="0"/>
              </a:rPr>
              <a:t>&lt;algorithm&gt;</a:t>
            </a:r>
            <a:endParaRPr lang="en-US" altLang="zh-CN" sz="1600" dirty="0">
              <a:solidFill>
                <a:srgbClr val="D4D4D4"/>
              </a:solidFill>
              <a:latin typeface="Consolas" panose="020B0609020204030204" pitchFamily="49" charset="0"/>
            </a:endParaRPr>
          </a:p>
          <a:p>
            <a:r>
              <a:rPr lang="en-US" altLang="zh-CN" sz="1600" dirty="0">
                <a:solidFill>
                  <a:srgbClr val="C586C0"/>
                </a:solidFill>
                <a:latin typeface="Consolas" panose="020B0609020204030204" pitchFamily="49" charset="0"/>
              </a:rPr>
              <a:t>using</a:t>
            </a:r>
            <a:r>
              <a:rPr lang="en-US" altLang="zh-CN"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namespace</a:t>
            </a:r>
            <a:r>
              <a:rPr lang="en-US" altLang="zh-CN" sz="1600" dirty="0">
                <a:solidFill>
                  <a:srgbClr val="D4D4D4"/>
                </a:solidFill>
                <a:latin typeface="Consolas" panose="020B0609020204030204" pitchFamily="49" charset="0"/>
              </a:rPr>
              <a:t> </a:t>
            </a:r>
            <a:r>
              <a:rPr lang="en-US" altLang="zh-CN" sz="1600" dirty="0">
                <a:solidFill>
                  <a:srgbClr val="4EC9B0"/>
                </a:solidFill>
                <a:latin typeface="Consolas" panose="020B0609020204030204" pitchFamily="49" charset="0"/>
              </a:rPr>
              <a:t>std</a:t>
            </a:r>
            <a:r>
              <a:rPr lang="en-US" altLang="zh-CN" sz="1600" dirty="0">
                <a:solidFill>
                  <a:srgbClr val="D4D4D4"/>
                </a:solidFill>
                <a:latin typeface="Consolas" panose="020B0609020204030204" pitchFamily="49" charset="0"/>
              </a:rPr>
              <a:t>;</a:t>
            </a:r>
          </a:p>
          <a:p>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100</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100</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sum</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//used</a:t>
            </a:r>
            <a:r>
              <a:rPr lang="zh-CN" altLang="en-US" sz="1600" dirty="0">
                <a:solidFill>
                  <a:srgbClr val="6A9955"/>
                </a:solidFill>
                <a:latin typeface="Consolas" panose="020B0609020204030204" pitchFamily="49" charset="0"/>
              </a:rPr>
              <a:t>数组标记小木棍是否已经被使用，</a:t>
            </a:r>
            <a:r>
              <a:rPr lang="en-US" altLang="zh-CN" sz="1600" dirty="0" err="1">
                <a:solidFill>
                  <a:srgbClr val="6A9955"/>
                </a:solidFill>
                <a:latin typeface="Consolas" panose="020B0609020204030204" pitchFamily="49" charset="0"/>
              </a:rPr>
              <a:t>len</a:t>
            </a:r>
            <a:r>
              <a:rPr lang="zh-CN" altLang="en-US" sz="1600" dirty="0">
                <a:solidFill>
                  <a:srgbClr val="6A9955"/>
                </a:solidFill>
                <a:latin typeface="Consolas" panose="020B0609020204030204" pitchFamily="49" charset="0"/>
              </a:rPr>
              <a:t>存放小木棍的长度，</a:t>
            </a:r>
            <a:r>
              <a:rPr lang="en-US" altLang="zh-CN" sz="1600" dirty="0">
                <a:solidFill>
                  <a:srgbClr val="6A9955"/>
                </a:solidFill>
                <a:latin typeface="Consolas" panose="020B0609020204030204" pitchFamily="49" charset="0"/>
              </a:rPr>
              <a:t>n</a:t>
            </a:r>
            <a:r>
              <a:rPr lang="zh-CN" altLang="en-US" sz="1600" dirty="0">
                <a:solidFill>
                  <a:srgbClr val="6A9955"/>
                </a:solidFill>
                <a:latin typeface="Consolas" panose="020B0609020204030204" pitchFamily="49" charset="0"/>
              </a:rPr>
              <a:t>是小木棍个数，</a:t>
            </a:r>
            <a:r>
              <a:rPr lang="en-US" altLang="zh-CN" sz="1600" dirty="0">
                <a:solidFill>
                  <a:srgbClr val="6A9955"/>
                </a:solidFill>
                <a:latin typeface="Consolas" panose="020B0609020204030204" pitchFamily="49" charset="0"/>
              </a:rPr>
              <a:t>Min</a:t>
            </a:r>
            <a:r>
              <a:rPr lang="zh-CN" altLang="en-US" sz="1600" dirty="0">
                <a:solidFill>
                  <a:srgbClr val="6A9955"/>
                </a:solidFill>
                <a:latin typeface="Consolas" panose="020B0609020204030204" pitchFamily="49" charset="0"/>
              </a:rPr>
              <a:t>是枚举的长木棍的长度</a:t>
            </a:r>
            <a:endParaRPr lang="zh-CN" altLang="en-US" sz="1600" dirty="0">
              <a:solidFill>
                <a:srgbClr val="D4D4D4"/>
              </a:solidFill>
              <a:latin typeface="Consolas" panose="020B0609020204030204" pitchFamily="49" charset="0"/>
            </a:endParaRPr>
          </a:p>
          <a:p>
            <a:r>
              <a:rPr lang="en-US" altLang="zh-CN" sz="1600" dirty="0">
                <a:solidFill>
                  <a:srgbClr val="569CD6"/>
                </a:solidFill>
                <a:latin typeface="Consolas" panose="020B0609020204030204" pitchFamily="49" charset="0"/>
              </a:rPr>
              <a:t>inline</a:t>
            </a:r>
            <a:r>
              <a:rPr lang="en-US" altLang="zh-CN"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a:solidFill>
                  <a:srgbClr val="DCDCAA"/>
                </a:solidFill>
                <a:latin typeface="Consolas" panose="020B0609020204030204" pitchFamily="49" charset="0"/>
              </a:rPr>
              <a:t>find</a:t>
            </a:r>
            <a:r>
              <a:rPr lang="en-US" altLang="zh-CN" sz="1600" dirty="0">
                <a:solidFill>
                  <a:srgbClr val="D4D4D4"/>
                </a:solidFill>
                <a:latin typeface="Consolas" panose="020B0609020204030204" pitchFamily="49" charset="0"/>
              </a:rPr>
              <a:t>(</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p</a:t>
            </a:r>
            <a:r>
              <a:rPr lang="en-US" altLang="zh-CN" sz="1600" dirty="0" err="1">
                <a:solidFill>
                  <a:srgbClr val="D4D4D4"/>
                </a:solidFill>
                <a:latin typeface="Consolas" panose="020B0609020204030204" pitchFamily="49" charset="0"/>
              </a:rPr>
              <a:t>,</a:t>
            </a:r>
            <a:r>
              <a:rPr lang="en-US" altLang="zh-CN" sz="1600" dirty="0" err="1">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rest</a:t>
            </a:r>
            <a:r>
              <a:rPr lang="en-US" altLang="zh-CN" sz="1600" dirty="0" err="1">
                <a:solidFill>
                  <a:srgbClr val="D4D4D4"/>
                </a:solidFill>
                <a:latin typeface="Consolas" panose="020B0609020204030204" pitchFamily="49" charset="0"/>
              </a:rPr>
              <a:t>,</a:t>
            </a:r>
            <a:r>
              <a:rPr lang="en-US" altLang="zh-CN" sz="1600" dirty="0" err="1">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trest</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//p</a:t>
            </a:r>
            <a:r>
              <a:rPr lang="zh-CN" altLang="en-US" sz="1600" dirty="0">
                <a:solidFill>
                  <a:srgbClr val="6A9955"/>
                </a:solidFill>
                <a:latin typeface="Consolas" panose="020B0609020204030204" pitchFamily="49" charset="0"/>
              </a:rPr>
              <a:t>为当前搜索到的小木棍标号，</a:t>
            </a:r>
            <a:r>
              <a:rPr lang="en-US" altLang="zh-CN" sz="1600" dirty="0">
                <a:solidFill>
                  <a:srgbClr val="6A9955"/>
                </a:solidFill>
                <a:latin typeface="Consolas" panose="020B0609020204030204" pitchFamily="49" charset="0"/>
              </a:rPr>
              <a:t>rest</a:t>
            </a:r>
            <a:r>
              <a:rPr lang="zh-CN" altLang="en-US" sz="1600" dirty="0">
                <a:solidFill>
                  <a:srgbClr val="6A9955"/>
                </a:solidFill>
                <a:latin typeface="Consolas" panose="020B0609020204030204" pitchFamily="49" charset="0"/>
              </a:rPr>
              <a:t>为正在拼凑的长木棍剩余的长度，</a:t>
            </a:r>
            <a:r>
              <a:rPr lang="en-US" altLang="zh-CN" sz="1600" dirty="0" err="1">
                <a:solidFill>
                  <a:srgbClr val="6A9955"/>
                </a:solidFill>
                <a:latin typeface="Consolas" panose="020B0609020204030204" pitchFamily="49" charset="0"/>
              </a:rPr>
              <a:t>trest</a:t>
            </a:r>
            <a:r>
              <a:rPr lang="zh-CN" altLang="en-US" sz="1600" dirty="0">
                <a:solidFill>
                  <a:srgbClr val="6A9955"/>
                </a:solidFill>
                <a:latin typeface="Consolas" panose="020B0609020204030204" pitchFamily="49" charset="0"/>
              </a:rPr>
              <a:t>为当前剩余的小木棍的总长度</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trest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如果剩余小木棍的总长度恰好等于要拼凑的长木棍的长度，直接返回（优化</a:t>
            </a:r>
            <a:r>
              <a:rPr lang="en-US" altLang="zh-CN" sz="1600" dirty="0">
                <a:solidFill>
                  <a:srgbClr val="6A9955"/>
                </a:solidFill>
                <a:latin typeface="Consolas" panose="020B0609020204030204" pitchFamily="49" charset="0"/>
              </a:rPr>
              <a:t>1</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for</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p</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&lt;= </a:t>
            </a:r>
            <a:r>
              <a:rPr lang="en-US" altLang="zh-CN" sz="1600" dirty="0">
                <a:solidFill>
                  <a:srgbClr val="9CDCFE"/>
                </a:solidFill>
                <a:latin typeface="Consolas" panose="020B0609020204030204" pitchFamily="49" charset="0"/>
              </a:rPr>
              <a:t>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&amp;&amp;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&lt;= </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如果当前小木棍未被使用并且长度小于正在拼凑的长木棍剩余的长度，将其拼凑进该长木棍</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如果当前小木棍长度恰好能够拼凑成当前长木棍</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DCDCAA"/>
                </a:solidFill>
                <a:latin typeface="Consolas" panose="020B0609020204030204" pitchFamily="49" charset="0"/>
              </a:rPr>
              <a:t>find</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trest</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a:t>
            </a:r>
            <a:r>
              <a:rPr lang="zh-CN" altLang="en-US" sz="1600" dirty="0">
                <a:solidFill>
                  <a:srgbClr val="6A9955"/>
                </a:solidFill>
                <a:latin typeface="Consolas" panose="020B0609020204030204" pitchFamily="49" charset="0"/>
              </a:rPr>
              <a:t>继续拼凑其他长木棍，如果成功，即找到可行解</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else</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DCDCAA"/>
                </a:solidFill>
                <a:latin typeface="Consolas" panose="020B0609020204030204" pitchFamily="49" charset="0"/>
              </a:rPr>
              <a:t>find</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trest</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当前小木棍不能恰好拼凑完成当前长木棍，从下一根小木棍开始搜索，继续拼凑当前长木棍（优化</a:t>
            </a:r>
            <a:r>
              <a:rPr lang="en-US" altLang="zh-CN" sz="1600" dirty="0">
                <a:solidFill>
                  <a:srgbClr val="6A9955"/>
                </a:solidFill>
                <a:latin typeface="Consolas" panose="020B0609020204030204" pitchFamily="49" charset="0"/>
              </a:rPr>
              <a:t>5</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如果以上均找不到可行解，回溯，即不使用该小木棍</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当前拼凑的长木棍为从头开始拼凑的，搜索该小木棍不能找到可行解，剪枝（优化</a:t>
            </a:r>
            <a:r>
              <a:rPr lang="en-US" altLang="zh-CN" sz="1600" dirty="0">
                <a:solidFill>
                  <a:srgbClr val="6A9955"/>
                </a:solidFill>
                <a:latin typeface="Consolas" panose="020B0609020204030204" pitchFamily="49" charset="0"/>
              </a:rPr>
              <a:t>3</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while</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该长度的小木棍找不到可行解，跳过与其长度相同的小木棍（优化</a:t>
            </a:r>
            <a:r>
              <a:rPr lang="en-US" altLang="zh-CN" sz="1600" dirty="0">
                <a:solidFill>
                  <a:srgbClr val="6A9955"/>
                </a:solidFill>
                <a:latin typeface="Consolas" panose="020B0609020204030204" pitchFamily="49" charset="0"/>
              </a:rPr>
              <a:t>6</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p>
          <a:p>
            <a:r>
              <a:rPr lang="en-US" altLang="zh-CN" sz="1600" dirty="0">
                <a:solidFill>
                  <a:srgbClr val="D4D4D4"/>
                </a:solidFill>
                <a:latin typeface="Consolas" panose="020B0609020204030204" pitchFamily="49" charset="0"/>
              </a:rPr>
              <a:t>}</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7003" y="788608"/>
            <a:ext cx="12154997" cy="5632311"/>
          </a:xfrm>
          <a:prstGeom prst="rect">
            <a:avLst/>
          </a:prstGeom>
          <a:solidFill>
            <a:schemeClr val="tx1"/>
          </a:solidFill>
        </p:spPr>
        <p:txBody>
          <a:bodyPr wrap="square">
            <a:spAutoFit/>
          </a:bodyPr>
          <a:lstStyle/>
          <a:p>
            <a:r>
              <a:rPr lang="en-US" altLang="zh-CN" dirty="0">
                <a:solidFill>
                  <a:srgbClr val="569CD6"/>
                </a:solidFill>
                <a:latin typeface="Consolas" panose="020B0609020204030204" pitchFamily="49" charset="0"/>
              </a:rPr>
              <a:t>bool</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cmp</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a</a:t>
            </a:r>
            <a:r>
              <a:rPr lang="en-US" altLang="zh-CN" dirty="0" err="1">
                <a:solidFill>
                  <a:srgbClr val="D4D4D4"/>
                </a:solidFill>
                <a:latin typeface="Consolas" panose="020B0609020204030204" pitchFamily="49" charset="0"/>
              </a:rPr>
              <a:t>,</a:t>
            </a:r>
            <a:r>
              <a:rPr lang="en-US" altLang="zh-CN" dirty="0" err="1">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b</a:t>
            </a:r>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return</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a</a:t>
            </a:r>
            <a:r>
              <a:rPr lang="en-US" altLang="zh-CN" dirty="0">
                <a:solidFill>
                  <a:srgbClr val="D4D4D4"/>
                </a:solidFill>
                <a:latin typeface="Consolas" panose="020B0609020204030204" pitchFamily="49" charset="0"/>
              </a:rPr>
              <a:t>&gt;</a:t>
            </a:r>
            <a:r>
              <a:rPr lang="en-US" altLang="zh-CN" dirty="0">
                <a:solidFill>
                  <a:srgbClr val="9CDCFE"/>
                </a:solidFill>
                <a:latin typeface="Consolas" panose="020B0609020204030204" pitchFamily="49" charset="0"/>
              </a:rPr>
              <a:t>b</a:t>
            </a:r>
            <a:r>
              <a:rPr lang="en-US" altLang="zh-CN" dirty="0">
                <a:solidFill>
                  <a:srgbClr val="D4D4D4"/>
                </a:solidFill>
                <a:latin typeface="Consolas" panose="020B0609020204030204" pitchFamily="49" charset="0"/>
              </a:rPr>
              <a:t>;}</a:t>
            </a: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main</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scanf</a:t>
            </a:r>
            <a:r>
              <a:rPr lang="en-US" altLang="zh-CN" dirty="0">
                <a:solidFill>
                  <a:srgbClr val="D4D4D4"/>
                </a:solidFill>
                <a:latin typeface="Consolas" panose="020B0609020204030204" pitchFamily="49" charset="0"/>
              </a:rPr>
              <a:t>(</a:t>
            </a:r>
            <a:r>
              <a:rPr lang="en-US" altLang="zh-CN" dirty="0">
                <a:solidFill>
                  <a:srgbClr val="CE9178"/>
                </a:solidFill>
                <a:latin typeface="Consolas" panose="020B0609020204030204" pitchFamily="49" charset="0"/>
              </a:rPr>
              <a:t>"</a:t>
            </a:r>
            <a:r>
              <a:rPr lang="en-US" altLang="zh-CN" dirty="0">
                <a:solidFill>
                  <a:srgbClr val="9CDCFE"/>
                </a:solidFill>
                <a:latin typeface="Consolas" panose="020B0609020204030204" pitchFamily="49" charset="0"/>
              </a:rPr>
              <a:t>%</a:t>
            </a:r>
            <a:r>
              <a:rPr lang="en-US" altLang="zh-CN" dirty="0" err="1">
                <a:solidFill>
                  <a:srgbClr val="9CDCFE"/>
                </a:solidFill>
                <a:latin typeface="Consolas" panose="020B0609020204030204" pitchFamily="49" charset="0"/>
              </a:rPr>
              <a:t>d</a:t>
            </a:r>
            <a:r>
              <a:rPr lang="en-US" altLang="zh-CN" dirty="0" err="1">
                <a:solidFill>
                  <a:srgbClr val="CE9178"/>
                </a:solidFill>
                <a:latin typeface="Consolas" panose="020B0609020204030204" pitchFamily="49" charset="0"/>
              </a:rPr>
              <a:t>"</a:t>
            </a:r>
            <a:r>
              <a:rPr lang="en-US" altLang="zh-CN" dirty="0" err="1">
                <a:solidFill>
                  <a:srgbClr val="D4D4D4"/>
                </a:solidFill>
                <a:latin typeface="Consolas" panose="020B0609020204030204" pitchFamily="49" charset="0"/>
              </a:rPr>
              <a:t>,&amp;</a:t>
            </a:r>
            <a:r>
              <a:rPr lang="en-US" altLang="zh-CN" dirty="0" err="1">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)&amp;&amp;</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&lt;=</a:t>
            </a:r>
            <a:r>
              <a:rPr lang="en-US" altLang="zh-CN" dirty="0" err="1">
                <a:solidFill>
                  <a:srgbClr val="9CDCFE"/>
                </a:solidFill>
                <a:latin typeface="Consolas" panose="020B0609020204030204" pitchFamily="49" charset="0"/>
              </a:rPr>
              <a:t>n</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scanf</a:t>
            </a:r>
            <a:r>
              <a:rPr lang="en-US" altLang="zh-CN" dirty="0">
                <a:solidFill>
                  <a:srgbClr val="D4D4D4"/>
                </a:solidFill>
                <a:latin typeface="Consolas" panose="020B0609020204030204" pitchFamily="49" charset="0"/>
              </a:rPr>
              <a:t>(</a:t>
            </a:r>
            <a:r>
              <a:rPr lang="en-US" altLang="zh-CN" dirty="0">
                <a:solidFill>
                  <a:srgbClr val="CE9178"/>
                </a:solidFill>
                <a:latin typeface="Consolas" panose="020B0609020204030204" pitchFamily="49" charset="0"/>
              </a:rPr>
              <a:t>"</a:t>
            </a:r>
            <a:r>
              <a:rPr lang="en-US" altLang="zh-CN" dirty="0">
                <a:solidFill>
                  <a:srgbClr val="9CDCFE"/>
                </a:solidFill>
                <a:latin typeface="Consolas" panose="020B0609020204030204" pitchFamily="49" charset="0"/>
              </a:rPr>
              <a:t>%d</a:t>
            </a:r>
            <a:r>
              <a:rPr lang="en-US" altLang="zh-CN" dirty="0">
                <a:solidFill>
                  <a:srgbClr val="CE9178"/>
                </a:solidFill>
                <a:latin typeface="Consolas" panose="020B0609020204030204" pitchFamily="49" charset="0"/>
              </a:rPr>
              <a:t>"</a:t>
            </a:r>
            <a:r>
              <a:rPr lang="en-US" altLang="zh-CN" dirty="0">
                <a:solidFill>
                  <a:srgbClr val="D4D4D4"/>
                </a:solidFill>
                <a:latin typeface="Consolas" panose="020B0609020204030204" pitchFamily="49" charset="0"/>
              </a:rPr>
              <a:t>,&amp;</a:t>
            </a:r>
            <a:r>
              <a:rPr lang="en-US" altLang="zh-CN" dirty="0" err="1">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memset</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used</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sizeof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used</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sort</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DCDCAA"/>
                </a:solidFill>
                <a:latin typeface="Consolas" panose="020B0609020204030204" pitchFamily="49" charset="0"/>
              </a:rPr>
              <a:t>cmp</a:t>
            </a:r>
            <a:r>
              <a:rPr lang="en-US" altLang="zh-CN" dirty="0">
                <a:solidFill>
                  <a:srgbClr val="D4D4D4"/>
                </a:solidFill>
                <a:latin typeface="Consolas" panose="020B0609020204030204" pitchFamily="49" charset="0"/>
              </a:rPr>
              <a:t>);</a:t>
            </a:r>
            <a:r>
              <a:rPr lang="en-US" altLang="zh-CN" dirty="0">
                <a:solidFill>
                  <a:srgbClr val="6A9955"/>
                </a:solidFill>
                <a:latin typeface="Consolas" panose="020B0609020204030204" pitchFamily="49" charset="0"/>
              </a:rPr>
              <a:t> //</a:t>
            </a:r>
            <a:r>
              <a:rPr lang="zh-CN" altLang="en-US" dirty="0">
                <a:solidFill>
                  <a:srgbClr val="6A9955"/>
                </a:solidFill>
                <a:latin typeface="Consolas" panose="020B0609020204030204" pitchFamily="49" charset="0"/>
              </a:rPr>
              <a:t>将小木棍按照长度降序排列（优化</a:t>
            </a:r>
            <a:r>
              <a:rPr lang="en-US" altLang="zh-CN" dirty="0">
                <a:solidFill>
                  <a:srgbClr val="6A9955"/>
                </a:solidFill>
                <a:latin typeface="Consolas" panose="020B0609020204030204" pitchFamily="49" charset="0"/>
              </a:rPr>
              <a:t>2</a:t>
            </a:r>
            <a:r>
              <a:rPr lang="zh-CN" altLang="en-US" dirty="0">
                <a:solidFill>
                  <a:srgbClr val="6A9955"/>
                </a:solidFill>
                <a:latin typeface="Consolas" panose="020B0609020204030204" pitchFamily="49" charset="0"/>
              </a:rPr>
              <a:t>）</a:t>
            </a:r>
            <a:endParaRPr lang="zh-CN" altLang="en-US" dirty="0">
              <a:solidFill>
                <a:srgbClr val="D4D4D4"/>
              </a:solidFill>
              <a:latin typeface="Consolas" panose="020B0609020204030204" pitchFamily="49" charset="0"/>
            </a:endParaRPr>
          </a:p>
          <a:p>
            <a:r>
              <a:rPr lang="zh-CN" altLang="en-US"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sum</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sum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sum</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find</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sum</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sum</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r>
              <a:rPr lang="en-US" altLang="zh-CN" dirty="0">
                <a:solidFill>
                  <a:srgbClr val="6A9955"/>
                </a:solidFill>
                <a:latin typeface="Consolas" panose="020B0609020204030204" pitchFamily="49" charset="0"/>
              </a:rPr>
              <a:t> //</a:t>
            </a:r>
            <a:r>
              <a:rPr lang="zh-CN" altLang="en-US" dirty="0">
                <a:solidFill>
                  <a:srgbClr val="6A9955"/>
                </a:solidFill>
                <a:latin typeface="Consolas" panose="020B0609020204030204" pitchFamily="49" charset="0"/>
              </a:rPr>
              <a:t>跳过不是小木棍总长度的约数的原木棍长度（优化</a:t>
            </a:r>
            <a:r>
              <a:rPr lang="en-US" altLang="zh-CN" dirty="0">
                <a:solidFill>
                  <a:srgbClr val="6A9955"/>
                </a:solidFill>
                <a:latin typeface="Consolas" panose="020B0609020204030204" pitchFamily="49" charset="0"/>
              </a:rPr>
              <a:t>1</a:t>
            </a:r>
            <a:r>
              <a:rPr lang="zh-CN" altLang="en-US" dirty="0">
                <a:solidFill>
                  <a:srgbClr val="6A9955"/>
                </a:solidFill>
                <a:latin typeface="Consolas" panose="020B0609020204030204" pitchFamily="49" charset="0"/>
              </a:rPr>
              <a:t>）</a:t>
            </a:r>
            <a:endParaRPr lang="zh-CN" altLang="en-US" dirty="0">
              <a:solidFill>
                <a:srgbClr val="D4D4D4"/>
              </a:solidFill>
              <a:latin typeface="Consolas" panose="020B0609020204030204" pitchFamily="49" charset="0"/>
            </a:endParaRPr>
          </a:p>
          <a:p>
            <a:r>
              <a:rPr lang="zh-CN" altLang="en-US" dirty="0">
                <a:solidFill>
                  <a:srgbClr val="D4D4D4"/>
                </a:solidFill>
                <a:latin typeface="Consolas" panose="020B0609020204030204" pitchFamily="49" charset="0"/>
              </a:rPr>
              <a:t>       </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printf</a:t>
            </a:r>
            <a:r>
              <a:rPr lang="en-US" altLang="zh-CN" dirty="0">
                <a:solidFill>
                  <a:srgbClr val="D4D4D4"/>
                </a:solidFill>
                <a:latin typeface="Consolas" panose="020B0609020204030204" pitchFamily="49" charset="0"/>
              </a:rPr>
              <a:t>(</a:t>
            </a:r>
            <a:r>
              <a:rPr lang="en-US" altLang="zh-CN" dirty="0">
                <a:solidFill>
                  <a:srgbClr val="CE9178"/>
                </a:solidFill>
                <a:latin typeface="Consolas" panose="020B0609020204030204" pitchFamily="49" charset="0"/>
              </a:rPr>
              <a:t>"</a:t>
            </a:r>
            <a:r>
              <a:rPr lang="en-US" altLang="zh-CN" dirty="0">
                <a:solidFill>
                  <a:srgbClr val="9CDCFE"/>
                </a:solidFill>
                <a:latin typeface="Consolas" panose="020B0609020204030204" pitchFamily="49" charset="0"/>
              </a:rPr>
              <a:t>%d</a:t>
            </a:r>
            <a:r>
              <a:rPr lang="en-US" altLang="zh-CN" dirty="0">
                <a:solidFill>
                  <a:srgbClr val="D7BA7D"/>
                </a:solidFill>
                <a:latin typeface="Consolas" panose="020B0609020204030204" pitchFamily="49" charset="0"/>
              </a:rPr>
              <a:t>\</a:t>
            </a:r>
            <a:r>
              <a:rPr lang="en-US" altLang="zh-CN" dirty="0" err="1">
                <a:solidFill>
                  <a:srgbClr val="D7BA7D"/>
                </a:solidFill>
                <a:latin typeface="Consolas" panose="020B0609020204030204" pitchFamily="49" charset="0"/>
              </a:rPr>
              <a:t>n</a:t>
            </a:r>
            <a:r>
              <a:rPr lang="en-US" altLang="zh-CN" dirty="0" err="1">
                <a:solidFill>
                  <a:srgbClr val="CE9178"/>
                </a:solidFill>
                <a:latin typeface="Consolas" panose="020B0609020204030204" pitchFamily="49" charset="0"/>
              </a:rPr>
              <a: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    }</a:t>
            </a: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return</a:t>
            </a:r>
            <a:r>
              <a:rPr lang="en-US" altLang="zh-CN" dirty="0">
                <a:solidFill>
                  <a:srgbClr val="D4D4D4"/>
                </a:solidFill>
                <a:latin typeface="Consolas" panose="020B0609020204030204" pitchFamily="49" charset="0"/>
              </a:rPr>
              <a:t>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p>
          <a:p>
            <a:r>
              <a:rPr lang="en-US" altLang="zh-CN" dirty="0">
                <a:solidFill>
                  <a:srgbClr val="D4D4D4"/>
                </a:solidFill>
                <a:latin typeface="Consolas" panose="020B0609020204030204" pitchFamily="49" charset="0"/>
              </a:rPr>
              <a:t>}</a:t>
            </a:r>
          </a:p>
        </p:txBody>
      </p:sp>
      <p:sp>
        <p:nvSpPr>
          <p:cNvPr id="3" name="TextBox 36"/>
          <p:cNvSpPr txBox="1"/>
          <p:nvPr/>
        </p:nvSpPr>
        <p:spPr>
          <a:xfrm>
            <a:off x="253759" y="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 |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3" name="内容占位符 2"/>
          <p:cNvSpPr>
            <a:spLocks noGrp="1"/>
          </p:cNvSpPr>
          <p:nvPr>
            <p:ph type="body" idx="4294967295"/>
          </p:nvPr>
        </p:nvSpPr>
        <p:spPr>
          <a:xfrm>
            <a:off x="96813" y="972053"/>
            <a:ext cx="11760387" cy="5020600"/>
          </a:xfrm>
        </p:spPr>
        <p:txBody>
          <a:bodyPr vert="horz" wrap="square" anchor="t">
            <a:noAutofit/>
          </a:bodyPr>
          <a:lstStyle/>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相同点： 都是对于</a:t>
            </a:r>
            <a:r>
              <a:rPr lang="zh-CN" altLang="en-US" b="1" kern="100" noProof="1">
                <a:solidFill>
                  <a:srgbClr val="FF0000"/>
                </a:solidFill>
                <a:latin typeface="仿宋_GB2312"/>
                <a:cs typeface="Times New Roman" panose="02020603050405020304" pitchFamily="18" charset="0"/>
              </a:rPr>
              <a:t>树状的搜索树</a:t>
            </a:r>
            <a:r>
              <a:rPr lang="zh-CN" altLang="en-US" b="1" kern="100" noProof="1">
                <a:solidFill>
                  <a:srgbClr val="014B88"/>
                </a:solidFill>
                <a:latin typeface="仿宋_GB2312"/>
                <a:cs typeface="Times New Roman" panose="02020603050405020304" pitchFamily="18" charset="0"/>
              </a:rPr>
              <a:t>进行，都可以判定解的存在性和总数。属于粗放型的搜索，接近于暴力解决。</a:t>
            </a:r>
            <a:endParaRPr lang="en-US" altLang="x-none" b="1" kern="100" noProof="1">
              <a:solidFill>
                <a:srgbClr val="014B88"/>
              </a:solidFill>
              <a:latin typeface="仿宋_GB2312"/>
              <a:cs typeface="Times New Roman" panose="02020603050405020304" pitchFamily="18" charset="0"/>
            </a:endParaRPr>
          </a:p>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不同点：</a:t>
            </a:r>
            <a:endParaRPr lang="en-US" altLang="zh-CN" b="1" kern="100" noProof="1">
              <a:solidFill>
                <a:srgbClr val="014B88"/>
              </a:solidFill>
              <a:latin typeface="仿宋_GB2312"/>
              <a:cs typeface="Times New Roman" panose="02020603050405020304" pitchFamily="18" charset="0"/>
            </a:endParaRPr>
          </a:p>
          <a:p>
            <a:pPr lvl="2"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深度优先搜索：利用</a:t>
            </a:r>
            <a:r>
              <a:rPr lang="zh-CN" altLang="en-US" b="1" kern="100" noProof="1">
                <a:solidFill>
                  <a:srgbClr val="FF0000"/>
                </a:solidFill>
                <a:latin typeface="仿宋_GB2312"/>
                <a:cs typeface="Times New Roman" panose="02020603050405020304" pitchFamily="18" charset="0"/>
              </a:rPr>
              <a:t>栈</a:t>
            </a:r>
            <a:r>
              <a:rPr lang="zh-CN" altLang="en-US" b="1" kern="100" noProof="1">
                <a:solidFill>
                  <a:srgbClr val="014B88"/>
                </a:solidFill>
                <a:latin typeface="仿宋_GB2312"/>
                <a:cs typeface="Times New Roman" panose="02020603050405020304" pitchFamily="18" charset="0"/>
              </a:rPr>
              <a:t>这种数据结构来实现（利用递归便于实现，但是效率较低），找到的解</a:t>
            </a:r>
            <a:r>
              <a:rPr lang="zh-CN" altLang="en-US" b="1" kern="100" noProof="1">
                <a:solidFill>
                  <a:srgbClr val="FF0000"/>
                </a:solidFill>
                <a:latin typeface="仿宋_GB2312"/>
                <a:cs typeface="Times New Roman" panose="02020603050405020304" pitchFamily="18" charset="0"/>
              </a:rPr>
              <a:t>不一定是最优解</a:t>
            </a:r>
            <a:r>
              <a:rPr lang="zh-CN" altLang="en-US" b="1" kern="100" noProof="1">
                <a:solidFill>
                  <a:srgbClr val="014B88"/>
                </a:solidFill>
                <a:latin typeface="仿宋_GB2312"/>
                <a:cs typeface="Times New Roman" panose="02020603050405020304" pitchFamily="18" charset="0"/>
              </a:rPr>
              <a:t>，找到的是</a:t>
            </a:r>
            <a:r>
              <a:rPr lang="zh-CN" altLang="en-US" b="1" kern="100" noProof="1">
                <a:solidFill>
                  <a:srgbClr val="FF0000"/>
                </a:solidFill>
                <a:latin typeface="仿宋_GB2312"/>
                <a:cs typeface="Times New Roman" panose="02020603050405020304" pitchFamily="18" charset="0"/>
              </a:rPr>
              <a:t>先序遍历最早的可行解</a:t>
            </a:r>
            <a:r>
              <a:rPr lang="zh-CN" altLang="en-US" b="1" kern="100" noProof="1">
                <a:solidFill>
                  <a:srgbClr val="014B88"/>
                </a:solidFill>
                <a:latin typeface="仿宋_GB2312"/>
                <a:cs typeface="Times New Roman" panose="02020603050405020304" pitchFamily="18" charset="0"/>
              </a:rPr>
              <a:t>。</a:t>
            </a:r>
            <a:endParaRPr lang="en-US" altLang="zh-CN" b="1" kern="100" noProof="1">
              <a:solidFill>
                <a:srgbClr val="014B88"/>
              </a:solidFill>
              <a:latin typeface="仿宋_GB2312"/>
              <a:cs typeface="Times New Roman" panose="02020603050405020304" pitchFamily="18" charset="0"/>
            </a:endParaRPr>
          </a:p>
          <a:p>
            <a:pPr lvl="2"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广度优先搜索：利用</a:t>
            </a:r>
            <a:r>
              <a:rPr lang="zh-CN" altLang="en-US" b="1" kern="100" noProof="1">
                <a:solidFill>
                  <a:srgbClr val="FF0000"/>
                </a:solidFill>
                <a:latin typeface="仿宋_GB2312"/>
                <a:cs typeface="Times New Roman" panose="02020603050405020304" pitchFamily="18" charset="0"/>
              </a:rPr>
              <a:t>队列</a:t>
            </a:r>
            <a:r>
              <a:rPr lang="zh-CN" altLang="en-US" b="1" kern="100" noProof="1">
                <a:solidFill>
                  <a:srgbClr val="014B88"/>
                </a:solidFill>
                <a:latin typeface="仿宋_GB2312"/>
                <a:cs typeface="Times New Roman" panose="02020603050405020304" pitchFamily="18" charset="0"/>
              </a:rPr>
              <a:t>这种数据结构来实现，找到的第一个解</a:t>
            </a:r>
            <a:r>
              <a:rPr lang="zh-CN" altLang="en-US" b="1" kern="100" noProof="1">
                <a:solidFill>
                  <a:srgbClr val="FF0000"/>
                </a:solidFill>
                <a:latin typeface="仿宋_GB2312"/>
                <a:cs typeface="Times New Roman" panose="02020603050405020304" pitchFamily="18" charset="0"/>
              </a:rPr>
              <a:t>经常都是最优解</a:t>
            </a:r>
            <a:r>
              <a:rPr lang="zh-CN" altLang="en-US" b="1" kern="100" noProof="1">
                <a:solidFill>
                  <a:srgbClr val="014B88"/>
                </a:solidFill>
                <a:latin typeface="仿宋_GB2312"/>
                <a:cs typeface="Times New Roman" panose="02020603050405020304" pitchFamily="18" charset="0"/>
              </a:rPr>
              <a:t>（如迷宫的最短路径），但是不常用来求所有解（重复的次优解常常都被</a:t>
            </a:r>
            <a:r>
              <a:rPr lang="zh-CN" altLang="en-US" b="1" kern="100" noProof="1">
                <a:solidFill>
                  <a:srgbClr val="FF0000"/>
                </a:solidFill>
                <a:latin typeface="仿宋_GB2312"/>
                <a:cs typeface="Times New Roman" panose="02020603050405020304" pitchFamily="18" charset="0"/>
              </a:rPr>
              <a:t>剪枝</a:t>
            </a:r>
            <a:r>
              <a:rPr lang="zh-CN" altLang="en-US" b="1" kern="100" noProof="1">
                <a:solidFill>
                  <a:srgbClr val="014B88"/>
                </a:solidFill>
                <a:latin typeface="仿宋_GB2312"/>
                <a:cs typeface="Times New Roman" panose="02020603050405020304" pitchFamily="18" charset="0"/>
              </a:rPr>
              <a:t>掉了）。</a:t>
            </a: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和</a:t>
            </a: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的比较</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1443">
                                            <p:txEl>
                                              <p:pRg st="0" end="0"/>
                                            </p:txEl>
                                          </p:spTgt>
                                        </p:tgtEl>
                                        <p:attrNameLst>
                                          <p:attrName>style.visibility</p:attrName>
                                        </p:attrNameLst>
                                      </p:cBhvr>
                                      <p:to>
                                        <p:strVal val="visible"/>
                                      </p:to>
                                    </p:set>
                                    <p:animEffect transition="in" filter="wipe(down)">
                                      <p:cBhvr>
                                        <p:cTn id="7" dur="500"/>
                                        <p:tgtEl>
                                          <p:spTgt spid="61443">
                                            <p:txEl>
                                              <p:pRg st="0" end="0"/>
                                            </p:txEl>
                                          </p:spTgt>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61443">
                                            <p:txEl>
                                              <p:pRg st="1" end="1"/>
                                            </p:txEl>
                                          </p:spTgt>
                                        </p:tgtEl>
                                        <p:attrNameLst>
                                          <p:attrName>style.visibility</p:attrName>
                                        </p:attrNameLst>
                                      </p:cBhvr>
                                      <p:to>
                                        <p:strVal val="visible"/>
                                      </p:to>
                                    </p:set>
                                    <p:animEffect transition="in" filter="wipe(down)">
                                      <p:cBhvr>
                                        <p:cTn id="10" dur="500"/>
                                        <p:tgtEl>
                                          <p:spTgt spid="61443">
                                            <p:txEl>
                                              <p:pRg st="1" end="1"/>
                                            </p:txEl>
                                          </p:spTgt>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61443">
                                            <p:txEl>
                                              <p:pRg st="2" end="2"/>
                                            </p:txEl>
                                          </p:spTgt>
                                        </p:tgtEl>
                                        <p:attrNameLst>
                                          <p:attrName>style.visibility</p:attrName>
                                        </p:attrNameLst>
                                      </p:cBhvr>
                                      <p:to>
                                        <p:strVal val="visible"/>
                                      </p:to>
                                    </p:set>
                                    <p:animEffect transition="in" filter="wipe(down)">
                                      <p:cBhvr>
                                        <p:cTn id="13" dur="500"/>
                                        <p:tgtEl>
                                          <p:spTgt spid="61443">
                                            <p:txEl>
                                              <p:pRg st="2" end="2"/>
                                            </p:txEl>
                                          </p:spTgt>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61443">
                                            <p:txEl>
                                              <p:pRg st="3" end="3"/>
                                            </p:txEl>
                                          </p:spTgt>
                                        </p:tgtEl>
                                        <p:attrNameLst>
                                          <p:attrName>style.visibility</p:attrName>
                                        </p:attrNameLst>
                                      </p:cBhvr>
                                      <p:to>
                                        <p:strVal val="visible"/>
                                      </p:to>
                                    </p:set>
                                    <p:animEffect transition="in" filter="wipe(down)">
                                      <p:cBhvr>
                                        <p:cTn id="16" dur="500"/>
                                        <p:tgtEl>
                                          <p:spTgt spid="6144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3" grpId="0" build="p"/>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 name="图片 80"/>
          <p:cNvPicPr/>
          <p:nvPr/>
        </p:nvPicPr>
        <p:blipFill>
          <a:blip r:embed="rId2"/>
          <a:stretch>
            <a:fillRect/>
          </a:stretch>
        </p:blipFill>
        <p:spPr>
          <a:xfrm>
            <a:off x="8193251" y="3227586"/>
            <a:ext cx="2951640" cy="3219480"/>
          </a:xfrm>
          <a:prstGeom prst="rect">
            <a:avLst/>
          </a:prstGeom>
          <a:ln>
            <a:noFill/>
          </a:ln>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7" name="内容占位符 2"/>
          <p:cNvSpPr txBox="1"/>
          <p:nvPr/>
        </p:nvSpPr>
        <p:spPr>
          <a:xfrm>
            <a:off x="659568" y="1204057"/>
            <a:ext cx="11034944" cy="524300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50000"/>
              </a:lnSpc>
              <a:buFont typeface="Wingdings" panose="05000000000000000000" pitchFamily="2" charset="2"/>
              <a:buChar char="l"/>
            </a:pPr>
            <a:r>
              <a:rPr lang="zh-CN" altLang="en-US" sz="2400" b="1" kern="100" noProof="1">
                <a:solidFill>
                  <a:srgbClr val="014B88"/>
                </a:solidFill>
                <a:latin typeface="仿宋_GB2312"/>
                <a:cs typeface="Times New Roman" panose="02020603050405020304" pitchFamily="18" charset="0"/>
              </a:rPr>
              <a:t> 一个简单的寻路问题：在一个方格迷宫中寻找一条从给定的起点到终点的最短路径</a:t>
            </a:r>
          </a:p>
          <a:p>
            <a:pPr>
              <a:lnSpc>
                <a:spcPct val="150000"/>
              </a:lnSpc>
              <a:buFont typeface="Wingdings" panose="05000000000000000000" pitchFamily="2" charset="2"/>
              <a:buChar char="l"/>
            </a:pPr>
            <a:r>
              <a:rPr lang="en-US" altLang="zh-CN" sz="2400" b="1" kern="100" noProof="1">
                <a:solidFill>
                  <a:srgbClr val="014B88"/>
                </a:solidFill>
                <a:latin typeface="仿宋_GB2312"/>
                <a:cs typeface="Times New Roman" panose="02020603050405020304" pitchFamily="18" charset="0"/>
              </a:rPr>
              <a:t> BFS: </a:t>
            </a:r>
            <a:r>
              <a:rPr lang="zh-CN" altLang="en-US" sz="2400" b="1" kern="100" noProof="1">
                <a:solidFill>
                  <a:srgbClr val="014B88"/>
                </a:solidFill>
                <a:latin typeface="仿宋_GB2312"/>
                <a:cs typeface="Times New Roman" panose="02020603050405020304" pitchFamily="18" charset="0"/>
              </a:rPr>
              <a:t>以从</a:t>
            </a:r>
            <a:r>
              <a:rPr lang="en-US" altLang="zh-CN" sz="2400" b="1" kern="100" noProof="1">
                <a:solidFill>
                  <a:srgbClr val="014B88"/>
                </a:solidFill>
                <a:latin typeface="仿宋_GB2312"/>
                <a:cs typeface="Times New Roman" panose="02020603050405020304" pitchFamily="18" charset="0"/>
              </a:rPr>
              <a:t>(10,10)</a:t>
            </a:r>
            <a:r>
              <a:rPr lang="zh-CN" altLang="en-US" sz="2400" b="1" kern="100" noProof="1">
                <a:solidFill>
                  <a:srgbClr val="014B88"/>
                </a:solidFill>
                <a:latin typeface="仿宋_GB2312"/>
                <a:cs typeface="Times New Roman" panose="02020603050405020304" pitchFamily="18" charset="0"/>
              </a:rPr>
              <a:t>走到</a:t>
            </a:r>
            <a:r>
              <a:rPr lang="en-US" altLang="zh-CN" sz="2400" b="1" kern="100" noProof="1">
                <a:solidFill>
                  <a:srgbClr val="014B88"/>
                </a:solidFill>
                <a:latin typeface="仿宋_GB2312"/>
                <a:cs typeface="Times New Roman" panose="02020603050405020304" pitchFamily="18" charset="0"/>
              </a:rPr>
              <a:t>(20,10)</a:t>
            </a:r>
            <a:r>
              <a:rPr lang="zh-CN" altLang="en-US" sz="2400" b="1" kern="100" noProof="1">
                <a:solidFill>
                  <a:srgbClr val="014B88"/>
                </a:solidFill>
                <a:latin typeface="仿宋_GB2312"/>
                <a:cs typeface="Times New Roman" panose="02020603050405020304" pitchFamily="18" charset="0"/>
              </a:rPr>
              <a:t>为例，图中</a:t>
            </a:r>
            <a:r>
              <a:rPr lang="en-US" altLang="zh-CN" sz="2400" b="1" kern="100" noProof="1">
                <a:solidFill>
                  <a:srgbClr val="014B88"/>
                </a:solidFill>
                <a:latin typeface="仿宋_GB2312"/>
                <a:cs typeface="Times New Roman" panose="02020603050405020304" pitchFamily="18" charset="0"/>
              </a:rPr>
              <a:t>' X '</a:t>
            </a:r>
            <a:r>
              <a:rPr lang="zh-CN" altLang="en-US" sz="2400" b="1" kern="100" noProof="1">
                <a:solidFill>
                  <a:srgbClr val="014B88"/>
                </a:solidFill>
                <a:latin typeface="仿宋_GB2312"/>
                <a:cs typeface="Times New Roman" panose="02020603050405020304" pitchFamily="18" charset="0"/>
              </a:rPr>
              <a:t>表示已访问的节点，</a:t>
            </a:r>
            <a:r>
              <a:rPr lang="en-US" altLang="zh-CN" sz="2400" b="1" kern="100" noProof="1">
                <a:solidFill>
                  <a:srgbClr val="014B88"/>
                </a:solidFill>
                <a:latin typeface="仿宋_GB2312"/>
                <a:cs typeface="Times New Roman" panose="02020603050405020304" pitchFamily="18" charset="0"/>
              </a:rPr>
              <a:t>' . '</a:t>
            </a:r>
            <a:r>
              <a:rPr lang="zh-CN" altLang="en-US" sz="2400" b="1" kern="100" noProof="1">
                <a:solidFill>
                  <a:srgbClr val="014B88"/>
                </a:solidFill>
                <a:latin typeface="仿宋_GB2312"/>
                <a:cs typeface="Times New Roman" panose="02020603050405020304" pitchFamily="18" charset="0"/>
              </a:rPr>
              <a:t>表示未访问的节点</a:t>
            </a:r>
          </a:p>
          <a:p>
            <a:pPr>
              <a:lnSpc>
                <a:spcPct val="150000"/>
              </a:lnSpc>
              <a:buFont typeface="Wingdings" panose="05000000000000000000" pitchFamily="2" charset="2"/>
              <a:buChar char="l"/>
            </a:pPr>
            <a:r>
              <a:rPr lang="zh-CN" altLang="en-US" sz="2400" b="1" kern="100" noProof="1">
                <a:solidFill>
                  <a:srgbClr val="014B88"/>
                </a:solidFill>
                <a:latin typeface="仿宋_GB2312"/>
                <a:cs typeface="Times New Roman" panose="02020603050405020304" pitchFamily="18" charset="0"/>
              </a:rPr>
              <a:t> 问题</a:t>
            </a:r>
            <a:r>
              <a:rPr lang="en-US" altLang="zh-CN" sz="2400" b="1" kern="100" noProof="1">
                <a:solidFill>
                  <a:srgbClr val="014B88"/>
                </a:solidFill>
                <a:latin typeface="仿宋_GB2312"/>
                <a:cs typeface="Times New Roman" panose="02020603050405020304" pitchFamily="18" charset="0"/>
              </a:rPr>
              <a:t>1</a:t>
            </a:r>
            <a:r>
              <a:rPr lang="zh-CN" altLang="en-US" sz="2400" b="1" kern="100" noProof="1">
                <a:solidFill>
                  <a:srgbClr val="014B88"/>
                </a:solidFill>
                <a:latin typeface="仿宋_GB2312"/>
                <a:cs typeface="Times New Roman" panose="02020603050405020304" pitchFamily="18" charset="0"/>
              </a:rPr>
              <a:t>：访问的节点数较多，时间、空间开销大</a:t>
            </a:r>
          </a:p>
          <a:p>
            <a:pPr>
              <a:lnSpc>
                <a:spcPct val="150000"/>
              </a:lnSpc>
              <a:buFont typeface="Wingdings" panose="05000000000000000000" pitchFamily="2" charset="2"/>
              <a:buChar char="l"/>
            </a:pPr>
            <a:r>
              <a:rPr lang="zh-CN" altLang="en-US" sz="2400" b="1" kern="100" noProof="1">
                <a:solidFill>
                  <a:srgbClr val="014B88"/>
                </a:solidFill>
                <a:latin typeface="仿宋_GB2312"/>
                <a:cs typeface="Times New Roman" panose="02020603050405020304" pitchFamily="18" charset="0"/>
              </a:rPr>
              <a:t> 问题</a:t>
            </a:r>
            <a:r>
              <a:rPr lang="en-US" altLang="zh-CN" sz="2400" b="1" kern="100" noProof="1">
                <a:solidFill>
                  <a:srgbClr val="014B88"/>
                </a:solidFill>
                <a:latin typeface="仿宋_GB2312"/>
                <a:cs typeface="Times New Roman" panose="02020603050405020304" pitchFamily="18" charset="0"/>
              </a:rPr>
              <a:t>2</a:t>
            </a:r>
            <a:r>
              <a:rPr lang="zh-CN" altLang="en-US" sz="2400" b="1" kern="100" noProof="1">
                <a:solidFill>
                  <a:srgbClr val="014B88"/>
                </a:solidFill>
                <a:latin typeface="仿宋_GB2312"/>
                <a:cs typeface="Times New Roman" panose="02020603050405020304" pitchFamily="18" charset="0"/>
              </a:rPr>
              <a:t>：有很多访问到的节点是背离终点方向的</a:t>
            </a: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CustomShape 2"/>
          <p:cNvSpPr/>
          <p:nvPr/>
        </p:nvSpPr>
        <p:spPr>
          <a:xfrm>
            <a:off x="722670" y="1310040"/>
            <a:ext cx="9752400" cy="435024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pPr marL="228600" indent="-227330">
              <a:lnSpc>
                <a:spcPct val="90000"/>
              </a:lnSpc>
              <a:buClr>
                <a:srgbClr val="000000"/>
              </a:buClr>
              <a:buFont typeface="Arial" panose="020B0604020202020204"/>
              <a:buChar char="•"/>
            </a:pPr>
            <a:endParaRPr lang="en-US" sz="1800" strike="noStrike" spc="-1" dirty="0">
              <a:solidFill>
                <a:srgbClr val="000000"/>
              </a:solidFill>
              <a:uFill>
                <a:solidFill>
                  <a:srgbClr val="FFFFFF"/>
                </a:solidFill>
              </a:uFill>
              <a:latin typeface="Arial" panose="020B0604020202020204"/>
            </a:endParaRPr>
          </a:p>
        </p:txBody>
      </p:sp>
      <p:grpSp>
        <p:nvGrpSpPr>
          <p:cNvPr id="3" name="组合 2"/>
          <p:cNvGrpSpPr/>
          <p:nvPr/>
        </p:nvGrpSpPr>
        <p:grpSpPr>
          <a:xfrm>
            <a:off x="3080987" y="3161819"/>
            <a:ext cx="4751640" cy="2262600"/>
            <a:chOff x="3528000" y="3397680"/>
            <a:chExt cx="4751640" cy="2262600"/>
          </a:xfrm>
        </p:grpSpPr>
        <p:pic>
          <p:nvPicPr>
            <p:cNvPr id="84" name="图片 83"/>
            <p:cNvPicPr/>
            <p:nvPr/>
          </p:nvPicPr>
          <p:blipFill>
            <a:blip r:embed="rId3"/>
            <a:stretch>
              <a:fillRect/>
            </a:stretch>
          </p:blipFill>
          <p:spPr>
            <a:xfrm>
              <a:off x="3816000" y="3397680"/>
              <a:ext cx="4254480" cy="777960"/>
            </a:xfrm>
            <a:prstGeom prst="rect">
              <a:avLst/>
            </a:prstGeom>
            <a:ln>
              <a:noFill/>
            </a:ln>
          </p:spPr>
        </p:pic>
        <p:pic>
          <p:nvPicPr>
            <p:cNvPr id="85" name="图片 84"/>
            <p:cNvPicPr/>
            <p:nvPr/>
          </p:nvPicPr>
          <p:blipFill>
            <a:blip r:embed="rId4"/>
            <a:stretch>
              <a:fillRect/>
            </a:stretch>
          </p:blipFill>
          <p:spPr>
            <a:xfrm>
              <a:off x="3528000" y="4209840"/>
              <a:ext cx="4751640" cy="712080"/>
            </a:xfrm>
            <a:prstGeom prst="rect">
              <a:avLst/>
            </a:prstGeom>
            <a:ln>
              <a:noFill/>
            </a:ln>
          </p:spPr>
        </p:pic>
        <p:pic>
          <p:nvPicPr>
            <p:cNvPr id="86" name="图片 85"/>
            <p:cNvPicPr/>
            <p:nvPr/>
          </p:nvPicPr>
          <p:blipFill>
            <a:blip r:embed="rId5"/>
            <a:stretch>
              <a:fillRect/>
            </a:stretch>
          </p:blipFill>
          <p:spPr>
            <a:xfrm>
              <a:off x="3667680" y="5003280"/>
              <a:ext cx="4463640" cy="657000"/>
            </a:xfrm>
            <a:prstGeom prst="rect">
              <a:avLst/>
            </a:prstGeom>
            <a:ln>
              <a:noFill/>
            </a:ln>
          </p:spPr>
        </p:pic>
      </p:grpSp>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下界函数</a:t>
            </a:r>
            <a:r>
              <a:rPr lang="en-US" altLang="zh-CN" sz="3200" b="1" dirty="0">
                <a:solidFill>
                  <a:srgbClr val="C00000"/>
                </a:solidFill>
                <a:latin typeface="微软雅黑" panose="020B0503020204020204" pitchFamily="34" charset="-122"/>
                <a:ea typeface="微软雅黑" panose="020B0503020204020204" pitchFamily="34" charset="-122"/>
              </a:rPr>
              <a:t>h(x)</a:t>
            </a:r>
          </a:p>
        </p:txBody>
      </p:sp>
      <p:sp>
        <p:nvSpPr>
          <p:cNvPr id="2" name="文本框 1"/>
          <p:cNvSpPr txBox="1"/>
          <p:nvPr/>
        </p:nvSpPr>
        <p:spPr>
          <a:xfrm>
            <a:off x="722669" y="1197720"/>
            <a:ext cx="10445439" cy="4001032"/>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h(x)</a:t>
            </a:r>
            <a:r>
              <a:rPr lang="zh-CN" altLang="en-US" sz="2400" b="1" kern="100" dirty="0">
                <a:solidFill>
                  <a:srgbClr val="014B88"/>
                </a:solidFill>
                <a:latin typeface="仿宋_GB2312"/>
                <a:cs typeface="Times New Roman" panose="02020603050405020304" pitchFamily="18" charset="0"/>
              </a:rPr>
              <a:t>为估计出的从当前状态</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到目标状态</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的距离的下界</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即实际距离应大于等于</a:t>
            </a:r>
            <a:r>
              <a:rPr lang="en-US" altLang="zh-CN" sz="2400" b="1" kern="100" dirty="0">
                <a:solidFill>
                  <a:srgbClr val="014B88"/>
                </a:solidFill>
                <a:latin typeface="仿宋_GB2312"/>
                <a:cs typeface="Times New Roman" panose="02020603050405020304" pitchFamily="18" charset="0"/>
              </a:rPr>
              <a:t>h(x)</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对于之前的迷宫问题可以使用的下界函数：</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曼哈顿距离  ：</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欧氏距离    ：</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切比雪夫距离：</a:t>
            </a: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图片 88"/>
          <p:cNvPicPr/>
          <p:nvPr/>
        </p:nvPicPr>
        <p:blipFill>
          <a:blip r:embed="rId2"/>
          <a:stretch>
            <a:fillRect/>
          </a:stretch>
        </p:blipFill>
        <p:spPr>
          <a:xfrm>
            <a:off x="8723093" y="473662"/>
            <a:ext cx="2304360" cy="2094840"/>
          </a:xfrm>
          <a:prstGeom prst="rect">
            <a:avLst/>
          </a:prstGeom>
          <a:ln>
            <a:noFill/>
          </a:ln>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 </a:t>
            </a:r>
            <a:r>
              <a:rPr lang="en-US" altLang="zh-CN" sz="3200" b="1" dirty="0">
                <a:solidFill>
                  <a:srgbClr val="C00000"/>
                </a:solidFill>
                <a:latin typeface="微软雅黑" panose="020B0503020204020204" pitchFamily="34" charset="-122"/>
                <a:ea typeface="微软雅黑" panose="020B0503020204020204" pitchFamily="34" charset="-122"/>
              </a:rPr>
              <a:t>| A*</a:t>
            </a:r>
            <a:r>
              <a:rPr lang="zh-CN" altLang="en-US" sz="3200" b="1" dirty="0">
                <a:solidFill>
                  <a:srgbClr val="C00000"/>
                </a:solidFill>
                <a:latin typeface="微软雅黑" panose="020B0503020204020204" pitchFamily="34" charset="-122"/>
                <a:ea typeface="微软雅黑" panose="020B0503020204020204" pitchFamily="34" charset="-122"/>
              </a:rPr>
              <a:t>算法</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600587" y="1048861"/>
            <a:ext cx="11152905" cy="4760278"/>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估价函数</a:t>
            </a:r>
            <a:r>
              <a:rPr lang="en-US" altLang="zh-CN" sz="2400" b="1" kern="100" dirty="0">
                <a:solidFill>
                  <a:srgbClr val="014B88"/>
                </a:solidFill>
                <a:latin typeface="仿宋_GB2312"/>
                <a:cs typeface="Times New Roman" panose="02020603050405020304" pitchFamily="18" charset="0"/>
              </a:rPr>
              <a:t>f(x) = g(x) + h(x)</a:t>
            </a: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g(x)</a:t>
            </a:r>
            <a:r>
              <a:rPr lang="zh-CN" altLang="en-US" sz="2400" b="1" kern="100" dirty="0">
                <a:solidFill>
                  <a:srgbClr val="014B88"/>
                </a:solidFill>
                <a:latin typeface="仿宋_GB2312"/>
                <a:cs typeface="Times New Roman" panose="02020603050405020304" pitchFamily="18" charset="0"/>
              </a:rPr>
              <a:t>为从初始状态转移到</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的代价</a:t>
            </a: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h(x)</a:t>
            </a:r>
            <a:r>
              <a:rPr lang="zh-CN" altLang="en-US" sz="2400" b="1" kern="100" dirty="0">
                <a:solidFill>
                  <a:srgbClr val="014B88"/>
                </a:solidFill>
                <a:latin typeface="仿宋_GB2312"/>
                <a:cs typeface="Times New Roman" panose="02020603050405020304" pitchFamily="18" charset="0"/>
              </a:rPr>
              <a:t>为下界函数</a:t>
            </a: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A*</a:t>
            </a:r>
            <a:r>
              <a:rPr lang="zh-CN" altLang="en-US" sz="2400" b="1" kern="100" dirty="0">
                <a:solidFill>
                  <a:srgbClr val="014B88"/>
                </a:solidFill>
                <a:latin typeface="仿宋_GB2312"/>
                <a:cs typeface="Times New Roman" panose="02020603050405020304" pitchFamily="18" charset="0"/>
              </a:rPr>
              <a:t>算法可看作是对</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的优化，使用</a:t>
            </a:r>
            <a:r>
              <a:rPr lang="zh-CN" altLang="en-US" sz="2400" b="1" kern="100" dirty="0">
                <a:solidFill>
                  <a:srgbClr val="FF0000"/>
                </a:solidFill>
                <a:latin typeface="仿宋_GB2312"/>
                <a:cs typeface="Times New Roman" panose="02020603050405020304" pitchFamily="18" charset="0"/>
              </a:rPr>
              <a:t>优先队列</a:t>
            </a:r>
            <a:r>
              <a:rPr lang="zh-CN" altLang="en-US" sz="2400" b="1" kern="100" dirty="0">
                <a:solidFill>
                  <a:srgbClr val="014B88"/>
                </a:solidFill>
                <a:latin typeface="仿宋_GB2312"/>
                <a:cs typeface="Times New Roman" panose="02020603050405020304" pitchFamily="18" charset="0"/>
              </a:rPr>
              <a:t>保存节点，估价函数值</a:t>
            </a:r>
            <a:r>
              <a:rPr lang="zh-CN" altLang="en-US" sz="2400" b="1" kern="100" dirty="0">
                <a:solidFill>
                  <a:srgbClr val="FF0000"/>
                </a:solidFill>
                <a:latin typeface="仿宋_GB2312"/>
                <a:cs typeface="Times New Roman" panose="02020603050405020304" pitchFamily="18" charset="0"/>
              </a:rPr>
              <a:t>最小的</a:t>
            </a:r>
            <a:r>
              <a:rPr lang="zh-CN" altLang="en-US" sz="2400" b="1" kern="100" dirty="0">
                <a:solidFill>
                  <a:srgbClr val="014B88"/>
                </a:solidFill>
                <a:latin typeface="仿宋_GB2312"/>
                <a:cs typeface="Times New Roman" panose="02020603050405020304" pitchFamily="18" charset="0"/>
              </a:rPr>
              <a:t>先出队，其他过程与</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一样</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对于刚刚的寻路问题，可使用以当前状态到终点的曼哈顿距离作为下界函数的</a:t>
            </a:r>
            <a:r>
              <a:rPr lang="en-US" altLang="zh-CN" sz="2400" b="1" kern="100" dirty="0">
                <a:solidFill>
                  <a:srgbClr val="014B88"/>
                </a:solidFill>
                <a:latin typeface="仿宋_GB2312"/>
                <a:cs typeface="Times New Roman" panose="02020603050405020304" pitchFamily="18" charset="0"/>
              </a:rPr>
              <a:t>A*</a:t>
            </a:r>
            <a:r>
              <a:rPr lang="zh-CN" altLang="en-US" sz="2400" b="1" kern="100" dirty="0">
                <a:solidFill>
                  <a:srgbClr val="014B88"/>
                </a:solidFill>
                <a:latin typeface="仿宋_GB2312"/>
                <a:cs typeface="Times New Roman" panose="02020603050405020304" pitchFamily="18" charset="0"/>
              </a:rPr>
              <a:t>算法</a:t>
            </a:r>
          </a:p>
          <a:p>
            <a:endParaRPr lang="zh-CN" altLang="en-US"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CustomShape 2"/>
          <p:cNvSpPr/>
          <p:nvPr/>
        </p:nvSpPr>
        <p:spPr>
          <a:xfrm>
            <a:off x="838080" y="3025888"/>
            <a:ext cx="10514520" cy="3149911"/>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pPr marL="1270">
              <a:lnSpc>
                <a:spcPct val="90000"/>
              </a:lnSpc>
              <a:buClr>
                <a:srgbClr val="000000"/>
              </a:buClr>
            </a:pPr>
            <a:endParaRPr lang="en-US" sz="1800" strike="noStrike" spc="-1" dirty="0">
              <a:uFill>
                <a:solidFill>
                  <a:srgbClr val="FFFFFF"/>
                </a:solidFill>
              </a:uFill>
              <a:latin typeface="Arial" panose="020B0604020202020204"/>
            </a:endParaRPr>
          </a:p>
        </p:txBody>
      </p:sp>
      <p:pic>
        <p:nvPicPr>
          <p:cNvPr id="92" name="图片 3"/>
          <p:cNvPicPr/>
          <p:nvPr/>
        </p:nvPicPr>
        <p:blipFill>
          <a:blip r:embed="rId2"/>
          <a:stretch>
            <a:fillRect/>
          </a:stretch>
        </p:blipFill>
        <p:spPr>
          <a:xfrm>
            <a:off x="6770520" y="3600000"/>
            <a:ext cx="1077120" cy="1295640"/>
          </a:xfrm>
          <a:prstGeom prst="rect">
            <a:avLst/>
          </a:prstGeom>
          <a:ln>
            <a:noFill/>
          </a:ln>
        </p:spPr>
      </p:pic>
      <p:pic>
        <p:nvPicPr>
          <p:cNvPr id="93" name="图片 6"/>
          <p:cNvPicPr/>
          <p:nvPr/>
        </p:nvPicPr>
        <p:blipFill>
          <a:blip r:embed="rId3"/>
          <a:stretch>
            <a:fillRect/>
          </a:stretch>
        </p:blipFill>
        <p:spPr>
          <a:xfrm>
            <a:off x="3528000" y="3596760"/>
            <a:ext cx="1079640" cy="1298880"/>
          </a:xfrm>
          <a:prstGeom prst="rect">
            <a:avLst/>
          </a:prstGeom>
          <a:ln>
            <a:noFill/>
          </a:ln>
        </p:spPr>
      </p:pic>
      <p:pic>
        <p:nvPicPr>
          <p:cNvPr id="94" name="图片 8"/>
          <p:cNvPicPr/>
          <p:nvPr/>
        </p:nvPicPr>
        <p:blipFill>
          <a:blip r:embed="rId4"/>
          <a:stretch>
            <a:fillRect/>
          </a:stretch>
        </p:blipFill>
        <p:spPr>
          <a:xfrm>
            <a:off x="5040000" y="3985560"/>
            <a:ext cx="1295640" cy="478080"/>
          </a:xfrm>
          <a:prstGeom prst="rect">
            <a:avLst/>
          </a:prstGeom>
          <a:ln>
            <a:noFill/>
          </a:ln>
        </p:spPr>
      </p:pic>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 </a:t>
            </a:r>
            <a:r>
              <a:rPr lang="en-US" altLang="zh-CN" sz="3200" b="1" dirty="0">
                <a:solidFill>
                  <a:srgbClr val="C00000"/>
                </a:solidFill>
                <a:latin typeface="微软雅黑" panose="020B0503020204020204" pitchFamily="34" charset="-122"/>
                <a:ea typeface="微软雅黑" panose="020B0503020204020204" pitchFamily="34" charset="-122"/>
              </a:rPr>
              <a:t>| A*</a:t>
            </a:r>
            <a:r>
              <a:rPr lang="zh-CN" altLang="en-US" sz="3200" b="1" dirty="0">
                <a:solidFill>
                  <a:srgbClr val="C00000"/>
                </a:solidFill>
                <a:latin typeface="微软雅黑" panose="020B0503020204020204" pitchFamily="34" charset="-122"/>
                <a:ea typeface="微软雅黑" panose="020B0503020204020204" pitchFamily="34" charset="-122"/>
              </a:rPr>
              <a:t>算法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772356" y="1138486"/>
            <a:ext cx="10795248" cy="5719514"/>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3*3</a:t>
            </a:r>
            <a:r>
              <a:rPr lang="zh-CN" altLang="en-US" sz="2400" b="1" kern="100" dirty="0">
                <a:solidFill>
                  <a:srgbClr val="014B88"/>
                </a:solidFill>
                <a:latin typeface="仿宋_GB2312"/>
                <a:cs typeface="Times New Roman" panose="02020603050405020304" pitchFamily="18" charset="0"/>
              </a:rPr>
              <a:t>方格，其中</a:t>
            </a:r>
            <a:r>
              <a:rPr lang="en-US" altLang="zh-CN" sz="2400" b="1" kern="100" dirty="0">
                <a:solidFill>
                  <a:srgbClr val="014B88"/>
                </a:solidFill>
                <a:latin typeface="仿宋_GB2312"/>
                <a:cs typeface="Times New Roman" panose="02020603050405020304" pitchFamily="18" charset="0"/>
              </a:rPr>
              <a:t>1</a:t>
            </a:r>
            <a:r>
              <a:rPr lang="zh-CN" altLang="en-US" sz="2400" b="1" kern="100" dirty="0">
                <a:solidFill>
                  <a:srgbClr val="014B88"/>
                </a:solidFill>
                <a:latin typeface="仿宋_GB2312"/>
                <a:cs typeface="Times New Roman" panose="02020603050405020304" pitchFamily="18" charset="0"/>
              </a:rPr>
              <a:t>个为空，其它</a:t>
            </a:r>
            <a:r>
              <a:rPr lang="en-US" altLang="zh-CN" sz="2400" b="1" kern="100" dirty="0">
                <a:solidFill>
                  <a:srgbClr val="014B88"/>
                </a:solidFill>
                <a:latin typeface="仿宋_GB2312"/>
                <a:cs typeface="Times New Roman" panose="02020603050405020304" pitchFamily="18" charset="0"/>
              </a:rPr>
              <a:t>8</a:t>
            </a:r>
            <a:r>
              <a:rPr lang="zh-CN" altLang="en-US" sz="2400" b="1" kern="100" dirty="0">
                <a:solidFill>
                  <a:srgbClr val="014B88"/>
                </a:solidFill>
                <a:latin typeface="仿宋_GB2312"/>
                <a:cs typeface="Times New Roman" panose="02020603050405020304" pitchFamily="18" charset="0"/>
              </a:rPr>
              <a:t>个为</a:t>
            </a:r>
            <a:r>
              <a:rPr lang="en-US" altLang="zh-CN" sz="2400" b="1" kern="100" dirty="0">
                <a:solidFill>
                  <a:srgbClr val="014B88"/>
                </a:solidFill>
                <a:latin typeface="仿宋_GB2312"/>
                <a:cs typeface="Times New Roman" panose="02020603050405020304" pitchFamily="18" charset="0"/>
              </a:rPr>
              <a:t>1-8</a:t>
            </a:r>
            <a:r>
              <a:rPr lang="zh-CN" altLang="en-US" sz="2400" b="1" kern="100" dirty="0">
                <a:solidFill>
                  <a:srgbClr val="014B88"/>
                </a:solidFill>
                <a:latin typeface="仿宋_GB2312"/>
                <a:cs typeface="Times New Roman" panose="02020603050405020304" pitchFamily="18" charset="0"/>
              </a:rPr>
              <a:t>数字。每次可将空白方块与相邻的一个交换</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在最少的步数下还原到终态</a:t>
            </a:r>
            <a:endParaRPr lang="en-US" altLang="zh-CN" sz="2400" b="1" kern="100" dirty="0">
              <a:solidFill>
                <a:srgbClr val="014B88"/>
              </a:solidFill>
              <a:latin typeface="仿宋_GB2312"/>
              <a:cs typeface="Times New Roman" panose="02020603050405020304" pitchFamily="18" charset="0"/>
            </a:endParaRPr>
          </a:p>
          <a:p>
            <a:pPr>
              <a:lnSpc>
                <a:spcPct val="150000"/>
              </a:lnSpc>
              <a:spcBef>
                <a:spcPts val="1000"/>
              </a:spcBef>
            </a:pPr>
            <a:endParaRPr lang="en-US" altLang="zh-CN" sz="2400" b="1" kern="100" dirty="0">
              <a:solidFill>
                <a:srgbClr val="014B88"/>
              </a:solidFill>
              <a:latin typeface="仿宋_GB2312"/>
              <a:cs typeface="Times New Roman" panose="02020603050405020304" pitchFamily="18" charset="0"/>
            </a:endParaRPr>
          </a:p>
          <a:p>
            <a:pPr>
              <a:lnSpc>
                <a:spcPct val="150000"/>
              </a:lnSpc>
              <a:spcBef>
                <a:spcPts val="1000"/>
              </a:spcBef>
            </a:pPr>
            <a:endParaRPr lang="en-US" altLang="zh-CN" sz="2400" b="1" kern="100" dirty="0">
              <a:solidFill>
                <a:srgbClr val="014B88"/>
              </a:solidFill>
              <a:latin typeface="仿宋_GB2312"/>
              <a:cs typeface="Times New Roman" panose="02020603050405020304" pitchFamily="18" charset="0"/>
            </a:endParaRPr>
          </a:p>
          <a:p>
            <a:pPr>
              <a:lnSpc>
                <a:spcPct val="150000"/>
              </a:lnSpc>
              <a:spcBef>
                <a:spcPts val="1000"/>
              </a:spcBef>
            </a:pPr>
            <a:endParaRPr lang="en-US" altLang="zh-CN"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a:t>
            </a:r>
            <a:r>
              <a:rPr lang="en-US" altLang="zh-CN" sz="2400" b="1" kern="100" dirty="0" err="1">
                <a:solidFill>
                  <a:srgbClr val="014B88"/>
                </a:solidFill>
                <a:latin typeface="仿宋_GB2312"/>
                <a:cs typeface="Times New Roman" panose="02020603050405020304" pitchFamily="18" charset="0"/>
              </a:rPr>
              <a:t>估价函数：从起始状态到当前状态的步数+各个数字当前位置与还原后位置的曼哈顿距离之和</a:t>
            </a:r>
            <a:r>
              <a:rPr lang="zh-CN" altLang="en-US" sz="2400" b="1" kern="100" dirty="0">
                <a:solidFill>
                  <a:srgbClr val="014B88"/>
                </a:solidFill>
                <a:latin typeface="仿宋_GB2312"/>
                <a:cs typeface="Times New Roman" panose="02020603050405020304" pitchFamily="18" charset="0"/>
              </a:rPr>
              <a:t>（下界）</a:t>
            </a:r>
            <a:endParaRPr lang="en-US" altLang="zh-CN" sz="2400" b="1" kern="100" dirty="0">
              <a:solidFill>
                <a:srgbClr val="014B88"/>
              </a:solidFill>
              <a:latin typeface="仿宋_GB2312"/>
              <a:cs typeface="Times New Roman" panose="02020603050405020304" pitchFamily="18" charset="0"/>
            </a:endParaRPr>
          </a:p>
          <a:p>
            <a:endParaRPr lang="zh-CN" altLang="en-US" dirty="0"/>
          </a:p>
          <a:p>
            <a:endParaRPr lang="zh-CN" altLang="en-US"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CustomShape 2"/>
          <p:cNvSpPr/>
          <p:nvPr/>
        </p:nvSpPr>
        <p:spPr>
          <a:xfrm>
            <a:off x="838080" y="1825560"/>
            <a:ext cx="10514520" cy="435024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pPr>
              <a:lnSpc>
                <a:spcPct val="90000"/>
              </a:lnSpc>
            </a:pPr>
            <a:endParaRPr lang="en-US" sz="1800" strike="noStrike" spc="-1" dirty="0">
              <a:uFill>
                <a:solidFill>
                  <a:srgbClr val="FFFFFF"/>
                </a:solidFill>
              </a:uFill>
              <a:latin typeface="Arial" panose="020B0604020202020204"/>
            </a:endParaRPr>
          </a:p>
          <a:p>
            <a:pPr>
              <a:lnSpc>
                <a:spcPct val="90000"/>
              </a:lnSpc>
            </a:pPr>
            <a:endParaRPr lang="en-US" sz="1800" strike="noStrike" spc="-1" dirty="0">
              <a:uFill>
                <a:solidFill>
                  <a:srgbClr val="FFFFFF"/>
                </a:solidFill>
              </a:uFill>
              <a:latin typeface="Arial" panose="020B0604020202020204"/>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迭代加深搜索 </a:t>
            </a:r>
            <a:r>
              <a:rPr lang="en-US" altLang="zh-CN" sz="3200" b="1" dirty="0">
                <a:solidFill>
                  <a:srgbClr val="C00000"/>
                </a:solidFill>
                <a:latin typeface="微软雅黑" panose="020B0503020204020204" pitchFamily="34" charset="-122"/>
                <a:ea typeface="微软雅黑" panose="020B0503020204020204" pitchFamily="34" charset="-122"/>
              </a:rPr>
              <a:t>IDDFS</a:t>
            </a:r>
          </a:p>
        </p:txBody>
      </p:sp>
      <p:sp>
        <p:nvSpPr>
          <p:cNvPr id="2" name="文本框 1"/>
          <p:cNvSpPr txBox="1"/>
          <p:nvPr/>
        </p:nvSpPr>
        <p:spPr>
          <a:xfrm>
            <a:off x="838080" y="1384917"/>
            <a:ext cx="10818301" cy="3267561"/>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每次</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前，限定一个搜索深度，一旦搜索深度超过该深度就停止，当没搜到解时加深深度限制</a:t>
            </a: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优点：空间开销小；便于通过剪枝优化；时间消耗并不会增加太多，最后一次</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的时间开销与之前所有</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的开销总和同阶</a:t>
            </a:r>
            <a:r>
              <a:rPr lang="en-US" altLang="zh-CN" sz="2400" b="1" kern="100" dirty="0">
                <a:solidFill>
                  <a:srgbClr val="014B88"/>
                </a:solidFill>
                <a:latin typeface="仿宋_GB2312"/>
                <a:cs typeface="Times New Roman" panose="02020603050405020304" pitchFamily="18" charset="0"/>
              </a:rPr>
              <a:t>,</a:t>
            </a:r>
            <a:r>
              <a:rPr lang="zh-CN" altLang="en-US" sz="2400" b="1" kern="100" dirty="0">
                <a:solidFill>
                  <a:srgbClr val="014B88"/>
                </a:solidFill>
                <a:latin typeface="仿宋_GB2312"/>
                <a:cs typeface="Times New Roman" panose="02020603050405020304" pitchFamily="18" charset="0"/>
              </a:rPr>
              <a:t>可以在搜索树没有深度上限，而解有深度上限时搜索解。</a:t>
            </a:r>
          </a:p>
          <a:p>
            <a:endParaRPr lang="zh-CN" altLang="en-US"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迭代加深搜索 </a:t>
            </a:r>
            <a:r>
              <a:rPr lang="en-US" altLang="zh-CN" sz="3200" b="1" dirty="0">
                <a:solidFill>
                  <a:srgbClr val="C00000"/>
                </a:solidFill>
                <a:latin typeface="微软雅黑" panose="020B0503020204020204" pitchFamily="34" charset="-122"/>
                <a:ea typeface="微软雅黑" panose="020B0503020204020204" pitchFamily="34" charset="-122"/>
              </a:rPr>
              <a:t>IDDFS | </a:t>
            </a:r>
            <a:r>
              <a:rPr lang="zh-CN" altLang="en-US" sz="3200" b="1" dirty="0">
                <a:solidFill>
                  <a:srgbClr val="C00000"/>
                </a:solidFill>
                <a:latin typeface="微软雅黑" panose="020B0503020204020204" pitchFamily="34" charset="-122"/>
                <a:ea typeface="微软雅黑" panose="020B0503020204020204" pitchFamily="34" charset="-122"/>
              </a:rPr>
              <a:t>埃及分数问题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621437" y="1233996"/>
            <a:ext cx="10679837" cy="3744551"/>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埃及分数问题：将一个给定的真分数</a:t>
            </a:r>
            <a:r>
              <a:rPr lang="en-US" altLang="zh-CN" sz="2400" b="1" kern="100" dirty="0">
                <a:solidFill>
                  <a:srgbClr val="014B88"/>
                </a:solidFill>
                <a:latin typeface="仿宋_GB2312"/>
                <a:cs typeface="Times New Roman" panose="02020603050405020304" pitchFamily="18" charset="0"/>
              </a:rPr>
              <a:t>a/b</a:t>
            </a:r>
            <a:r>
              <a:rPr lang="zh-CN" altLang="en-US" sz="2400" b="1" kern="100" dirty="0">
                <a:solidFill>
                  <a:srgbClr val="014B88"/>
                </a:solidFill>
                <a:latin typeface="仿宋_GB2312"/>
                <a:cs typeface="Times New Roman" panose="02020603050405020304" pitchFamily="18" charset="0"/>
              </a:rPr>
              <a:t>拆成单位分数</a:t>
            </a:r>
            <a:r>
              <a:rPr lang="en-US" altLang="zh-CN" sz="2400" b="1" kern="100" dirty="0">
                <a:solidFill>
                  <a:srgbClr val="014B88"/>
                </a:solidFill>
                <a:latin typeface="仿宋_GB2312"/>
                <a:cs typeface="Times New Roman" panose="02020603050405020304" pitchFamily="18" charset="0"/>
              </a:rPr>
              <a:t>(1/</a:t>
            </a:r>
            <a:r>
              <a:rPr lang="en-US" altLang="zh-CN" sz="2400" b="1" kern="100" dirty="0" err="1">
                <a:solidFill>
                  <a:srgbClr val="014B88"/>
                </a:solidFill>
                <a:latin typeface="仿宋_GB2312"/>
                <a:cs typeface="Times New Roman" panose="02020603050405020304" pitchFamily="18" charset="0"/>
              </a:rPr>
              <a:t>k,k</a:t>
            </a:r>
            <a:r>
              <a:rPr lang="en-US" altLang="zh-CN" sz="2400" b="1" kern="100" dirty="0">
                <a:solidFill>
                  <a:srgbClr val="014B88"/>
                </a:solidFill>
                <a:latin typeface="仿宋_GB2312"/>
                <a:cs typeface="Times New Roman" panose="02020603050405020304" pitchFamily="18" charset="0"/>
              </a:rPr>
              <a:t>&gt;=2)</a:t>
            </a:r>
            <a:r>
              <a:rPr lang="zh-CN" altLang="en-US" sz="2400" b="1" kern="100" dirty="0">
                <a:solidFill>
                  <a:srgbClr val="014B88"/>
                </a:solidFill>
                <a:latin typeface="仿宋_GB2312"/>
                <a:cs typeface="Times New Roman" panose="02020603050405020304" pitchFamily="18" charset="0"/>
              </a:rPr>
              <a:t>之和形式，要求拆出的分数数量越少越好，数量相同时分母最大的越小越好</a:t>
            </a: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DFS</a:t>
            </a:r>
            <a:r>
              <a:rPr lang="zh-CN" altLang="en-US" sz="2400" b="1" kern="100" dirty="0">
                <a:solidFill>
                  <a:srgbClr val="014B88"/>
                </a:solidFill>
                <a:latin typeface="仿宋_GB2312"/>
                <a:cs typeface="Times New Roman" panose="02020603050405020304" pitchFamily="18" charset="0"/>
              </a:rPr>
              <a:t>：深度无限深</a:t>
            </a: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BFS</a:t>
            </a:r>
            <a:r>
              <a:rPr lang="zh-CN" altLang="en-US" sz="2400" b="1" kern="100" dirty="0">
                <a:solidFill>
                  <a:srgbClr val="014B88"/>
                </a:solidFill>
                <a:latin typeface="仿宋_GB2312"/>
                <a:cs typeface="Times New Roman" panose="02020603050405020304" pitchFamily="18" charset="0"/>
              </a:rPr>
              <a:t>：第一层有无限个节点</a:t>
            </a:r>
            <a:r>
              <a:rPr lang="en-US" altLang="zh-CN" sz="2400" b="1" kern="100" dirty="0">
                <a:solidFill>
                  <a:srgbClr val="014B88"/>
                </a:solidFill>
                <a:latin typeface="仿宋_GB2312"/>
                <a:cs typeface="Times New Roman" panose="02020603050405020304" pitchFamily="18" charset="0"/>
              </a:rPr>
              <a:t>(1/1,1/2,….,1/n,….);</a:t>
            </a: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IDDFS</a:t>
            </a:r>
            <a:r>
              <a:rPr lang="zh-CN" altLang="en-US" sz="2400" b="1" kern="100" dirty="0">
                <a:solidFill>
                  <a:srgbClr val="014B88"/>
                </a:solidFill>
                <a:latin typeface="仿宋_GB2312"/>
                <a:cs typeface="Times New Roman" panose="02020603050405020304" pitchFamily="18" charset="0"/>
              </a:rPr>
              <a:t>：通过限制深度，避免了陷入过深的搜索树，通过最大深度和当前深度的差值还可以确定分母的范围</a:t>
            </a: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CustomShape 3"/>
          <p:cNvSpPr/>
          <p:nvPr/>
        </p:nvSpPr>
        <p:spPr>
          <a:xfrm>
            <a:off x="682560" y="2993400"/>
            <a:ext cx="10514520" cy="4350240"/>
          </a:xfrm>
          <a:prstGeom prst="rect">
            <a:avLst/>
          </a:prstGeom>
          <a:noFill/>
          <a:ln>
            <a:noFill/>
          </a:ln>
        </p:spPr>
        <p:style>
          <a:lnRef idx="0">
            <a:scrgbClr r="0" g="0" b="0"/>
          </a:lnRef>
          <a:fillRef idx="0">
            <a:scrgbClr r="0" g="0" b="0"/>
          </a:fillRef>
          <a:effectRef idx="0">
            <a:scrgbClr r="0" g="0" b="0"/>
          </a:effectRef>
          <a:fontRef idx="minor"/>
        </p:style>
      </p:sp>
      <p:sp>
        <p:nvSpPr>
          <p:cNvPr id="106" name="CustomShape 4"/>
          <p:cNvSpPr/>
          <p:nvPr/>
        </p:nvSpPr>
        <p:spPr>
          <a:xfrm>
            <a:off x="936000" y="1584000"/>
            <a:ext cx="10439640" cy="90072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endParaRPr lang="en-US" sz="1800" strike="noStrike" spc="-1" dirty="0">
              <a:uFill>
                <a:solidFill>
                  <a:srgbClr val="FFFFFF"/>
                </a:solidFill>
              </a:uFill>
              <a:latin typeface="Arial" panose="020B0604020202020204"/>
            </a:endParaRP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迭代加深启发式搜索 </a:t>
            </a:r>
            <a:r>
              <a:rPr lang="en-US" altLang="zh-CN" sz="3200" b="1" dirty="0">
                <a:solidFill>
                  <a:srgbClr val="C00000"/>
                </a:solidFill>
                <a:latin typeface="微软雅黑" panose="020B0503020204020204" pitchFamily="34" charset="-122"/>
                <a:ea typeface="微软雅黑" panose="020B0503020204020204" pitchFamily="34" charset="-122"/>
              </a:rPr>
              <a:t>| IDA*</a:t>
            </a:r>
          </a:p>
        </p:txBody>
      </p:sp>
      <p:sp>
        <p:nvSpPr>
          <p:cNvPr id="2" name="文本框 1"/>
          <p:cNvSpPr txBox="1"/>
          <p:nvPr/>
        </p:nvSpPr>
        <p:spPr>
          <a:xfrm>
            <a:off x="816360" y="1189607"/>
            <a:ext cx="10813002" cy="2492990"/>
          </a:xfrm>
          <a:prstGeom prst="rect">
            <a:avLst/>
          </a:prstGeom>
          <a:noFill/>
        </p:spPr>
        <p:txBody>
          <a:bodyPr wrap="square" rtlCol="0">
            <a:spAutoFit/>
          </a:bodyPr>
          <a:lstStyle/>
          <a:p>
            <a:endParaRPr lang="zh-CN" altLang="en-US" dirty="0"/>
          </a:p>
          <a:p>
            <a:pPr marL="342900" indent="-342900">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利用</a:t>
            </a:r>
            <a:r>
              <a:rPr lang="en-US" altLang="zh-CN" sz="2400" b="1" kern="100" dirty="0">
                <a:solidFill>
                  <a:srgbClr val="014B88"/>
                </a:solidFill>
                <a:latin typeface="仿宋_GB2312"/>
                <a:cs typeface="Times New Roman" panose="02020603050405020304" pitchFamily="18" charset="0"/>
              </a:rPr>
              <a:t>IDDFS</a:t>
            </a:r>
            <a:r>
              <a:rPr lang="zh-CN" altLang="en-US" sz="2400" b="1" kern="100" dirty="0">
                <a:solidFill>
                  <a:srgbClr val="014B88"/>
                </a:solidFill>
                <a:latin typeface="仿宋_GB2312"/>
                <a:cs typeface="Times New Roman" panose="02020603050405020304" pitchFamily="18" charset="0"/>
              </a:rPr>
              <a:t>时有深度上限的特点，评估在</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树中一个节点在向下走一定的深度能不能到达解节点，并通过它剪枝</a:t>
            </a:r>
          </a:p>
          <a:p>
            <a:endParaRPr lang="zh-CN" altLang="en-US" sz="2400" b="1" kern="100" dirty="0">
              <a:solidFill>
                <a:srgbClr val="014B88"/>
              </a:solidFill>
              <a:latin typeface="仿宋_GB2312"/>
              <a:cs typeface="Times New Roman" panose="02020603050405020304" pitchFamily="18" charset="0"/>
            </a:endParaRPr>
          </a:p>
          <a:p>
            <a:endParaRPr lang="zh-CN" altLang="en-US" sz="2400" b="1" kern="100" dirty="0">
              <a:solidFill>
                <a:srgbClr val="014B88"/>
              </a:solidFill>
              <a:latin typeface="仿宋_GB2312"/>
              <a:cs typeface="Times New Roman" panose="02020603050405020304" pitchFamily="18" charset="0"/>
            </a:endParaRPr>
          </a:p>
          <a:p>
            <a:pPr marL="342900" indent="-342900">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利用启发函数剪枝：对于  </a:t>
            </a:r>
            <a:r>
              <a:rPr lang="en-US" altLang="zh-CN" sz="2400" b="1" kern="100" dirty="0">
                <a:solidFill>
                  <a:srgbClr val="014B88"/>
                </a:solidFill>
                <a:latin typeface="仿宋_GB2312"/>
                <a:cs typeface="Times New Roman" panose="02020603050405020304" pitchFamily="18" charset="0"/>
              </a:rPr>
              <a:t>f(x) &gt; MAXDEEP </a:t>
            </a:r>
            <a:r>
              <a:rPr lang="zh-CN" altLang="en-US" sz="2400" b="1" kern="100" dirty="0">
                <a:solidFill>
                  <a:srgbClr val="014B88"/>
                </a:solidFill>
                <a:latin typeface="仿宋_GB2312"/>
                <a:cs typeface="Times New Roman" panose="02020603050405020304" pitchFamily="18" charset="0"/>
              </a:rPr>
              <a:t>的节点不再扩展</a:t>
            </a:r>
          </a:p>
          <a:p>
            <a:endParaRPr lang="zh-CN" altLang="en-US"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IMING" val="|0.7|1.8|5.2|11.6"/>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WPS">
  <a:themeElements>
    <a:clrScheme name="WPS">
      <a:dk1>
        <a:sysClr val="windowText" lastClr="000000"/>
      </a:dk1>
      <a:lt1>
        <a:sysClr val="window" lastClr="FFFFFF"/>
      </a:lt1>
      <a:dk2>
        <a:srgbClr val="44546A"/>
      </a:dk2>
      <a:lt2>
        <a:srgbClr val="E7E6E6"/>
      </a:lt2>
      <a:accent1>
        <a:srgbClr val="4874CB"/>
      </a:accent1>
      <a:accent2>
        <a:srgbClr val="EE822F"/>
      </a:accent2>
      <a:accent3>
        <a:srgbClr val="F2BA02"/>
      </a:accent3>
      <a:accent4>
        <a:srgbClr val="75BD42"/>
      </a:accent4>
      <a:accent5>
        <a:srgbClr val="30C0B4"/>
      </a:accent5>
      <a:accent6>
        <a:srgbClr val="E54C5E"/>
      </a:accent6>
      <a:hlink>
        <a:srgbClr val="0026E5"/>
      </a:hlink>
      <a:folHlink>
        <a:srgbClr val="7E1FAD"/>
      </a:folHlink>
    </a:clrScheme>
    <a:fontScheme name="WPS">
      <a:majorFont>
        <a:latin typeface="Calibri"/>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WPS">
      <a:fillStyleLst>
        <a:solidFill>
          <a:schemeClr val="phClr"/>
        </a:solidFill>
        <a:gradFill>
          <a:gsLst>
            <a:gs pos="0">
              <a:schemeClr val="phClr">
                <a:lumOff val="17500"/>
              </a:schemeClr>
            </a:gs>
            <a:gs pos="100000">
              <a:schemeClr val="phClr"/>
            </a:gs>
          </a:gsLst>
          <a:lin ang="2700000" scaled="0"/>
        </a:gradFill>
        <a:gradFill>
          <a:gsLst>
            <a:gs pos="0">
              <a:schemeClr val="phClr">
                <a:hueOff val="-2520000"/>
              </a:schemeClr>
            </a:gs>
            <a:gs pos="100000">
              <a:schemeClr val="phClr"/>
            </a:gs>
          </a:gsLst>
          <a:lin ang="2700000" scaled="0"/>
        </a:gradFill>
      </a:fillStyleLst>
      <a:lnStyleLst>
        <a:ln w="12700" cap="flat" cmpd="sng" algn="ctr">
          <a:solidFill>
            <a:schemeClr val="phClr"/>
          </a:solidFill>
          <a:prstDash val="solid"/>
          <a:miter lim="800000"/>
        </a:ln>
        <a:ln w="12700" cap="flat" cmpd="sng" algn="ctr">
          <a:solidFill>
            <a:schemeClr val="phClr"/>
          </a:solidFill>
          <a:prstDash val="solid"/>
          <a:miter lim="800000"/>
        </a:ln>
        <a:ln w="12700" cap="flat" cmpd="sng" algn="ctr">
          <a:gradFill>
            <a:gsLst>
              <a:gs pos="0">
                <a:schemeClr val="phClr">
                  <a:hueOff val="-4200000"/>
                </a:schemeClr>
              </a:gs>
              <a:gs pos="100000">
                <a:schemeClr val="phClr"/>
              </a:gs>
            </a:gsLst>
            <a:lin ang="2700000" scaled="1"/>
          </a:gradFill>
          <a:prstDash val="solid"/>
          <a:miter lim="800000"/>
        </a:ln>
      </a:lnStyleLst>
      <a:effectStyleLst>
        <a:effectStyle>
          <a:effectLst>
            <a:outerShdw blurRad="101600" dist="50800" dir="5400000" algn="ctr" rotWithShape="0">
              <a:schemeClr val="phClr">
                <a:alpha val="60000"/>
              </a:schemeClr>
            </a:outerShdw>
          </a:effectLst>
        </a:effectStyle>
        <a:effectStyle>
          <a:effectLst>
            <a:reflection stA="50000" endA="300" endPos="40000" dist="25400" dir="5400000" sy="-100000" algn="bl" rotWithShape="0"/>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1285</TotalTime>
  <Words>13982</Words>
  <Application>Microsoft Office PowerPoint</Application>
  <PresentationFormat>宽屏</PresentationFormat>
  <Paragraphs>2780</Paragraphs>
  <Slides>161</Slides>
  <Notes>31</Notes>
  <HiddenSlides>0</HiddenSlides>
  <MMClips>0</MMClips>
  <ScaleCrop>false</ScaleCrop>
  <HeadingPairs>
    <vt:vector size="8" baseType="variant">
      <vt:variant>
        <vt:lpstr>已用的字体</vt:lpstr>
      </vt:variant>
      <vt:variant>
        <vt:i4>22</vt:i4>
      </vt:variant>
      <vt:variant>
        <vt:lpstr>主题</vt:lpstr>
      </vt:variant>
      <vt:variant>
        <vt:i4>3</vt:i4>
      </vt:variant>
      <vt:variant>
        <vt:lpstr>嵌入 OLE 服务器</vt:lpstr>
      </vt:variant>
      <vt:variant>
        <vt:i4>2</vt:i4>
      </vt:variant>
      <vt:variant>
        <vt:lpstr>幻灯片标题</vt:lpstr>
      </vt:variant>
      <vt:variant>
        <vt:i4>161</vt:i4>
      </vt:variant>
    </vt:vector>
  </HeadingPairs>
  <TitlesOfParts>
    <vt:vector size="188" baseType="lpstr">
      <vt:lpstr>Dotum</vt:lpstr>
      <vt:lpstr>MS UI Gothic</vt:lpstr>
      <vt:lpstr>等线</vt:lpstr>
      <vt:lpstr>等线 Light</vt:lpstr>
      <vt:lpstr>仿宋_GB2312</vt:lpstr>
      <vt:lpstr>黑体</vt:lpstr>
      <vt:lpstr>华文琥珀</vt:lpstr>
      <vt:lpstr>华文细黑</vt:lpstr>
      <vt:lpstr>华文中宋</vt:lpstr>
      <vt:lpstr>楷体_GB2312</vt:lpstr>
      <vt:lpstr>宋体</vt:lpstr>
      <vt:lpstr>微软雅黑</vt:lpstr>
      <vt:lpstr>Arial</vt:lpstr>
      <vt:lpstr>Arial Black</vt:lpstr>
      <vt:lpstr>Book Antiqua</vt:lpstr>
      <vt:lpstr>Calibri</vt:lpstr>
      <vt:lpstr>Cambria Math</vt:lpstr>
      <vt:lpstr>Consolas</vt:lpstr>
      <vt:lpstr>Tahoma</vt:lpstr>
      <vt:lpstr>Times New Roman</vt:lpstr>
      <vt:lpstr>Verdana</vt:lpstr>
      <vt:lpstr>Wingdings</vt:lpstr>
      <vt:lpstr>Office 主题​​</vt:lpstr>
      <vt:lpstr>2_Office 主题​​</vt:lpstr>
      <vt:lpstr>WPS</vt:lpstr>
      <vt:lpstr>Document</vt:lpstr>
      <vt:lpstr>文档</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邻接矩阵</vt:lpstr>
      <vt:lpstr>邻接矩阵</vt:lpstr>
      <vt:lpstr>加权邻接矩阵 </vt:lpstr>
      <vt:lpstr>邻接矩阵和加权邻接矩阵的优缺点</vt:lpstr>
      <vt:lpstr>邻接矩阵的适应情况和特殊图的存储处理</vt:lpstr>
      <vt:lpstr>邻接表</vt:lpstr>
      <vt:lpstr>邻接表</vt:lpstr>
      <vt:lpstr>邻接表存储特点</vt:lpstr>
      <vt:lpstr>邻接表存储</vt:lpstr>
      <vt:lpstr>PowerPoint 演示文稿</vt:lpstr>
      <vt:lpstr>PowerPoint 演示文稿</vt:lpstr>
      <vt:lpstr>图的遍历</vt:lpstr>
      <vt:lpstr>深度优先遍历</vt:lpstr>
      <vt:lpstr>深度优先遍历示例</vt:lpstr>
      <vt:lpstr>深度优先遍历算法</vt:lpstr>
      <vt:lpstr>深度优先遍历</vt:lpstr>
      <vt:lpstr>广度优先遍历</vt:lpstr>
      <vt:lpstr>广度优先遍历</vt:lpstr>
      <vt:lpstr>广度优先遍历算法</vt:lpstr>
      <vt:lpstr>广度优先遍历算法</vt:lpstr>
      <vt:lpstr>广度优先遍历算法</vt:lpstr>
      <vt:lpstr>深度和广度优先遍历结果特点</vt:lpstr>
      <vt:lpstr>深度和广度优先遍历比较</vt:lpstr>
      <vt:lpstr>无向图的连通性</vt:lpstr>
      <vt:lpstr>无向图的连通性</vt:lpstr>
      <vt:lpstr>无向图的连通性</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 </vt:lpstr>
      <vt:lpstr> </vt:lpstr>
      <vt:lpstr> </vt:lpstr>
      <vt:lpstr> </vt:lpstr>
      <vt:lpstr>PowerPoint 演示文稿</vt:lpstr>
      <vt:lpstr> </vt:lpstr>
      <vt:lpstr> </vt:lpstr>
      <vt:lpstr> </vt:lpstr>
      <vt:lpstr> </vt:lpstr>
      <vt:lpstr> </vt:lpstr>
      <vt:lpstr> </vt:lpstr>
      <vt:lpstr>PowerPoint 演示文稿</vt:lpstr>
      <vt:lpstr>PowerPoint 演示文稿</vt:lpstr>
      <vt:lpstr> </vt:lpstr>
      <vt:lpstr>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 </vt:lpstr>
      <vt:lpstr> </vt:lpstr>
      <vt:lpstr> </vt:lpstr>
      <vt:lpstr> </vt:lpstr>
      <vt:lpstr> </vt:lpstr>
      <vt:lpstr> </vt:lpstr>
      <vt:lpstr> </vt:lpstr>
      <vt:lpstr> </vt:lpstr>
      <vt:lpstr> </vt:lpstr>
      <vt:lpstr> </vt:lpstr>
      <vt:lpstr> </vt:lpstr>
      <vt:lpstr> </vt:lpstr>
      <vt:lpstr>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zmk</dc:creator>
  <cp:lastModifiedBy>zmk</cp:lastModifiedBy>
  <cp:revision>58</cp:revision>
  <dcterms:created xsi:type="dcterms:W3CDTF">2023-08-09T12:44:55Z</dcterms:created>
  <dcterms:modified xsi:type="dcterms:W3CDTF">2026-04-17T09:53:59Z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2052-12.1.0.15259</vt:lpwstr>
  </property>
</Properties>
</file>