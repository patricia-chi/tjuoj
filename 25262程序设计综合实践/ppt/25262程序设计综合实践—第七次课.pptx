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17" r:id="rId3"/>
    <p:sldId id="2495" r:id="rId5"/>
    <p:sldId id="2496" r:id="rId6"/>
    <p:sldId id="2497" r:id="rId7"/>
    <p:sldId id="2498" r:id="rId8"/>
    <p:sldId id="2512" r:id="rId9"/>
    <p:sldId id="2499" r:id="rId10"/>
    <p:sldId id="2502" r:id="rId11"/>
    <p:sldId id="2443" r:id="rId12"/>
    <p:sldId id="2444" r:id="rId13"/>
    <p:sldId id="2445" r:id="rId14"/>
    <p:sldId id="2500" r:id="rId15"/>
    <p:sldId id="2501" r:id="rId16"/>
    <p:sldId id="2503" r:id="rId17"/>
    <p:sldId id="2504" r:id="rId18"/>
    <p:sldId id="2505" r:id="rId19"/>
    <p:sldId id="2513" r:id="rId20"/>
    <p:sldId id="2435" r:id="rId21"/>
    <p:sldId id="2436" r:id="rId22"/>
    <p:sldId id="2437" r:id="rId23"/>
    <p:sldId id="2431" r:id="rId24"/>
    <p:sldId id="2432" r:id="rId25"/>
    <p:sldId id="2434" r:id="rId26"/>
    <p:sldId id="2438" r:id="rId27"/>
    <p:sldId id="2439" r:id="rId28"/>
    <p:sldId id="2440" r:id="rId29"/>
    <p:sldId id="2532" r:id="rId30"/>
    <p:sldId id="1024" r:id="rId31"/>
    <p:sldId id="2441" r:id="rId32"/>
    <p:sldId id="2514" r:id="rId33"/>
    <p:sldId id="2518" r:id="rId34"/>
    <p:sldId id="2516" r:id="rId35"/>
    <p:sldId id="2519" r:id="rId36"/>
    <p:sldId id="2520" r:id="rId37"/>
    <p:sldId id="2521" r:id="rId38"/>
    <p:sldId id="2522" r:id="rId39"/>
    <p:sldId id="2507" r:id="rId40"/>
    <p:sldId id="2515" r:id="rId41"/>
    <p:sldId id="2342" r:id="rId42"/>
    <p:sldId id="2347" r:id="rId43"/>
    <p:sldId id="2508" r:id="rId44"/>
    <p:sldId id="2511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D9C3AE-A97C-4522-AC1A-05F561AE0C6C}">
          <p14:sldIdLst>
            <p14:sldId id="2517"/>
            <p14:sldId id="2495"/>
            <p14:sldId id="2496"/>
            <p14:sldId id="2497"/>
            <p14:sldId id="2498"/>
            <p14:sldId id="2512"/>
            <p14:sldId id="2499"/>
            <p14:sldId id="2502"/>
            <p14:sldId id="2443"/>
            <p14:sldId id="2444"/>
            <p14:sldId id="2445"/>
            <p14:sldId id="2500"/>
            <p14:sldId id="2501"/>
            <p14:sldId id="2503"/>
            <p14:sldId id="2504"/>
            <p14:sldId id="2505"/>
            <p14:sldId id="2513"/>
            <p14:sldId id="2435"/>
            <p14:sldId id="2436"/>
            <p14:sldId id="2437"/>
            <p14:sldId id="2431"/>
            <p14:sldId id="2432"/>
            <p14:sldId id="2434"/>
            <p14:sldId id="2438"/>
            <p14:sldId id="2439"/>
            <p14:sldId id="2440"/>
            <p14:sldId id="2532"/>
            <p14:sldId id="1024"/>
            <p14:sldId id="2441"/>
            <p14:sldId id="2514"/>
            <p14:sldId id="2518"/>
            <p14:sldId id="2516"/>
            <p14:sldId id="2519"/>
            <p14:sldId id="2520"/>
            <p14:sldId id="2521"/>
            <p14:sldId id="2522"/>
            <p14:sldId id="2507"/>
            <p14:sldId id="2515"/>
            <p14:sldId id="2342"/>
            <p14:sldId id="2347"/>
            <p14:sldId id="2508"/>
            <p14:sldId id="251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B3829-2EF0-42E2-B66B-793E2C38CC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432F5-901C-475D-AF5C-2B4D99293E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18BCC-8E0E-4014-A15C-131A86B0AD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hyperlink" Target="mailto:zmk@tju.edu.cn" TargetMode="Externa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GI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49" b="20928"/>
          <a:stretch>
            <a:fillRect/>
          </a:stretch>
        </p:blipFill>
        <p:spPr>
          <a:xfrm>
            <a:off x="0" y="5272269"/>
            <a:ext cx="12192000" cy="1585731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CFD2B472-FC81-4D56-BB73-EBB478A21F5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1032671" y="2051405"/>
            <a:ext cx="10311215" cy="2343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defTabSz="6858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zh-CN" altLang="en-US" sz="3600" b="1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程序设计综合实践</a:t>
            </a:r>
            <a:endParaRPr lang="en-US" altLang="zh-CN" sz="3600" b="1" kern="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altLang="zh-CN" sz="3600" b="1" kern="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altLang="zh-CN" sz="2000" b="1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2"/>
              </a:rPr>
              <a:t>zmk@tju.edu.cn</a:t>
            </a:r>
            <a:endParaRPr lang="en-US" altLang="zh-CN" sz="2000" b="1" kern="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zh-CN" altLang="en-US" sz="2000" b="1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喻梅，于瑞国，王建荣，李雪威，赵满坤，应翔</a:t>
            </a:r>
            <a:endParaRPr lang="zh-CN" altLang="en-US" sz="2000" b="1" kern="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46567" y="636022"/>
            <a:ext cx="23685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3346129" y="1343908"/>
            <a:ext cx="739863" cy="102302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63036" y="1343908"/>
            <a:ext cx="3807229" cy="5151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找零钱问题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记忆化搜索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动态规划基本思想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爬楼梯问题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数字三角形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最长上升子序列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最大子段和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967090" y="1343907"/>
            <a:ext cx="515286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节目安排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背包问题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01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背包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完全背包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多重背包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分组背包</a:t>
            </a:r>
            <a:endParaRPr lang="en-US" altLang="zh-CN" sz="2400" b="1" dirty="0">
              <a:solidFill>
                <a:srgbClr val="0070C0"/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线性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区间</a:t>
            </a:r>
            <a:r>
              <a:rPr lang="en-US" altLang="zh-CN" sz="2400" b="1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/</a:t>
            </a: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状压 </a:t>
            </a:r>
            <a:endParaRPr lang="zh-CN" altLang="en-US" sz="2400" b="1" dirty="0">
              <a:solidFill>
                <a:schemeClr val="bg1">
                  <a:lumMod val="75000"/>
                </a:schemeClr>
              </a:solidFill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动态规划优化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096392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有面值为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1,2,5,10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的硬币，需要找零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元钱。如何让找零的硬币数量最少。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面值为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1,3,5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呢？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面值为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1,5,11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呢？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找零钱问题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096392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用深度优先搜索进行查找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重叠子问题会重复搜索多次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空间换时间思想进行优化</a:t>
            </a:r>
            <a:r>
              <a:rPr lang="en-US" altLang="zh-CN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记忆化搜索</a:t>
            </a:r>
            <a:endParaRPr lang="en-US" altLang="zh-CN" sz="20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自顶向下（递归）</a:t>
            </a:r>
            <a:r>
              <a:rPr lang="en-US" altLang="zh-CN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自底向上（递推）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记忆化搜索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4" y="1253331"/>
            <a:ext cx="11539885" cy="54099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动态规划（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Dynamic programming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，简称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），是一种在数学、管理科学、计算机科学、经济学和生物信息学中使用的，通过把原问题分解为相对简单的子问题的方式求解复杂问题的方法。动态规划常常适用于有重叠子问题和最优子结构性质的问题。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问题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多阶段过程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一系列单阶段问题，利用各个阶段之间的关系逐个求解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DP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三要素：</a:t>
            </a: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阶段、状态、决策</a:t>
            </a:r>
            <a:endParaRPr lang="en-US" altLang="zh-CN" sz="2400" b="1" kern="100" dirty="0">
              <a:solidFill>
                <a:srgbClr val="C00000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阶段：将问题分为一系列单阶段</a:t>
            </a:r>
            <a:endParaRPr lang="en-US" altLang="zh-CN" sz="20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状态：当前问题所处的局面，当前局面如何表示（每个单阶段怎么表示）</a:t>
            </a:r>
            <a:endParaRPr lang="en-US" altLang="zh-CN" sz="20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决策：基于各阶段之间的关系进行求解（确定状态转移方程）</a:t>
            </a:r>
            <a:endParaRPr lang="en-US" altLang="zh-CN" sz="20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动态规划基本思想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4" y="1253331"/>
            <a:ext cx="11246939" cy="54099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最优子结构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：如果问题的最优解所包含的子问题的解也是最优的，就称该问题具有最优子结构，即满足最优化原理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无后效性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：即某阶段状态一旦确定，就不受这个状态以后决策的影响。也就是说，某状态以后的过程不会影响以前的状态，只与当前状态有关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子问题重叠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：即子问题之间是不独立的，一个子问题在下一阶段决策中可能被多次使用到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动态规划基本思想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基本性质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096392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有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阶台阶。初始时站在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0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级，每次可以向上走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级或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级。问到达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的方案总数？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</a:rPr>
              <a:t>阶段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：每走一步就是一个阶段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</a:rPr>
              <a:t>状态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：以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f[x]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表示“从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0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级走到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x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级的方案数”，假设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f[1], f[2]...f[n − 1]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全都已知，如何利用这些信息推出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f[n]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？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</a:rPr>
              <a:t>决策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：走到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f[n]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，要么是从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 − 1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级走上来的，要么是从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 − 2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级来的。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爬楼梯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108607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从三角形的顶部到底部有很多条不同的路径，对于每条路径，把路径上面的数加起来可以得到一个和，你的任务就是找到最大的和。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数字三角形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10120" t="9952" r="7237" b="11175"/>
          <a:stretch>
            <a:fillRect/>
          </a:stretch>
        </p:blipFill>
        <p:spPr>
          <a:xfrm>
            <a:off x="334800" y="2844800"/>
            <a:ext cx="4157134" cy="267578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478835" y="2696402"/>
            <a:ext cx="25683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7 3 8 7 5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35111" y="4404339"/>
            <a:ext cx="6958956" cy="14414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阶段：每一层即为一个阶段</a:t>
            </a:r>
            <a:endParaRPr lang="en-US" altLang="zh-CN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状态：</a:t>
            </a:r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][j]</a:t>
            </a:r>
            <a:r>
              <a:rPr lang="zh-CN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表示从位置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i,j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r>
              <a:rPr lang="zh-CN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出发能取得的最大和</a:t>
            </a:r>
            <a:endParaRPr lang="en-US" altLang="zh-C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决策：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][j] = a[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][j] + max(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[i+1][j],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[i+1][j+1])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动态规划解题一般思路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1.</a:t>
            </a: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将原问题分解为子问题（阶段）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把原问题分解为若干个子问题，子问题和原问题形式相同或类似，只不过规模变小了。子问题都解决，原问题即解决(数字三角形例）。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子问题的解一旦求出就会被保存，所以每个子问题只需求解一次。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4645" y="3270885"/>
            <a:ext cx="1107122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2.</a:t>
            </a: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确定状态（状态）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在用动态规划解题时，我们往往将和子问题相关的各个变量的一组取值，称之为一个“状态”。一个“状态”对应于一个或多个子问题，所谓某个“状态”下的“值”，就是这个“状态”所对应的子问题的解。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所有“状态”的集合，构成问题的“状态空间”。“状态空间”的大小，与用动态规划解决问题的时间复杂度直接相关。 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动态规划解题一般思路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4645" y="1027430"/>
            <a:ext cx="11071225" cy="1141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3.</a:t>
            </a: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确定一些初始状态（边界状态）的值（状态）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以“数字三角形”为例，初始状态就是底边数字，值就是底边数字值。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4645" y="2353310"/>
            <a:ext cx="1107122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4.</a:t>
            </a: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确定状态转移方程（决策）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定义出什么是“状态”，以及在该“状态”下的“值”后，就要找出不同的状态之间如何迁移――即如何从一个或多个“值”已知的 “状态”，求出另一个“状态”的“值”(递推型)。状态的迁移可以用递推公式表示，此递推公式也可被称作“状态转移方程”。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动态规划解题一般思路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1027430"/>
            <a:ext cx="11071225" cy="433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能用动态规划解决的问题的特点（基本性质）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1) 问题具有最优子结构性质。如果问题的最优解所包含的子问题的解也是最优的，我们就称该问题具有最优子结构性质。</a:t>
            </a:r>
            <a:endParaRPr 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2) 无后效性。当前的若干个状态值一旦确定，则此后过程的演变就只和这若干个状态的值有关，和之前是采取哪种手段或经过哪条路径演变到当前的这若干个状态，没有关系。</a:t>
            </a:r>
            <a:endParaRPr 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最长上升子序列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87" y="1329184"/>
            <a:ext cx="5109126" cy="43350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737" y="3429000"/>
            <a:ext cx="3295804" cy="273481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017370" y="1809015"/>
            <a:ext cx="8068734" cy="14414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阶段：以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a[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</a:t>
            </a: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结尾的序列的最长上升子序列</a:t>
            </a:r>
            <a:endParaRPr lang="en-US" altLang="zh-CN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状态：</a:t>
            </a:r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</a:t>
            </a:r>
            <a:r>
              <a:rPr lang="zh-CN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表示以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a[</a:t>
            </a:r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</a:t>
            </a:r>
            <a:r>
              <a:rPr lang="zh-CN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结尾的序列的最长上升子序列长度</a:t>
            </a:r>
            <a:endParaRPr lang="en-US" altLang="zh-C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决策：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 = max(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],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[j] + 1) , 1&lt;=j &lt; 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i,a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 &gt; a[j]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096392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给出一个整数序列，问最大子段和。如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[2,-1,3,-5,3]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的最大子段和是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2-1+3=4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阶段：以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为结尾的最大子段和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状态：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表示以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结束的最大子段和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决策：让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接着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a[i-1]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，或者从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a[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开始重新计算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32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dp</a:t>
            </a:r>
            <a:r>
              <a:rPr lang="en-US" altLang="zh-CN" sz="32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en-US" altLang="zh-CN" sz="32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32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 = max(</a:t>
            </a:r>
            <a:r>
              <a:rPr lang="en-US" altLang="zh-CN" sz="32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dp</a:t>
            </a:r>
            <a:r>
              <a:rPr lang="en-US" altLang="zh-CN" sz="32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[i-1]+a[</a:t>
            </a:r>
            <a:r>
              <a:rPr lang="en-US" altLang="zh-CN" sz="32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32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],a[</a:t>
            </a:r>
            <a:r>
              <a:rPr lang="en-US" altLang="zh-CN" sz="32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32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])</a:t>
            </a:r>
            <a:endParaRPr lang="en-US" altLang="zh-CN" sz="32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最小子段和？</a:t>
            </a:r>
            <a:endParaRPr lang="en-US" altLang="zh-CN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253898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最大子段和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"/>
          <a:stretch>
            <a:fillRect/>
          </a:stretch>
        </p:blipFill>
        <p:spPr>
          <a:xfrm>
            <a:off x="6571380" y="4139738"/>
            <a:ext cx="5141225" cy="2394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4" y="1253331"/>
            <a:ext cx="11441057" cy="5284269"/>
          </a:xfrm>
        </p:spPr>
        <p:txBody>
          <a:bodyPr>
            <a:normAutofit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有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个节目，时长分别为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a[1]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a[2]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……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a[n]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，准备一场时长为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T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的晚会，请问如何安排，使节目总时长不超过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T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，且安排的节目数量最多？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如何安排节目，使节目总时长尽可能接近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T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？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如果每个节目有其欢乐值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b[1],b[2]……,b[n]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，如何安排使节目的欢乐值总和最多？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阶段：考虑到前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个节目，时长不超过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j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的阶段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状态：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表示考虑前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个节目，时长不超过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j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的最大欢乐值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决策：第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个节目安排与否，如果不安排，则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 = 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[i-1][j]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，如果安排上，则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 = 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[i-1][j-a[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]]+b[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，取二者的最大值，</a:t>
            </a:r>
            <a:r>
              <a:rPr lang="zh-CN" altLang="pl-PL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即</a:t>
            </a:r>
            <a:r>
              <a:rPr lang="pl-PL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dp[i][j] = max(dp[i-1][j],dp[i-1][j-</a:t>
            </a:r>
            <a:r>
              <a:rPr lang="en-US" altLang="pl-PL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a</a:t>
            </a:r>
            <a:r>
              <a:rPr lang="pl-PL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[i]]+</a:t>
            </a:r>
            <a:r>
              <a:rPr lang="en-US" altLang="pl-PL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b</a:t>
            </a:r>
            <a:r>
              <a:rPr lang="pl-PL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[i]</a:t>
            </a:r>
            <a:r>
              <a:rPr lang="en-US" altLang="pl-PL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)</a:t>
            </a:r>
            <a:endParaRPr lang="en-US" altLang="pl-PL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节目安排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0963922" cy="435133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给你一个可装载重量为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W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的背包和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个物品，每个物品有重量和价值两个属性。其中第 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个物品的重量为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w[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，价值为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v[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，现在让你用这个背包装物品，最多能装的价值是多少？物品不可分割，只能装或者不装。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阶段：考虑到前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个物品，总重量不超过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j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的阶段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状态：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表示考虑前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个物品，总重量不超过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j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的最大物品价值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决策：第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个物品选择与否，如果不选择，则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 = 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[i-1][j]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，如果选择，则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 = 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[i-1][j-w[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]]+v[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，取二者的最大值，即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 = max(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[i-1][j],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[i-1][j-w[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]]+v[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https://alchemist-al.com/algorithms/knapsack-problem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01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01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一维优化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00" y="1925978"/>
            <a:ext cx="5505733" cy="35879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32" y="1925978"/>
            <a:ext cx="5290145" cy="4042560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5895394" y="3543749"/>
            <a:ext cx="507077" cy="6516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479395" y="1253331"/>
            <a:ext cx="10963922" cy="65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滚动数组优化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01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一维优化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478800" y="175875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j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78800" y="281724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j-1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en-US" altLang="zh-CN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808320" y="1713344"/>
            <a:ext cx="15537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pcpy</a:t>
            </a: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数组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3185" y="2771831"/>
            <a:ext cx="11240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数组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/>
          <a:srcRect t="40984" b="23030"/>
          <a:stretch>
            <a:fillRect/>
          </a:stretch>
        </p:blipFill>
        <p:spPr>
          <a:xfrm>
            <a:off x="419312" y="4242725"/>
            <a:ext cx="5290145" cy="1454727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 flipV="1">
            <a:off x="7963593" y="2175009"/>
            <a:ext cx="0" cy="642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6974378" y="2129597"/>
            <a:ext cx="989215" cy="675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5835535" y="2117606"/>
            <a:ext cx="2128058" cy="687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4838007" y="2129597"/>
            <a:ext cx="3125586" cy="687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3848793" y="2129596"/>
            <a:ext cx="4114800" cy="67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2779222" y="2141588"/>
            <a:ext cx="5184371" cy="66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箭头: 下 32"/>
          <p:cNvSpPr/>
          <p:nvPr/>
        </p:nvSpPr>
        <p:spPr>
          <a:xfrm rot="5400000">
            <a:off x="6044036" y="1349575"/>
            <a:ext cx="465513" cy="41854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832" y="3641932"/>
            <a:ext cx="3920377" cy="3081153"/>
          </a:xfrm>
          <a:prstGeom prst="rect">
            <a:avLst/>
          </a:prstGeom>
        </p:spPr>
      </p:pic>
      <p:sp>
        <p:nvSpPr>
          <p:cNvPr id="36" name="箭头: 下 35"/>
          <p:cNvSpPr/>
          <p:nvPr/>
        </p:nvSpPr>
        <p:spPr>
          <a:xfrm rot="16200000">
            <a:off x="6441326" y="4165321"/>
            <a:ext cx="465513" cy="1535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33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完全背包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2014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问题：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有n</a:t>
            </a:r>
            <a:r>
              <a:rPr 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种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物品，它们有各自的重量和价值，现有给定容量的背包，如何让背包里装入的物品具有最大的价值总和</a:t>
            </a: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？</a:t>
            </a: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4645" y="3134995"/>
            <a:ext cx="1107122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思路：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sz="2400" b="1" kern="10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0-1背包每一件物品只能被装一次，完全背包就是可以无限制的装，物品数量没有限制。</a:t>
            </a:r>
            <a:endParaRPr sz="2400" b="1" kern="10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sz="2400" b="1" kern="10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这个问题类似于01背包问题，所不同的就是每种物品无限制使用。</a:t>
            </a:r>
            <a:endParaRPr sz="2400" b="1" kern="10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完全背包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1281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二维数组解法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9440" y="1734820"/>
            <a:ext cx="10890250" cy="2861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i=1;i&lt;=n;i++)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//物品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j=1;j&lt;=m;j++)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//容量 </a:t>
            </a:r>
            <a:endParaRPr lang="zh-CN" altLang="en-US" b="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(j&lt;w[i])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//装不下 </a:t>
            </a:r>
            <a:endParaRPr lang="zh-CN" altLang="en-US" b="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914400" lvl="2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dp[i][j]=dp[i-1][j];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//就等于i-1件物品容量等于j时候的价值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endParaRPr lang="en-US" altLang="zh-CN" dirty="0">
              <a:solidFill>
                <a:srgbClr val="C586C0"/>
              </a:solidFill>
              <a:latin typeface="Consolas" panose="020B0609020204030204" pitchFamily="49" charset="0"/>
            </a:endParaRPr>
          </a:p>
          <a:p>
            <a:pPr marL="914400" lvl="2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dp[i][j]=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(dp[i-1][j],dp[i][j-w[i]]+v[i]);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//装得下分为两种情况1.装 2.不装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完全背包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1281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一维数组解法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50582" y="3929380"/>
            <a:ext cx="10490835" cy="20300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i=1;i&lt;=n;i++)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//物品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j=w[i];j&lt;=m;j++)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//容量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dp[j]=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(dp[j],dp[j-w[i]]+v[i]);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//装得下分为两种情况1.装 2.不装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78800" y="175875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478800" y="281724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j-1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en-US" altLang="zh-CN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808320" y="1713344"/>
            <a:ext cx="15537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pcpy</a:t>
            </a: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数组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23185" y="2771831"/>
            <a:ext cx="11240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altLang="zh-CN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数组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分组背包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分组背包，通俗的讲就是，给N组物品，然后每一组至多选择一个物品</a:t>
            </a: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(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也可以不选</a:t>
            </a: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),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每个物品都有自己的体积和价值，现在给一个</a:t>
            </a:r>
            <a:r>
              <a:rPr 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容量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为</a:t>
            </a:r>
            <a:r>
              <a:rPr lang="en-US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W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的背包，让你用这个背包装物品，使得物品价值总和最大</a:t>
            </a: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分组背包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类似于01背包，对于一个物品有两种决策选或不选，但是分组背包是在01背包的基础上对物品进行了分组，并且每一组只能最多选择一个物品，所以我们不妨用01背包的思想去思考分组背包</a:t>
            </a: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lvl="1" indent="457200" algn="l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分析：我们设f</a:t>
            </a: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[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i</a:t>
            </a: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][j]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为当前考虑到了第i组物品，剩余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容量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为j的背包能装物品的最大价值，那么很容易想到我们需要去枚举第i组物品，考虑选哪一个物品时是最优的</a:t>
            </a: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(</a:t>
            </a:r>
            <a:r>
              <a:rPr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或者不选</a:t>
            </a:r>
            <a:r>
              <a:rPr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)</a:t>
            </a: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分组背包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1270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代码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endParaRPr lang="zh-CN" altLang="en-US" sz="2400" b="1" i="1" kern="100" dirty="0">
              <a:solidFill>
                <a:srgbClr val="014B88"/>
              </a:solidFill>
              <a:latin typeface="Cambria Math" panose="02040503050406030204" charset="0"/>
              <a:ea typeface="MS Mincho" charset="0"/>
              <a:cs typeface="Cambria Math" panose="02040503050406030204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9077" y="1734911"/>
            <a:ext cx="9655946" cy="20300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=1;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N;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++)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=0;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 err="1">
                <a:solidFill>
                  <a:srgbClr val="D4D4D4"/>
                </a:solidFill>
                <a:latin typeface="Consolas" panose="020B0609020204030204" pitchFamily="49" charset="0"/>
              </a:rPr>
              <a:t>W;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++)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=1;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&lt;=s[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++)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//s[i]表示第i组物品的个数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914400" lvl="2"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&gt;=w[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//剩余的背包容量j大于第i组的第k个物品的重量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914400" lvl="2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1371600" lvl="3" indent="457200"/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-1][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-w[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k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]]+</a:t>
            </a:r>
            <a:r>
              <a:rPr lang="en-US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][k]);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914400" lvl="2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多重背包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2249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问题</a:t>
            </a:r>
            <a:endParaRPr lang="en-US" altLang="zh-CN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有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种物品和一个容量为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v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的背包，第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种物品最多有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件可用，每件重量是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w[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，价值是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v[</a:t>
            </a:r>
            <a:r>
              <a:rPr lang="en-US" altLang="zh-CN" sz="2400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，求解将哪些物品装入背包可使这些物品的费用总和不超过背包容量，且价值总和最大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多重背包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1281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二维数组解法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8855" y="1734820"/>
            <a:ext cx="10490835" cy="36925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i=1;i&lt;=n;i++)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//物品数量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j=1;j&lt;=m;j++)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//背包容量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k=0;k&lt;=s[i];k++) </a:t>
            </a:r>
            <a:r>
              <a:rPr lang="zh-CN" alt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//物品数量可以选择0件，最多选择s[i]件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	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(j&lt;k*w[i])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1828800" lvl="4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f[i][j]=f[i-1][j];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1371600" lvl="3"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1828800" lvl="4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f[i][j]=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(f[i-1][j],f[i-1][j-k*w[i]]+k*v[i]);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多重背包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45" y="963930"/>
            <a:ext cx="11071225" cy="1281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</a:rPr>
              <a:t>一维数组解法</a:t>
            </a:r>
            <a:endParaRPr lang="zh-CN" altLang="en-US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</a:endParaRPr>
          </a:p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endParaRPr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8855" y="1734820"/>
            <a:ext cx="10490835" cy="2861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i=1;i&lt;=n;i++)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j=m;j&gt;=w[i];j--)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k=0;k&lt;=s[i]&amp;&amp;k*w[i]&lt;=j;k++)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914400" lvl="2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f[j]=</a:t>
            </a:r>
            <a:r>
              <a:rPr lang="en-US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(f[j],f[j-k*w[i]]+k*v[i]);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lvl="1"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indent="457200"/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5445" y="4821555"/>
            <a:ext cx="1107122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457200" algn="just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思考：如果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s[i]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很大呢？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背包问题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|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背包输出方案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5140" y="1356995"/>
            <a:ext cx="5142230" cy="46666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>
              <a:spcBef>
                <a:spcPct val="0"/>
              </a:spcBef>
              <a:spcAft>
                <a:spcPts val="1000"/>
              </a:spcAft>
            </a:pPr>
            <a:r>
              <a:rPr lang="zh-CN" altLang="en-US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如果：</a:t>
            </a:r>
            <a:endParaRPr lang="zh-CN" altLang="en-US" sz="2400" b="0" i="0">
              <a:solidFill>
                <a:srgbClr val="080808"/>
              </a:solidFill>
              <a:latin typeface="Consolas" panose="020B0609020204030204" pitchFamily="49" charset="0"/>
              <a:ea typeface="HarmonyOS Sans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dp[i][j] </a:t>
            </a:r>
            <a:r>
              <a:rPr lang="en-US" altLang="zh-CN" sz="24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==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dp[i </a:t>
            </a:r>
            <a:r>
              <a:rPr lang="en-US" altLang="zh-CN" sz="24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</a:t>
            </a:r>
            <a:r>
              <a:rPr lang="en-US" altLang="zh-CN" sz="2400" b="0" i="0">
                <a:solidFill>
                  <a:srgbClr val="892B8A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1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][j]</a:t>
            </a:r>
            <a:endParaRPr lang="en-US" altLang="zh-CN" sz="24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</a:pPr>
            <a:r>
              <a:rPr lang="zh-CN" altLang="en-US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说明第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 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 </a:t>
            </a:r>
            <a:r>
              <a:rPr lang="zh-CN" altLang="en-US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个物品可以不选。</a:t>
            </a:r>
            <a:endParaRPr lang="zh-CN" altLang="en-US" sz="2400" b="0" i="0">
              <a:solidFill>
                <a:srgbClr val="080808"/>
              </a:solidFill>
              <a:latin typeface="Consolas" panose="020B0609020204030204" pitchFamily="49" charset="0"/>
              <a:ea typeface="HarmonyOS Sans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</a:pPr>
            <a:r>
              <a:rPr lang="zh-CN" altLang="en-US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于是：</a:t>
            </a:r>
            <a:endParaRPr lang="zh-CN" altLang="en-US" sz="2400" b="0" i="0">
              <a:solidFill>
                <a:srgbClr val="080808"/>
              </a:solidFill>
              <a:latin typeface="Consolas" panose="020B0609020204030204" pitchFamily="49" charset="0"/>
              <a:ea typeface="HarmonyOS Sans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</a:t>
            </a:r>
            <a:r>
              <a:rPr lang="en-US" altLang="zh-CN" sz="24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--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;</a:t>
            </a:r>
            <a:endParaRPr lang="en-US" altLang="zh-CN" sz="24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endParaRPr lang="en-US" altLang="zh-CN" sz="24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endParaRPr lang="en-US" altLang="zh-CN" sz="24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</a:pPr>
            <a:r>
              <a:rPr lang="zh-CN" altLang="en-US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否则，说明选了第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 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 </a:t>
            </a:r>
            <a:r>
              <a:rPr lang="zh-CN" altLang="en-US" sz="2400" b="0" i="0">
                <a:solidFill>
                  <a:srgbClr val="080808"/>
                </a:solidFill>
                <a:latin typeface="Consolas" panose="020B0609020204030204" pitchFamily="49" charset="0"/>
                <a:ea typeface="HarmonyOS Sans"/>
                <a:cs typeface="Consolas" panose="020B0609020204030204" pitchFamily="49" charset="0"/>
              </a:rPr>
              <a:t>个物品：</a:t>
            </a:r>
            <a:endParaRPr lang="zh-CN" altLang="en-US" sz="2400" b="0" i="0">
              <a:solidFill>
                <a:srgbClr val="080808"/>
              </a:solidFill>
              <a:latin typeface="Consolas" panose="020B0609020204030204" pitchFamily="49" charset="0"/>
              <a:ea typeface="HarmonyOS Sans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ans.</a:t>
            </a:r>
            <a:r>
              <a:rPr lang="en-US" altLang="zh-CN" sz="2400" b="0" i="0">
                <a:solidFill>
                  <a:srgbClr val="D59300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push_back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(i);</a:t>
            </a:r>
            <a:endParaRPr lang="en-US" altLang="zh-CN" sz="24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j </a:t>
            </a:r>
            <a:r>
              <a:rPr lang="en-US" altLang="zh-CN" sz="24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-=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w[i];</a:t>
            </a:r>
            <a:endParaRPr lang="en-US" altLang="zh-CN" sz="24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</a:t>
            </a:r>
            <a:r>
              <a:rPr lang="en-US" altLang="zh-CN" sz="24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--</a:t>
            </a:r>
            <a:r>
              <a:rPr lang="en-US" altLang="zh-CN" sz="24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;</a:t>
            </a:r>
            <a:endParaRPr lang="en-US" altLang="zh-CN" sz="24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98720" y="2284730"/>
            <a:ext cx="7162165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/>
            <a:r>
              <a:rPr lang="en-US" altLang="zh-CN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// </a:t>
            </a:r>
            <a:r>
              <a:rPr lang="zh-CN" altLang="en-US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回溯方案</a:t>
            </a:r>
            <a:r>
              <a:rPr lang="zh-CN" altLang="en-US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</a:t>
            </a:r>
            <a:endParaRPr lang="zh-CN" altLang="en-US" sz="16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/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vector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&lt;</a:t>
            </a:r>
            <a:r>
              <a:rPr lang="en-US" altLang="zh-CN" sz="1600" b="0" i="0">
                <a:solidFill>
                  <a:srgbClr val="EC5E41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int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&gt;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ans;</a:t>
            </a:r>
            <a:r>
              <a:rPr lang="en-US" altLang="zh-CN" sz="1600" b="0" i="0">
                <a:solidFill>
                  <a:srgbClr val="EC5E41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</a:t>
            </a:r>
            <a:endParaRPr lang="en-US" altLang="zh-CN" sz="1600" b="0" i="0">
              <a:solidFill>
                <a:srgbClr val="EC5E41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/>
            <a:r>
              <a:rPr lang="en-US" altLang="zh-CN" sz="1600" b="0" i="0">
                <a:solidFill>
                  <a:srgbClr val="EC5E41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int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j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=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W;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</a:t>
            </a:r>
            <a:endParaRPr lang="en-US" altLang="zh-CN" sz="1600" b="0" i="0">
              <a:solidFill>
                <a:srgbClr val="0072F5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/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for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(</a:t>
            </a:r>
            <a:r>
              <a:rPr lang="en-US" altLang="zh-CN" sz="1600" b="0" i="0">
                <a:solidFill>
                  <a:srgbClr val="EC5E41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int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i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=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n; i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&gt;=</a:t>
            </a:r>
            <a:r>
              <a:rPr lang="en-US" altLang="zh-CN" sz="1600" b="0" i="0">
                <a:solidFill>
                  <a:srgbClr val="892B8A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1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; i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--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) {</a:t>
            </a:r>
            <a:r>
              <a:rPr lang="en-US" altLang="zh-CN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</a:t>
            </a:r>
            <a:endParaRPr lang="en-US" altLang="zh-CN" sz="1600" b="0" i="1">
              <a:solidFill>
                <a:srgbClr val="88888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457200" lvl="1" indent="0" fontAlgn="base"/>
            <a:r>
              <a:rPr lang="en-US" altLang="zh-CN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// </a:t>
            </a:r>
            <a:r>
              <a:rPr lang="zh-CN" altLang="en-US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如果选第 </a:t>
            </a:r>
            <a:r>
              <a:rPr lang="en-US" altLang="zh-CN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 </a:t>
            </a:r>
            <a:r>
              <a:rPr lang="zh-CN" altLang="en-US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个物品能得到当前最优值</a:t>
            </a:r>
            <a:r>
              <a:rPr lang="zh-CN" altLang="en-US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</a:t>
            </a:r>
            <a:endParaRPr lang="zh-CN" altLang="en-US" sz="1600" b="0" i="0">
              <a:solidFill>
                <a:srgbClr val="0072F5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457200" lvl="1" indent="0" fontAlgn="base"/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if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(j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&gt;=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w[i]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&amp;&amp;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dp[i][j]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==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dp[i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</a:t>
            </a:r>
            <a:r>
              <a:rPr lang="en-US" altLang="zh-CN" sz="1600" b="0" i="0">
                <a:solidFill>
                  <a:srgbClr val="892B8A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1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][j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w[i]]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+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v[i]) { </a:t>
            </a:r>
            <a:endParaRPr lang="en-US" altLang="zh-CN" sz="16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457200" lvl="1" indent="457200" fontAlgn="base"/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ans.</a:t>
            </a:r>
            <a:r>
              <a:rPr lang="en-US" altLang="zh-CN" sz="1600" b="0" i="0">
                <a:solidFill>
                  <a:srgbClr val="D59300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push_back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(i); j </a:t>
            </a:r>
            <a:r>
              <a:rPr lang="en-US" altLang="zh-CN" sz="1600" b="0" i="0">
                <a:solidFill>
                  <a:srgbClr val="0072F5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-=</a:t>
            </a:r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w[i]; </a:t>
            </a:r>
            <a:endParaRPr lang="en-US" altLang="zh-CN" sz="16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457200" lvl="1" indent="0" fontAlgn="base"/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}</a:t>
            </a:r>
            <a:r>
              <a:rPr lang="en-US" altLang="zh-CN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</a:t>
            </a:r>
            <a:endParaRPr lang="en-US" altLang="zh-CN" sz="1600" b="0" i="1">
              <a:solidFill>
                <a:srgbClr val="88888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457200" lvl="1" indent="0" fontAlgn="base"/>
            <a:r>
              <a:rPr lang="en-US" altLang="zh-CN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// </a:t>
            </a:r>
            <a:r>
              <a:rPr lang="zh-CN" altLang="en-US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否则说明没选第 </a:t>
            </a:r>
            <a:r>
              <a:rPr lang="en-US" altLang="zh-CN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i </a:t>
            </a:r>
            <a:r>
              <a:rPr lang="zh-CN" altLang="en-US" sz="1600" b="0" i="1">
                <a:solidFill>
                  <a:srgbClr val="88888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个物品</a:t>
            </a:r>
            <a:r>
              <a:rPr lang="zh-CN" altLang="en-US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 </a:t>
            </a:r>
            <a:endParaRPr lang="zh-CN" altLang="en-US" sz="16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  <a:p>
            <a:pPr marL="0" indent="0" fontAlgn="base"/>
            <a:r>
              <a:rPr lang="en-US" altLang="zh-CN" sz="1600" b="0" i="0">
                <a:solidFill>
                  <a:srgbClr val="080808"/>
                </a:solidFill>
                <a:latin typeface="Consolas" panose="020B0609020204030204" pitchFamily="49" charset="0"/>
                <a:ea typeface="Hack"/>
                <a:cs typeface="Consolas" panose="020B0609020204030204" pitchFamily="49" charset="0"/>
              </a:rPr>
              <a:t>}</a:t>
            </a:r>
            <a:endParaRPr lang="en-US" altLang="zh-CN" sz="1600" b="0" i="0">
              <a:solidFill>
                <a:srgbClr val="080808"/>
              </a:solidFill>
              <a:latin typeface="Consolas" panose="020B0609020204030204" pitchFamily="49" charset="0"/>
              <a:ea typeface="Hack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26884" y="1109503"/>
            <a:ext cx="11292396" cy="574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93725" indent="-4572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依次考虑</a:t>
            </a:r>
            <a:r>
              <a:rPr lang="en-US" altLang="zh-CN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3…k</a:t>
            </a: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顶点，对任意顶点对</a:t>
            </a:r>
            <a:r>
              <a:rPr lang="en-US" altLang="zh-CN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700" b="1" dirty="0" err="1">
                <a:solidFill>
                  <a:srgbClr val="014B88"/>
                </a:solidFill>
                <a:latin typeface="Consolas" panose="020B0609020204030204" pitchFamily="49" charset="0"/>
              </a:rPr>
              <a:t>i</a:t>
            </a: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j]</a:t>
            </a: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做松弛操作</a:t>
            </a:r>
            <a:endParaRPr lang="en-US" altLang="zh-CN" sz="2700" b="1" dirty="0">
              <a:solidFill>
                <a:srgbClr val="014B88"/>
              </a:solidFill>
              <a:latin typeface="Consolas" panose="020B0609020204030204" pitchFamily="49" charset="0"/>
            </a:endParaRPr>
          </a:p>
          <a:p>
            <a:pPr marL="593725" indent="-4572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设</a:t>
            </a:r>
            <a:r>
              <a:rPr lang="en-US" altLang="zh-CN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dis[ ][ ]</a:t>
            </a: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是图的邻接矩阵，其中不存在的边权值为正无穷大。</a:t>
            </a:r>
            <a:endParaRPr lang="en-US" altLang="zh-CN" sz="2700" b="1" dirty="0">
              <a:solidFill>
                <a:srgbClr val="014B88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endParaRPr lang="zh-CN" altLang="en-US" sz="2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200" b="1" dirty="0">
                <a:ea typeface="隶书" panose="02010509060101010101" pitchFamily="49" charset="-122"/>
              </a:rPr>
              <a:t>for(k = 0; k &lt; n; k++)</a:t>
            </a:r>
            <a:endParaRPr lang="en-US" altLang="zh-CN" sz="2200" b="1" dirty="0">
              <a:ea typeface="隶书" panose="020105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200" b="1" dirty="0">
                <a:ea typeface="隶书" panose="02010509060101010101" pitchFamily="49" charset="-122"/>
              </a:rPr>
              <a:t>   for(</a:t>
            </a:r>
            <a:r>
              <a:rPr lang="en-US" altLang="zh-CN" sz="2200" b="1" dirty="0" err="1">
                <a:ea typeface="隶书" panose="02010509060101010101" pitchFamily="49" charset="-122"/>
              </a:rPr>
              <a:t>i</a:t>
            </a:r>
            <a:r>
              <a:rPr lang="en-US" altLang="zh-CN" sz="2200" b="1" dirty="0">
                <a:ea typeface="隶书" panose="02010509060101010101" pitchFamily="49" charset="-122"/>
              </a:rPr>
              <a:t> = 0; </a:t>
            </a:r>
            <a:r>
              <a:rPr lang="en-US" altLang="zh-CN" sz="2200" b="1" dirty="0" err="1">
                <a:ea typeface="隶书" panose="02010509060101010101" pitchFamily="49" charset="-122"/>
              </a:rPr>
              <a:t>i</a:t>
            </a:r>
            <a:r>
              <a:rPr lang="en-US" altLang="zh-CN" sz="2200" b="1" dirty="0">
                <a:ea typeface="隶书" panose="02010509060101010101" pitchFamily="49" charset="-122"/>
              </a:rPr>
              <a:t> &lt; n; </a:t>
            </a:r>
            <a:r>
              <a:rPr lang="en-US" altLang="zh-CN" sz="2200" b="1" dirty="0" err="1">
                <a:ea typeface="隶书" panose="02010509060101010101" pitchFamily="49" charset="-122"/>
              </a:rPr>
              <a:t>i</a:t>
            </a:r>
            <a:r>
              <a:rPr lang="en-US" altLang="zh-CN" sz="2200" b="1" dirty="0">
                <a:ea typeface="隶书" panose="02010509060101010101" pitchFamily="49" charset="-122"/>
              </a:rPr>
              <a:t>++)</a:t>
            </a:r>
            <a:endParaRPr lang="en-US" altLang="zh-CN" sz="2200" b="1" dirty="0">
              <a:ea typeface="隶书" panose="02010509060101010101" pitchFamily="49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sz="2200" b="1" dirty="0">
                <a:ea typeface="隶书" panose="02010509060101010101" pitchFamily="49" charset="-122"/>
              </a:rPr>
              <a:t>    for(j = 0; j &lt; n; </a:t>
            </a:r>
            <a:r>
              <a:rPr lang="en-US" altLang="zh-CN" sz="2200" b="1" dirty="0" err="1">
                <a:ea typeface="隶书" panose="02010509060101010101" pitchFamily="49" charset="-122"/>
              </a:rPr>
              <a:t>j++</a:t>
            </a:r>
            <a:r>
              <a:rPr lang="en-US" altLang="zh-CN" sz="2200" b="1" dirty="0">
                <a:ea typeface="隶书" panose="02010509060101010101" pitchFamily="49" charset="-122"/>
              </a:rPr>
              <a:t>)</a:t>
            </a:r>
            <a:endParaRPr lang="en-US" altLang="zh-CN" sz="2200" b="1" dirty="0">
              <a:ea typeface="隶书" panose="020105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200" b="1" dirty="0">
                <a:ea typeface="隶书" panose="02010509060101010101" pitchFamily="49" charset="-122"/>
              </a:rPr>
              <a:t>	    	if(dis[</a:t>
            </a:r>
            <a:r>
              <a:rPr lang="en-US" altLang="zh-CN" sz="2200" b="1" dirty="0" err="1">
                <a:ea typeface="隶书" panose="02010509060101010101" pitchFamily="49" charset="-122"/>
              </a:rPr>
              <a:t>i</a:t>
            </a:r>
            <a:r>
              <a:rPr lang="en-US" altLang="zh-CN" sz="2200" b="1" dirty="0">
                <a:ea typeface="隶书" panose="02010509060101010101" pitchFamily="49" charset="-122"/>
              </a:rPr>
              <a:t>][j] &gt; dis[</a:t>
            </a:r>
            <a:r>
              <a:rPr lang="en-US" altLang="zh-CN" sz="2200" b="1" dirty="0" err="1">
                <a:ea typeface="隶书" panose="02010509060101010101" pitchFamily="49" charset="-122"/>
              </a:rPr>
              <a:t>i</a:t>
            </a:r>
            <a:r>
              <a:rPr lang="en-US" altLang="zh-CN" sz="2200" b="1" dirty="0">
                <a:ea typeface="隶书" panose="02010509060101010101" pitchFamily="49" charset="-122"/>
              </a:rPr>
              <a:t>][k] + dis[k][j])</a:t>
            </a:r>
            <a:endParaRPr lang="en-US" altLang="zh-CN" sz="2200" b="1" dirty="0">
              <a:ea typeface="隶书" panose="020105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200" b="1" dirty="0">
                <a:ea typeface="隶书" panose="02010509060101010101" pitchFamily="49" charset="-122"/>
              </a:rPr>
              <a:t>	    		dis[</a:t>
            </a:r>
            <a:r>
              <a:rPr lang="en-US" altLang="zh-CN" sz="2200" b="1" dirty="0" err="1">
                <a:ea typeface="隶书" panose="02010509060101010101" pitchFamily="49" charset="-122"/>
              </a:rPr>
              <a:t>i</a:t>
            </a:r>
            <a:r>
              <a:rPr lang="en-US" altLang="zh-CN" sz="2200" b="1" dirty="0">
                <a:ea typeface="隶书" panose="02010509060101010101" pitchFamily="49" charset="-122"/>
              </a:rPr>
              <a:t>][j] = dis[</a:t>
            </a:r>
            <a:r>
              <a:rPr lang="en-US" altLang="zh-CN" sz="2200" b="1" dirty="0" err="1">
                <a:ea typeface="隶书" panose="02010509060101010101" pitchFamily="49" charset="-122"/>
              </a:rPr>
              <a:t>i</a:t>
            </a:r>
            <a:r>
              <a:rPr lang="en-US" altLang="zh-CN" sz="2200" b="1" dirty="0">
                <a:ea typeface="隶书" panose="02010509060101010101" pitchFamily="49" charset="-122"/>
              </a:rPr>
              <a:t>][k] + dis[k][j];</a:t>
            </a:r>
            <a:endParaRPr lang="en-US" altLang="zh-CN" sz="2200" b="1" dirty="0">
              <a:ea typeface="隶书" panose="02010509060101010101" pitchFamily="49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endParaRPr lang="en-US" altLang="zh-CN" sz="2200" dirty="0">
              <a:ea typeface="隶书" panose="02010509060101010101" pitchFamily="49" charset="-122"/>
            </a:endParaRPr>
          </a:p>
          <a:p>
            <a:pPr marL="593725" indent="-4572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时间复杂度 </a:t>
            </a:r>
            <a:r>
              <a:rPr lang="en-US" altLang="zh-CN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O(v^3)</a:t>
            </a:r>
            <a:endParaRPr lang="en-US" altLang="zh-CN" sz="2700" b="1" dirty="0">
              <a:solidFill>
                <a:srgbClr val="014B88"/>
              </a:solidFill>
              <a:latin typeface="Consolas" panose="020B0609020204030204" pitchFamily="49" charset="0"/>
            </a:endParaRPr>
          </a:p>
          <a:p>
            <a:pPr marL="593725" indent="-4572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700" b="1" dirty="0">
                <a:solidFill>
                  <a:srgbClr val="C00000"/>
                </a:solidFill>
                <a:latin typeface="Consolas" panose="020B0609020204030204" pitchFamily="49" charset="0"/>
              </a:rPr>
              <a:t>动态规划</a:t>
            </a:r>
            <a:r>
              <a:rPr lang="zh-CN" altLang="en-US" sz="2700" b="1" dirty="0">
                <a:solidFill>
                  <a:srgbClr val="014B88"/>
                </a:solidFill>
                <a:latin typeface="Consolas" panose="020B0609020204030204" pitchFamily="49" charset="0"/>
              </a:rPr>
              <a:t>思想的应用</a:t>
            </a:r>
            <a:r>
              <a:rPr lang="en-US" altLang="zh-CN" sz="2800" dirty="0">
                <a:latin typeface="隶书" panose="02010509060101010101" pitchFamily="49" charset="-122"/>
                <a:ea typeface="隶书" panose="02010509060101010101" pitchFamily="49" charset="-122"/>
              </a:rPr>
              <a:t>	</a:t>
            </a:r>
            <a:endParaRPr lang="en-US" altLang="zh-CN" sz="28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593725" indent="-4572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700" b="1" dirty="0">
              <a:solidFill>
                <a:srgbClr val="014B88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36"/>
          <p:cNvSpPr txBox="1"/>
          <p:nvPr/>
        </p:nvSpPr>
        <p:spPr>
          <a:xfrm>
            <a:off x="334800" y="320400"/>
            <a:ext cx="116844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Folyd</a:t>
            </a:r>
            <a:r>
              <a:rPr lang="zh-CN" altLang="en-US" sz="3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的动态规划理解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935" y="2754907"/>
            <a:ext cx="7489475" cy="556931"/>
          </a:xfrm>
          <a:prstGeom prst="rect">
            <a:avLst/>
          </a:prstGeom>
        </p:spPr>
      </p:pic>
      <p:pic>
        <p:nvPicPr>
          <p:cNvPr id="29698" name="Picture 2" descr="https://pica.zhimg.com/v2-7b8e3a9cdcf16c0ba445c33f86dcedbe_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96"/>
          <a:stretch>
            <a:fillRect/>
          </a:stretch>
        </p:blipFill>
        <p:spPr bwMode="auto">
          <a:xfrm>
            <a:off x="3429000" y="4439533"/>
            <a:ext cx="8763000" cy="232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线性动态规划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800" y="1187443"/>
            <a:ext cx="11071225" cy="3680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走楼梯问题：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每次可走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步或者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步，问有多少种到达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的方案。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最长上升子序列：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给定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个数，求这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个数的最长上升子序列的长度。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lvl="1" algn="just">
              <a:lnSpc>
                <a:spcPct val="200000"/>
              </a:lnSpc>
            </a:pPr>
            <a:endParaRPr lang="en-US" altLang="zh-CN" sz="2400" b="1" kern="100" dirty="0">
              <a:solidFill>
                <a:srgbClr val="FF0000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数</a:t>
            </a:r>
            <a:r>
              <a:rPr lang="zh-CN" altLang="en-US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划分问题</a:t>
            </a:r>
            <a:r>
              <a:rPr 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一些数，划分成两部分，使两部分和的差的绝对值最小。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sz="2400" b="1" kern="100" dirty="0">
                <a:solidFill>
                  <a:srgbClr val="FF0000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最长公共子序列</a:t>
            </a:r>
            <a:r>
              <a:rPr 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+mn-ea"/>
              </a:rPr>
              <a:t>给两个序列，求最长公共子序列的长度。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5018" y="1166843"/>
            <a:ext cx="11354262" cy="5596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状态定义：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][j] </a:t>
            </a:r>
            <a:r>
              <a:rPr lang="zh-CN" altLang="en-US" sz="2400" b="1" dirty="0">
                <a:solidFill>
                  <a:srgbClr val="014B88"/>
                </a:solidFill>
              </a:rPr>
              <a:t>表示在数组的前 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 </a:t>
            </a:r>
            <a:r>
              <a:rPr lang="zh-CN" altLang="en-US" sz="2400" b="1" dirty="0">
                <a:solidFill>
                  <a:srgbClr val="014B88"/>
                </a:solidFill>
              </a:rPr>
              <a:t>个元素中，是否可以选出若干个数，使其和恰好等于 </a:t>
            </a:r>
            <a:r>
              <a:rPr lang="en-US" altLang="zh-CN" sz="2400" b="1" dirty="0">
                <a:solidFill>
                  <a:srgbClr val="014B88"/>
                </a:solidFill>
              </a:rPr>
              <a:t>j</a:t>
            </a:r>
            <a:r>
              <a:rPr lang="zh-CN" altLang="en-US" sz="2400" b="1" dirty="0">
                <a:solidFill>
                  <a:srgbClr val="014B88"/>
                </a:solidFill>
              </a:rPr>
              <a:t>。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][j] = true</a:t>
            </a:r>
            <a:r>
              <a:rPr lang="zh-CN" altLang="en-US" sz="2400" b="1" dirty="0">
                <a:solidFill>
                  <a:srgbClr val="014B88"/>
                </a:solidFill>
              </a:rPr>
              <a:t>：表示可以用前 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 </a:t>
            </a:r>
            <a:r>
              <a:rPr lang="zh-CN" altLang="en-US" sz="2400" b="1" dirty="0">
                <a:solidFill>
                  <a:srgbClr val="014B88"/>
                </a:solidFill>
              </a:rPr>
              <a:t>个数凑出和 </a:t>
            </a:r>
            <a:r>
              <a:rPr lang="en-US" altLang="zh-CN" sz="2400" b="1" dirty="0">
                <a:solidFill>
                  <a:srgbClr val="014B88"/>
                </a:solidFill>
              </a:rPr>
              <a:t>j</a:t>
            </a:r>
            <a:r>
              <a:rPr lang="zh-CN" altLang="en-US" sz="2400" b="1" dirty="0">
                <a:solidFill>
                  <a:srgbClr val="014B88"/>
                </a:solidFill>
              </a:rPr>
              <a:t>。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][j] = false</a:t>
            </a:r>
            <a:r>
              <a:rPr lang="zh-CN" altLang="en-US" sz="2400" b="1" dirty="0">
                <a:solidFill>
                  <a:srgbClr val="014B88"/>
                </a:solidFill>
              </a:rPr>
              <a:t>：表示不能用前 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 </a:t>
            </a:r>
            <a:r>
              <a:rPr lang="zh-CN" altLang="en-US" sz="2400" b="1" dirty="0">
                <a:solidFill>
                  <a:srgbClr val="014B88"/>
                </a:solidFill>
              </a:rPr>
              <a:t>个数凑出和 </a:t>
            </a:r>
            <a:r>
              <a:rPr lang="en-US" altLang="zh-CN" sz="2400" b="1" dirty="0">
                <a:solidFill>
                  <a:srgbClr val="014B88"/>
                </a:solidFill>
              </a:rPr>
              <a:t>j</a:t>
            </a:r>
            <a:r>
              <a:rPr lang="zh-CN" altLang="en-US" sz="2400" b="1" dirty="0">
                <a:solidFill>
                  <a:srgbClr val="014B88"/>
                </a:solidFill>
              </a:rPr>
              <a:t>。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状态转移方程：对于第 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 </a:t>
            </a:r>
            <a:r>
              <a:rPr lang="zh-CN" altLang="en-US" sz="2400" b="1" dirty="0">
                <a:solidFill>
                  <a:srgbClr val="014B88"/>
                </a:solidFill>
              </a:rPr>
              <a:t>个数 </a:t>
            </a:r>
            <a:r>
              <a:rPr lang="en-US" altLang="zh-CN" sz="2400" b="1" dirty="0" err="1">
                <a:solidFill>
                  <a:srgbClr val="014B88"/>
                </a:solidFill>
              </a:rPr>
              <a:t>nums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</a:t>
            </a:r>
            <a:r>
              <a:rPr lang="zh-CN" altLang="en-US" sz="2400" b="1" dirty="0">
                <a:solidFill>
                  <a:srgbClr val="014B88"/>
                </a:solidFill>
              </a:rPr>
              <a:t>，有两种选择：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不选它：那么能否凑出和 </a:t>
            </a:r>
            <a:r>
              <a:rPr lang="en-US" altLang="zh-CN" sz="2400" b="1" dirty="0">
                <a:solidFill>
                  <a:srgbClr val="014B88"/>
                </a:solidFill>
              </a:rPr>
              <a:t>j </a:t>
            </a:r>
            <a:r>
              <a:rPr lang="zh-CN" altLang="en-US" sz="2400" b="1" dirty="0">
                <a:solidFill>
                  <a:srgbClr val="014B88"/>
                </a:solidFill>
              </a:rPr>
              <a:t>取决于前 </a:t>
            </a:r>
            <a:r>
              <a:rPr lang="en-US" altLang="zh-CN" sz="2400" b="1" dirty="0">
                <a:solidFill>
                  <a:srgbClr val="014B88"/>
                </a:solidFill>
              </a:rPr>
              <a:t>i-1 </a:t>
            </a:r>
            <a:r>
              <a:rPr lang="zh-CN" altLang="en-US" sz="2400" b="1" dirty="0">
                <a:solidFill>
                  <a:srgbClr val="014B88"/>
                </a:solidFill>
              </a:rPr>
              <a:t>个数能否凑出 </a:t>
            </a:r>
            <a:r>
              <a:rPr lang="en-US" altLang="zh-CN" sz="2400" b="1" dirty="0">
                <a:solidFill>
                  <a:srgbClr val="014B88"/>
                </a:solidFill>
              </a:rPr>
              <a:t>j</a:t>
            </a:r>
            <a:r>
              <a:rPr lang="zh-CN" altLang="en-US" sz="2400" b="1" dirty="0">
                <a:solidFill>
                  <a:srgbClr val="014B88"/>
                </a:solidFill>
              </a:rPr>
              <a:t>，即 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][j] = 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[i-1][j]</a:t>
            </a:r>
            <a:r>
              <a:rPr lang="zh-CN" altLang="en-US" sz="2400" b="1" dirty="0">
                <a:solidFill>
                  <a:srgbClr val="014B88"/>
                </a:solidFill>
              </a:rPr>
              <a:t>。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选它：前提是 </a:t>
            </a:r>
            <a:r>
              <a:rPr lang="en-US" altLang="zh-CN" sz="2400" b="1" dirty="0">
                <a:solidFill>
                  <a:srgbClr val="014B88"/>
                </a:solidFill>
              </a:rPr>
              <a:t>j &gt;= </a:t>
            </a:r>
            <a:r>
              <a:rPr lang="en-US" altLang="zh-CN" sz="2400" b="1" dirty="0" err="1">
                <a:solidFill>
                  <a:srgbClr val="014B88"/>
                </a:solidFill>
              </a:rPr>
              <a:t>nums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</a:t>
            </a:r>
            <a:r>
              <a:rPr lang="zh-CN" altLang="en-US" sz="2400" b="1" dirty="0">
                <a:solidFill>
                  <a:srgbClr val="014B88"/>
                </a:solidFill>
              </a:rPr>
              <a:t>。如果能用前 </a:t>
            </a:r>
            <a:r>
              <a:rPr lang="en-US" altLang="zh-CN" sz="2400" b="1" dirty="0">
                <a:solidFill>
                  <a:srgbClr val="014B88"/>
                </a:solidFill>
              </a:rPr>
              <a:t>i-1 </a:t>
            </a:r>
            <a:r>
              <a:rPr lang="zh-CN" altLang="en-US" sz="2400" b="1" dirty="0">
                <a:solidFill>
                  <a:srgbClr val="014B88"/>
                </a:solidFill>
              </a:rPr>
              <a:t>个数凑出 </a:t>
            </a:r>
            <a:r>
              <a:rPr lang="en-US" altLang="zh-CN" sz="2400" b="1" dirty="0">
                <a:solidFill>
                  <a:srgbClr val="014B88"/>
                </a:solidFill>
              </a:rPr>
              <a:t>j - </a:t>
            </a:r>
            <a:r>
              <a:rPr lang="en-US" altLang="zh-CN" sz="2400" b="1" dirty="0" err="1">
                <a:solidFill>
                  <a:srgbClr val="014B88"/>
                </a:solidFill>
              </a:rPr>
              <a:t>nums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</a:t>
            </a:r>
            <a:r>
              <a:rPr lang="zh-CN" altLang="en-US" sz="2400" b="1" dirty="0">
                <a:solidFill>
                  <a:srgbClr val="014B88"/>
                </a:solidFill>
              </a:rPr>
              <a:t>，那么加上 </a:t>
            </a:r>
            <a:r>
              <a:rPr lang="en-US" altLang="zh-CN" sz="2400" b="1" dirty="0" err="1">
                <a:solidFill>
                  <a:srgbClr val="014B88"/>
                </a:solidFill>
              </a:rPr>
              <a:t>nums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 </a:t>
            </a:r>
            <a:r>
              <a:rPr lang="zh-CN" altLang="en-US" sz="2400" b="1" dirty="0">
                <a:solidFill>
                  <a:srgbClr val="014B88"/>
                </a:solidFill>
              </a:rPr>
              <a:t>就能凑出 </a:t>
            </a:r>
            <a:r>
              <a:rPr lang="en-US" altLang="zh-CN" sz="2400" b="1" dirty="0">
                <a:solidFill>
                  <a:srgbClr val="014B88"/>
                </a:solidFill>
              </a:rPr>
              <a:t>j</a:t>
            </a:r>
            <a:r>
              <a:rPr lang="zh-CN" altLang="en-US" sz="2400" b="1" dirty="0">
                <a:solidFill>
                  <a:srgbClr val="014B88"/>
                </a:solidFill>
              </a:rPr>
              <a:t>，即 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][j] = 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[i-1][j - </a:t>
            </a:r>
            <a:r>
              <a:rPr lang="en-US" altLang="zh-CN" sz="2400" b="1" dirty="0" err="1">
                <a:solidFill>
                  <a:srgbClr val="014B88"/>
                </a:solidFill>
              </a:rPr>
              <a:t>nums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]]</a:t>
            </a:r>
            <a:r>
              <a:rPr lang="zh-CN" altLang="en-US" sz="2400" b="1" dirty="0">
                <a:solidFill>
                  <a:srgbClr val="014B88"/>
                </a:solidFill>
              </a:rPr>
              <a:t>。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综合起来：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][j] = 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[i-1][j] || (j &gt;= </a:t>
            </a:r>
            <a:r>
              <a:rPr lang="en-US" altLang="zh-CN" sz="2400" b="1" dirty="0" err="1">
                <a:solidFill>
                  <a:srgbClr val="014B88"/>
                </a:solidFill>
              </a:rPr>
              <a:t>nums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 &amp;&amp; </a:t>
            </a: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[i-1][j - </a:t>
            </a:r>
            <a:r>
              <a:rPr lang="en-US" altLang="zh-CN" sz="2400" b="1" dirty="0" err="1">
                <a:solidFill>
                  <a:srgbClr val="014B88"/>
                </a:solidFill>
              </a:rPr>
              <a:t>nums</a:t>
            </a:r>
            <a:r>
              <a:rPr lang="en-US" altLang="zh-CN" sz="2400" b="1" dirty="0">
                <a:solidFill>
                  <a:srgbClr val="014B88"/>
                </a:solidFill>
              </a:rPr>
              <a:t>[</a:t>
            </a:r>
            <a:r>
              <a:rPr lang="en-US" altLang="zh-CN" sz="2400" b="1" dirty="0" err="1">
                <a:solidFill>
                  <a:srgbClr val="014B88"/>
                </a:solidFill>
              </a:rPr>
              <a:t>i</a:t>
            </a:r>
            <a:r>
              <a:rPr lang="en-US" altLang="zh-CN" sz="2400" b="1" dirty="0">
                <a:solidFill>
                  <a:srgbClr val="014B88"/>
                </a:solidFill>
              </a:rPr>
              <a:t>]])</a:t>
            </a:r>
            <a:endParaRPr lang="en-US" altLang="zh-CN" sz="2400" b="1" dirty="0">
              <a:solidFill>
                <a:srgbClr val="014B88"/>
              </a:solidFill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初始化：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[0][0] = true</a:t>
            </a:r>
            <a:r>
              <a:rPr lang="zh-CN" altLang="en-US" sz="2400" b="1" dirty="0">
                <a:solidFill>
                  <a:srgbClr val="014B88"/>
                </a:solidFill>
              </a:rPr>
              <a:t>：前</a:t>
            </a:r>
            <a:r>
              <a:rPr lang="en-US" altLang="zh-CN" sz="2400" b="1" dirty="0">
                <a:solidFill>
                  <a:srgbClr val="014B88"/>
                </a:solidFill>
              </a:rPr>
              <a:t>0</a:t>
            </a:r>
            <a:r>
              <a:rPr lang="zh-CN" altLang="en-US" sz="2400" b="1" dirty="0">
                <a:solidFill>
                  <a:srgbClr val="014B88"/>
                </a:solidFill>
              </a:rPr>
              <a:t>个数可以凑出和</a:t>
            </a:r>
            <a:r>
              <a:rPr lang="en-US" altLang="zh-CN" sz="2400" b="1" dirty="0">
                <a:solidFill>
                  <a:srgbClr val="014B88"/>
                </a:solidFill>
              </a:rPr>
              <a:t>0</a:t>
            </a:r>
            <a:r>
              <a:rPr lang="zh-CN" altLang="en-US" sz="2400" b="1" dirty="0">
                <a:solidFill>
                  <a:srgbClr val="014B88"/>
                </a:solidFill>
              </a:rPr>
              <a:t>（空集）。</a:t>
            </a:r>
            <a:endParaRPr lang="zh-CN" altLang="en-US" sz="2400" b="1" dirty="0">
              <a:solidFill>
                <a:srgbClr val="014B88"/>
              </a:solidFill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 err="1">
                <a:solidFill>
                  <a:srgbClr val="014B88"/>
                </a:solidFill>
              </a:rPr>
              <a:t>dp</a:t>
            </a:r>
            <a:r>
              <a:rPr lang="en-US" altLang="zh-CN" sz="2400" b="1" dirty="0">
                <a:solidFill>
                  <a:srgbClr val="014B88"/>
                </a:solidFill>
              </a:rPr>
              <a:t>[0][j] = false (j &gt; 0)</a:t>
            </a:r>
            <a:r>
              <a:rPr lang="zh-CN" altLang="en-US" sz="2400" b="1" dirty="0">
                <a:solidFill>
                  <a:srgbClr val="014B88"/>
                </a:solidFill>
              </a:rPr>
              <a:t>：前</a:t>
            </a:r>
            <a:r>
              <a:rPr lang="en-US" altLang="zh-CN" sz="2400" b="1" dirty="0">
                <a:solidFill>
                  <a:srgbClr val="014B88"/>
                </a:solidFill>
              </a:rPr>
              <a:t>0</a:t>
            </a:r>
            <a:r>
              <a:rPr lang="zh-CN" altLang="en-US" sz="2400" b="1" dirty="0">
                <a:solidFill>
                  <a:srgbClr val="014B88"/>
                </a:solidFill>
              </a:rPr>
              <a:t>个数无法凑出任何大于</a:t>
            </a:r>
            <a:r>
              <a:rPr lang="en-US" altLang="zh-CN" sz="2400" b="1" dirty="0">
                <a:solidFill>
                  <a:srgbClr val="014B88"/>
                </a:solidFill>
              </a:rPr>
              <a:t>0</a:t>
            </a:r>
            <a:r>
              <a:rPr lang="zh-CN" altLang="en-US" sz="2400" b="1" dirty="0">
                <a:solidFill>
                  <a:srgbClr val="014B88"/>
                </a:solidFill>
              </a:rPr>
              <a:t>的和。</a:t>
            </a:r>
            <a:endParaRPr lang="zh-CN" altLang="en-US" sz="2400" b="1" dirty="0">
              <a:solidFill>
                <a:srgbClr val="014B88"/>
              </a:solidFill>
            </a:endParaRPr>
          </a:p>
        </p:txBody>
      </p:sp>
      <p:sp>
        <p:nvSpPr>
          <p:cNvPr id="3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数的划分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285749"/>
            <a:ext cx="84213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7.7 最长公共子序列（选讲）</a:t>
            </a:r>
            <a:endParaRPr lang="en-US" sz="320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100132" y="1761941"/>
            <a:ext cx="9828280" cy="3374390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【问题描述</a:t>
            </a:r>
            <a:r>
              <a:rPr lang="zh-CN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】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字符序列的子序列是指从给定字符序列中随意地（不一定连续）去掉若干个字符（可能一个也不去掉）后所形成的字符序列。</a:t>
            </a:r>
            <a:endParaRPr lang="en-US" altLang="zh-CN" sz="20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2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令给定的字符序列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序列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）是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的子序列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存在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的一个严格递增下标序列（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使得对所有的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有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i[j]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en-US" altLang="zh-CN" sz="2000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en-US" altLang="zh-CN" sz="2000" i="1" baseline="-250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</a:t>
            </a:r>
            <a:endParaRPr lang="en-US" altLang="zh-CN" sz="20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2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例如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c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c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）是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的一个子序列。</a:t>
            </a:r>
            <a:endParaRPr lang="zh-CN" altLang="zh-CN" sz="20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200"/>
              </a:lnSpc>
            </a:pPr>
            <a:r>
              <a:rPr lang="en-US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给定两个序列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称序列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Z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是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的公共子序列</a:t>
            </a:r>
            <a:r>
              <a:rPr lang="zh-CN" altLang="en-US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是指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Z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同是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的子序列。该问题是求两序列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i="1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的最长公共子序列（</a:t>
            </a:r>
            <a:r>
              <a:rPr lang="en-US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LCS</a:t>
            </a:r>
            <a:r>
              <a:rPr lang="zh-CN" altLang="zh-CN" sz="2000" dirty="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）。</a:t>
            </a:r>
            <a:endParaRPr lang="zh-CN" altLang="zh-CN" sz="2000" dirty="0">
              <a:solidFill>
                <a:srgbClr val="FF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最长公共子序列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5018" y="1166843"/>
            <a:ext cx="11354262" cy="2364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阶段（问题分解）：？</a:t>
            </a:r>
            <a:endParaRPr lang="en-US" altLang="zh-CN" sz="2400" b="1" dirty="0">
              <a:solidFill>
                <a:srgbClr val="014B88"/>
              </a:solidFill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endParaRPr lang="en-US" altLang="zh-CN" sz="2400" b="1" dirty="0">
              <a:solidFill>
                <a:srgbClr val="014B88"/>
              </a:solidFill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状态（状态表示）：？</a:t>
            </a:r>
            <a:endParaRPr lang="en-US" altLang="zh-CN" sz="2400" b="1" dirty="0">
              <a:solidFill>
                <a:srgbClr val="014B88"/>
              </a:solidFill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endParaRPr lang="en-US" altLang="zh-CN" sz="2400" b="1" dirty="0">
              <a:solidFill>
                <a:srgbClr val="014B88"/>
              </a:solidFill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14B88"/>
                </a:solidFill>
              </a:rPr>
              <a:t>决策（状态转移方程）</a:t>
            </a:r>
            <a:r>
              <a:rPr lang="zh-CN" altLang="en-US" sz="2400" b="1" dirty="0">
                <a:solidFill>
                  <a:srgbClr val="014B88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2400" b="1" dirty="0">
                <a:solidFill>
                  <a:srgbClr val="014B88"/>
                </a:solidFill>
                <a:sym typeface="Wingdings" panose="05000000000000000000" pitchFamily="2" charset="2"/>
              </a:rPr>
              <a:t>?</a:t>
            </a:r>
            <a:endParaRPr lang="zh-CN" altLang="en-US" sz="2400" b="1" dirty="0">
              <a:solidFill>
                <a:srgbClr val="014B88"/>
              </a:solidFill>
            </a:endParaRPr>
          </a:p>
        </p:txBody>
      </p:sp>
      <p:sp>
        <p:nvSpPr>
          <p:cNvPr id="3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最长公共子序列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588403" y="1890235"/>
            <a:ext cx="8643998" cy="1061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algn="ctr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【问题求解】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若设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设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Z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z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）为它们的最长公共子序列。不难证明有以下性质：</a:t>
            </a:r>
            <a:endParaRPr lang="zh-CN" altLang="zh-CN" sz="20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588403" y="3237816"/>
            <a:ext cx="8501122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Blip>
                <a:blip r:embed="rId1"/>
              </a:buBlip>
            </a:pP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如果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=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则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=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=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且（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-2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）是（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-2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）和（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-2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）的一个最长公共子序列。</a:t>
            </a:r>
            <a:endParaRPr lang="zh-CN" altLang="zh-CN" sz="20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Blip>
                <a:blip r:embed="rId1"/>
              </a:buBlip>
            </a:pP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如果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≠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且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≠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，则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）是（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-2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）和（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）的一个最长公共子序列。</a:t>
            </a:r>
            <a:endParaRPr lang="zh-CN" altLang="zh-CN" sz="20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Blip>
                <a:blip r:embed="rId1"/>
              </a:buBlip>
            </a:pP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如果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≠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且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≠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，则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z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）是（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m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）和（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-2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）的一个最长公共子序列。</a:t>
            </a:r>
            <a:endParaRPr lang="zh-CN" altLang="zh-CN" sz="20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最长公共子序列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016000" y="1797784"/>
            <a:ext cx="10010066" cy="12117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algn="ctr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定义二维动态规划数组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dp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其中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dp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i="1" dirty="0" err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][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为子序列（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）和（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 baseline="-25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）的最长公共子序列的长度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</a:t>
            </a:r>
            <a:endParaRPr lang="en-US" altLang="zh-CN" sz="20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每考虑一个字符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或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都为动态规划的一个阶段（共经历约</a:t>
            </a:r>
            <a:r>
              <a:rPr lang="en-US" altLang="zh-CN" sz="2000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×</a:t>
            </a:r>
            <a:r>
              <a:rPr lang="en-US" altLang="zh-CN" sz="2000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个阶段）。</a:t>
            </a:r>
            <a:endParaRPr lang="zh-CN" altLang="zh-CN" sz="20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73189" y="3750402"/>
            <a:ext cx="3000396" cy="2214578"/>
            <a:chOff x="714348" y="2428868"/>
            <a:chExt cx="3000396" cy="2214578"/>
          </a:xfrm>
        </p:grpSpPr>
        <p:sp>
          <p:nvSpPr>
            <p:cNvPr id="9" name="TextBox 4"/>
            <p:cNvSpPr txBox="1"/>
            <p:nvPr/>
          </p:nvSpPr>
          <p:spPr>
            <a:xfrm>
              <a:off x="714348" y="3212427"/>
              <a:ext cx="28575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zh-CN" altLang="zh-CN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（</a:t>
              </a:r>
              <a:r>
                <a:rPr lang="en-US" altLang="zh-CN" sz="22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0</a:t>
              </a:r>
              <a:r>
                <a:rPr lang="zh-CN" altLang="en-US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r>
                <a:rPr lang="zh-CN" altLang="en-US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…</a:t>
              </a:r>
              <a:r>
                <a:rPr lang="zh-CN" altLang="en-US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200" i="1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-1</a:t>
              </a:r>
              <a:r>
                <a:rPr lang="zh-CN" altLang="zh-CN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）</a:t>
              </a:r>
              <a:endParaRPr lang="zh-CN" alt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TextBox 5"/>
            <p:cNvSpPr txBox="1"/>
            <p:nvPr/>
          </p:nvSpPr>
          <p:spPr>
            <a:xfrm>
              <a:off x="714348" y="4212559"/>
              <a:ext cx="26432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zh-CN" altLang="zh-CN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（</a:t>
              </a:r>
              <a:r>
                <a:rPr lang="en-US" altLang="zh-CN" sz="22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0</a:t>
              </a:r>
              <a:r>
                <a:rPr lang="zh-CN" altLang="en-US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r>
                <a:rPr lang="zh-CN" altLang="en-US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…</a:t>
              </a:r>
              <a:r>
                <a:rPr lang="zh-CN" altLang="en-US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2200" i="1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lang="en-US" altLang="zh-CN" sz="2200" baseline="-25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-1</a:t>
              </a:r>
              <a:r>
                <a:rPr lang="zh-CN" altLang="zh-CN" sz="22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）</a:t>
              </a:r>
              <a:endParaRPr lang="zh-CN" alt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TextBox 7"/>
            <p:cNvSpPr txBox="1"/>
            <p:nvPr/>
          </p:nvSpPr>
          <p:spPr>
            <a:xfrm>
              <a:off x="714348" y="2428868"/>
              <a:ext cx="30003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情况</a:t>
              </a:r>
              <a:r>
                <a:rPr lang="en-US" altLang="zh-CN" sz="200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r>
                <a:rPr lang="zh-CN" altLang="en-US" sz="200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</a:t>
              </a:r>
              <a:r>
                <a:rPr lang="en-US" altLang="zh-CN" sz="2000" i="1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a</a:t>
              </a:r>
              <a:r>
                <a:rPr lang="en-US" altLang="zh-CN" sz="200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[</a:t>
              </a:r>
              <a:r>
                <a:rPr lang="en-US" altLang="zh-CN" sz="2000" i="1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</a:t>
              </a:r>
              <a:r>
                <a:rPr lang="en-US" altLang="zh-CN" sz="200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-1]=</a:t>
              </a:r>
              <a:r>
                <a:rPr lang="en-US" altLang="zh-CN" sz="2000" i="1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b</a:t>
              </a:r>
              <a:r>
                <a:rPr lang="en-US" altLang="zh-CN" sz="200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[</a:t>
              </a:r>
              <a:r>
                <a:rPr lang="en-US" altLang="zh-CN" sz="2000" i="1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j</a:t>
              </a:r>
              <a:r>
                <a:rPr lang="en-US" altLang="zh-CN" sz="200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-1]</a:t>
              </a:r>
              <a:endParaRPr lang="zh-CN" altLang="en-US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rot="5400000">
              <a:off x="2515379" y="3964785"/>
              <a:ext cx="642942" cy="0"/>
            </a:xfrm>
            <a:prstGeom prst="line">
              <a:avLst/>
            </a:prstGeom>
            <a:ln w="57150" cmpd="dbl">
              <a:solidFill>
                <a:srgbClr val="9900FF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4230709" y="5048986"/>
            <a:ext cx="4143404" cy="415928"/>
            <a:chOff x="3571868" y="3727452"/>
            <a:chExt cx="4143404" cy="415928"/>
          </a:xfrm>
        </p:grpSpPr>
        <p:sp>
          <p:nvSpPr>
            <p:cNvPr id="7" name="TextBox 6"/>
            <p:cNvSpPr txBox="1"/>
            <p:nvPr/>
          </p:nvSpPr>
          <p:spPr>
            <a:xfrm>
              <a:off x="4286248" y="3727452"/>
              <a:ext cx="342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nb-NO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dp[</a:t>
              </a:r>
              <a:r>
                <a:rPr lang="nb-NO" altLang="zh-CN" sz="20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nb-NO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][</a:t>
              </a:r>
              <a:r>
                <a:rPr lang="nb-NO" altLang="zh-CN" sz="20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lang="nb-NO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]=dp[</a:t>
              </a:r>
              <a:r>
                <a:rPr lang="nb-NO" altLang="zh-CN" sz="20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nb-NO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-1][</a:t>
              </a:r>
              <a:r>
                <a:rPr lang="nb-NO" altLang="zh-CN" sz="20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lang="nb-NO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-1]+1</a:t>
              </a:r>
              <a:endParaRPr lang="zh-CN" altLang="en-US" sz="20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右箭头 11"/>
            <p:cNvSpPr/>
            <p:nvPr/>
          </p:nvSpPr>
          <p:spPr>
            <a:xfrm>
              <a:off x="3571868" y="3786190"/>
              <a:ext cx="571504" cy="35719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3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最长公共子序列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32155" y="1803680"/>
            <a:ext cx="9694416" cy="12117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algn="ctr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定义二维动态规划数组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dp</a:t>
            </a:r>
            <a:r>
              <a: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其中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dp[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][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为子序列（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）和（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）的最长公共子序列的长度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每考虑一个字符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或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都为动态规划的一个阶段（共经历约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×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个阶段）。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1462882" y="3827736"/>
            <a:ext cx="3000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r>
              <a:rPr lang="zh-CN" altLang="en-US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情况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en-US" altLang="zh-CN" sz="2000" i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-US" altLang="zh-CN" sz="2000" i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-1]≠</a:t>
            </a:r>
            <a:r>
              <a:rPr lang="en-US" altLang="zh-CN" sz="2000" i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-US" altLang="zh-CN" sz="2000" i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-1]</a:t>
            </a:r>
            <a:endParaRPr lang="zh-CN" altLang="en-US" sz="200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820468" y="5101478"/>
            <a:ext cx="5429256" cy="369332"/>
            <a:chOff x="3571868" y="3774048"/>
            <a:chExt cx="5429256" cy="369332"/>
          </a:xfrm>
        </p:grpSpPr>
        <p:sp>
          <p:nvSpPr>
            <p:cNvPr id="15" name="TextBox 6"/>
            <p:cNvSpPr txBox="1"/>
            <p:nvPr/>
          </p:nvSpPr>
          <p:spPr>
            <a:xfrm>
              <a:off x="4143372" y="3774048"/>
              <a:ext cx="4857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dp[</a:t>
              </a:r>
              <a:r>
                <a:rPr lang="nb-NO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][</a:t>
              </a:r>
              <a:r>
                <a:rPr lang="nb-NO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]=</a:t>
              </a:r>
              <a:r>
                <a:rPr lang="nb-NO" altLang="zh-CN" sz="1800">
                  <a:solidFill>
                    <a:srgbClr val="C0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MAX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(dp[</a:t>
              </a:r>
              <a:r>
                <a:rPr lang="nb-NO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][</a:t>
              </a:r>
              <a:r>
                <a:rPr lang="nb-NO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-1]</a:t>
              </a:r>
              <a:r>
                <a:rPr lang="zh-CN" altLang="en-US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dp[</a:t>
              </a:r>
              <a:r>
                <a:rPr lang="nb-NO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-1][</a:t>
              </a:r>
              <a:r>
                <a:rPr lang="nb-NO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lang="nb-NO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])</a:t>
              </a:r>
              <a:endParaRPr lang="zh-CN" altLang="en-US" sz="18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右箭头 11"/>
            <p:cNvSpPr/>
            <p:nvPr/>
          </p:nvSpPr>
          <p:spPr>
            <a:xfrm>
              <a:off x="3571868" y="3786190"/>
              <a:ext cx="571504" cy="35719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48634" y="4542116"/>
            <a:ext cx="2895620" cy="1247784"/>
            <a:chOff x="500034" y="3214686"/>
            <a:chExt cx="2895620" cy="1247784"/>
          </a:xfrm>
        </p:grpSpPr>
        <p:cxnSp>
          <p:nvCxnSpPr>
            <p:cNvPr id="12" name="直接箭头连接符 11"/>
            <p:cNvCxnSpPr/>
            <p:nvPr/>
          </p:nvCxnSpPr>
          <p:spPr>
            <a:xfrm rot="5400000">
              <a:off x="2227246" y="3740152"/>
              <a:ext cx="747718" cy="630242"/>
            </a:xfrm>
            <a:prstGeom prst="straightConnector1">
              <a:avLst/>
            </a:prstGeom>
            <a:ln w="28575">
              <a:solidFill>
                <a:srgbClr val="0066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500034" y="4462470"/>
              <a:ext cx="1928826" cy="0"/>
            </a:xfrm>
            <a:prstGeom prst="line">
              <a:avLst/>
            </a:prstGeom>
            <a:ln w="28575">
              <a:solidFill>
                <a:srgbClr val="006600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椭圆 13"/>
            <p:cNvSpPr/>
            <p:nvPr/>
          </p:nvSpPr>
          <p:spPr>
            <a:xfrm>
              <a:off x="2895588" y="3214686"/>
              <a:ext cx="500066" cy="5000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748634" y="5042182"/>
            <a:ext cx="2895620" cy="1201746"/>
            <a:chOff x="500034" y="3714752"/>
            <a:chExt cx="2895620" cy="1201746"/>
          </a:xfrm>
        </p:grpSpPr>
        <p:cxnSp>
          <p:nvCxnSpPr>
            <p:cNvPr id="9" name="直接箭头连接符 8"/>
            <p:cNvCxnSpPr>
              <a:stCxn id="11" idx="1"/>
            </p:cNvCxnSpPr>
            <p:nvPr/>
          </p:nvCxnSpPr>
          <p:spPr>
            <a:xfrm rot="16200000" flipV="1">
              <a:off x="2330435" y="3851278"/>
              <a:ext cx="774913" cy="501861"/>
            </a:xfrm>
            <a:prstGeom prst="straightConnector1">
              <a:avLst/>
            </a:prstGeom>
            <a:ln w="28575">
              <a:solidFill>
                <a:srgbClr val="0066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00034" y="3719514"/>
              <a:ext cx="1928826" cy="0"/>
            </a:xfrm>
            <a:prstGeom prst="line">
              <a:avLst/>
            </a:prstGeom>
            <a:ln w="28575">
              <a:solidFill>
                <a:srgbClr val="006600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2895588" y="4416432"/>
              <a:ext cx="500066" cy="5000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17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最长公共子序列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58624" y="1855769"/>
            <a:ext cx="8461405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algn="ctr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dp[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][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为子序列（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i="1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）和（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 sz="2000" baseline="-25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）的最长公共子序列的长度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对应的状态转移方程如下：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04659" y="3652056"/>
            <a:ext cx="7532712" cy="1942281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 w="38100" algn="ctr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lIns="180000" tIns="180000" bIns="18000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dp[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]=0				  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=0</a:t>
            </a:r>
            <a:r>
              <a:rPr lang="zh-CN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或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=0</a:t>
            </a:r>
            <a:r>
              <a:rPr lang="zh-CN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―边界条件</a:t>
            </a:r>
            <a:endParaRPr lang="zh-CN" altLang="zh-CN" sz="1800">
              <a:solidFill>
                <a:srgbClr val="00B0F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dp[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]=dp[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-1]+1		  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[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-1]=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[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</a:t>
            </a:r>
            <a:endParaRPr lang="zh-CN" altLang="zh-CN" sz="1800">
              <a:solidFill>
                <a:srgbClr val="00B0F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dp[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]=MAX(dp[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dp[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-1][</a:t>
            </a:r>
            <a:r>
              <a:rPr lang="nb-NO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])	  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a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[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</a:t>
            </a:r>
            <a:r>
              <a:rPr lang="zh-CN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≠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[</a:t>
            </a:r>
            <a:r>
              <a:rPr lang="nb-NO" altLang="zh-CN" sz="18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j</a:t>
            </a:r>
            <a:r>
              <a:rPr lang="nb-NO" altLang="zh-CN" sz="18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-1]</a:t>
            </a:r>
            <a:endParaRPr lang="zh-CN" altLang="zh-CN" sz="1800">
              <a:solidFill>
                <a:srgbClr val="00B0F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833221" y="5951527"/>
            <a:ext cx="5214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显然</a:t>
            </a:r>
            <a:r>
              <a: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dp[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为最终结果。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最长公共子序列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区间动态规划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石子合并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7869" y="1060324"/>
            <a:ext cx="10963922" cy="5021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设有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堆石子排成一排，其编号为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…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。每堆石子有一定的质量，可以用一个整数来描述，现在要将这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堆石子合并成为一堆。每次只能合并相邻的两堆，合并的代价为这两堆石子的质量之和，合并后与这两堆石子相邻的石子将和新堆相邻，合并时由于选择的顺序不同，合并的总代价也不相同。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例如有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4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堆石子分别为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1 3 5 2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 我们可以先合并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2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堆，代价为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，得到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4 5 2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 又合并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2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堆，代价为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9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，得到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9 2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，再合并得到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11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，总代价为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4+9+11=24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；如果第二步是先合并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3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堆，则代价为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7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，得到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4 7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，最后一次合并代价为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11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，总代价为 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4+7+11=22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。问题是：找出一种合理的方法，使总的代价最小，输出最小代价。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7869" y="6082148"/>
            <a:ext cx="10963922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C00000"/>
                </a:solidFill>
                <a:latin typeface="仿宋_GB2312"/>
                <a:cs typeface="Times New Roman" panose="02020603050405020304" pitchFamily="18" charset="0"/>
              </a:rPr>
              <a:t>区间动态规划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：大区间转为小区间，大区间的解由小区间的解合并而来。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区间动态规划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石子合并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7869" y="1060324"/>
            <a:ext cx="10963922" cy="280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阶段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决策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548" y="2659571"/>
            <a:ext cx="6972658" cy="38165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状态压缩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DP 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炮兵阵地问题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 descr="https://vj.csgrandeur.cn/ba1d4fa736b99550a7ee43784c287df9?v=167979418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55" y="1793290"/>
            <a:ext cx="3351720" cy="2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991610" y="836295"/>
            <a:ext cx="7936865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200000"/>
              </a:lnSpc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一个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N*M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的地图由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N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行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M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列组成，地图的每一格可能是山地（用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“H” 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表示），也可能是平原（用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“P”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），如下图。在每一格平原地形上最多可以布置一支炮兵部队（山地上不能够部署炮兵部队）；一支炮兵部队在地图上的攻击范围如图中黑色区域所示。问最多放多少炮兵部队，在防止误伤的前提下（保证任何两支炮兵部队之间不能互相攻击）。</a:t>
            </a:r>
            <a:endParaRPr lang="zh-CN" altLang="en-US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654" y="749276"/>
            <a:ext cx="11759546" cy="6108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200000"/>
              </a:lnSpc>
            </a:pP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【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解析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】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可以发现，对于每一行放大炮的状态，只与它上面一行和上上一行的状态有关，每一行用状态压缩的表示方法，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0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表示不放大炮，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表示放大炮，同样的，先要满足硬件条件，即有的地方不能放大炮，然后就是每一行中不能有两个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的距离小于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（保证横着不互相攻击），这些要预先处理一下。然后就是状态表示和转移的问题了，因为是和前两行的状态有关，所以要开个三维的数组来表示状态，当前行的状态可由前两行的状态转移而来。即如果当前行的状态符合前两行的约束条件（不和前两行的大炮互相攻击），则当前行的最大值就是上一个状态的值加上当前状态中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的个数（当前行放大炮的个数） </a:t>
            </a:r>
            <a:endParaRPr lang="zh-CN" altLang="en-US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【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状态表示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】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][j][k] 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表示第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行状态为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k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，第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i-1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行状态为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j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时的最大炮兵个数。 </a:t>
            </a:r>
            <a:endParaRPr lang="zh-CN" altLang="en-US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【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状态转移方程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】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][k][t] =max(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][k][t],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[i-1][j][k]+num[t]); num[t]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为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t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状态中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的个数 </a:t>
            </a:r>
            <a:endParaRPr lang="zh-CN" altLang="en-US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【DP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边界条件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】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[1][1][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 =num[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] 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能够满足第一行的硬件条件（注意：这里的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指的是第</a:t>
            </a:r>
            <a:r>
              <a:rPr lang="en-US" altLang="zh-CN" b="1" kern="100" dirty="0" err="1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i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个状态，不是一个二进制数，开一个数组保存二进制状态）</a:t>
            </a:r>
            <a:endParaRPr lang="en-US" altLang="zh-CN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状态压缩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DP</a:t>
            </a:r>
            <a:r>
              <a:rPr lang="zh-CN" altLang="en-US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参考：</a:t>
            </a:r>
            <a:r>
              <a:rPr lang="en-US" altLang="zh-CN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https://blog.csdn.net/accry/article/details/6607703</a:t>
            </a:r>
            <a:endParaRPr lang="en-US" altLang="zh-CN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状态压缩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DP |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炮兵阵地问题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096392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树形动态规划是一种利用树状结构进行动态规划求解的算法技巧。在树形动态规划中，我们一般通过遍历树的节点，利用动态规划的思想，对每个节点进行状态的更新和维护。这种方法可以高效地处理树形结构中的各种问题，如最大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/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最小路径和、最长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/</a:t>
            </a: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</a:rPr>
              <a:t>最短路径等。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树形动态规划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DAG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的动态规划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9395" y="1253331"/>
            <a:ext cx="1096392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空间、时间的一般优化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单调队列优化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斜率优化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四边形不等式优化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插头</a:t>
            </a:r>
            <a:r>
              <a:rPr lang="en-US" altLang="zh-CN" sz="2400" b="1" kern="100" dirty="0">
                <a:solidFill>
                  <a:srgbClr val="014B88"/>
                </a:solidFill>
                <a:latin typeface="仿宋_GB2312"/>
                <a:cs typeface="Times New Roman" panose="02020603050405020304" pitchFamily="18" charset="0"/>
                <a:sym typeface="Wingdings" panose="05000000000000000000" pitchFamily="2" charset="2"/>
              </a:rPr>
              <a:t>DP</a:t>
            </a: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b="1" kern="100" dirty="0">
              <a:solidFill>
                <a:srgbClr val="014B88"/>
              </a:solidFill>
              <a:latin typeface="仿宋_GB231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TextBox 36"/>
          <p:cNvSpPr txBox="1"/>
          <p:nvPr/>
        </p:nvSpPr>
        <p:spPr>
          <a:xfrm>
            <a:off x="334800" y="320400"/>
            <a:ext cx="11684480" cy="65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动态规划优化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7794</Words>
  <Application>WPS 演示</Application>
  <PresentationFormat>宽屏</PresentationFormat>
  <Paragraphs>470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7" baseType="lpstr">
      <vt:lpstr>Arial</vt:lpstr>
      <vt:lpstr>宋体</vt:lpstr>
      <vt:lpstr>Wingdings</vt:lpstr>
      <vt:lpstr>Calibri</vt:lpstr>
      <vt:lpstr>微软雅黑</vt:lpstr>
      <vt:lpstr>Times New Roman</vt:lpstr>
      <vt:lpstr>仿宋_GB2312</vt:lpstr>
      <vt:lpstr>仿宋</vt:lpstr>
      <vt:lpstr>Arial Unicode MS</vt:lpstr>
      <vt:lpstr>等线</vt:lpstr>
      <vt:lpstr>Consolas</vt:lpstr>
      <vt:lpstr>Cambria Math</vt:lpstr>
      <vt:lpstr>MS Mincho</vt:lpstr>
      <vt:lpstr>隶书</vt:lpstr>
      <vt:lpstr>Wingdings 2</vt:lpstr>
      <vt:lpstr>Segoe Print</vt:lpstr>
      <vt:lpstr>Noto Sans SC</vt:lpstr>
      <vt:lpstr>Noto Sans SC</vt:lpstr>
      <vt:lpstr>楷体_GB2312</vt:lpstr>
      <vt:lpstr>新宋体</vt:lpstr>
      <vt:lpstr>楷体</vt:lpstr>
      <vt:lpstr>Wingdings</vt:lpstr>
      <vt:lpstr>HarmonyOS Sans</vt:lpstr>
      <vt:lpstr>Hack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zmk</dc:creator>
  <cp:lastModifiedBy>赵满坤</cp:lastModifiedBy>
  <cp:revision>188</cp:revision>
  <dcterms:created xsi:type="dcterms:W3CDTF">2023-08-09T12:44:00Z</dcterms:created>
  <dcterms:modified xsi:type="dcterms:W3CDTF">2026-05-15T08:08:14Z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00F91BE677834532AC7F41A2FC0858AF_13</vt:lpwstr>
  </property>
  <property fmtid="{D5CDD505-2E9C-101B-9397-08002B2CF9AE}" pid="3" name="KSOProductBuildVer">
    <vt:lpwstr>2052-12.1.0.23542</vt:lpwstr>
  </property>
</Properties>
</file>