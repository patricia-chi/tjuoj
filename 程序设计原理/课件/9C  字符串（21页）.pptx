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687" r:id="rId4"/>
    <p:sldId id="688" r:id="rId6"/>
    <p:sldId id="689" r:id="rId7"/>
    <p:sldId id="570" r:id="rId8"/>
    <p:sldId id="690" r:id="rId9"/>
    <p:sldId id="691" r:id="rId10"/>
    <p:sldId id="692" r:id="rId11"/>
    <p:sldId id="693" r:id="rId12"/>
    <p:sldId id="571" r:id="rId13"/>
    <p:sldId id="694" r:id="rId14"/>
    <p:sldId id="695" r:id="rId15"/>
    <p:sldId id="696" r:id="rId16"/>
    <p:sldId id="697" r:id="rId17"/>
    <p:sldId id="569" r:id="rId18"/>
    <p:sldId id="572" r:id="rId19"/>
    <p:sldId id="575" r:id="rId20"/>
    <p:sldId id="573" r:id="rId21"/>
    <p:sldId id="580" r:id="rId22"/>
    <p:sldId id="581" r:id="rId23"/>
    <p:sldId id="576" r:id="rId24"/>
    <p:sldId id="577" r:id="rId25"/>
  </p:sldIdLst>
  <p:sldSz cx="9144000" cy="6858000" type="screen4x3"/>
  <p:notesSz cx="6858000" cy="9144000"/>
  <p:custShowLst>
    <p:custShow name="Custom Show 1" id="0">
      <p:sldLst/>
    </p:custShow>
  </p:custShowLst>
  <p:custDataLst>
    <p:tags r:id="rId29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29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11B89CE-209D-46B2-A469-C2525224BD23}" styleName="补充样式1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1"/>
              </a:solidFill>
              <a:prstDash val="solid"/>
            </a:ln>
          </a:top>
          <a:bottom>
            <a:ln w="1905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lastCol>
      <a:tcTxStyle b="on">
        <a:fontRef idx="none">
          <a:schemeClr val="accent1"/>
        </a:fontRef>
      </a:tcTxStyle>
      <a:tcStyle>
        <a:tcBdr/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accent1"/>
        </a:fontRef>
      </a:tcTxStyle>
      <a:tcStyle>
        <a:tcBdr/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Row>
  </a:tblStyle>
  <a:tblStyle styleId="{6DE6EFBA-7F98-4D5B-BD46-42EC8BBA6A69}" styleName="补充样式1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dk1"/>
              </a:solidFill>
              <a:prstDash val="solid"/>
            </a:ln>
          </a:top>
          <a:bottom>
            <a:ln w="1905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dk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dk1">
              <a:alpha val="25000"/>
              <a:lumMod val="40000"/>
              <a:lumOff val="60000"/>
            </a:schemeClr>
          </a:solidFill>
        </a:fill>
      </a:tcStyle>
    </a:band1V>
    <a:lastCol>
      <a:tcTxStyle b="on">
        <a:fontRef idx="none">
          <a:schemeClr val="dk1"/>
        </a:fontRef>
      </a:tcTxStyle>
      <a:tcStyle>
        <a:tcBdr/>
        <a:fill>
          <a:solidFill>
            <a:schemeClr val="dk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dk1"/>
        </a:fontRef>
      </a:tcTxStyle>
      <a:tcStyle>
        <a:tcBdr/>
        <a:fill>
          <a:solidFill>
            <a:schemeClr val="dk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1347"/>
    <p:restoredTop sz="90929"/>
  </p:normalViewPr>
  <p:slideViewPr>
    <p:cSldViewPr showGuides="1">
      <p:cViewPr varScale="1">
        <p:scale>
          <a:sx n="90" d="100"/>
          <a:sy n="90" d="100"/>
        </p:scale>
        <p:origin x="378" y="39"/>
      </p:cViewPr>
      <p:guideLst>
        <p:guide orient="horz" pos="829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3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>
              <a:buNone/>
            </a:pPr>
            <a:fld id="{9A0DB2DC-4C9A-4742-B13C-FB6460FD3503}" type="slidenum">
              <a:rPr lang="en-CA" altLang="zh-CN" dirty="0"/>
            </a:fld>
            <a:endParaRPr lang="en-CA" altLang="zh-CN" dirty="0"/>
          </a:p>
        </p:txBody>
      </p:sp>
      <p:sp>
        <p:nvSpPr>
          <p:cNvPr id="11267" name="Rectangle 102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1268" name="Rectangle 1027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>
              <a:buNone/>
            </a:pPr>
            <a:fld id="{9A0DB2DC-4C9A-4742-B13C-FB6460FD3503}" type="slidenum">
              <a:rPr lang="en-CA" altLang="zh-CN" dirty="0"/>
            </a:fld>
            <a:endParaRPr lang="en-CA" altLang="zh-CN" dirty="0"/>
          </a:p>
        </p:txBody>
      </p:sp>
      <p:sp>
        <p:nvSpPr>
          <p:cNvPr id="13315" name="Rectangle 102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13316" name="Rectangle 1027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D:/&#35838;&#31243;&#35838;&#20214;&#21450;&#36164;&#26009;/C++/25261&#35838;&#20214;/http:/www.tju.edu.cn/yx/images/badge.gif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9"/>
          <p:cNvGrpSpPr/>
          <p:nvPr/>
        </p:nvGrpSpPr>
        <p:grpSpPr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13" name="Rectangle 18"/>
            <p:cNvSpPr>
              <a:spLocks noChangeArrowheads="1"/>
            </p:cNvSpPr>
            <p:nvPr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4" name="Rectangle 28"/>
            <p:cNvSpPr>
              <a:spLocks noChangeArrowheads="1"/>
            </p:cNvSpPr>
            <p:nvPr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5" name="Rectangle 17"/>
          <p:cNvSpPr>
            <a:spLocks noChangeArrowheads="1"/>
          </p:cNvSpPr>
          <p:nvPr/>
        </p:nvSpPr>
        <p:spPr bwMode="gray">
          <a:xfrm>
            <a:off x="1130300" y="3141663"/>
            <a:ext cx="8013700" cy="574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gray">
          <a:xfrm>
            <a:off x="573088" y="2520950"/>
            <a:ext cx="576263" cy="64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gray">
          <a:xfrm>
            <a:off x="1716088" y="628650"/>
            <a:ext cx="566738" cy="63658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gray">
          <a:xfrm>
            <a:off x="2278063" y="0"/>
            <a:ext cx="585788" cy="635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gray">
          <a:xfrm>
            <a:off x="2281238" y="628650"/>
            <a:ext cx="585788" cy="631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0" name="Rectangle 23"/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gray">
          <a:xfrm>
            <a:off x="1716088" y="1263650"/>
            <a:ext cx="566738" cy="62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gray">
          <a:xfrm>
            <a:off x="573088" y="1885950"/>
            <a:ext cx="576263" cy="64452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gray">
          <a:xfrm>
            <a:off x="1141413" y="1885950"/>
            <a:ext cx="576263" cy="644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4" name="Rectangle 27"/>
          <p:cNvSpPr>
            <a:spLocks noChangeArrowheads="1"/>
          </p:cNvSpPr>
          <p:nvPr/>
        </p:nvSpPr>
        <p:spPr bwMode="gray">
          <a:xfrm>
            <a:off x="0" y="2528888"/>
            <a:ext cx="574675" cy="6334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2061" name="Picture 30" descr="http://www.tju.edu.cn/yx/images/badge.g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4400" i="1">
                <a:latin typeface="Verdana" panose="020B060403050404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7900988" y="0"/>
            <a:ext cx="1243013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C++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字符串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36000" y="6537325"/>
            <a:ext cx="5064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86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636000" y="6537325"/>
            <a:ext cx="5064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坐标测量与定位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636000" y="6537325"/>
            <a:ext cx="5064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坐标测量与定位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7488" y="457200"/>
            <a:ext cx="2057400" cy="5916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457200"/>
            <a:ext cx="6019800" cy="5916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636000" y="6537325"/>
            <a:ext cx="5064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坐标测量与定位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5288" y="457200"/>
            <a:ext cx="8229600" cy="5916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8636000" y="6537325"/>
            <a:ext cx="5064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坐标测量与定位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9"/>
          <p:cNvGrpSpPr/>
          <p:nvPr/>
        </p:nvGrpSpPr>
        <p:grpSpPr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13" name="Rectangle 18"/>
            <p:cNvSpPr>
              <a:spLocks noChangeArrowheads="1"/>
            </p:cNvSpPr>
            <p:nvPr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4" name="Rectangle 28"/>
            <p:cNvSpPr>
              <a:spLocks noChangeArrowheads="1"/>
            </p:cNvSpPr>
            <p:nvPr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5" name="Rectangle 17"/>
          <p:cNvSpPr>
            <a:spLocks noChangeArrowheads="1"/>
          </p:cNvSpPr>
          <p:nvPr/>
        </p:nvSpPr>
        <p:spPr bwMode="gray">
          <a:xfrm>
            <a:off x="1130300" y="3141663"/>
            <a:ext cx="8013700" cy="574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gray">
          <a:xfrm>
            <a:off x="573088" y="2520950"/>
            <a:ext cx="576263" cy="64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gray">
          <a:xfrm>
            <a:off x="1716088" y="628650"/>
            <a:ext cx="566738" cy="63658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gray">
          <a:xfrm>
            <a:off x="2278063" y="0"/>
            <a:ext cx="585788" cy="635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gray">
          <a:xfrm>
            <a:off x="2281238" y="628650"/>
            <a:ext cx="585788" cy="631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0" name="Rectangle 23"/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gray">
          <a:xfrm>
            <a:off x="1716088" y="1263650"/>
            <a:ext cx="566738" cy="62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gray">
          <a:xfrm>
            <a:off x="573088" y="1885950"/>
            <a:ext cx="576263" cy="64452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gray">
          <a:xfrm>
            <a:off x="1141413" y="1885950"/>
            <a:ext cx="576263" cy="644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4" name="Rectangle 27"/>
          <p:cNvSpPr>
            <a:spLocks noChangeArrowheads="1"/>
          </p:cNvSpPr>
          <p:nvPr/>
        </p:nvSpPr>
        <p:spPr bwMode="gray">
          <a:xfrm>
            <a:off x="0" y="2528888"/>
            <a:ext cx="574675" cy="6334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2061" name="Picture 30" descr="http://www.tju.edu.cn/yx/images/badge.g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4400" i="1">
                <a:latin typeface="Verdana" panose="020B060403050404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7900988" y="0"/>
            <a:ext cx="1243013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C++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字符串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36000" y="6537325"/>
            <a:ext cx="5064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86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  <a:ea typeface="+mn-ea"/>
              <a:cs typeface="楷体_GB231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636000" y="6537325"/>
            <a:ext cx="5064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坐标测量与定位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636000" y="6537325"/>
            <a:ext cx="5064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坐标测量与定位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7488" y="457200"/>
            <a:ext cx="2057400" cy="5916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457200"/>
            <a:ext cx="6019800" cy="5916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636000" y="6537325"/>
            <a:ext cx="5064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坐标测量与定位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5288" y="457200"/>
            <a:ext cx="8229600" cy="5916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8636000" y="6537325"/>
            <a:ext cx="506413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>
              <a:buNone/>
            </a:pPr>
            <a:fld id="{9A0DB2DC-4C9A-4742-B13C-FB6460FD3503}" type="slidenum">
              <a:rPr lang="en-US" altLang="zh-CN" dirty="0"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dirty="0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坐标测量与定位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D:/&#35838;&#31243;&#35838;&#20214;&#21450;&#36164;&#26009;/C++/25261&#35838;&#20214;/http:/www.tju.edu.cn/yx/images/badge.gif" TargetMode="Externa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image" Target="NULL" TargetMode="Externa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15"/>
          <p:cNvSpPr>
            <a:spLocks noChangeArrowheads="1"/>
          </p:cNvSpPr>
          <p:nvPr/>
        </p:nvSpPr>
        <p:spPr bwMode="gray">
          <a:xfrm>
            <a:off x="655638" y="360363"/>
            <a:ext cx="8497888" cy="719138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395288" y="1125538"/>
            <a:ext cx="8229600" cy="52482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600">
                <a:latin typeface="Lucida Sans Unicode" panose="020B0602030504020204" pitchFamily="3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029" name="Rectangle 2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" name="Rectangle 24"/>
          <p:cNvSpPr>
            <a:spLocks noChangeArrowheads="1"/>
          </p:cNvSpPr>
          <p:nvPr/>
        </p:nvSpPr>
        <p:spPr bwMode="gray">
          <a:xfrm>
            <a:off x="0" y="71913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1" name="Rectangle 25"/>
          <p:cNvSpPr>
            <a:spLocks noChangeArrowheads="1"/>
          </p:cNvSpPr>
          <p:nvPr/>
        </p:nvSpPr>
        <p:spPr bwMode="gray">
          <a:xfrm>
            <a:off x="328613" y="35718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2" name="Rectangle 26"/>
          <p:cNvSpPr>
            <a:spLocks noChangeArrowheads="1"/>
          </p:cNvSpPr>
          <p:nvPr/>
        </p:nvSpPr>
        <p:spPr bwMode="gray">
          <a:xfrm>
            <a:off x="657225" y="0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3" name="Rectangle 28"/>
          <p:cNvSpPr>
            <a:spLocks noChangeArrowheads="1"/>
          </p:cNvSpPr>
          <p:nvPr/>
        </p:nvSpPr>
        <p:spPr bwMode="gray">
          <a:xfrm>
            <a:off x="657225" y="361950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4" name="Rectangle 29"/>
          <p:cNvSpPr>
            <a:spLocks noChangeArrowheads="1"/>
          </p:cNvSpPr>
          <p:nvPr/>
        </p:nvSpPr>
        <p:spPr bwMode="gray">
          <a:xfrm>
            <a:off x="328613" y="719138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035" name="Picture 31" descr="http://www.tju.edu.cn/yx/images/badge.gif"/>
          <p:cNvPicPr>
            <a:picLocks noChangeAspect="1"/>
          </p:cNvPicPr>
          <p:nvPr/>
        </p:nvPicPr>
        <p:blipFill>
          <a:blip r:embed="rId13" r:link="rId14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Font typeface="Wingdings" panose="05000000000000000000" pitchFamily="2" charset="2"/>
        <a:buChar char="Ø"/>
        <a:defRPr sz="2800" b="1">
          <a:solidFill>
            <a:srgbClr val="000099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800" b="1">
          <a:solidFill>
            <a:srgbClr val="000099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Char char="•"/>
        <a:defRPr sz="2400" b="1">
          <a:solidFill>
            <a:srgbClr val="000099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99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  <a:cs typeface="楷体_GB231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15"/>
          <p:cNvSpPr>
            <a:spLocks noChangeArrowheads="1"/>
          </p:cNvSpPr>
          <p:nvPr/>
        </p:nvSpPr>
        <p:spPr bwMode="gray">
          <a:xfrm>
            <a:off x="655638" y="360363"/>
            <a:ext cx="8497888" cy="719138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395288" y="1125538"/>
            <a:ext cx="8229600" cy="52482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36000" y="6537325"/>
            <a:ext cx="506413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600">
                <a:latin typeface="Lucida Sans Unicode" panose="020B0602030504020204" pitchFamily="3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029" name="Rectangle 2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2" name="Rectangle 24"/>
          <p:cNvSpPr>
            <a:spLocks noChangeArrowheads="1"/>
          </p:cNvSpPr>
          <p:nvPr/>
        </p:nvSpPr>
        <p:spPr bwMode="gray">
          <a:xfrm>
            <a:off x="0" y="71913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1" name="Rectangle 25"/>
          <p:cNvSpPr>
            <a:spLocks noChangeArrowheads="1"/>
          </p:cNvSpPr>
          <p:nvPr/>
        </p:nvSpPr>
        <p:spPr bwMode="gray">
          <a:xfrm>
            <a:off x="328613" y="35718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2" name="Rectangle 26"/>
          <p:cNvSpPr>
            <a:spLocks noChangeArrowheads="1"/>
          </p:cNvSpPr>
          <p:nvPr/>
        </p:nvSpPr>
        <p:spPr bwMode="gray">
          <a:xfrm>
            <a:off x="657225" y="0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3" name="Rectangle 28"/>
          <p:cNvSpPr>
            <a:spLocks noChangeArrowheads="1"/>
          </p:cNvSpPr>
          <p:nvPr/>
        </p:nvSpPr>
        <p:spPr bwMode="gray">
          <a:xfrm>
            <a:off x="657225" y="361950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4" name="Rectangle 29"/>
          <p:cNvSpPr>
            <a:spLocks noChangeArrowheads="1"/>
          </p:cNvSpPr>
          <p:nvPr/>
        </p:nvSpPr>
        <p:spPr bwMode="gray">
          <a:xfrm>
            <a:off x="328613" y="719138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035" name="Picture 31" descr="http://www.tju.edu.cn/yx/images/badge.gif"/>
          <p:cNvPicPr>
            <a:picLocks noChangeAspect="1"/>
          </p:cNvPicPr>
          <p:nvPr/>
        </p:nvPicPr>
        <p:blipFill>
          <a:blip r:embed="rId13" r:link="rId14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>
    <p:fade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Font typeface="Wingdings" panose="05000000000000000000" pitchFamily="2" charset="2"/>
        <a:buChar char="Ø"/>
        <a:defRPr sz="2800" b="1">
          <a:solidFill>
            <a:srgbClr val="000099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800" b="1">
          <a:solidFill>
            <a:srgbClr val="000099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Char char="•"/>
        <a:defRPr sz="2400" b="1">
          <a:solidFill>
            <a:srgbClr val="000099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99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  <a:cs typeface="楷体_GB231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1"/>
          <p:cNvSpPr>
            <a:spLocks noGrp="1"/>
          </p:cNvSpPr>
          <p:nvPr>
            <p:ph type="ctrTitle"/>
          </p:nvPr>
        </p:nvSpPr>
        <p:spPr>
          <a:xfrm>
            <a:off x="609600" y="2209800"/>
            <a:ext cx="8229600" cy="1066800"/>
          </a:xfrm>
          <a:ln/>
        </p:spPr>
        <p:txBody>
          <a:bodyPr vert="horz" wrap="square" lIns="91440" tIns="45720" rIns="91440" bIns="45720" anchor="ctr" anchorCtr="0"/>
          <a:p>
            <a:pPr>
              <a:buClrTx/>
              <a:buSzTx/>
              <a:buFontTx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程序设计原理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8195" name="文本框 1"/>
          <p:cNvSpPr txBox="1"/>
          <p:nvPr/>
        </p:nvSpPr>
        <p:spPr>
          <a:xfrm>
            <a:off x="3832225" y="3198813"/>
            <a:ext cx="17843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6" name="矩形 1"/>
          <p:cNvSpPr/>
          <p:nvPr/>
        </p:nvSpPr>
        <p:spPr>
          <a:xfrm>
            <a:off x="2895600" y="4267200"/>
            <a:ext cx="3657600" cy="193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任课教师： 喻  梅</a:t>
            </a:r>
            <a:endParaRPr lang="en-US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于瑞国</a:t>
            </a:r>
            <a:endParaRPr lang="en-US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王建荣</a:t>
            </a:r>
            <a:endParaRPr lang="en-US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李雪威</a:t>
            </a:r>
            <a:endParaRPr lang="en-US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r>
              <a: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赵满坤</a:t>
            </a:r>
            <a:endParaRPr lang="en-US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1038225" y="484188"/>
            <a:ext cx="7391400" cy="487362"/>
          </a:xfrm>
          <a:ln/>
        </p:spPr>
        <p:txBody>
          <a:bodyPr vert="horz" wrap="square" lIns="91440" tIns="45720" rIns="91440" bIns="45720" anchor="ctr" anchorCtr="0"/>
          <a:p>
            <a:pPr>
              <a:buNone/>
            </a:pPr>
            <a:r>
              <a:rPr lang="en-US" altLang="zh-CN" dirty="0"/>
              <a:t>Why do we need strings?</a:t>
            </a:r>
            <a:endParaRPr lang="en-US" altLang="zh-CN" dirty="0"/>
          </a:p>
        </p:txBody>
      </p:sp>
      <p:sp>
        <p:nvSpPr>
          <p:cNvPr id="2" name="Rectangle 1"/>
          <p:cNvSpPr>
            <a:spLocks noGrp="1" noChangeArrowheads="1"/>
          </p:cNvSpPr>
          <p:nvPr>
            <p:ph idx="1"/>
          </p:nvPr>
        </p:nvSpPr>
        <p:spPr>
          <a:xfrm>
            <a:off x="374650" y="971550"/>
            <a:ext cx="8642350" cy="2806700"/>
          </a:xfrm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楷体_GB2312"/>
              </a:rPr>
              <a:t>Motivation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楷体_GB2312"/>
              </a:rPr>
              <a:t>     In our daily programs, we often need to deal with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楷体_GB2312"/>
              </a:rPr>
              <a:t>textual information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楷体_GB2312"/>
              </a:rPr>
              <a:t> —</a:t>
            </a:r>
            <a:b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楷体_GB2312"/>
              </a:rPr>
            </a:b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楷体_GB2312"/>
              </a:rPr>
              <a:t>names, addresses, messages, book titles, or any other words and sentences.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楷体_GB2312"/>
              </a:rPr>
              <a:t>Numbers (</a:t>
            </a:r>
            <a:r>
              <a:rPr kumimoji="0" lang="en-US" altLang="zh-CN" sz="16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楷体_GB2312"/>
              </a:rPr>
              <a:t>int, double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楷体_GB2312"/>
              </a:rPr>
              <a:t>) cannot represent text,</a:t>
            </a:r>
            <a:b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楷体_GB2312"/>
              </a:rPr>
            </a:b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楷体_GB2312"/>
              </a:rPr>
              <a:t>so we need a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楷体_GB2312"/>
              </a:rPr>
              <a:t>special data type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楷体_GB2312"/>
              </a:rPr>
              <a:t> to store and process a sequence of characters.</a:t>
            </a:r>
            <a:b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楷体_GB2312"/>
              </a:rPr>
            </a:b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楷体_GB2312"/>
              </a:rPr>
              <a:t>That data type is 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楷体_GB2312"/>
              </a:rPr>
              <a:t>string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楷体_GB2312"/>
              </a:rPr>
              <a:t>.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楷体_GB2312" pitchFamily="49" charset="-122"/>
              <a:cs typeface="楷体_GB231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68475" y="3889375"/>
            <a:ext cx="6156325" cy="2924175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#include &lt;iostream&gt;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#include &lt;string&gt;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using namespace std;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int main() {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    string name = "Alice";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    cout &lt;&lt; "Hello, " &lt;&lt; name &lt;&lt; "!" &lt;&lt; endl;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    return 0;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}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1000125" y="484188"/>
            <a:ext cx="7391400" cy="487362"/>
          </a:xfrm>
          <a:ln/>
        </p:spPr>
        <p:txBody>
          <a:bodyPr vert="horz" wrap="square" lIns="91440" tIns="45720" rIns="91440" bIns="45720" anchor="ctr" anchorCtr="0"/>
          <a:p>
            <a:pPr>
              <a:buNone/>
            </a:pPr>
            <a:r>
              <a:rPr lang="en-US" altLang="zh-CN" dirty="0"/>
              <a:t>Declaring and Initializing Strings</a:t>
            </a:r>
            <a:endParaRPr lang="en-US" altLang="zh-CN" dirty="0"/>
          </a:p>
        </p:txBody>
      </p:sp>
      <p:sp>
        <p:nvSpPr>
          <p:cNvPr id="2" name="Rectangle 1"/>
          <p:cNvSpPr>
            <a:spLocks noGrp="1" noChangeArrowheads="1"/>
          </p:cNvSpPr>
          <p:nvPr>
            <p:ph idx="1"/>
          </p:nvPr>
        </p:nvSpPr>
        <p:spPr>
          <a:xfrm>
            <a:off x="247650" y="1200150"/>
            <a:ext cx="8640763" cy="457200"/>
          </a:xfrm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Strings can be initialized (assigned a value) in several ways: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+mn-ea"/>
              <a:cs typeface="楷体_GB231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7913" y="1778000"/>
            <a:ext cx="6105525" cy="1536700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string s1 = "Hello";       // direct initialization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string s2("World");        // constructor style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string s3;                 // empty string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s3 = "C++";                // assignment after declaration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9500" y="3675063"/>
            <a:ext cx="6107113" cy="2862263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#include &lt;iostream&gt;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#include &lt;string&gt;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using namespace std;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int main() {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    string greeting = "Welcome to C++!";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    cout &lt;&lt; greeting &lt;&lt; endl;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    return 0;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j-lt"/>
                <a:ea typeface="楷体_GB2312" pitchFamily="49" charset="-122"/>
                <a:cs typeface="+mn-cs"/>
              </a:rPr>
              <a:t>}</a:t>
            </a:r>
            <a:endParaRPr kumimoji="0" lang="zh-CN" altLang="en-US" sz="2000" kern="1200" cap="none" spc="0" normalizeH="0" baseline="0" noProof="0" dirty="0">
              <a:latin typeface="+mj-lt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753667" name="Rectangle 3"/>
          <p:cNvSpPr>
            <a:spLocks noGrp="1" noChangeArrowheads="1"/>
          </p:cNvSpPr>
          <p:nvPr>
            <p:ph idx="1"/>
          </p:nvPr>
        </p:nvSpPr>
        <p:spPr>
          <a:xfrm>
            <a:off x="319088" y="1812925"/>
            <a:ext cx="8448675" cy="4873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Use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cin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&gt;&gt;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to read an item into a string: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楷体_GB2312"/>
            </a:endParaRPr>
          </a:p>
        </p:txBody>
      </p:sp>
      <p:sp>
        <p:nvSpPr>
          <p:cNvPr id="14340" name="矩形 1"/>
          <p:cNvSpPr/>
          <p:nvPr/>
        </p:nvSpPr>
        <p:spPr>
          <a:xfrm>
            <a:off x="317500" y="4003675"/>
            <a:ext cx="8564563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Use </a:t>
            </a:r>
            <a:r>
              <a:rPr lang="en-US" altLang="zh-CN" sz="2400" b="0" dirty="0">
                <a:solidFill>
                  <a:schemeClr val="tx1"/>
                </a:solidFill>
                <a:latin typeface="Courier New" panose="02070309020205020404" pitchFamily="49" charset="0"/>
              </a:rPr>
              <a:t>getline</a:t>
            </a: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function to put a line of input, possibly including spaces, into a string: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Reading and Printing Strings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79563" y="2546350"/>
            <a:ext cx="4992688" cy="939800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string firstName;</a:t>
            </a:r>
            <a:endParaRPr kumimoji="0" lang="zh-CN" altLang="en-US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cin &gt;&gt; firstName;</a:t>
            </a:r>
            <a:endParaRPr kumimoji="0" lang="zh-CN" altLang="en-US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68450" y="4926013"/>
            <a:ext cx="4992688" cy="939800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string sentence;</a:t>
            </a:r>
            <a:endParaRPr kumimoji="0" lang="zh-CN" altLang="en-US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getline(cin, sentence);</a:t>
            </a:r>
            <a:endParaRPr kumimoji="0" lang="zh-CN" altLang="en-US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753667" name="Rectangle 3"/>
          <p:cNvSpPr>
            <a:spLocks noGrp="1" noChangeArrowheads="1"/>
          </p:cNvSpPr>
          <p:nvPr>
            <p:ph idx="1"/>
          </p:nvPr>
        </p:nvSpPr>
        <p:spPr>
          <a:xfrm>
            <a:off x="315913" y="1231900"/>
            <a:ext cx="8404225" cy="939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cin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 &gt;&gt; reads a single word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only.It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 stops reading when a space, tab, or newline is encountered.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楷体_GB2312"/>
            </a:endParaRPr>
          </a:p>
        </p:txBody>
      </p:sp>
      <p:sp>
        <p:nvSpPr>
          <p:cNvPr id="15364" name="矩形 1"/>
          <p:cNvSpPr/>
          <p:nvPr/>
        </p:nvSpPr>
        <p:spPr>
          <a:xfrm>
            <a:off x="279400" y="4271963"/>
            <a:ext cx="85645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getline() reads an entire line, including spaces: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471488"/>
            <a:ext cx="7527925" cy="4222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Reading Strings: 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cin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 vs 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getline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()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1838" y="2181225"/>
            <a:ext cx="4992688" cy="1827213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string name;</a:t>
            </a:r>
            <a:endParaRPr kumimoji="0" lang="en-US" altLang="zh-CN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cout</a:t>
            </a:r>
            <a:r>
              <a:rPr kumimoji="0" lang="en-US" altLang="zh-CN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&lt;&lt; "Enter your name: ";</a:t>
            </a:r>
            <a:endParaRPr kumimoji="0" lang="en-US" altLang="zh-CN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cin</a:t>
            </a:r>
            <a:r>
              <a:rPr kumimoji="0" lang="en-US" altLang="zh-CN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&gt;&gt; name;</a:t>
            </a:r>
            <a:endParaRPr kumimoji="0" lang="en-US" altLang="zh-CN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cout</a:t>
            </a:r>
            <a:r>
              <a:rPr kumimoji="0" lang="en-US" altLang="zh-CN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&lt;&lt; "Hi, " &lt;&lt; name &lt;&lt; "!";</a:t>
            </a:r>
            <a:endParaRPr kumimoji="0" lang="en-US" altLang="zh-CN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3675" y="4841875"/>
            <a:ext cx="4992688" cy="1825625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string address;</a:t>
            </a:r>
            <a:endParaRPr kumimoji="0" lang="en-US" altLang="zh-CN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cout</a:t>
            </a:r>
            <a:r>
              <a:rPr kumimoji="0" lang="en-US" altLang="zh-CN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&lt;&lt; "Enter your address: ";</a:t>
            </a:r>
            <a:endParaRPr kumimoji="0" lang="en-US" altLang="zh-CN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getline</a:t>
            </a:r>
            <a:r>
              <a:rPr kumimoji="0" lang="en-US" altLang="zh-CN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cin</a:t>
            </a:r>
            <a:r>
              <a:rPr kumimoji="0" lang="en-US" altLang="zh-CN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address);</a:t>
            </a:r>
            <a:endParaRPr kumimoji="0" lang="en-US" altLang="zh-CN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cout</a:t>
            </a:r>
            <a:r>
              <a:rPr kumimoji="0" lang="en-US" altLang="zh-CN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&lt;&lt; "Address: " &lt;&lt; address;</a:t>
            </a:r>
            <a:endParaRPr kumimoji="0" lang="en-US" altLang="zh-CN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5368" name="文本框 12"/>
          <p:cNvSpPr txBox="1"/>
          <p:nvPr/>
        </p:nvSpPr>
        <p:spPr>
          <a:xfrm>
            <a:off x="5992813" y="2428875"/>
            <a:ext cx="2727325" cy="1323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Input</a:t>
            </a:r>
            <a:r>
              <a:rPr lang="zh-CN" altLang="en-US" sz="2000" dirty="0">
                <a:latin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Alice Johnson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Output: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Hi, Alice!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5369" name="文本框 14"/>
          <p:cNvSpPr txBox="1"/>
          <p:nvPr/>
        </p:nvSpPr>
        <p:spPr>
          <a:xfrm>
            <a:off x="5262563" y="5092700"/>
            <a:ext cx="3963987" cy="1323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Input</a:t>
            </a:r>
            <a:r>
              <a:rPr lang="zh-CN" altLang="en-US" sz="2000" dirty="0">
                <a:latin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123 Nanjing Road,Tianjin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Output: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Address: 123 Nanjing Road, Tianjin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471488"/>
            <a:ext cx="7527925" cy="4222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Reading Strings: 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cin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 vs 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getline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()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375" y="1130300"/>
            <a:ext cx="6259513" cy="5713413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#include &lt;iostream&gt;</a:t>
            </a: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#include &lt;string&gt;</a:t>
            </a: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using namespace std;</a:t>
            </a: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 main() {</a:t>
            </a: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int age;</a:t>
            </a: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string name;</a:t>
            </a: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kumimoji="0" lang="en-US" altLang="zh-CN" sz="1800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cout</a:t>
            </a: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&lt;&lt; "Enter your age: ";</a:t>
            </a: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kumimoji="0" lang="en-US" altLang="zh-CN" sz="1800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cin</a:t>
            </a: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&gt;&gt; age;              // reads a number</a:t>
            </a: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kumimoji="0" lang="en-US" altLang="zh-CN" sz="1800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cout</a:t>
            </a: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&lt;&lt; "Enter your name: ";</a:t>
            </a: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kumimoji="0" lang="en-US" altLang="zh-CN" sz="1800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getline</a:t>
            </a: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1800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cin</a:t>
            </a: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name);      // tries to read a full line</a:t>
            </a: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kumimoji="0" lang="en-US" altLang="zh-CN" sz="1800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cout</a:t>
            </a: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&lt;&lt; "Age: " &lt;&lt; age &lt;&lt; ", Name: " &lt;&lt; name &lt;&lt; </a:t>
            </a:r>
            <a:r>
              <a:rPr kumimoji="0" lang="en-US" altLang="zh-CN" sz="1800" kern="1200" cap="none" spc="0" normalizeH="0" baseline="0" noProof="0" dirty="0" err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endl</a:t>
            </a: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;</a:t>
            </a: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return 0;</a:t>
            </a: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sz="1800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}</a:t>
            </a:r>
            <a:endParaRPr kumimoji="0" lang="en-US" altLang="zh-CN" sz="1800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6389" name="文本框 12"/>
          <p:cNvSpPr txBox="1"/>
          <p:nvPr/>
        </p:nvSpPr>
        <p:spPr>
          <a:xfrm>
            <a:off x="6530975" y="1624013"/>
            <a:ext cx="2227263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Input</a:t>
            </a:r>
            <a:r>
              <a:rPr lang="zh-CN" altLang="en-US" sz="2000" dirty="0">
                <a:latin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18⏎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Alice Johnson⏎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569075" y="3736975"/>
            <a:ext cx="2393950" cy="706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Output: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Age: 18, Name: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471488"/>
            <a:ext cx="7527925" cy="4222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Reading Strings: 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cin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 vs </a:t>
            </a:r>
            <a:r>
              <a:rPr kumimoji="0" lang="en-US" altLang="zh-CN" sz="36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getline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()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38225" y="1931988"/>
            <a:ext cx="4800600" cy="1200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[ '1' '8' '\n' A l i c e ... ]</a:t>
            </a:r>
            <a:endParaRPr kumimoji="0" lang="zh-CN" altLang="en-US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↑</a:t>
            </a:r>
            <a:endParaRPr kumimoji="0" lang="zh-CN" altLang="en-US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getline() starts reading here</a:t>
            </a:r>
            <a:endParaRPr kumimoji="0" lang="zh-CN" altLang="en-US" kern="1200" cap="none" spc="0" normalizeH="0" baseline="0" noProof="0" dirty="0"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5575" y="1093788"/>
            <a:ext cx="8640763" cy="7080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After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cin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&gt;&gt; age, the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newline character ('\n')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from pressing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Enter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 is still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waiting in the input buffer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n-cs"/>
              </a:rPr>
              <a:t>: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楷体_GB2312" pitchFamily="49" charset="-122"/>
              <a:cs typeface="+mn-cs"/>
            </a:endParaRPr>
          </a:p>
        </p:txBody>
      </p:sp>
      <p:sp>
        <p:nvSpPr>
          <p:cNvPr id="17414" name="文本框 13"/>
          <p:cNvSpPr txBox="1"/>
          <p:nvPr/>
        </p:nvSpPr>
        <p:spPr>
          <a:xfrm>
            <a:off x="1038225" y="3429000"/>
            <a:ext cx="7559675" cy="193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cout &lt;&lt; "Enter your age: ";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cin &gt;&gt; age;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cin.ignore();        //discard the leftover newline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>
              <a:buNone/>
            </a:pPr>
            <a:endParaRPr lang="zh-CN" altLang="en-US" sz="20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cout &lt;&lt; "Enter your name: ";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getline(cin, name);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7415" name="文本框 14"/>
          <p:cNvSpPr txBox="1"/>
          <p:nvPr/>
        </p:nvSpPr>
        <p:spPr>
          <a:xfrm>
            <a:off x="1038225" y="5695950"/>
            <a:ext cx="458787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Output</a:t>
            </a:r>
            <a:r>
              <a:rPr lang="zh-CN" altLang="en-US" sz="2000" dirty="0">
                <a:latin typeface="Times New Roman" panose="02020603050405020304" pitchFamily="18" charset="0"/>
              </a:rPr>
              <a:t>：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Age: 18, Name: Alice Johnson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471488"/>
            <a:ext cx="7527925" cy="4222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Common String Operations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136015" y="1321435"/>
          <a:ext cx="7023735" cy="3627120"/>
        </p:xfrm>
        <a:graphic>
          <a:graphicData uri="http://schemas.openxmlformats.org/drawingml/2006/table">
            <a:tbl>
              <a:tblPr firstRow="1">
                <a:tableStyleId>{311B89CE-209D-46B2-A469-C2525224BD23}</a:tableStyleId>
              </a:tblPr>
              <a:tblGrid>
                <a:gridCol w="1671955"/>
                <a:gridCol w="3122295"/>
                <a:gridCol w="2229485"/>
              </a:tblGrid>
              <a:tr h="629920"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</a:t>
                      </a:r>
                      <a:endParaRPr lang="zh-CN" alt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示例代码</a:t>
                      </a:r>
                      <a:endParaRPr lang="zh-CN" alt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80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80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599440"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拼接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en-US" altLang="zh-CN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s3 = s1 + s2;</a:t>
                      </a:r>
                      <a:endParaRPr lang="en-US" altLang="zh-CN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合并两个字符串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599440"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追加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en-US" altLang="zh-CN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s1 += "!";</a:t>
                      </a:r>
                      <a:endParaRPr lang="en-US" altLang="zh-CN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在末尾追加内容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599440"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长度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en-US" altLang="zh-CN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s1.length() / s1.size()</a:t>
                      </a:r>
                      <a:endParaRPr lang="en-US" altLang="zh-CN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返回字符数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599440"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清空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en-US" altLang="zh-CN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s1.clear()</a:t>
                      </a:r>
                      <a:endParaRPr lang="en-US" altLang="zh-CN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变为空字符串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599440"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判断空</a:t>
                      </a:r>
                      <a:endParaRPr lang="zh-CN" altLang="en-US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en-US" altLang="zh-CN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s1.empty()</a:t>
                      </a:r>
                      <a:endParaRPr lang="en-US" altLang="zh-CN" sz="16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indent="0" algn="ctr" fontAlgn="auto">
                        <a:lnSpc>
                          <a:spcPct val="100000"/>
                        </a:lnSpc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</a:t>
                      </a:r>
                      <a:r>
                        <a:rPr lang="en-US" altLang="zh-CN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true</a:t>
                      </a: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或</a:t>
                      </a:r>
                      <a:r>
                        <a:rPr lang="en-US" altLang="zh-CN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false</a:t>
                      </a:r>
                      <a:endParaRPr lang="en-US" altLang="zh-CN" sz="16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345565" y="5310505"/>
            <a:ext cx="61144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string s = "Hi";</a:t>
            </a:r>
            <a:endParaRPr lang="en-US" altLang="zh-CN"/>
          </a:p>
          <a:p>
            <a:r>
              <a:rPr lang="en-US" altLang="zh-CN"/>
              <a:t>s += " there!";</a:t>
            </a:r>
            <a:endParaRPr lang="en-US" altLang="zh-CN"/>
          </a:p>
          <a:p>
            <a:r>
              <a:rPr lang="en-US" altLang="zh-CN"/>
              <a:t>cout &lt;&lt; s &lt;&lt; " (" &lt;&lt; s.length() &lt;&lt; " chars)";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415405" y="5195570"/>
            <a:ext cx="25438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Hi there! (9 chars)</a:t>
            </a:r>
            <a:endParaRPr lang="zh-CN" altLang="en-US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753667" name="Rectangle 3"/>
          <p:cNvSpPr>
            <a:spLocks noGrp="1" noChangeArrowheads="1"/>
          </p:cNvSpPr>
          <p:nvPr>
            <p:ph idx="1"/>
          </p:nvPr>
        </p:nvSpPr>
        <p:spPr>
          <a:xfrm>
            <a:off x="231775" y="1239520"/>
            <a:ext cx="8641080" cy="120396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   C++ allows you to compare string objects directly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using the same relational operators as numbers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：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楷体_GB231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            ==   !=   &lt;   &lt;=   &gt;   &gt;=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楷体_GB2312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string Comparison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1390" y="3198495"/>
            <a:ext cx="6363335" cy="2306955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r>
              <a:rPr lang="en-US" altLang="zh-CN"/>
              <a:t>string a = "apple";</a:t>
            </a:r>
            <a:endParaRPr lang="en-US" altLang="zh-CN"/>
          </a:p>
          <a:p>
            <a:r>
              <a:rPr lang="en-US" altLang="zh-CN"/>
              <a:t>string b = "banana";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if (a &lt; b)</a:t>
            </a:r>
            <a:endParaRPr lang="en-US" altLang="zh-CN"/>
          </a:p>
          <a:p>
            <a:r>
              <a:rPr lang="en-US" altLang="zh-CN"/>
              <a:t>    cout &lt;&lt; a &lt;&lt; " comes before " &lt;&lt; b &lt;&lt; endl;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68475" y="592518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apple comes before banana</a:t>
            </a:r>
            <a:endParaRPr lang="zh-CN" altLang="en-US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753667" name="Rectangle 3"/>
          <p:cNvSpPr>
            <a:spLocks noGrp="1" noChangeArrowheads="1"/>
          </p:cNvSpPr>
          <p:nvPr>
            <p:ph idx="1"/>
          </p:nvPr>
        </p:nvSpPr>
        <p:spPr>
          <a:xfrm>
            <a:off x="231775" y="1239520"/>
            <a:ext cx="8641080" cy="62992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   You can also use the string.compare() member function.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楷体_GB2312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string Comparison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15695" y="2238375"/>
            <a:ext cx="6765925" cy="1568450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r>
              <a:rPr lang="en-US" altLang="zh-CN"/>
              <a:t>string s1 = "Hello";</a:t>
            </a:r>
            <a:endParaRPr lang="en-US" altLang="zh-CN"/>
          </a:p>
          <a:p>
            <a:r>
              <a:rPr lang="en-US" altLang="zh-CN"/>
              <a:t>string s2 = "Hi";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int result = s1.compare(s2);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2214880" y="4376420"/>
          <a:ext cx="4587875" cy="1669415"/>
        </p:xfrm>
        <a:graphic>
          <a:graphicData uri="http://schemas.openxmlformats.org/drawingml/2006/table">
            <a:tbl>
              <a:tblPr firstRow="1">
                <a:tableStyleId>{6DE6EFBA-7F98-4D5B-BD46-42EC8BBA6A69}</a:tableStyleId>
              </a:tblPr>
              <a:tblGrid>
                <a:gridCol w="1699260"/>
                <a:gridCol w="2888615"/>
              </a:tblGrid>
              <a:tr h="4445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600" spc="120">
                          <a:latin typeface="+mj-lt"/>
                          <a:ea typeface="微软雅黑" panose="020B0503020204020204" pitchFamily="34" charset="-122"/>
                          <a:cs typeface="+mj-lt"/>
                        </a:rPr>
                        <a:t>Result</a:t>
                      </a:r>
                      <a:endParaRPr lang="en-US" altLang="zh-CN" sz="1600" spc="120">
                        <a:latin typeface="+mj-lt"/>
                        <a:ea typeface="微软雅黑" panose="020B0503020204020204" pitchFamily="34" charset="-122"/>
                        <a:cs typeface="+mj-lt"/>
                      </a:endParaRPr>
                    </a:p>
                  </a:txBody>
                  <a:tcPr marL="254000" marR="254000" marT="76200" marB="762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600" spc="120">
                          <a:latin typeface="+mj-lt"/>
                          <a:ea typeface="微软雅黑" panose="020B0503020204020204" pitchFamily="34" charset="-122"/>
                          <a:cs typeface="+mj-lt"/>
                        </a:rPr>
                        <a:t>Meaning</a:t>
                      </a:r>
                      <a:endParaRPr lang="en-US" altLang="zh-CN" sz="1600" spc="120">
                        <a:latin typeface="+mj-lt"/>
                        <a:ea typeface="微软雅黑" panose="020B0503020204020204" pitchFamily="34" charset="-122"/>
                        <a:cs typeface="+mj-lt"/>
                      </a:endParaRPr>
                    </a:p>
                  </a:txBody>
                  <a:tcPr marL="254000" marR="254000" marT="76200" marB="76200" anchor="ctr" anchorCtr="0"/>
                </a:tc>
              </a:tr>
              <a:tr h="4083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+mj-lt"/>
                          <a:ea typeface="微软雅黑" panose="020B0503020204020204" pitchFamily="34" charset="-122"/>
                          <a:cs typeface="+mj-lt"/>
                        </a:rPr>
                        <a:t>0</a:t>
                      </a:r>
                      <a:endParaRPr lang="en-US" altLang="zh-CN" sz="1400">
                        <a:latin typeface="+mj-lt"/>
                        <a:ea typeface="微软雅黑" panose="020B0503020204020204" pitchFamily="34" charset="-122"/>
                        <a:cs typeface="+mj-lt"/>
                      </a:endParaRPr>
                    </a:p>
                  </a:txBody>
                  <a:tcPr marL="254000" marR="254000" marT="76200" marB="762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+mj-lt"/>
                          <a:ea typeface="微软雅黑" panose="020B0503020204020204" pitchFamily="34" charset="-122"/>
                          <a:cs typeface="+mj-lt"/>
                        </a:rPr>
                        <a:t>strings are equal</a:t>
                      </a:r>
                      <a:endParaRPr lang="en-US" altLang="zh-CN" sz="1400">
                        <a:latin typeface="+mj-lt"/>
                        <a:ea typeface="微软雅黑" panose="020B0503020204020204" pitchFamily="34" charset="-122"/>
                        <a:cs typeface="+mj-lt"/>
                      </a:endParaRPr>
                    </a:p>
                  </a:txBody>
                  <a:tcPr marL="254000" marR="254000" marT="76200" marB="76200" anchor="ctr" anchorCtr="0"/>
                </a:tc>
              </a:tr>
              <a:tr h="4083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+mj-lt"/>
                          <a:ea typeface="微软雅黑" panose="020B0503020204020204" pitchFamily="34" charset="-122"/>
                          <a:cs typeface="+mj-lt"/>
                        </a:rPr>
                        <a:t>&lt; 0</a:t>
                      </a:r>
                      <a:endParaRPr lang="en-US" altLang="zh-CN" sz="1400">
                        <a:latin typeface="+mj-lt"/>
                        <a:ea typeface="微软雅黑" panose="020B0503020204020204" pitchFamily="34" charset="-122"/>
                        <a:cs typeface="+mj-lt"/>
                      </a:endParaRPr>
                    </a:p>
                  </a:txBody>
                  <a:tcPr marL="254000" marR="254000" marT="76200" marB="762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+mj-lt"/>
                          <a:ea typeface="微软雅黑" panose="020B0503020204020204" pitchFamily="34" charset="-122"/>
                          <a:cs typeface="+mj-lt"/>
                        </a:rPr>
                        <a:t>s1 is less than s2</a:t>
                      </a:r>
                      <a:endParaRPr lang="en-US" altLang="zh-CN" sz="1400">
                        <a:latin typeface="+mj-lt"/>
                        <a:ea typeface="微软雅黑" panose="020B0503020204020204" pitchFamily="34" charset="-122"/>
                        <a:cs typeface="+mj-lt"/>
                      </a:endParaRPr>
                    </a:p>
                  </a:txBody>
                  <a:tcPr marL="254000" marR="254000" marT="76200" marB="76200" anchor="ctr" anchorCtr="0"/>
                </a:tc>
              </a:tr>
              <a:tr h="40830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+mj-lt"/>
                          <a:ea typeface="微软雅黑" panose="020B0503020204020204" pitchFamily="34" charset="-122"/>
                          <a:cs typeface="+mj-lt"/>
                        </a:rPr>
                        <a:t>&gt; 0</a:t>
                      </a:r>
                      <a:endParaRPr lang="en-US" altLang="zh-CN" sz="1400">
                        <a:latin typeface="+mj-lt"/>
                        <a:ea typeface="微软雅黑" panose="020B0503020204020204" pitchFamily="34" charset="-122"/>
                        <a:cs typeface="+mj-lt"/>
                      </a:endParaRPr>
                    </a:p>
                  </a:txBody>
                  <a:tcPr marL="254000" marR="254000" marT="76200" marB="76200" anchor="ctr" anchorCtr="0"/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>
                          <a:latin typeface="+mj-lt"/>
                          <a:ea typeface="微软雅黑" panose="020B0503020204020204" pitchFamily="34" charset="-122"/>
                          <a:cs typeface="+mj-lt"/>
                        </a:rPr>
                        <a:t>s1 is greater than s2</a:t>
                      </a:r>
                      <a:endParaRPr lang="en-US" altLang="zh-CN" sz="1400">
                        <a:latin typeface="+mj-lt"/>
                        <a:ea typeface="微软雅黑" panose="020B0503020204020204" pitchFamily="34" charset="-122"/>
                        <a:cs typeface="+mj-lt"/>
                      </a:endParaRPr>
                    </a:p>
                  </a:txBody>
                  <a:tcPr marL="254000" marR="254000" marT="76200" marB="76200" anchor="ctr" anchorCtr="0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753667" name="Rectangle 3"/>
          <p:cNvSpPr>
            <a:spLocks noGrp="1" noChangeArrowheads="1"/>
          </p:cNvSpPr>
          <p:nvPr>
            <p:ph idx="1"/>
          </p:nvPr>
        </p:nvSpPr>
        <p:spPr>
          <a:xfrm>
            <a:off x="78740" y="1162685"/>
            <a:ext cx="8641080" cy="62992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Getting a Substring — substr() 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：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The substr() function extracts part of a string.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楷体_GB2312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Substring and Searching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6455" y="4081780"/>
            <a:ext cx="6765925" cy="1938020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r>
              <a:rPr lang="en-US" altLang="zh-CN"/>
              <a:t>string s = "programming";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cout &lt;&lt; s.substr(0, 3) &lt;&lt; endl;   // "pro"</a:t>
            </a:r>
            <a:endParaRPr lang="en-US" altLang="zh-CN"/>
          </a:p>
          <a:p>
            <a:r>
              <a:rPr lang="en-US" altLang="zh-CN"/>
              <a:t>cout &lt;&lt; s.substr(3, 4) &lt;&lt; endl;   // "gram"</a:t>
            </a:r>
            <a:endParaRPr lang="en-US" altLang="zh-CN"/>
          </a:p>
          <a:p>
            <a:r>
              <a:rPr lang="en-US" altLang="zh-CN"/>
              <a:t>cout &lt;&lt; s.substr(7) &lt;&lt; endl;      // "ming"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85115" y="2276475"/>
            <a:ext cx="800163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/>
              <a:t>Syntax</a:t>
            </a:r>
            <a:r>
              <a:rPr lang="zh-CN" altLang="en-US" sz="2000" b="1"/>
              <a:t>：</a:t>
            </a:r>
            <a:endParaRPr lang="en-US" altLang="zh-CN" sz="2000" b="1"/>
          </a:p>
          <a:p>
            <a:pPr indent="457200"/>
            <a:r>
              <a:rPr lang="en-US" altLang="zh-CN" sz="2000"/>
              <a:t>// </a:t>
            </a:r>
            <a:r>
              <a:rPr lang="zh-CN" altLang="en-US" sz="2000"/>
              <a:t>形式</a:t>
            </a:r>
            <a:r>
              <a:rPr lang="en-US" altLang="zh-CN" sz="2000"/>
              <a:t>1</a:t>
            </a:r>
            <a:r>
              <a:rPr lang="zh-CN" altLang="en-US" sz="2000"/>
              <a:t>：只指定起始位置，截取从该位置到字符串末尾的子串</a:t>
            </a:r>
            <a:endParaRPr lang="zh-CN" altLang="en-US" sz="2000"/>
          </a:p>
          <a:p>
            <a:pPr indent="457200"/>
            <a:r>
              <a:rPr lang="en-US" altLang="zh-CN" sz="2000"/>
              <a:t>string substr(size_t pos) const;</a:t>
            </a:r>
            <a:endParaRPr lang="en-US" altLang="zh-CN" sz="2000"/>
          </a:p>
          <a:p>
            <a:pPr indent="457200"/>
            <a:r>
              <a:rPr lang="en-US" altLang="zh-CN" sz="2000"/>
              <a:t>// </a:t>
            </a:r>
            <a:r>
              <a:rPr lang="zh-CN" altLang="en-US" sz="2000"/>
              <a:t>形式</a:t>
            </a:r>
            <a:r>
              <a:rPr lang="en-US" altLang="zh-CN" sz="2000"/>
              <a:t>2</a:t>
            </a:r>
            <a:r>
              <a:rPr lang="zh-CN" altLang="en-US" sz="2000"/>
              <a:t>：指定起始位置和子串长度，截取固定长度的子串</a:t>
            </a:r>
            <a:endParaRPr lang="zh-CN" altLang="en-US" sz="2000"/>
          </a:p>
          <a:p>
            <a:pPr indent="457200"/>
            <a:r>
              <a:rPr lang="en-US" altLang="zh-CN" sz="2000"/>
              <a:t>string substr(size_t pos, size_t count) const;</a:t>
            </a:r>
            <a:endParaRPr lang="en-US" altLang="zh-CN" sz="200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753667" name="Rectangle 3"/>
          <p:cNvSpPr>
            <a:spLocks noGrp="1" noChangeArrowheads="1"/>
          </p:cNvSpPr>
          <p:nvPr>
            <p:ph idx="1"/>
          </p:nvPr>
        </p:nvSpPr>
        <p:spPr>
          <a:xfrm>
            <a:off x="78740" y="1162685"/>
            <a:ext cx="9024620" cy="62992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The find() function searches for a substring or character and returns the index of the first match.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楷体_GB2312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Substring and Searching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115" y="3006090"/>
            <a:ext cx="7863840" cy="1938020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2000"/>
              <a:t>string s = "Welcome to C++ programming";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cout &lt;&lt; s.find("come") &lt;&lt; endl;   // 3</a:t>
            </a:r>
            <a:endParaRPr lang="en-US" altLang="zh-CN" sz="2000"/>
          </a:p>
          <a:p>
            <a:r>
              <a:rPr lang="en-US" altLang="zh-CN" sz="2000"/>
              <a:t>cout &lt;&lt; s.find('o') &lt;&lt; endl;      // 4</a:t>
            </a:r>
            <a:endParaRPr lang="en-US" altLang="zh-CN" sz="2000"/>
          </a:p>
          <a:p>
            <a:r>
              <a:rPr lang="en-US" altLang="zh-CN" sz="2000"/>
              <a:t>cout &lt;&lt; s.find("Java") &lt;&lt; endl;   // string::npos (not found)</a:t>
            </a:r>
            <a:endParaRPr lang="en-US" altLang="zh-CN" sz="2000"/>
          </a:p>
          <a:p>
            <a:r>
              <a:rPr lang="en-US" altLang="zh-CN" sz="2000"/>
              <a:t>cout &lt;&lt; s.find("o", 5)&lt;&lt; endl;   // search from index 5 onward</a:t>
            </a:r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285115" y="2199640"/>
            <a:ext cx="800163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/>
              <a:t>Syntax</a:t>
            </a:r>
            <a:r>
              <a:rPr lang="zh-CN" altLang="en-US" sz="2000" b="1"/>
              <a:t>：</a:t>
            </a:r>
            <a:endParaRPr lang="en-US" altLang="zh-CN" sz="2000" b="1"/>
          </a:p>
          <a:p>
            <a:pPr indent="457200"/>
            <a:r>
              <a:rPr lang="en-US" altLang="zh-CN" sz="2000"/>
              <a:t>size_t find(const string&amp; str, size_t pos = 0) const;</a:t>
            </a:r>
            <a:endParaRPr lang="en-US" altLang="zh-CN" sz="2000"/>
          </a:p>
        </p:txBody>
      </p:sp>
      <p:sp>
        <p:nvSpPr>
          <p:cNvPr id="5" name="文本框 4"/>
          <p:cNvSpPr txBox="1"/>
          <p:nvPr/>
        </p:nvSpPr>
        <p:spPr>
          <a:xfrm>
            <a:off x="539115" y="5233670"/>
            <a:ext cx="7863840" cy="1322070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r>
              <a:rPr lang="en-US" altLang="zh-CN" sz="2000"/>
              <a:t>string email = "alice@tju.edu.cn";</a:t>
            </a:r>
            <a:endParaRPr lang="en-US" altLang="zh-CN" sz="2000"/>
          </a:p>
          <a:p>
            <a:r>
              <a:rPr lang="en-US" altLang="zh-CN" sz="2000"/>
              <a:t>int pos = email.find('@');</a:t>
            </a:r>
            <a:endParaRPr lang="en-US" altLang="zh-CN" sz="2000"/>
          </a:p>
          <a:p>
            <a:r>
              <a:rPr lang="en-US" altLang="zh-CN" sz="2000"/>
              <a:t>string user = email.substr(0, pos);</a:t>
            </a:r>
            <a:endParaRPr lang="en-US" altLang="zh-CN" sz="2000"/>
          </a:p>
          <a:p>
            <a:r>
              <a:rPr lang="en-US" altLang="zh-CN" sz="2000"/>
              <a:t>cout &lt;&lt; "Username: " &lt;&lt; user;d</a:t>
            </a:r>
            <a:endParaRPr lang="en-US" altLang="zh-CN" sz="2000"/>
          </a:p>
        </p:txBody>
      </p:sp>
      <p:sp>
        <p:nvSpPr>
          <p:cNvPr id="6" name="文本框 5"/>
          <p:cNvSpPr txBox="1"/>
          <p:nvPr/>
        </p:nvSpPr>
        <p:spPr>
          <a:xfrm>
            <a:off x="4725670" y="600202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Username: alice</a:t>
            </a:r>
            <a:endParaRPr lang="zh-CN" altLang="en-US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753667" name="Rectangle 3"/>
          <p:cNvSpPr>
            <a:spLocks noGrp="1" noChangeArrowheads="1"/>
          </p:cNvSpPr>
          <p:nvPr>
            <p:ph idx="1"/>
          </p:nvPr>
        </p:nvSpPr>
        <p:spPr>
          <a:xfrm>
            <a:off x="78740" y="1162685"/>
            <a:ext cx="9024620" cy="62992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楷体_GB2312"/>
              </a:rPr>
              <a:t>The find() function searches for a substring or character and returns the index of the first match.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楷体_GB2312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Substring and Searching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6455" y="4081780"/>
            <a:ext cx="6765925" cy="1938020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r>
              <a:rPr lang="en-US" altLang="zh-CN"/>
              <a:t>string s = "programming";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cout &lt;&lt; s.substr(0, 3) &lt;&lt; endl;   // "pro"</a:t>
            </a:r>
            <a:endParaRPr lang="en-US" altLang="zh-CN"/>
          </a:p>
          <a:p>
            <a:r>
              <a:rPr lang="en-US" altLang="zh-CN"/>
              <a:t>cout &lt;&lt; s.substr(3, 4) &lt;&lt; endl;   // "gram"</a:t>
            </a:r>
            <a:endParaRPr lang="en-US" altLang="zh-CN"/>
          </a:p>
          <a:p>
            <a:r>
              <a:rPr lang="en-US" altLang="zh-CN"/>
              <a:t>cout &lt;&lt; s.substr(7) &lt;&lt; endl;      // "ming"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85115" y="2276475"/>
            <a:ext cx="800163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/>
              <a:t>Syntax</a:t>
            </a:r>
            <a:r>
              <a:rPr lang="zh-CN" altLang="en-US" sz="2000" b="1"/>
              <a:t>：</a:t>
            </a:r>
            <a:endParaRPr lang="en-US" altLang="zh-CN" sz="2000" b="1"/>
          </a:p>
          <a:p>
            <a:pPr indent="457200"/>
            <a:r>
              <a:rPr lang="en-US" altLang="zh-CN" sz="2000"/>
              <a:t>// </a:t>
            </a:r>
            <a:r>
              <a:rPr lang="zh-CN" altLang="en-US" sz="2000"/>
              <a:t>形式</a:t>
            </a:r>
            <a:r>
              <a:rPr lang="en-US" altLang="zh-CN" sz="2000"/>
              <a:t>1</a:t>
            </a:r>
            <a:r>
              <a:rPr lang="zh-CN" altLang="en-US" sz="2000"/>
              <a:t>：只指定起始位置，截取从该位置到字符串末尾的子串</a:t>
            </a:r>
            <a:endParaRPr lang="zh-CN" altLang="en-US" sz="2000"/>
          </a:p>
          <a:p>
            <a:pPr indent="457200"/>
            <a:r>
              <a:rPr lang="en-US" altLang="zh-CN" sz="2000"/>
              <a:t>string substr(size_t pos) const;</a:t>
            </a:r>
            <a:endParaRPr lang="en-US" altLang="zh-CN" sz="2000"/>
          </a:p>
          <a:p>
            <a:pPr indent="457200"/>
            <a:r>
              <a:rPr lang="en-US" altLang="zh-CN" sz="2000"/>
              <a:t>// </a:t>
            </a:r>
            <a:r>
              <a:rPr lang="zh-CN" altLang="en-US" sz="2000"/>
              <a:t>形式</a:t>
            </a:r>
            <a:r>
              <a:rPr lang="en-US" altLang="zh-CN" sz="2000"/>
              <a:t>2</a:t>
            </a:r>
            <a:r>
              <a:rPr lang="zh-CN" altLang="en-US" sz="2000"/>
              <a:t>：指定起始位置和子串长度，截取固定长度的子串</a:t>
            </a:r>
            <a:endParaRPr lang="zh-CN" altLang="en-US" sz="2000"/>
          </a:p>
          <a:p>
            <a:pPr indent="457200"/>
            <a:r>
              <a:rPr lang="en-US" altLang="zh-CN" sz="2000"/>
              <a:t>string substr(size_t pos, size_t count) const;</a:t>
            </a:r>
            <a:endParaRPr lang="en-US" altLang="zh-CN" sz="200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6"/>
          <p:cNvSpPr/>
          <p:nvPr/>
        </p:nvSpPr>
        <p:spPr>
          <a:xfrm>
            <a:off x="0" y="24653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7651" name="Object 5"/>
          <p:cNvGraphicFramePr>
            <a:graphicFrameLocks noChangeAspect="1"/>
          </p:cNvGraphicFramePr>
          <p:nvPr/>
        </p:nvGraphicFramePr>
        <p:xfrm>
          <a:off x="231775" y="1277938"/>
          <a:ext cx="8486775" cy="342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4777740" imgH="1927860" progId="Word.Picture.8">
                  <p:embed/>
                </p:oleObj>
              </mc:Choice>
              <mc:Fallback>
                <p:oleObj name="" r:id="rId1" imgW="4777740" imgH="192786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1775" y="1277938"/>
                        <a:ext cx="8486775" cy="3422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灯片编号占位符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7653" name="Rectangle 2"/>
          <p:cNvSpPr txBox="1"/>
          <p:nvPr/>
        </p:nvSpPr>
        <p:spPr>
          <a:xfrm>
            <a:off x="1000125" y="598488"/>
            <a:ext cx="7391400" cy="4873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String Operators </a:t>
            </a:r>
            <a:endParaRPr lang="en-US" altLang="zh-CN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1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8675" name="Object 6"/>
          <p:cNvGraphicFramePr>
            <a:graphicFrameLocks noChangeAspect="1"/>
          </p:cNvGraphicFramePr>
          <p:nvPr/>
        </p:nvGraphicFramePr>
        <p:xfrm>
          <a:off x="2222500" y="279400"/>
          <a:ext cx="4699000" cy="650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0583525" imgH="28413075" progId="Word.Picture.8">
                  <p:embed/>
                </p:oleObj>
              </mc:Choice>
              <mc:Fallback>
                <p:oleObj name="" r:id="rId1" imgW="20583525" imgH="28413075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22500" y="279400"/>
                        <a:ext cx="4699000" cy="65008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9699" name="矩形 4"/>
          <p:cNvSpPr/>
          <p:nvPr/>
        </p:nvSpPr>
        <p:spPr>
          <a:xfrm>
            <a:off x="347663" y="1355725"/>
            <a:ext cx="3571875" cy="5354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Counting Characters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Write a program which counts and reports the number of each alphabetical letter. Ignore the case of characters.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 sentence in English is given in several lines.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Prints the number of alphabetical letters in the following format: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: The number of 'a'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: The number of 'b'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: The number of 'c'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: The number of 'z'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1800" b="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9700" name="矩形 2"/>
          <p:cNvSpPr/>
          <p:nvPr/>
        </p:nvSpPr>
        <p:spPr>
          <a:xfrm>
            <a:off x="4725988" y="1355725"/>
            <a:ext cx="3840162" cy="1938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Constraints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The number of characters in the sentence &lt; 1200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Input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This is a pen.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Output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9701" name="矩形 4"/>
          <p:cNvPicPr/>
          <p:nvPr/>
        </p:nvPicPr>
        <p:blipFill>
          <a:blip r:embed="rId1"/>
          <a:stretch>
            <a:fillRect/>
          </a:stretch>
        </p:blipFill>
        <p:spPr>
          <a:xfrm>
            <a:off x="4699000" y="3352800"/>
            <a:ext cx="3987800" cy="2984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Exercise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0723" name="矩形 4"/>
          <p:cNvSpPr/>
          <p:nvPr/>
        </p:nvSpPr>
        <p:spPr>
          <a:xfrm>
            <a:off x="423863" y="1662113"/>
            <a:ext cx="3573462" cy="3786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Toggling Cases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Write a program which converts uppercase/lowercase letters to lowercase/uppercase for a given string.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string is given in a line.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the converted string in a line. Note that you do not need to convert any characters other than alphabetical letters. </a:t>
            </a:r>
            <a:endParaRPr lang="zh-CN" altLang="en-US" sz="2000" b="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724" name="矩形 2"/>
          <p:cNvSpPr/>
          <p:nvPr/>
        </p:nvSpPr>
        <p:spPr>
          <a:xfrm>
            <a:off x="3895725" y="1970088"/>
            <a:ext cx="4992688" cy="3170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Constraints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The length of the input string &lt; 1200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Input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fAIR, LATER, OCCASIONALLY CLOUDY.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Output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Fair, later, occasionally cloudy.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Exercise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矩形 4"/>
          <p:cNvSpPr/>
          <p:nvPr/>
        </p:nvSpPr>
        <p:spPr>
          <a:xfrm>
            <a:off x="501650" y="1662113"/>
            <a:ext cx="7872413" cy="3786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 Game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Taro and Hanako are playing card games. They have n cards each, and they compete n turns. At each turn Taro and Hanako respectively puts out a card. The name of the animal consisting of alphabetical letters is written on each card, and the bigger one in lexicographical order becomes the winner of that turn. The winner obtains 3 points. In the case of a draw, they obtain 1 point each.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which reads a sequence of cards Taro and Hanako have and reports the final scores of the game.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first line, the number of cards n is given. In the following n lines, the cards for n turns are given respectively. For each line, the first string represents the Taro's card and the second one represents Hanako's card. 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Exercise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2771" name="矩形 4"/>
          <p:cNvSpPr/>
          <p:nvPr/>
        </p:nvSpPr>
        <p:spPr>
          <a:xfrm>
            <a:off x="501650" y="1277938"/>
            <a:ext cx="7872413" cy="5016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n ≤ 1000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The length of the string ≤ 100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the final scores of Taro and Hanako respectively. Put a single space character between them.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Input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 dog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fish fish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lion tiger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</a:t>
            </a:r>
            <a:endParaRPr lang="en-US" altLang="zh-C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6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1 7</a:t>
            </a:r>
            <a:endParaRPr lang="en-US" altLang="zh-CN" sz="1600" b="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Exercise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3795" name="矩形 3"/>
          <p:cNvSpPr/>
          <p:nvPr/>
        </p:nvSpPr>
        <p:spPr>
          <a:xfrm>
            <a:off x="117475" y="1201738"/>
            <a:ext cx="4530725" cy="3786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Ring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Write a program which finds a pattern p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in a ring shaped text s. 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Input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In the first line, the text s is given.</a:t>
            </a:r>
            <a:b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</a:b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In the second line, the pattern pis given. 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Output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If p is in s, print Yes in a line, otherwise No. 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Constraints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1≤length of p≤ length of s≤100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s and p consists of lower-case letters</a:t>
            </a:r>
            <a:endParaRPr lang="zh-CN" altLang="en-US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6" name="矩形 7"/>
          <p:cNvSpPr/>
          <p:nvPr/>
        </p:nvSpPr>
        <p:spPr>
          <a:xfrm>
            <a:off x="155575" y="4905375"/>
            <a:ext cx="3225800" cy="1631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Input 1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vanceknowledgetoad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advance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Output 1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Yes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7" name="矩形 9"/>
          <p:cNvSpPr/>
          <p:nvPr/>
        </p:nvSpPr>
        <p:spPr>
          <a:xfrm>
            <a:off x="5821363" y="1201738"/>
            <a:ext cx="2767012" cy="1651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Input 2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vanceknowledgetoad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advanced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Output 2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No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3798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0725" y="4102100"/>
            <a:ext cx="1714500" cy="1771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Exercise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 dirty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</a:fld>
            <a:endParaRPr lang="en-US" altLang="zh-CN" sz="1600" b="0" dirty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34819" name="矩形 4"/>
          <p:cNvSpPr/>
          <p:nvPr/>
        </p:nvSpPr>
        <p:spPr>
          <a:xfrm>
            <a:off x="98425" y="1123950"/>
            <a:ext cx="4070350" cy="5632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a Word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Write a program which reads a word W and a text T, and prints the number of word W which appears in text T. T consists of string Ti separated by space characters and newlines. Count the number of Ti which equals to W. The word and text are case insensitive.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The length of W ≤ 10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 consists of lower case letters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The length of T in a line ≤ 1000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first line, the word W is given. In the following lines, the text T is given separated by space characters and newlines.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"END_OF_TEXT" indicates the end of the text. </a:t>
            </a:r>
            <a:endParaRPr lang="en-US" altLang="zh-C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1800" b="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4820" name="矩形 2"/>
          <p:cNvSpPr/>
          <p:nvPr/>
        </p:nvSpPr>
        <p:spPr>
          <a:xfrm>
            <a:off x="4379913" y="1123950"/>
            <a:ext cx="4572000" cy="4094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Output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   Print the number of W in the text.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Input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computer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Nurtures computer scientists and highly-skilled computer engineers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who will create and exploit "knowledge" for the new era.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Provides an outstanding computer environment.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END_OF_TEXT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Output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 bwMode="white">
          <a:xfrm>
            <a:off x="1000125" y="598488"/>
            <a:ext cx="7391400" cy="48736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楷体_GB2312"/>
              </a:rPr>
              <a:t>Exercise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楷体_GB2312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TABLE_ENDDRAG_ORIGIN_RECT" val="553*237"/>
  <p:tag name="TABLE_ENDDRAG_RECT" val="99*109*553*237"/>
</p:tagLst>
</file>

<file path=ppt/tags/tag2.xml><?xml version="1.0" encoding="utf-8"?>
<p:tagLst xmlns:p="http://schemas.openxmlformats.org/presentationml/2006/main">
  <p:tag name="TABLE_ENDDRAG_ORIGIN_RECT" val="361*104"/>
  <p:tag name="TABLE_ENDDRAG_RECT" val="211*303*361*104"/>
</p:tagLst>
</file>

<file path=ppt/tags/tag3.xml><?xml version="1.0" encoding="utf-8"?>
<p:tagLst xmlns:p="http://schemas.openxmlformats.org/presentationml/2006/main">
  <p:tag name="resource_record_key" val="{&quot;29&quot;:[50053121]}"/>
</p:tagLst>
</file>

<file path=ppt/theme/theme1.xml><?xml version="1.0" encoding="utf-8"?>
<a:theme xmlns:a="http://schemas.openxmlformats.org/drawingml/2006/main" name="主题1">
  <a:themeElements>
    <a:clrScheme name="117TGp_report_diagram_v2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117TGp_report_diagram_v2">
      <a:majorFont>
        <a:latin typeface="Times New Roman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117TGp_report_diagram_v2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1">
  <a:themeElements>
    <a:clrScheme name="117TGp_report_diagram_v2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117TGp_report_diagram_v2">
      <a:majorFont>
        <a:latin typeface="Times New Roman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117TGp_report_diagram_v2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0</TotalTime>
  <Words>7740</Words>
  <Application>WPS 演示</Application>
  <PresentationFormat>全屏显示(4:3)</PresentationFormat>
  <Paragraphs>432</Paragraphs>
  <Slides>21</Slides>
  <Notes>3</Notes>
  <HiddenSlides>0</HiddenSlides>
  <MMClips>0</MMClips>
  <ScaleCrop>false</ScaleCrop>
  <HeadingPairs>
    <vt:vector size="10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  <vt:variant>
        <vt:lpstr>自定义放映</vt:lpstr>
      </vt:variant>
      <vt:variant>
        <vt:i4>1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楷体_GB2312</vt:lpstr>
      <vt:lpstr>新宋体</vt:lpstr>
      <vt:lpstr>Lucida Sans Unicode</vt:lpstr>
      <vt:lpstr>微软雅黑</vt:lpstr>
      <vt:lpstr>黑体</vt:lpstr>
      <vt:lpstr>楷体</vt:lpstr>
      <vt:lpstr>Courier New</vt:lpstr>
      <vt:lpstr>Cambria Math</vt:lpstr>
      <vt:lpstr>Monotype Sorts</vt:lpstr>
      <vt:lpstr>Wingdings</vt:lpstr>
      <vt:lpstr>楷体_GB2312</vt:lpstr>
      <vt:lpstr>Verdana</vt:lpstr>
      <vt:lpstr>Arial Unicode MS</vt:lpstr>
      <vt:lpstr>楷体_GB2312</vt:lpstr>
      <vt:lpstr>Calibri</vt:lpstr>
      <vt:lpstr>主题1</vt:lpstr>
      <vt:lpstr>1_主题1</vt:lpstr>
      <vt:lpstr>Word.Picture.8</vt:lpstr>
      <vt:lpstr>Word.Picture.8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Custom Show 1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Methods</dc:title>
  <dc:creator>Y. Daniel Liang</dc:creator>
  <cp:lastModifiedBy>王建荣</cp:lastModifiedBy>
  <cp:revision>364</cp:revision>
  <dcterms:created xsi:type="dcterms:W3CDTF">1995-06-10T17:31:50Z</dcterms:created>
  <dcterms:modified xsi:type="dcterms:W3CDTF">2025-11-04T12:51:26Z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9ACF916343CD40769441DDDA635D5CD8_12</vt:lpwstr>
  </property>
  <property fmtid="{D5CDD505-2E9C-101B-9397-08002B2CF9AE}" pid="3" name="KSOProductBuildVer">
    <vt:lpwstr>2052-12.1.0.23542</vt:lpwstr>
  </property>
</Properties>
</file>