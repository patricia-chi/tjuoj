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739" r:id="rId2"/>
    <p:sldId id="705" r:id="rId3"/>
    <p:sldId id="706" r:id="rId4"/>
    <p:sldId id="707" r:id="rId5"/>
    <p:sldId id="708" r:id="rId6"/>
    <p:sldId id="709" r:id="rId7"/>
    <p:sldId id="710" r:id="rId8"/>
    <p:sldId id="711" r:id="rId9"/>
    <p:sldId id="712" r:id="rId10"/>
    <p:sldId id="713" r:id="rId11"/>
    <p:sldId id="714" r:id="rId12"/>
    <p:sldId id="715" r:id="rId13"/>
  </p:sldIdLst>
  <p:sldSz cx="9144000" cy="6858000" type="screen4x3"/>
  <p:notesSz cx="6858000" cy="9144000"/>
  <p:custShowLst>
    <p:custShow name="Custom Show 1" id="0">
      <p:sldLst/>
    </p:custShow>
  </p:custShowLst>
  <p:custDataLst>
    <p:tags r:id="rId15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楷体_GB231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231"/>
    <p:restoredTop sz="90929"/>
  </p:normalViewPr>
  <p:slideViewPr>
    <p:cSldViewPr showGuides="1">
      <p:cViewPr varScale="1">
        <p:scale>
          <a:sx n="86" d="100"/>
          <a:sy n="86" d="100"/>
        </p:scale>
        <p:origin x="200" y="2184"/>
      </p:cViewPr>
      <p:guideLst>
        <p:guide orient="horz" pos="864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38405" cy="384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7410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2</a:t>
            </a:fld>
            <a:endParaRPr lang="en-US" altLang="zh-CN"/>
          </a:p>
        </p:txBody>
      </p:sp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3</a:t>
            </a:fld>
            <a:endParaRPr lang="en-US" altLang="zh-CN"/>
          </a:p>
        </p:txBody>
      </p:sp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4</a:t>
            </a:fld>
            <a:endParaRPr lang="en-US" altLang="zh-CN"/>
          </a:p>
        </p:txBody>
      </p:sp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5</a:t>
            </a:fld>
            <a:endParaRPr lang="en-US" altLang="zh-CN"/>
          </a:p>
        </p:txBody>
      </p:sp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6</a:t>
            </a:fld>
            <a:endParaRPr lang="en-US" altLang="zh-CN"/>
          </a:p>
        </p:txBody>
      </p:sp>
      <p:sp>
        <p:nvSpPr>
          <p:cNvPr id="6349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349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7</a:t>
            </a:fld>
            <a:endParaRPr lang="en-US" altLang="zh-CN"/>
          </a:p>
        </p:txBody>
      </p:sp>
      <p:sp>
        <p:nvSpPr>
          <p:cNvPr id="6553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553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8</a:t>
            </a:fld>
            <a:endParaRPr lang="en-US" altLang="zh-CN"/>
          </a:p>
        </p:txBody>
      </p:sp>
      <p:sp>
        <p:nvSpPr>
          <p:cNvPr id="6758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7587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9</a:t>
            </a:fld>
            <a:endParaRPr lang="en-US" altLang="zh-CN"/>
          </a:p>
        </p:txBody>
      </p:sp>
      <p:sp>
        <p:nvSpPr>
          <p:cNvPr id="6963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9635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10</a:t>
            </a:fld>
            <a:endParaRPr lang="en-US" altLang="zh-CN"/>
          </a:p>
        </p:txBody>
      </p:sp>
      <p:sp>
        <p:nvSpPr>
          <p:cNvPr id="7168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71683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11</a:t>
            </a:fld>
            <a:endParaRPr lang="en-US" altLang="zh-CN"/>
          </a:p>
        </p:txBody>
      </p:sp>
      <p:sp>
        <p:nvSpPr>
          <p:cNvPr id="7373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73731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fld id="{9A0DB2DC-4C9A-4742-B13C-FB6460FD3503}" type="slidenum">
              <a:rPr lang="en-US" altLang="zh-CN"/>
              <a:t>12</a:t>
            </a:fld>
            <a:endParaRPr lang="en-US" altLang="zh-CN"/>
          </a:p>
        </p:txBody>
      </p:sp>
      <p:sp>
        <p:nvSpPr>
          <p:cNvPr id="7577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63650" y="725488"/>
            <a:ext cx="4776788" cy="35829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75779" name="Rectangle 3"/>
          <p:cNvSpPr>
            <a:spLocks noGrp="1"/>
          </p:cNvSpPr>
          <p:nvPr>
            <p:ph type="body" idx="1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NULL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194" name="Group 29"/>
          <p:cNvGrpSpPr/>
          <p:nvPr/>
        </p:nvGrpSpPr>
        <p:grpSpPr>
          <a:xfrm>
            <a:off x="1143000" y="628650"/>
            <a:ext cx="8012113" cy="2571750"/>
            <a:chOff x="720" y="396"/>
            <a:chExt cx="5047" cy="1620"/>
          </a:xfrm>
        </p:grpSpPr>
        <p:sp>
          <p:nvSpPr>
            <p:cNvPr id="13" name="Rectangle 18"/>
            <p:cNvSpPr>
              <a:spLocks noChangeArrowheads="1"/>
            </p:cNvSpPr>
            <p:nvPr/>
          </p:nvSpPr>
          <p:spPr bwMode="gray">
            <a:xfrm>
              <a:off x="1081" y="396"/>
              <a:ext cx="4686" cy="159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4" name="Rectangle 28"/>
            <p:cNvSpPr>
              <a:spLocks noChangeArrowheads="1"/>
            </p:cNvSpPr>
            <p:nvPr/>
          </p:nvSpPr>
          <p:spPr bwMode="gray">
            <a:xfrm>
              <a:off x="720" y="1440"/>
              <a:ext cx="576" cy="57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15" name="Rectangle 17"/>
          <p:cNvSpPr>
            <a:spLocks noChangeArrowheads="1"/>
          </p:cNvSpPr>
          <p:nvPr/>
        </p:nvSpPr>
        <p:spPr bwMode="gray">
          <a:xfrm>
            <a:off x="1130300" y="3141663"/>
            <a:ext cx="8013700" cy="5746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6" name="Rectangle 19"/>
          <p:cNvSpPr>
            <a:spLocks noChangeArrowheads="1"/>
          </p:cNvSpPr>
          <p:nvPr/>
        </p:nvSpPr>
        <p:spPr bwMode="gray">
          <a:xfrm>
            <a:off x="573088" y="2520950"/>
            <a:ext cx="576263" cy="64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7" name="Rectangle 20"/>
          <p:cNvSpPr>
            <a:spLocks noChangeArrowheads="1"/>
          </p:cNvSpPr>
          <p:nvPr/>
        </p:nvSpPr>
        <p:spPr bwMode="gray">
          <a:xfrm>
            <a:off x="1716088" y="628650"/>
            <a:ext cx="566738" cy="636588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8" name="Rectangle 21"/>
          <p:cNvSpPr>
            <a:spLocks noChangeArrowheads="1"/>
          </p:cNvSpPr>
          <p:nvPr/>
        </p:nvSpPr>
        <p:spPr bwMode="gray">
          <a:xfrm>
            <a:off x="2278063" y="0"/>
            <a:ext cx="585788" cy="635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9" name="Rectangle 22"/>
          <p:cNvSpPr>
            <a:spLocks noChangeArrowheads="1"/>
          </p:cNvSpPr>
          <p:nvPr/>
        </p:nvSpPr>
        <p:spPr bwMode="gray">
          <a:xfrm>
            <a:off x="2281238" y="628650"/>
            <a:ext cx="585788" cy="631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gray">
          <a:xfrm>
            <a:off x="1141413" y="1262063"/>
            <a:ext cx="574675" cy="62547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1" name="Rectangle 24"/>
          <p:cNvSpPr>
            <a:spLocks noChangeArrowheads="1"/>
          </p:cNvSpPr>
          <p:nvPr/>
        </p:nvSpPr>
        <p:spPr bwMode="gray">
          <a:xfrm>
            <a:off x="1716088" y="1263650"/>
            <a:ext cx="566738" cy="622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2" name="Rectangle 25"/>
          <p:cNvSpPr>
            <a:spLocks noChangeArrowheads="1"/>
          </p:cNvSpPr>
          <p:nvPr/>
        </p:nvSpPr>
        <p:spPr bwMode="gray">
          <a:xfrm>
            <a:off x="573088" y="1885950"/>
            <a:ext cx="576263" cy="644525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3" name="Rectangle 26"/>
          <p:cNvSpPr>
            <a:spLocks noChangeArrowheads="1"/>
          </p:cNvSpPr>
          <p:nvPr/>
        </p:nvSpPr>
        <p:spPr bwMode="gray">
          <a:xfrm>
            <a:off x="1141413" y="1885950"/>
            <a:ext cx="576263" cy="644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24" name="Rectangle 27"/>
          <p:cNvSpPr>
            <a:spLocks noChangeArrowheads="1"/>
          </p:cNvSpPr>
          <p:nvPr/>
        </p:nvSpPr>
        <p:spPr bwMode="gray">
          <a:xfrm>
            <a:off x="0" y="2528888"/>
            <a:ext cx="574675" cy="633413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36205" name="Picture 30" descr="http://www.tju.edu.cn/yx/images/badge.gif"/>
          <p:cNvPicPr>
            <a:picLocks noChangeAspect="1"/>
          </p:cNvPicPr>
          <p:nvPr/>
        </p:nvPicPr>
        <p:blipFill>
          <a:blip r:embed="rId2" r:link="rId3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752600" y="1800225"/>
            <a:ext cx="6629400" cy="1012825"/>
          </a:xfrm>
        </p:spPr>
        <p:txBody>
          <a:bodyPr/>
          <a:lstStyle>
            <a:lvl1pPr algn="ctr">
              <a:defRPr sz="4400" i="1">
                <a:latin typeface="Verdana" panose="020B060403050404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600200" y="3276600"/>
            <a:ext cx="6324600" cy="3810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en-US" altLang="zh-CN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24888" y="6532563"/>
            <a:ext cx="511175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841DF7-F00D-8219-C06F-F3F197DC06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86288" y="1125538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D1D62D-0F30-0672-A468-BEA1B38BE3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96C2C9C-D111-E155-6B99-A1D86936B6C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A0CAC9-89DB-A4F1-F2E3-6BA4C4DB73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229E1A-9300-C2AA-AC4F-42745E5B0B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25247A-C191-EBC2-6007-D6CEC1DD3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lt"/>
                <a:ea typeface="+mn-ea"/>
                <a:cs typeface="楷体_GB2312"/>
              </a:rPr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700F75-60EC-9A51-4DD1-2D69D24DA1A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33CE0CD-1081-F274-3228-ABB01321819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457200"/>
            <a:ext cx="2057400" cy="59166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457200"/>
            <a:ext cx="6019800" cy="59166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0D4ADB-7216-7248-D200-ACD369ED117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95288" y="457200"/>
            <a:ext cx="8229600" cy="59166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灯片编号占位符 2"/>
          <p:cNvSpPr>
            <a:spLocks noGrp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3"/>
          </p:nvPr>
        </p:nvSpPr>
        <p:spPr>
          <a:xfrm>
            <a:off x="684213" y="6165850"/>
            <a:ext cx="7380288" cy="3206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>
              <a:buNone/>
            </a:pPr>
            <a:r>
              <a:rPr lang="en-US" altLang="zh-CN"/>
              <a:t> </a:t>
            </a:r>
            <a:r>
              <a:rPr lang="zh-CN" altLang="en-US"/>
              <a:t> </a:t>
            </a:r>
            <a:r>
              <a:rPr lang="zh-CN" altLang="en-US">
                <a:solidFill>
                  <a:schemeClr val="folHlink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坐标测量与定位</a:t>
            </a:r>
            <a:endParaRPr lang="en-US" altLang="zh-CN">
              <a:solidFill>
                <a:schemeClr val="folHlink"/>
              </a:solidFill>
              <a:effectLst>
                <a:outerShdw blurRad="38100" dist="38100" dir="2700000">
                  <a:srgbClr val="C0C0C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F214F2-FD7D-F73D-D745-2DC5A5C8E1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2325" y="0"/>
            <a:ext cx="7848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649288" y="2403475"/>
            <a:ext cx="78486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49288" y="4537075"/>
            <a:ext cx="78486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2" name="日期占位符 4"/>
          <p:cNvSpPr>
            <a:spLocks noGrp="1"/>
          </p:cNvSpPr>
          <p:nvPr>
            <p:ph type="dt" sz="half" idx="12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3" name="页脚占位符 5"/>
          <p:cNvSpPr>
            <a:spLocks noGrp="1"/>
          </p:cNvSpPr>
          <p:nvPr>
            <p:ph type="ftr" sz="quarter" idx="3"/>
          </p:nvPr>
        </p:nvSpPr>
        <p:spPr>
          <a:xfrm>
            <a:off x="6019800" y="6248400"/>
            <a:ext cx="1600200" cy="457200"/>
          </a:xfrm>
        </p:spPr>
        <p:txBody>
          <a:bodyPr/>
          <a:lstStyle>
            <a:lvl1pPr>
              <a:defRPr>
                <a:ea typeface="楷体_GB2312" pitchFamily="49" charset="-122"/>
                <a:cs typeface="+mn-cs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4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7848600" y="6248400"/>
            <a:ext cx="609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buNone/>
            </a:pPr>
            <a:fld id="{9A0DB2DC-4C9A-4742-B13C-FB6460FD3503}" type="slidenum">
              <a:rPr lang="en-US" altLang="zh-CN">
                <a:latin typeface="Lucida Sans Unicode" panose="020B0602030504020204" pitchFamily="34" charset="0"/>
                <a:ea typeface="宋体" panose="02010600030101010101" pitchFamily="2" charset="-122"/>
              </a:rPr>
              <a:t>‹#›</a:t>
            </a:fld>
            <a:endParaRPr lang="en-US" altLang="zh-CN"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756E4F-4F52-CF81-7F4E-2ACD7B7B85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907491" y="0"/>
            <a:ext cx="2236510" cy="338554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lvl="0" algn="r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NULL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ChangeArrowheads="1"/>
          </p:cNvSpPr>
          <p:nvPr/>
        </p:nvSpPr>
        <p:spPr bwMode="gray">
          <a:xfrm>
            <a:off x="655638" y="360363"/>
            <a:ext cx="8497888" cy="719138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395288" y="1125538"/>
            <a:ext cx="8229600" cy="52482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5373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600">
                <a:latin typeface="Lucida Sans Unicode" panose="020B0602030504020204" pitchFamily="34" charset="0"/>
                <a:ea typeface="宋体" panose="02010600030101010101" pitchFamily="2" charset="-122"/>
              </a:defRPr>
            </a:lvl1pPr>
          </a:lstStyle>
          <a:p>
            <a:pPr lvl="0">
              <a:buNone/>
            </a:pPr>
            <a:fld id="{9A0DB2DC-4C9A-4742-B13C-FB6460FD350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9" name="Rectangle 2"/>
          <p:cNvSpPr>
            <a:spLocks noGrp="1"/>
          </p:cNvSpPr>
          <p:nvPr>
            <p:ph type="title"/>
          </p:nvPr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" name="Rectangle 24"/>
          <p:cNvSpPr>
            <a:spLocks noChangeArrowheads="1"/>
          </p:cNvSpPr>
          <p:nvPr/>
        </p:nvSpPr>
        <p:spPr bwMode="gray">
          <a:xfrm>
            <a:off x="0" y="71913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1" name="Rectangle 25"/>
          <p:cNvSpPr>
            <a:spLocks noChangeArrowheads="1"/>
          </p:cNvSpPr>
          <p:nvPr/>
        </p:nvSpPr>
        <p:spPr bwMode="gray">
          <a:xfrm>
            <a:off x="328613" y="357188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2" name="Rectangle 26"/>
          <p:cNvSpPr>
            <a:spLocks noChangeArrowheads="1"/>
          </p:cNvSpPr>
          <p:nvPr/>
        </p:nvSpPr>
        <p:spPr bwMode="gray">
          <a:xfrm>
            <a:off x="657225" y="0"/>
            <a:ext cx="328613" cy="36195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3" name="Rectangle 28"/>
          <p:cNvSpPr>
            <a:spLocks noChangeArrowheads="1"/>
          </p:cNvSpPr>
          <p:nvPr/>
        </p:nvSpPr>
        <p:spPr bwMode="gray">
          <a:xfrm>
            <a:off x="657225" y="361950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4" name="Rectangle 29"/>
          <p:cNvSpPr>
            <a:spLocks noChangeArrowheads="1"/>
          </p:cNvSpPr>
          <p:nvPr/>
        </p:nvSpPr>
        <p:spPr bwMode="gray">
          <a:xfrm>
            <a:off x="328613" y="719138"/>
            <a:ext cx="328613" cy="361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035" name="Picture 31" descr="http://www.tju.edu.cn/yx/images/badge.gif"/>
          <p:cNvPicPr>
            <a:picLocks noChangeAspect="1"/>
          </p:cNvPicPr>
          <p:nvPr/>
        </p:nvPicPr>
        <p:blipFill>
          <a:blip r:embed="rId15" r:link="rId16"/>
          <a:stretch>
            <a:fillRect/>
          </a:stretch>
        </p:blipFill>
        <p:spPr>
          <a:xfrm>
            <a:off x="0" y="0"/>
            <a:ext cx="792163" cy="7858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楷体_GB231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  <a:cs typeface="楷体_GB231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Times New Roman" panose="02020603050405020304" pitchFamily="18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Font typeface="Wingdings" panose="05000000000000000000" pitchFamily="2" charset="2"/>
        <a:buChar char="Ø"/>
        <a:defRPr sz="2800" b="1">
          <a:solidFill>
            <a:srgbClr val="000099"/>
          </a:solidFill>
          <a:latin typeface="+mn-lt"/>
          <a:ea typeface="+mn-ea"/>
          <a:cs typeface="楷体_GB231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l"/>
        <a:defRPr sz="2800" b="1">
          <a:solidFill>
            <a:srgbClr val="000099"/>
          </a:solidFill>
          <a:latin typeface="+mn-lt"/>
          <a:ea typeface="+mn-ea"/>
          <a:cs typeface="楷体_GB231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CC"/>
        </a:buClr>
        <a:buChar char="•"/>
        <a:defRPr sz="2400" b="1">
          <a:solidFill>
            <a:srgbClr val="000099"/>
          </a:solidFill>
          <a:latin typeface="+mn-lt"/>
          <a:ea typeface="+mn-ea"/>
          <a:cs typeface="楷体_GB231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000099"/>
          </a:solidFill>
          <a:latin typeface="+mn-lt"/>
          <a:ea typeface="+mn-ea"/>
          <a:cs typeface="楷体_GB231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  <a:cs typeface="楷体_GB231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rgbClr val="0000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/>
          <p:cNvSpPr>
            <a:spLocks noGrp="1"/>
          </p:cNvSpPr>
          <p:nvPr>
            <p:ph type="ctrTitle"/>
          </p:nvPr>
        </p:nvSpPr>
        <p:spPr>
          <a:xfrm>
            <a:off x="609600" y="2209800"/>
            <a:ext cx="8229600" cy="1066800"/>
          </a:xfrm>
          <a:ln/>
        </p:spPr>
        <p:txBody>
          <a:bodyPr vert="horz" wrap="square" lIns="91440" tIns="45720" rIns="91440" bIns="45720" anchor="ctr" anchorCtr="0"/>
          <a:lstStyle/>
          <a:p>
            <a:pPr>
              <a:buClrTx/>
              <a:buSzTx/>
              <a:buFontTx/>
            </a:pPr>
            <a:r>
              <a:rPr lang="zh-CN" altLang="en-US" sz="4800"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rPr>
              <a:t>程序设计原理</a:t>
            </a:r>
          </a:p>
        </p:txBody>
      </p:sp>
      <p:sp>
        <p:nvSpPr>
          <p:cNvPr id="16387" name="文本框 1"/>
          <p:cNvSpPr txBox="1"/>
          <p:nvPr/>
        </p:nvSpPr>
        <p:spPr>
          <a:xfrm>
            <a:off x="3084369" y="3198813"/>
            <a:ext cx="3280065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联合体与抽象数据类型</a:t>
            </a:r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55D43A-5F6A-F739-4EE4-EF748EE6A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267200"/>
            <a:ext cx="36576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l"/>
              <a:defRPr sz="28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任课教师： 喻  梅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于瑞国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王建荣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李雪威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r>
              <a:rPr lang="zh-CN" altLang="en-US" sz="2400">
                <a:solidFill>
                  <a:schemeClr val="tx1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赵满坤</a:t>
            </a:r>
            <a:endParaRPr lang="en-US" altLang="zh-CN" sz="2400">
              <a:solidFill>
                <a:schemeClr val="tx1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/>
          <p:nvPr/>
        </p:nvSpPr>
        <p:spPr>
          <a:xfrm>
            <a:off x="558800" y="3471863"/>
            <a:ext cx="7815263" cy="27860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4" name="Rectangle 3"/>
          <p:cNvSpPr>
            <a:spLocks noGrp="1"/>
          </p:cNvSpPr>
          <p:nvPr>
            <p:ph type="body" sz="half" idx="1" hasCustomPrompt="1"/>
          </p:nvPr>
        </p:nvSpPr>
        <p:spPr>
          <a:xfrm>
            <a:off x="539750" y="1316038"/>
            <a:ext cx="8121650" cy="4992687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>
                <a:solidFill>
                  <a:srgbClr val="990000"/>
                </a:solidFill>
                <a:ea typeface="宋体" panose="02010600030101010101" pitchFamily="2" charset="-122"/>
              </a:rPr>
              <a:t>DEFINITION</a:t>
            </a:r>
            <a:endParaRPr lang="en-US" altLang="zh-CN" sz="2400">
              <a:solidFill>
                <a:srgbClr val="990000"/>
              </a:solidFill>
              <a:ea typeface="宋体" panose="02010600030101010101" pitchFamily="2" charset="-122"/>
            </a:endParaRP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endParaRPr lang="en-US" altLang="zh-CN" sz="8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400">
                <a:ea typeface="宋体" panose="02010600030101010101" pitchFamily="2" charset="-122"/>
              </a:rPr>
              <a:t>A union is a struct that holds only one of its members at a time during program execution.</a:t>
            </a: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endParaRPr lang="en-US" altLang="zh-CN" sz="1000">
              <a:ea typeface="宋体" panose="02010600030101010101" pitchFamily="2" charset="-122"/>
            </a:endParaRP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>
                <a:solidFill>
                  <a:srgbClr val="990000"/>
                </a:solidFill>
                <a:ea typeface="宋体" panose="02010600030101010101" pitchFamily="2" charset="-122"/>
              </a:rPr>
              <a:t>EXAMPLE</a:t>
            </a:r>
            <a:endParaRPr lang="en-US" altLang="zh-CN" sz="2400">
              <a:solidFill>
                <a:srgbClr val="990000"/>
              </a:solidFill>
              <a:ea typeface="宋体" panose="02010600030101010101" pitchFamily="2" charset="-122"/>
            </a:endParaRP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endParaRPr lang="en-US" altLang="zh-CN" sz="10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union WeightType</a:t>
            </a: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{</a:t>
            </a: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    long wtInOunces; </a:t>
            </a: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    int  wtInPounds;	        </a:t>
            </a:r>
            <a:r>
              <a:rPr lang="en-US" altLang="zh-CN" sz="18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Only one at a time</a:t>
            </a:r>
            <a:endParaRPr lang="en-US" altLang="zh-CN" sz="2400">
              <a:solidFill>
                <a:srgbClr val="990000"/>
              </a:solidFill>
              <a:latin typeface="Courier" charset="0"/>
              <a:ea typeface="宋体" panose="02010600030101010101" pitchFamily="2" charset="-122"/>
            </a:endParaRP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    float wtInTons;</a:t>
            </a:r>
          </a:p>
          <a:p>
            <a:pPr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400">
                <a:latin typeface="Courier" charset="0"/>
                <a:ea typeface="宋体" panose="02010600030101010101" pitchFamily="2" charset="-122"/>
              </a:rPr>
              <a:t> };</a:t>
            </a:r>
            <a:r>
              <a:rPr lang="en-US" altLang="zh-CN" sz="2400">
                <a:ea typeface="宋体" panose="02010600030101010101" pitchFamily="2" charset="-122"/>
              </a:rPr>
              <a:t>         </a:t>
            </a:r>
          </a:p>
        </p:txBody>
      </p:sp>
      <p:sp>
        <p:nvSpPr>
          <p:cNvPr id="54276" name="Line 5"/>
          <p:cNvSpPr/>
          <p:nvPr/>
        </p:nvSpPr>
        <p:spPr>
          <a:xfrm>
            <a:off x="3968750" y="4776788"/>
            <a:ext cx="1368425" cy="503237"/>
          </a:xfrm>
          <a:prstGeom prst="line">
            <a:avLst/>
          </a:prstGeom>
          <a:ln w="28575" cap="flat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277" name="Line 6"/>
          <p:cNvSpPr/>
          <p:nvPr/>
        </p:nvSpPr>
        <p:spPr>
          <a:xfrm flipV="1">
            <a:off x="3911600" y="5289550"/>
            <a:ext cx="1443038" cy="515938"/>
          </a:xfrm>
          <a:prstGeom prst="line">
            <a:avLst/>
          </a:prstGeom>
          <a:ln w="28575" cap="flat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278" name="灯片编号占位符 3"/>
          <p:cNvSpPr/>
          <p:nvPr/>
        </p:nvSpPr>
        <p:spPr>
          <a:xfrm>
            <a:off x="8624888" y="6532563"/>
            <a:ext cx="511175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7F063BF-151F-8414-0211-F421DE135FFB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Unions in C++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灯片编号占位符 6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6322" name="Rectangle 4"/>
          <p:cNvSpPr/>
          <p:nvPr/>
        </p:nvSpPr>
        <p:spPr>
          <a:xfrm>
            <a:off x="338138" y="1570038"/>
            <a:ext cx="8243887" cy="49926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chemeClr val="tx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4" name="Rectangle 3"/>
          <p:cNvSpPr>
            <a:spLocks noGrp="1"/>
          </p:cNvSpPr>
          <p:nvPr>
            <p:ph type="body" sz="half" idx="1" hasCustomPrompt="1"/>
          </p:nvPr>
        </p:nvSpPr>
        <p:spPr>
          <a:xfrm>
            <a:off x="496888" y="1331913"/>
            <a:ext cx="8085137" cy="4992687"/>
          </a:xfrm>
          <a:ln/>
        </p:spPr>
        <p:txBody>
          <a:bodyPr vert="horz" wrap="square" lIns="91440" tIns="45720" rIns="91440" bIns="45720" anchor="t" anchorCtr="0"/>
          <a:lstStyle/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endParaRPr lang="en-US" altLang="zh-CN" sz="160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union  WeightType  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Declares a union type</a:t>
            </a: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{</a:t>
            </a: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long  wtInOunces; </a:t>
            </a: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int   wtInPounds;		 </a:t>
            </a: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   float wtInTons;</a:t>
            </a: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 };   </a:t>
            </a: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WeightType   weight; </a:t>
            </a: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Declares a union variable</a:t>
            </a: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weight.wtInTons = 4.83;</a:t>
            </a: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Weight in tons is no longer needed</a:t>
            </a: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solidFill>
                  <a:srgbClr val="990000"/>
                </a:solidFill>
                <a:latin typeface="Courier" charset="0"/>
                <a:ea typeface="宋体" panose="02010600030101010101" pitchFamily="2" charset="-122"/>
              </a:rPr>
              <a:t>//  Reuse the memory space</a:t>
            </a: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endParaRPr lang="en-US" altLang="zh-CN" sz="1400">
              <a:latin typeface="Courier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rgbClr val="0033CC"/>
              </a:buClr>
              <a:buSzTx/>
              <a:buFont typeface="Monotype Sorts" pitchFamily="2" charset="2"/>
              <a:buNone/>
            </a:pPr>
            <a:r>
              <a:rPr lang="en-US" altLang="zh-CN" sz="2000">
                <a:latin typeface="Courier" charset="0"/>
                <a:ea typeface="宋体" panose="02010600030101010101" pitchFamily="2" charset="-122"/>
              </a:rPr>
              <a:t>weight.wtInPounds = 35;</a:t>
            </a:r>
          </a:p>
        </p:txBody>
      </p:sp>
      <p:sp>
        <p:nvSpPr>
          <p:cNvPr id="56325" name="灯片编号占位符 3"/>
          <p:cNvSpPr/>
          <p:nvPr/>
        </p:nvSpPr>
        <p:spPr>
          <a:xfrm>
            <a:off x="8624888" y="6532563"/>
            <a:ext cx="511175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3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2CBC28-9765-01E5-1327-775BAD3F2401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Using  Unions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4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>
            <p:ph idx="1"/>
          </p:nvPr>
        </p:nvSpPr>
        <p:spPr>
          <a:xfrm>
            <a:off x="231775" y="1547813"/>
            <a:ext cx="8664575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Abstraction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the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separation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of the essential qualities of an object from the details of how it works or is composed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Focuses on 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what, not how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Is necessary for managing large, complex software projects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B26DDE6-B3D6-E169-4D69-022F4AF7A89B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Abstraction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5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3252" name="Rectangle 4"/>
          <p:cNvSpPr>
            <a:spLocks noGrp="1" noChangeArrowheads="1"/>
          </p:cNvSpPr>
          <p:nvPr>
            <p:ph idx="1"/>
          </p:nvPr>
        </p:nvSpPr>
        <p:spPr>
          <a:xfrm>
            <a:off x="309563" y="1700213"/>
            <a:ext cx="8526463" cy="43021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Constrol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abstraction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separates the logical properties of an action from its implementation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Search (list, item, length, where, found);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The function call depends on the function’s specification (description), not its implementation (algorithm) 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2C326861-A320-F11D-E343-5131E7DA1AB0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Control Abstraction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6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5300" name="Rectangle 3"/>
          <p:cNvSpPr>
            <a:spLocks noGrp="1" noChangeArrowheads="1"/>
          </p:cNvSpPr>
          <p:nvPr>
            <p:ph idx="1"/>
          </p:nvPr>
        </p:nvSpPr>
        <p:spPr>
          <a:xfrm>
            <a:off x="531813" y="1484313"/>
            <a:ext cx="8293100" cy="15462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Data abstraction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separates the logical properties of a data type from its implementation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62468" name="Rectangle 4"/>
          <p:cNvSpPr/>
          <p:nvPr/>
        </p:nvSpPr>
        <p:spPr>
          <a:xfrm>
            <a:off x="387350" y="3511550"/>
            <a:ext cx="8521700" cy="2730500"/>
          </a:xfrm>
          <a:prstGeom prst="rect">
            <a:avLst/>
          </a:pr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9" name="Rectangle 5"/>
          <p:cNvSpPr/>
          <p:nvPr/>
        </p:nvSpPr>
        <p:spPr>
          <a:xfrm>
            <a:off x="519113" y="3748088"/>
            <a:ext cx="7956550" cy="519112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LOGICAL PROPERTIES	IMPLEMENTATION</a:t>
            </a:r>
          </a:p>
        </p:txBody>
      </p:sp>
      <p:sp>
        <p:nvSpPr>
          <p:cNvPr id="62470" name="Line 6"/>
          <p:cNvSpPr/>
          <p:nvPr/>
        </p:nvSpPr>
        <p:spPr>
          <a:xfrm>
            <a:off x="4876800" y="3505200"/>
            <a:ext cx="0" cy="2743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471" name="Rectangle 7"/>
          <p:cNvSpPr/>
          <p:nvPr/>
        </p:nvSpPr>
        <p:spPr>
          <a:xfrm>
            <a:off x="461963" y="4484688"/>
            <a:ext cx="8550275" cy="1201737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What are the possible values?		How can this be done in C++?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What operations will be needed?	How can data types be used?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4C39E30-A5FC-4739-52C8-5CA644916CF4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Data Abstraction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7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4514" name="Rectangle 2"/>
          <p:cNvSpPr>
            <a:spLocks noGrp="1"/>
          </p:cNvSpPr>
          <p:nvPr>
            <p:ph type="title"/>
          </p:nvPr>
        </p:nvSpPr>
        <p:spPr>
          <a:xfrm>
            <a:off x="2997200" y="1014413"/>
            <a:ext cx="2271713" cy="762000"/>
          </a:xfrm>
          <a:ln/>
        </p:spPr>
        <p:txBody>
          <a:bodyPr vert="horz" wrap="square" lIns="91440" tIns="45720" rIns="91440" bIns="45720" anchor="ctr" anchorCtr="0"/>
          <a:lstStyle/>
          <a:p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Data Type       </a:t>
            </a:r>
          </a:p>
        </p:txBody>
      </p:sp>
      <p:sp>
        <p:nvSpPr>
          <p:cNvPr id="64515" name="Rectangle 3"/>
          <p:cNvSpPr/>
          <p:nvPr/>
        </p:nvSpPr>
        <p:spPr>
          <a:xfrm>
            <a:off x="733425" y="3016250"/>
            <a:ext cx="2030413" cy="8223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set of values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(domain)</a:t>
            </a:r>
          </a:p>
        </p:txBody>
      </p:sp>
      <p:sp>
        <p:nvSpPr>
          <p:cNvPr id="64516" name="Rectangle 4"/>
          <p:cNvSpPr/>
          <p:nvPr/>
        </p:nvSpPr>
        <p:spPr>
          <a:xfrm>
            <a:off x="4762500" y="3051175"/>
            <a:ext cx="3195638" cy="822325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allowable operations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rgbClr val="99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on those values</a:t>
            </a:r>
          </a:p>
        </p:txBody>
      </p:sp>
      <p:sp>
        <p:nvSpPr>
          <p:cNvPr id="64517" name="Line 5"/>
          <p:cNvSpPr/>
          <p:nvPr/>
        </p:nvSpPr>
        <p:spPr>
          <a:xfrm flipH="1">
            <a:off x="2436813" y="1798638"/>
            <a:ext cx="1338262" cy="1154112"/>
          </a:xfrm>
          <a:prstGeom prst="line">
            <a:avLst/>
          </a:prstGeom>
          <a:ln w="28575" cap="flat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518" name="Line 6"/>
          <p:cNvSpPr/>
          <p:nvPr/>
        </p:nvSpPr>
        <p:spPr>
          <a:xfrm>
            <a:off x="4391025" y="1779588"/>
            <a:ext cx="1282700" cy="1246187"/>
          </a:xfrm>
          <a:prstGeom prst="line">
            <a:avLst/>
          </a:prstGeom>
          <a:ln w="28575" cap="flat" cmpd="sng">
            <a:solidFill>
              <a:srgbClr val="CC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519" name="Rectangle 7"/>
          <p:cNvSpPr/>
          <p:nvPr/>
        </p:nvSpPr>
        <p:spPr>
          <a:xfrm>
            <a:off x="660400" y="4335463"/>
            <a:ext cx="521652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FOR EXAMPLE,  data type </a:t>
            </a:r>
            <a:r>
              <a:rPr lang="en-US" altLang="zh-CN" sz="2400" b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int</a:t>
            </a: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has</a:t>
            </a:r>
          </a:p>
        </p:txBody>
      </p:sp>
      <p:sp>
        <p:nvSpPr>
          <p:cNvPr id="64520" name="Rectangle 8"/>
          <p:cNvSpPr/>
          <p:nvPr/>
        </p:nvSpPr>
        <p:spPr>
          <a:xfrm>
            <a:off x="752475" y="5195888"/>
            <a:ext cx="2573338" cy="11874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domain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-32768 . . . 32767</a:t>
            </a:r>
          </a:p>
        </p:txBody>
      </p:sp>
      <p:sp>
        <p:nvSpPr>
          <p:cNvPr id="64521" name="Rectangle 9"/>
          <p:cNvSpPr/>
          <p:nvPr/>
        </p:nvSpPr>
        <p:spPr>
          <a:xfrm>
            <a:off x="5092700" y="5176838"/>
            <a:ext cx="3233738" cy="11874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operations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+,  -,  *,  /,  %,  &gt;&gt;,  &lt;&lt; </a:t>
            </a:r>
          </a:p>
        </p:txBody>
      </p:sp>
      <p:sp>
        <p:nvSpPr>
          <p:cNvPr id="64522" name="Line 10"/>
          <p:cNvSpPr/>
          <p:nvPr/>
        </p:nvSpPr>
        <p:spPr>
          <a:xfrm>
            <a:off x="385763" y="4197350"/>
            <a:ext cx="8094662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8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59396" name="Rectangle 3"/>
          <p:cNvSpPr>
            <a:spLocks noGrp="1" noChangeArrowheads="1"/>
          </p:cNvSpPr>
          <p:nvPr>
            <p:ph idx="1"/>
          </p:nvPr>
        </p:nvSpPr>
        <p:spPr>
          <a:xfrm>
            <a:off x="619125" y="1931988"/>
            <a:ext cx="8026400" cy="26860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An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abstract data type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is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a data type whose properties (domain and operations) are specified (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what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) independently of any particular implementation (</a:t>
            </a:r>
            <a:r>
              <a:rPr kumimoji="0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how)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					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For  example . . .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A15E222-CB05-9B87-CF65-A7D7AF0F00B9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Abstract Data Type (ADT) 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9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1444" name="Rectangle 3"/>
          <p:cNvSpPr>
            <a:spLocks noGrp="1" noChangeArrowheads="1"/>
          </p:cNvSpPr>
          <p:nvPr>
            <p:ph idx="1"/>
          </p:nvPr>
        </p:nvSpPr>
        <p:spPr>
          <a:xfrm>
            <a:off x="808038" y="1470025"/>
            <a:ext cx="7669213" cy="49466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TYPE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Time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DOMAIN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Each Time value is a time in hours, minutes, and seconds.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OPERATIONS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Set the time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Print the time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Increment by one second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Compare 2 times for equality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Determine if one time is “less than” another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20E9201-7806-EC03-1549-737C3CAB06D5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ADT Specification Example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10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3492" name="Rectangle 3"/>
          <p:cNvSpPr>
            <a:spLocks noGrp="1" noChangeArrowheads="1"/>
          </p:cNvSpPr>
          <p:nvPr>
            <p:ph idx="1"/>
          </p:nvPr>
        </p:nvSpPr>
        <p:spPr>
          <a:xfrm>
            <a:off x="501650" y="1431925"/>
            <a:ext cx="8334375" cy="48387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TYPE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ComplexNumber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DOMAIN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Each value is an ordered pair of real numbers (a, b) representing  a + b</a:t>
            </a:r>
            <a:r>
              <a:rPr kumimoji="0" lang="en-US" altLang="zh-CN" sz="20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OPERATIONS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Initialize the complex number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Write the complex number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Add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Subtract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Multiply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Divide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	Determine the absolute value of a complex number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33546DC-0617-7797-4AE1-3AF52996877B}"/>
              </a:ext>
            </a:extLst>
          </p:cNvPr>
          <p:cNvSpPr txBox="1">
            <a:spLocks/>
          </p:cNvSpPr>
          <p:nvPr/>
        </p:nvSpPr>
        <p:spPr>
          <a:xfrm>
            <a:off x="1143000" y="457200"/>
            <a:ext cx="7391400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3600" dirty="0">
                <a:ea typeface="宋体" panose="02010600030101010101" pitchFamily="2" charset="-122"/>
              </a:rPr>
              <a:t>Another ADT Specification</a:t>
            </a:r>
            <a:endParaRPr lang="zh-CN" altLang="en-US" kern="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6"/>
          <p:cNvSpPr>
            <a:spLocks noGrp="1" noChangeArrowheads="1"/>
          </p:cNvSpPr>
          <p:nvPr>
            <p:ph idx="1"/>
          </p:nvPr>
        </p:nvSpPr>
        <p:spPr>
          <a:xfrm>
            <a:off x="654050" y="1508125"/>
            <a:ext cx="8142288" cy="44942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3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variables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3 strings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35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3-element 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int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array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800" b="1" i="0" u="sng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Choice of representation depends on time, space, and algorithms needed to implement operations </a:t>
            </a:r>
          </a:p>
        </p:txBody>
      </p:sp>
      <p:sp>
        <p:nvSpPr>
          <p:cNvPr id="72706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11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9154" name="Group 2"/>
          <p:cNvGrpSpPr/>
          <p:nvPr/>
        </p:nvGrpSpPr>
        <p:grpSpPr bwMode="auto">
          <a:xfrm>
            <a:off x="1618813" y="4357956"/>
            <a:ext cx="2501900" cy="409575"/>
            <a:chOff x="1156" y="2896"/>
            <a:chExt cx="1576" cy="258"/>
          </a:xfrm>
          <a:solidFill>
            <a:srgbClr val="FFC000"/>
          </a:solidFill>
        </p:grpSpPr>
        <p:sp>
          <p:nvSpPr>
            <p:cNvPr id="49155" name="Rectangle 3"/>
            <p:cNvSpPr>
              <a:spLocks noChangeArrowheads="1"/>
            </p:cNvSpPr>
            <p:nvPr/>
          </p:nvSpPr>
          <p:spPr bwMode="auto">
            <a:xfrm>
              <a:off x="1156" y="2896"/>
              <a:ext cx="1576" cy="258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9156" name="Rectangle 4"/>
            <p:cNvSpPr>
              <a:spLocks noChangeArrowheads="1"/>
            </p:cNvSpPr>
            <p:nvPr/>
          </p:nvSpPr>
          <p:spPr bwMode="auto">
            <a:xfrm>
              <a:off x="1238" y="2899"/>
              <a:ext cx="1354" cy="250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10       45        27</a:t>
              </a:r>
            </a:p>
          </p:txBody>
        </p:sp>
      </p:grpSp>
      <p:sp>
        <p:nvSpPr>
          <p:cNvPr id="72709" name="Line 7"/>
          <p:cNvSpPr/>
          <p:nvPr/>
        </p:nvSpPr>
        <p:spPr>
          <a:xfrm>
            <a:off x="2436813" y="4341813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2710" name="Line 8"/>
          <p:cNvSpPr/>
          <p:nvPr/>
        </p:nvSpPr>
        <p:spPr>
          <a:xfrm>
            <a:off x="3275013" y="4341813"/>
            <a:ext cx="0" cy="457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2711" name="Rectangle 9"/>
          <p:cNvSpPr/>
          <p:nvPr/>
        </p:nvSpPr>
        <p:spPr>
          <a:xfrm>
            <a:off x="1638300" y="2133600"/>
            <a:ext cx="774700" cy="409575"/>
          </a:xfrm>
          <a:prstGeom prst="rect">
            <a:avLst/>
          </a:pr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2" name="Rectangle 10"/>
          <p:cNvSpPr/>
          <p:nvPr/>
        </p:nvSpPr>
        <p:spPr>
          <a:xfrm>
            <a:off x="3090863" y="2157413"/>
            <a:ext cx="774700" cy="409575"/>
          </a:xfrm>
          <a:prstGeom prst="rect">
            <a:avLst/>
          </a:pr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3" name="Rectangle 11"/>
          <p:cNvSpPr/>
          <p:nvPr/>
        </p:nvSpPr>
        <p:spPr>
          <a:xfrm>
            <a:off x="4618038" y="2144713"/>
            <a:ext cx="774700" cy="409575"/>
          </a:xfrm>
          <a:prstGeom prst="rect">
            <a:avLst/>
          </a:prstGeom>
          <a:solidFill>
            <a:schemeClr val="bg2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4" name="Rectangle 12"/>
          <p:cNvSpPr/>
          <p:nvPr/>
        </p:nvSpPr>
        <p:spPr>
          <a:xfrm>
            <a:off x="1811338" y="2162175"/>
            <a:ext cx="3835400" cy="4619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10               45                27</a:t>
            </a:r>
          </a:p>
        </p:txBody>
      </p:sp>
      <p:grpSp>
        <p:nvGrpSpPr>
          <p:cNvPr id="72715" name="Group 13"/>
          <p:cNvGrpSpPr/>
          <p:nvPr/>
        </p:nvGrpSpPr>
        <p:grpSpPr>
          <a:xfrm>
            <a:off x="1619250" y="3276600"/>
            <a:ext cx="4527550" cy="420688"/>
            <a:chOff x="1129" y="2209"/>
            <a:chExt cx="2707" cy="273"/>
          </a:xfrm>
        </p:grpSpPr>
        <p:grpSp>
          <p:nvGrpSpPr>
            <p:cNvPr id="72716" name="Group 14"/>
            <p:cNvGrpSpPr/>
            <p:nvPr/>
          </p:nvGrpSpPr>
          <p:grpSpPr>
            <a:xfrm>
              <a:off x="1129" y="2209"/>
              <a:ext cx="2707" cy="273"/>
              <a:chOff x="1129" y="2209"/>
              <a:chExt cx="2707" cy="273"/>
            </a:xfrm>
          </p:grpSpPr>
          <p:sp>
            <p:nvSpPr>
              <p:cNvPr id="72718" name="Rectangle 15"/>
              <p:cNvSpPr/>
              <p:nvPr/>
            </p:nvSpPr>
            <p:spPr>
              <a:xfrm>
                <a:off x="1129" y="2209"/>
                <a:ext cx="559" cy="258"/>
              </a:xfrm>
              <a:prstGeom prst="rect">
                <a:avLst/>
              </a:prstGeom>
              <a:solidFill>
                <a:srgbClr val="FFFF66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CC"/>
                  </a:buClr>
                  <a:buFont typeface="Wingdings" panose="05000000000000000000" pitchFamily="2" charset="2"/>
                  <a:buChar char="Ø"/>
                  <a:defRPr sz="28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CC"/>
                  </a:buClr>
                  <a:buChar char="•"/>
                  <a:defRPr sz="24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19" name="Rectangle 16"/>
              <p:cNvSpPr/>
              <p:nvPr/>
            </p:nvSpPr>
            <p:spPr>
              <a:xfrm>
                <a:off x="2176" y="2224"/>
                <a:ext cx="559" cy="258"/>
              </a:xfrm>
              <a:prstGeom prst="rect">
                <a:avLst/>
              </a:prstGeom>
              <a:solidFill>
                <a:srgbClr val="FFFF66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CC"/>
                  </a:buClr>
                  <a:buFont typeface="Wingdings" panose="05000000000000000000" pitchFamily="2" charset="2"/>
                  <a:buChar char="Ø"/>
                  <a:defRPr sz="28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CC"/>
                  </a:buClr>
                  <a:buChar char="•"/>
                  <a:defRPr sz="24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2720" name="Rectangle 17"/>
              <p:cNvSpPr/>
              <p:nvPr/>
            </p:nvSpPr>
            <p:spPr>
              <a:xfrm>
                <a:off x="3277" y="2216"/>
                <a:ext cx="559" cy="258"/>
              </a:xfrm>
              <a:prstGeom prst="rect">
                <a:avLst/>
              </a:prstGeom>
              <a:solidFill>
                <a:srgbClr val="FFFF66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CC"/>
                  </a:buClr>
                  <a:buFont typeface="Wingdings" panose="05000000000000000000" pitchFamily="2" charset="2"/>
                  <a:buChar char="Ø"/>
                  <a:defRPr sz="28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l"/>
                  <a:defRPr sz="28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33CC"/>
                  </a:buClr>
                  <a:buChar char="•"/>
                  <a:defRPr sz="24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 b="1">
                    <a:solidFill>
                      <a:srgbClr val="000099"/>
                    </a:solidFill>
                    <a:latin typeface="+mn-lt"/>
                    <a:ea typeface="+mn-ea"/>
                    <a:cs typeface="楷体_GB2312"/>
                  </a:defRPr>
                </a:lvl5pPr>
              </a:lstStyle>
              <a:p>
                <a:pPr marL="0" lvl="0" indent="0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 b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2717" name="Rectangle 18"/>
            <p:cNvSpPr/>
            <p:nvPr/>
          </p:nvSpPr>
          <p:spPr>
            <a:xfrm>
              <a:off x="1190" y="2227"/>
              <a:ext cx="25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Font typeface="Wingdings" panose="05000000000000000000" pitchFamily="2" charset="2"/>
                <a:buChar char="Ø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l"/>
                <a:defRPr sz="28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33CC"/>
                </a:buClr>
                <a:buChar char="•"/>
                <a:defRPr sz="24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b="1">
                  <a:solidFill>
                    <a:srgbClr val="000099"/>
                  </a:solidFill>
                  <a:latin typeface="+mn-lt"/>
                  <a:ea typeface="+mn-ea"/>
                  <a:cs typeface="楷体_GB2312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“10”                “45”                 “27”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F10E18F5-D22E-0E15-CE9E-122DE27E218A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7993063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800" dirty="0">
                <a:ea typeface="宋体" panose="02010600030101010101" pitchFamily="2" charset="-122"/>
              </a:rPr>
              <a:t>Several Possible Representations of ADT Time</a:t>
            </a:r>
            <a:endParaRPr lang="zh-CN" altLang="en-US" sz="2800" kern="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5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/>
          <a:lstStyle/>
          <a:p>
            <a:pPr marL="0" indent="0" algn="r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600" b="0">
                <a:solidFill>
                  <a:schemeClr val="tx1"/>
                </a:solidFill>
                <a:latin typeface="Lucida Sans Unicode" panose="020B0602030504020204" pitchFamily="34" charset="0"/>
                <a:ea typeface="宋体" panose="02010600030101010101" pitchFamily="2" charset="-122"/>
              </a:rPr>
              <a:t>12</a:t>
            </a:fld>
            <a:endParaRPr lang="en-US" altLang="zh-CN" sz="1600" b="0">
              <a:solidFill>
                <a:schemeClr val="tx1"/>
              </a:solidFill>
              <a:latin typeface="Lucida Sans Unicode" panose="020B0602030504020204" pitchFamily="34" charset="0"/>
              <a:ea typeface="宋体" panose="02010600030101010101" pitchFamily="2" charset="-122"/>
            </a:endParaRPr>
          </a:p>
        </p:txBody>
      </p:sp>
      <p:sp>
        <p:nvSpPr>
          <p:cNvPr id="67588" name="Rectangle 3"/>
          <p:cNvSpPr>
            <a:spLocks noGrp="1" noChangeArrowheads="1"/>
          </p:cNvSpPr>
          <p:nvPr>
            <p:ph idx="1"/>
          </p:nvPr>
        </p:nvSpPr>
        <p:spPr>
          <a:xfrm>
            <a:off x="1749425" y="1933575"/>
            <a:ext cx="6470650" cy="38004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struct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 with 2 float members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楷体_GB2312"/>
              </a:rPr>
              <a:t>2-element float array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Monotype Sorts" pitchFamily="2" charset="2"/>
              <a:buNone/>
              <a:defRPr/>
            </a:pP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楷体_GB2312"/>
            </a:endParaRPr>
          </a:p>
        </p:txBody>
      </p:sp>
      <p:sp>
        <p:nvSpPr>
          <p:cNvPr id="74756" name="Rectangle 4"/>
          <p:cNvSpPr/>
          <p:nvPr/>
        </p:nvSpPr>
        <p:spPr>
          <a:xfrm>
            <a:off x="3376613" y="4919663"/>
            <a:ext cx="2463800" cy="682625"/>
          </a:xfrm>
          <a:prstGeom prst="rect">
            <a:avLst/>
          </a:prstGeom>
          <a:solidFill>
            <a:srgbClr val="FFC00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7" name="Rectangle 5"/>
          <p:cNvSpPr/>
          <p:nvPr/>
        </p:nvSpPr>
        <p:spPr>
          <a:xfrm>
            <a:off x="3581400" y="5029200"/>
            <a:ext cx="1976438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-16.2        5.8</a:t>
            </a:r>
          </a:p>
        </p:txBody>
      </p:sp>
      <p:sp>
        <p:nvSpPr>
          <p:cNvPr id="74758" name="Line 6"/>
          <p:cNvSpPr/>
          <p:nvPr/>
        </p:nvSpPr>
        <p:spPr>
          <a:xfrm flipH="1">
            <a:off x="4572000" y="4876800"/>
            <a:ext cx="0" cy="7620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759" name="Rectangle 7"/>
          <p:cNvSpPr/>
          <p:nvPr/>
        </p:nvSpPr>
        <p:spPr>
          <a:xfrm>
            <a:off x="3376613" y="2555875"/>
            <a:ext cx="2463800" cy="669925"/>
          </a:xfrm>
          <a:prstGeom prst="rect">
            <a:avLst/>
          </a:prstGeom>
          <a:solidFill>
            <a:srgbClr val="FFFF66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zh-CN" altLang="en-US" sz="24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60" name="Line 8"/>
          <p:cNvSpPr/>
          <p:nvPr/>
        </p:nvSpPr>
        <p:spPr>
          <a:xfrm>
            <a:off x="4551363" y="2514600"/>
            <a:ext cx="0" cy="7461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761" name="Rectangle 9"/>
          <p:cNvSpPr/>
          <p:nvPr/>
        </p:nvSpPr>
        <p:spPr>
          <a:xfrm>
            <a:off x="3429000" y="2667000"/>
            <a:ext cx="2065338" cy="1341438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-16.2        5.8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18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.real          .imag</a:t>
            </a:r>
          </a:p>
          <a:p>
            <a:pPr marL="0" lvl="0" indent="0">
              <a:spcBef>
                <a:spcPct val="0"/>
              </a:spcBef>
              <a:buClrTx/>
              <a:buFontTx/>
              <a:buNone/>
            </a:pPr>
            <a:endParaRPr lang="en-US" altLang="zh-CN" sz="2400" b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A85719-1465-2FA0-20B0-4AAF4116174F}"/>
              </a:ext>
            </a:extLst>
          </p:cNvPr>
          <p:cNvSpPr txBox="1">
            <a:spLocks/>
          </p:cNvSpPr>
          <p:nvPr/>
        </p:nvSpPr>
        <p:spPr>
          <a:xfrm>
            <a:off x="1142999" y="457200"/>
            <a:ext cx="8805701" cy="4873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楷体_GB231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cs typeface="楷体_GB231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en-US" altLang="zh-CN" sz="2400" dirty="0">
                <a:ea typeface="宋体" panose="02010600030101010101" pitchFamily="2" charset="-122"/>
              </a:rPr>
              <a:t>Some Possible Representations</a:t>
            </a: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of ADT </a:t>
            </a:r>
            <a:r>
              <a:rPr lang="en-US" altLang="zh-CN" sz="2400" dirty="0" err="1">
                <a:ea typeface="宋体" panose="02010600030101010101" pitchFamily="2" charset="-122"/>
              </a:rPr>
              <a:t>ComplexNumber</a:t>
            </a:r>
            <a:endParaRPr lang="zh-CN" altLang="en-US" sz="2400" kern="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addf623-44ff-4d28-b91f-b4e20d1b4bed"/>
  <p:tag name="COMMONDATA" val="eyJoZGlkIjoiZjQ2N2Q5MDA2ODkwZTA2YmZkMmJiZDQ5ZDg0NTJjZjgifQ=="/>
</p:tagLst>
</file>

<file path=ppt/theme/theme1.xml><?xml version="1.0" encoding="utf-8"?>
<a:theme xmlns:a="http://schemas.openxmlformats.org/drawingml/2006/main" name="主题1">
  <a:themeElements>
    <a:clrScheme name="117TGp_report_diagram_v2 1">
      <a:dk1>
        <a:srgbClr val="000000"/>
      </a:dk1>
      <a:lt1>
        <a:srgbClr val="FFFFFF"/>
      </a:lt1>
      <a:dk2>
        <a:srgbClr val="000798"/>
      </a:dk2>
      <a:lt2>
        <a:srgbClr val="B2B2B2"/>
      </a:lt2>
      <a:accent1>
        <a:srgbClr val="1B33E7"/>
      </a:accent1>
      <a:accent2>
        <a:srgbClr val="6699FF"/>
      </a:accent2>
      <a:accent3>
        <a:srgbClr val="FFFFFF"/>
      </a:accent3>
      <a:accent4>
        <a:srgbClr val="000000"/>
      </a:accent4>
      <a:accent5>
        <a:srgbClr val="ABADF1"/>
      </a:accent5>
      <a:accent6>
        <a:srgbClr val="5C8AE7"/>
      </a:accent6>
      <a:hlink>
        <a:srgbClr val="99CCFF"/>
      </a:hlink>
      <a:folHlink>
        <a:srgbClr val="3366CC"/>
      </a:folHlink>
    </a:clrScheme>
    <a:fontScheme name="117TGp_report_diagram_v2">
      <a:majorFont>
        <a:latin typeface="Times New Roman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 fontAlgn="base">
          <a:defRPr sz="1200" b="0" i="0" u="none" strike="noStrike" dirty="0"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117TGp_report_diagram_v2 1">
        <a:dk1>
          <a:srgbClr val="000000"/>
        </a:dk1>
        <a:lt1>
          <a:srgbClr val="FFFFFF"/>
        </a:lt1>
        <a:dk2>
          <a:srgbClr val="000798"/>
        </a:dk2>
        <a:lt2>
          <a:srgbClr val="B2B2B2"/>
        </a:lt2>
        <a:accent1>
          <a:srgbClr val="1B33E7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ABADF1"/>
        </a:accent5>
        <a:accent6>
          <a:srgbClr val="5C8AE7"/>
        </a:accent6>
        <a:hlink>
          <a:srgbClr val="99CCFF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2">
        <a:dk1>
          <a:srgbClr val="000000"/>
        </a:dk1>
        <a:lt1>
          <a:srgbClr val="FFFFFF"/>
        </a:lt1>
        <a:dk2>
          <a:srgbClr val="094332"/>
        </a:dk2>
        <a:lt2>
          <a:srgbClr val="B2B2B2"/>
        </a:lt2>
        <a:accent1>
          <a:srgbClr val="0D6531"/>
        </a:accent1>
        <a:accent2>
          <a:srgbClr val="39AF6E"/>
        </a:accent2>
        <a:accent3>
          <a:srgbClr val="FFFFFF"/>
        </a:accent3>
        <a:accent4>
          <a:srgbClr val="000000"/>
        </a:accent4>
        <a:accent5>
          <a:srgbClr val="AAB8AD"/>
        </a:accent5>
        <a:accent6>
          <a:srgbClr val="339E63"/>
        </a:accent6>
        <a:hlink>
          <a:srgbClr val="93E1A0"/>
        </a:hlink>
        <a:folHlink>
          <a:srgbClr val="1D834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7TGp_report_diagram_v2 3">
        <a:dk1>
          <a:srgbClr val="000000"/>
        </a:dk1>
        <a:lt1>
          <a:srgbClr val="FFFFFF"/>
        </a:lt1>
        <a:dk2>
          <a:srgbClr val="275CA3"/>
        </a:dk2>
        <a:lt2>
          <a:srgbClr val="C0C0C0"/>
        </a:lt2>
        <a:accent1>
          <a:srgbClr val="529EBC"/>
        </a:accent1>
        <a:accent2>
          <a:srgbClr val="55BEE3"/>
        </a:accent2>
        <a:accent3>
          <a:srgbClr val="FFFFFF"/>
        </a:accent3>
        <a:accent4>
          <a:srgbClr val="000000"/>
        </a:accent4>
        <a:accent5>
          <a:srgbClr val="B3CCDA"/>
        </a:accent5>
        <a:accent6>
          <a:srgbClr val="4CACCE"/>
        </a:accent6>
        <a:hlink>
          <a:srgbClr val="9FD4F1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Words>552</Words>
  <Application>Microsoft Macintosh PowerPoint</Application>
  <PresentationFormat>全屏显示(4:3)</PresentationFormat>
  <Paragraphs>148</Paragraphs>
  <Slides>12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  <vt:variant>
        <vt:lpstr>自定义放映</vt:lpstr>
      </vt:variant>
      <vt:variant>
        <vt:i4>1</vt:i4>
      </vt:variant>
    </vt:vector>
  </HeadingPairs>
  <TitlesOfParts>
    <vt:vector size="26" baseType="lpstr">
      <vt:lpstr>黑体</vt:lpstr>
      <vt:lpstr>KaiTi</vt:lpstr>
      <vt:lpstr>楷体_GB2312</vt:lpstr>
      <vt:lpstr>宋体</vt:lpstr>
      <vt:lpstr>微软雅黑</vt:lpstr>
      <vt:lpstr>Courier</vt:lpstr>
      <vt:lpstr>Courier New</vt:lpstr>
      <vt:lpstr>Lucida Sans Unicode</vt:lpstr>
      <vt:lpstr>Monotype Sorts</vt:lpstr>
      <vt:lpstr>Times New Roman</vt:lpstr>
      <vt:lpstr>Verdana</vt:lpstr>
      <vt:lpstr>Wingdings</vt:lpstr>
      <vt:lpstr>主题1</vt:lpstr>
      <vt:lpstr>程序设计原理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Data Type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Methods</dc:title>
  <dc:creator>Y. Daniel Liang</dc:creator>
  <cp:lastModifiedBy>一隆 范</cp:lastModifiedBy>
  <cp:revision>426</cp:revision>
  <dcterms:created xsi:type="dcterms:W3CDTF">1995-06-10T17:31:50Z</dcterms:created>
  <dcterms:modified xsi:type="dcterms:W3CDTF">2024-09-16T17:48:33Z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4A38E43AE89040F1A98938C1D6CFE439</vt:lpwstr>
  </property>
  <property fmtid="{D5CDD505-2E9C-101B-9397-08002B2CF9AE}" pid="3" name="KSOProductBuildVer">
    <vt:lpwstr>2052-11.1.0.12598</vt:lpwstr>
  </property>
</Properties>
</file>