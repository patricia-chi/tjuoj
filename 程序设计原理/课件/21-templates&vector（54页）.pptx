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57"/>
  </p:notesMasterIdLst>
  <p:sldIdLst>
    <p:sldId id="855" r:id="rId3"/>
    <p:sldId id="812" r:id="rId4"/>
    <p:sldId id="692" r:id="rId5"/>
    <p:sldId id="690" r:id="rId6"/>
    <p:sldId id="693" r:id="rId7"/>
    <p:sldId id="694" r:id="rId8"/>
    <p:sldId id="696" r:id="rId9"/>
    <p:sldId id="697" r:id="rId10"/>
    <p:sldId id="698" r:id="rId11"/>
    <p:sldId id="699" r:id="rId12"/>
    <p:sldId id="701" r:id="rId13"/>
    <p:sldId id="704" r:id="rId14"/>
    <p:sldId id="813" r:id="rId15"/>
    <p:sldId id="814" r:id="rId16"/>
    <p:sldId id="815" r:id="rId17"/>
    <p:sldId id="816" r:id="rId18"/>
    <p:sldId id="817" r:id="rId19"/>
    <p:sldId id="818" r:id="rId20"/>
    <p:sldId id="819" r:id="rId21"/>
    <p:sldId id="820" r:id="rId22"/>
    <p:sldId id="821" r:id="rId23"/>
    <p:sldId id="822" r:id="rId24"/>
    <p:sldId id="823" r:id="rId25"/>
    <p:sldId id="824" r:id="rId26"/>
    <p:sldId id="825" r:id="rId27"/>
    <p:sldId id="826" r:id="rId28"/>
    <p:sldId id="827" r:id="rId29"/>
    <p:sldId id="828" r:id="rId30"/>
    <p:sldId id="829" r:id="rId31"/>
    <p:sldId id="830" r:id="rId32"/>
    <p:sldId id="831" r:id="rId33"/>
    <p:sldId id="832" r:id="rId34"/>
    <p:sldId id="833" r:id="rId35"/>
    <p:sldId id="834" r:id="rId36"/>
    <p:sldId id="835" r:id="rId37"/>
    <p:sldId id="836" r:id="rId38"/>
    <p:sldId id="837" r:id="rId39"/>
    <p:sldId id="838" r:id="rId40"/>
    <p:sldId id="839" r:id="rId41"/>
    <p:sldId id="840" r:id="rId42"/>
    <p:sldId id="841" r:id="rId43"/>
    <p:sldId id="842" r:id="rId44"/>
    <p:sldId id="843" r:id="rId45"/>
    <p:sldId id="844" r:id="rId46"/>
    <p:sldId id="845" r:id="rId47"/>
    <p:sldId id="846" r:id="rId48"/>
    <p:sldId id="847" r:id="rId49"/>
    <p:sldId id="848" r:id="rId50"/>
    <p:sldId id="849" r:id="rId51"/>
    <p:sldId id="850" r:id="rId52"/>
    <p:sldId id="851" r:id="rId53"/>
    <p:sldId id="852" r:id="rId54"/>
    <p:sldId id="853" r:id="rId55"/>
    <p:sldId id="854" r:id="rId56"/>
  </p:sldIdLst>
  <p:sldSz cx="9144000" cy="6858000" type="screen4x3"/>
  <p:notesSz cx="6858000" cy="9144000"/>
  <p:custShowLst>
    <p:custShow name="Custom Show 1" id="0">
      <p:sldLst/>
    </p:custShow>
  </p:custShowLst>
  <p:custDataLst>
    <p:tags r:id="rId58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8">
          <p15:clr>
            <a:srgbClr val="A4A3A4"/>
          </p15:clr>
        </p15:guide>
        <p15:guide id="2" pos="5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880"/>
    <p:restoredTop sz="90929"/>
  </p:normalViewPr>
  <p:slideViewPr>
    <p:cSldViewPr showGuides="1">
      <p:cViewPr varScale="1">
        <p:scale>
          <a:sx n="56" d="100"/>
          <a:sy n="56" d="100"/>
        </p:scale>
        <p:origin x="40" y="516"/>
      </p:cViewPr>
      <p:guideLst>
        <p:guide orient="horz" pos="848"/>
        <p:guide pos="5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gs" Target="tags/tag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2</a:t>
            </a:fld>
            <a:endParaRPr lang="en-US" altLang="zh-CN"/>
          </a:p>
        </p:txBody>
      </p:sp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3</a:t>
            </a:fld>
            <a:endParaRPr lang="en-US" altLang="zh-CN"/>
          </a:p>
        </p:txBody>
      </p:sp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4</a:t>
            </a:fld>
            <a:endParaRPr lang="en-US" altLang="zh-CN"/>
          </a:p>
        </p:txBody>
      </p:sp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5</a:t>
            </a:fld>
            <a:endParaRPr lang="en-US" altLang="zh-CN"/>
          </a:p>
        </p:txBody>
      </p:sp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6</a:t>
            </a:fld>
            <a:endParaRPr lang="en-US" altLang="zh-CN"/>
          </a:p>
        </p:txBody>
      </p:sp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7</a:t>
            </a:fld>
            <a:endParaRPr lang="en-US" altLang="zh-CN"/>
          </a:p>
        </p:txBody>
      </p:sp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8</a:t>
            </a:fld>
            <a:endParaRPr lang="en-US" altLang="zh-CN"/>
          </a:p>
        </p:txBody>
      </p:sp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9</a:t>
            </a:fld>
            <a:endParaRPr lang="en-US" altLang="zh-CN"/>
          </a:p>
        </p:txBody>
      </p:sp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10</a:t>
            </a:fld>
            <a:endParaRPr lang="en-US" altLang="zh-CN"/>
          </a:p>
        </p:txBody>
      </p:sp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11</a:t>
            </a:fld>
            <a:endParaRPr lang="en-US" altLang="zh-CN"/>
          </a:p>
        </p:txBody>
      </p:sp>
      <p:sp>
        <p:nvSpPr>
          <p:cNvPr id="47106" name="Rectangle 102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7107" name="Rectangle 1027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12</a:t>
            </a:fld>
            <a:endParaRPr lang="en-US" altLang="zh-CN"/>
          </a:p>
        </p:txBody>
      </p:sp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noFill/>
          <a:ln/>
        </p:spPr>
      </p:sp>
      <p:sp>
        <p:nvSpPr>
          <p:cNvPr id="18434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14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fld id="{C90977CF-766A-46E4-BB9D-986C6B927033}" type="slidenum">
              <a:rPr lang="en-US" altLang="zh-CN" sz="1000">
                <a:latin typeface="Calibri" panose="020F0502020204030204" pitchFamily="34" charset="0"/>
                <a:ea typeface="宋体" panose="02010600030101010101" pitchFamily="2" charset="-122"/>
              </a:rPr>
              <a:pPr/>
              <a:t>32</a:t>
            </a:fld>
            <a:endParaRPr lang="en-US" altLang="zh-CN" sz="10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54132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fld id="{619F9F40-CB57-40BF-9B60-B8D1FE83113D}" type="slidenum">
              <a:rPr lang="en-US" altLang="zh-CN" sz="1000">
                <a:latin typeface="Calibri" panose="020F0502020204030204" pitchFamily="34" charset="0"/>
                <a:ea typeface="宋体" panose="02010600030101010101" pitchFamily="2" charset="-122"/>
              </a:rPr>
              <a:pPr/>
              <a:t>33</a:t>
            </a:fld>
            <a:endParaRPr lang="en-US" altLang="zh-CN" sz="10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8303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0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/>
          <a:p>
            <a:endParaRPr lang="zh-CN" altLang="zh-CN">
              <a:ea typeface="新細明體" charset="-120"/>
            </a:endParaRPr>
          </a:p>
        </p:txBody>
      </p:sp>
      <p:sp>
        <p:nvSpPr>
          <p:cNvPr id="58371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5A38FC8-F9E0-4C39-A15F-7B231963BBE6}" type="slidenum">
              <a:rPr lang="en-US" altLang="zh-TW" sz="1000">
                <a:latin typeface="Calibri" panose="020F0502020204030204" pitchFamily="34" charset="0"/>
                <a:ea typeface="新細明體" charset="-120"/>
              </a:rPr>
              <a:pPr eaLnBrk="1" hangingPunct="1">
                <a:spcBef>
                  <a:spcPct val="0"/>
                </a:spcBef>
              </a:pPr>
              <a:t>49</a:t>
            </a:fld>
            <a:endParaRPr lang="en-US" altLang="zh-TW" sz="1000">
              <a:latin typeface="Calibri" panose="020F0502020204030204" pitchFamily="34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3405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投影片圖像版面配置區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8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/>
          <a:p>
            <a:endParaRPr lang="zh-CN" altLang="zh-CN">
              <a:ea typeface="新細明體" charset="-120"/>
            </a:endParaRPr>
          </a:p>
        </p:txBody>
      </p:sp>
      <p:sp>
        <p:nvSpPr>
          <p:cNvPr id="60419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279A06B-F9CF-403E-A2F6-45795CF28760}" type="slidenum">
              <a:rPr lang="en-US" altLang="zh-TW" sz="1000">
                <a:latin typeface="Calibri" panose="020F0502020204030204" pitchFamily="34" charset="0"/>
                <a:ea typeface="新細明體" charset="-120"/>
              </a:rPr>
              <a:pPr eaLnBrk="1" hangingPunct="1">
                <a:spcBef>
                  <a:spcPct val="0"/>
                </a:spcBef>
              </a:pPr>
              <a:t>50</a:t>
            </a:fld>
            <a:endParaRPr lang="en-US" altLang="zh-TW" sz="1000">
              <a:latin typeface="Calibri" panose="020F0502020204030204" pitchFamily="34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461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94" name="Group 29"/>
          <p:cNvGrpSpPr/>
          <p:nvPr/>
        </p:nvGrpSpPr>
        <p:grpSpPr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13" name="Rectangle 18"/>
            <p:cNvSpPr>
              <a:spLocks noChangeArrowheads="1"/>
            </p:cNvSpPr>
            <p:nvPr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4" name="Rectangle 28"/>
            <p:cNvSpPr>
              <a:spLocks noChangeArrowheads="1"/>
            </p:cNvSpPr>
            <p:nvPr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5" name="Rectangle 17"/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gray">
          <a:xfrm>
            <a:off x="573088" y="2520950"/>
            <a:ext cx="576263" cy="64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gray">
          <a:xfrm>
            <a:off x="1716088" y="628650"/>
            <a:ext cx="566738" cy="63658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gray">
          <a:xfrm>
            <a:off x="2278063" y="0"/>
            <a:ext cx="585788" cy="635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gray">
          <a:xfrm>
            <a:off x="2281238" y="628650"/>
            <a:ext cx="585788" cy="63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gray">
          <a:xfrm>
            <a:off x="1716088" y="1263650"/>
            <a:ext cx="566738" cy="62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gray">
          <a:xfrm>
            <a:off x="573088" y="1885950"/>
            <a:ext cx="576263" cy="64452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gray">
          <a:xfrm>
            <a:off x="1141413" y="1885950"/>
            <a:ext cx="576263" cy="64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4" name="Rectangle 27"/>
          <p:cNvSpPr>
            <a:spLocks noChangeArrowheads="1"/>
          </p:cNvSpPr>
          <p:nvPr/>
        </p:nvSpPr>
        <p:spPr bwMode="gray">
          <a:xfrm>
            <a:off x="0" y="2528888"/>
            <a:ext cx="574675" cy="6334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36205" name="Picture 30" descr="http://www.tju.edu.cn/yx/images/badge.g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4400" i="1">
                <a:latin typeface="Verdan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7265988" y="0"/>
            <a:ext cx="1831340" cy="33718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>
              <a:buNone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第八章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Templates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32563"/>
            <a:ext cx="511175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457200"/>
            <a:ext cx="2057400" cy="5916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457200"/>
            <a:ext cx="6019800" cy="5916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457200"/>
            <a:ext cx="8229600" cy="5916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E492A3-500F-4F49-AF06-46570D7804E2}" type="datetime1">
              <a:rPr lang="en-US"/>
              <a:pPr>
                <a:defRPr/>
              </a:pPr>
              <a:t>1/4/2026</a:t>
            </a:fld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ACEEAA-4174-4CF0-B170-315730CB18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7274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94" name="Group 29"/>
          <p:cNvGrpSpPr/>
          <p:nvPr/>
        </p:nvGrpSpPr>
        <p:grpSpPr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13" name="Rectangle 18"/>
            <p:cNvSpPr>
              <a:spLocks noChangeArrowheads="1"/>
            </p:cNvSpPr>
            <p:nvPr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4" name="Rectangle 28"/>
            <p:cNvSpPr>
              <a:spLocks noChangeArrowheads="1"/>
            </p:cNvSpPr>
            <p:nvPr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5" name="Rectangle 17"/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gray">
          <a:xfrm>
            <a:off x="573088" y="2520950"/>
            <a:ext cx="576263" cy="64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gray">
          <a:xfrm>
            <a:off x="1716088" y="628650"/>
            <a:ext cx="566738" cy="63658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gray">
          <a:xfrm>
            <a:off x="2278063" y="0"/>
            <a:ext cx="585788" cy="635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gray">
          <a:xfrm>
            <a:off x="2281238" y="628650"/>
            <a:ext cx="585788" cy="63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gray">
          <a:xfrm>
            <a:off x="1716088" y="1263650"/>
            <a:ext cx="566738" cy="62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gray">
          <a:xfrm>
            <a:off x="573088" y="1885950"/>
            <a:ext cx="576263" cy="64452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gray">
          <a:xfrm>
            <a:off x="1141413" y="1885950"/>
            <a:ext cx="576263" cy="64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4" name="Rectangle 27"/>
          <p:cNvSpPr>
            <a:spLocks noChangeArrowheads="1"/>
          </p:cNvSpPr>
          <p:nvPr/>
        </p:nvSpPr>
        <p:spPr bwMode="gray">
          <a:xfrm>
            <a:off x="0" y="2528888"/>
            <a:ext cx="574675" cy="6334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36205" name="Picture 30" descr="http://www.tju.edu.cn/yx/images/badge.g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4400" i="1">
                <a:latin typeface="Verdan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7265988" y="0"/>
            <a:ext cx="1831340" cy="33718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>
              <a:buNone/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第八章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Templates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32563"/>
            <a:ext cx="511175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457200"/>
            <a:ext cx="2057400" cy="5916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457200"/>
            <a:ext cx="6019800" cy="5916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457200"/>
            <a:ext cx="8229600" cy="5916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2325" y="0"/>
            <a:ext cx="7848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649288" y="2403475"/>
            <a:ext cx="7848600" cy="1981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49288" y="4537075"/>
            <a:ext cx="7848600" cy="1981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6019800" y="6248400"/>
            <a:ext cx="1600200" cy="457200"/>
          </a:xfrm>
        </p:spPr>
        <p:txBody>
          <a:bodyPr/>
          <a:lstStyle>
            <a:lvl1pPr>
              <a:defRPr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4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848600" y="6248400"/>
            <a:ext cx="609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NULL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NULL" TargetMode="Externa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gray">
          <a:xfrm>
            <a:off x="655638" y="360363"/>
            <a:ext cx="8497888" cy="719138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395288" y="1125538"/>
            <a:ext cx="8229600" cy="52482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600">
                <a:latin typeface="Lucida Sans Unicode" panose="020B0602030504020204" pitchFamily="3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9" name="Rectangle 2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Rectangle 24"/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gray">
          <a:xfrm>
            <a:off x="328613" y="35718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2" name="Rectangle 26"/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3" name="Rectangle 28"/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4" name="Rectangle 29"/>
          <p:cNvSpPr>
            <a:spLocks noChangeArrowheads="1"/>
          </p:cNvSpPr>
          <p:nvPr/>
        </p:nvSpPr>
        <p:spPr bwMode="gray">
          <a:xfrm>
            <a:off x="328613" y="719138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035" name="Picture 31" descr="http://www.tju.edu.cn/yx/images/badge.gif"/>
          <p:cNvPicPr>
            <a:picLocks noChangeAspect="1"/>
          </p:cNvPicPr>
          <p:nvPr/>
        </p:nvPicPr>
        <p:blipFill>
          <a:blip r:embed="rId15" r:link="rId16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6" r:id="rId13"/>
  </p:sldLayoutIdLst>
  <p:transition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Font typeface="Wingdings" panose="05000000000000000000" pitchFamily="2" charset="2"/>
        <a:buChar char="Ø"/>
        <a:defRPr sz="2800" b="1">
          <a:solidFill>
            <a:srgbClr val="000099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800" b="1">
          <a:solidFill>
            <a:srgbClr val="000099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Char char="•"/>
        <a:defRPr sz="2400" b="1">
          <a:solidFill>
            <a:srgbClr val="000099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99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  <a:cs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gray">
          <a:xfrm>
            <a:off x="655638" y="360363"/>
            <a:ext cx="8497888" cy="719138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395288" y="1125538"/>
            <a:ext cx="8229600" cy="52482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600">
                <a:latin typeface="Lucida Sans Unicode" panose="020B0602030504020204" pitchFamily="3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9" name="Rectangle 2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Rectangle 24"/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gray">
          <a:xfrm>
            <a:off x="328613" y="35718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2" name="Rectangle 26"/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3" name="Rectangle 28"/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4" name="Rectangle 29"/>
          <p:cNvSpPr>
            <a:spLocks noChangeArrowheads="1"/>
          </p:cNvSpPr>
          <p:nvPr/>
        </p:nvSpPr>
        <p:spPr bwMode="gray">
          <a:xfrm>
            <a:off x="328613" y="719138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035" name="Picture 31" descr="http://www.tju.edu.cn/yx/images/badge.gif"/>
          <p:cNvPicPr>
            <a:picLocks noChangeAspect="1"/>
          </p:cNvPicPr>
          <p:nvPr/>
        </p:nvPicPr>
        <p:blipFill>
          <a:blip r:embed="rId15" r:link="rId16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Font typeface="Wingdings" panose="05000000000000000000" pitchFamily="2" charset="2"/>
        <a:buChar char="Ø"/>
        <a:defRPr sz="2800" b="1">
          <a:solidFill>
            <a:srgbClr val="000099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800" b="1">
          <a:solidFill>
            <a:srgbClr val="000099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Char char="•"/>
        <a:defRPr sz="2400" b="1">
          <a:solidFill>
            <a:srgbClr val="000099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99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  <a:cs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../Local%20Settings/Temp/VECTOR_vectorCCpush_back.htm#vector::push_back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../Local%20Settings/Temp/VECTOR_vectorCCend.htm#vector::end" TargetMode="External"/><Relationship Id="rId7" Type="http://schemas.openxmlformats.org/officeDocument/2006/relationships/hyperlink" Target="../Local%20Settings/Temp/VECTOR_vectorCCclear.htm#vector::clear" TargetMode="External"/><Relationship Id="rId2" Type="http://schemas.openxmlformats.org/officeDocument/2006/relationships/hyperlink" Target="../Local%20Settings/Temp/VECTOR_vectorCCbegin.htm#vector::begi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../Local%20Settings/Temp/VECTOR_vectorCCerase.htm#vector::erase" TargetMode="External"/><Relationship Id="rId5" Type="http://schemas.openxmlformats.org/officeDocument/2006/relationships/hyperlink" Target="../Local%20Settings/Temp/VECTOR_vectorCCpush_back.htm#vector::push_back" TargetMode="External"/><Relationship Id="rId4" Type="http://schemas.openxmlformats.org/officeDocument/2006/relationships/hyperlink" Target="../Local%20Settings/Temp/VECTOR_vectorCCempty.htm#vector::empty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/>
          <p:cNvSpPr>
            <a:spLocks noGrp="1"/>
          </p:cNvSpPr>
          <p:nvPr>
            <p:ph type="ctrTitle"/>
          </p:nvPr>
        </p:nvSpPr>
        <p:spPr>
          <a:xfrm>
            <a:off x="609600" y="2209800"/>
            <a:ext cx="8229600" cy="1066800"/>
          </a:xfrm>
          <a:ln/>
        </p:spPr>
        <p:txBody>
          <a:bodyPr vert="horz" wrap="square" lIns="91440" tIns="45720" rIns="91440" bIns="45720" anchor="ctr" anchorCtr="0"/>
          <a:lstStyle/>
          <a:p>
            <a:pPr>
              <a:buClrTx/>
              <a:buSzTx/>
              <a:buFontTx/>
            </a:pPr>
            <a:r>
              <a:rPr lang="zh-CN" altLang="en-US" sz="4800"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程序设计原理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6E1CB6-6D34-4BCB-BF0F-1600B8436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267200"/>
            <a:ext cx="3657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任课教师： 喻  梅</a:t>
            </a:r>
            <a:endParaRPr lang="en-US" altLang="zh-CN" sz="2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于瑞国</a:t>
            </a:r>
            <a:endParaRPr lang="en-US" altLang="zh-CN" sz="2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王建荣</a:t>
            </a:r>
            <a:endParaRPr lang="en-US" altLang="zh-CN" sz="2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李雪威</a:t>
            </a:r>
            <a:endParaRPr lang="en-US" altLang="zh-CN" sz="2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赵满坤</a:t>
            </a:r>
            <a:endParaRPr lang="en-US" altLang="zh-CN" sz="2400" dirty="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B279A4AD-2804-47A5-98A2-54AE0F7782FB}"/>
              </a:ext>
            </a:extLst>
          </p:cNvPr>
          <p:cNvSpPr txBox="1"/>
          <p:nvPr/>
        </p:nvSpPr>
        <p:spPr>
          <a:xfrm>
            <a:off x="2335776" y="3198813"/>
            <a:ext cx="4777270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(Templates)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与向量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(Vector)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784225" y="438150"/>
            <a:ext cx="7848600" cy="60960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>
                <a:sym typeface="+mn-ea"/>
              </a:rPr>
              <a:t>Objectives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7200" y="1200150"/>
            <a:ext cx="8382000" cy="1846659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lIns="0" tIns="0" rIns="0" bIns="0">
            <a:spAutoFit/>
          </a:bodyPr>
          <a:lstStyle/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know the motivation and benefits of templates.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define a template function with type parameters.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develop a generic sort function using templates.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To develop generic classes using class.</a:t>
            </a:r>
          </a:p>
          <a:p>
            <a:pPr marL="514350" lvl="1" indent="-514350" eaLnBrk="1" fontAlgn="auto" hangingPunct="1"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 To use the C++ vector class as a resizable array.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923925" y="509588"/>
            <a:ext cx="7848600" cy="384175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>
                <a:sym typeface="+mn-ea"/>
              </a:rPr>
              <a:t>Templates Basics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50779" y="1029101"/>
            <a:ext cx="7412246" cy="1180699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Templates functions and classes enable programs to work on many different data types without being rewritten for each one.</a:t>
            </a:r>
          </a:p>
        </p:txBody>
      </p:sp>
      <p:grpSp>
        <p:nvGrpSpPr>
          <p:cNvPr id="13" name="组合 7"/>
          <p:cNvGrpSpPr/>
          <p:nvPr/>
        </p:nvGrpSpPr>
        <p:grpSpPr bwMode="auto">
          <a:xfrm>
            <a:off x="371845" y="1441450"/>
            <a:ext cx="1036637" cy="615950"/>
            <a:chOff x="333108" y="1289466"/>
            <a:chExt cx="1037032" cy="615301"/>
          </a:xfrm>
        </p:grpSpPr>
        <p:pic>
          <p:nvPicPr>
            <p:cNvPr id="16" name="图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6616077">
              <a:off x="442540" y="1180034"/>
              <a:ext cx="486519" cy="705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0"/>
            <p:cNvSpPr>
              <a:spLocks noChangeArrowheads="1"/>
            </p:cNvSpPr>
            <p:nvPr/>
          </p:nvSpPr>
          <p:spPr bwMode="auto">
            <a:xfrm>
              <a:off x="523473" y="1319992"/>
              <a:ext cx="8466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Key</a:t>
              </a:r>
            </a:p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Point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114188" y="2971800"/>
            <a:ext cx="4038600" cy="17346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a,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if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(a &gt; b)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else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188" y="2209800"/>
            <a:ext cx="90819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Suppose you want to find the maximum of </a:t>
            </a: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two integers, two doubles, two characters, and two strings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. You might write four overloaded functions as follows: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32946" y="2971800"/>
            <a:ext cx="4775055" cy="17346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double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double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a,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double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if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(a &gt; b)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else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4188" y="4760314"/>
            <a:ext cx="4038601" cy="17346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char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char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a,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char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if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(a &gt; b)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else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32946" y="4760314"/>
            <a:ext cx="4775055" cy="17346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string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(string a, string b)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if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(a &gt; b)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else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879475" y="400050"/>
            <a:ext cx="7848600" cy="7239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>
                <a:sym typeface="+mn-ea"/>
              </a:rPr>
              <a:t>Templates Basics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14188" y="2191789"/>
            <a:ext cx="4038600" cy="17346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a,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if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(a &gt; b)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else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2688" y="1098450"/>
            <a:ext cx="90819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These four functions are almost identical, except that each uses a different type.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32946" y="2191789"/>
            <a:ext cx="4775055" cy="17346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double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double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a,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double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if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(a &gt; b)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else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4188" y="3980303"/>
            <a:ext cx="4038601" cy="17346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char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char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a,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char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if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(a &gt; b)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else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32946" y="3980303"/>
            <a:ext cx="4775055" cy="173469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string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(string a, string b)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if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(a &gt; b)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else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7308" y="2228551"/>
            <a:ext cx="533400" cy="2874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850515" y="2228550"/>
            <a:ext cx="445316" cy="2874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700556" y="2228550"/>
            <a:ext cx="445316" cy="2874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7308" y="4021164"/>
            <a:ext cx="652868" cy="2874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946246" y="4021163"/>
            <a:ext cx="553673" cy="2874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944536" y="4021163"/>
            <a:ext cx="562062" cy="2874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238582" y="2228551"/>
            <a:ext cx="895479" cy="2874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341378" y="2228550"/>
            <a:ext cx="747602" cy="2874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75258" y="2228550"/>
            <a:ext cx="780177" cy="2874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32946" y="4021163"/>
            <a:ext cx="895479" cy="2874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335742" y="4021162"/>
            <a:ext cx="747602" cy="2874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69622" y="4021162"/>
            <a:ext cx="780177" cy="2874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5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784225" y="514350"/>
            <a:ext cx="7848600" cy="5334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>
                <a:sym typeface="+mn-ea"/>
              </a:rPr>
              <a:t>Templates Basics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200094" y="1445689"/>
            <a:ext cx="6743812" cy="1734697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GenericType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GenericType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a,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GenericType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if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(a &gt; b)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else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9892" y="1026625"/>
            <a:ext cx="908194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You could simply define one function with a generic type as follows: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8407" y="3276600"/>
            <a:ext cx="90819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To define a template function for finding a maximum value between two values of a generic type: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552700" y="4142255"/>
            <a:ext cx="4038600" cy="20116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template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&lt;</a:t>
            </a:r>
            <a:r>
              <a:rPr lang="en-US" altLang="zh-CN" sz="18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typename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 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&gt;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T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(T a, T b)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if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(a &gt; b)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else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13189" y="4144161"/>
            <a:ext cx="1807709" cy="369332"/>
          </a:xfrm>
          <a:prstGeom prst="rect">
            <a:avLst/>
          </a:prstGeom>
        </p:spPr>
        <p:txBody>
          <a:bodyPr wrap="square" lIns="54000" rIns="18000">
            <a:spAutoFit/>
          </a:bodyPr>
          <a:lstStyle/>
          <a:p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before a function</a:t>
            </a:r>
            <a:endParaRPr lang="zh-CN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直接箭头连接符 43"/>
          <p:cNvCxnSpPr>
            <a:stCxn id="43" idx="3"/>
            <a:endCxn id="45" idx="1"/>
          </p:cNvCxnSpPr>
          <p:nvPr/>
        </p:nvCxnSpPr>
        <p:spPr>
          <a:xfrm flipV="1">
            <a:off x="2120898" y="4324779"/>
            <a:ext cx="505555" cy="40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2626453" y="4186106"/>
            <a:ext cx="1040235" cy="27734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6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type="title"/>
          </p:nvPr>
        </p:nvSpPr>
        <p:spPr>
          <a:xfrm>
            <a:off x="962025" y="203200"/>
            <a:ext cx="7848600" cy="9906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 sz="3200">
                <a:sym typeface="+mn-ea"/>
              </a:rPr>
              <a:t>Templates Basics</a:t>
            </a:r>
            <a:endParaRPr lang="en-US" altLang="zh-CN" sz="3200">
              <a:solidFill>
                <a:srgbClr val="990033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52400" y="994907"/>
            <a:ext cx="908194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The definition for the function template begins with the keyword template followed by a list of parameters. Each parameter must be preceded by the interchangeable keyword typename or class in the form &lt;typename typeParameter&gt; or &lt;class typeParameter&gt;.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475661" y="2752143"/>
            <a:ext cx="4038600" cy="20116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template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&lt;</a:t>
            </a:r>
            <a:r>
              <a:rPr lang="en-US" altLang="zh-CN" sz="18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typename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 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&gt;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T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(T a, T b)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if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(a &gt; b)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else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219200" y="2743200"/>
            <a:ext cx="1807709" cy="615553"/>
          </a:xfrm>
          <a:prstGeom prst="rect">
            <a:avLst/>
          </a:prstGeom>
        </p:spPr>
        <p:txBody>
          <a:bodyPr wrap="square" lIns="54000" rIns="18000">
            <a:spAutoFit/>
          </a:bodyPr>
          <a:lstStyle/>
          <a:p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Template prefix 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(before a function)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87695" y="2839834"/>
            <a:ext cx="1285266" cy="2052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dk1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7" name="直接箭头连接符 6"/>
          <p:cNvCxnSpPr>
            <a:stCxn id="37" idx="3"/>
            <a:endCxn id="20" idx="1"/>
          </p:cNvCxnSpPr>
          <p:nvPr/>
        </p:nvCxnSpPr>
        <p:spPr>
          <a:xfrm flipV="1">
            <a:off x="3026909" y="2940596"/>
            <a:ext cx="505555" cy="1103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1946883" y="3668734"/>
            <a:ext cx="903855" cy="369332"/>
          </a:xfrm>
          <a:prstGeom prst="rect">
            <a:avLst/>
          </a:prstGeom>
        </p:spPr>
        <p:txBody>
          <a:bodyPr wrap="square" lIns="54000" rIns="18000">
            <a:spAutoFit/>
          </a:bodyPr>
          <a:lstStyle/>
          <a:p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endParaRPr lang="zh-CN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539860" y="3060800"/>
            <a:ext cx="277303" cy="27734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539859" y="4440153"/>
            <a:ext cx="277303" cy="27734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左中括号 10"/>
          <p:cNvSpPr/>
          <p:nvPr/>
        </p:nvSpPr>
        <p:spPr>
          <a:xfrm>
            <a:off x="3364157" y="3210550"/>
            <a:ext cx="175702" cy="1400961"/>
          </a:xfrm>
          <a:prstGeom prst="leftBracket">
            <a:avLst>
              <a:gd name="adj" fmla="val 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/>
          <p:cNvCxnSpPr/>
          <p:nvPr/>
        </p:nvCxnSpPr>
        <p:spPr>
          <a:xfrm>
            <a:off x="2850739" y="3867275"/>
            <a:ext cx="513417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52400" y="5096879"/>
            <a:ext cx="877411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Occasionally, a template function may have more than one parameter. In this case, place the parameters together inside the brackets, separated by commas, such as: </a:t>
            </a:r>
          </a:p>
          <a:p>
            <a:pPr algn="ctr"/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&lt;typename T1, typename T2, typename T3&gt;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359203" y="2319355"/>
            <a:ext cx="2124397" cy="369332"/>
          </a:xfrm>
          <a:prstGeom prst="rect">
            <a:avLst/>
          </a:prstGeom>
        </p:spPr>
        <p:txBody>
          <a:bodyPr wrap="square" lIns="54000" rIns="18000">
            <a:spAutoFit/>
          </a:bodyPr>
          <a:lstStyle/>
          <a:p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a list of parameters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532464" y="2801923"/>
            <a:ext cx="1040235" cy="27734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21" name="直接箭头连接符 20"/>
          <p:cNvCxnSpPr>
            <a:stCxn id="19" idx="1"/>
            <a:endCxn id="5" idx="0"/>
          </p:cNvCxnSpPr>
          <p:nvPr/>
        </p:nvCxnSpPr>
        <p:spPr>
          <a:xfrm flipH="1">
            <a:off x="5330328" y="2504021"/>
            <a:ext cx="1028875" cy="3358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7553498" y="2577599"/>
            <a:ext cx="1172798" cy="584775"/>
          </a:xfrm>
          <a:prstGeom prst="rect">
            <a:avLst/>
          </a:prstGeom>
        </p:spPr>
        <p:txBody>
          <a:bodyPr wrap="square" lIns="54000" rIns="18000">
            <a:spAutoFit/>
          </a:bodyPr>
          <a:lstStyle/>
          <a:p>
            <a:r>
              <a:rPr lang="en-US" altLang="zh-CN" sz="1600" i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typename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</a:p>
          <a:p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altLang="zh-CN" sz="1600" i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class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7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885825" y="125413"/>
            <a:ext cx="7848600" cy="11430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>
                <a:sym typeface="+mn-ea"/>
              </a:rPr>
              <a:t>Templates Basics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722438" y="1006935"/>
            <a:ext cx="7010400" cy="450468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template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&lt;</a:t>
            </a:r>
            <a:r>
              <a:rPr lang="en-US" altLang="zh-CN" sz="18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typename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 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&gt;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T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(T a, T b)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if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(a &gt; b)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a;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else 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b;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main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(){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   cout &lt;&lt; </a:t>
            </a:r>
            <a:r>
              <a:rPr lang="en-US" altLang="zh-CN" sz="18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"Maximum between 1 and 3 is " </a:t>
            </a:r>
            <a:b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</a:b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   &lt;&lt;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(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1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3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) &lt;&lt; endl;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   cout &lt;&lt; </a:t>
            </a:r>
            <a:r>
              <a:rPr lang="en-US" altLang="zh-CN" sz="18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"Maximum between 1.5 and 0.3 is "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   &lt;&lt;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(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1.5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0.3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) &lt;&lt; endl;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   cout &lt;&lt; </a:t>
            </a:r>
            <a:r>
              <a:rPr lang="en-US" altLang="zh-CN" sz="18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"Maximum between 'A' and 'N' is "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   &lt;&lt;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(</a:t>
            </a:r>
            <a:r>
              <a:rPr lang="en-US" altLang="zh-CN" sz="18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'A'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, </a:t>
            </a:r>
            <a:r>
              <a:rPr lang="en-US" altLang="zh-CN" sz="18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'N'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) &lt;&lt; endl;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   cout &lt;&lt; </a:t>
            </a:r>
            <a:r>
              <a:rPr lang="en-US" altLang="zh-CN" sz="18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"Maximum between \"NBC\" and \"ABC\" is "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   &lt;&lt;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maxValue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(string(</a:t>
            </a:r>
            <a:r>
              <a:rPr lang="en-US" altLang="zh-CN" sz="18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"NBC"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), string(</a:t>
            </a:r>
            <a:r>
              <a:rPr lang="en-US" altLang="zh-CN" sz="18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"ABC"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)) &lt;&lt; endl;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  <a:cs typeface="+mn-cs"/>
              </a:rPr>
              <a:t>0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  <a:cs typeface="+mn-cs"/>
              </a:rPr>
              <a:t>}</a:t>
            </a:r>
          </a:p>
        </p:txBody>
      </p:sp>
      <p:sp>
        <p:nvSpPr>
          <p:cNvPr id="37" name="矩形 36"/>
          <p:cNvSpPr/>
          <p:nvPr/>
        </p:nvSpPr>
        <p:spPr>
          <a:xfrm>
            <a:off x="152400" y="997992"/>
            <a:ext cx="1121286" cy="1138773"/>
          </a:xfrm>
          <a:prstGeom prst="rect">
            <a:avLst/>
          </a:prstGeom>
        </p:spPr>
        <p:txBody>
          <a:bodyPr wrap="square" lIns="54000" rIns="18000">
            <a:spAutoFit/>
          </a:bodyPr>
          <a:lstStyle/>
          <a:p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Template prefix 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(before a function)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6"/>
          <p:cNvCxnSpPr>
            <a:stCxn id="37" idx="3"/>
          </p:cNvCxnSpPr>
          <p:nvPr/>
        </p:nvCxnSpPr>
        <p:spPr>
          <a:xfrm flipV="1">
            <a:off x="1273686" y="1195388"/>
            <a:ext cx="505555" cy="1103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2350199" y="1315592"/>
            <a:ext cx="277303" cy="27734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350198" y="2694945"/>
            <a:ext cx="277303" cy="27734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342803" y="1056715"/>
            <a:ext cx="1040235" cy="27734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22438" y="5639413"/>
            <a:ext cx="5204619" cy="10772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Maximum between 1 and 3 is 3</a:t>
            </a:r>
          </a:p>
          <a:p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Maximum between 1.5 and 0.3 is 1.5</a:t>
            </a:r>
          </a:p>
          <a:p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Maximum between 'A' and 'N' is N</a:t>
            </a:r>
          </a:p>
          <a:p>
            <a:r>
              <a:rPr lang="zh-CN" altLang="en-US" sz="16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Maximum between "NBC" and "ABC" is NBC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8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1193678" y="313865"/>
            <a:ext cx="7848600" cy="7747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sym typeface="+mn-ea"/>
              </a:rPr>
              <a:t>Example: A Generic Sort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50779" y="1029101"/>
            <a:ext cx="7412246" cy="442035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Define a generic selection sort function.</a:t>
            </a:r>
          </a:p>
        </p:txBody>
      </p:sp>
      <p:grpSp>
        <p:nvGrpSpPr>
          <p:cNvPr id="13" name="组合 7"/>
          <p:cNvGrpSpPr/>
          <p:nvPr/>
        </p:nvGrpSpPr>
        <p:grpSpPr bwMode="auto">
          <a:xfrm>
            <a:off x="426036" y="1080150"/>
            <a:ext cx="1036637" cy="615950"/>
            <a:chOff x="333108" y="1289466"/>
            <a:chExt cx="1037032" cy="615301"/>
          </a:xfrm>
        </p:grpSpPr>
        <p:pic>
          <p:nvPicPr>
            <p:cNvPr id="16" name="图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6616077">
              <a:off x="442540" y="1180034"/>
              <a:ext cx="486519" cy="705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0"/>
            <p:cNvSpPr>
              <a:spLocks noChangeArrowheads="1"/>
            </p:cNvSpPr>
            <p:nvPr/>
          </p:nvSpPr>
          <p:spPr bwMode="auto">
            <a:xfrm>
              <a:off x="523473" y="1319992"/>
              <a:ext cx="8466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Key</a:t>
              </a:r>
            </a:p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Point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862012" y="2697029"/>
            <a:ext cx="7289950" cy="367368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void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displayArray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[],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);</a:t>
            </a:r>
          </a:p>
          <a:p>
            <a:pPr>
              <a:defRPr/>
            </a:pPr>
            <a:endParaRPr lang="en-US" altLang="zh-CN" sz="18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void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mySwap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&amp; a,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&amp; b) {…}</a:t>
            </a:r>
          </a:p>
          <a:p>
            <a:pPr>
              <a:defRPr/>
            </a:pPr>
            <a:endParaRPr lang="en-US" altLang="zh-CN" sz="18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void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selectionSort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list[],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size) {…}</a:t>
            </a:r>
          </a:p>
          <a:p>
            <a:pPr>
              <a:defRPr/>
            </a:pPr>
            <a:endParaRPr lang="en-US" altLang="zh-CN" sz="18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void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displayArray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list[],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size) {…}</a:t>
            </a:r>
          </a:p>
          <a:p>
            <a:pPr>
              <a:defRPr/>
            </a:pPr>
            <a:endParaRPr lang="en-US" altLang="zh-CN" sz="18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t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main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list[] = {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2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9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5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4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8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1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6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selectionSort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(list,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7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);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0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  <a:endParaRPr lang="en-US" altLang="zh-CN" sz="1800"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8600" y="1773911"/>
            <a:ext cx="87344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Instead of writing several overloaded sort functions, you can define just one template function that works for any type. 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96554" y="2744430"/>
            <a:ext cx="486213" cy="267218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00B0F0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41196" y="3299501"/>
            <a:ext cx="387292" cy="249042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00B0F0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439660" y="3299501"/>
            <a:ext cx="387292" cy="249042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00B0F0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332001" y="3846184"/>
            <a:ext cx="387292" cy="249042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00B0F0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215953" y="4409644"/>
            <a:ext cx="387292" cy="249042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00B0F0"/>
            </a:solidFill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algn="ctr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60000"/>
            </a:pPr>
            <a:endParaRPr lang="zh-CN" altLang="en-US" sz="2200" b="1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9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8600" y="1828800"/>
            <a:ext cx="868680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Combine class definition and class implementation into one file.</a:t>
            </a:r>
          </a:p>
          <a:p>
            <a:pPr marL="457200" indent="-457200">
              <a:buAutoNum type="arabicPeriod"/>
            </a:pPr>
            <a:endParaRPr lang="en-US" altLang="zh-CN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For definition: </a:t>
            </a:r>
          </a:p>
          <a:p>
            <a:pPr marL="914400" lvl="1" indent="-457200">
              <a:buAutoNum type="alphaLcPeriod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Place the template prefix before the class definition.</a:t>
            </a:r>
          </a:p>
          <a:p>
            <a:pPr marL="914400" lvl="1" indent="-457200">
              <a:buFontTx/>
              <a:buAutoNum type="alphaLcPeriod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The type parameter can be used in the class just like any regular data type. </a:t>
            </a:r>
          </a:p>
          <a:p>
            <a:pPr marL="914400" lvl="1" indent="-457200">
              <a:buFontTx/>
              <a:buAutoNum type="arabicPeriod"/>
            </a:pPr>
            <a:endParaRPr lang="en-US" altLang="zh-CN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For implementation:</a:t>
            </a:r>
          </a:p>
          <a:p>
            <a:pPr marL="914400" lvl="1" indent="-457200">
              <a:buAutoNum type="alphaLcPeriod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Place the template prefix before the constructor and function header in the implementation and use the type parameter (T) to replace the regular data type in the function.</a:t>
            </a:r>
          </a:p>
          <a:p>
            <a:pPr marL="914400" lvl="1" indent="-457200">
              <a:buFontTx/>
              <a:buAutoNum type="alphaLcPeriod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Class name before the scope resolution operator :: is ClassName&lt;T&gt;</a:t>
            </a:r>
          </a:p>
        </p:txBody>
      </p:sp>
      <p:sp>
        <p:nvSpPr>
          <p:cNvPr id="14" name="矩形 13"/>
          <p:cNvSpPr/>
          <p:nvPr/>
        </p:nvSpPr>
        <p:spPr>
          <a:xfrm>
            <a:off x="1550779" y="1243752"/>
            <a:ext cx="7412246" cy="442035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You can define generic types for a class.</a:t>
            </a:r>
          </a:p>
        </p:txBody>
      </p:sp>
      <p:grpSp>
        <p:nvGrpSpPr>
          <p:cNvPr id="13" name="组合 7"/>
          <p:cNvGrpSpPr/>
          <p:nvPr/>
        </p:nvGrpSpPr>
        <p:grpSpPr bwMode="auto">
          <a:xfrm>
            <a:off x="426036" y="1083026"/>
            <a:ext cx="1036637" cy="615950"/>
            <a:chOff x="333108" y="1289466"/>
            <a:chExt cx="1037032" cy="615301"/>
          </a:xfrm>
        </p:grpSpPr>
        <p:pic>
          <p:nvPicPr>
            <p:cNvPr id="16" name="图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6616077">
              <a:off x="442540" y="1180034"/>
              <a:ext cx="486519" cy="705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0"/>
            <p:cNvSpPr>
              <a:spLocks noChangeArrowheads="1"/>
            </p:cNvSpPr>
            <p:nvPr/>
          </p:nvSpPr>
          <p:spPr bwMode="auto">
            <a:xfrm>
              <a:off x="523473" y="1319992"/>
              <a:ext cx="8466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Key</a:t>
              </a:r>
            </a:p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Point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3581400" y="5816404"/>
            <a:ext cx="2743200" cy="34970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template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&lt;</a:t>
            </a:r>
            <a:r>
              <a:rPr lang="en-US" altLang="zh-CN" sz="18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typename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T&gt;</a:t>
            </a:r>
          </a:p>
        </p:txBody>
      </p:sp>
      <p:sp>
        <p:nvSpPr>
          <p:cNvPr id="4" name="矩形 3"/>
          <p:cNvSpPr/>
          <p:nvPr/>
        </p:nvSpPr>
        <p:spPr>
          <a:xfrm>
            <a:off x="1672820" y="5791200"/>
            <a:ext cx="19351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template prefix:</a:t>
            </a:r>
            <a:endParaRPr lang="zh-CN" altLang="en-US" sz="200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B9A823A-43C9-A931-6ED0-7FC5F53A0ED8}"/>
              </a:ext>
            </a:extLst>
          </p:cNvPr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 sz="4000" dirty="0">
                <a:sym typeface="+mn-ea"/>
              </a:rPr>
              <a:t>Class Templates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10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50" y="1221356"/>
            <a:ext cx="4191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Combine class definition and class implementation into one file.</a:t>
            </a:r>
          </a:p>
          <a:p>
            <a:pPr marL="457200" indent="-457200">
              <a:buAutoNum type="arabicPeriod"/>
            </a:pPr>
            <a:endParaRPr lang="en-US" altLang="zh-CN" sz="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For definition: </a:t>
            </a:r>
          </a:p>
          <a:p>
            <a:pPr marL="914400" lvl="1" indent="-457200">
              <a:buAutoNum type="alphaL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Place the template prefix before the class definition.</a:t>
            </a:r>
          </a:p>
          <a:p>
            <a:pPr marL="914400" lvl="1" indent="-457200">
              <a:buFontTx/>
              <a:buAutoNum type="alphaL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The type parameter can be used in the class just like any regular data type. </a:t>
            </a:r>
          </a:p>
          <a:p>
            <a:pPr marL="914400" lvl="1" indent="-457200">
              <a:buFontTx/>
              <a:buAutoNum type="arabicPeriod"/>
            </a:pPr>
            <a:endParaRPr lang="en-US" altLang="zh-CN" sz="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For implementation:</a:t>
            </a:r>
          </a:p>
          <a:p>
            <a:pPr marL="914400" lvl="1" indent="-457200">
              <a:buAutoNum type="alphaL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Place the template prefix before the constructor and function header in the implementation.</a:t>
            </a:r>
          </a:p>
          <a:p>
            <a:pPr marL="914400" lvl="1" indent="-457200">
              <a:buFontTx/>
              <a:buAutoNum type="alphaL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Class name before the scope resolution operator :: is ClassName&lt;T&gt;</a:t>
            </a:r>
          </a:p>
        </p:txBody>
      </p:sp>
      <p:sp>
        <p:nvSpPr>
          <p:cNvPr id="34" name="矩形 33"/>
          <p:cNvSpPr/>
          <p:nvPr/>
        </p:nvSpPr>
        <p:spPr>
          <a:xfrm>
            <a:off x="4800600" y="1442179"/>
            <a:ext cx="3505200" cy="49355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//Definition</a:t>
            </a:r>
          </a:p>
          <a:p>
            <a:pPr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template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&lt;</a:t>
            </a: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typename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T&gt;</a:t>
            </a:r>
          </a:p>
          <a:p>
            <a:pPr>
              <a:defRPr/>
            </a:pP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class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Stack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16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public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: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Stack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();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bool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isEmpty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() const;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T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peek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() const;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void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push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(T value);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T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pop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();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getSize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() const;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void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display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() const;</a:t>
            </a:r>
          </a:p>
          <a:p>
            <a:pPr>
              <a:defRPr/>
            </a:pPr>
            <a:endParaRPr lang="en-US" altLang="zh-CN" sz="16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6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private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: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T elements[</a:t>
            </a:r>
            <a:r>
              <a:rPr lang="en-US" altLang="zh-CN" sz="16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100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];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size;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};</a:t>
            </a:r>
          </a:p>
          <a:p>
            <a:pPr>
              <a:defRPr/>
            </a:pPr>
            <a:endParaRPr lang="en-US" altLang="zh-CN" sz="16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//Implementation</a:t>
            </a:r>
          </a:p>
          <a:p>
            <a:pPr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…</a:t>
            </a:r>
          </a:p>
        </p:txBody>
      </p:sp>
      <p:sp>
        <p:nvSpPr>
          <p:cNvPr id="15" name="矩形 14"/>
          <p:cNvSpPr/>
          <p:nvPr/>
        </p:nvSpPr>
        <p:spPr>
          <a:xfrm>
            <a:off x="4788017" y="1123255"/>
            <a:ext cx="1307983" cy="318924"/>
          </a:xfrm>
          <a:prstGeom prst="rect">
            <a:avLst/>
          </a:prstGeom>
          <a:solidFill>
            <a:srgbClr val="00B050">
              <a:alpha val="2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Stack.h</a:t>
            </a:r>
          </a:p>
        </p:txBody>
      </p:sp>
      <p:sp>
        <p:nvSpPr>
          <p:cNvPr id="18" name="矩形 17"/>
          <p:cNvSpPr/>
          <p:nvPr/>
        </p:nvSpPr>
        <p:spPr>
          <a:xfrm>
            <a:off x="4338302" y="1442178"/>
            <a:ext cx="388457" cy="49355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 algn="r"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 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1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2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3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4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5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6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7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8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9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10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11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12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13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14</a:t>
            </a:r>
          </a:p>
          <a:p>
            <a:pPr algn="r"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15</a:t>
            </a:r>
          </a:p>
          <a:p>
            <a:pPr algn="r">
              <a:defRPr/>
            </a:pPr>
            <a:endParaRPr lang="en-US" altLang="zh-CN" sz="1600">
              <a:latin typeface="Consolas" panose="020B0609020204030204" pitchFamily="49" charset="0"/>
              <a:ea typeface="楷体_GB2312" pitchFamily="49" charset="-122"/>
            </a:endParaRPr>
          </a:p>
          <a:p>
            <a:pPr algn="r"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 </a:t>
            </a:r>
          </a:p>
          <a:p>
            <a:pPr algn="r">
              <a:defRPr/>
            </a:pP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93AAA7-4E54-1BFD-A83C-7956DB4E7211}"/>
              </a:ext>
            </a:extLst>
          </p:cNvPr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 sz="4000" dirty="0">
                <a:sym typeface="+mn-ea"/>
              </a:rPr>
              <a:t>Class Templates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11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50" y="1221356"/>
            <a:ext cx="4191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Combine class definition and class implementation into one file.</a:t>
            </a:r>
          </a:p>
          <a:p>
            <a:pPr marL="457200" indent="-457200">
              <a:buAutoNum type="arabicPeriod"/>
            </a:pPr>
            <a:endParaRPr lang="en-US" altLang="zh-CN" sz="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For definition: </a:t>
            </a:r>
          </a:p>
          <a:p>
            <a:pPr marL="914400" lvl="1" indent="-457200">
              <a:buAutoNum type="alphaL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Place the template prefix before the class definition.</a:t>
            </a:r>
          </a:p>
          <a:p>
            <a:pPr marL="914400" lvl="1" indent="-457200">
              <a:buFontTx/>
              <a:buAutoNum type="alphaL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The type parameter can be used in the class just like any regular data type. </a:t>
            </a:r>
          </a:p>
          <a:p>
            <a:pPr marL="914400" lvl="1" indent="-457200">
              <a:buFontTx/>
              <a:buAutoNum type="arabicPeriod"/>
            </a:pPr>
            <a:endParaRPr lang="en-US" altLang="zh-CN" sz="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For implementation:</a:t>
            </a:r>
          </a:p>
          <a:p>
            <a:pPr marL="914400" lvl="1" indent="-457200">
              <a:buAutoNum type="alphaL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Place the template prefix before the constructor and function header in the implementation.</a:t>
            </a:r>
          </a:p>
          <a:p>
            <a:pPr marL="914400" lvl="1" indent="-457200">
              <a:buFontTx/>
              <a:buAutoNum type="alphaLcPeriod"/>
            </a:pP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Class name before the scope resolution operator :: is ClassName&lt;T&gt;</a:t>
            </a:r>
          </a:p>
        </p:txBody>
      </p:sp>
      <p:sp>
        <p:nvSpPr>
          <p:cNvPr id="34" name="矩形 33"/>
          <p:cNvSpPr/>
          <p:nvPr/>
        </p:nvSpPr>
        <p:spPr>
          <a:xfrm>
            <a:off x="4800600" y="1442179"/>
            <a:ext cx="3505200" cy="512023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//Definition</a:t>
            </a:r>
          </a:p>
          <a:p>
            <a:pPr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template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&lt;</a:t>
            </a: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typename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T&gt;</a:t>
            </a:r>
          </a:p>
          <a:p>
            <a:pPr>
              <a:defRPr/>
            </a:pP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class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Stack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{</a:t>
            </a:r>
          </a:p>
          <a:p>
            <a:pPr>
              <a:defRPr/>
            </a:pPr>
            <a:r>
              <a:rPr lang="en-US" altLang="zh-CN" sz="16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…</a:t>
            </a:r>
            <a:endParaRPr lang="en-US" altLang="zh-CN" sz="16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};</a:t>
            </a:r>
          </a:p>
          <a:p>
            <a:pPr>
              <a:defRPr/>
            </a:pPr>
            <a:endParaRPr lang="en-US" altLang="zh-CN" sz="16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//Implementation</a:t>
            </a:r>
          </a:p>
          <a:p>
            <a:pPr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template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&lt;</a:t>
            </a: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typename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T&gt;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Stack&lt;T&gt;::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Stack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(){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size = </a:t>
            </a:r>
            <a:r>
              <a:rPr lang="en-US" altLang="zh-CN" sz="16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0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}</a:t>
            </a:r>
          </a:p>
          <a:p>
            <a:pPr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template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&lt;</a:t>
            </a: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typename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T&gt;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T Stack&lt;T&gt;::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peek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() </a:t>
            </a:r>
            <a:r>
              <a:rPr lang="en-US" altLang="zh-CN" sz="16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const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{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return elements[size-</a:t>
            </a:r>
            <a:r>
              <a:rPr lang="en-US" altLang="zh-CN" sz="16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1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];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}</a:t>
            </a:r>
          </a:p>
          <a:p>
            <a:pPr>
              <a:defRPr/>
            </a:pP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template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&lt;</a:t>
            </a:r>
            <a:r>
              <a:rPr lang="en-US" altLang="zh-CN" sz="16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typename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T&gt;</a:t>
            </a:r>
          </a:p>
          <a:p>
            <a:pPr>
              <a:defRPr/>
            </a:pPr>
            <a:r>
              <a:rPr lang="en-US" altLang="zh-CN" sz="16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void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Stack&lt;T&gt;::</a:t>
            </a:r>
            <a:r>
              <a:rPr lang="en-US" altLang="zh-CN" sz="16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push</a:t>
            </a: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(T value){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    elements[size ++] = value;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}</a:t>
            </a:r>
          </a:p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…</a:t>
            </a:r>
          </a:p>
        </p:txBody>
      </p:sp>
      <p:sp>
        <p:nvSpPr>
          <p:cNvPr id="15" name="矩形 14"/>
          <p:cNvSpPr/>
          <p:nvPr/>
        </p:nvSpPr>
        <p:spPr>
          <a:xfrm>
            <a:off x="4788017" y="1123255"/>
            <a:ext cx="1307983" cy="318924"/>
          </a:xfrm>
          <a:prstGeom prst="rect">
            <a:avLst/>
          </a:prstGeom>
          <a:solidFill>
            <a:srgbClr val="00B050">
              <a:alpha val="20000"/>
            </a:srgb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Stack.h</a:t>
            </a:r>
          </a:p>
        </p:txBody>
      </p:sp>
      <p:sp>
        <p:nvSpPr>
          <p:cNvPr id="18" name="矩形 17"/>
          <p:cNvSpPr/>
          <p:nvPr/>
        </p:nvSpPr>
        <p:spPr>
          <a:xfrm>
            <a:off x="4338302" y="1442178"/>
            <a:ext cx="388457" cy="512023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 algn="r"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 </a:t>
            </a:r>
          </a:p>
          <a:p>
            <a:pPr algn="r">
              <a:defRPr/>
            </a:pPr>
            <a:r>
              <a:rPr lang="en-US" altLang="zh-CN" sz="1600" i="1">
                <a:latin typeface="Consolas" panose="020B0609020204030204" pitchFamily="49" charset="0"/>
                <a:ea typeface="楷体_GB2312" pitchFamily="49" charset="-122"/>
              </a:rPr>
              <a:t>1</a:t>
            </a:r>
          </a:p>
          <a:p>
            <a:pPr algn="r">
              <a:defRPr/>
            </a:pPr>
            <a:r>
              <a:rPr lang="en-US" altLang="zh-CN" sz="1600" i="1">
                <a:latin typeface="Consolas" panose="020B0609020204030204" pitchFamily="49" charset="0"/>
                <a:ea typeface="楷体_GB2312" pitchFamily="49" charset="-122"/>
              </a:rPr>
              <a:t>…</a:t>
            </a:r>
          </a:p>
          <a:p>
            <a:pPr algn="r">
              <a:defRPr/>
            </a:pPr>
            <a:r>
              <a:rPr lang="en-US" altLang="zh-CN" sz="1600" i="1">
                <a:latin typeface="Consolas" panose="020B0609020204030204" pitchFamily="49" charset="0"/>
                <a:ea typeface="楷体_GB2312" pitchFamily="49" charset="-122"/>
              </a:rPr>
              <a:t>3</a:t>
            </a:r>
          </a:p>
          <a:p>
            <a:pPr algn="r">
              <a:defRPr/>
            </a:pPr>
            <a:r>
              <a:rPr lang="en-US" altLang="zh-CN" sz="1600" i="1">
                <a:latin typeface="Consolas" panose="020B0609020204030204" pitchFamily="49" charset="0"/>
                <a:ea typeface="楷体_GB2312" pitchFamily="49" charset="-122"/>
              </a:rPr>
              <a:t>15</a:t>
            </a:r>
          </a:p>
          <a:p>
            <a:pPr algn="r">
              <a:defRPr/>
            </a:pPr>
            <a:r>
              <a:rPr lang="en-US" altLang="zh-CN" sz="1600" i="1">
                <a:latin typeface="Consolas" panose="020B0609020204030204" pitchFamily="49" charset="0"/>
                <a:ea typeface="楷体_GB2312" pitchFamily="49" charset="-122"/>
              </a:rPr>
              <a:t>16</a:t>
            </a:r>
          </a:p>
          <a:p>
            <a:pPr algn="r">
              <a:defRPr/>
            </a:pPr>
            <a:r>
              <a:rPr lang="en-US" altLang="zh-CN" sz="2000" i="1">
                <a:latin typeface="Consolas" panose="020B0609020204030204" pitchFamily="49" charset="0"/>
                <a:ea typeface="楷体_GB2312" pitchFamily="49" charset="-122"/>
              </a:rPr>
              <a:t> </a:t>
            </a:r>
          </a:p>
          <a:p>
            <a:pPr algn="r"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18</a:t>
            </a:r>
          </a:p>
          <a:p>
            <a:pPr algn="r"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19 </a:t>
            </a:r>
          </a:p>
          <a:p>
            <a:pPr algn="r"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20</a:t>
            </a:r>
          </a:p>
          <a:p>
            <a:pPr algn="r"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21</a:t>
            </a:r>
          </a:p>
          <a:p>
            <a:pPr algn="r"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21</a:t>
            </a:r>
          </a:p>
          <a:p>
            <a:pPr algn="r"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22</a:t>
            </a:r>
          </a:p>
          <a:p>
            <a:pPr algn="r"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23</a:t>
            </a:r>
          </a:p>
          <a:p>
            <a:pPr algn="r"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24</a:t>
            </a:r>
          </a:p>
          <a:p>
            <a:pPr algn="r"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25</a:t>
            </a:r>
          </a:p>
          <a:p>
            <a:pPr algn="r"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26</a:t>
            </a:r>
          </a:p>
          <a:p>
            <a:pPr algn="r"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27</a:t>
            </a:r>
          </a:p>
          <a:p>
            <a:pPr algn="r"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28</a:t>
            </a:r>
          </a:p>
          <a:p>
            <a:pPr algn="r">
              <a:defRPr/>
            </a:pPr>
            <a:r>
              <a:rPr lang="en-US" altLang="zh-CN" sz="1600">
                <a:latin typeface="Consolas" panose="020B0609020204030204" pitchFamily="49" charset="0"/>
                <a:ea typeface="楷体_GB2312" pitchFamily="49" charset="-122"/>
              </a:rPr>
              <a:t>…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134E481-477A-27D8-A481-AE78245F71A5}"/>
              </a:ext>
            </a:extLst>
          </p:cNvPr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 sz="4000" dirty="0">
                <a:sym typeface="+mn-ea"/>
              </a:rPr>
              <a:t>Class Templates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xfrm>
            <a:off x="1062038" y="152400"/>
            <a:ext cx="8229600" cy="12192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>
                <a:sym typeface="+mn-ea"/>
              </a:rPr>
              <a:t>The C++ vector Class</a:t>
            </a:r>
            <a:endParaRPr lang="en-US" altLang="zh-CN">
              <a:latin typeface="Arial Rounded MT Bold" pitchFamily="34" charset="0"/>
              <a:ea typeface="宋体" panose="02010600030101010101" pitchFamily="2" charset="-122"/>
            </a:endParaRPr>
          </a:p>
        </p:txBody>
      </p:sp>
      <p:sp>
        <p:nvSpPr>
          <p:cNvPr id="52231" name="Rectangle 7"/>
          <p:cNvSpPr/>
          <p:nvPr/>
        </p:nvSpPr>
        <p:spPr>
          <a:xfrm>
            <a:off x="0" y="4221163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2" name="Rectangle 8"/>
          <p:cNvSpPr/>
          <p:nvPr/>
        </p:nvSpPr>
        <p:spPr>
          <a:xfrm>
            <a:off x="76200" y="4754563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3" name="Rectangle 9"/>
          <p:cNvSpPr/>
          <p:nvPr/>
        </p:nvSpPr>
        <p:spPr>
          <a:xfrm>
            <a:off x="76200" y="5287963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4" name="Rectangle 10"/>
          <p:cNvSpPr/>
          <p:nvPr/>
        </p:nvSpPr>
        <p:spPr>
          <a:xfrm>
            <a:off x="76200" y="2620963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50779" y="1029101"/>
            <a:ext cx="7412246" cy="811367"/>
          </a:xfrm>
          <a:prstGeom prst="rect">
            <a:avLst/>
          </a:prstGeom>
          <a:noFill/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C++ contains a generic </a:t>
            </a:r>
            <a:r>
              <a:rPr lang="en-US" altLang="zh-CN" b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vector</a:t>
            </a:r>
            <a:r>
              <a:rPr lang="en-US" altLang="zh-CN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 class for storing a list of objects.</a:t>
            </a:r>
          </a:p>
        </p:txBody>
      </p:sp>
      <p:grpSp>
        <p:nvGrpSpPr>
          <p:cNvPr id="13" name="组合 7"/>
          <p:cNvGrpSpPr/>
          <p:nvPr/>
        </p:nvGrpSpPr>
        <p:grpSpPr bwMode="auto">
          <a:xfrm>
            <a:off x="363868" y="1184625"/>
            <a:ext cx="1036637" cy="615950"/>
            <a:chOff x="333108" y="1289466"/>
            <a:chExt cx="1037032" cy="615301"/>
          </a:xfrm>
        </p:grpSpPr>
        <p:pic>
          <p:nvPicPr>
            <p:cNvPr id="16" name="图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6616077">
              <a:off x="442540" y="1180034"/>
              <a:ext cx="486519" cy="705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矩形 10"/>
            <p:cNvSpPr>
              <a:spLocks noChangeArrowheads="1"/>
            </p:cNvSpPr>
            <p:nvPr/>
          </p:nvSpPr>
          <p:spPr bwMode="auto">
            <a:xfrm>
              <a:off x="523473" y="1319992"/>
              <a:ext cx="84666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Key</a:t>
              </a:r>
            </a:p>
            <a:p>
              <a:pPr algn="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Point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956360" y="2421913"/>
            <a:ext cx="6587440" cy="68825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vector&lt;</a:t>
            </a:r>
            <a:r>
              <a:rPr lang="en-US" altLang="zh-CN" sz="20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</a:rPr>
              <a:t>&gt; intVector;</a:t>
            </a:r>
          </a:p>
          <a:p>
            <a:pPr>
              <a:defRPr/>
            </a:pPr>
            <a:r>
              <a:rPr lang="en-US" altLang="zh-CN" sz="2000">
                <a:latin typeface="Consolas" panose="020B0609020204030204" pitchFamily="49" charset="0"/>
                <a:ea typeface="楷体_GB2312" pitchFamily="49" charset="-122"/>
                <a:cs typeface="+mn-cs"/>
              </a:rPr>
              <a:t>vector&lt;string&gt; stringVector;</a:t>
            </a:r>
          </a:p>
        </p:txBody>
      </p:sp>
      <p:sp>
        <p:nvSpPr>
          <p:cNvPr id="3" name="矩形 2"/>
          <p:cNvSpPr/>
          <p:nvPr/>
        </p:nvSpPr>
        <p:spPr>
          <a:xfrm>
            <a:off x="307202" y="1977887"/>
            <a:ext cx="797330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vector&lt;elementType&gt; vectorName;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56360" y="3198861"/>
            <a:ext cx="7044640" cy="339669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tIns="36000" rIns="0" bIns="36000">
            <a:spAutoFit/>
          </a:bodyPr>
          <a:lstStyle/>
          <a:p>
            <a:pPr>
              <a:defRPr/>
            </a:pP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#include </a:t>
            </a:r>
            <a:r>
              <a:rPr lang="en-US" altLang="zh-CN" sz="1800">
                <a:solidFill>
                  <a:srgbClr val="D29818"/>
                </a:solidFill>
                <a:latin typeface="Consolas" panose="020B0609020204030204" pitchFamily="49" charset="0"/>
                <a:ea typeface="楷体_GB2312" pitchFamily="49" charset="-122"/>
              </a:rPr>
              <a:t>&lt;vector&gt;</a:t>
            </a:r>
          </a:p>
          <a:p>
            <a:pPr>
              <a:defRPr/>
            </a:pP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using namespace 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std;</a:t>
            </a:r>
          </a:p>
          <a:p>
            <a:pPr>
              <a:defRPr/>
            </a:pPr>
            <a:endParaRPr lang="en-US" altLang="zh-CN" sz="18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00B050"/>
                </a:solidFill>
                <a:latin typeface="Consolas" panose="020B0609020204030204" pitchFamily="49" charset="0"/>
                <a:ea typeface="楷体_GB2312" pitchFamily="49" charset="-122"/>
              </a:rPr>
              <a:t>main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 {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vector&lt;</a:t>
            </a:r>
            <a:r>
              <a:rPr lang="en-US" altLang="zh-CN" sz="1800" i="1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&gt; intVector;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for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(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int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i =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0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; i &lt;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10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; i++)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    intVector.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push_back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(i + 1);</a:t>
            </a:r>
          </a:p>
          <a:p>
            <a:pPr>
              <a:defRPr/>
            </a:pPr>
            <a:endParaRPr lang="en-US" altLang="zh-CN" sz="18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intVector.</a:t>
            </a:r>
            <a:r>
              <a:rPr lang="en-US" altLang="zh-CN" sz="1800">
                <a:solidFill>
                  <a:srgbClr val="0070C0"/>
                </a:solidFill>
                <a:latin typeface="Consolas" panose="020B0609020204030204" pitchFamily="49" charset="0"/>
                <a:ea typeface="楷体_GB2312" pitchFamily="49" charset="-122"/>
              </a:rPr>
              <a:t>pop_back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(); </a:t>
            </a:r>
            <a:r>
              <a:rPr lang="en-US" altLang="zh-CN" sz="18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楷体_GB2312" pitchFamily="49" charset="-122"/>
              </a:rPr>
              <a:t>// Remove the last element</a:t>
            </a:r>
          </a:p>
          <a:p>
            <a:pPr>
              <a:defRPr/>
            </a:pPr>
            <a:endParaRPr lang="en-US" altLang="zh-CN" sz="1800">
              <a:latin typeface="Consolas" panose="020B0609020204030204" pitchFamily="49" charset="0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   </a:t>
            </a:r>
            <a:r>
              <a:rPr lang="en-US" altLang="zh-CN" sz="1800">
                <a:solidFill>
                  <a:srgbClr val="FF3399"/>
                </a:solidFill>
                <a:latin typeface="Consolas" panose="020B0609020204030204" pitchFamily="49" charset="0"/>
                <a:ea typeface="楷体_GB2312" pitchFamily="49" charset="-122"/>
              </a:rPr>
              <a:t>return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 </a:t>
            </a:r>
            <a:r>
              <a:rPr lang="en-US" altLang="zh-CN" sz="1800">
                <a:solidFill>
                  <a:srgbClr val="9966FF"/>
                </a:solidFill>
                <a:latin typeface="Consolas" panose="020B0609020204030204" pitchFamily="49" charset="0"/>
                <a:ea typeface="楷体_GB2312" pitchFamily="49" charset="-122"/>
              </a:rPr>
              <a:t>0</a:t>
            </a: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;</a:t>
            </a:r>
          </a:p>
          <a:p>
            <a:pPr>
              <a:defRPr/>
            </a:pPr>
            <a:r>
              <a:rPr lang="en-US" altLang="zh-CN" sz="1800">
                <a:latin typeface="Consolas" panose="020B0609020204030204" pitchFamily="49" charset="0"/>
                <a:ea typeface="楷体_GB2312" pitchFamily="49" charset="-122"/>
              </a:rPr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 noChangeArrowheads="1"/>
          </p:cNvSpPr>
          <p:nvPr>
            <p:ph type="ctrTitle"/>
          </p:nvPr>
        </p:nvSpPr>
        <p:spPr>
          <a:xfrm>
            <a:off x="609600" y="2209800"/>
            <a:ext cx="8229600" cy="1066800"/>
          </a:xfrm>
        </p:spPr>
        <p:txBody>
          <a:bodyPr/>
          <a:lstStyle/>
          <a:p>
            <a:r>
              <a:rPr lang="zh-CN" altLang="en-US" sz="4800"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程序设计原理</a:t>
            </a:r>
          </a:p>
        </p:txBody>
      </p:sp>
      <p:sp>
        <p:nvSpPr>
          <p:cNvPr id="17410" name="矩形 1"/>
          <p:cNvSpPr>
            <a:spLocks noChangeArrowheads="1"/>
          </p:cNvSpPr>
          <p:nvPr/>
        </p:nvSpPr>
        <p:spPr bwMode="auto">
          <a:xfrm>
            <a:off x="2895600" y="4267200"/>
            <a:ext cx="3657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Instructor:</a:t>
            </a:r>
            <a:r>
              <a:rPr lang="zh-CN" altLang="en-US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Mei Yu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Ruiguo</a:t>
            </a:r>
            <a:r>
              <a:rPr lang="zh-CN" altLang="en-US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Yu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</a:t>
            </a: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Jianrong</a:t>
            </a:r>
            <a:r>
              <a:rPr lang="zh-CN" altLang="en-US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Wang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</a:t>
            </a: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Xuewei</a:t>
            </a:r>
            <a:r>
              <a:rPr lang="zh-CN" altLang="en-US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Li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</a:t>
            </a: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Xiang</a:t>
            </a:r>
            <a:r>
              <a:rPr lang="zh-CN" altLang="en-US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0" i="1">
                <a:solidFill>
                  <a:schemeClr val="tx1"/>
                </a:solidFill>
                <a:latin typeface="Times New Roman" panose="02020603050405020304" pitchFamily="18" charset="0"/>
              </a:rPr>
              <a:t>Ying</a:t>
            </a:r>
            <a:endParaRPr lang="en-US" altLang="zh-CN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7" name="文本框 1"/>
          <p:cNvSpPr txBox="1">
            <a:spLocks noChangeArrowheads="1"/>
          </p:cNvSpPr>
          <p:nvPr/>
        </p:nvSpPr>
        <p:spPr bwMode="auto">
          <a:xfrm>
            <a:off x="2176463" y="3198813"/>
            <a:ext cx="5095875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kern="0" dirty="0">
                <a:solidFill>
                  <a:schemeClr val="bg1"/>
                </a:solidFill>
                <a:latin typeface="Verdana" pitchFamily="34" charset="0"/>
                <a:ea typeface="宋体" charset="-122"/>
              </a:rPr>
              <a:t>Standard Template Libraries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048107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349375"/>
            <a:ext cx="8642350" cy="5051425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latin typeface="+mj-lt"/>
                <a:ea typeface="ＭＳ Ｐゴシック" panose="020B0600070205080204" pitchFamily="34" charset="-128"/>
              </a:rPr>
              <a:t>Introduction to Standard Template Library (STL)</a:t>
            </a:r>
          </a:p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latin typeface="+mj-lt"/>
                <a:ea typeface="ＭＳ Ｐゴシック" panose="020B0600070205080204" pitchFamily="34" charset="-128"/>
              </a:rPr>
              <a:t>Introduction to Containers</a:t>
            </a:r>
          </a:p>
          <a:p>
            <a:pPr lvl="1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j-lt"/>
                <a:ea typeface="ＭＳ Ｐゴシック" panose="020B0600070205080204" pitchFamily="34" charset="-128"/>
              </a:rPr>
              <a:t>Templated data structure</a:t>
            </a:r>
          </a:p>
          <a:p>
            <a:pPr lvl="1">
              <a:defRPr/>
            </a:pPr>
            <a:r>
              <a:rPr lang="en-US" altLang="zh-CN" sz="2000" dirty="0">
                <a:solidFill>
                  <a:schemeClr val="tx1"/>
                </a:solidFill>
                <a:latin typeface="+mj-lt"/>
                <a:ea typeface="ＭＳ Ｐゴシック" panose="020B0600070205080204" pitchFamily="34" charset="-128"/>
                <a:cs typeface="Courier New" panose="02070309020205020404" pitchFamily="49" charset="0"/>
              </a:rPr>
              <a:t>vector, list, deque; set, multiset, map, multimap; stack, queue, </a:t>
            </a:r>
            <a:r>
              <a:rPr lang="en-US" altLang="zh-CN" sz="2000" dirty="0" err="1">
                <a:solidFill>
                  <a:schemeClr val="tx1"/>
                </a:solidFill>
                <a:latin typeface="+mj-lt"/>
                <a:ea typeface="ＭＳ Ｐゴシック" panose="020B0600070205080204" pitchFamily="34" charset="-128"/>
                <a:cs typeface="Courier New" panose="02070309020205020404" pitchFamily="49" charset="0"/>
              </a:rPr>
              <a:t>priority_queue</a:t>
            </a:r>
            <a:endParaRPr lang="en-US" altLang="zh-CN" sz="2000" dirty="0">
              <a:solidFill>
                <a:schemeClr val="tx1"/>
              </a:solidFill>
              <a:latin typeface="+mj-lt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latin typeface="+mj-lt"/>
                <a:ea typeface="ＭＳ Ｐゴシック" panose="020B0600070205080204" pitchFamily="34" charset="-128"/>
              </a:rPr>
              <a:t>Introduction to Iterators</a:t>
            </a:r>
          </a:p>
          <a:p>
            <a:pPr lvl="1">
              <a:defRPr/>
            </a:pPr>
            <a:r>
              <a:rPr lang="en-US" altLang="zh-CN" sz="2400" dirty="0">
                <a:solidFill>
                  <a:schemeClr val="tx1"/>
                </a:solidFill>
                <a:latin typeface="+mj-lt"/>
                <a:ea typeface="ＭＳ Ｐゴシック" panose="020B0600070205080204" pitchFamily="34" charset="-128"/>
              </a:rPr>
              <a:t>Access the elements of STL containers</a:t>
            </a:r>
          </a:p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latin typeface="+mj-lt"/>
                <a:ea typeface="ＭＳ Ｐゴシック" panose="020B0600070205080204" pitchFamily="34" charset="-128"/>
              </a:rPr>
              <a:t>Introduction to Algorithms</a:t>
            </a:r>
          </a:p>
          <a:p>
            <a:pPr lvl="1">
              <a:defRPr/>
            </a:pPr>
            <a:r>
              <a:rPr lang="en-US" altLang="zh-CN" sz="2400" dirty="0">
                <a:solidFill>
                  <a:schemeClr val="tx1"/>
                </a:solidFill>
                <a:latin typeface="+mj-lt"/>
                <a:ea typeface="ＭＳ Ｐゴシック" panose="020B0600070205080204" pitchFamily="34" charset="-128"/>
              </a:rPr>
              <a:t>Program with many STL algorithms</a:t>
            </a:r>
          </a:p>
          <a:p>
            <a:pPr lvl="1">
              <a:defRPr/>
            </a:pPr>
            <a:r>
              <a:rPr lang="en-US" altLang="zh-CN" sz="2400" dirty="0">
                <a:solidFill>
                  <a:schemeClr val="tx1"/>
                </a:solidFill>
                <a:latin typeface="+mj-lt"/>
                <a:ea typeface="ＭＳ Ｐゴシック" panose="020B0600070205080204" pitchFamily="34" charset="-128"/>
              </a:rPr>
              <a:t>equal, size, find, remove, replace, min, max, swap, basic searching, sorting algorithms</a:t>
            </a:r>
          </a:p>
        </p:txBody>
      </p:sp>
      <p:sp>
        <p:nvSpPr>
          <p:cNvPr id="19458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5FD748C-A73E-474D-BA80-CDD0BBC4969D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标题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Objectives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439168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Placeholder 2"/>
          <p:cNvSpPr>
            <a:spLocks noGrp="1"/>
          </p:cNvSpPr>
          <p:nvPr>
            <p:ph type="body" idx="1"/>
          </p:nvPr>
        </p:nvSpPr>
        <p:spPr>
          <a:xfrm>
            <a:off x="455613" y="1490663"/>
            <a:ext cx="8229600" cy="52482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The 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宋体" panose="02010600030101010101" pitchFamily="2" charset="-122"/>
              </a:rPr>
              <a:t>Standard Template Library (STL)</a:t>
            </a:r>
            <a:r>
              <a:rPr lang="en-US" altLang="zh-CN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 defines powerful, </a:t>
            </a:r>
            <a:r>
              <a:rPr lang="en-US" altLang="zh-CN" dirty="0">
                <a:solidFill>
                  <a:srgbClr val="C00000"/>
                </a:solidFill>
                <a:latin typeface="+mj-lt"/>
                <a:ea typeface="宋体" panose="02010600030101010101" pitchFamily="2" charset="-122"/>
              </a:rPr>
              <a:t>template-based, reusable components </a:t>
            </a:r>
            <a:r>
              <a:rPr lang="en-US" altLang="zh-CN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that implement many common </a:t>
            </a:r>
            <a:r>
              <a:rPr lang="en-US" altLang="zh-CN" dirty="0">
                <a:solidFill>
                  <a:srgbClr val="0033CC"/>
                </a:solidFill>
                <a:latin typeface="+mj-lt"/>
                <a:ea typeface="宋体" panose="02010600030101010101" pitchFamily="2" charset="-122"/>
              </a:rPr>
              <a:t>data structures </a:t>
            </a:r>
            <a:r>
              <a:rPr lang="en-US" altLang="zh-CN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and </a:t>
            </a:r>
            <a:r>
              <a:rPr lang="en-US" altLang="zh-CN" dirty="0">
                <a:solidFill>
                  <a:srgbClr val="0033CC"/>
                </a:solidFill>
                <a:latin typeface="+mj-lt"/>
                <a:ea typeface="宋体" panose="02010600030101010101" pitchFamily="2" charset="-122"/>
              </a:rPr>
              <a:t>algorithms</a:t>
            </a:r>
            <a:r>
              <a:rPr lang="en-US" altLang="zh-CN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 used to process those data structures.</a:t>
            </a:r>
          </a:p>
          <a:p>
            <a:pPr eaLnBrk="1" hangingPunct="1">
              <a:defRPr/>
            </a:pPr>
            <a:endParaRPr lang="en-US" altLang="zh-CN" dirty="0">
              <a:solidFill>
                <a:srgbClr val="000000"/>
              </a:solidFill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12292" name="TextBox 2"/>
          <p:cNvSpPr txBox="1">
            <a:spLocks noChangeArrowheads="1"/>
          </p:cNvSpPr>
          <p:nvPr/>
        </p:nvSpPr>
        <p:spPr bwMode="auto">
          <a:xfrm>
            <a:off x="0" y="4114800"/>
            <a:ext cx="9142413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algorithms + data structures = programs</a:t>
            </a:r>
          </a:p>
        </p:txBody>
      </p:sp>
      <p:sp>
        <p:nvSpPr>
          <p:cNvPr id="20483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7099288-42BD-49C1-BDF6-5D9993076311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标题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Introduction to the Standard Template Library (STL)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836775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55725"/>
            <a:ext cx="8686800" cy="52578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The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Standard Template Library (STL)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 defines powerful, template-based, reusable components. 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Implement many common data structures and algorithms used to process those data structures.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The STL was conceived and designed for performance and flexibility.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STL has three key components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containers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 (popular templatized data structures)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iterators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 (to access the elements of STL containers)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algorithms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(searching, sorting, comparing etc)</a:t>
            </a:r>
          </a:p>
          <a:p>
            <a:pPr eaLnBrk="1" hangingPunct="1"/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21506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33B378-D623-4B55-B6E6-0AD4D7886567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Introduction to the Standard Template Library (STL)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242521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Placeholder 2"/>
          <p:cNvSpPr>
            <a:spLocks noGrp="1"/>
          </p:cNvSpPr>
          <p:nvPr>
            <p:ph type="body" idx="1"/>
          </p:nvPr>
        </p:nvSpPr>
        <p:spPr>
          <a:xfrm>
            <a:off x="266700" y="1393825"/>
            <a:ext cx="8610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Data structures.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linked lists, queues, stacks and trees.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objects are linked together with pointers.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Pointer-based code is complex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the slightest omission or oversight can lead to serious memory-access violations and memory-leak errors with no compiler complaints.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Implementing additional data structures, such as deques, priority queues, sets and maps, requires substantial extra work.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An advantage of the STL is that you can reuse the STL </a:t>
            </a:r>
            <a:r>
              <a:rPr lang="en-US" altLang="zh-CN" sz="2500" i="1" dirty="0">
                <a:solidFill>
                  <a:srgbClr val="0000FF"/>
                </a:solidFill>
                <a:latin typeface="+mj-lt"/>
                <a:ea typeface="ＭＳ Ｐゴシック" panose="020B0600070205080204" pitchFamily="34" charset="-128"/>
              </a:rPr>
              <a:t>containers, iterators </a:t>
            </a: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and </a:t>
            </a:r>
            <a:r>
              <a:rPr lang="en-US" altLang="zh-CN" sz="2500" i="1" dirty="0">
                <a:solidFill>
                  <a:srgbClr val="0000FF"/>
                </a:solidFill>
                <a:latin typeface="+mj-lt"/>
                <a:ea typeface="ＭＳ Ｐゴシック" panose="020B0600070205080204" pitchFamily="34" charset="-128"/>
              </a:rPr>
              <a:t>algorithms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implement common data structures and manipulations project-wide.</a:t>
            </a:r>
          </a:p>
        </p:txBody>
      </p:sp>
      <p:sp>
        <p:nvSpPr>
          <p:cNvPr id="22530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786BA30-159D-4810-8FA1-368C67DF23FF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Advantage of STL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05002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Placeholder 2"/>
          <p:cNvSpPr>
            <a:spLocks noGrp="1"/>
          </p:cNvSpPr>
          <p:nvPr>
            <p:ph type="body" idx="1"/>
          </p:nvPr>
        </p:nvSpPr>
        <p:spPr>
          <a:xfrm>
            <a:off x="266700" y="1277938"/>
            <a:ext cx="8610600" cy="5046662"/>
          </a:xfrm>
        </p:spPr>
        <p:txBody>
          <a:bodyPr/>
          <a:lstStyle/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Each STL container has associated member functions.</a:t>
            </a:r>
          </a:p>
          <a:p>
            <a:pPr lvl="1" eaLnBrk="1" hangingPunct="1"/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A subset of these member functions is defined in all STL containers.</a:t>
            </a:r>
          </a:p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Example of STL containers </a:t>
            </a:r>
          </a:p>
          <a:p>
            <a:pPr lvl="1" eaLnBrk="1" hangingPunct="1"/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Courier New" panose="02070309020205020404" pitchFamily="49" charset="0"/>
              </a:rPr>
              <a:t>vector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 (a dynamically resizable array)</a:t>
            </a:r>
          </a:p>
          <a:p>
            <a:pPr lvl="1" eaLnBrk="1" hangingPunct="1"/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Courier New" panose="02070309020205020404" pitchFamily="49" charset="0"/>
              </a:rPr>
              <a:t>list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(a doubly linked list) </a:t>
            </a:r>
          </a:p>
          <a:p>
            <a:pPr lvl="1" eaLnBrk="1" hangingPunct="1"/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Courier New" panose="02070309020205020404" pitchFamily="49" charset="0"/>
              </a:rPr>
              <a:t>deque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 (a double-ended queue, pronounced “deck”).</a:t>
            </a:r>
          </a:p>
          <a:p>
            <a:pPr lvl="2" eaLnBrk="1" hangingPunct="1"/>
            <a:r>
              <a:rPr lang="en-US" altLang="zh-CN">
                <a:latin typeface="Times New Roman" panose="02020603050405020304" pitchFamily="18" charset="0"/>
                <a:ea typeface="MS PGothic" panose="020B0600070205080204" pitchFamily="34" charset="-128"/>
              </a:rPr>
              <a:t>Double-ended queues are sequence containers with dynamic sizes that can be expanded or contracted on both ends (either its front or its back).</a:t>
            </a:r>
          </a:p>
          <a:p>
            <a:pPr lvl="2" eaLnBrk="1" hangingPunct="1"/>
            <a:r>
              <a:rPr lang="en-US" altLang="zh-CN">
                <a:latin typeface="Times New Roman" panose="02020603050405020304" pitchFamily="18" charset="0"/>
                <a:ea typeface="MS PGothic" panose="020B0600070205080204" pitchFamily="34" charset="-128"/>
              </a:rPr>
              <a:t>individual elements are accessed directly through random access iterators</a:t>
            </a:r>
            <a:br>
              <a:rPr lang="en-US" altLang="zh-CN" sz="2000">
                <a:latin typeface="Times New Roman" panose="02020603050405020304" pitchFamily="18" charset="0"/>
                <a:ea typeface="MS PGothic" panose="020B0600070205080204" pitchFamily="34" charset="-128"/>
              </a:rPr>
            </a:br>
            <a:br>
              <a:rPr lang="en-US" altLang="zh-CN" sz="2000">
                <a:latin typeface="Times New Roman" panose="02020603050405020304" pitchFamily="18" charset="0"/>
                <a:ea typeface="MS PGothic" panose="020B0600070205080204" pitchFamily="34" charset="-128"/>
              </a:rPr>
            </a:b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23554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CCC311-C776-445D-B695-DB358C909B61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Cambria" pitchFamily="18" charset="0"/>
                <a:ea typeface="ＭＳ Ｐゴシック" pitchFamily="34" charset="-128"/>
                <a:cs typeface="+mj-cs"/>
              </a:rPr>
              <a:t>STL Containers</a:t>
            </a:r>
            <a:endParaRPr lang="en-US" altLang="zh-C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121392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Placeholder 2"/>
          <p:cNvSpPr>
            <a:spLocks noGrp="1"/>
          </p:cNvSpPr>
          <p:nvPr>
            <p:ph type="body" idx="1"/>
          </p:nvPr>
        </p:nvSpPr>
        <p:spPr>
          <a:xfrm>
            <a:off x="347663" y="1393825"/>
            <a:ext cx="8716962" cy="472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STL iterators</a:t>
            </a:r>
          </a:p>
          <a:p>
            <a:pPr lvl="1" eaLnBrk="1" hangingPunct="1"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properties similar to those of pointers</a:t>
            </a:r>
          </a:p>
          <a:p>
            <a:pPr lvl="1" eaLnBrk="1" hangingPunct="1"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used by programs to manipulate the STL-container elements.</a:t>
            </a:r>
          </a:p>
          <a:p>
            <a:pPr eaLnBrk="1" hangingPunct="1"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Standard arrays can be manipulated by STL algorithms </a:t>
            </a:r>
          </a:p>
          <a:p>
            <a:pPr lvl="1" eaLnBrk="1" hangingPunct="1"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using standard pointers as iterators.</a:t>
            </a:r>
          </a:p>
          <a:p>
            <a:pPr eaLnBrk="1" hangingPunct="1"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Manipulating containers with iterators is convenient</a:t>
            </a:r>
          </a:p>
          <a:p>
            <a:pPr lvl="1" eaLnBrk="1" hangingPunct="1"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provides tremendous expressive power combined with STL algorithms</a:t>
            </a:r>
          </a:p>
          <a:p>
            <a:pPr lvl="1" eaLnBrk="1" hangingPunct="1"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reduce many lines of code to a single statement.</a:t>
            </a:r>
          </a:p>
        </p:txBody>
      </p:sp>
      <p:sp>
        <p:nvSpPr>
          <p:cNvPr id="24578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B456102-2F44-4A75-BF29-46D8C765C58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STL Iterators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419861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Placeholder 2"/>
          <p:cNvSpPr>
            <a:spLocks noGrp="1"/>
          </p:cNvSpPr>
          <p:nvPr>
            <p:ph type="body" idx="1"/>
          </p:nvPr>
        </p:nvSpPr>
        <p:spPr>
          <a:xfrm>
            <a:off x="327025" y="1393825"/>
            <a:ext cx="848995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STL algorithms are functions that perform common data manipulations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j-lt"/>
                <a:ea typeface="ＭＳ Ｐゴシック" panose="020B0600070205080204" pitchFamily="34" charset="-128"/>
              </a:rPr>
              <a:t>searching, sorting and comparing elements </a:t>
            </a: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(or entire containers) etc.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Each algorithm has minimum requirements for the types of iterators that can be used with it.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Each first-class container supports specific iterator types, some more powerful than others.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A container’s supported iterator type determines whether the container can be used with a specific algorithm.</a:t>
            </a:r>
          </a:p>
        </p:txBody>
      </p:sp>
      <p:sp>
        <p:nvSpPr>
          <p:cNvPr id="25602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A03506-A317-41E1-9897-F5B6F2BD3F19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STL Algorithms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1995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 Placeholder 2"/>
          <p:cNvSpPr>
            <a:spLocks noGrp="1" noChangeArrowheads="1"/>
          </p:cNvSpPr>
          <p:nvPr>
            <p:ph type="body" idx="1"/>
          </p:nvPr>
        </p:nvSpPr>
        <p:spPr>
          <a:xfrm>
            <a:off x="379413" y="1508125"/>
            <a:ext cx="8763000" cy="47244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The STL containers are divided into three major categories</a:t>
            </a:r>
          </a:p>
          <a:p>
            <a:pPr lvl="1"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sequence containers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pPr lvl="1"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associative containers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container adapters</a:t>
            </a:r>
          </a:p>
        </p:txBody>
      </p:sp>
      <p:sp>
        <p:nvSpPr>
          <p:cNvPr id="26626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DD7A3A-E649-4C8A-B30E-473BAFBC9602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Containers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519925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1" descr="ch22imageslides_Page_008.png"/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1" t="6227" r="23125" b="16983"/>
          <a:stretch>
            <a:fillRect/>
          </a:stretch>
        </p:blipFill>
        <p:spPr bwMode="auto">
          <a:xfrm>
            <a:off x="773113" y="1182688"/>
            <a:ext cx="6529387" cy="426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3"/>
          <p:cNvSpPr txBox="1">
            <a:spLocks/>
          </p:cNvSpPr>
          <p:nvPr/>
        </p:nvSpPr>
        <p:spPr>
          <a:xfrm>
            <a:off x="228600" y="228600"/>
            <a:ext cx="8153400" cy="8175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en-US" altLang="zh-CN" sz="4000">
              <a:solidFill>
                <a:srgbClr val="003399"/>
              </a:solidFill>
              <a:latin typeface="Cambria" panose="02040503050406030204" pitchFamily="18" charset="0"/>
              <a:ea typeface="MS PGothic" panose="020B0600070205080204" pitchFamily="34" charset="-128"/>
            </a:endParaRPr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F96C4E-A536-4C05-BDAD-460298AD16C1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标题 2"/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en-US" altLang="zh-CN" sz="2800" kern="0" dirty="0">
                <a:ea typeface="ＭＳ Ｐゴシック" panose="020B0600070205080204" pitchFamily="34" charset="-128"/>
              </a:rPr>
              <a:t>Containers Types and Examples</a:t>
            </a:r>
          </a:p>
          <a:p>
            <a:pPr>
              <a:defRPr/>
            </a:pPr>
            <a:endParaRPr kumimoji="1" lang="zh-CN" altLang="en-US" sz="2800" kern="0" dirty="0"/>
          </a:p>
        </p:txBody>
      </p:sp>
      <p:pic>
        <p:nvPicPr>
          <p:cNvPr id="27653" name="Picture 1" descr="ch22imageslides_Page_009.png"/>
          <p:cNvPicPr>
            <a:picLocks noGrp="1" noChangeAspect="1"/>
          </p:cNvPicPr>
          <p:nvPr isPhoto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" t="19528" r="23537" b="57426"/>
          <a:stretch>
            <a:fillRect/>
          </a:stretch>
        </p:blipFill>
        <p:spPr bwMode="auto">
          <a:xfrm>
            <a:off x="769938" y="5418138"/>
            <a:ext cx="6529387" cy="12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229747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Placeholder 2"/>
          <p:cNvSpPr>
            <a:spLocks noGrp="1"/>
          </p:cNvSpPr>
          <p:nvPr>
            <p:ph type="body" idx="1"/>
          </p:nvPr>
        </p:nvSpPr>
        <p:spPr>
          <a:xfrm>
            <a:off x="423863" y="1508125"/>
            <a:ext cx="85598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The </a:t>
            </a:r>
            <a:r>
              <a:rPr lang="en-US" altLang="zh-CN" sz="250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sequence containers 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represent linear data structures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vectors and linked lists.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The </a:t>
            </a:r>
            <a:r>
              <a:rPr lang="en-US" altLang="zh-CN" sz="250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associative containers 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are nonlinear containers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locate elements stored in the containers quickly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store sets of values or </a:t>
            </a:r>
            <a:r>
              <a:rPr lang="en-US" altLang="zh-CN" sz="210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key/value pairs</a:t>
            </a: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Stacks and queues actually are </a:t>
            </a:r>
            <a:r>
              <a:rPr lang="en-US" altLang="zh-CN" sz="250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constrained versions of sequential containers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STL implements stacks and queues as </a:t>
            </a:r>
            <a:r>
              <a:rPr lang="en-US" altLang="zh-CN" sz="210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container </a:t>
            </a:r>
            <a:r>
              <a:rPr lang="en-US" altLang="zh-CN" sz="2100">
                <a:solidFill>
                  <a:srgbClr val="C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adapters</a:t>
            </a:r>
            <a:r>
              <a:rPr lang="en-US" altLang="zh-CN" sz="210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 </a:t>
            </a:r>
            <a:endParaRPr lang="en-US" altLang="zh-CN" sz="210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enable a program to view a </a:t>
            </a:r>
            <a:r>
              <a:rPr lang="en-US" altLang="zh-CN" sz="2100" i="1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sequential container </a:t>
            </a: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in a </a:t>
            </a:r>
            <a:r>
              <a:rPr lang="en-US" altLang="zh-CN" sz="2100" i="1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constrained manner</a:t>
            </a:r>
            <a:r>
              <a:rPr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.</a:t>
            </a:r>
          </a:p>
        </p:txBody>
      </p:sp>
      <p:sp>
        <p:nvSpPr>
          <p:cNvPr id="28674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F8768E-9130-4A43-81E6-D65203E28D2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Containers Types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9601305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Placeholder 2"/>
          <p:cNvSpPr>
            <a:spLocks noGrp="1"/>
          </p:cNvSpPr>
          <p:nvPr>
            <p:ph type="body" idx="1"/>
          </p:nvPr>
        </p:nvSpPr>
        <p:spPr>
          <a:xfrm>
            <a:off x="381000" y="1508125"/>
            <a:ext cx="8382000" cy="472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Most STL containers provide similar functionality.</a:t>
            </a:r>
          </a:p>
          <a:p>
            <a:pPr eaLnBrk="1" hangingPunct="1"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Many generic operations, such as member function </a:t>
            </a: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  <a:cs typeface="Courier New" panose="02070309020205020404" pitchFamily="49" charset="0"/>
              </a:rPr>
              <a:t>size,</a:t>
            </a: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 apply to all containers </a:t>
            </a:r>
          </a:p>
          <a:p>
            <a:pPr lvl="1" eaLnBrk="1" hangingPunct="1"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other operations apply to subsets of similar containers.</a:t>
            </a:r>
          </a:p>
          <a:p>
            <a:pPr lvl="1" eaLnBrk="1" hangingPunct="1"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encourages extensibility of the STL with new classes.</a:t>
            </a:r>
          </a:p>
        </p:txBody>
      </p:sp>
      <p:sp>
        <p:nvSpPr>
          <p:cNvPr id="29698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0DFB72-BE3A-4ADA-AA3F-5E73C9D5B33E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9699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Containers’ Common Member Functions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564785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Placeholder 2"/>
          <p:cNvSpPr>
            <a:spLocks noGrp="1"/>
          </p:cNvSpPr>
          <p:nvPr>
            <p:ph type="body" idx="1"/>
          </p:nvPr>
        </p:nvSpPr>
        <p:spPr>
          <a:xfrm>
            <a:off x="287338" y="1470025"/>
            <a:ext cx="8569325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Iterators have many similarities to pointers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point to first-class container elements.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Certain iterator operations are uniform across containers.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For example, the dereferencing operator (*) dereferences an iterator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get the element to which it points.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The ++ operation on an iterator moves it to the container’s next element</a:t>
            </a:r>
          </a:p>
        </p:txBody>
      </p:sp>
      <p:sp>
        <p:nvSpPr>
          <p:cNvPr id="30722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852E40-6C8B-45AB-B82E-3521E6C119E7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Introduction to Iterators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366338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Placeholder 2"/>
          <p:cNvSpPr>
            <a:spLocks noGrp="1"/>
          </p:cNvSpPr>
          <p:nvPr>
            <p:ph type="body" idx="1"/>
          </p:nvPr>
        </p:nvSpPr>
        <p:spPr>
          <a:xfrm>
            <a:off x="287338" y="1289050"/>
            <a:ext cx="8569325" cy="52482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STL first-class containers provide member functions begin and end.</a:t>
            </a:r>
          </a:p>
          <a:p>
            <a:pPr eaLnBrk="1" hangingPunct="1">
              <a:defRPr/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Function </a:t>
            </a:r>
            <a:r>
              <a:rPr lang="en-US" altLang="zh-CN" sz="2400" dirty="0">
                <a:solidFill>
                  <a:srgbClr val="0000FF"/>
                </a:solidFill>
                <a:latin typeface="+mj-lt"/>
                <a:ea typeface="ＭＳ Ｐゴシック" panose="020B0600070205080204" pitchFamily="34" charset="-128"/>
              </a:rPr>
              <a:t>begin</a:t>
            </a: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 returns an iterator pointing to the first element of the container.</a:t>
            </a:r>
          </a:p>
          <a:p>
            <a:pPr eaLnBrk="1" hangingPunct="1">
              <a:defRPr/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Function </a:t>
            </a:r>
            <a:r>
              <a:rPr lang="en-US" altLang="zh-CN" sz="2400" dirty="0">
                <a:solidFill>
                  <a:srgbClr val="0000FF"/>
                </a:solidFill>
                <a:latin typeface="+mj-lt"/>
                <a:ea typeface="ＭＳ Ｐゴシック" panose="020B0600070205080204" pitchFamily="34" charset="-128"/>
              </a:rPr>
              <a:t>end</a:t>
            </a: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 returns an iterator pointing to the first element past the end of the container (an element that doesn’t exist).</a:t>
            </a:r>
          </a:p>
        </p:txBody>
      </p:sp>
      <p:sp>
        <p:nvSpPr>
          <p:cNvPr id="31746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910A06-9925-4EF8-A5F4-574A6913D75B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Iterators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539583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9050"/>
            <a:ext cx="8229600" cy="5248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Iterator </a:t>
            </a:r>
            <a:r>
              <a:rPr lang="en-US" altLang="zh-CN" sz="2400" dirty="0" err="1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 points to a particular element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 ++</a:t>
            </a:r>
            <a:r>
              <a:rPr lang="en-US" altLang="zh-CN" sz="2400" dirty="0" err="1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 points to the “next” element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*</a:t>
            </a:r>
            <a:r>
              <a:rPr lang="en-US" altLang="zh-CN" sz="2400" dirty="0" err="1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 refers to the element pointed to by </a:t>
            </a:r>
            <a:r>
              <a:rPr lang="en-US" altLang="zh-CN" sz="2400" dirty="0" err="1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i</a:t>
            </a:r>
            <a:endParaRPr lang="en-US" altLang="zh-CN" sz="240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The iterator resulting from </a:t>
            </a:r>
            <a:r>
              <a:rPr lang="en-US" altLang="zh-CN" sz="2400" dirty="0">
                <a:solidFill>
                  <a:srgbClr val="0000FF"/>
                </a:solidFill>
                <a:latin typeface="+mj-lt"/>
                <a:ea typeface="ＭＳ Ｐゴシック" panose="020B0600070205080204" pitchFamily="34" charset="-128"/>
              </a:rPr>
              <a:t>end </a:t>
            </a: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is typically used in an equality or inequality comparison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determine whether the “moving iterator” (</a:t>
            </a:r>
            <a:r>
              <a:rPr lang="en-US" altLang="zh-CN" sz="2400" dirty="0" err="1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 in this case) has reached the end of the container.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An object of type </a:t>
            </a:r>
            <a:r>
              <a:rPr lang="en-US" altLang="zh-CN" sz="2400" dirty="0">
                <a:solidFill>
                  <a:srgbClr val="0000FF"/>
                </a:solidFill>
                <a:latin typeface="+mj-lt"/>
                <a:ea typeface="ＭＳ Ｐゴシック" panose="020B0600070205080204" pitchFamily="34" charset="-128"/>
              </a:rPr>
              <a:t>iterator</a:t>
            </a: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 refers to a container element that can be modified.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An object of type </a:t>
            </a:r>
            <a:r>
              <a:rPr lang="en-US" altLang="zh-CN" sz="2400" dirty="0" err="1">
                <a:solidFill>
                  <a:srgbClr val="0000FF"/>
                </a:solidFill>
                <a:latin typeface="+mj-lt"/>
                <a:ea typeface="ＭＳ Ｐゴシック" panose="020B0600070205080204" pitchFamily="34" charset="-128"/>
              </a:rPr>
              <a:t>const_iterator</a:t>
            </a:r>
            <a:r>
              <a:rPr lang="en-US" altLang="zh-CN" sz="2400" dirty="0">
                <a:solidFill>
                  <a:srgbClr val="0000FF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refers to a container element that cannot be modified.</a:t>
            </a:r>
          </a:p>
        </p:txBody>
      </p:sp>
      <p:sp>
        <p:nvSpPr>
          <p:cNvPr id="32770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EA1FA4F-2D16-4A0A-B609-2707CF51EC4B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2771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Iterators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474344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55725"/>
            <a:ext cx="86868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STL algorithms can be used generically across a variety of containers.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STL provides many algorithms to manipulate containers.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j-lt"/>
                <a:ea typeface="ＭＳ Ｐゴシック" panose="020B0600070205080204" pitchFamily="34" charset="-128"/>
              </a:rPr>
              <a:t>inserting, deleting, searching, sorting </a:t>
            </a: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etc.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The algorithms operate on container elements only indirectly through iterators.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5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Many algorithms operate on sequences of elements defined by pairs of iterators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one pointing to the first element of the sequence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10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rPr>
              <a:t>one pointing to one element past the last element</a:t>
            </a:r>
          </a:p>
        </p:txBody>
      </p:sp>
      <p:sp>
        <p:nvSpPr>
          <p:cNvPr id="33794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D1854B-4DE5-4DD1-8E46-70CD64CABDFE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3795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Introduction to Algorithms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458886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Placeholder 2"/>
          <p:cNvSpPr>
            <a:spLocks noGrp="1"/>
          </p:cNvSpPr>
          <p:nvPr>
            <p:ph type="body" idx="1"/>
          </p:nvPr>
        </p:nvSpPr>
        <p:spPr>
          <a:xfrm>
            <a:off x="385763" y="1393825"/>
            <a:ext cx="8610600" cy="4724400"/>
          </a:xfrm>
        </p:spPr>
        <p:txBody>
          <a:bodyPr/>
          <a:lstStyle/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Algorithms often return iterators that indicate the results of the algorithms.</a:t>
            </a:r>
          </a:p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Algorithm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find</a:t>
            </a:r>
          </a:p>
          <a:p>
            <a:pPr lvl="1" eaLnBrk="1" hangingPunct="1"/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locates an element and returns an iterator to that element.</a:t>
            </a:r>
          </a:p>
          <a:p>
            <a:pPr lvl="1" eaLnBrk="1" hangingPunct="1"/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If the element is not found, find returns the “one past the end” iterator.</a:t>
            </a:r>
          </a:p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The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 find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algorithm can be used with any first-class STL container.</a:t>
            </a:r>
          </a:p>
          <a:p>
            <a:pPr eaLnBrk="1" hangingPunct="1"/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Some algorithms demand powerful iterators; e.g.,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sort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 demands random-access iterators.</a:t>
            </a:r>
          </a:p>
          <a:p>
            <a:pPr eaLnBrk="1" hangingPunct="1"/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34818" name="灯片编号占位符 3"/>
          <p:cNvSpPr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9129F87-B0C5-4381-BFEE-4669DEB8F2F1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MS PGothic" panose="020B0600070205080204" pitchFamily="34" charset="-128"/>
              </a:rPr>
              <a:t>Introduction to Algorithms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776529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1662113"/>
            <a:ext cx="7427912" cy="2971800"/>
          </a:xfrm>
        </p:spPr>
        <p:txBody>
          <a:bodyPr/>
          <a:lstStyle/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Provides an alternative to the built in array.</a:t>
            </a:r>
          </a:p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A vector is self grown. </a:t>
            </a:r>
          </a:p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Use It instead of the built in array!</a:t>
            </a:r>
          </a:p>
        </p:txBody>
      </p:sp>
      <p:sp>
        <p:nvSpPr>
          <p:cNvPr id="35842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8CE61C5-1A73-4454-910C-44C4ABE17AB8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5843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Vector</a:t>
            </a:r>
            <a:endParaRPr kumimoji="1"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38335025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62113"/>
            <a:ext cx="8229600" cy="386715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Syntax:  </a:t>
            </a: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vector&lt;of what&gt;</a:t>
            </a:r>
            <a:br>
              <a:rPr lang="en-US" altLang="he-IL" dirty="0">
                <a:solidFill>
                  <a:schemeClr val="tx1"/>
                </a:solidFill>
                <a:latin typeface="+mj-lt"/>
              </a:rPr>
            </a:br>
            <a:endParaRPr lang="en-US" altLang="he-IL" dirty="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For example 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	</a:t>
            </a: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vector&lt;int&gt; </a:t>
            </a:r>
            <a:r>
              <a:rPr lang="zh-CN" alt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        </a:t>
            </a: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- 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vector of integers.</a:t>
            </a:r>
            <a:br>
              <a:rPr lang="en-US" altLang="he-IL" dirty="0">
                <a:solidFill>
                  <a:schemeClr val="tx1"/>
                </a:solidFill>
                <a:latin typeface="+mj-lt"/>
              </a:rPr>
            </a:b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vector&lt;string&gt; </a:t>
            </a:r>
            <a:r>
              <a:rPr lang="zh-CN" alt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   </a:t>
            </a: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- 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vector of strings.</a:t>
            </a:r>
            <a:br>
              <a:rPr lang="en-US" altLang="he-IL" dirty="0">
                <a:solidFill>
                  <a:schemeClr val="tx1"/>
                </a:solidFill>
                <a:latin typeface="+mj-lt"/>
              </a:rPr>
            </a:b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vector&lt;int * &gt; </a:t>
            </a:r>
            <a:r>
              <a:rPr lang="zh-CN" alt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    </a:t>
            </a: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- 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vector of pointers to integers.</a:t>
            </a:r>
            <a:br>
              <a:rPr lang="en-US" altLang="he-IL" dirty="0">
                <a:solidFill>
                  <a:schemeClr val="tx1"/>
                </a:solidFill>
                <a:latin typeface="+mj-lt"/>
              </a:rPr>
            </a:b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vector&lt;Shape&gt; </a:t>
            </a:r>
            <a:r>
              <a:rPr lang="zh-CN" alt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   </a:t>
            </a: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- 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vector of Shape objects. Shape 			</a:t>
            </a:r>
            <a:r>
              <a:rPr lang="zh-CN" altLang="en-US" dirty="0">
                <a:solidFill>
                  <a:schemeClr val="tx1"/>
                </a:solidFill>
                <a:latin typeface="+mj-lt"/>
              </a:rPr>
              <a:t>      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is a user defined class.</a:t>
            </a:r>
          </a:p>
        </p:txBody>
      </p:sp>
      <p:sp>
        <p:nvSpPr>
          <p:cNvPr id="36866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E55A6CA-3CF6-44AD-B3DE-7C6EC56FDDF6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6867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Defining a new vector</a:t>
            </a:r>
            <a:endParaRPr kumimoji="1"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38481695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5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A86B56-3C1B-4260-8651-0E651C305D6F}" type="slidenum">
              <a:rPr lang="en-US" altLang="zh-CN" sz="1600" b="0">
                <a:solidFill>
                  <a:srgbClr val="FFFFFF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CN" sz="1600" b="0">
              <a:solidFill>
                <a:srgbClr val="FFFFFF"/>
              </a:solidFill>
              <a:latin typeface="Franklin Gothic Book" panose="020B0503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42913" y="1463675"/>
            <a:ext cx="8193087" cy="4535488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altLang="zh-CN" dirty="0">
                <a:solidFill>
                  <a:schemeClr val="tx1"/>
                </a:solidFill>
                <a:latin typeface="+mj-lt"/>
              </a:rPr>
              <a:t>Constructors</a:t>
            </a:r>
          </a:p>
          <a:p>
            <a:pPr>
              <a:lnSpc>
                <a:spcPct val="80000"/>
              </a:lnSpc>
              <a:defRPr/>
            </a:pPr>
            <a:endParaRPr lang="en-US" altLang="zh-CN" dirty="0">
              <a:latin typeface="+mj-lt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     </a:t>
            </a:r>
            <a:r>
              <a:rPr lang="zh-CN" altLang="en-US" sz="2000" dirty="0">
                <a:solidFill>
                  <a:schemeClr val="tx1"/>
                </a:solidFill>
                <a:latin typeface="+mj-lt"/>
              </a:rPr>
              <a:t>   </a:t>
            </a: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vector&lt;T&gt; v,    // empty vector</a:t>
            </a:r>
            <a:br>
              <a:rPr lang="en-US" altLang="zh-CN" sz="2000" dirty="0">
                <a:solidFill>
                  <a:schemeClr val="tx1"/>
                </a:solidFill>
                <a:latin typeface="+mj-lt"/>
              </a:rPr>
            </a:br>
            <a:endParaRPr lang="en-US" altLang="zh-CN" sz="2000" dirty="0">
              <a:solidFill>
                <a:schemeClr val="tx1"/>
              </a:solidFill>
              <a:latin typeface="+mj-lt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        v1(100),       // 100 elements of type T</a:t>
            </a:r>
            <a:br>
              <a:rPr lang="en-US" altLang="zh-CN" sz="2000" dirty="0">
                <a:solidFill>
                  <a:schemeClr val="tx1"/>
                </a:solidFill>
                <a:latin typeface="+mj-lt"/>
              </a:rPr>
            </a:br>
            <a:endParaRPr lang="en-US" altLang="zh-CN" sz="2000" dirty="0">
              <a:solidFill>
                <a:schemeClr val="tx1"/>
              </a:solidFill>
              <a:latin typeface="+mj-lt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        v2(100, </a:t>
            </a:r>
            <a:r>
              <a:rPr lang="en-US" altLang="zh-CN" sz="2000" i="1" dirty="0" err="1">
                <a:solidFill>
                  <a:schemeClr val="tx1"/>
                </a:solidFill>
                <a:latin typeface="+mj-lt"/>
              </a:rPr>
              <a:t>val</a:t>
            </a: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),  // 100 copies of </a:t>
            </a:r>
            <a:r>
              <a:rPr lang="en-US" altLang="zh-CN" sz="2000" i="1" dirty="0" err="1">
                <a:solidFill>
                  <a:schemeClr val="tx1"/>
                </a:solidFill>
                <a:latin typeface="+mj-lt"/>
              </a:rPr>
              <a:t>val</a:t>
            </a:r>
            <a:br>
              <a:rPr lang="en-US" altLang="zh-CN" sz="2000" i="1" dirty="0">
                <a:solidFill>
                  <a:schemeClr val="tx1"/>
                </a:solidFill>
                <a:latin typeface="+mj-lt"/>
              </a:rPr>
            </a:br>
            <a:endParaRPr lang="en-US" altLang="zh-CN" sz="2000" i="1" dirty="0">
              <a:solidFill>
                <a:schemeClr val="tx1"/>
              </a:solidFill>
              <a:latin typeface="+mj-lt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        v3(</a:t>
            </a:r>
            <a:r>
              <a:rPr lang="en-US" altLang="zh-CN" sz="2000" dirty="0" err="1">
                <a:solidFill>
                  <a:schemeClr val="tx1"/>
                </a:solidFill>
                <a:latin typeface="+mj-lt"/>
              </a:rPr>
              <a:t>fptr,lptr</a:t>
            </a: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); // contains copies of 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		</a:t>
            </a:r>
            <a:r>
              <a:rPr lang="zh-CN" altLang="en-US" sz="2000" dirty="0">
                <a:solidFill>
                  <a:schemeClr val="tx1"/>
                </a:solidFill>
                <a:latin typeface="+mj-lt"/>
              </a:rPr>
              <a:t>                        </a:t>
            </a: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// elements in memory </a:t>
            </a:r>
            <a:br>
              <a:rPr lang="en-US" altLang="zh-CN" sz="2000" dirty="0">
                <a:solidFill>
                  <a:schemeClr val="tx1"/>
                </a:solidFill>
                <a:latin typeface="+mj-lt"/>
              </a:rPr>
            </a:b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                     </a:t>
            </a:r>
            <a:r>
              <a:rPr lang="zh-CN" altLang="en-US" sz="2000" dirty="0">
                <a:solidFill>
                  <a:schemeClr val="tx1"/>
                </a:solidFill>
                <a:latin typeface="+mj-lt"/>
              </a:rPr>
              <a:t>      </a:t>
            </a: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// locations </a:t>
            </a:r>
            <a:r>
              <a:rPr lang="en-US" altLang="zh-CN" sz="2000" dirty="0" err="1">
                <a:solidFill>
                  <a:schemeClr val="tx1"/>
                </a:solidFill>
                <a:latin typeface="+mj-lt"/>
              </a:rPr>
              <a:t>fptr</a:t>
            </a: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 to </a:t>
            </a:r>
            <a:r>
              <a:rPr lang="en-US" altLang="zh-CN" sz="2000" dirty="0" err="1">
                <a:solidFill>
                  <a:schemeClr val="tx1"/>
                </a:solidFill>
                <a:latin typeface="+mj-lt"/>
              </a:rPr>
              <a:t>lptr</a:t>
            </a:r>
            <a:endParaRPr lang="en-US" altLang="zh-CN" sz="2000" dirty="0">
              <a:solidFill>
                <a:schemeClr val="tx1"/>
              </a:solidFill>
              <a:latin typeface="+mj-lt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6666FF"/>
              </a:solidFill>
              <a:latin typeface="+mj-lt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000" dirty="0">
              <a:latin typeface="+mj-lt"/>
            </a:endParaRPr>
          </a:p>
        </p:txBody>
      </p:sp>
      <p:sp>
        <p:nvSpPr>
          <p:cNvPr id="37891" name="灯片编号占位符 3"/>
          <p:cNvSpPr txBox="1"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9D7F96-DF4C-4B1D-BD12-1B7DA11448DE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The </a:t>
            </a:r>
            <a:r>
              <a:rPr lang="en-US" altLang="zh-CN" sz="2800">
                <a:solidFill>
                  <a:schemeClr val="hlink"/>
                </a:solidFill>
                <a:ea typeface="宋体" panose="02010600030101010101" pitchFamily="2" charset="-122"/>
              </a:rPr>
              <a:t>vector</a:t>
            </a:r>
            <a:r>
              <a:rPr lang="en-US" altLang="zh-CN" sz="2800">
                <a:ea typeface="宋体" panose="02010600030101010101" pitchFamily="2" charset="-122"/>
              </a:rPr>
              <a:t> Container</a:t>
            </a:r>
            <a:endParaRPr kumimoji="1"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389804016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5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C4EFF72-F21D-45E4-B0B0-4CE63CFC9CD3}" type="slidenum">
              <a:rPr lang="en-US" altLang="zh-CN" sz="1600" b="0">
                <a:solidFill>
                  <a:srgbClr val="FFFFFF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CN" sz="1600" b="0">
              <a:solidFill>
                <a:srgbClr val="FFFFFF"/>
              </a:solidFill>
              <a:latin typeface="Franklin Gothic Book" panose="020B0503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355725"/>
            <a:ext cx="7772400" cy="4535488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altLang="zh-CN" dirty="0">
                <a:solidFill>
                  <a:schemeClr val="tx1"/>
                </a:solidFill>
                <a:latin typeface="+mj-lt"/>
              </a:rPr>
              <a:t>Information about a vector's contents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dirty="0" err="1">
                <a:solidFill>
                  <a:schemeClr val="tx1"/>
                </a:solidFill>
                <a:latin typeface="+mj-lt"/>
              </a:rPr>
              <a:t>v.size</a:t>
            </a:r>
            <a:r>
              <a:rPr lang="en-US" altLang="zh-CN" dirty="0">
                <a:solidFill>
                  <a:schemeClr val="tx1"/>
                </a:solidFill>
                <a:latin typeface="+mj-lt"/>
              </a:rPr>
              <a:t>()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dirty="0" err="1">
                <a:solidFill>
                  <a:schemeClr val="tx1"/>
                </a:solidFill>
                <a:latin typeface="+mj-lt"/>
              </a:rPr>
              <a:t>v.empty</a:t>
            </a:r>
            <a:r>
              <a:rPr lang="en-US" altLang="zh-CN" dirty="0">
                <a:solidFill>
                  <a:schemeClr val="tx1"/>
                </a:solidFill>
                <a:latin typeface="+mj-lt"/>
              </a:rPr>
              <a:t>()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dirty="0" err="1">
                <a:solidFill>
                  <a:schemeClr val="tx1"/>
                </a:solidFill>
                <a:latin typeface="+mj-lt"/>
              </a:rPr>
              <a:t>v.capacity</a:t>
            </a:r>
            <a:r>
              <a:rPr lang="en-US" altLang="zh-CN" dirty="0">
                <a:solidFill>
                  <a:schemeClr val="tx1"/>
                </a:solidFill>
                <a:latin typeface="+mj-lt"/>
              </a:rPr>
              <a:t>()</a:t>
            </a:r>
            <a:r>
              <a:rPr lang="en-US" altLang="zh-CN" b="0" dirty="0">
                <a:solidFill>
                  <a:schemeClr val="tx1"/>
                </a:solidFill>
                <a:latin typeface="+mj-lt"/>
              </a:rPr>
              <a:t>//</a:t>
            </a:r>
            <a:r>
              <a:rPr lang="en-US" altLang="zh-CN" sz="2400" b="0" dirty="0">
                <a:solidFill>
                  <a:schemeClr val="tx1"/>
                </a:solidFill>
                <a:latin typeface="+mj-lt"/>
              </a:rPr>
              <a:t>expand by doubling its size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dirty="0" err="1">
                <a:solidFill>
                  <a:schemeClr val="tx1"/>
                </a:solidFill>
                <a:latin typeface="+mj-lt"/>
              </a:rPr>
              <a:t>v.reserve</a:t>
            </a:r>
            <a:r>
              <a:rPr lang="en-US" altLang="zh-CN" dirty="0">
                <a:solidFill>
                  <a:schemeClr val="tx1"/>
                </a:solidFill>
                <a:latin typeface="+mj-lt"/>
              </a:rPr>
              <a:t>()</a:t>
            </a:r>
            <a:r>
              <a:rPr lang="en-US" altLang="zh-CN" b="0" dirty="0">
                <a:solidFill>
                  <a:schemeClr val="tx1"/>
                </a:solidFill>
                <a:latin typeface="+mj-lt"/>
              </a:rPr>
              <a:t>//</a:t>
            </a:r>
            <a:r>
              <a:rPr lang="en-US" altLang="zh-CN" sz="2400" b="0" dirty="0">
                <a:solidFill>
                  <a:schemeClr val="tx1"/>
                </a:solidFill>
                <a:latin typeface="+mj-lt"/>
              </a:rPr>
              <a:t>grow its capacity to para</a:t>
            </a:r>
          </a:p>
          <a:p>
            <a:pPr>
              <a:lnSpc>
                <a:spcPct val="80000"/>
              </a:lnSpc>
              <a:defRPr/>
            </a:pPr>
            <a:r>
              <a:rPr lang="en-US" altLang="zh-CN" dirty="0">
                <a:solidFill>
                  <a:schemeClr val="tx1"/>
                </a:solidFill>
                <a:latin typeface="+mj-lt"/>
              </a:rPr>
              <a:t>Adding, removing, accessing elements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dirty="0" err="1">
                <a:solidFill>
                  <a:schemeClr val="tx1"/>
                </a:solidFill>
                <a:latin typeface="+mj-lt"/>
              </a:rPr>
              <a:t>v.push_back</a:t>
            </a:r>
            <a:r>
              <a:rPr lang="en-US" altLang="zh-CN" dirty="0">
                <a:solidFill>
                  <a:schemeClr val="tx1"/>
                </a:solidFill>
                <a:latin typeface="+mj-lt"/>
              </a:rPr>
              <a:t>()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dirty="0" err="1">
                <a:solidFill>
                  <a:schemeClr val="tx1"/>
                </a:solidFill>
                <a:latin typeface="+mj-lt"/>
              </a:rPr>
              <a:t>v.pop_back</a:t>
            </a:r>
            <a:r>
              <a:rPr lang="en-US" altLang="zh-CN" dirty="0">
                <a:solidFill>
                  <a:schemeClr val="tx1"/>
                </a:solidFill>
                <a:latin typeface="+mj-lt"/>
              </a:rPr>
              <a:t>()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dirty="0" err="1">
                <a:solidFill>
                  <a:schemeClr val="tx1"/>
                </a:solidFill>
                <a:latin typeface="+mj-lt"/>
              </a:rPr>
              <a:t>v.front</a:t>
            </a:r>
            <a:r>
              <a:rPr lang="en-US" altLang="zh-CN" dirty="0">
                <a:solidFill>
                  <a:schemeClr val="tx1"/>
                </a:solidFill>
                <a:latin typeface="+mj-lt"/>
              </a:rPr>
              <a:t>()</a:t>
            </a:r>
            <a:r>
              <a:rPr lang="en-US" altLang="zh-CN" sz="2400" b="0" dirty="0">
                <a:solidFill>
                  <a:schemeClr val="tx1"/>
                </a:solidFill>
                <a:latin typeface="+mj-lt"/>
              </a:rPr>
              <a:t>//return a reference to v’s first item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zh-CN" dirty="0" err="1">
                <a:solidFill>
                  <a:schemeClr val="tx1"/>
                </a:solidFill>
                <a:latin typeface="+mj-lt"/>
              </a:rPr>
              <a:t>v.back</a:t>
            </a:r>
            <a:r>
              <a:rPr lang="en-US" altLang="zh-CN" dirty="0">
                <a:solidFill>
                  <a:schemeClr val="tx1"/>
                </a:solidFill>
                <a:latin typeface="+mj-lt"/>
              </a:rPr>
              <a:t>()</a:t>
            </a:r>
          </a:p>
        </p:txBody>
      </p:sp>
      <p:sp>
        <p:nvSpPr>
          <p:cNvPr id="39939" name="灯片编号占位符 3"/>
          <p:cNvSpPr txBox="1"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512012-A764-4F26-BB3A-3D5502BA6B1A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solidFill>
                  <a:schemeClr val="hlink"/>
                </a:solidFill>
                <a:ea typeface="宋体" panose="02010600030101010101" pitchFamily="2" charset="-122"/>
              </a:rPr>
              <a:t>vector</a:t>
            </a:r>
            <a:r>
              <a:rPr lang="en-US" altLang="zh-CN" sz="2800">
                <a:ea typeface="宋体" panose="02010600030101010101" pitchFamily="2" charset="-122"/>
              </a:rPr>
              <a:t>  Operations</a:t>
            </a:r>
            <a:endParaRPr kumimoji="1"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1579090928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Using Vector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defRPr/>
            </a:pPr>
            <a:r>
              <a:rPr lang="zh-CN" altLang="en-US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#</a:t>
            </a: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include &lt;vector&gt;</a:t>
            </a:r>
          </a:p>
          <a:p>
            <a:pPr marL="609600" indent="-609600">
              <a:buFont typeface="Wingdings" panose="05000000000000000000" pitchFamily="2" charset="2"/>
              <a:buNone/>
              <a:defRPr/>
            </a:pPr>
            <a:endParaRPr lang="en-US" altLang="he-IL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 marL="609600" indent="-609600"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Two ways to use the vector type:</a:t>
            </a:r>
          </a:p>
          <a:p>
            <a:pPr marL="990600" lvl="1" indent="-533400">
              <a:buFontTx/>
              <a:buAutoNum type="arabicPeriod"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Array style.</a:t>
            </a:r>
          </a:p>
          <a:p>
            <a:pPr marL="990600" lvl="1" indent="-533400">
              <a:buFontTx/>
              <a:buAutoNum type="arabicPeriod"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STL style</a:t>
            </a:r>
          </a:p>
        </p:txBody>
      </p:sp>
      <p:sp>
        <p:nvSpPr>
          <p:cNvPr id="41987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28568D-C3F5-4D97-B3EB-C37770EBE7CA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770024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921625" cy="487363"/>
          </a:xfrm>
        </p:spPr>
        <p:txBody>
          <a:bodyPr/>
          <a:lstStyle/>
          <a:p>
            <a:r>
              <a:rPr lang="en-US" altLang="he-IL" sz="2800"/>
              <a:t>Using vector – Array Style</a:t>
            </a:r>
            <a:endParaRPr lang="en-US" altLang="he-IL" sz="240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1393825"/>
            <a:ext cx="7620000" cy="4495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We mimic the use of built-in array.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b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void 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simple_example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()</a:t>
            </a:r>
            <a:b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{</a:t>
            </a:r>
            <a:b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const int N = 10;</a:t>
            </a:r>
            <a:b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vector&lt;int&gt; 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(N);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for (int 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=0; 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&lt; 10; ++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	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cin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&gt;&gt; 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[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];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he-IL" sz="2000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int 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ia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[N];</a:t>
            </a:r>
            <a:b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for ( int j = 0; j &lt; N; ++j)</a:t>
            </a:r>
            <a:b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	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ia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[j] = 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[j];</a:t>
            </a:r>
            <a:b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0A10B35-D047-46C8-A5E2-A712D8EBA376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6614890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Using vector – STL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1525" y="1624013"/>
            <a:ext cx="7600950" cy="4408487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We define an empty vector</a:t>
            </a:r>
            <a:br>
              <a:rPr lang="en-US" altLang="he-IL" dirty="0">
                <a:solidFill>
                  <a:schemeClr val="tx1"/>
                </a:solidFill>
                <a:latin typeface="+mj-lt"/>
              </a:rPr>
            </a:br>
            <a:r>
              <a:rPr lang="en-US" altLang="he-IL" sz="2400" dirty="0">
                <a:solidFill>
                  <a:schemeClr val="tx1"/>
                </a:solidFill>
                <a:latin typeface="+mj-lt"/>
              </a:rPr>
              <a:t>	</a:t>
            </a: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vector&lt;string&gt; </a:t>
            </a:r>
            <a:r>
              <a:rPr lang="en-US" altLang="he-IL" sz="24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svec</a:t>
            </a: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;</a:t>
            </a:r>
            <a:b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b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dirty="0">
                <a:solidFill>
                  <a:schemeClr val="tx1"/>
                </a:solidFill>
                <a:latin typeface="+mj-lt"/>
              </a:rPr>
              <a:t>we insert elements into the vector using the method </a:t>
            </a:r>
            <a:r>
              <a:rPr lang="en-US" altLang="he-IL" dirty="0" err="1">
                <a:solidFill>
                  <a:schemeClr val="tx1"/>
                </a:solidFill>
                <a:latin typeface="+mj-lt"/>
              </a:rPr>
              <a:t>push_back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b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string word;</a:t>
            </a:r>
            <a:b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while ( </a:t>
            </a:r>
            <a:r>
              <a:rPr lang="en-US" altLang="he-IL" sz="24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cin</a:t>
            </a: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&gt;&gt; word ) 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//the number of 	words is unlimited.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{</a:t>
            </a:r>
            <a:b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</a:t>
            </a:r>
            <a:r>
              <a:rPr lang="en-US" altLang="he-IL" sz="24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svec.push_back</a:t>
            </a: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(word);</a:t>
            </a:r>
            <a:b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4035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A7FF243-BAE3-43C3-949C-34A5F15E52D4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21624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Insertion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4050" y="1662113"/>
            <a:ext cx="7427913" cy="4114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void </a:t>
            </a: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  <a:hlinkClick r:id="rId2" action="ppaction://hlinkfile"/>
              </a:rPr>
              <a:t>push_back</a:t>
            </a: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(const T&amp; x);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he-IL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Inserts an element with value x at the end of the controlled sequence.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br>
              <a:rPr lang="en-US" altLang="he-IL" sz="2400" dirty="0">
                <a:solidFill>
                  <a:schemeClr val="tx1"/>
                </a:solidFill>
                <a:latin typeface="+mj-lt"/>
              </a:rPr>
            </a:br>
            <a:r>
              <a:rPr lang="en-US" altLang="he-IL" sz="2400" dirty="0">
                <a:solidFill>
                  <a:schemeClr val="tx1"/>
                </a:solidFill>
                <a:latin typeface="+mj-lt"/>
              </a:rPr>
              <a:t>	</a:t>
            </a:r>
            <a:r>
              <a:rPr lang="en-US" altLang="he-IL" sz="24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svec.push_back</a:t>
            </a: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(str);</a:t>
            </a:r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DC6BBB-B8A0-4F70-8FA6-3C557D9733D4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8893732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Size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78000"/>
            <a:ext cx="8229600" cy="42497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unsigned int size();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he-IL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Returns the length of the controlled sequence (how many items it contains).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br>
              <a:rPr lang="en-US" altLang="he-IL" sz="2400" dirty="0">
                <a:solidFill>
                  <a:schemeClr val="tx1"/>
                </a:solidFill>
                <a:latin typeface="+mj-lt"/>
              </a:rPr>
            </a:b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unsigned int size = </a:t>
            </a:r>
            <a:r>
              <a:rPr lang="en-US" altLang="he-IL" sz="24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svec.size</a:t>
            </a: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4608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CCD835C-225B-4938-A616-A7B173AFAF8E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182119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Class Exercise 1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9388"/>
            <a:ext cx="8229600" cy="524827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Write a program that read integers from the user, sorts them, and print the result.</a:t>
            </a:r>
          </a:p>
        </p:txBody>
      </p:sp>
      <p:sp>
        <p:nvSpPr>
          <p:cNvPr id="47107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6D90D5-8A23-444F-B8AF-1E8B2EB6D932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9603154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Solving the problem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5913" y="1316038"/>
            <a:ext cx="8229600" cy="4981575"/>
          </a:xfrm>
        </p:spPr>
        <p:txBody>
          <a:bodyPr/>
          <a:lstStyle/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Easy way to read input.</a:t>
            </a:r>
          </a:p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A “place” to store the input</a:t>
            </a:r>
          </a:p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A way to sort the stored input.</a:t>
            </a:r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6A4225-D098-4A85-A7E1-B2053C2C343C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3964830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Using STL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9938" y="1814513"/>
            <a:ext cx="6045200" cy="3227387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int main()</a:t>
            </a:r>
            <a:b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{</a:t>
            </a:r>
            <a:b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int input;</a:t>
            </a:r>
            <a:b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vector&lt;int&gt; </a:t>
            </a:r>
            <a:r>
              <a:rPr lang="en-US" altLang="he-IL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</a:t>
            </a: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;</a:t>
            </a:r>
            <a:b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b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/* rest of code */</a:t>
            </a:r>
            <a:b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9155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3F421A-0172-4F69-99BA-E046A9286E3B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167465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STL - Input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2438400"/>
            <a:ext cx="6096000" cy="9906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while ( </a:t>
            </a:r>
            <a:r>
              <a:rPr lang="en-US" altLang="he-IL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cin</a:t>
            </a: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&gt;&gt; input )</a:t>
            </a:r>
            <a:b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</a:t>
            </a:r>
            <a:r>
              <a:rPr lang="en-US" altLang="he-IL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ivec.push_back</a:t>
            </a:r>
            <a:r>
              <a:rPr lang="en-US" altLang="he-IL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(input);</a:t>
            </a:r>
          </a:p>
        </p:txBody>
      </p:sp>
      <p:sp>
        <p:nvSpPr>
          <p:cNvPr id="50179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7984DB-6269-433C-98C4-AE26990B503C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2506829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STL - Sorting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9938" y="2476500"/>
            <a:ext cx="6400800" cy="685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sort(</a:t>
            </a:r>
            <a:r>
              <a:rPr lang="en-US" altLang="he-IL" sz="24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ivec.begin</a:t>
            </a: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(), </a:t>
            </a:r>
            <a:r>
              <a:rPr lang="en-US" altLang="he-IL" sz="24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ivec.end</a:t>
            </a: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());</a:t>
            </a: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769938" y="4081463"/>
            <a:ext cx="7391400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he-IL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Sort Prototype:</a:t>
            </a:r>
            <a:br>
              <a:rPr lang="en-US" altLang="he-IL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</a:br>
            <a:r>
              <a:rPr lang="en-US" altLang="he-IL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void  sort(Iterator first, Iterator  last); </a:t>
            </a: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3A706BD-377A-4668-A77A-57FDB2A0F23E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5546617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STL - Output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866900"/>
            <a:ext cx="7772400" cy="1143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for ( int 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= 0; 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&lt; 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ivec.size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(); ++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)</a:t>
            </a:r>
            <a:b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cout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&lt;&lt; 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[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] &lt;&lt; " ";</a:t>
            </a:r>
            <a:b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cout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&lt;&lt; </a:t>
            </a:r>
            <a:r>
              <a:rPr lang="en-US" altLang="he-IL" sz="20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endl</a:t>
            </a:r>
            <a:r>
              <a:rPr lang="en-US" altLang="he-IL" sz="20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762000" y="4503738"/>
            <a:ext cx="7772400" cy="1323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he-IL" sz="2000" b="1" dirty="0">
                <a:latin typeface="+mj-lt"/>
                <a:ea typeface="+mn-ea"/>
                <a:cs typeface="Courier New" panose="02070309020205020404" pitchFamily="49" charset="0"/>
              </a:rPr>
              <a:t>vector&lt;int&gt;::iterator it;</a:t>
            </a:r>
            <a:br>
              <a:rPr lang="en-US" altLang="he-IL" sz="2000" b="1" dirty="0">
                <a:latin typeface="+mj-lt"/>
                <a:ea typeface="+mn-ea"/>
                <a:cs typeface="Courier New" panose="02070309020205020404" pitchFamily="49" charset="0"/>
              </a:rPr>
            </a:br>
            <a:r>
              <a:rPr lang="en-US" altLang="he-IL" sz="2000" b="1" dirty="0">
                <a:latin typeface="+mj-lt"/>
                <a:ea typeface="+mn-ea"/>
                <a:cs typeface="Courier New" panose="02070309020205020404" pitchFamily="49" charset="0"/>
              </a:rPr>
              <a:t>for ( it = </a:t>
            </a:r>
            <a:r>
              <a:rPr lang="en-US" altLang="he-IL" sz="2000" b="1" dirty="0" err="1">
                <a:latin typeface="+mj-lt"/>
                <a:ea typeface="+mn-ea"/>
                <a:cs typeface="Courier New" panose="02070309020205020404" pitchFamily="49" charset="0"/>
              </a:rPr>
              <a:t>ivec.begin</a:t>
            </a:r>
            <a:r>
              <a:rPr lang="en-US" altLang="he-IL" sz="2000" b="1" dirty="0">
                <a:latin typeface="+mj-lt"/>
                <a:ea typeface="+mn-ea"/>
                <a:cs typeface="Courier New" panose="02070309020205020404" pitchFamily="49" charset="0"/>
              </a:rPr>
              <a:t>(); it != </a:t>
            </a:r>
            <a:r>
              <a:rPr lang="en-US" altLang="he-IL" sz="2000" b="1" dirty="0" err="1">
                <a:latin typeface="+mj-lt"/>
                <a:ea typeface="+mn-ea"/>
                <a:cs typeface="Courier New" panose="02070309020205020404" pitchFamily="49" charset="0"/>
              </a:rPr>
              <a:t>ivec.end</a:t>
            </a:r>
            <a:r>
              <a:rPr lang="en-US" altLang="he-IL" sz="2000" b="1" dirty="0">
                <a:latin typeface="+mj-lt"/>
                <a:ea typeface="+mn-ea"/>
                <a:cs typeface="Courier New" panose="02070309020205020404" pitchFamily="49" charset="0"/>
              </a:rPr>
              <a:t>(); ++it )</a:t>
            </a:r>
            <a:br>
              <a:rPr lang="en-US" altLang="he-IL" sz="2000" b="1" dirty="0">
                <a:latin typeface="+mj-lt"/>
                <a:ea typeface="+mn-ea"/>
                <a:cs typeface="Courier New" panose="02070309020205020404" pitchFamily="49" charset="0"/>
              </a:rPr>
            </a:br>
            <a:r>
              <a:rPr lang="en-US" altLang="he-IL" sz="2000" b="1" dirty="0">
                <a:latin typeface="+mj-lt"/>
                <a:ea typeface="+mn-ea"/>
                <a:cs typeface="Courier New" panose="02070309020205020404" pitchFamily="49" charset="0"/>
              </a:rPr>
              <a:t>	</a:t>
            </a:r>
            <a:r>
              <a:rPr lang="en-US" altLang="he-IL" sz="2000" b="1" dirty="0" err="1">
                <a:latin typeface="+mj-lt"/>
                <a:ea typeface="+mn-ea"/>
                <a:cs typeface="Courier New" panose="02070309020205020404" pitchFamily="49" charset="0"/>
              </a:rPr>
              <a:t>cout</a:t>
            </a:r>
            <a:r>
              <a:rPr lang="en-US" altLang="he-IL" sz="2000" b="1" dirty="0">
                <a:latin typeface="+mj-lt"/>
                <a:ea typeface="+mn-ea"/>
                <a:cs typeface="Courier New" panose="02070309020205020404" pitchFamily="49" charset="0"/>
              </a:rPr>
              <a:t> &lt;&lt; *it &lt;&lt; " ";</a:t>
            </a:r>
            <a:br>
              <a:rPr lang="en-US" altLang="he-IL" sz="2000" b="1" dirty="0">
                <a:latin typeface="+mj-lt"/>
                <a:ea typeface="+mn-ea"/>
                <a:cs typeface="Courier New" panose="02070309020205020404" pitchFamily="49" charset="0"/>
              </a:rPr>
            </a:br>
            <a:r>
              <a:rPr lang="en-US" altLang="he-IL" sz="2000" b="1" dirty="0" err="1">
                <a:latin typeface="+mj-lt"/>
                <a:ea typeface="+mn-ea"/>
                <a:cs typeface="Courier New" panose="02070309020205020404" pitchFamily="49" charset="0"/>
              </a:rPr>
              <a:t>cout</a:t>
            </a:r>
            <a:r>
              <a:rPr lang="en-US" altLang="he-IL" sz="2000" b="1" dirty="0">
                <a:latin typeface="+mj-lt"/>
                <a:ea typeface="+mn-ea"/>
                <a:cs typeface="Courier New" panose="02070309020205020404" pitchFamily="49" charset="0"/>
              </a:rPr>
              <a:t> &lt;&lt; </a:t>
            </a:r>
            <a:r>
              <a:rPr lang="en-US" altLang="he-IL" sz="2000" b="1" dirty="0" err="1">
                <a:latin typeface="+mj-lt"/>
                <a:ea typeface="+mn-ea"/>
                <a:cs typeface="Courier New" panose="02070309020205020404" pitchFamily="49" charset="0"/>
              </a:rPr>
              <a:t>endl</a:t>
            </a:r>
            <a:r>
              <a:rPr lang="en-US" altLang="he-IL" sz="2000" b="1" dirty="0">
                <a:latin typeface="+mj-lt"/>
                <a:ea typeface="+mn-ea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762000" y="3589338"/>
            <a:ext cx="5562600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he-IL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Or  (more recommended)</a:t>
            </a:r>
          </a:p>
        </p:txBody>
      </p:sp>
      <p:sp>
        <p:nvSpPr>
          <p:cNvPr id="52229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5B1D6C-1CB6-41FF-AFD7-63395F1AC340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0403412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Iterators</a:t>
            </a:r>
          </a:p>
        </p:txBody>
      </p:sp>
      <p:sp>
        <p:nvSpPr>
          <p:cNvPr id="53250" name="Date Placeholder 3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659CB1-85F1-432C-806D-BBA4E620CF43}" type="datetime13">
              <a:rPr lang="en-US" altLang="zh-CN" sz="1600" b="0">
                <a:solidFill>
                  <a:schemeClr val="tx2"/>
                </a:solidFill>
                <a:latin typeface="Perpetua" panose="02020502060401020303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11:54:18 AM</a:t>
            </a:fld>
            <a:endParaRPr lang="en-US" altLang="zh-CN" sz="1600" b="0">
              <a:solidFill>
                <a:schemeClr val="tx2"/>
              </a:solidFill>
              <a:latin typeface="Perpetua" panose="02020502060401020303" pitchFamily="18" charset="0"/>
              <a:ea typeface="宋体" panose="02010600030101010101" pitchFamily="2" charset="-122"/>
            </a:endParaRPr>
          </a:p>
        </p:txBody>
      </p:sp>
      <p:sp>
        <p:nvSpPr>
          <p:cNvPr id="53251" name="Slide Number Placeholder 5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280D79-1F66-4A96-BBBA-58ED04E82B53}" type="slidenum">
              <a:rPr lang="en-US" altLang="zh-CN" sz="1600" b="0">
                <a:solidFill>
                  <a:srgbClr val="FFFFFF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zh-CN" sz="1600" b="0">
              <a:solidFill>
                <a:srgbClr val="FFFFFF"/>
              </a:solidFill>
              <a:latin typeface="Franklin Gothic Book" panose="020B0503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4608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9750" y="1470025"/>
            <a:ext cx="7772400" cy="453548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latin typeface="+mj-lt"/>
              </a:rPr>
              <a:t>Given a vector which has had values placed in the first 4 locations:</a:t>
            </a:r>
          </a:p>
          <a:p>
            <a:pPr>
              <a:defRPr/>
            </a:pPr>
            <a:endParaRPr lang="en-US" altLang="zh-CN" dirty="0">
              <a:solidFill>
                <a:schemeClr val="tx1"/>
              </a:solidFill>
              <a:latin typeface="+mj-lt"/>
            </a:endParaRPr>
          </a:p>
          <a:p>
            <a:pPr>
              <a:defRPr/>
            </a:pPr>
            <a:endParaRPr lang="en-US" altLang="zh-CN" dirty="0">
              <a:solidFill>
                <a:schemeClr val="tx1"/>
              </a:solidFill>
              <a:latin typeface="+mj-lt"/>
            </a:endParaRPr>
          </a:p>
          <a:p>
            <a:pPr>
              <a:defRPr/>
            </a:pPr>
            <a:endParaRPr lang="en-US" altLang="zh-CN" dirty="0">
              <a:solidFill>
                <a:schemeClr val="tx1"/>
              </a:solidFill>
              <a:latin typeface="+mj-lt"/>
            </a:endParaRPr>
          </a:p>
          <a:p>
            <a:pPr>
              <a:defRPr/>
            </a:pPr>
            <a:endParaRPr lang="en-US" altLang="zh-CN" dirty="0">
              <a:solidFill>
                <a:schemeClr val="tx1"/>
              </a:solidFill>
              <a:latin typeface="+mj-lt"/>
            </a:endParaRPr>
          </a:p>
          <a:p>
            <a:pPr>
              <a:defRPr/>
            </a:pPr>
            <a:r>
              <a:rPr lang="en-US" altLang="zh-CN" dirty="0" err="1">
                <a:solidFill>
                  <a:schemeClr val="tx1"/>
                </a:solidFill>
                <a:latin typeface="+mj-lt"/>
              </a:rPr>
              <a:t>v.begin</a:t>
            </a:r>
            <a:r>
              <a:rPr lang="en-US" altLang="zh-CN" dirty="0">
                <a:solidFill>
                  <a:schemeClr val="tx1"/>
                </a:solidFill>
                <a:latin typeface="+mj-lt"/>
              </a:rPr>
              <a:t>() will return the </a:t>
            </a:r>
            <a:r>
              <a:rPr lang="en-US" altLang="zh-CN" u="sng" dirty="0">
                <a:solidFill>
                  <a:schemeClr val="tx1"/>
                </a:solidFill>
                <a:latin typeface="+mj-lt"/>
              </a:rPr>
              <a:t>iterator value</a:t>
            </a:r>
            <a:r>
              <a:rPr lang="en-US" altLang="zh-CN" dirty="0">
                <a:solidFill>
                  <a:schemeClr val="tx1"/>
                </a:solidFill>
                <a:latin typeface="+mj-lt"/>
              </a:rPr>
              <a:t> for the first slot, </a:t>
            </a:r>
          </a:p>
          <a:p>
            <a:pPr>
              <a:defRPr/>
            </a:pPr>
            <a:r>
              <a:rPr lang="en-US" altLang="zh-CN" dirty="0" err="1">
                <a:solidFill>
                  <a:schemeClr val="tx1"/>
                </a:solidFill>
                <a:latin typeface="+mj-lt"/>
              </a:rPr>
              <a:t>v.end</a:t>
            </a:r>
            <a:r>
              <a:rPr lang="en-US" altLang="zh-CN" dirty="0">
                <a:solidFill>
                  <a:schemeClr val="tx1"/>
                </a:solidFill>
                <a:latin typeface="+mj-lt"/>
              </a:rPr>
              <a:t>() for the next empty slot</a:t>
            </a:r>
          </a:p>
        </p:txBody>
      </p:sp>
      <p:graphicFrame>
        <p:nvGraphicFramePr>
          <p:cNvPr id="37892" name="Group 4"/>
          <p:cNvGraphicFramePr>
            <a:graphicFrameLocks noGrp="1"/>
          </p:cNvGraphicFramePr>
          <p:nvPr/>
        </p:nvGraphicFramePr>
        <p:xfrm>
          <a:off x="1554163" y="2973388"/>
          <a:ext cx="6034087" cy="519112"/>
        </p:xfrm>
        <a:graphic>
          <a:graphicData uri="http://schemas.openxmlformats.org/drawingml/2006/table">
            <a:tbl>
              <a:tblPr/>
              <a:tblGrid>
                <a:gridCol w="792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24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9112">
                <a:tc>
                  <a:txBody>
                    <a:bodyPr/>
                    <a:lstStyle>
                      <a:lvl1pPr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45758" marB="457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58" marB="457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T="45758" marB="457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58" marB="457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fontAlgn="base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T="45758" marB="457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100" name="Text Box 18"/>
          <p:cNvSpPr txBox="1">
            <a:spLocks noChangeArrowheads="1"/>
          </p:cNvSpPr>
          <p:nvPr/>
        </p:nvSpPr>
        <p:spPr bwMode="auto">
          <a:xfrm>
            <a:off x="539750" y="2439988"/>
            <a:ext cx="3400425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  <a:defRPr/>
            </a:pPr>
            <a:r>
              <a:rPr lang="en-US" altLang="zh-CN" sz="2400" b="0" dirty="0">
                <a:solidFill>
                  <a:schemeClr val="tx1"/>
                </a:solidFill>
                <a:latin typeface="+mj-lt"/>
              </a:rPr>
              <a:t>vector&lt;int&gt; v</a:t>
            </a:r>
          </a:p>
        </p:txBody>
      </p:sp>
      <p:grpSp>
        <p:nvGrpSpPr>
          <p:cNvPr id="53268" name="组合 5"/>
          <p:cNvGrpSpPr>
            <a:grpSpLocks/>
          </p:cNvGrpSpPr>
          <p:nvPr/>
        </p:nvGrpSpPr>
        <p:grpSpPr bwMode="auto">
          <a:xfrm>
            <a:off x="898525" y="3638550"/>
            <a:ext cx="1928813" cy="808038"/>
            <a:chOff x="1285875" y="3960813"/>
            <a:chExt cx="1565275" cy="807740"/>
          </a:xfrm>
        </p:grpSpPr>
        <p:sp>
          <p:nvSpPr>
            <p:cNvPr id="37908" name="Text Box 20"/>
            <p:cNvSpPr txBox="1">
              <a:spLocks noChangeArrowheads="1"/>
            </p:cNvSpPr>
            <p:nvPr/>
          </p:nvSpPr>
          <p:spPr bwMode="auto">
            <a:xfrm>
              <a:off x="1285875" y="4306760"/>
              <a:ext cx="1565275" cy="46179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dirty="0" err="1">
                  <a:latin typeface="Courier New" pitchFamily="49" charset="0"/>
                  <a:cs typeface="+mn-cs"/>
                </a:rPr>
                <a:t>v.begin</a:t>
              </a:r>
              <a:r>
                <a:rPr lang="en-US" dirty="0">
                  <a:latin typeface="Courier New" pitchFamily="49" charset="0"/>
                  <a:cs typeface="+mn-cs"/>
                </a:rPr>
                <a:t>()</a:t>
              </a:r>
            </a:p>
          </p:txBody>
        </p:sp>
        <p:sp>
          <p:nvSpPr>
            <p:cNvPr id="53274" name="Line 21"/>
            <p:cNvSpPr>
              <a:spLocks noChangeShapeType="1"/>
            </p:cNvSpPr>
            <p:nvPr/>
          </p:nvSpPr>
          <p:spPr bwMode="auto">
            <a:xfrm flipV="1">
              <a:off x="2135188" y="3960813"/>
              <a:ext cx="0" cy="325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269" name="组合 4"/>
          <p:cNvGrpSpPr>
            <a:grpSpLocks/>
          </p:cNvGrpSpPr>
          <p:nvPr/>
        </p:nvGrpSpPr>
        <p:grpSpPr bwMode="auto">
          <a:xfrm>
            <a:off x="4264025" y="3635375"/>
            <a:ext cx="1565275" cy="858838"/>
            <a:chOff x="4564063" y="3960813"/>
            <a:chExt cx="1565275" cy="858540"/>
          </a:xfrm>
        </p:grpSpPr>
        <p:sp>
          <p:nvSpPr>
            <p:cNvPr id="37911" name="Text Box 23"/>
            <p:cNvSpPr txBox="1">
              <a:spLocks noChangeArrowheads="1"/>
            </p:cNvSpPr>
            <p:nvPr/>
          </p:nvSpPr>
          <p:spPr bwMode="auto">
            <a:xfrm>
              <a:off x="4564063" y="4357550"/>
              <a:ext cx="1565275" cy="46180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dirty="0" err="1">
                  <a:latin typeface="Courier New" pitchFamily="49" charset="0"/>
                  <a:cs typeface="+mn-cs"/>
                </a:rPr>
                <a:t>v.end</a:t>
              </a:r>
              <a:r>
                <a:rPr lang="en-US" dirty="0">
                  <a:latin typeface="Courier New" pitchFamily="49" charset="0"/>
                  <a:cs typeface="+mn-cs"/>
                </a:rPr>
                <a:t>()</a:t>
              </a:r>
            </a:p>
          </p:txBody>
        </p:sp>
        <p:sp>
          <p:nvSpPr>
            <p:cNvPr id="53272" name="Line 24"/>
            <p:cNvSpPr>
              <a:spLocks noChangeShapeType="1"/>
            </p:cNvSpPr>
            <p:nvPr/>
          </p:nvSpPr>
          <p:spPr bwMode="auto">
            <a:xfrm flipV="1">
              <a:off x="5386388" y="3960813"/>
              <a:ext cx="0" cy="406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270" name="灯片编号占位符 3"/>
          <p:cNvSpPr txBox="1"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C0809D-B060-472B-8540-8CA4C5863402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1417376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STL - Include files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7850" y="1700213"/>
            <a:ext cx="7239000" cy="28956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#</a:t>
            </a: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include &lt;iostream&gt;  // I/O</a:t>
            </a:r>
            <a:b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#include &lt;vector&gt;    // container</a:t>
            </a:r>
            <a:b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#include &lt;algorithm&gt; // sorting</a:t>
            </a:r>
            <a:b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 </a:t>
            </a:r>
            <a:b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24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//using namespace std;</a:t>
            </a:r>
          </a:p>
        </p:txBody>
      </p:sp>
      <p:sp>
        <p:nvSpPr>
          <p:cNvPr id="54275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933D63C-DF4D-45E2-B058-B0095B753830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4077168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793038" cy="838200"/>
          </a:xfrm>
        </p:spPr>
        <p:txBody>
          <a:bodyPr/>
          <a:lstStyle/>
          <a:p>
            <a:r>
              <a:rPr lang="en-US" altLang="he-IL" sz="2800"/>
              <a:t>Putting it all together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7850" y="1219200"/>
            <a:ext cx="6019800" cy="5334000"/>
          </a:xfr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int main() {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int input;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vector&lt;int&gt; </a:t>
            </a:r>
            <a:r>
              <a:rPr lang="en-US" altLang="he-IL" sz="18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</a:t>
            </a: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;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// input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while (</a:t>
            </a:r>
            <a:r>
              <a:rPr lang="en-US" altLang="he-IL" sz="18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cin</a:t>
            </a: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&gt;&gt; input )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	</a:t>
            </a:r>
            <a:r>
              <a:rPr lang="en-US" altLang="he-IL" sz="18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ivec.push_back</a:t>
            </a: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(input);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// sorting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sort(</a:t>
            </a:r>
            <a:r>
              <a:rPr lang="en-US" altLang="he-IL" sz="18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ivec.begin</a:t>
            </a: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(), </a:t>
            </a:r>
            <a:r>
              <a:rPr lang="en-US" altLang="he-IL" sz="18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ivec.end</a:t>
            </a: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());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// output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vector&lt;int&gt;::iterator it;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for ( it = </a:t>
            </a:r>
            <a:r>
              <a:rPr lang="en-US" altLang="he-IL" sz="18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ivec.begin</a:t>
            </a: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();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      it != </a:t>
            </a:r>
            <a:r>
              <a:rPr lang="en-US" altLang="he-IL" sz="18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ivec.end</a:t>
            </a: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(); ++it ) {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		</a:t>
            </a:r>
            <a:r>
              <a:rPr lang="en-US" altLang="he-IL" sz="18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cout</a:t>
            </a: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&lt;&lt; *it &lt;&lt; " ";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}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</a:t>
            </a:r>
            <a:r>
              <a:rPr lang="en-US" altLang="he-IL" sz="18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cout</a:t>
            </a: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&lt;&lt; </a:t>
            </a:r>
            <a:r>
              <a:rPr lang="en-US" altLang="he-IL" sz="18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endl</a:t>
            </a: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;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	return 0;</a:t>
            </a:r>
            <a:b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 altLang="he-IL" sz="18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8227FC-A864-4DCE-A52E-9EF3A20A2E20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3412517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Operations on vector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31925"/>
            <a:ext cx="8229600" cy="4749800"/>
          </a:xfrm>
        </p:spPr>
        <p:txBody>
          <a:bodyPr/>
          <a:lstStyle/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iterator </a:t>
            </a:r>
            <a:r>
              <a:rPr lang="en-US" altLang="he-IL" dirty="0">
                <a:solidFill>
                  <a:schemeClr val="tx1"/>
                </a:solidFill>
                <a:latin typeface="+mj-lt"/>
                <a:hlinkClick r:id="rId2" action="ppaction://hlinkfile"/>
              </a:rPr>
              <a:t>begin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();</a:t>
            </a:r>
          </a:p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iterator </a:t>
            </a:r>
            <a:r>
              <a:rPr lang="en-US" altLang="he-IL" dirty="0">
                <a:solidFill>
                  <a:schemeClr val="tx1"/>
                </a:solidFill>
                <a:latin typeface="+mj-lt"/>
                <a:hlinkClick r:id="rId3" action="ppaction://hlinkfile"/>
              </a:rPr>
              <a:t>end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(); </a:t>
            </a:r>
          </a:p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bool </a:t>
            </a:r>
            <a:r>
              <a:rPr lang="en-US" altLang="he-IL" dirty="0">
                <a:solidFill>
                  <a:schemeClr val="tx1"/>
                </a:solidFill>
                <a:latin typeface="+mj-lt"/>
                <a:hlinkClick r:id="rId4" action="ppaction://hlinkfile"/>
              </a:rPr>
              <a:t>empty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(); </a:t>
            </a:r>
          </a:p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void </a:t>
            </a:r>
            <a:r>
              <a:rPr lang="en-US" altLang="he-IL" dirty="0">
                <a:solidFill>
                  <a:schemeClr val="tx1"/>
                </a:solidFill>
                <a:latin typeface="+mj-lt"/>
                <a:hlinkClick r:id="rId5" action="ppaction://hlinkfile"/>
              </a:rPr>
              <a:t>push_back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(const T&amp; x); </a:t>
            </a:r>
          </a:p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iterator </a:t>
            </a:r>
            <a:r>
              <a:rPr lang="en-US" altLang="he-IL" dirty="0">
                <a:solidFill>
                  <a:schemeClr val="tx1"/>
                </a:solidFill>
                <a:latin typeface="+mj-lt"/>
                <a:hlinkClick r:id="rId6" action="ppaction://hlinkfile"/>
              </a:rPr>
              <a:t>erase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(iterator it); </a:t>
            </a:r>
          </a:p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iterator </a:t>
            </a:r>
            <a:r>
              <a:rPr lang="en-US" altLang="he-IL" dirty="0">
                <a:solidFill>
                  <a:schemeClr val="tx1"/>
                </a:solidFill>
                <a:latin typeface="+mj-lt"/>
                <a:hlinkClick r:id="rId6" action="ppaction://hlinkfile"/>
              </a:rPr>
              <a:t>erase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(iterator first, iterator last); </a:t>
            </a:r>
          </a:p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void </a:t>
            </a:r>
            <a:r>
              <a:rPr lang="en-US" altLang="he-IL" dirty="0">
                <a:solidFill>
                  <a:schemeClr val="tx1"/>
                </a:solidFill>
                <a:latin typeface="+mj-lt"/>
                <a:hlinkClick r:id="rId7" action="ppaction://hlinkfile"/>
              </a:rPr>
              <a:t>clear</a:t>
            </a:r>
            <a:r>
              <a:rPr lang="en-US" altLang="he-IL" dirty="0">
                <a:solidFill>
                  <a:schemeClr val="tx1"/>
                </a:solidFill>
                <a:latin typeface="+mj-lt"/>
              </a:rPr>
              <a:t>(); </a:t>
            </a:r>
          </a:p>
          <a:p>
            <a:pPr>
              <a:defRPr/>
            </a:pPr>
            <a:r>
              <a:rPr lang="en-US" altLang="he-IL" dirty="0">
                <a:solidFill>
                  <a:schemeClr val="tx1"/>
                </a:solidFill>
                <a:latin typeface="+mj-lt"/>
              </a:rPr>
              <a:t>….</a:t>
            </a:r>
          </a:p>
        </p:txBody>
      </p:sp>
      <p:sp>
        <p:nvSpPr>
          <p:cNvPr id="5632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ABC9B7-E05F-4229-8291-EC0FF5915F17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8871974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內容版面配置區 3"/>
          <p:cNvSpPr>
            <a:spLocks noGrp="1"/>
          </p:cNvSpPr>
          <p:nvPr>
            <p:ph sz="half" idx="2"/>
          </p:nvPr>
        </p:nvSpPr>
        <p:spPr>
          <a:xfrm>
            <a:off x="654050" y="2584450"/>
            <a:ext cx="4357688" cy="414813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#include &lt;iostream&gt;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#include &lt;vector&gt;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using namespace std;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int main () {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	vector&lt;int&gt; v; // Template!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	for (int 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=1; 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&lt;=10 ; 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++)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		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v.push_back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(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);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	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v.erase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v.begin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()+5);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	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v.erase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 (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v.begin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(),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v.begin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()+3);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	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v.pop_back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();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	for (int 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=0; 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&lt;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v.size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(); 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++)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		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cout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 &lt;&lt; v[</a:t>
            </a:r>
            <a:r>
              <a:rPr lang="en-US" altLang="zh-TW" sz="1600" dirty="0" err="1">
                <a:solidFill>
                  <a:schemeClr val="tx1"/>
                </a:solidFill>
                <a:latin typeface="+mj-lt"/>
              </a:rPr>
              <a:t>i</a:t>
            </a: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] &lt;&lt; " ";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	return 0;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1600" dirty="0">
                <a:solidFill>
                  <a:schemeClr val="tx1"/>
                </a:solidFill>
                <a:latin typeface="+mj-lt"/>
              </a:rPr>
              <a:t>}</a:t>
            </a:r>
            <a:endParaRPr lang="en-US" altLang="zh-CN" sz="1600" dirty="0">
              <a:solidFill>
                <a:schemeClr val="tx1"/>
              </a:solidFill>
              <a:latin typeface="+mj-lt"/>
              <a:ea typeface="新細明體" panose="02020500000000000000" pitchFamily="18" charset="-120"/>
            </a:endParaRPr>
          </a:p>
        </p:txBody>
      </p:sp>
      <p:sp>
        <p:nvSpPr>
          <p:cNvPr id="57346" name="內容版面配置區 6"/>
          <p:cNvSpPr>
            <a:spLocks noGrp="1" noChangeArrowheads="1"/>
          </p:cNvSpPr>
          <p:nvPr>
            <p:ph sz="half" idx="2"/>
          </p:nvPr>
        </p:nvSpPr>
        <p:spPr>
          <a:xfrm>
            <a:off x="428625" y="1571625"/>
            <a:ext cx="4143375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TW" sz="2600"/>
          </a:p>
          <a:p>
            <a:pPr>
              <a:buFont typeface="Wingdings" panose="05000000000000000000" pitchFamily="2" charset="2"/>
              <a:buNone/>
            </a:pPr>
            <a:endParaRPr lang="en-US" altLang="zh-CN">
              <a:ea typeface="新細明體" charset="-120"/>
            </a:endParaRPr>
          </a:p>
        </p:txBody>
      </p:sp>
      <p:sp>
        <p:nvSpPr>
          <p:cNvPr id="50181" name="內容版面配置區 3"/>
          <p:cNvSpPr>
            <a:spLocks noGrp="1"/>
          </p:cNvSpPr>
          <p:nvPr>
            <p:ph sz="half" idx="2"/>
          </p:nvPr>
        </p:nvSpPr>
        <p:spPr>
          <a:xfrm>
            <a:off x="357188" y="1416050"/>
            <a:ext cx="7900987" cy="4025900"/>
          </a:xfrm>
        </p:spPr>
        <p:txBody>
          <a:bodyPr/>
          <a:lstStyle/>
          <a:p>
            <a:pPr>
              <a:defRPr/>
            </a:pPr>
            <a:r>
              <a:rPr lang="en-US" altLang="zh-TW" dirty="0">
                <a:solidFill>
                  <a:schemeClr val="tx1"/>
                </a:solidFill>
                <a:latin typeface="+mj-lt"/>
              </a:rPr>
              <a:t>Dynamic array of variables, struct or objects.</a:t>
            </a:r>
          </a:p>
          <a:p>
            <a:pPr>
              <a:defRPr/>
            </a:pPr>
            <a:r>
              <a:rPr lang="en-US" altLang="zh-TW" dirty="0">
                <a:solidFill>
                  <a:schemeClr val="tx1"/>
                </a:solidFill>
                <a:latin typeface="+mj-lt"/>
              </a:rPr>
              <a:t>Insert data at the end.</a:t>
            </a:r>
            <a:endParaRPr lang="en-US" altLang="zh-CN" dirty="0">
              <a:solidFill>
                <a:schemeClr val="tx1"/>
              </a:solidFill>
              <a:latin typeface="+mj-lt"/>
              <a:ea typeface="新細明體" panose="02020500000000000000" pitchFamily="18" charset="-120"/>
            </a:endParaRPr>
          </a:p>
          <a:p>
            <a:pPr>
              <a:defRPr/>
            </a:pPr>
            <a:endParaRPr lang="en-US" altLang="zh-CN" dirty="0">
              <a:solidFill>
                <a:schemeClr val="tx1"/>
              </a:solidFill>
              <a:latin typeface="+mj-lt"/>
              <a:ea typeface="新細明體" panose="02020500000000000000" pitchFamily="18" charset="-120"/>
            </a:endParaRPr>
          </a:p>
        </p:txBody>
      </p:sp>
      <p:sp>
        <p:nvSpPr>
          <p:cNvPr id="9" name="文字方塊 8"/>
          <p:cNvSpPr txBox="1">
            <a:spLocks noChangeArrowheads="1"/>
          </p:cNvSpPr>
          <p:nvPr/>
        </p:nvSpPr>
        <p:spPr bwMode="auto">
          <a:xfrm>
            <a:off x="4995863" y="6067425"/>
            <a:ext cx="1422400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>
                <a:solidFill>
                  <a:schemeClr val="tx1"/>
                </a:solidFill>
                <a:latin typeface="Arial" panose="020B0604020202020204" pitchFamily="34" charset="0"/>
                <a:ea typeface="新細明體" charset="-120"/>
              </a:rPr>
              <a:t>4 5 7 8 9</a:t>
            </a:r>
            <a:endParaRPr kumimoji="1" lang="zh-TW" altLang="en-US" sz="2400" b="0">
              <a:solidFill>
                <a:schemeClr val="tx1"/>
              </a:solidFill>
              <a:latin typeface="Arial" panose="020B0604020202020204" pitchFamily="34" charset="0"/>
              <a:ea typeface="新細明體" charset="-120"/>
            </a:endParaRPr>
          </a:p>
        </p:txBody>
      </p:sp>
      <p:sp>
        <p:nvSpPr>
          <p:cNvPr id="57349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D5011D-1D66-4713-9B85-72103B448718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73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sz="2800"/>
              <a:t>vector</a:t>
            </a:r>
          </a:p>
        </p:txBody>
      </p:sp>
    </p:spTree>
    <p:extLst>
      <p:ext uri="{BB962C8B-B14F-4D97-AF65-F5344CB8AC3E}">
        <p14:creationId xmlns:p14="http://schemas.microsoft.com/office/powerpoint/2010/main" val="22221443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內容版面配置區 6"/>
          <p:cNvSpPr>
            <a:spLocks noGrp="1" noChangeArrowheads="1"/>
          </p:cNvSpPr>
          <p:nvPr>
            <p:ph sz="half" idx="2"/>
          </p:nvPr>
        </p:nvSpPr>
        <p:spPr>
          <a:xfrm>
            <a:off x="428625" y="1571625"/>
            <a:ext cx="4143375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TW" sz="2600"/>
          </a:p>
          <a:p>
            <a:pPr>
              <a:buFont typeface="Wingdings" panose="05000000000000000000" pitchFamily="2" charset="2"/>
              <a:buNone/>
            </a:pPr>
            <a:endParaRPr lang="en-US" altLang="zh-CN">
              <a:ea typeface="新細明體" charset="-120"/>
            </a:endParaRPr>
          </a:p>
        </p:txBody>
      </p:sp>
      <p:sp>
        <p:nvSpPr>
          <p:cNvPr id="52228" name="內容版面配置區 3"/>
          <p:cNvSpPr>
            <a:spLocks noGrp="1"/>
          </p:cNvSpPr>
          <p:nvPr>
            <p:ph sz="half" idx="2"/>
          </p:nvPr>
        </p:nvSpPr>
        <p:spPr>
          <a:xfrm>
            <a:off x="571500" y="1535113"/>
            <a:ext cx="4143375" cy="44291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AB30F0"/>
                </a:solidFill>
                <a:latin typeface="+mj-lt"/>
              </a:rPr>
              <a:t>#include &lt;iostream&gt;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AB30F0"/>
                </a:solidFill>
                <a:latin typeface="+mj-lt"/>
              </a:rPr>
              <a:t>#include &lt;vector&gt;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j-lt"/>
              </a:rPr>
              <a:t>using namespace </a:t>
            </a:r>
            <a:r>
              <a:rPr lang="en-US" altLang="zh-TW" sz="2000" dirty="0">
                <a:latin typeface="+mj-lt"/>
              </a:rPr>
              <a:t>std; 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sz="2000" dirty="0">
              <a:latin typeface="+mj-lt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j-lt"/>
              </a:rPr>
              <a:t>int</a:t>
            </a:r>
            <a:r>
              <a:rPr lang="en-US" altLang="zh-TW" sz="2000" dirty="0">
                <a:latin typeface="+mj-lt"/>
              </a:rPr>
              <a:t> main () {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latin typeface="+mj-lt"/>
              </a:rPr>
              <a:t>	vector&lt;</a:t>
            </a:r>
            <a:r>
              <a:rPr lang="en-US" altLang="zh-TW" sz="2000" dirty="0">
                <a:solidFill>
                  <a:srgbClr val="0000FF"/>
                </a:solidFill>
                <a:latin typeface="+mj-lt"/>
              </a:rPr>
              <a:t>int</a:t>
            </a:r>
            <a:r>
              <a:rPr lang="en-US" altLang="zh-TW" sz="2000" dirty="0">
                <a:latin typeface="+mj-lt"/>
              </a:rPr>
              <a:t>&gt; v1 (3,100);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latin typeface="+mj-lt"/>
              </a:rPr>
              <a:t>	vector&lt;</a:t>
            </a:r>
            <a:r>
              <a:rPr lang="en-US" altLang="zh-TW" sz="2000" dirty="0">
                <a:solidFill>
                  <a:srgbClr val="0000FF"/>
                </a:solidFill>
                <a:latin typeface="+mj-lt"/>
              </a:rPr>
              <a:t>int</a:t>
            </a:r>
            <a:r>
              <a:rPr lang="en-US" altLang="zh-TW" sz="2000" dirty="0">
                <a:latin typeface="+mj-lt"/>
              </a:rPr>
              <a:t>&gt;::iterator it;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latin typeface="+mj-lt"/>
              </a:rPr>
              <a:t>	it = v1.begin();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latin typeface="+mj-lt"/>
              </a:rPr>
              <a:t>	it = v1.insert (it,200);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latin typeface="+mj-lt"/>
              </a:rPr>
              <a:t>	v1.insert (it,2,300);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latin typeface="+mj-lt"/>
              </a:rPr>
              <a:t>	it = v1.begin(); 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sz="2000" dirty="0">
              <a:latin typeface="+mj-lt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latin typeface="+mj-lt"/>
              </a:rPr>
              <a:t>	</a:t>
            </a:r>
            <a:endParaRPr lang="en-US" altLang="zh-CN" sz="2000" dirty="0">
              <a:latin typeface="+mj-lt"/>
              <a:ea typeface="新細明體" panose="02020500000000000000" pitchFamily="18" charset="-120"/>
            </a:endParaRPr>
          </a:p>
        </p:txBody>
      </p:sp>
      <p:sp>
        <p:nvSpPr>
          <p:cNvPr id="52229" name="矩形 9"/>
          <p:cNvSpPr>
            <a:spLocks noChangeArrowheads="1"/>
          </p:cNvSpPr>
          <p:nvPr/>
        </p:nvSpPr>
        <p:spPr bwMode="auto">
          <a:xfrm>
            <a:off x="4349750" y="1509713"/>
            <a:ext cx="4286250" cy="40941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vector&lt;</a:t>
            </a:r>
            <a:r>
              <a:rPr kumimoji="1" lang="en-US" altLang="zh-TW" sz="2000" b="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int</a:t>
            </a: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&gt; v2 (2,150);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v1.insert( it+3, v2.begin(), v2.end());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1" lang="en-US" altLang="zh-TW" sz="2000" b="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int</a:t>
            </a: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 a1 [] = { 501,502,503 };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v1.insert (v1.begin(), a1, a1+3);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1" lang="en-US" altLang="zh-TW" sz="2000" b="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for</a:t>
            </a: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 (</a:t>
            </a:r>
            <a:r>
              <a:rPr kumimoji="1" lang="en-US" altLang="zh-TW" sz="2000" b="0" dirty="0">
                <a:solidFill>
                  <a:srgbClr val="FF0000"/>
                </a:solidFill>
                <a:latin typeface="+mj-lt"/>
                <a:ea typeface="新細明體" panose="02020500000000000000" pitchFamily="18" charset="-120"/>
              </a:rPr>
              <a:t>it=v1.begin();it&lt;v1.end(); it++</a:t>
            </a: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)  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    </a:t>
            </a:r>
            <a:r>
              <a:rPr kumimoji="1" lang="en-US" altLang="zh-TW" sz="2000" b="0" dirty="0" err="1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cout</a:t>
            </a: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 &lt;&lt; *it &lt;&lt; " ";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1" lang="en-US" altLang="zh-TW" sz="2000" b="0" dirty="0" err="1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cout</a:t>
            </a: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 &lt;&lt; </a:t>
            </a:r>
            <a:r>
              <a:rPr kumimoji="1" lang="en-US" altLang="zh-TW" sz="2000" b="0" dirty="0" err="1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endl</a:t>
            </a: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endParaRPr kumimoji="1" lang="en-US" altLang="zh-TW" sz="2000" b="0" dirty="0">
              <a:solidFill>
                <a:schemeClr val="tx1"/>
              </a:solidFill>
              <a:latin typeface="+mj-lt"/>
              <a:ea typeface="新細明體" panose="02020500000000000000" pitchFamily="18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1" lang="en-US" altLang="zh-TW" sz="2000" b="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return</a:t>
            </a: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1" lang="en-US" altLang="zh-TW" sz="2000" b="0" dirty="0">
                <a:solidFill>
                  <a:schemeClr val="tx1"/>
                </a:solidFill>
                <a:latin typeface="+mj-lt"/>
                <a:ea typeface="新細明體" panose="02020500000000000000" pitchFamily="18" charset="-120"/>
              </a:rPr>
              <a:t>}</a:t>
            </a:r>
            <a:endParaRPr kumimoji="1" lang="zh-TW" altLang="en-US" sz="2000" b="0" dirty="0">
              <a:solidFill>
                <a:schemeClr val="tx1"/>
              </a:solidFill>
              <a:latin typeface="+mj-lt"/>
              <a:ea typeface="新細明體" panose="02020500000000000000" pitchFamily="18" charset="-120"/>
            </a:endParaRPr>
          </a:p>
        </p:txBody>
      </p:sp>
      <p:sp>
        <p:nvSpPr>
          <p:cNvPr id="11" name="文字方塊 10"/>
          <p:cNvSpPr txBox="1">
            <a:spLocks noChangeArrowheads="1"/>
          </p:cNvSpPr>
          <p:nvPr/>
        </p:nvSpPr>
        <p:spPr bwMode="auto">
          <a:xfrm>
            <a:off x="884238" y="5975350"/>
            <a:ext cx="6931025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>
                <a:solidFill>
                  <a:schemeClr val="tx1"/>
                </a:solidFill>
                <a:latin typeface="Arial" panose="020B0604020202020204" pitchFamily="34" charset="0"/>
                <a:ea typeface="新細明體" charset="-120"/>
              </a:rPr>
              <a:t>501 502 503 300 300 200 150 150 100 100 100</a:t>
            </a:r>
            <a:endParaRPr kumimoji="1" lang="zh-TW" altLang="en-US" sz="2400" b="0">
              <a:solidFill>
                <a:schemeClr val="tx1"/>
              </a:solidFill>
              <a:latin typeface="Arial" panose="020B0604020202020204" pitchFamily="34" charset="0"/>
              <a:ea typeface="新細明體" charset="-120"/>
            </a:endParaRPr>
          </a:p>
        </p:txBody>
      </p:sp>
      <p:sp>
        <p:nvSpPr>
          <p:cNvPr id="59397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A80DAB-0960-4429-BD6E-E1A20F20102B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9398" name="标题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/>
              <a:t>Using iterator </a:t>
            </a:r>
            <a:endParaRPr kumimoji="1"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14894854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</a:t>
            </a:r>
            <a:endParaRPr lang="zh-CN" altLang="en-US"/>
          </a:p>
        </p:txBody>
      </p:sp>
      <p:sp>
        <p:nvSpPr>
          <p:cNvPr id="61442" name="矩形 2"/>
          <p:cNvSpPr>
            <a:spLocks noChangeArrowheads="1"/>
          </p:cNvSpPr>
          <p:nvPr/>
        </p:nvSpPr>
        <p:spPr bwMode="auto">
          <a:xfrm>
            <a:off x="228600" y="1077913"/>
            <a:ext cx="8686800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Vector I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For a dynamic array A={a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,a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,…} of integers, perform a sequence of the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following operations;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· pushBack(x): add element x at the end of A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· randomAccess(p): print element a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lang="zh-CN" altLang="en-US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· popBack(x): delete the last element of A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A is a 0-orign array and it is empty in the initial state.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Input</a:t>
            </a: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The input is given in the following format.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Q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Query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Query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Each query query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 is given by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 x or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1 p 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or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Where the first digits 0,1 and 2 represent pushback, randomAccess and popBack operations respectively.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randomAccess and popback operations will not be given for an empty array.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AB3AFE0-2366-4EC5-96D4-EB8C7AE396F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4516921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</a:t>
            </a:r>
            <a:endParaRPr lang="zh-CN" altLang="en-US"/>
          </a:p>
        </p:txBody>
      </p:sp>
      <p:sp>
        <p:nvSpPr>
          <p:cNvPr id="62466" name="矩形 4"/>
          <p:cNvSpPr>
            <a:spLocks noChangeArrowheads="1"/>
          </p:cNvSpPr>
          <p:nvPr/>
        </p:nvSpPr>
        <p:spPr bwMode="auto">
          <a:xfrm>
            <a:off x="266700" y="1143000"/>
            <a:ext cx="45720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Output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Constraints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Sample Input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0 1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0 2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0 3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0 4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1 0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1 1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1 2</a:t>
            </a:r>
          </a:p>
        </p:txBody>
      </p:sp>
      <p:sp>
        <p:nvSpPr>
          <p:cNvPr id="62467" name="矩形 5"/>
          <p:cNvSpPr>
            <a:spLocks noChangeArrowheads="1"/>
          </p:cNvSpPr>
          <p:nvPr/>
        </p:nvSpPr>
        <p:spPr bwMode="auto">
          <a:xfrm>
            <a:off x="4660900" y="3654425"/>
            <a:ext cx="457200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Sample Output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246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585913"/>
            <a:ext cx="47498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2476500"/>
            <a:ext cx="42164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0" name="灯片编号占位符 3"/>
          <p:cNvSpPr txBox="1"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8DDEC02-4CF8-465B-A296-17FDDEFD3DE9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5960315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</a:t>
            </a:r>
            <a:endParaRPr lang="zh-CN" altLang="en-US"/>
          </a:p>
        </p:txBody>
      </p:sp>
      <p:sp>
        <p:nvSpPr>
          <p:cNvPr id="63490" name="矩形 2"/>
          <p:cNvSpPr>
            <a:spLocks noChangeArrowheads="1"/>
          </p:cNvSpPr>
          <p:nvPr/>
        </p:nvSpPr>
        <p:spPr bwMode="auto">
          <a:xfrm>
            <a:off x="231775" y="1077913"/>
            <a:ext cx="86868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Vector II</a:t>
            </a:r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For n dynamic arrsays A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 (i=0,1,…n-1),perform a sequence of the following operations;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· pushback(t,x): Add element x at the end of A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· dump(t): print all elements in A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· clear(t): clear A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 if A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 is empty, do nothing.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is a 0-orign array and it is empty in the initial state.</a:t>
            </a: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Input</a:t>
            </a: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The input is given in the following format.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Q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Query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Query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Each query query</a:t>
            </a:r>
            <a:r>
              <a:rPr lang="en-US" altLang="zh-CN" sz="2000" b="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 is given by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0 t x 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or 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1 t </a:t>
            </a: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or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</a:rPr>
              <a:t> 2 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Where the first digits 0,1 and 2 represent pushback, dump and clear operations respectively. </a:t>
            </a: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1" name="灯片编号占位符 3"/>
          <p:cNvSpPr txBox="1">
            <a:spLocks/>
          </p:cNvSpPr>
          <p:nvPr/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046BE8-5B75-4AE4-98F8-5491D6CC1DC7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6699320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</a:t>
            </a:r>
            <a:endParaRPr lang="zh-CN" altLang="en-US"/>
          </a:p>
        </p:txBody>
      </p:sp>
      <p:sp>
        <p:nvSpPr>
          <p:cNvPr id="64514" name="矩形 4"/>
          <p:cNvSpPr>
            <a:spLocks noChangeArrowheads="1"/>
          </p:cNvSpPr>
          <p:nvPr/>
        </p:nvSpPr>
        <p:spPr bwMode="auto">
          <a:xfrm>
            <a:off x="266700" y="1143000"/>
            <a:ext cx="4572000" cy="569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Constraints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0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Sample Input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3 13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0 0 1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0 0 2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0 0 3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0 1 -1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0 2 4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0 2 5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1 0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1 1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1 2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2 1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1 0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1 1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1 2</a:t>
            </a:r>
          </a:p>
        </p:txBody>
      </p:sp>
      <p:sp>
        <p:nvSpPr>
          <p:cNvPr id="64515" name="矩形 5"/>
          <p:cNvSpPr>
            <a:spLocks noChangeArrowheads="1"/>
          </p:cNvSpPr>
          <p:nvPr/>
        </p:nvSpPr>
        <p:spPr bwMode="auto">
          <a:xfrm>
            <a:off x="4833938" y="2971800"/>
            <a:ext cx="45720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Sample Output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1 2 3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-1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4 5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1 2 3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chemeClr val="tx1"/>
                </a:solidFill>
                <a:latin typeface="Times New Roman" panose="02020603050405020304" pitchFamily="18" charset="0"/>
              </a:rPr>
              <a:t>4 5</a:t>
            </a:r>
            <a:endParaRPr lang="zh-CN" altLang="en-US" sz="18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4516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585913"/>
            <a:ext cx="6542088" cy="138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7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36000" y="6537325"/>
            <a:ext cx="506413" cy="320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B7D6595-9044-4C87-8204-A6BC8D7058ED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692790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6d22c88-fcbc-4ce3-b43e-e8c1f1525cc3"/>
  <p:tag name="COMMONDATA" val="eyJoZGlkIjoiZjQ2N2Q5MDA2ODkwZTA2YmZkMmJiZDQ5ZDg0NTJjZjgifQ=="/>
</p:tagLst>
</file>

<file path=ppt/theme/theme1.xml><?xml version="1.0" encoding="utf-8"?>
<a:theme xmlns:a="http://schemas.openxmlformats.org/drawingml/2006/main" name="主题1">
  <a:themeElements>
    <a:clrScheme name="117TGp_report_diagram_v2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117TGp_report_diagram_v2">
      <a:majorFont>
        <a:latin typeface="Times New Roman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 fontAlgn="base">
          <a:defRPr sz="1200" b="0" i="0" u="none" strike="noStrike" dirty="0"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117TGp_report_diagram_v2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1">
  <a:themeElements>
    <a:clrScheme name="117TGp_report_diagram_v2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117TGp_report_diagram_v2">
      <a:majorFont>
        <a:latin typeface="Times New Roman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 fontAlgn="base">
          <a:defRPr sz="1200" b="0" i="0" u="none" strike="noStrike" dirty="0"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117TGp_report_diagram_v2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11</TotalTime>
  <Words>4078</Words>
  <Application>Microsoft Office PowerPoint</Application>
  <PresentationFormat>全屏显示(4:3)</PresentationFormat>
  <Paragraphs>691</Paragraphs>
  <Slides>54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  <vt:variant>
        <vt:lpstr>自定义放映</vt:lpstr>
      </vt:variant>
      <vt:variant>
        <vt:i4>1</vt:i4>
      </vt:variant>
    </vt:vector>
  </HeadingPairs>
  <TitlesOfParts>
    <vt:vector size="78" baseType="lpstr">
      <vt:lpstr>KaiTi</vt:lpstr>
      <vt:lpstr>ＭＳ Ｐゴシック</vt:lpstr>
      <vt:lpstr>ＭＳ Ｐゴシック</vt:lpstr>
      <vt:lpstr>新細明體</vt:lpstr>
      <vt:lpstr>黑体</vt:lpstr>
      <vt:lpstr>楷体_GB2312</vt:lpstr>
      <vt:lpstr>宋体</vt:lpstr>
      <vt:lpstr>微软雅黑</vt:lpstr>
      <vt:lpstr>Arial</vt:lpstr>
      <vt:lpstr>Arial Rounded MT Bold</vt:lpstr>
      <vt:lpstr>Calibri</vt:lpstr>
      <vt:lpstr>Cambria</vt:lpstr>
      <vt:lpstr>Consolas</vt:lpstr>
      <vt:lpstr>Courier New</vt:lpstr>
      <vt:lpstr>Franklin Gothic Book</vt:lpstr>
      <vt:lpstr>Lucida Sans Unicode</vt:lpstr>
      <vt:lpstr>Perpetua</vt:lpstr>
      <vt:lpstr>Tahoma</vt:lpstr>
      <vt:lpstr>Times New Roman</vt:lpstr>
      <vt:lpstr>Verdana</vt:lpstr>
      <vt:lpstr>Wingdings</vt:lpstr>
      <vt:lpstr>主题1</vt:lpstr>
      <vt:lpstr>1_主题1</vt:lpstr>
      <vt:lpstr>程序设计原理</vt:lpstr>
      <vt:lpstr>Objectives</vt:lpstr>
      <vt:lpstr>Templates Basics</vt:lpstr>
      <vt:lpstr>Templates Basics</vt:lpstr>
      <vt:lpstr>Templates Basics</vt:lpstr>
      <vt:lpstr>Templates Basics</vt:lpstr>
      <vt:lpstr>Templates Basics</vt:lpstr>
      <vt:lpstr>Example: A Generic Sort</vt:lpstr>
      <vt:lpstr>Class Templates</vt:lpstr>
      <vt:lpstr>Class Templates</vt:lpstr>
      <vt:lpstr>Class Templates</vt:lpstr>
      <vt:lpstr>The C++ vector Class</vt:lpstr>
      <vt:lpstr>程序设计原理</vt:lpstr>
      <vt:lpstr>Objectives</vt:lpstr>
      <vt:lpstr>Introduction to the Standard Template Library (STL)</vt:lpstr>
      <vt:lpstr>Introduction to the Standard Template Library (STL)</vt:lpstr>
      <vt:lpstr>Advantage of STL</vt:lpstr>
      <vt:lpstr>STL Containers</vt:lpstr>
      <vt:lpstr>STL Iterators</vt:lpstr>
      <vt:lpstr>STL Algorithms</vt:lpstr>
      <vt:lpstr>Containers</vt:lpstr>
      <vt:lpstr>PowerPoint 演示文稿</vt:lpstr>
      <vt:lpstr>Containers Types</vt:lpstr>
      <vt:lpstr>Containers’ Common Member Functions</vt:lpstr>
      <vt:lpstr>Introduction to Iterators</vt:lpstr>
      <vt:lpstr>Iterators</vt:lpstr>
      <vt:lpstr>Iterators</vt:lpstr>
      <vt:lpstr>Introduction to Algorithms</vt:lpstr>
      <vt:lpstr>Introduction to Algorithms</vt:lpstr>
      <vt:lpstr>Vector</vt:lpstr>
      <vt:lpstr>Defining a new vector</vt:lpstr>
      <vt:lpstr>The vector Container</vt:lpstr>
      <vt:lpstr>vector  Operations</vt:lpstr>
      <vt:lpstr>Using Vector</vt:lpstr>
      <vt:lpstr>Using vector – Array Style</vt:lpstr>
      <vt:lpstr>Using vector – STL style</vt:lpstr>
      <vt:lpstr>Insertion</vt:lpstr>
      <vt:lpstr>Size</vt:lpstr>
      <vt:lpstr>Class Exercise 1</vt:lpstr>
      <vt:lpstr>Solving the problem</vt:lpstr>
      <vt:lpstr>Using STL</vt:lpstr>
      <vt:lpstr>STL - Input</vt:lpstr>
      <vt:lpstr>STL - Sorting</vt:lpstr>
      <vt:lpstr>STL - Output</vt:lpstr>
      <vt:lpstr>Iterators</vt:lpstr>
      <vt:lpstr>STL - Include files</vt:lpstr>
      <vt:lpstr>Putting it all together</vt:lpstr>
      <vt:lpstr>Operations on vector</vt:lpstr>
      <vt:lpstr>vector</vt:lpstr>
      <vt:lpstr>Using iterator </vt:lpstr>
      <vt:lpstr>Exercise</vt:lpstr>
      <vt:lpstr>Exercise</vt:lpstr>
      <vt:lpstr>Exercise</vt:lpstr>
      <vt:lpstr>Exercise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Methods</dc:title>
  <dc:creator>Y. Daniel Liang</dc:creator>
  <cp:lastModifiedBy>zmk</cp:lastModifiedBy>
  <cp:revision>429</cp:revision>
  <dcterms:created xsi:type="dcterms:W3CDTF">1995-06-10T17:31:50Z</dcterms:created>
  <dcterms:modified xsi:type="dcterms:W3CDTF">2026-01-04T03:55:17Z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94EE1BD828494AE9A032984371F85A0C</vt:lpwstr>
  </property>
  <property fmtid="{D5CDD505-2E9C-101B-9397-08002B2CF9AE}" pid="3" name="KSOProductBuildVer">
    <vt:lpwstr>2052-11.1.0.12598</vt:lpwstr>
  </property>
</Properties>
</file>