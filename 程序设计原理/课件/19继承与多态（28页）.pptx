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2" r:id="rId2"/>
  </p:sldMasterIdLst>
  <p:notesMasterIdLst>
    <p:notesMasterId r:id="rId31"/>
  </p:notesMasterIdLst>
  <p:handoutMasterIdLst>
    <p:handoutMasterId r:id="rId32"/>
  </p:handoutMasterIdLst>
  <p:sldIdLst>
    <p:sldId id="739" r:id="rId3"/>
    <p:sldId id="520" r:id="rId4"/>
    <p:sldId id="811" r:id="rId5"/>
    <p:sldId id="812" r:id="rId6"/>
    <p:sldId id="813" r:id="rId7"/>
    <p:sldId id="814" r:id="rId8"/>
    <p:sldId id="815" r:id="rId9"/>
    <p:sldId id="816" r:id="rId10"/>
    <p:sldId id="817" r:id="rId11"/>
    <p:sldId id="818" r:id="rId12"/>
    <p:sldId id="819" r:id="rId13"/>
    <p:sldId id="820" r:id="rId14"/>
    <p:sldId id="829" r:id="rId15"/>
    <p:sldId id="821" r:id="rId16"/>
    <p:sldId id="822" r:id="rId17"/>
    <p:sldId id="823" r:id="rId18"/>
    <p:sldId id="824" r:id="rId19"/>
    <p:sldId id="825" r:id="rId20"/>
    <p:sldId id="830" r:id="rId21"/>
    <p:sldId id="826" r:id="rId22"/>
    <p:sldId id="827" r:id="rId23"/>
    <p:sldId id="831" r:id="rId24"/>
    <p:sldId id="828" r:id="rId25"/>
    <p:sldId id="838" r:id="rId26"/>
    <p:sldId id="849" r:id="rId27"/>
    <p:sldId id="846" r:id="rId28"/>
    <p:sldId id="847" r:id="rId29"/>
    <p:sldId id="848" r:id="rId30"/>
  </p:sldIdLst>
  <p:sldSz cx="9144000" cy="6858000" type="screen4x3"/>
  <p:notesSz cx="6858000" cy="9144000"/>
  <p:custShowLst>
    <p:custShow name="Custom Show 1" id="0">
      <p:sldLst/>
    </p:custShow>
  </p:custShowLst>
  <p:custDataLst>
    <p:tags r:id="rId33"/>
  </p:custDataLst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楷体_GB231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楷体_GB231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楷体_GB231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楷体_GB231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楷体_GB231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楷体_GB231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楷体_GB231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楷体_GB231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楷体_GB231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64">
          <p15:clr>
            <a:srgbClr val="A4A3A4"/>
          </p15:clr>
        </p15:guide>
        <p15:guide id="2" pos="57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2508"/>
    <p:restoredTop sz="90929"/>
  </p:normalViewPr>
  <p:slideViewPr>
    <p:cSldViewPr showGuides="1">
      <p:cViewPr varScale="1">
        <p:scale>
          <a:sx n="128" d="100"/>
          <a:sy n="128" d="100"/>
        </p:scale>
        <p:origin x="1264" y="176"/>
      </p:cViewPr>
      <p:guideLst>
        <p:guide orient="horz" pos="864"/>
        <p:guide pos="57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 showFormatting="0">
    <p:cViewPr>
      <p:scale>
        <a:sx n="75" d="100"/>
        <a:sy n="75" d="100"/>
      </p:scale>
      <p:origin x="0" y="0"/>
    </p:cViewPr>
  </p:sorterViewPr>
  <p:notesViewPr>
    <p:cSldViewPr>
      <p:cViewPr varScale="1">
        <p:scale>
          <a:sx n="97" d="100"/>
          <a:sy n="97" d="100"/>
        </p:scale>
        <p:origin x="4328" y="200"/>
      </p:cViewPr>
      <p:guideLst/>
    </p:cSldViewPr>
  </p:notesViewPr>
  <p:gridSpacing cx="38405" cy="38405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ags" Target="tags/tag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handoutMaster" Target="handoutMasters/handoutMaster1.xml"/><Relationship Id="rId37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55A565D1-8C70-F4AC-C1C3-6B538C60D1C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0D4F98C-4210-FDBC-B3B1-E999435D661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34F9CF-8DFD-BE4A-9336-CC057A7D437E}" type="datetimeFigureOut">
              <a:rPr kumimoji="1" lang="zh-CN" altLang="en-US" smtClean="0"/>
              <a:t>2024/11/20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BA6FD4D-A8EF-88DA-AEFD-5096F676193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0D41C67-6D18-CDE3-67C7-543344C947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4696F9-4395-2F4F-9C01-240445BDAEB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616783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7410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endParaRPr lang="zh-CN" altLang="en-US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NULL" TargetMode="Externa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NULL" TargetMode="Externa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194" name="Group 29"/>
          <p:cNvGrpSpPr/>
          <p:nvPr/>
        </p:nvGrpSpPr>
        <p:grpSpPr>
          <a:xfrm>
            <a:off x="1143000" y="628650"/>
            <a:ext cx="8012113" cy="2571750"/>
            <a:chOff x="720" y="396"/>
            <a:chExt cx="5047" cy="1620"/>
          </a:xfrm>
        </p:grpSpPr>
        <p:sp>
          <p:nvSpPr>
            <p:cNvPr id="13" name="Rectangle 18"/>
            <p:cNvSpPr>
              <a:spLocks noChangeArrowheads="1"/>
            </p:cNvSpPr>
            <p:nvPr/>
          </p:nvSpPr>
          <p:spPr bwMode="gray">
            <a:xfrm>
              <a:off x="1081" y="396"/>
              <a:ext cx="4686" cy="1596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endParaRPr>
            </a:p>
          </p:txBody>
        </p:sp>
        <p:sp>
          <p:nvSpPr>
            <p:cNvPr id="14" name="Rectangle 28"/>
            <p:cNvSpPr>
              <a:spLocks noChangeArrowheads="1"/>
            </p:cNvSpPr>
            <p:nvPr/>
          </p:nvSpPr>
          <p:spPr bwMode="gray">
            <a:xfrm>
              <a:off x="720" y="1440"/>
              <a:ext cx="576" cy="576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endParaRPr>
            </a:p>
          </p:txBody>
        </p:sp>
      </p:grpSp>
      <p:sp>
        <p:nvSpPr>
          <p:cNvPr id="15" name="Rectangle 17"/>
          <p:cNvSpPr>
            <a:spLocks noChangeArrowheads="1"/>
          </p:cNvSpPr>
          <p:nvPr/>
        </p:nvSpPr>
        <p:spPr bwMode="gray">
          <a:xfrm>
            <a:off x="1130300" y="3141663"/>
            <a:ext cx="8013700" cy="57467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16" name="Rectangle 19"/>
          <p:cNvSpPr>
            <a:spLocks noChangeArrowheads="1"/>
          </p:cNvSpPr>
          <p:nvPr/>
        </p:nvSpPr>
        <p:spPr bwMode="gray">
          <a:xfrm>
            <a:off x="573088" y="2520950"/>
            <a:ext cx="576263" cy="6413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17" name="Rectangle 20"/>
          <p:cNvSpPr>
            <a:spLocks noChangeArrowheads="1"/>
          </p:cNvSpPr>
          <p:nvPr/>
        </p:nvSpPr>
        <p:spPr bwMode="gray">
          <a:xfrm>
            <a:off x="1716088" y="628650"/>
            <a:ext cx="566738" cy="636588"/>
          </a:xfrm>
          <a:prstGeom prst="rect">
            <a:avLst/>
          </a:prstGeom>
          <a:solidFill>
            <a:schemeClr val="hlink"/>
          </a:solidFill>
          <a:ln>
            <a:noFill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18" name="Rectangle 21"/>
          <p:cNvSpPr>
            <a:spLocks noChangeArrowheads="1"/>
          </p:cNvSpPr>
          <p:nvPr/>
        </p:nvSpPr>
        <p:spPr bwMode="gray">
          <a:xfrm>
            <a:off x="2278063" y="0"/>
            <a:ext cx="585788" cy="635000"/>
          </a:xfrm>
          <a:prstGeom prst="rect">
            <a:avLst/>
          </a:prstGeom>
          <a:solidFill>
            <a:schemeClr val="hlink"/>
          </a:solidFill>
          <a:ln>
            <a:noFill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19" name="Rectangle 22"/>
          <p:cNvSpPr>
            <a:spLocks noChangeArrowheads="1"/>
          </p:cNvSpPr>
          <p:nvPr/>
        </p:nvSpPr>
        <p:spPr bwMode="gray">
          <a:xfrm>
            <a:off x="2281238" y="628650"/>
            <a:ext cx="585788" cy="6318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20" name="Rectangle 23"/>
          <p:cNvSpPr>
            <a:spLocks noChangeArrowheads="1"/>
          </p:cNvSpPr>
          <p:nvPr/>
        </p:nvSpPr>
        <p:spPr bwMode="gray">
          <a:xfrm>
            <a:off x="1141413" y="1262063"/>
            <a:ext cx="574675" cy="625475"/>
          </a:xfrm>
          <a:prstGeom prst="rect">
            <a:avLst/>
          </a:prstGeom>
          <a:solidFill>
            <a:schemeClr val="hlink"/>
          </a:solidFill>
          <a:ln>
            <a:noFill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21" name="Rectangle 24"/>
          <p:cNvSpPr>
            <a:spLocks noChangeArrowheads="1"/>
          </p:cNvSpPr>
          <p:nvPr/>
        </p:nvSpPr>
        <p:spPr bwMode="gray">
          <a:xfrm>
            <a:off x="1716088" y="1263650"/>
            <a:ext cx="566738" cy="622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22" name="Rectangle 25"/>
          <p:cNvSpPr>
            <a:spLocks noChangeArrowheads="1"/>
          </p:cNvSpPr>
          <p:nvPr/>
        </p:nvSpPr>
        <p:spPr bwMode="gray">
          <a:xfrm>
            <a:off x="573088" y="1885950"/>
            <a:ext cx="576263" cy="644525"/>
          </a:xfrm>
          <a:prstGeom prst="rect">
            <a:avLst/>
          </a:prstGeom>
          <a:solidFill>
            <a:schemeClr val="hlink"/>
          </a:solidFill>
          <a:ln>
            <a:noFill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23" name="Rectangle 26"/>
          <p:cNvSpPr>
            <a:spLocks noChangeArrowheads="1"/>
          </p:cNvSpPr>
          <p:nvPr/>
        </p:nvSpPr>
        <p:spPr bwMode="gray">
          <a:xfrm>
            <a:off x="1141413" y="1885950"/>
            <a:ext cx="576263" cy="6445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24" name="Rectangle 27"/>
          <p:cNvSpPr>
            <a:spLocks noChangeArrowheads="1"/>
          </p:cNvSpPr>
          <p:nvPr/>
        </p:nvSpPr>
        <p:spPr bwMode="gray">
          <a:xfrm>
            <a:off x="0" y="2528888"/>
            <a:ext cx="574675" cy="633413"/>
          </a:xfrm>
          <a:prstGeom prst="rect">
            <a:avLst/>
          </a:prstGeom>
          <a:solidFill>
            <a:schemeClr val="hlink"/>
          </a:solidFill>
          <a:ln>
            <a:noFill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pic>
        <p:nvPicPr>
          <p:cNvPr id="136205" name="Picture 30" descr="http://www.tju.edu.cn/yx/images/badge.gif"/>
          <p:cNvPicPr>
            <a:picLocks noChangeAspect="1"/>
          </p:cNvPicPr>
          <p:nvPr/>
        </p:nvPicPr>
        <p:blipFill>
          <a:blip r:embed="rId2" r:link="rId3"/>
          <a:stretch>
            <a:fillRect/>
          </a:stretch>
        </p:blipFill>
        <p:spPr>
          <a:xfrm>
            <a:off x="0" y="0"/>
            <a:ext cx="792163" cy="7858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 bwMode="gray">
          <a:xfrm>
            <a:off x="1752600" y="1800225"/>
            <a:ext cx="6629400" cy="1012825"/>
          </a:xfrm>
        </p:spPr>
        <p:txBody>
          <a:bodyPr/>
          <a:lstStyle>
            <a:lvl1pPr algn="ctr">
              <a:defRPr sz="4400" i="1">
                <a:latin typeface="Verdana" panose="020B0604030504040204" pitchFamily="34" charset="0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gray">
          <a:xfrm>
            <a:off x="1600200" y="3276600"/>
            <a:ext cx="6324600" cy="3810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1800" b="0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单击此处编辑母版副标题样式</a:t>
            </a:r>
            <a:endParaRPr lang="en-US" altLang="zh-CN"/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>
            <a:spLocks noChangeArrowheads="1"/>
          </p:cNvSpPr>
          <p:nvPr/>
        </p:nvSpPr>
        <p:spPr bwMode="auto">
          <a:xfrm>
            <a:off x="7933413" y="0"/>
            <a:ext cx="1210588" cy="338554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lvl="0" algn="r">
              <a:buNone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继承与多态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3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24888" y="6532563"/>
            <a:ext cx="511175" cy="320675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algn="r">
              <a:buNone/>
            </a:pPr>
            <a:fld id="{9A0DB2DC-4C9A-4742-B13C-FB6460FD3503}" type="slidenum">
              <a:rPr lang="en-US" altLang="zh-CN">
                <a:latin typeface="Lucida Sans Unicode" panose="020B0602030504020204" pitchFamily="34" charset="0"/>
                <a:ea typeface="宋体" panose="02010600030101010101" pitchFamily="2" charset="-122"/>
              </a:rPr>
              <a:t>‹#›</a:t>
            </a:fld>
            <a:endParaRPr lang="en-US" altLang="zh-CN"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8841DF7-F00D-8219-C06F-F3F197DC06D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933413" y="0"/>
            <a:ext cx="1210588" cy="338554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lvl="0" algn="r">
              <a:buNone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继承与多态</a:t>
            </a:r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95288" y="1125538"/>
            <a:ext cx="4038600" cy="5248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86288" y="1125538"/>
            <a:ext cx="4038600" cy="5248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7D1D62D-0F30-0672-A468-BEA1B38BE34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933413" y="0"/>
            <a:ext cx="1210588" cy="338554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lvl="0" algn="r">
              <a:buNone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继承与多态</a:t>
            </a:r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96C2C9C-D111-E155-6B99-A1D86936B6CF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933413" y="0"/>
            <a:ext cx="1210588" cy="338554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lvl="0" algn="r">
              <a:buNone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继承与多态</a:t>
            </a:r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5A0CAC9-89DB-A4F1-F2E3-6BA4C4DB73F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933413" y="0"/>
            <a:ext cx="1210588" cy="338554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lvl="0" algn="r">
              <a:buNone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继承与多态</a:t>
            </a:r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B229E1A-9300-C2AA-AC4F-42745E5B0B6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933413" y="0"/>
            <a:ext cx="1210588" cy="338554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lvl="0" algn="r">
              <a:buNone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继承与多态</a:t>
            </a:r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725247A-C191-EBC2-6007-D6CEC1DD3F4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933413" y="0"/>
            <a:ext cx="1210588" cy="338554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lvl="0" algn="r">
              <a:buNone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继承与多态</a:t>
            </a:r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2" name="灯片编号占位符 4"/>
          <p:cNvSpPr>
            <a:spLocks noGrp="1"/>
          </p:cNvSpPr>
          <p:nvPr>
            <p:ph type="sldNum" sz="quarter" idx="4"/>
          </p:nvPr>
        </p:nvSpPr>
        <p:spPr bwMode="auto">
          <a:xfrm>
            <a:off x="0" y="6537325"/>
            <a:ext cx="2133600" cy="320675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>
              <a:buNone/>
            </a:pPr>
            <a:fld id="{9A0DB2DC-4C9A-4742-B13C-FB6460FD3503}" type="slidenum">
              <a:rPr lang="en-US" altLang="zh-CN">
                <a:latin typeface="Lucida Sans Unicode" panose="020B0602030504020204" pitchFamily="34" charset="0"/>
                <a:ea typeface="宋体" panose="02010600030101010101" pitchFamily="2" charset="-122"/>
              </a:rPr>
              <a:t>‹#›</a:t>
            </a:fld>
            <a:endParaRPr lang="en-US" altLang="zh-CN"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13" name="页脚占位符 5"/>
          <p:cNvSpPr>
            <a:spLocks noGrp="1"/>
          </p:cNvSpPr>
          <p:nvPr>
            <p:ph type="ftr" sz="quarter" idx="3"/>
          </p:nvPr>
        </p:nvSpPr>
        <p:spPr>
          <a:xfrm>
            <a:off x="684213" y="6165850"/>
            <a:ext cx="7380288" cy="3206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>
              <a:buNone/>
            </a:pPr>
            <a:r>
              <a:rPr lang="en-US" altLang="zh-CN"/>
              <a:t> </a:t>
            </a:r>
            <a:r>
              <a:rPr lang="zh-CN" altLang="en-US"/>
              <a:t> </a:t>
            </a:r>
            <a:r>
              <a:rPr lang="zh-CN" altLang="en-US">
                <a:solidFill>
                  <a:schemeClr val="folHlink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坐标测量与定位</a:t>
            </a:r>
            <a:endParaRPr lang="en-US" altLang="zh-CN">
              <a:solidFill>
                <a:schemeClr val="folHlink"/>
              </a:solidFill>
              <a:effectLst>
                <a:outerShdw blurRad="38100" dist="38100" dir="2700000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F700F75-60EC-9A51-4DD1-2D69D24DA1A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933412" y="0"/>
            <a:ext cx="1210589" cy="338554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lvl="0" algn="r">
              <a:buNone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继承与多态</a:t>
            </a:r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2" name="灯片编号占位符 3"/>
          <p:cNvSpPr>
            <a:spLocks noGrp="1"/>
          </p:cNvSpPr>
          <p:nvPr>
            <p:ph type="sldNum" sz="quarter" idx="4"/>
          </p:nvPr>
        </p:nvSpPr>
        <p:spPr bwMode="auto">
          <a:xfrm>
            <a:off x="0" y="6537325"/>
            <a:ext cx="2133600" cy="320675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>
              <a:buNone/>
            </a:pPr>
            <a:fld id="{9A0DB2DC-4C9A-4742-B13C-FB6460FD3503}" type="slidenum">
              <a:rPr lang="en-US" altLang="zh-CN">
                <a:latin typeface="Lucida Sans Unicode" panose="020B0602030504020204" pitchFamily="34" charset="0"/>
                <a:ea typeface="宋体" panose="02010600030101010101" pitchFamily="2" charset="-122"/>
              </a:rPr>
              <a:t>‹#›</a:t>
            </a:fld>
            <a:endParaRPr lang="en-US" altLang="zh-CN"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13" name="页脚占位符 4"/>
          <p:cNvSpPr>
            <a:spLocks noGrp="1"/>
          </p:cNvSpPr>
          <p:nvPr>
            <p:ph type="ftr" sz="quarter" idx="3"/>
          </p:nvPr>
        </p:nvSpPr>
        <p:spPr>
          <a:xfrm>
            <a:off x="684213" y="6165850"/>
            <a:ext cx="7380288" cy="3206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>
              <a:buNone/>
            </a:pPr>
            <a:r>
              <a:rPr lang="en-US" altLang="zh-CN"/>
              <a:t> </a:t>
            </a:r>
            <a:r>
              <a:rPr lang="zh-CN" altLang="en-US"/>
              <a:t> </a:t>
            </a:r>
            <a:r>
              <a:rPr lang="zh-CN" altLang="en-US">
                <a:solidFill>
                  <a:schemeClr val="folHlink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坐标测量与定位</a:t>
            </a:r>
            <a:endParaRPr lang="en-US" altLang="zh-CN">
              <a:solidFill>
                <a:schemeClr val="folHlink"/>
              </a:solidFill>
              <a:effectLst>
                <a:outerShdw blurRad="38100" dist="38100" dir="2700000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33CE0CD-1081-F274-3228-ABB01321819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933413" y="0"/>
            <a:ext cx="1210588" cy="338554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lvl="0" algn="r">
              <a:buNone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继承与多态</a:t>
            </a:r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67488" y="457200"/>
            <a:ext cx="2057400" cy="591661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95288" y="457200"/>
            <a:ext cx="6019800" cy="591661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2" name="灯片编号占位符 3"/>
          <p:cNvSpPr>
            <a:spLocks noGrp="1"/>
          </p:cNvSpPr>
          <p:nvPr>
            <p:ph type="sldNum" sz="quarter" idx="4"/>
          </p:nvPr>
        </p:nvSpPr>
        <p:spPr bwMode="auto">
          <a:xfrm>
            <a:off x="0" y="6537325"/>
            <a:ext cx="2133600" cy="320675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>
              <a:buNone/>
            </a:pPr>
            <a:fld id="{9A0DB2DC-4C9A-4742-B13C-FB6460FD3503}" type="slidenum">
              <a:rPr lang="en-US" altLang="zh-CN">
                <a:latin typeface="Lucida Sans Unicode" panose="020B0602030504020204" pitchFamily="34" charset="0"/>
                <a:ea typeface="宋体" panose="02010600030101010101" pitchFamily="2" charset="-122"/>
              </a:rPr>
              <a:t>‹#›</a:t>
            </a:fld>
            <a:endParaRPr lang="en-US" altLang="zh-CN"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13" name="页脚占位符 4"/>
          <p:cNvSpPr>
            <a:spLocks noGrp="1"/>
          </p:cNvSpPr>
          <p:nvPr>
            <p:ph type="ftr" sz="quarter" idx="3"/>
          </p:nvPr>
        </p:nvSpPr>
        <p:spPr>
          <a:xfrm>
            <a:off x="684213" y="6165850"/>
            <a:ext cx="7380288" cy="3206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>
              <a:buNone/>
            </a:pPr>
            <a:r>
              <a:rPr lang="en-US" altLang="zh-CN"/>
              <a:t> </a:t>
            </a:r>
            <a:r>
              <a:rPr lang="zh-CN" altLang="en-US"/>
              <a:t> </a:t>
            </a:r>
            <a:r>
              <a:rPr lang="zh-CN" altLang="en-US">
                <a:solidFill>
                  <a:schemeClr val="folHlink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坐标测量与定位</a:t>
            </a:r>
            <a:endParaRPr lang="en-US" altLang="zh-CN">
              <a:solidFill>
                <a:schemeClr val="folHlink"/>
              </a:solidFill>
              <a:effectLst>
                <a:outerShdw blurRad="38100" dist="38100" dir="2700000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E0D4ADB-7216-7248-D200-ACD369ED117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933413" y="0"/>
            <a:ext cx="1210588" cy="338554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lvl="0" algn="r">
              <a:buNone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继承与多态</a:t>
            </a:r>
          </a:p>
        </p:txBody>
      </p:sp>
    </p:spTree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395288" y="457200"/>
            <a:ext cx="8229600" cy="59166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2" name="灯片编号占位符 2"/>
          <p:cNvSpPr>
            <a:spLocks noGrp="1"/>
          </p:cNvSpPr>
          <p:nvPr>
            <p:ph type="sldNum" sz="quarter" idx="4"/>
          </p:nvPr>
        </p:nvSpPr>
        <p:spPr bwMode="auto">
          <a:xfrm>
            <a:off x="0" y="6537325"/>
            <a:ext cx="2133600" cy="320675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>
              <a:buNone/>
            </a:pPr>
            <a:fld id="{9A0DB2DC-4C9A-4742-B13C-FB6460FD3503}" type="slidenum">
              <a:rPr lang="en-US" altLang="zh-CN">
                <a:latin typeface="Lucida Sans Unicode" panose="020B0602030504020204" pitchFamily="34" charset="0"/>
                <a:ea typeface="宋体" panose="02010600030101010101" pitchFamily="2" charset="-122"/>
              </a:rPr>
              <a:t>‹#›</a:t>
            </a:fld>
            <a:endParaRPr lang="en-US" altLang="zh-CN"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13" name="页脚占位符 3"/>
          <p:cNvSpPr>
            <a:spLocks noGrp="1"/>
          </p:cNvSpPr>
          <p:nvPr>
            <p:ph type="ftr" sz="quarter" idx="3"/>
          </p:nvPr>
        </p:nvSpPr>
        <p:spPr>
          <a:xfrm>
            <a:off x="684213" y="6165850"/>
            <a:ext cx="7380288" cy="3206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>
              <a:buNone/>
            </a:pPr>
            <a:r>
              <a:rPr lang="en-US" altLang="zh-CN"/>
              <a:t> </a:t>
            </a:r>
            <a:r>
              <a:rPr lang="zh-CN" altLang="en-US"/>
              <a:t> </a:t>
            </a:r>
            <a:r>
              <a:rPr lang="zh-CN" altLang="en-US">
                <a:solidFill>
                  <a:schemeClr val="folHlink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坐标测量与定位</a:t>
            </a:r>
            <a:endParaRPr lang="en-US" altLang="zh-CN">
              <a:solidFill>
                <a:schemeClr val="folHlink"/>
              </a:solidFill>
              <a:effectLst>
                <a:outerShdw blurRad="38100" dist="38100" dir="2700000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3F214F2-FD7D-F73D-D745-2DC5A5C8E14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933413" y="0"/>
            <a:ext cx="1210588" cy="338554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lvl="0" algn="r">
              <a:buNone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继承与多态</a:t>
            </a:r>
          </a:p>
        </p:txBody>
      </p:sp>
    </p:spTree>
  </p:cSld>
  <p:clrMapOvr>
    <a:masterClrMapping/>
  </p:clrMapOvr>
  <p:transition>
    <p:fade/>
  </p:transition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194" name="Group 29"/>
          <p:cNvGrpSpPr/>
          <p:nvPr/>
        </p:nvGrpSpPr>
        <p:grpSpPr>
          <a:xfrm>
            <a:off x="1143000" y="628650"/>
            <a:ext cx="8012113" cy="2571750"/>
            <a:chOff x="720" y="396"/>
            <a:chExt cx="5047" cy="1620"/>
          </a:xfrm>
        </p:grpSpPr>
        <p:sp>
          <p:nvSpPr>
            <p:cNvPr id="13" name="Rectangle 18"/>
            <p:cNvSpPr>
              <a:spLocks noChangeArrowheads="1"/>
            </p:cNvSpPr>
            <p:nvPr/>
          </p:nvSpPr>
          <p:spPr bwMode="gray">
            <a:xfrm>
              <a:off x="1081" y="396"/>
              <a:ext cx="4686" cy="1596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endParaRPr>
            </a:p>
          </p:txBody>
        </p:sp>
        <p:sp>
          <p:nvSpPr>
            <p:cNvPr id="14" name="Rectangle 28"/>
            <p:cNvSpPr>
              <a:spLocks noChangeArrowheads="1"/>
            </p:cNvSpPr>
            <p:nvPr/>
          </p:nvSpPr>
          <p:spPr bwMode="gray">
            <a:xfrm>
              <a:off x="720" y="1440"/>
              <a:ext cx="576" cy="576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endParaRPr>
            </a:p>
          </p:txBody>
        </p:sp>
      </p:grpSp>
      <p:sp>
        <p:nvSpPr>
          <p:cNvPr id="15" name="Rectangle 17"/>
          <p:cNvSpPr>
            <a:spLocks noChangeArrowheads="1"/>
          </p:cNvSpPr>
          <p:nvPr/>
        </p:nvSpPr>
        <p:spPr bwMode="gray">
          <a:xfrm>
            <a:off x="1130300" y="3141663"/>
            <a:ext cx="8013700" cy="57467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16" name="Rectangle 19"/>
          <p:cNvSpPr>
            <a:spLocks noChangeArrowheads="1"/>
          </p:cNvSpPr>
          <p:nvPr/>
        </p:nvSpPr>
        <p:spPr bwMode="gray">
          <a:xfrm>
            <a:off x="573088" y="2520950"/>
            <a:ext cx="576263" cy="6413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17" name="Rectangle 20"/>
          <p:cNvSpPr>
            <a:spLocks noChangeArrowheads="1"/>
          </p:cNvSpPr>
          <p:nvPr/>
        </p:nvSpPr>
        <p:spPr bwMode="gray">
          <a:xfrm>
            <a:off x="1716088" y="628650"/>
            <a:ext cx="566738" cy="636588"/>
          </a:xfrm>
          <a:prstGeom prst="rect">
            <a:avLst/>
          </a:prstGeom>
          <a:solidFill>
            <a:schemeClr val="hlink"/>
          </a:solidFill>
          <a:ln>
            <a:noFill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18" name="Rectangle 21"/>
          <p:cNvSpPr>
            <a:spLocks noChangeArrowheads="1"/>
          </p:cNvSpPr>
          <p:nvPr/>
        </p:nvSpPr>
        <p:spPr bwMode="gray">
          <a:xfrm>
            <a:off x="2278063" y="0"/>
            <a:ext cx="585788" cy="635000"/>
          </a:xfrm>
          <a:prstGeom prst="rect">
            <a:avLst/>
          </a:prstGeom>
          <a:solidFill>
            <a:schemeClr val="hlink"/>
          </a:solidFill>
          <a:ln>
            <a:noFill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19" name="Rectangle 22"/>
          <p:cNvSpPr>
            <a:spLocks noChangeArrowheads="1"/>
          </p:cNvSpPr>
          <p:nvPr/>
        </p:nvSpPr>
        <p:spPr bwMode="gray">
          <a:xfrm>
            <a:off x="2281238" y="628650"/>
            <a:ext cx="585788" cy="6318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20" name="Rectangle 23"/>
          <p:cNvSpPr>
            <a:spLocks noChangeArrowheads="1"/>
          </p:cNvSpPr>
          <p:nvPr/>
        </p:nvSpPr>
        <p:spPr bwMode="gray">
          <a:xfrm>
            <a:off x="1141413" y="1262063"/>
            <a:ext cx="574675" cy="625475"/>
          </a:xfrm>
          <a:prstGeom prst="rect">
            <a:avLst/>
          </a:prstGeom>
          <a:solidFill>
            <a:schemeClr val="hlink"/>
          </a:solidFill>
          <a:ln>
            <a:noFill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21" name="Rectangle 24"/>
          <p:cNvSpPr>
            <a:spLocks noChangeArrowheads="1"/>
          </p:cNvSpPr>
          <p:nvPr/>
        </p:nvSpPr>
        <p:spPr bwMode="gray">
          <a:xfrm>
            <a:off x="1716088" y="1263650"/>
            <a:ext cx="566738" cy="622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22" name="Rectangle 25"/>
          <p:cNvSpPr>
            <a:spLocks noChangeArrowheads="1"/>
          </p:cNvSpPr>
          <p:nvPr/>
        </p:nvSpPr>
        <p:spPr bwMode="gray">
          <a:xfrm>
            <a:off x="573088" y="1885950"/>
            <a:ext cx="576263" cy="644525"/>
          </a:xfrm>
          <a:prstGeom prst="rect">
            <a:avLst/>
          </a:prstGeom>
          <a:solidFill>
            <a:schemeClr val="hlink"/>
          </a:solidFill>
          <a:ln>
            <a:noFill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23" name="Rectangle 26"/>
          <p:cNvSpPr>
            <a:spLocks noChangeArrowheads="1"/>
          </p:cNvSpPr>
          <p:nvPr/>
        </p:nvSpPr>
        <p:spPr bwMode="gray">
          <a:xfrm>
            <a:off x="1141413" y="1885950"/>
            <a:ext cx="576263" cy="6445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24" name="Rectangle 27"/>
          <p:cNvSpPr>
            <a:spLocks noChangeArrowheads="1"/>
          </p:cNvSpPr>
          <p:nvPr/>
        </p:nvSpPr>
        <p:spPr bwMode="gray">
          <a:xfrm>
            <a:off x="0" y="2528888"/>
            <a:ext cx="574675" cy="633413"/>
          </a:xfrm>
          <a:prstGeom prst="rect">
            <a:avLst/>
          </a:prstGeom>
          <a:solidFill>
            <a:schemeClr val="hlink"/>
          </a:solidFill>
          <a:ln>
            <a:noFill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pic>
        <p:nvPicPr>
          <p:cNvPr id="136205" name="Picture 30" descr="http://www.tju.edu.cn/yx/images/badge.gif"/>
          <p:cNvPicPr>
            <a:picLocks noChangeAspect="1"/>
          </p:cNvPicPr>
          <p:nvPr/>
        </p:nvPicPr>
        <p:blipFill>
          <a:blip r:embed="rId2" r:link="rId3"/>
          <a:stretch>
            <a:fillRect/>
          </a:stretch>
        </p:blipFill>
        <p:spPr>
          <a:xfrm>
            <a:off x="0" y="0"/>
            <a:ext cx="792163" cy="7858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 bwMode="gray">
          <a:xfrm>
            <a:off x="1752600" y="1800225"/>
            <a:ext cx="6629400" cy="1012825"/>
          </a:xfrm>
        </p:spPr>
        <p:txBody>
          <a:bodyPr/>
          <a:lstStyle>
            <a:lvl1pPr algn="ctr">
              <a:defRPr sz="4400" i="1">
                <a:latin typeface="Verdana" panose="020B0604030504040204" pitchFamily="34" charset="0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gray">
          <a:xfrm>
            <a:off x="1600200" y="3276600"/>
            <a:ext cx="6324600" cy="3810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1800" b="0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单击此处编辑母版副标题样式</a:t>
            </a:r>
            <a:endParaRPr lang="en-US" altLang="zh-CN"/>
          </a:p>
        </p:txBody>
      </p:sp>
    </p:spTree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3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24888" y="6532563"/>
            <a:ext cx="511175" cy="320675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algn="r">
              <a:buNone/>
            </a:pPr>
            <a:fld id="{9A0DB2DC-4C9A-4742-B13C-FB6460FD3503}" type="slidenum">
              <a:rPr lang="en-US" altLang="zh-CN">
                <a:latin typeface="Lucida Sans Unicode" panose="020B0602030504020204" pitchFamily="34" charset="0"/>
                <a:ea typeface="宋体" panose="02010600030101010101" pitchFamily="2" charset="-122"/>
              </a:rPr>
              <a:t>‹#›</a:t>
            </a:fld>
            <a:endParaRPr lang="en-US" altLang="zh-CN"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95288" y="1125538"/>
            <a:ext cx="4038600" cy="5248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86288" y="1125538"/>
            <a:ext cx="4038600" cy="5248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2" name="灯片编号占位符 4"/>
          <p:cNvSpPr>
            <a:spLocks noGrp="1"/>
          </p:cNvSpPr>
          <p:nvPr>
            <p:ph type="sldNum" sz="quarter" idx="4"/>
          </p:nvPr>
        </p:nvSpPr>
        <p:spPr bwMode="auto">
          <a:xfrm>
            <a:off x="0" y="6537325"/>
            <a:ext cx="2133600" cy="320675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>
              <a:buNone/>
            </a:pPr>
            <a:fld id="{9A0DB2DC-4C9A-4742-B13C-FB6460FD3503}" type="slidenum">
              <a:rPr lang="en-US" altLang="zh-CN">
                <a:latin typeface="Lucida Sans Unicode" panose="020B0602030504020204" pitchFamily="34" charset="0"/>
                <a:ea typeface="宋体" panose="02010600030101010101" pitchFamily="2" charset="-122"/>
              </a:rPr>
              <a:t>‹#›</a:t>
            </a:fld>
            <a:endParaRPr lang="en-US" altLang="zh-CN"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13" name="页脚占位符 5"/>
          <p:cNvSpPr>
            <a:spLocks noGrp="1"/>
          </p:cNvSpPr>
          <p:nvPr>
            <p:ph type="ftr" sz="quarter" idx="3"/>
          </p:nvPr>
        </p:nvSpPr>
        <p:spPr>
          <a:xfrm>
            <a:off x="684213" y="6165850"/>
            <a:ext cx="7380288" cy="3206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>
              <a:buNone/>
            </a:pPr>
            <a:r>
              <a:rPr lang="en-US" altLang="zh-CN"/>
              <a:t> </a:t>
            </a:r>
            <a:r>
              <a:rPr lang="zh-CN" altLang="en-US"/>
              <a:t> </a:t>
            </a:r>
            <a:r>
              <a:rPr lang="zh-CN" altLang="en-US">
                <a:solidFill>
                  <a:schemeClr val="folHlink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坐标测量与定位</a:t>
            </a:r>
            <a:endParaRPr lang="en-US" altLang="zh-CN">
              <a:solidFill>
                <a:schemeClr val="folHlink"/>
              </a:solidFill>
              <a:effectLst>
                <a:outerShdw blurRad="38100" dist="38100" dir="2700000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2" name="灯片编号占位符 3"/>
          <p:cNvSpPr>
            <a:spLocks noGrp="1"/>
          </p:cNvSpPr>
          <p:nvPr>
            <p:ph type="sldNum" sz="quarter" idx="4"/>
          </p:nvPr>
        </p:nvSpPr>
        <p:spPr bwMode="auto">
          <a:xfrm>
            <a:off x="0" y="6537325"/>
            <a:ext cx="2133600" cy="320675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>
              <a:buNone/>
            </a:pPr>
            <a:fld id="{9A0DB2DC-4C9A-4742-B13C-FB6460FD3503}" type="slidenum">
              <a:rPr lang="en-US" altLang="zh-CN">
                <a:latin typeface="Lucida Sans Unicode" panose="020B0602030504020204" pitchFamily="34" charset="0"/>
                <a:ea typeface="宋体" panose="02010600030101010101" pitchFamily="2" charset="-122"/>
              </a:rPr>
              <a:t>‹#›</a:t>
            </a:fld>
            <a:endParaRPr lang="en-US" altLang="zh-CN"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13" name="页脚占位符 4"/>
          <p:cNvSpPr>
            <a:spLocks noGrp="1"/>
          </p:cNvSpPr>
          <p:nvPr>
            <p:ph type="ftr" sz="quarter" idx="3"/>
          </p:nvPr>
        </p:nvSpPr>
        <p:spPr>
          <a:xfrm>
            <a:off x="684213" y="6165850"/>
            <a:ext cx="7380288" cy="3206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>
              <a:buNone/>
            </a:pPr>
            <a:r>
              <a:rPr lang="en-US" altLang="zh-CN"/>
              <a:t> </a:t>
            </a:r>
            <a:r>
              <a:rPr lang="zh-CN" altLang="en-US"/>
              <a:t> </a:t>
            </a:r>
            <a:r>
              <a:rPr lang="zh-CN" altLang="en-US">
                <a:solidFill>
                  <a:schemeClr val="folHlink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坐标测量与定位</a:t>
            </a:r>
            <a:endParaRPr lang="en-US" altLang="zh-CN">
              <a:solidFill>
                <a:schemeClr val="folHlink"/>
              </a:solidFill>
              <a:effectLst>
                <a:outerShdw blurRad="38100" dist="38100" dir="2700000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67488" y="457200"/>
            <a:ext cx="2057400" cy="591661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95288" y="457200"/>
            <a:ext cx="6019800" cy="591661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2" name="灯片编号占位符 3"/>
          <p:cNvSpPr>
            <a:spLocks noGrp="1"/>
          </p:cNvSpPr>
          <p:nvPr>
            <p:ph type="sldNum" sz="quarter" idx="4"/>
          </p:nvPr>
        </p:nvSpPr>
        <p:spPr bwMode="auto">
          <a:xfrm>
            <a:off x="0" y="6537325"/>
            <a:ext cx="2133600" cy="320675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>
              <a:buNone/>
            </a:pPr>
            <a:fld id="{9A0DB2DC-4C9A-4742-B13C-FB6460FD3503}" type="slidenum">
              <a:rPr lang="en-US" altLang="zh-CN">
                <a:latin typeface="Lucida Sans Unicode" panose="020B0602030504020204" pitchFamily="34" charset="0"/>
                <a:ea typeface="宋体" panose="02010600030101010101" pitchFamily="2" charset="-122"/>
              </a:rPr>
              <a:t>‹#›</a:t>
            </a:fld>
            <a:endParaRPr lang="en-US" altLang="zh-CN"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13" name="页脚占位符 4"/>
          <p:cNvSpPr>
            <a:spLocks noGrp="1"/>
          </p:cNvSpPr>
          <p:nvPr>
            <p:ph type="ftr" sz="quarter" idx="3"/>
          </p:nvPr>
        </p:nvSpPr>
        <p:spPr>
          <a:xfrm>
            <a:off x="684213" y="6165850"/>
            <a:ext cx="7380288" cy="3206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>
              <a:buNone/>
            </a:pPr>
            <a:r>
              <a:rPr lang="en-US" altLang="zh-CN"/>
              <a:t> </a:t>
            </a:r>
            <a:r>
              <a:rPr lang="zh-CN" altLang="en-US"/>
              <a:t> </a:t>
            </a:r>
            <a:r>
              <a:rPr lang="zh-CN" altLang="en-US">
                <a:solidFill>
                  <a:schemeClr val="folHlink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坐标测量与定位</a:t>
            </a:r>
            <a:endParaRPr lang="en-US" altLang="zh-CN">
              <a:solidFill>
                <a:schemeClr val="folHlink"/>
              </a:solidFill>
              <a:effectLst>
                <a:outerShdw blurRad="38100" dist="38100" dir="2700000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395288" y="457200"/>
            <a:ext cx="8229600" cy="59166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2" name="灯片编号占位符 2"/>
          <p:cNvSpPr>
            <a:spLocks noGrp="1"/>
          </p:cNvSpPr>
          <p:nvPr>
            <p:ph type="sldNum" sz="quarter" idx="4"/>
          </p:nvPr>
        </p:nvSpPr>
        <p:spPr bwMode="auto">
          <a:xfrm>
            <a:off x="0" y="6537325"/>
            <a:ext cx="2133600" cy="320675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>
              <a:buNone/>
            </a:pPr>
            <a:fld id="{9A0DB2DC-4C9A-4742-B13C-FB6460FD3503}" type="slidenum">
              <a:rPr lang="en-US" altLang="zh-CN">
                <a:latin typeface="Lucida Sans Unicode" panose="020B0602030504020204" pitchFamily="34" charset="0"/>
                <a:ea typeface="宋体" panose="02010600030101010101" pitchFamily="2" charset="-122"/>
              </a:rPr>
              <a:t>‹#›</a:t>
            </a:fld>
            <a:endParaRPr lang="en-US" altLang="zh-CN"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13" name="页脚占位符 3"/>
          <p:cNvSpPr>
            <a:spLocks noGrp="1"/>
          </p:cNvSpPr>
          <p:nvPr>
            <p:ph type="ftr" sz="quarter" idx="3"/>
          </p:nvPr>
        </p:nvSpPr>
        <p:spPr>
          <a:xfrm>
            <a:off x="684213" y="6165850"/>
            <a:ext cx="7380288" cy="3206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>
              <a:buNone/>
            </a:pPr>
            <a:r>
              <a:rPr lang="en-US" altLang="zh-CN"/>
              <a:t> </a:t>
            </a:r>
            <a:r>
              <a:rPr lang="zh-CN" altLang="en-US"/>
              <a:t> </a:t>
            </a:r>
            <a:r>
              <a:rPr lang="zh-CN" altLang="en-US">
                <a:solidFill>
                  <a:schemeClr val="folHlink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坐标测量与定位</a:t>
            </a:r>
            <a:endParaRPr lang="en-US" altLang="zh-CN">
              <a:solidFill>
                <a:schemeClr val="folHlink"/>
              </a:solidFill>
              <a:effectLst>
                <a:outerShdw blurRad="38100" dist="38100" dir="2700000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>
    <p:fade/>
  </p:transition>
  <p:hf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>
  <p:cSld name="标题和文本在内容之上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22325" y="0"/>
            <a:ext cx="78486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 hasCustomPrompt="1"/>
          </p:nvPr>
        </p:nvSpPr>
        <p:spPr>
          <a:xfrm>
            <a:off x="649288" y="2403475"/>
            <a:ext cx="7848600" cy="19812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49288" y="4537075"/>
            <a:ext cx="7848600" cy="19812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2" name="日期占位符 4"/>
          <p:cNvSpPr>
            <a:spLocks noGrp="1"/>
          </p:cNvSpPr>
          <p:nvPr>
            <p:ph type="dt" sz="half" idx="12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>
                <a:ea typeface="楷体_GB2312" pitchFamily="49" charset="-122"/>
                <a:cs typeface="+mn-cs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13" name="页脚占位符 5"/>
          <p:cNvSpPr>
            <a:spLocks noGrp="1"/>
          </p:cNvSpPr>
          <p:nvPr>
            <p:ph type="ftr" sz="quarter" idx="3"/>
          </p:nvPr>
        </p:nvSpPr>
        <p:spPr>
          <a:xfrm>
            <a:off x="6019800" y="6248400"/>
            <a:ext cx="1600200" cy="457200"/>
          </a:xfrm>
        </p:spPr>
        <p:txBody>
          <a:bodyPr/>
          <a:lstStyle>
            <a:lvl1pPr>
              <a:defRPr>
                <a:ea typeface="楷体_GB2312" pitchFamily="49" charset="-122"/>
                <a:cs typeface="+mn-cs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14" name="灯片编号占位符 6"/>
          <p:cNvSpPr>
            <a:spLocks noGrp="1"/>
          </p:cNvSpPr>
          <p:nvPr>
            <p:ph type="sldNum" sz="quarter" idx="4"/>
          </p:nvPr>
        </p:nvSpPr>
        <p:spPr bwMode="auto">
          <a:xfrm>
            <a:off x="7848600" y="6248400"/>
            <a:ext cx="609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>
              <a:buNone/>
            </a:pPr>
            <a:fld id="{9A0DB2DC-4C9A-4742-B13C-FB6460FD3503}" type="slidenum">
              <a:rPr lang="en-US" altLang="zh-CN">
                <a:latin typeface="Lucida Sans Unicode" panose="020B0602030504020204" pitchFamily="34" charset="0"/>
                <a:ea typeface="宋体" panose="02010600030101010101" pitchFamily="2" charset="-122"/>
              </a:rPr>
              <a:t>‹#›</a:t>
            </a:fld>
            <a:endParaRPr lang="en-US" altLang="zh-CN"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NULL" TargetMode="Externa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image" Target="NULL" TargetMode="Externa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5"/>
          <p:cNvSpPr>
            <a:spLocks noChangeArrowheads="1"/>
          </p:cNvSpPr>
          <p:nvPr/>
        </p:nvSpPr>
        <p:spPr bwMode="gray">
          <a:xfrm>
            <a:off x="655638" y="360363"/>
            <a:ext cx="8497888" cy="719138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1027" name="Rectangle 3"/>
          <p:cNvSpPr>
            <a:spLocks noGrp="1"/>
          </p:cNvSpPr>
          <p:nvPr>
            <p:ph type="body" idx="1"/>
          </p:nvPr>
        </p:nvSpPr>
        <p:spPr>
          <a:xfrm>
            <a:off x="395288" y="1125538"/>
            <a:ext cx="8229600" cy="524827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0" y="6537325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600">
                <a:latin typeface="Lucida Sans Unicode" panose="020B0602030504020204" pitchFamily="34" charset="0"/>
                <a:ea typeface="宋体" panose="02010600030101010101" pitchFamily="2" charset="-122"/>
              </a:defRPr>
            </a:lvl1pPr>
          </a:lstStyle>
          <a:p>
            <a:pPr lvl="0">
              <a:buNone/>
            </a:pPr>
            <a:fld id="{9A0DB2DC-4C9A-4742-B13C-FB6460FD3503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1029" name="Rectangle 2"/>
          <p:cNvSpPr>
            <a:spLocks noGrp="1"/>
          </p:cNvSpPr>
          <p:nvPr>
            <p:ph type="title"/>
          </p:nvPr>
        </p:nvSpPr>
        <p:spPr>
          <a:xfrm>
            <a:off x="1143000" y="457200"/>
            <a:ext cx="7391400" cy="4873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2" name="Rectangle 24"/>
          <p:cNvSpPr>
            <a:spLocks noChangeArrowheads="1"/>
          </p:cNvSpPr>
          <p:nvPr/>
        </p:nvSpPr>
        <p:spPr bwMode="gray">
          <a:xfrm>
            <a:off x="0" y="719138"/>
            <a:ext cx="328613" cy="361950"/>
          </a:xfrm>
          <a:prstGeom prst="rect">
            <a:avLst/>
          </a:prstGeom>
          <a:solidFill>
            <a:schemeClr val="hlink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1031" name="Rectangle 25"/>
          <p:cNvSpPr>
            <a:spLocks noChangeArrowheads="1"/>
          </p:cNvSpPr>
          <p:nvPr/>
        </p:nvSpPr>
        <p:spPr bwMode="gray">
          <a:xfrm>
            <a:off x="328613" y="357188"/>
            <a:ext cx="328613" cy="361950"/>
          </a:xfrm>
          <a:prstGeom prst="rect">
            <a:avLst/>
          </a:prstGeom>
          <a:solidFill>
            <a:schemeClr val="hlink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1032" name="Rectangle 26"/>
          <p:cNvSpPr>
            <a:spLocks noChangeArrowheads="1"/>
          </p:cNvSpPr>
          <p:nvPr/>
        </p:nvSpPr>
        <p:spPr bwMode="gray">
          <a:xfrm>
            <a:off x="657225" y="0"/>
            <a:ext cx="328613" cy="361950"/>
          </a:xfrm>
          <a:prstGeom prst="rect">
            <a:avLst/>
          </a:prstGeom>
          <a:solidFill>
            <a:schemeClr val="hlink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1033" name="Rectangle 28"/>
          <p:cNvSpPr>
            <a:spLocks noChangeArrowheads="1"/>
          </p:cNvSpPr>
          <p:nvPr/>
        </p:nvSpPr>
        <p:spPr bwMode="gray">
          <a:xfrm>
            <a:off x="657225" y="361950"/>
            <a:ext cx="328613" cy="361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1034" name="Rectangle 29"/>
          <p:cNvSpPr>
            <a:spLocks noChangeArrowheads="1"/>
          </p:cNvSpPr>
          <p:nvPr/>
        </p:nvSpPr>
        <p:spPr bwMode="gray">
          <a:xfrm>
            <a:off x="328613" y="719138"/>
            <a:ext cx="328613" cy="361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pic>
        <p:nvPicPr>
          <p:cNvPr id="1035" name="Picture 31" descr="http://www.tju.edu.cn/yx/images/badge.gif"/>
          <p:cNvPicPr>
            <a:picLocks noChangeAspect="1"/>
          </p:cNvPicPr>
          <p:nvPr/>
        </p:nvPicPr>
        <p:blipFill>
          <a:blip r:embed="rId14" r:link="rId15"/>
          <a:stretch>
            <a:fillRect/>
          </a:stretch>
        </p:blipFill>
        <p:spPr>
          <a:xfrm>
            <a:off x="0" y="0"/>
            <a:ext cx="792163" cy="785813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>
    <p:fade/>
  </p:transition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+mj-lt"/>
          <a:ea typeface="+mj-ea"/>
          <a:cs typeface="楷体_GB2312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Times New Roman" panose="02020603050405020304" pitchFamily="18" charset="0"/>
          <a:ea typeface="楷体_GB2312" pitchFamily="49" charset="-122"/>
          <a:cs typeface="楷体_GB231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Times New Roman" panose="02020603050405020304" pitchFamily="18" charset="0"/>
          <a:ea typeface="楷体_GB2312" pitchFamily="49" charset="-122"/>
          <a:cs typeface="楷体_GB231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Times New Roman" panose="02020603050405020304" pitchFamily="18" charset="0"/>
          <a:ea typeface="楷体_GB2312" pitchFamily="49" charset="-122"/>
          <a:cs typeface="楷体_GB231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Times New Roman" panose="02020603050405020304" pitchFamily="18" charset="0"/>
          <a:ea typeface="楷体_GB2312" pitchFamily="49" charset="-122"/>
          <a:cs typeface="楷体_GB231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Times New Roman" panose="02020603050405020304" pitchFamily="18" charset="0"/>
          <a:ea typeface="楷体_GB2312" pitchFamily="49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Times New Roman" panose="02020603050405020304" pitchFamily="18" charset="0"/>
          <a:ea typeface="楷体_GB2312" pitchFamily="49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Times New Roman" panose="02020603050405020304" pitchFamily="18" charset="0"/>
          <a:ea typeface="楷体_GB2312" pitchFamily="49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Times New Roman" panose="02020603050405020304" pitchFamily="18" charset="0"/>
          <a:ea typeface="楷体_GB2312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33CC"/>
        </a:buClr>
        <a:buFont typeface="Wingdings" panose="05000000000000000000" pitchFamily="2" charset="2"/>
        <a:buChar char="Ø"/>
        <a:defRPr sz="2800" b="1">
          <a:solidFill>
            <a:srgbClr val="000099"/>
          </a:solidFill>
          <a:latin typeface="+mn-lt"/>
          <a:ea typeface="+mn-ea"/>
          <a:cs typeface="楷体_GB2312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l"/>
        <a:defRPr sz="2800" b="1">
          <a:solidFill>
            <a:srgbClr val="000099"/>
          </a:solidFill>
          <a:latin typeface="+mn-lt"/>
          <a:ea typeface="+mn-ea"/>
          <a:cs typeface="楷体_GB231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033CC"/>
        </a:buClr>
        <a:buChar char="•"/>
        <a:defRPr sz="2400" b="1">
          <a:solidFill>
            <a:srgbClr val="000099"/>
          </a:solidFill>
          <a:latin typeface="+mn-lt"/>
          <a:ea typeface="+mn-ea"/>
          <a:cs typeface="楷体_GB231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b="1">
          <a:solidFill>
            <a:srgbClr val="000099"/>
          </a:solidFill>
          <a:latin typeface="+mn-lt"/>
          <a:ea typeface="+mn-ea"/>
          <a:cs typeface="楷体_GB231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b="1">
          <a:solidFill>
            <a:srgbClr val="000099"/>
          </a:solidFill>
          <a:latin typeface="+mn-lt"/>
          <a:ea typeface="+mn-ea"/>
          <a:cs typeface="楷体_GB2312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b="1">
          <a:solidFill>
            <a:srgbClr val="000099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b="1">
          <a:solidFill>
            <a:srgbClr val="000099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b="1">
          <a:solidFill>
            <a:srgbClr val="000099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b="1">
          <a:solidFill>
            <a:srgbClr val="000099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5"/>
          <p:cNvSpPr>
            <a:spLocks noChangeArrowheads="1"/>
          </p:cNvSpPr>
          <p:nvPr/>
        </p:nvSpPr>
        <p:spPr bwMode="gray">
          <a:xfrm>
            <a:off x="655638" y="360363"/>
            <a:ext cx="8497888" cy="719138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1027" name="Rectangle 3"/>
          <p:cNvSpPr>
            <a:spLocks noGrp="1"/>
          </p:cNvSpPr>
          <p:nvPr>
            <p:ph type="body" idx="1"/>
          </p:nvPr>
        </p:nvSpPr>
        <p:spPr>
          <a:xfrm>
            <a:off x="395288" y="1125538"/>
            <a:ext cx="8229600" cy="524827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0" y="6537325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600">
                <a:latin typeface="Lucida Sans Unicode" panose="020B0602030504020204" pitchFamily="34" charset="0"/>
                <a:ea typeface="宋体" panose="02010600030101010101" pitchFamily="2" charset="-122"/>
              </a:defRPr>
            </a:lvl1pPr>
          </a:lstStyle>
          <a:p>
            <a:pPr lvl="0">
              <a:buNone/>
            </a:pPr>
            <a:fld id="{9A0DB2DC-4C9A-4742-B13C-FB6460FD3503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1029" name="Rectangle 2"/>
          <p:cNvSpPr>
            <a:spLocks noGrp="1"/>
          </p:cNvSpPr>
          <p:nvPr>
            <p:ph type="title"/>
          </p:nvPr>
        </p:nvSpPr>
        <p:spPr>
          <a:xfrm>
            <a:off x="1143000" y="457200"/>
            <a:ext cx="7391400" cy="4873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2" name="Rectangle 24"/>
          <p:cNvSpPr>
            <a:spLocks noChangeArrowheads="1"/>
          </p:cNvSpPr>
          <p:nvPr/>
        </p:nvSpPr>
        <p:spPr bwMode="gray">
          <a:xfrm>
            <a:off x="0" y="719138"/>
            <a:ext cx="328613" cy="361950"/>
          </a:xfrm>
          <a:prstGeom prst="rect">
            <a:avLst/>
          </a:prstGeom>
          <a:solidFill>
            <a:schemeClr val="hlink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1031" name="Rectangle 25"/>
          <p:cNvSpPr>
            <a:spLocks noChangeArrowheads="1"/>
          </p:cNvSpPr>
          <p:nvPr/>
        </p:nvSpPr>
        <p:spPr bwMode="gray">
          <a:xfrm>
            <a:off x="328613" y="357188"/>
            <a:ext cx="328613" cy="361950"/>
          </a:xfrm>
          <a:prstGeom prst="rect">
            <a:avLst/>
          </a:prstGeom>
          <a:solidFill>
            <a:schemeClr val="hlink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1032" name="Rectangle 26"/>
          <p:cNvSpPr>
            <a:spLocks noChangeArrowheads="1"/>
          </p:cNvSpPr>
          <p:nvPr/>
        </p:nvSpPr>
        <p:spPr bwMode="gray">
          <a:xfrm>
            <a:off x="657225" y="0"/>
            <a:ext cx="328613" cy="361950"/>
          </a:xfrm>
          <a:prstGeom prst="rect">
            <a:avLst/>
          </a:prstGeom>
          <a:solidFill>
            <a:schemeClr val="hlink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1033" name="Rectangle 28"/>
          <p:cNvSpPr>
            <a:spLocks noChangeArrowheads="1"/>
          </p:cNvSpPr>
          <p:nvPr/>
        </p:nvSpPr>
        <p:spPr bwMode="gray">
          <a:xfrm>
            <a:off x="657225" y="361950"/>
            <a:ext cx="328613" cy="361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1034" name="Rectangle 29"/>
          <p:cNvSpPr>
            <a:spLocks noChangeArrowheads="1"/>
          </p:cNvSpPr>
          <p:nvPr/>
        </p:nvSpPr>
        <p:spPr bwMode="gray">
          <a:xfrm>
            <a:off x="328613" y="719138"/>
            <a:ext cx="328613" cy="361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pic>
        <p:nvPicPr>
          <p:cNvPr id="1035" name="Picture 31" descr="http://www.tju.edu.cn/yx/images/badge.gif"/>
          <p:cNvPicPr>
            <a:picLocks noChangeAspect="1"/>
          </p:cNvPicPr>
          <p:nvPr/>
        </p:nvPicPr>
        <p:blipFill>
          <a:blip r:embed="rId15" r:link="rId16"/>
          <a:stretch>
            <a:fillRect/>
          </a:stretch>
        </p:blipFill>
        <p:spPr>
          <a:xfrm>
            <a:off x="0" y="0"/>
            <a:ext cx="792163" cy="7858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32099A49-06D7-1CFE-35E2-875E76BA658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933413" y="0"/>
            <a:ext cx="1210588" cy="338554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lvl="0" algn="r">
              <a:buNone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继承与多态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</p:sldLayoutIdLst>
  <p:transition>
    <p:fade/>
  </p:transition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+mj-lt"/>
          <a:ea typeface="+mj-ea"/>
          <a:cs typeface="楷体_GB2312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Times New Roman" panose="02020603050405020304" pitchFamily="18" charset="0"/>
          <a:ea typeface="楷体_GB2312" pitchFamily="49" charset="-122"/>
          <a:cs typeface="楷体_GB231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Times New Roman" panose="02020603050405020304" pitchFamily="18" charset="0"/>
          <a:ea typeface="楷体_GB2312" pitchFamily="49" charset="-122"/>
          <a:cs typeface="楷体_GB231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Times New Roman" panose="02020603050405020304" pitchFamily="18" charset="0"/>
          <a:ea typeface="楷体_GB2312" pitchFamily="49" charset="-122"/>
          <a:cs typeface="楷体_GB231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Times New Roman" panose="02020603050405020304" pitchFamily="18" charset="0"/>
          <a:ea typeface="楷体_GB2312" pitchFamily="49" charset="-122"/>
          <a:cs typeface="楷体_GB231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Times New Roman" panose="02020603050405020304" pitchFamily="18" charset="0"/>
          <a:ea typeface="楷体_GB2312" pitchFamily="49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Times New Roman" panose="02020603050405020304" pitchFamily="18" charset="0"/>
          <a:ea typeface="楷体_GB2312" pitchFamily="49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Times New Roman" panose="02020603050405020304" pitchFamily="18" charset="0"/>
          <a:ea typeface="楷体_GB2312" pitchFamily="49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Times New Roman" panose="02020603050405020304" pitchFamily="18" charset="0"/>
          <a:ea typeface="楷体_GB2312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33CC"/>
        </a:buClr>
        <a:buFont typeface="Wingdings" panose="05000000000000000000" pitchFamily="2" charset="2"/>
        <a:buChar char="Ø"/>
        <a:defRPr sz="2800" b="1">
          <a:solidFill>
            <a:srgbClr val="000099"/>
          </a:solidFill>
          <a:latin typeface="+mn-lt"/>
          <a:ea typeface="+mn-ea"/>
          <a:cs typeface="楷体_GB2312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l"/>
        <a:defRPr sz="2800" b="1">
          <a:solidFill>
            <a:srgbClr val="000099"/>
          </a:solidFill>
          <a:latin typeface="+mn-lt"/>
          <a:ea typeface="+mn-ea"/>
          <a:cs typeface="楷体_GB231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033CC"/>
        </a:buClr>
        <a:buChar char="•"/>
        <a:defRPr sz="2400" b="1">
          <a:solidFill>
            <a:srgbClr val="000099"/>
          </a:solidFill>
          <a:latin typeface="+mn-lt"/>
          <a:ea typeface="+mn-ea"/>
          <a:cs typeface="楷体_GB231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b="1">
          <a:solidFill>
            <a:srgbClr val="000099"/>
          </a:solidFill>
          <a:latin typeface="+mn-lt"/>
          <a:ea typeface="+mn-ea"/>
          <a:cs typeface="楷体_GB231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b="1">
          <a:solidFill>
            <a:srgbClr val="000099"/>
          </a:solidFill>
          <a:latin typeface="+mn-lt"/>
          <a:ea typeface="+mn-ea"/>
          <a:cs typeface="楷体_GB2312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b="1">
          <a:solidFill>
            <a:srgbClr val="000099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b="1">
          <a:solidFill>
            <a:srgbClr val="000099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b="1">
          <a:solidFill>
            <a:srgbClr val="000099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b="1">
          <a:solidFill>
            <a:srgbClr val="000099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标题 1"/>
          <p:cNvSpPr>
            <a:spLocks noGrp="1"/>
          </p:cNvSpPr>
          <p:nvPr>
            <p:ph type="ctrTitle"/>
          </p:nvPr>
        </p:nvSpPr>
        <p:spPr>
          <a:xfrm>
            <a:off x="609600" y="2209800"/>
            <a:ext cx="8229600" cy="1066800"/>
          </a:xfrm>
          <a:ln/>
        </p:spPr>
        <p:txBody>
          <a:bodyPr vert="horz" wrap="square" lIns="91440" tIns="45720" rIns="91440" bIns="45720" anchor="ctr" anchorCtr="0"/>
          <a:lstStyle/>
          <a:p>
            <a:pPr>
              <a:buClrTx/>
              <a:buSzTx/>
              <a:buFontTx/>
            </a:pPr>
            <a:r>
              <a:rPr lang="zh-CN" altLang="en-US" sz="4800">
                <a:latin typeface="微软雅黑" panose="020B0503020204020204" pitchFamily="34" charset="-122"/>
                <a:ea typeface="微软雅黑" panose="020B0503020204020204" pitchFamily="34" charset="-122"/>
                <a:cs typeface="楷体_GB2312"/>
              </a:rPr>
              <a:t>程序设计原理</a:t>
            </a:r>
          </a:p>
        </p:txBody>
      </p:sp>
      <p:sp>
        <p:nvSpPr>
          <p:cNvPr id="16387" name="文本框 1"/>
          <p:cNvSpPr txBox="1"/>
          <p:nvPr/>
        </p:nvSpPr>
        <p:spPr>
          <a:xfrm>
            <a:off x="3862632" y="3198813"/>
            <a:ext cx="1723549" cy="4616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继承与多态</a:t>
            </a:r>
            <a:endParaRPr lang="en-US" altLang="zh-CN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855D43A-5F6A-F739-4EE4-EF748EE6A1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4267200"/>
            <a:ext cx="3657600" cy="193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33CC"/>
              </a:buClr>
              <a:buFont typeface="Wingdings" pitchFamily="2" charset="2"/>
              <a:buChar char="Ø"/>
              <a:defRPr sz="28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l"/>
              <a:defRPr sz="28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chemeClr val="tx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任课教师： 喻  梅</a:t>
            </a:r>
            <a:endParaRPr lang="en-US" altLang="zh-CN" sz="2400">
              <a:solidFill>
                <a:schemeClr val="tx1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solidFill>
                  <a:schemeClr val="tx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	</a:t>
            </a:r>
            <a:r>
              <a:rPr lang="zh-CN" altLang="en-US" sz="2400">
                <a:solidFill>
                  <a:schemeClr val="tx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    于瑞国</a:t>
            </a:r>
            <a:endParaRPr lang="en-US" altLang="zh-CN" sz="2400">
              <a:solidFill>
                <a:schemeClr val="tx1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solidFill>
                  <a:schemeClr val="tx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	</a:t>
            </a:r>
            <a:r>
              <a:rPr lang="zh-CN" altLang="en-US" sz="2400">
                <a:solidFill>
                  <a:schemeClr val="tx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    王建荣</a:t>
            </a:r>
            <a:endParaRPr lang="en-US" altLang="zh-CN" sz="2400">
              <a:solidFill>
                <a:schemeClr val="tx1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solidFill>
                  <a:schemeClr val="tx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	</a:t>
            </a:r>
            <a:r>
              <a:rPr lang="zh-CN" altLang="en-US" sz="2400">
                <a:solidFill>
                  <a:schemeClr val="tx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    李雪威</a:t>
            </a:r>
            <a:endParaRPr lang="en-US" altLang="zh-CN" sz="2400">
              <a:solidFill>
                <a:schemeClr val="tx1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solidFill>
                  <a:schemeClr val="tx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	</a:t>
            </a:r>
            <a:r>
              <a:rPr lang="zh-CN" altLang="en-US" sz="2400">
                <a:solidFill>
                  <a:schemeClr val="tx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    赵满坤</a:t>
            </a:r>
            <a:endParaRPr lang="en-US" altLang="zh-CN" sz="2400">
              <a:solidFill>
                <a:schemeClr val="tx1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3" name="Rectangle 2"/>
          <p:cNvSpPr>
            <a:spLocks noGrp="1"/>
          </p:cNvSpPr>
          <p:nvPr>
            <p:ph type="title"/>
          </p:nvPr>
        </p:nvSpPr>
        <p:spPr>
          <a:xfrm>
            <a:off x="876300" y="457200"/>
            <a:ext cx="8267700" cy="381000"/>
          </a:xfrm>
          <a:ln/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4000">
                <a:sym typeface="+mn-ea"/>
              </a:rPr>
              <a:t>review</a:t>
            </a:r>
            <a:endParaRPr lang="en-US" altLang="zh-CN" sz="4000">
              <a:ea typeface="宋体" panose="02010600030101010101" pitchFamily="2" charset="-122"/>
            </a:endParaRPr>
          </a:p>
        </p:txBody>
      </p:sp>
      <p:sp>
        <p:nvSpPr>
          <p:cNvPr id="125955" name="灯片编号占位符 4"/>
          <p:cNvSpPr txBox="1">
            <a:spLocks noGrp="1"/>
          </p:cNvSpPr>
          <p:nvPr>
            <p:ph type="sldNum" sz="quarter" idx="4"/>
          </p:nvPr>
        </p:nvSpPr>
        <p:spPr>
          <a:ln/>
        </p:spPr>
        <p:txBody>
          <a:bodyPr/>
          <a:lstStyle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  <a:t>2</a:t>
            </a:fld>
            <a:endParaRPr lang="en-US" altLang="zh-CN" sz="1600" b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28599" y="972356"/>
            <a:ext cx="369616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Useful Array Functions:</a:t>
            </a:r>
          </a:p>
          <a:p>
            <a:endParaRPr lang="zh-CN" alt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28598" y="2694057"/>
            <a:ext cx="369616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Dynamic Persistent Memory Allocation:</a:t>
            </a:r>
          </a:p>
        </p:txBody>
      </p:sp>
      <p:sp>
        <p:nvSpPr>
          <p:cNvPr id="16" name="矩形 15"/>
          <p:cNvSpPr/>
          <p:nvPr/>
        </p:nvSpPr>
        <p:spPr>
          <a:xfrm>
            <a:off x="270463" y="1350857"/>
            <a:ext cx="4533315" cy="380480"/>
          </a:xfrm>
          <a:prstGeom prst="rect">
            <a:avLst/>
          </a:prstGeom>
          <a:noFill/>
          <a:ln w="19050">
            <a:noFill/>
          </a:ln>
        </p:spPr>
        <p:txBody>
          <a:bodyPr wrap="square" tIns="36000" rIns="0" bIns="36000">
            <a:spAutoFit/>
          </a:bodyPr>
          <a:lstStyle/>
          <a:p>
            <a:pPr>
              <a:defRPr/>
            </a:pPr>
            <a:r>
              <a:rPr lang="en-US" altLang="zh-CN" sz="2000" dirty="0">
                <a:solidFill>
                  <a:srgbClr val="FF3399"/>
                </a:solidFill>
                <a:latin typeface="Consolas" panose="020B0609020204030204" pitchFamily="49" charset="0"/>
                <a:ea typeface="楷体_GB2312" pitchFamily="49" charset="-122"/>
                <a:cs typeface="Arial" panose="020B0604020202020204" pitchFamily="34" charset="0"/>
              </a:rPr>
              <a:t>#include</a:t>
            </a:r>
            <a:r>
              <a:rPr lang="en-US" altLang="zh-CN" sz="2000" dirty="0">
                <a:latin typeface="Consolas" panose="020B0609020204030204" pitchFamily="49" charset="0"/>
                <a:ea typeface="楷体_GB2312" pitchFamily="49" charset="-122"/>
                <a:cs typeface="Arial" panose="020B0604020202020204" pitchFamily="34" charset="0"/>
              </a:rPr>
              <a:t> </a:t>
            </a:r>
            <a:r>
              <a:rPr lang="en-US" altLang="zh-CN" sz="2000" dirty="0">
                <a:solidFill>
                  <a:srgbClr val="D29818"/>
                </a:solidFill>
                <a:latin typeface="Consolas" panose="020B0609020204030204" pitchFamily="49" charset="0"/>
                <a:ea typeface="楷体_GB2312" pitchFamily="49" charset="-122"/>
                <a:cs typeface="Arial" panose="020B0604020202020204" pitchFamily="34" charset="0"/>
              </a:rPr>
              <a:t>&lt;algorithm&gt;</a:t>
            </a:r>
          </a:p>
        </p:txBody>
      </p:sp>
      <p:sp>
        <p:nvSpPr>
          <p:cNvPr id="17" name="矩形 16"/>
          <p:cNvSpPr/>
          <p:nvPr/>
        </p:nvSpPr>
        <p:spPr>
          <a:xfrm>
            <a:off x="263279" y="1615062"/>
            <a:ext cx="2256256" cy="380480"/>
          </a:xfrm>
          <a:prstGeom prst="rect">
            <a:avLst/>
          </a:prstGeom>
          <a:noFill/>
          <a:ln w="19050">
            <a:noFill/>
          </a:ln>
        </p:spPr>
        <p:txBody>
          <a:bodyPr wrap="square" tIns="36000" rIns="0" bIns="36000">
            <a:spAutoFit/>
          </a:bodyPr>
          <a:lstStyle/>
          <a:p>
            <a:pPr>
              <a:defRPr/>
            </a:pPr>
            <a:r>
              <a:rPr lang="en-US" altLang="zh-CN" sz="2000" dirty="0">
                <a:solidFill>
                  <a:srgbClr val="00B050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// [first, last)</a:t>
            </a:r>
          </a:p>
        </p:txBody>
      </p:sp>
      <p:sp>
        <p:nvSpPr>
          <p:cNvPr id="4" name="矩形 3"/>
          <p:cNvSpPr/>
          <p:nvPr/>
        </p:nvSpPr>
        <p:spPr>
          <a:xfrm>
            <a:off x="257417" y="1989925"/>
            <a:ext cx="394947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800" dirty="0" err="1">
                <a:solidFill>
                  <a:srgbClr val="0070C0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min_element</a:t>
            </a:r>
            <a:r>
              <a:rPr lang="en-US" altLang="zh-CN" sz="180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, </a:t>
            </a:r>
            <a:r>
              <a:rPr lang="en-US" altLang="zh-CN" sz="1800" dirty="0" err="1">
                <a:solidFill>
                  <a:srgbClr val="0070C0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max_element</a:t>
            </a:r>
            <a:r>
              <a:rPr lang="en-US" altLang="zh-CN" sz="180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, </a:t>
            </a:r>
            <a:r>
              <a:rPr lang="en-US" altLang="zh-CN" sz="1800" dirty="0">
                <a:solidFill>
                  <a:srgbClr val="0070C0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sort</a:t>
            </a:r>
            <a:r>
              <a:rPr lang="en-US" altLang="zh-CN" sz="180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, </a:t>
            </a:r>
            <a:r>
              <a:rPr lang="en-US" altLang="zh-CN" sz="1800" dirty="0" err="1">
                <a:solidFill>
                  <a:srgbClr val="0070C0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random_shuffle</a:t>
            </a:r>
            <a:r>
              <a:rPr lang="en-US" altLang="zh-CN" sz="1800" dirty="0">
                <a:solidFill>
                  <a:srgbClr val="0070C0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,</a:t>
            </a:r>
            <a:r>
              <a:rPr lang="en-US" altLang="zh-CN" sz="180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 and </a:t>
            </a:r>
            <a:r>
              <a:rPr lang="en-US" altLang="zh-CN" sz="1800" dirty="0">
                <a:solidFill>
                  <a:srgbClr val="0070C0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find</a:t>
            </a:r>
            <a:r>
              <a:rPr lang="en-US" altLang="zh-CN" sz="180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 </a:t>
            </a:r>
            <a:endParaRPr lang="zh-CN" altLang="en-US" sz="1800" dirty="0"/>
          </a:p>
        </p:txBody>
      </p:sp>
      <p:sp>
        <p:nvSpPr>
          <p:cNvPr id="18" name="矩形 17"/>
          <p:cNvSpPr/>
          <p:nvPr/>
        </p:nvSpPr>
        <p:spPr>
          <a:xfrm>
            <a:off x="309668" y="4202828"/>
            <a:ext cx="3534019" cy="1180699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</p:spPr>
        <p:txBody>
          <a:bodyPr wrap="square" tIns="36000" rIns="0" bIns="36000">
            <a:spAutoFit/>
          </a:bodyPr>
          <a:lstStyle/>
          <a:p>
            <a:pPr>
              <a:defRPr/>
            </a:pPr>
            <a:r>
              <a:rPr lang="en-US" altLang="zh-CN" sz="1800" dirty="0" err="1">
                <a:solidFill>
                  <a:srgbClr val="0070C0"/>
                </a:solidFill>
                <a:latin typeface="Consolas" panose="020B0609020204030204" pitchFamily="49" charset="0"/>
                <a:ea typeface="楷体_GB2312" pitchFamily="49" charset="-122"/>
              </a:rPr>
              <a:t>int</a:t>
            </a:r>
            <a:r>
              <a:rPr lang="en-US" altLang="zh-CN" sz="1800" dirty="0">
                <a:latin typeface="Consolas" panose="020B0609020204030204" pitchFamily="49" charset="0"/>
                <a:ea typeface="楷体_GB2312" pitchFamily="49" charset="-122"/>
              </a:rPr>
              <a:t>* pointer = </a:t>
            </a:r>
            <a:r>
              <a:rPr lang="en-US" altLang="zh-CN" sz="1800" dirty="0">
                <a:solidFill>
                  <a:srgbClr val="FF3399"/>
                </a:solidFill>
                <a:latin typeface="Consolas" panose="020B0609020204030204" pitchFamily="49" charset="0"/>
                <a:ea typeface="楷体_GB2312" pitchFamily="49" charset="-122"/>
              </a:rPr>
              <a:t>new</a:t>
            </a:r>
            <a:r>
              <a:rPr lang="en-US" altLang="zh-CN" sz="1800" dirty="0">
                <a:latin typeface="Consolas" panose="020B0609020204030204" pitchFamily="49" charset="0"/>
                <a:ea typeface="楷体_GB2312" pitchFamily="49" charset="-122"/>
              </a:rPr>
              <a:t> </a:t>
            </a:r>
            <a:r>
              <a:rPr lang="en-US" altLang="zh-CN" sz="1800" dirty="0" err="1">
                <a:solidFill>
                  <a:srgbClr val="0070C0"/>
                </a:solidFill>
                <a:latin typeface="Consolas" panose="020B0609020204030204" pitchFamily="49" charset="0"/>
                <a:ea typeface="楷体_GB2312" pitchFamily="49" charset="-122"/>
              </a:rPr>
              <a:t>int</a:t>
            </a:r>
            <a:r>
              <a:rPr lang="en-US" altLang="zh-CN" sz="1800" dirty="0">
                <a:latin typeface="Consolas" panose="020B0609020204030204" pitchFamily="49" charset="0"/>
                <a:ea typeface="楷体_GB2312" pitchFamily="49" charset="-122"/>
              </a:rPr>
              <a:t>(</a:t>
            </a:r>
            <a:r>
              <a:rPr lang="en-US" altLang="zh-CN" sz="1800" dirty="0">
                <a:solidFill>
                  <a:srgbClr val="9966FF"/>
                </a:solidFill>
                <a:latin typeface="Consolas" panose="020B0609020204030204" pitchFamily="49" charset="0"/>
                <a:ea typeface="楷体_GB2312" pitchFamily="49" charset="-122"/>
              </a:rPr>
              <a:t>8</a:t>
            </a:r>
            <a:r>
              <a:rPr lang="en-US" altLang="zh-CN" sz="1800" dirty="0">
                <a:latin typeface="Consolas" panose="020B0609020204030204" pitchFamily="49" charset="0"/>
                <a:ea typeface="楷体_GB2312" pitchFamily="49" charset="-122"/>
              </a:rPr>
              <a:t>); </a:t>
            </a:r>
            <a:endParaRPr lang="en-US" altLang="zh-CN" sz="1800" dirty="0">
              <a:solidFill>
                <a:schemeClr val="tx1">
                  <a:lumMod val="50000"/>
                  <a:lumOff val="50000"/>
                </a:schemeClr>
              </a:solidFill>
              <a:latin typeface="Consolas" panose="020B0609020204030204" pitchFamily="49" charset="0"/>
              <a:ea typeface="楷体_GB2312" pitchFamily="49" charset="-122"/>
            </a:endParaRPr>
          </a:p>
          <a:p>
            <a:pPr>
              <a:defRPr/>
            </a:pPr>
            <a:r>
              <a:rPr lang="en-US" altLang="zh-CN" sz="1800" dirty="0" err="1">
                <a:solidFill>
                  <a:srgbClr val="0070C0"/>
                </a:solidFill>
                <a:latin typeface="Consolas" panose="020B0609020204030204" pitchFamily="49" charset="0"/>
                <a:ea typeface="楷体_GB2312" pitchFamily="49" charset="-122"/>
              </a:rPr>
              <a:t>int</a:t>
            </a:r>
            <a:r>
              <a:rPr lang="en-US" altLang="zh-CN" sz="1800" dirty="0">
                <a:latin typeface="Consolas" panose="020B0609020204030204" pitchFamily="49" charset="0"/>
                <a:ea typeface="楷体_GB2312" pitchFamily="49" charset="-122"/>
              </a:rPr>
              <a:t>* array = </a:t>
            </a:r>
            <a:r>
              <a:rPr lang="en-US" altLang="zh-CN" sz="1800" dirty="0">
                <a:solidFill>
                  <a:srgbClr val="FF3399"/>
                </a:solidFill>
                <a:latin typeface="Consolas" panose="020B0609020204030204" pitchFamily="49" charset="0"/>
                <a:ea typeface="楷体_GB2312" pitchFamily="49" charset="-122"/>
              </a:rPr>
              <a:t>new</a:t>
            </a:r>
            <a:r>
              <a:rPr lang="en-US" altLang="zh-CN" sz="1800" dirty="0">
                <a:latin typeface="Consolas" panose="020B0609020204030204" pitchFamily="49" charset="0"/>
                <a:ea typeface="楷体_GB2312" pitchFamily="49" charset="-122"/>
              </a:rPr>
              <a:t> </a:t>
            </a:r>
            <a:r>
              <a:rPr lang="en-US" altLang="zh-CN" sz="1800" dirty="0" err="1">
                <a:solidFill>
                  <a:srgbClr val="0070C0"/>
                </a:solidFill>
                <a:latin typeface="Consolas" panose="020B0609020204030204" pitchFamily="49" charset="0"/>
                <a:ea typeface="楷体_GB2312" pitchFamily="49" charset="-122"/>
              </a:rPr>
              <a:t>int</a:t>
            </a:r>
            <a:r>
              <a:rPr lang="en-US" altLang="zh-CN" sz="1800" dirty="0">
                <a:latin typeface="Consolas" panose="020B0609020204030204" pitchFamily="49" charset="0"/>
                <a:ea typeface="楷体_GB2312" pitchFamily="49" charset="-122"/>
              </a:rPr>
              <a:t>[</a:t>
            </a:r>
            <a:r>
              <a:rPr lang="en-US" altLang="zh-CN" sz="1800" dirty="0">
                <a:solidFill>
                  <a:srgbClr val="9966FF"/>
                </a:solidFill>
                <a:latin typeface="Consolas" panose="020B0609020204030204" pitchFamily="49" charset="0"/>
                <a:ea typeface="楷体_GB2312" pitchFamily="49" charset="-122"/>
              </a:rPr>
              <a:t>10</a:t>
            </a:r>
            <a:r>
              <a:rPr lang="en-US" altLang="zh-CN" sz="1800" dirty="0">
                <a:latin typeface="Consolas" panose="020B0609020204030204" pitchFamily="49" charset="0"/>
                <a:ea typeface="楷体_GB2312" pitchFamily="49" charset="-122"/>
              </a:rPr>
              <a:t>]; </a:t>
            </a:r>
            <a:endParaRPr lang="en-US" altLang="zh-CN" sz="1800" dirty="0">
              <a:solidFill>
                <a:schemeClr val="tx1">
                  <a:lumMod val="50000"/>
                  <a:lumOff val="50000"/>
                </a:schemeClr>
              </a:solidFill>
              <a:latin typeface="Consolas" panose="020B0609020204030204" pitchFamily="49" charset="0"/>
              <a:ea typeface="楷体_GB2312" pitchFamily="49" charset="-122"/>
            </a:endParaRPr>
          </a:p>
          <a:p>
            <a:pPr>
              <a:defRPr/>
            </a:pPr>
            <a:r>
              <a:rPr lang="en-US" altLang="zh-CN" sz="1800" dirty="0">
                <a:solidFill>
                  <a:srgbClr val="FF3399"/>
                </a:solidFill>
                <a:latin typeface="Consolas" panose="020B0609020204030204" pitchFamily="49" charset="0"/>
                <a:ea typeface="楷体_GB2312" pitchFamily="49" charset="-122"/>
              </a:rPr>
              <a:t>delete</a:t>
            </a:r>
            <a:r>
              <a:rPr lang="en-US" altLang="zh-CN" sz="1800" dirty="0">
                <a:latin typeface="Consolas" panose="020B0609020204030204" pitchFamily="49" charset="0"/>
                <a:ea typeface="楷体_GB2312" pitchFamily="49" charset="-122"/>
              </a:rPr>
              <a:t> pointer; </a:t>
            </a:r>
          </a:p>
          <a:p>
            <a:pPr>
              <a:defRPr/>
            </a:pPr>
            <a:r>
              <a:rPr lang="en-US" altLang="zh-CN" sz="1800" dirty="0">
                <a:solidFill>
                  <a:srgbClr val="FF3399"/>
                </a:solidFill>
                <a:latin typeface="Consolas" panose="020B0609020204030204" pitchFamily="49" charset="0"/>
                <a:ea typeface="楷体_GB2312" pitchFamily="49" charset="-122"/>
              </a:rPr>
              <a:t>delete []</a:t>
            </a:r>
            <a:r>
              <a:rPr lang="en-US" altLang="zh-CN" sz="1800" dirty="0">
                <a:latin typeface="Consolas" panose="020B0609020204030204" pitchFamily="49" charset="0"/>
                <a:ea typeface="楷体_GB2312" pitchFamily="49" charset="-122"/>
              </a:rPr>
              <a:t> array; </a:t>
            </a:r>
            <a:endParaRPr lang="en-US" altLang="zh-CN" sz="1800" dirty="0">
              <a:solidFill>
                <a:schemeClr val="tx1">
                  <a:lumMod val="50000"/>
                  <a:lumOff val="50000"/>
                </a:schemeClr>
              </a:solidFill>
              <a:latin typeface="Consolas" panose="020B0609020204030204" pitchFamily="49" charset="0"/>
              <a:ea typeface="楷体_GB2312" pitchFamily="49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309668" y="3493930"/>
            <a:ext cx="3534019" cy="400110"/>
          </a:xfrm>
          <a:prstGeom prst="rect">
            <a:avLst/>
          </a:prstGeom>
          <a:solidFill>
            <a:srgbClr val="00B0F0">
              <a:alpha val="20000"/>
            </a:srgbClr>
          </a:solidFill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altLang="zh-CN" sz="2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new</a:t>
            </a:r>
            <a:r>
              <a:rPr lang="en-US" altLang="zh-CN" sz="2000" dirty="0">
                <a:solidFill>
                  <a:srgbClr val="FF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en-US" altLang="zh-CN" sz="2000" dirty="0">
                <a:solidFill>
                  <a:srgbClr val="FF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delete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 operator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310905" y="5656634"/>
            <a:ext cx="4413495" cy="349702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</p:spPr>
        <p:txBody>
          <a:bodyPr wrap="square" tIns="36000" rIns="0" bIns="36000">
            <a:spAutoFit/>
          </a:bodyPr>
          <a:lstStyle/>
          <a:p>
            <a:pPr>
              <a:defRPr/>
            </a:pPr>
            <a:r>
              <a:rPr lang="en-US" altLang="zh-CN" sz="1800" dirty="0">
                <a:latin typeface="Consolas" panose="020B0609020204030204" pitchFamily="49" charset="0"/>
                <a:ea typeface="楷体_GB2312" pitchFamily="49" charset="-122"/>
                <a:cs typeface="+mn-cs"/>
              </a:rPr>
              <a:t>string* p = </a:t>
            </a:r>
            <a:r>
              <a:rPr lang="en-US" altLang="zh-CN" sz="1800" dirty="0">
                <a:solidFill>
                  <a:srgbClr val="FF3399"/>
                </a:solidFill>
                <a:latin typeface="Consolas" panose="020B0609020204030204" pitchFamily="49" charset="0"/>
                <a:ea typeface="楷体_GB2312" pitchFamily="49" charset="-122"/>
                <a:cs typeface="+mn-cs"/>
              </a:rPr>
              <a:t>new</a:t>
            </a:r>
            <a:r>
              <a:rPr lang="en-US" altLang="zh-CN" sz="1800" dirty="0">
                <a:latin typeface="Consolas" panose="020B0609020204030204" pitchFamily="49" charset="0"/>
                <a:ea typeface="楷体_GB2312" pitchFamily="49" charset="-122"/>
                <a:cs typeface="+mn-cs"/>
              </a:rPr>
              <a:t> string(</a:t>
            </a:r>
            <a:r>
              <a:rPr lang="en-US" altLang="zh-CN" sz="1800" dirty="0">
                <a:solidFill>
                  <a:srgbClr val="D29818"/>
                </a:solidFill>
                <a:latin typeface="Consolas" panose="020B0609020204030204" pitchFamily="49" charset="0"/>
                <a:ea typeface="楷体_GB2312" pitchFamily="49" charset="-122"/>
                <a:cs typeface="+mn-cs"/>
              </a:rPr>
              <a:t>"</a:t>
            </a:r>
            <a:r>
              <a:rPr lang="en-US" altLang="zh-CN" sz="1800" dirty="0" err="1">
                <a:solidFill>
                  <a:srgbClr val="D29818"/>
                </a:solidFill>
                <a:latin typeface="Consolas" panose="020B0609020204030204" pitchFamily="49" charset="0"/>
                <a:ea typeface="楷体_GB2312" pitchFamily="49" charset="-122"/>
                <a:cs typeface="+mn-cs"/>
              </a:rPr>
              <a:t>abcdefg</a:t>
            </a:r>
            <a:r>
              <a:rPr lang="en-US" altLang="zh-CN" sz="1800" dirty="0">
                <a:solidFill>
                  <a:srgbClr val="D29818"/>
                </a:solidFill>
                <a:latin typeface="Consolas" panose="020B0609020204030204" pitchFamily="49" charset="0"/>
                <a:ea typeface="楷体_GB2312" pitchFamily="49" charset="-122"/>
                <a:cs typeface="+mn-cs"/>
              </a:rPr>
              <a:t>"</a:t>
            </a:r>
            <a:r>
              <a:rPr lang="en-US" altLang="zh-CN" sz="1800" dirty="0">
                <a:latin typeface="Consolas" panose="020B0609020204030204" pitchFamily="49" charset="0"/>
                <a:ea typeface="楷体_GB2312" pitchFamily="49" charset="-122"/>
                <a:cs typeface="+mn-cs"/>
              </a:rPr>
              <a:t>);</a:t>
            </a:r>
          </a:p>
        </p:txBody>
      </p:sp>
      <p:sp>
        <p:nvSpPr>
          <p:cNvPr id="21" name="矩形 20"/>
          <p:cNvSpPr/>
          <p:nvPr/>
        </p:nvSpPr>
        <p:spPr>
          <a:xfrm>
            <a:off x="4924969" y="959974"/>
            <a:ext cx="36961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</a:t>
            </a: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 Pointer:</a:t>
            </a:r>
          </a:p>
        </p:txBody>
      </p:sp>
      <p:sp>
        <p:nvSpPr>
          <p:cNvPr id="22" name="矩形 21"/>
          <p:cNvSpPr/>
          <p:nvPr/>
        </p:nvSpPr>
        <p:spPr>
          <a:xfrm>
            <a:off x="4924969" y="2192286"/>
            <a:ext cx="36961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Destructors:</a:t>
            </a:r>
          </a:p>
        </p:txBody>
      </p:sp>
      <p:sp>
        <p:nvSpPr>
          <p:cNvPr id="23" name="矩形 22"/>
          <p:cNvSpPr/>
          <p:nvPr/>
        </p:nvSpPr>
        <p:spPr>
          <a:xfrm>
            <a:off x="5189169" y="2732256"/>
            <a:ext cx="1944430" cy="1734697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</p:spPr>
        <p:txBody>
          <a:bodyPr wrap="square" tIns="36000" rIns="0" bIns="36000">
            <a:spAutoFit/>
          </a:bodyPr>
          <a:lstStyle/>
          <a:p>
            <a:pPr>
              <a:defRPr/>
            </a:pPr>
            <a:r>
              <a:rPr lang="en-US" altLang="zh-CN" sz="1800" dirty="0">
                <a:solidFill>
                  <a:srgbClr val="0070C0"/>
                </a:solidFill>
                <a:latin typeface="Consolas" panose="020B0609020204030204" pitchFamily="49" charset="0"/>
                <a:ea typeface="楷体_GB2312" pitchFamily="49" charset="-122"/>
              </a:rPr>
              <a:t>class</a:t>
            </a:r>
            <a:r>
              <a:rPr lang="en-US" altLang="zh-CN" sz="1800" dirty="0">
                <a:latin typeface="Consolas" panose="020B0609020204030204" pitchFamily="49" charset="0"/>
                <a:ea typeface="楷体_GB2312" pitchFamily="49" charset="-122"/>
              </a:rPr>
              <a:t> </a:t>
            </a:r>
            <a:r>
              <a:rPr lang="en-US" altLang="zh-CN" sz="1800" dirty="0">
                <a:solidFill>
                  <a:srgbClr val="00B050"/>
                </a:solidFill>
                <a:latin typeface="Consolas" panose="020B0609020204030204" pitchFamily="49" charset="0"/>
                <a:ea typeface="楷体_GB2312" pitchFamily="49" charset="-122"/>
              </a:rPr>
              <a:t>Circle</a:t>
            </a:r>
            <a:r>
              <a:rPr lang="en-US" altLang="zh-CN" sz="1800" dirty="0">
                <a:latin typeface="Consolas" panose="020B0609020204030204" pitchFamily="49" charset="0"/>
                <a:ea typeface="楷体_GB2312" pitchFamily="49" charset="-122"/>
              </a:rPr>
              <a:t>{</a:t>
            </a:r>
          </a:p>
          <a:p>
            <a:pPr>
              <a:defRPr/>
            </a:pPr>
            <a:r>
              <a:rPr lang="en-US" altLang="zh-CN" sz="1800" dirty="0">
                <a:solidFill>
                  <a:srgbClr val="FF3399"/>
                </a:solidFill>
                <a:latin typeface="Consolas" panose="020B0609020204030204" pitchFamily="49" charset="0"/>
                <a:ea typeface="楷体_GB2312" pitchFamily="49" charset="-122"/>
              </a:rPr>
              <a:t>public</a:t>
            </a:r>
            <a:r>
              <a:rPr lang="en-US" altLang="zh-CN" sz="1800" dirty="0">
                <a:latin typeface="Consolas" panose="020B0609020204030204" pitchFamily="49" charset="0"/>
                <a:ea typeface="楷体_GB2312" pitchFamily="49" charset="-122"/>
              </a:rPr>
              <a:t>:</a:t>
            </a:r>
          </a:p>
          <a:p>
            <a:pPr>
              <a:defRPr/>
            </a:pPr>
            <a:r>
              <a:rPr lang="en-US" altLang="zh-CN" sz="1800" dirty="0">
                <a:latin typeface="Consolas" panose="020B0609020204030204" pitchFamily="49" charset="0"/>
                <a:ea typeface="楷体_GB2312" pitchFamily="49" charset="-122"/>
              </a:rPr>
              <a:t>    …</a:t>
            </a:r>
          </a:p>
          <a:p>
            <a:pPr>
              <a:defRPr/>
            </a:pPr>
            <a:r>
              <a:rPr lang="en-US" altLang="zh-CN" sz="1800" dirty="0">
                <a:latin typeface="Consolas" panose="020B0609020204030204" pitchFamily="49" charset="0"/>
                <a:ea typeface="楷体_GB2312" pitchFamily="49" charset="-122"/>
              </a:rPr>
              <a:t>    </a:t>
            </a:r>
            <a:r>
              <a:rPr lang="en-US" altLang="zh-CN" sz="1800" dirty="0">
                <a:solidFill>
                  <a:srgbClr val="00B050"/>
                </a:solidFill>
                <a:latin typeface="Consolas" panose="020B0609020204030204" pitchFamily="49" charset="0"/>
                <a:ea typeface="楷体_GB2312" pitchFamily="49" charset="-122"/>
              </a:rPr>
              <a:t>~Circle</a:t>
            </a:r>
            <a:r>
              <a:rPr lang="en-US" altLang="zh-CN" sz="1800" dirty="0">
                <a:latin typeface="Consolas" panose="020B0609020204030204" pitchFamily="49" charset="0"/>
                <a:ea typeface="楷体_GB2312" pitchFamily="49" charset="-122"/>
              </a:rPr>
              <a:t>();</a:t>
            </a:r>
          </a:p>
          <a:p>
            <a:pPr>
              <a:defRPr/>
            </a:pPr>
            <a:r>
              <a:rPr lang="en-US" altLang="zh-CN" sz="1800" dirty="0">
                <a:latin typeface="Consolas" panose="020B0609020204030204" pitchFamily="49" charset="0"/>
                <a:ea typeface="楷体_GB2312" pitchFamily="49" charset="-122"/>
                <a:cs typeface="+mn-cs"/>
              </a:rPr>
              <a:t>    …</a:t>
            </a:r>
          </a:p>
          <a:p>
            <a:pPr>
              <a:defRPr/>
            </a:pPr>
            <a:r>
              <a:rPr lang="en-US" altLang="zh-CN" sz="1800" dirty="0">
                <a:latin typeface="Consolas" panose="020B0609020204030204" pitchFamily="49" charset="0"/>
                <a:ea typeface="楷体_GB2312" pitchFamily="49" charset="-122"/>
                <a:cs typeface="+mn-cs"/>
              </a:rPr>
              <a:t>}</a:t>
            </a:r>
          </a:p>
        </p:txBody>
      </p:sp>
      <p:sp>
        <p:nvSpPr>
          <p:cNvPr id="24" name="矩形 23"/>
          <p:cNvSpPr/>
          <p:nvPr/>
        </p:nvSpPr>
        <p:spPr>
          <a:xfrm>
            <a:off x="4924969" y="4546399"/>
            <a:ext cx="36961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Copy Constructors:</a:t>
            </a:r>
          </a:p>
        </p:txBody>
      </p:sp>
      <p:sp>
        <p:nvSpPr>
          <p:cNvPr id="25" name="矩形 24"/>
          <p:cNvSpPr/>
          <p:nvPr/>
        </p:nvSpPr>
        <p:spPr>
          <a:xfrm>
            <a:off x="5189169" y="5105400"/>
            <a:ext cx="3294431" cy="349702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</p:spPr>
        <p:txBody>
          <a:bodyPr wrap="square" tIns="36000" rIns="0" bIns="36000">
            <a:spAutoFit/>
          </a:bodyPr>
          <a:lstStyle/>
          <a:p>
            <a:pPr>
              <a:defRPr/>
            </a:pPr>
            <a:r>
              <a:rPr lang="en-US" altLang="zh-CN" sz="1800" dirty="0">
                <a:solidFill>
                  <a:srgbClr val="00B050"/>
                </a:solidFill>
                <a:latin typeface="Consolas" panose="020B0609020204030204" pitchFamily="49" charset="0"/>
                <a:ea typeface="楷体_GB2312" pitchFamily="49" charset="-122"/>
              </a:rPr>
              <a:t>Circle</a:t>
            </a:r>
            <a:r>
              <a:rPr lang="en-US" altLang="zh-CN" sz="1800" dirty="0">
                <a:latin typeface="Consolas" panose="020B0609020204030204" pitchFamily="49" charset="0"/>
                <a:ea typeface="楷体_GB2312" pitchFamily="49" charset="-122"/>
              </a:rPr>
              <a:t>(</a:t>
            </a:r>
            <a:r>
              <a:rPr lang="en-US" altLang="zh-CN" sz="1800" dirty="0" err="1">
                <a:solidFill>
                  <a:srgbClr val="FF3399"/>
                </a:solidFill>
                <a:latin typeface="Consolas" panose="020B0609020204030204" pitchFamily="49" charset="0"/>
                <a:ea typeface="楷体_GB2312" pitchFamily="49" charset="-122"/>
              </a:rPr>
              <a:t>const</a:t>
            </a:r>
            <a:r>
              <a:rPr lang="en-US" altLang="zh-CN" sz="1800" dirty="0">
                <a:latin typeface="Consolas" panose="020B0609020204030204" pitchFamily="49" charset="0"/>
                <a:ea typeface="楷体_GB2312" pitchFamily="49" charset="-122"/>
              </a:rPr>
              <a:t> Circle&amp;);</a:t>
            </a:r>
            <a:endParaRPr lang="en-US" altLang="zh-CN" sz="1800" dirty="0">
              <a:solidFill>
                <a:schemeClr val="tx1">
                  <a:lumMod val="50000"/>
                  <a:lumOff val="50000"/>
                </a:schemeClr>
              </a:solidFill>
              <a:latin typeface="Consolas" panose="020B0609020204030204" pitchFamily="49" charset="0"/>
              <a:ea typeface="楷体_GB2312" pitchFamily="49" charset="-122"/>
              <a:cs typeface="+mn-cs"/>
            </a:endParaRP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3" name="Rectangle 2"/>
          <p:cNvSpPr>
            <a:spLocks noGrp="1"/>
          </p:cNvSpPr>
          <p:nvPr>
            <p:ph type="title"/>
          </p:nvPr>
        </p:nvSpPr>
        <p:spPr>
          <a:xfrm>
            <a:off x="876300" y="457200"/>
            <a:ext cx="8267700" cy="381000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4000">
                <a:ea typeface="宋体" panose="02010600030101010101" pitchFamily="2" charset="-122"/>
              </a:rPr>
              <a:t>Objectives</a:t>
            </a:r>
          </a:p>
        </p:txBody>
      </p:sp>
      <p:sp>
        <p:nvSpPr>
          <p:cNvPr id="125955" name="灯片编号占位符 4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  <a:t>3</a:t>
            </a:fld>
            <a:endParaRPr lang="en-US" altLang="zh-CN" sz="1600" b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227745" y="1254125"/>
            <a:ext cx="8735280" cy="4385816"/>
          </a:xfrm>
          <a:prstGeom prst="rect">
            <a:avLst/>
          </a:prstGeom>
          <a:solidFill>
            <a:schemeClr val="bg1">
              <a:alpha val="0"/>
            </a:schemeClr>
          </a:solidFill>
        </p:spPr>
        <p:txBody>
          <a:bodyPr wrap="square" lIns="0" tIns="0" rIns="0" bIns="0">
            <a:spAutoFit/>
          </a:bodyPr>
          <a:lstStyle/>
          <a:p>
            <a:pPr marL="514350" lvl="1" indent="-514350" eaLnBrk="1" fontAlgn="auto" hangingPunct="1"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lang="en-US" altLang="zh-CN" sz="2000" b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To define a derived class from a base class through inheritance.</a:t>
            </a:r>
          </a:p>
          <a:p>
            <a:pPr marL="514350" lvl="1" indent="-514350" eaLnBrk="1" fontAlgn="auto" hangingPunct="1"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lang="en-US" altLang="zh-CN" sz="2000" b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To enable generic programming by passing objects of a derived type to a parameter of a base class type.</a:t>
            </a:r>
          </a:p>
          <a:p>
            <a:pPr marL="514350" lvl="1" indent="-514350" eaLnBrk="1" fontAlgn="auto" hangingPunct="1"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lang="en-US" altLang="zh-CN" sz="2000" b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To know how to invoke the base class’s constructors with arguments.</a:t>
            </a:r>
          </a:p>
          <a:p>
            <a:pPr marL="514350" lvl="1" indent="-514350" eaLnBrk="1" fontAlgn="auto" hangingPunct="1"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lang="en-US" altLang="zh-CN" sz="2000" b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To understand constructor and destructor chaining.</a:t>
            </a:r>
          </a:p>
          <a:p>
            <a:pPr marL="514350" lvl="1" indent="-514350" eaLnBrk="1" fontAlgn="auto" hangingPunct="1"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lang="en-US" altLang="zh-CN" sz="2000" b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To redefine functions in the derived class.</a:t>
            </a:r>
          </a:p>
          <a:p>
            <a:pPr marL="514350" lvl="1" indent="-514350" eaLnBrk="1" fontAlgn="auto" hangingPunct="1"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lang="en-US" altLang="zh-CN" sz="2000" b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To define generic functions using polymorphism.</a:t>
            </a:r>
          </a:p>
          <a:p>
            <a:pPr marL="514350" lvl="1" indent="-514350" eaLnBrk="1" fontAlgn="auto" hangingPunct="1"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lang="en-US" altLang="zh-CN" sz="2000" b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To enable dynamic binding using virtual functions.</a:t>
            </a:r>
          </a:p>
          <a:p>
            <a:pPr marL="514350" lvl="1" indent="-514350" eaLnBrk="1" fontAlgn="auto" hangingPunct="1"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lang="en-US" altLang="zh-CN" sz="2000" b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To understand dynamic binding.</a:t>
            </a:r>
          </a:p>
          <a:p>
            <a:pPr marL="514350" lvl="1" indent="-514350" eaLnBrk="1" fontAlgn="auto" hangingPunct="1"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lang="en-US" altLang="zh-CN" sz="2000" b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To access protected members of a base class from derived classes.</a:t>
            </a:r>
          </a:p>
          <a:p>
            <a:pPr marL="514350" lvl="1" indent="-514350" eaLnBrk="1" fontAlgn="auto" hangingPunct="1"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lang="en-US" altLang="zh-CN" sz="2000" b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To define abstract classes with pure virtual functions.</a:t>
            </a: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3" name="Rectangle 2"/>
          <p:cNvSpPr>
            <a:spLocks noGrp="1"/>
          </p:cNvSpPr>
          <p:nvPr>
            <p:ph type="title"/>
          </p:nvPr>
        </p:nvSpPr>
        <p:spPr>
          <a:xfrm>
            <a:off x="876300" y="457200"/>
            <a:ext cx="8267700" cy="381000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4000">
                <a:sym typeface="+mn-ea"/>
              </a:rPr>
              <a:t>outline</a:t>
            </a:r>
            <a:endParaRPr lang="en-US" altLang="zh-CN" sz="4000">
              <a:ea typeface="宋体" panose="02010600030101010101" pitchFamily="2" charset="-122"/>
            </a:endParaRPr>
          </a:p>
        </p:txBody>
      </p:sp>
      <p:sp>
        <p:nvSpPr>
          <p:cNvPr id="125955" name="灯片编号占位符 4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  <a:t>4</a:t>
            </a:fld>
            <a:endParaRPr lang="en-US" altLang="zh-CN" sz="1600" b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457200" y="1200150"/>
            <a:ext cx="8382000" cy="2462213"/>
          </a:xfrm>
          <a:prstGeom prst="rect">
            <a:avLst/>
          </a:prstGeom>
          <a:solidFill>
            <a:schemeClr val="bg1">
              <a:alpha val="0"/>
            </a:schemeClr>
          </a:solidFill>
        </p:spPr>
        <p:txBody>
          <a:bodyPr lIns="0" tIns="0" rIns="0" bIns="0">
            <a:spAutoFit/>
          </a:bodyPr>
          <a:lstStyle/>
          <a:p>
            <a:pPr marL="514350" lvl="1" indent="-514350" eaLnBrk="1" fontAlgn="auto" hangingPunct="1"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Base Classes and Derived Classes</a:t>
            </a:r>
          </a:p>
          <a:p>
            <a:pPr marL="514350" lvl="1" indent="-514350" eaLnBrk="1" fontAlgn="auto" hangingPunct="1"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Constructors and Destructors</a:t>
            </a:r>
          </a:p>
          <a:p>
            <a:pPr marL="514350" lvl="1" indent="-514350" eaLnBrk="1" fontAlgn="auto" hangingPunct="1"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Redefining Functions and Polymorphism</a:t>
            </a:r>
          </a:p>
          <a:p>
            <a:pPr marL="514350" lvl="1" indent="-514350" eaLnBrk="1" fontAlgn="auto" hangingPunct="1"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Virtual functions and Dynamic Binding</a:t>
            </a:r>
          </a:p>
          <a:p>
            <a:pPr marL="514350" lvl="1" indent="-514350" eaLnBrk="1" fontAlgn="auto" hangingPunct="1"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Abstract Classes and Pure Virtual Functions</a:t>
            </a: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5" name="灯片编号占位符 4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  <a:t>5</a:t>
            </a:fld>
            <a:endParaRPr lang="en-US" altLang="zh-CN" sz="1600" b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381000" y="2133600"/>
            <a:ext cx="8288338" cy="2892333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altLang="zh-CN" sz="4400" b="0" dirty="0">
                <a:solidFill>
                  <a:schemeClr val="tx1"/>
                </a:solidFill>
              </a:rPr>
              <a:t>1. Base Classes and </a:t>
            </a:r>
            <a:br>
              <a:rPr lang="en-US" altLang="zh-CN" sz="4400" b="0" dirty="0">
                <a:solidFill>
                  <a:schemeClr val="tx1"/>
                </a:solidFill>
              </a:rPr>
            </a:br>
            <a:r>
              <a:rPr lang="en-US" altLang="zh-CN" sz="4400" b="0" dirty="0">
                <a:solidFill>
                  <a:schemeClr val="tx1"/>
                </a:solidFill>
              </a:rPr>
              <a:t>Derived Classes</a:t>
            </a:r>
          </a:p>
        </p:txBody>
      </p:sp>
      <p:sp>
        <p:nvSpPr>
          <p:cNvPr id="5" name="矩形 4"/>
          <p:cNvSpPr/>
          <p:nvPr/>
        </p:nvSpPr>
        <p:spPr>
          <a:xfrm>
            <a:off x="3243752" y="4114800"/>
            <a:ext cx="2656496" cy="58477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r>
              <a:rPr lang="zh-CN" altLang="en-US" sz="3200" b="1" dirty="0">
                <a:pattFill prst="pct90">
                  <a:fgClr>
                    <a:srgbClr val="6C0000"/>
                  </a:fgClr>
                  <a:bgClr>
                    <a:srgbClr val="FF1919"/>
                  </a:bgClr>
                </a:pattFill>
                <a:latin typeface="Arial" panose="020B0604020202020204" pitchFamily="34" charset="0"/>
                <a:ea typeface="仿宋" panose="02010609060101010101" pitchFamily="49" charset="-122"/>
                <a:cs typeface="Arial" panose="020B0604020202020204" pitchFamily="34" charset="0"/>
              </a:rPr>
              <a:t>基类和派生类</a:t>
            </a: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3" name="Rectangle 2"/>
          <p:cNvSpPr>
            <a:spLocks noGrp="1"/>
          </p:cNvSpPr>
          <p:nvPr>
            <p:ph type="title"/>
          </p:nvPr>
        </p:nvSpPr>
        <p:spPr>
          <a:xfrm>
            <a:off x="876300" y="457200"/>
            <a:ext cx="8267700" cy="381000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4000" dirty="0">
                <a:sym typeface="+mn-ea"/>
              </a:rPr>
              <a:t>introduction</a:t>
            </a:r>
            <a:endParaRPr lang="en-US" altLang="zh-CN" sz="4000">
              <a:ea typeface="宋体" panose="02010600030101010101" pitchFamily="2" charset="-122"/>
            </a:endParaRPr>
          </a:p>
        </p:txBody>
      </p:sp>
      <p:sp>
        <p:nvSpPr>
          <p:cNvPr id="125955" name="灯片编号占位符 4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  <a:t>6</a:t>
            </a:fld>
            <a:endParaRPr lang="en-US" altLang="zh-CN" sz="1600" b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323056" y="2303032"/>
            <a:ext cx="8497888" cy="1796252"/>
          </a:xfrm>
          <a:prstGeom prst="rect">
            <a:avLst/>
          </a:prstGeom>
          <a:noFill/>
          <a:ln w="19050">
            <a:noFill/>
          </a:ln>
        </p:spPr>
        <p:txBody>
          <a:bodyPr wrap="square" tIns="36000" rIns="0" bIns="36000">
            <a:spAutoFit/>
          </a:bodyPr>
          <a:lstStyle/>
          <a:p>
            <a:pPr algn="ctr">
              <a:defRPr/>
            </a:pPr>
            <a:r>
              <a:rPr lang="en-US" altLang="zh-CN" sz="280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The three pillars of object-oriented programming are </a:t>
            </a:r>
          </a:p>
          <a:p>
            <a:pPr algn="ctr">
              <a:defRPr/>
            </a:pPr>
            <a:r>
              <a:rPr lang="en-US" altLang="zh-CN" sz="2800" b="1" dirty="0">
                <a:solidFill>
                  <a:srgbClr val="FF3399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Encapsulation (</a:t>
            </a:r>
            <a:r>
              <a:rPr lang="zh-CN" altLang="en-US" sz="2800" b="1" dirty="0">
                <a:solidFill>
                  <a:srgbClr val="FF3399"/>
                </a:solidFill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封装</a:t>
            </a:r>
            <a:r>
              <a:rPr lang="en-US" altLang="zh-CN" sz="2800" b="1" dirty="0">
                <a:solidFill>
                  <a:srgbClr val="FF3399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)</a:t>
            </a:r>
            <a:r>
              <a:rPr lang="en-US" altLang="zh-CN" sz="280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, </a:t>
            </a:r>
          </a:p>
          <a:p>
            <a:pPr algn="ctr">
              <a:defRPr/>
            </a:pPr>
            <a:r>
              <a:rPr lang="en-US" altLang="zh-CN" sz="2800" b="1" dirty="0">
                <a:solidFill>
                  <a:srgbClr val="00B050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Inheritance (</a:t>
            </a:r>
            <a:r>
              <a:rPr lang="zh-CN" altLang="en-US" sz="2800" b="1" dirty="0">
                <a:solidFill>
                  <a:srgbClr val="00B050"/>
                </a:solidFill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继承</a:t>
            </a:r>
            <a:r>
              <a:rPr lang="en-US" altLang="zh-CN" sz="2800" b="1" dirty="0">
                <a:solidFill>
                  <a:srgbClr val="00B050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)</a:t>
            </a:r>
            <a:r>
              <a:rPr lang="en-US" altLang="zh-CN" sz="280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, </a:t>
            </a:r>
          </a:p>
          <a:p>
            <a:pPr algn="ctr">
              <a:defRPr/>
            </a:pPr>
            <a:r>
              <a:rPr lang="en-US" altLang="zh-CN" sz="280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and </a:t>
            </a:r>
            <a:r>
              <a:rPr lang="en-US" altLang="zh-CN" sz="2800" b="1" dirty="0">
                <a:solidFill>
                  <a:srgbClr val="0070C0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polymorphism (</a:t>
            </a:r>
            <a:r>
              <a:rPr lang="zh-CN" altLang="en-US" sz="2800" b="1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多态</a:t>
            </a:r>
            <a:r>
              <a:rPr lang="en-US" altLang="zh-CN" sz="2800" b="1" dirty="0">
                <a:solidFill>
                  <a:srgbClr val="0070C0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)</a:t>
            </a:r>
            <a:r>
              <a:rPr lang="en-US" altLang="zh-CN" sz="280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3" name="Rectangle 2"/>
          <p:cNvSpPr>
            <a:spLocks noGrp="1"/>
          </p:cNvSpPr>
          <p:nvPr>
            <p:ph type="title"/>
          </p:nvPr>
        </p:nvSpPr>
        <p:spPr>
          <a:xfrm>
            <a:off x="876300" y="457200"/>
            <a:ext cx="8267700" cy="381000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4000">
                <a:sym typeface="+mn-ea"/>
              </a:rPr>
              <a:t>Base Classes and Derived Classes</a:t>
            </a:r>
            <a:endParaRPr lang="en-US" altLang="zh-CN" sz="4000">
              <a:ea typeface="宋体" panose="02010600030101010101" pitchFamily="2" charset="-122"/>
            </a:endParaRPr>
          </a:p>
        </p:txBody>
      </p:sp>
      <p:sp>
        <p:nvSpPr>
          <p:cNvPr id="125955" name="灯片编号占位符 4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  <a:t>7</a:t>
            </a:fld>
            <a:endParaRPr lang="en-US" altLang="zh-CN" sz="1600" b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331333" y="1029101"/>
            <a:ext cx="7562081" cy="1919363"/>
          </a:xfrm>
          <a:prstGeom prst="rect">
            <a:avLst/>
          </a:prstGeom>
          <a:noFill/>
          <a:ln w="19050">
            <a:noFill/>
          </a:ln>
        </p:spPr>
        <p:txBody>
          <a:bodyPr wrap="square" tIns="36000" rIns="0" bIns="36000">
            <a:spAutoFit/>
          </a:bodyPr>
          <a:lstStyle/>
          <a:p>
            <a:pPr>
              <a:defRPr/>
            </a:pPr>
            <a:r>
              <a:rPr lang="en-US" altLang="zh-CN" b="1" i="1" dirty="0">
                <a:solidFill>
                  <a:srgbClr val="C00000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Inheritance</a:t>
            </a:r>
            <a:r>
              <a:rPr lang="en-US" altLang="zh-CN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 enables you to define a general class (i.e., a </a:t>
            </a:r>
            <a:r>
              <a:rPr lang="en-US" altLang="zh-CN" b="1" i="1" dirty="0">
                <a:solidFill>
                  <a:srgbClr val="C00000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base</a:t>
            </a:r>
            <a:r>
              <a:rPr lang="en-US" altLang="zh-CN" dirty="0">
                <a:solidFill>
                  <a:srgbClr val="C00000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 </a:t>
            </a:r>
            <a:r>
              <a:rPr lang="en-US" altLang="zh-CN" b="1" i="1" dirty="0">
                <a:solidFill>
                  <a:srgbClr val="C00000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class</a:t>
            </a:r>
            <a:r>
              <a:rPr lang="en-US" altLang="zh-CN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) and later extend it to more specialized classes (i.e., </a:t>
            </a:r>
            <a:r>
              <a:rPr lang="en-US" altLang="zh-CN" b="1" i="1" dirty="0">
                <a:solidFill>
                  <a:srgbClr val="C00000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derived</a:t>
            </a:r>
            <a:r>
              <a:rPr lang="en-US" altLang="zh-CN" dirty="0">
                <a:solidFill>
                  <a:srgbClr val="C00000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 </a:t>
            </a:r>
            <a:r>
              <a:rPr lang="en-US" altLang="zh-CN" b="1" i="1" dirty="0">
                <a:solidFill>
                  <a:srgbClr val="C00000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classes</a:t>
            </a:r>
            <a:r>
              <a:rPr lang="en-US" altLang="zh-CN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). The specialized classes inherit properties and functions from the general class.</a:t>
            </a:r>
          </a:p>
        </p:txBody>
      </p:sp>
      <p:grpSp>
        <p:nvGrpSpPr>
          <p:cNvPr id="13" name="组合 7"/>
          <p:cNvGrpSpPr/>
          <p:nvPr/>
        </p:nvGrpSpPr>
        <p:grpSpPr bwMode="auto">
          <a:xfrm>
            <a:off x="282940" y="1952357"/>
            <a:ext cx="1036637" cy="615950"/>
            <a:chOff x="333108" y="1289466"/>
            <a:chExt cx="1037032" cy="615301"/>
          </a:xfrm>
        </p:grpSpPr>
        <p:pic>
          <p:nvPicPr>
            <p:cNvPr id="16" name="图片 4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-6616077">
              <a:off x="442540" y="1180034"/>
              <a:ext cx="486519" cy="7053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" name="矩形 10"/>
            <p:cNvSpPr>
              <a:spLocks noChangeArrowheads="1"/>
            </p:cNvSpPr>
            <p:nvPr/>
          </p:nvSpPr>
          <p:spPr bwMode="auto">
            <a:xfrm>
              <a:off x="523473" y="1319992"/>
              <a:ext cx="846667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algn="r"/>
              <a:r>
                <a:rPr lang="en-US" altLang="zh-CN" sz="1600">
                  <a:latin typeface="微软雅黑" panose="020B0503020204020204" pitchFamily="34" charset="-122"/>
                  <a:ea typeface="微软雅黑" panose="020B0503020204020204" pitchFamily="34" charset="-122"/>
                </a:rPr>
                <a:t>Key</a:t>
              </a:r>
            </a:p>
            <a:p>
              <a:pPr algn="r"/>
              <a:r>
                <a:rPr lang="en-US" altLang="zh-CN" sz="1600">
                  <a:latin typeface="微软雅黑" panose="020B0503020204020204" pitchFamily="34" charset="-122"/>
                  <a:ea typeface="微软雅黑" panose="020B0503020204020204" pitchFamily="34" charset="-122"/>
                </a:rPr>
                <a:t>Point</a:t>
              </a:r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" name="矩形 2"/>
          <p:cNvSpPr/>
          <p:nvPr/>
        </p:nvSpPr>
        <p:spPr>
          <a:xfrm>
            <a:off x="285871" y="3086074"/>
            <a:ext cx="8653708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A derived class inherits </a:t>
            </a:r>
            <a:r>
              <a:rPr lang="en-US" altLang="zh-CN" b="1" i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accessible data fields</a:t>
            </a:r>
            <a:r>
              <a:rPr lang="en-US" altLang="zh-CN" sz="2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US" altLang="zh-CN" b="1" i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functions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 from its base class and may also add new data fields and functions.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1828800" y="4084867"/>
            <a:ext cx="5105400" cy="380480"/>
          </a:xfrm>
          <a:prstGeom prst="rect">
            <a:avLst/>
          </a:prstGeom>
          <a:solidFill>
            <a:srgbClr val="00B0F0">
              <a:alpha val="20000"/>
            </a:srgbClr>
          </a:solidFill>
          <a:ln w="19050">
            <a:noFill/>
          </a:ln>
        </p:spPr>
        <p:txBody>
          <a:bodyPr wrap="square" tIns="36000" rIns="0" bIns="36000">
            <a:spAutoFit/>
          </a:bodyPr>
          <a:lstStyle/>
          <a:p>
            <a:pPr algn="ctr">
              <a:defRPr/>
            </a:pPr>
            <a:r>
              <a:rPr lang="en-US" altLang="zh-CN" sz="2000" b="1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base class / parent class / superclass</a:t>
            </a:r>
            <a:endParaRPr lang="en-US" altLang="zh-CN" sz="2000">
              <a:latin typeface="Arial" panose="020B0604020202020204" pitchFamily="34" charset="0"/>
              <a:ea typeface="楷体_GB2312" pitchFamily="49" charset="-122"/>
              <a:cs typeface="Arial" panose="020B0604020202020204" pitchFamily="34" charset="0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1828800" y="5346539"/>
            <a:ext cx="5105400" cy="380480"/>
          </a:xfrm>
          <a:prstGeom prst="rect">
            <a:avLst/>
          </a:prstGeom>
          <a:solidFill>
            <a:srgbClr val="00B0F0">
              <a:alpha val="20000"/>
            </a:srgbClr>
          </a:solidFill>
          <a:ln w="19050">
            <a:noFill/>
          </a:ln>
        </p:spPr>
        <p:txBody>
          <a:bodyPr wrap="square" tIns="36000" rIns="0" bIns="36000">
            <a:spAutoFit/>
          </a:bodyPr>
          <a:lstStyle/>
          <a:p>
            <a:pPr algn="ctr">
              <a:defRPr/>
            </a:pPr>
            <a:r>
              <a:rPr lang="en-US" altLang="zh-CN" sz="2000" b="1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derived class / child class / subclass</a:t>
            </a:r>
            <a:endParaRPr lang="en-US" altLang="zh-CN" sz="2000">
              <a:latin typeface="Arial" panose="020B0604020202020204" pitchFamily="34" charset="0"/>
              <a:ea typeface="楷体_GB2312" pitchFamily="49" charset="-122"/>
              <a:cs typeface="Arial" panose="020B0604020202020204" pitchFamily="34" charset="0"/>
            </a:endParaRPr>
          </a:p>
        </p:txBody>
      </p:sp>
      <p:cxnSp>
        <p:nvCxnSpPr>
          <p:cNvPr id="39" name="肘形连接符 38"/>
          <p:cNvCxnSpPr>
            <a:stCxn id="38" idx="0"/>
            <a:endCxn id="40" idx="3"/>
          </p:cNvCxnSpPr>
          <p:nvPr/>
        </p:nvCxnSpPr>
        <p:spPr>
          <a:xfrm rot="16200000" flipV="1">
            <a:off x="3211467" y="4176505"/>
            <a:ext cx="719404" cy="1620663"/>
          </a:xfrm>
          <a:prstGeom prst="bentConnector3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等腰三角形 39"/>
          <p:cNvSpPr/>
          <p:nvPr/>
        </p:nvSpPr>
        <p:spPr>
          <a:xfrm>
            <a:off x="2667000" y="4465347"/>
            <a:ext cx="187674" cy="161788"/>
          </a:xfrm>
          <a:prstGeom prst="triangle">
            <a:avLst/>
          </a:prstGeom>
          <a:solidFill>
            <a:schemeClr val="bg1">
              <a:alpha val="0"/>
            </a:schemeClr>
          </a:solidFill>
          <a:ln w="19050">
            <a:solidFill>
              <a:schemeClr val="dk1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pPr marL="0" algn="ctr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60000"/>
            </a:pPr>
            <a:endParaRPr lang="zh-CN" altLang="en-US" sz="2200" b="1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3" name="Rectangle 2"/>
          <p:cNvSpPr>
            <a:spLocks noGrp="1"/>
          </p:cNvSpPr>
          <p:nvPr>
            <p:ph type="title"/>
          </p:nvPr>
        </p:nvSpPr>
        <p:spPr>
          <a:xfrm>
            <a:off x="876300" y="457200"/>
            <a:ext cx="8267700" cy="381000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4000">
                <a:sym typeface="+mn-ea"/>
              </a:rPr>
              <a:t>Base Classes and Derived Classes</a:t>
            </a:r>
            <a:endParaRPr lang="en-US" altLang="zh-CN" sz="4000">
              <a:ea typeface="宋体" panose="02010600030101010101" pitchFamily="2" charset="-122"/>
            </a:endParaRPr>
          </a:p>
        </p:txBody>
      </p:sp>
      <p:sp>
        <p:nvSpPr>
          <p:cNvPr id="125955" name="灯片编号占位符 4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  <a:t>8</a:t>
            </a:fld>
            <a:endParaRPr lang="en-US" altLang="zh-CN" sz="1600" b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45146" y="918856"/>
            <a:ext cx="865370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>
                <a:latin typeface="Arial" panose="020B0604020202020204" pitchFamily="34" charset="0"/>
                <a:cs typeface="Arial" panose="020B0604020202020204" pitchFamily="34" charset="0"/>
              </a:rPr>
              <a:t>UML</a:t>
            </a:r>
            <a:r>
              <a:rPr lang="en-US" altLang="zh-CN" sz="2000">
                <a:latin typeface="Arial" panose="020B0604020202020204" pitchFamily="34" charset="0"/>
                <a:cs typeface="Arial" panose="020B0604020202020204" pitchFamily="34" charset="0"/>
              </a:rPr>
              <a:t>: A triangle pointing to the base class is used to denote the inheritance relationship between the two classes involved.</a:t>
            </a:r>
            <a:endParaRPr lang="zh-CN" alt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2590800" y="1617784"/>
            <a:ext cx="4495800" cy="2242528"/>
          </a:xfrm>
          <a:prstGeom prst="rect">
            <a:avLst/>
          </a:prstGeom>
          <a:solidFill>
            <a:srgbClr val="00B0F0">
              <a:alpha val="20000"/>
            </a:srgbClr>
          </a:solidFill>
          <a:ln w="19050">
            <a:noFill/>
          </a:ln>
        </p:spPr>
        <p:txBody>
          <a:bodyPr wrap="square" tIns="36000" rIns="0" bIns="36000">
            <a:spAutoFit/>
          </a:bodyPr>
          <a:lstStyle/>
          <a:p>
            <a:pPr algn="ctr">
              <a:defRPr/>
            </a:pPr>
            <a:r>
              <a:rPr lang="en-US" altLang="zh-CN" sz="2000" b="1" dirty="0" err="1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GeometricObject</a:t>
            </a:r>
            <a:endParaRPr lang="en-US" altLang="zh-CN" sz="2000" b="1" dirty="0">
              <a:latin typeface="Arial" panose="020B0604020202020204" pitchFamily="34" charset="0"/>
              <a:ea typeface="楷体_GB2312" pitchFamily="49" charset="-122"/>
              <a:cs typeface="Arial" panose="020B0604020202020204" pitchFamily="34" charset="0"/>
            </a:endParaRPr>
          </a:p>
          <a:p>
            <a:pPr algn="ctr">
              <a:defRPr/>
            </a:pPr>
            <a:endParaRPr lang="en-US" altLang="zh-CN" sz="500" b="1" dirty="0">
              <a:latin typeface="Arial" panose="020B0604020202020204" pitchFamily="34" charset="0"/>
              <a:ea typeface="楷体_GB2312" pitchFamily="49" charset="-122"/>
              <a:cs typeface="Arial" panose="020B0604020202020204" pitchFamily="34" charset="0"/>
            </a:endParaRPr>
          </a:p>
          <a:p>
            <a:pPr>
              <a:defRPr/>
            </a:pPr>
            <a:r>
              <a:rPr lang="en-US" altLang="zh-CN" sz="180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-color: string</a:t>
            </a:r>
          </a:p>
          <a:p>
            <a:pPr>
              <a:defRPr/>
            </a:pPr>
            <a:r>
              <a:rPr lang="en-US" altLang="zh-CN" sz="180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-filled: bool</a:t>
            </a:r>
          </a:p>
          <a:p>
            <a:pPr>
              <a:defRPr/>
            </a:pPr>
            <a:endParaRPr lang="en-US" altLang="zh-CN" sz="800" b="1" dirty="0">
              <a:latin typeface="Arial" panose="020B0604020202020204" pitchFamily="34" charset="0"/>
              <a:ea typeface="楷体_GB2312" pitchFamily="49" charset="-122"/>
              <a:cs typeface="Arial" panose="020B0604020202020204" pitchFamily="34" charset="0"/>
            </a:endParaRPr>
          </a:p>
          <a:p>
            <a:pPr>
              <a:defRPr/>
            </a:pPr>
            <a:r>
              <a:rPr lang="en-US" altLang="zh-CN" sz="180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+</a:t>
            </a:r>
            <a:r>
              <a:rPr lang="en-US" altLang="zh-CN" sz="1800" dirty="0" err="1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GeometricObject</a:t>
            </a:r>
            <a:r>
              <a:rPr lang="en-US" altLang="zh-CN" sz="180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()</a:t>
            </a:r>
          </a:p>
          <a:p>
            <a:pPr>
              <a:defRPr/>
            </a:pPr>
            <a:r>
              <a:rPr lang="en-US" altLang="zh-CN" sz="180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+</a:t>
            </a:r>
            <a:r>
              <a:rPr lang="en-US" altLang="zh-CN" sz="1800" dirty="0" err="1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GeometricObject</a:t>
            </a:r>
            <a:r>
              <a:rPr lang="en-US" altLang="zh-CN" sz="180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(color: string, filled: bool)</a:t>
            </a:r>
          </a:p>
          <a:p>
            <a:pPr>
              <a:defRPr/>
            </a:pPr>
            <a:r>
              <a:rPr lang="en-US" altLang="zh-CN" sz="180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…</a:t>
            </a:r>
          </a:p>
          <a:p>
            <a:pPr>
              <a:defRPr/>
            </a:pPr>
            <a:r>
              <a:rPr lang="en-US" altLang="zh-CN" sz="180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+</a:t>
            </a:r>
            <a:r>
              <a:rPr lang="en-US" altLang="zh-CN" sz="1800" dirty="0" err="1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toString</a:t>
            </a:r>
            <a:r>
              <a:rPr lang="en-US" altLang="zh-CN" sz="180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(): string </a:t>
            </a:r>
            <a:r>
              <a:rPr lang="en-US" altLang="zh-CN" sz="1800" dirty="0" err="1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const</a:t>
            </a:r>
            <a:endParaRPr lang="en-US" altLang="zh-CN" sz="1800" dirty="0">
              <a:latin typeface="Arial" panose="020B0604020202020204" pitchFamily="34" charset="0"/>
              <a:ea typeface="楷体_GB2312" pitchFamily="49" charset="-122"/>
              <a:cs typeface="Arial" panose="020B0604020202020204" pitchFamily="34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2590800" y="2018801"/>
            <a:ext cx="4495800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115833" y="4267200"/>
            <a:ext cx="4949934" cy="2473360"/>
          </a:xfrm>
          <a:prstGeom prst="rect">
            <a:avLst/>
          </a:prstGeom>
          <a:solidFill>
            <a:srgbClr val="00B0F0">
              <a:alpha val="20000"/>
            </a:srgbClr>
          </a:solidFill>
          <a:ln w="19050">
            <a:noFill/>
          </a:ln>
        </p:spPr>
        <p:txBody>
          <a:bodyPr wrap="square" tIns="36000" rIns="0" bIns="36000">
            <a:spAutoFit/>
          </a:bodyPr>
          <a:lstStyle/>
          <a:p>
            <a:pPr algn="ctr">
              <a:defRPr/>
            </a:pPr>
            <a:r>
              <a:rPr lang="en-US" altLang="zh-CN" sz="2000" b="1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Circle</a:t>
            </a:r>
          </a:p>
          <a:p>
            <a:pPr algn="ctr">
              <a:defRPr/>
            </a:pPr>
            <a:endParaRPr lang="en-US" altLang="zh-CN" sz="500" b="1">
              <a:latin typeface="Arial" panose="020B0604020202020204" pitchFamily="34" charset="0"/>
              <a:ea typeface="楷体_GB2312" pitchFamily="49" charset="-122"/>
              <a:cs typeface="Arial" panose="020B0604020202020204" pitchFamily="34" charset="0"/>
            </a:endParaRPr>
          </a:p>
          <a:p>
            <a:pPr>
              <a:defRPr/>
            </a:pPr>
            <a:r>
              <a:rPr lang="en-US" altLang="zh-CN" sz="180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-radius: double</a:t>
            </a:r>
          </a:p>
          <a:p>
            <a:pPr>
              <a:defRPr/>
            </a:pPr>
            <a:endParaRPr lang="en-US" altLang="zh-CN" sz="500">
              <a:latin typeface="Arial" panose="020B0604020202020204" pitchFamily="34" charset="0"/>
              <a:ea typeface="楷体_GB2312" pitchFamily="49" charset="-122"/>
              <a:cs typeface="Arial" panose="020B0604020202020204" pitchFamily="34" charset="0"/>
            </a:endParaRPr>
          </a:p>
          <a:p>
            <a:pPr>
              <a:defRPr/>
            </a:pPr>
            <a:r>
              <a:rPr lang="en-US" altLang="zh-CN" sz="180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+Circle()</a:t>
            </a:r>
          </a:p>
          <a:p>
            <a:pPr>
              <a:defRPr/>
            </a:pPr>
            <a:r>
              <a:rPr lang="en-US" altLang="zh-CN" sz="180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+Circle(radius: double)</a:t>
            </a:r>
          </a:p>
          <a:p>
            <a:pPr>
              <a:defRPr/>
            </a:pPr>
            <a:r>
              <a:rPr lang="en-US" altLang="zh-CN" sz="180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+Circle(radius: double, color: string, filled: bool)</a:t>
            </a:r>
          </a:p>
          <a:p>
            <a:pPr>
              <a:defRPr/>
            </a:pPr>
            <a:r>
              <a:rPr lang="en-US" altLang="zh-CN" sz="180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…</a:t>
            </a:r>
          </a:p>
          <a:p>
            <a:pPr>
              <a:defRPr/>
            </a:pPr>
            <a:r>
              <a:rPr lang="en-US" altLang="zh-CN" sz="180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+getArea(): double const</a:t>
            </a:r>
          </a:p>
          <a:p>
            <a:pPr>
              <a:defRPr/>
            </a:pPr>
            <a:r>
              <a:rPr lang="en-US" altLang="zh-CN" sz="180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+toString(): string const</a:t>
            </a:r>
          </a:p>
        </p:txBody>
      </p:sp>
      <p:cxnSp>
        <p:nvCxnSpPr>
          <p:cNvPr id="18" name="直接连接符 17"/>
          <p:cNvCxnSpPr/>
          <p:nvPr/>
        </p:nvCxnSpPr>
        <p:spPr>
          <a:xfrm>
            <a:off x="115833" y="4611328"/>
            <a:ext cx="4949934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矩形 19"/>
          <p:cNvSpPr/>
          <p:nvPr/>
        </p:nvSpPr>
        <p:spPr>
          <a:xfrm>
            <a:off x="5169877" y="4267200"/>
            <a:ext cx="3793148" cy="2473360"/>
          </a:xfrm>
          <a:prstGeom prst="rect">
            <a:avLst/>
          </a:prstGeom>
          <a:solidFill>
            <a:srgbClr val="00B0F0">
              <a:alpha val="20000"/>
            </a:srgbClr>
          </a:solidFill>
          <a:ln w="19050">
            <a:noFill/>
          </a:ln>
        </p:spPr>
        <p:txBody>
          <a:bodyPr wrap="square" tIns="36000" rIns="0" bIns="36000">
            <a:spAutoFit/>
          </a:bodyPr>
          <a:lstStyle/>
          <a:p>
            <a:pPr algn="ctr">
              <a:defRPr/>
            </a:pPr>
            <a:r>
              <a:rPr lang="en-US" altLang="zh-CN" sz="2000" b="1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Rectangle</a:t>
            </a:r>
          </a:p>
          <a:p>
            <a:pPr>
              <a:defRPr/>
            </a:pPr>
            <a:endParaRPr lang="en-US" altLang="zh-CN" sz="500">
              <a:latin typeface="Arial" panose="020B0604020202020204" pitchFamily="34" charset="0"/>
              <a:ea typeface="楷体_GB2312" pitchFamily="49" charset="-122"/>
              <a:cs typeface="Arial" panose="020B0604020202020204" pitchFamily="34" charset="0"/>
            </a:endParaRPr>
          </a:p>
          <a:p>
            <a:pPr>
              <a:defRPr/>
            </a:pPr>
            <a:r>
              <a:rPr lang="en-US" altLang="zh-CN" sz="180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-width: double</a:t>
            </a:r>
          </a:p>
          <a:p>
            <a:pPr>
              <a:defRPr/>
            </a:pPr>
            <a:r>
              <a:rPr lang="en-US" altLang="zh-CN" sz="180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-height: double </a:t>
            </a:r>
          </a:p>
          <a:p>
            <a:pPr>
              <a:defRPr/>
            </a:pPr>
            <a:endParaRPr lang="en-US" altLang="zh-CN" sz="500">
              <a:latin typeface="Arial" panose="020B0604020202020204" pitchFamily="34" charset="0"/>
              <a:ea typeface="楷体_GB2312" pitchFamily="49" charset="-122"/>
              <a:cs typeface="Arial" panose="020B0604020202020204" pitchFamily="34" charset="0"/>
            </a:endParaRPr>
          </a:p>
          <a:p>
            <a:pPr>
              <a:defRPr/>
            </a:pPr>
            <a:r>
              <a:rPr lang="en-US" altLang="zh-CN" sz="180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…</a:t>
            </a:r>
          </a:p>
          <a:p>
            <a:pPr>
              <a:defRPr/>
            </a:pPr>
            <a:r>
              <a:rPr lang="en-US" altLang="zh-CN" sz="180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+Rectangle(width: double, height: double, color: string, filled: bool)</a:t>
            </a:r>
          </a:p>
          <a:p>
            <a:pPr>
              <a:defRPr/>
            </a:pPr>
            <a:r>
              <a:rPr lang="en-US" altLang="zh-CN" sz="180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…</a:t>
            </a:r>
          </a:p>
          <a:p>
            <a:pPr>
              <a:defRPr/>
            </a:pPr>
            <a:r>
              <a:rPr lang="en-US" altLang="zh-CN" sz="180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+toString(): string const</a:t>
            </a:r>
          </a:p>
        </p:txBody>
      </p:sp>
      <p:cxnSp>
        <p:nvCxnSpPr>
          <p:cNvPr id="21" name="直接连接符 20"/>
          <p:cNvCxnSpPr/>
          <p:nvPr/>
        </p:nvCxnSpPr>
        <p:spPr>
          <a:xfrm>
            <a:off x="5169877" y="4604240"/>
            <a:ext cx="3793148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1123732" y="1553586"/>
            <a:ext cx="146706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base class:</a:t>
            </a:r>
            <a:endParaRPr lang="zh-CN" altLang="en-US" sz="2000"/>
          </a:p>
        </p:txBody>
      </p:sp>
      <p:sp>
        <p:nvSpPr>
          <p:cNvPr id="25" name="矩形 24"/>
          <p:cNvSpPr/>
          <p:nvPr/>
        </p:nvSpPr>
        <p:spPr>
          <a:xfrm>
            <a:off x="6350" y="3801760"/>
            <a:ext cx="202331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derived classes:</a:t>
            </a:r>
            <a:endParaRPr lang="zh-CN" altLang="en-US" sz="2000"/>
          </a:p>
        </p:txBody>
      </p:sp>
      <p:cxnSp>
        <p:nvCxnSpPr>
          <p:cNvPr id="23" name="肘形连接符 22"/>
          <p:cNvCxnSpPr>
            <a:stCxn id="15" idx="0"/>
            <a:endCxn id="30" idx="3"/>
          </p:cNvCxnSpPr>
          <p:nvPr/>
        </p:nvCxnSpPr>
        <p:spPr>
          <a:xfrm rot="5400000" flipH="1" flipV="1">
            <a:off x="3060294" y="3553378"/>
            <a:ext cx="244329" cy="1183317"/>
          </a:xfrm>
          <a:prstGeom prst="bentConnector3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肘形连接符 27"/>
          <p:cNvCxnSpPr>
            <a:stCxn id="20" idx="0"/>
            <a:endCxn id="34" idx="3"/>
          </p:cNvCxnSpPr>
          <p:nvPr/>
        </p:nvCxnSpPr>
        <p:spPr>
          <a:xfrm rot="16200000" flipV="1">
            <a:off x="6131730" y="3332478"/>
            <a:ext cx="245100" cy="1624343"/>
          </a:xfrm>
          <a:prstGeom prst="bentConnector3">
            <a:avLst>
              <a:gd name="adj1" fmla="val 50000"/>
            </a:avLst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等腰三角形 29"/>
          <p:cNvSpPr/>
          <p:nvPr/>
        </p:nvSpPr>
        <p:spPr>
          <a:xfrm>
            <a:off x="3680280" y="3861083"/>
            <a:ext cx="187674" cy="161788"/>
          </a:xfrm>
          <a:prstGeom prst="triangle">
            <a:avLst/>
          </a:prstGeom>
          <a:solidFill>
            <a:schemeClr val="bg1">
              <a:alpha val="0"/>
            </a:schemeClr>
          </a:solidFill>
          <a:ln w="19050">
            <a:solidFill>
              <a:schemeClr val="dk1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pPr marL="0" algn="ctr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60000"/>
            </a:pPr>
            <a:endParaRPr lang="zh-CN" altLang="en-US" sz="2200" b="1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34" name="等腰三角形 33"/>
          <p:cNvSpPr/>
          <p:nvPr/>
        </p:nvSpPr>
        <p:spPr>
          <a:xfrm>
            <a:off x="5348271" y="3860312"/>
            <a:ext cx="187674" cy="161788"/>
          </a:xfrm>
          <a:prstGeom prst="triangle">
            <a:avLst/>
          </a:prstGeom>
          <a:solidFill>
            <a:schemeClr val="bg1">
              <a:alpha val="0"/>
            </a:schemeClr>
          </a:solidFill>
          <a:ln w="19050">
            <a:solidFill>
              <a:schemeClr val="dk1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pPr marL="0" algn="ctr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60000"/>
            </a:pPr>
            <a:endParaRPr lang="zh-CN" altLang="en-US" sz="2200" b="1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cxnSp>
        <p:nvCxnSpPr>
          <p:cNvPr id="26" name="直接连接符 25"/>
          <p:cNvCxnSpPr/>
          <p:nvPr/>
        </p:nvCxnSpPr>
        <p:spPr>
          <a:xfrm>
            <a:off x="2590800" y="2637193"/>
            <a:ext cx="4495800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>
            <a:off x="107041" y="4996472"/>
            <a:ext cx="4949934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直接连接符 48"/>
          <p:cNvCxnSpPr/>
          <p:nvPr/>
        </p:nvCxnSpPr>
        <p:spPr>
          <a:xfrm>
            <a:off x="5172808" y="5266592"/>
            <a:ext cx="3793148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3" name="Rectangle 2"/>
          <p:cNvSpPr>
            <a:spLocks noGrp="1"/>
          </p:cNvSpPr>
          <p:nvPr>
            <p:ph type="title"/>
          </p:nvPr>
        </p:nvSpPr>
        <p:spPr>
          <a:xfrm>
            <a:off x="876300" y="457200"/>
            <a:ext cx="8267700" cy="381000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4000">
                <a:sym typeface="+mn-ea"/>
              </a:rPr>
              <a:t>Base Classes and Derived Classes</a:t>
            </a:r>
            <a:endParaRPr lang="en-US" altLang="zh-CN" sz="4000">
              <a:ea typeface="宋体" panose="02010600030101010101" pitchFamily="2" charset="-122"/>
            </a:endParaRPr>
          </a:p>
        </p:txBody>
      </p:sp>
      <p:sp>
        <p:nvSpPr>
          <p:cNvPr id="125955" name="灯片编号占位符 4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  <a:t>9</a:t>
            </a:fld>
            <a:endParaRPr lang="en-US" altLang="zh-CN" sz="1600" b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45146" y="1187800"/>
            <a:ext cx="8653708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200">
                <a:latin typeface="Arial" panose="020B0604020202020204" pitchFamily="34" charset="0"/>
                <a:cs typeface="Arial" panose="020B0604020202020204" pitchFamily="34" charset="0"/>
              </a:rPr>
              <a:t>The class definition for Circle defines that the Circle class is derived from the base class GeometricObject. The </a:t>
            </a:r>
            <a:r>
              <a:rPr lang="en-US" altLang="zh-CN" sz="2200" b="1">
                <a:latin typeface="Arial" panose="020B0604020202020204" pitchFamily="34" charset="0"/>
                <a:cs typeface="Arial" panose="020B0604020202020204" pitchFamily="34" charset="0"/>
              </a:rPr>
              <a:t>syntax:</a:t>
            </a:r>
            <a:endParaRPr lang="zh-CN" altLang="en-US" sz="22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990600" y="4114800"/>
            <a:ext cx="7162800" cy="442035"/>
          </a:xfrm>
          <a:prstGeom prst="rect">
            <a:avLst/>
          </a:prstGeom>
          <a:solidFill>
            <a:srgbClr val="00B0F0">
              <a:alpha val="10000"/>
            </a:srgbClr>
          </a:solidFill>
          <a:ln w="19050">
            <a:noFill/>
          </a:ln>
        </p:spPr>
        <p:txBody>
          <a:bodyPr wrap="square" tIns="36000" rIns="0" bIns="36000">
            <a:spAutoFit/>
          </a:bodyPr>
          <a:lstStyle/>
          <a:p>
            <a:pPr algn="ctr">
              <a:defRPr/>
            </a:pPr>
            <a:r>
              <a:rPr lang="en-US" altLang="zh-CN" dirty="0">
                <a:solidFill>
                  <a:srgbClr val="0070C0"/>
                </a:solidFill>
                <a:latin typeface="Consolas" panose="020B0609020204030204" pitchFamily="49" charset="0"/>
                <a:ea typeface="楷体_GB2312" pitchFamily="49" charset="-122"/>
                <a:cs typeface="Arial" panose="020B0604020202020204" pitchFamily="34" charset="0"/>
              </a:rPr>
              <a:t>class</a:t>
            </a:r>
            <a:r>
              <a:rPr lang="en-US" altLang="zh-CN" dirty="0">
                <a:latin typeface="Consolas" panose="020B0609020204030204" pitchFamily="49" charset="0"/>
                <a:ea typeface="楷体_GB2312" pitchFamily="49" charset="-122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rgbClr val="00B050"/>
                </a:solidFill>
                <a:latin typeface="Consolas" panose="020B0609020204030204" pitchFamily="49" charset="0"/>
                <a:ea typeface="楷体_GB2312" pitchFamily="49" charset="-122"/>
                <a:cs typeface="Arial" panose="020B0604020202020204" pitchFamily="34" charset="0"/>
              </a:rPr>
              <a:t>Circle</a:t>
            </a:r>
            <a:r>
              <a:rPr lang="en-US" altLang="zh-CN" dirty="0">
                <a:latin typeface="Consolas" panose="020B0609020204030204" pitchFamily="49" charset="0"/>
                <a:ea typeface="楷体_GB2312" pitchFamily="49" charset="-122"/>
                <a:cs typeface="Arial" panose="020B0604020202020204" pitchFamily="34" charset="0"/>
              </a:rPr>
              <a:t>: </a:t>
            </a:r>
            <a:r>
              <a:rPr lang="en-US" altLang="zh-CN" dirty="0">
                <a:solidFill>
                  <a:srgbClr val="FF3399"/>
                </a:solidFill>
                <a:latin typeface="Consolas" panose="020B0609020204030204" pitchFamily="49" charset="0"/>
                <a:ea typeface="楷体_GB2312" pitchFamily="49" charset="-122"/>
                <a:cs typeface="Arial" panose="020B0604020202020204" pitchFamily="34" charset="0"/>
              </a:rPr>
              <a:t>public</a:t>
            </a:r>
            <a:r>
              <a:rPr lang="en-US" altLang="zh-CN" dirty="0">
                <a:latin typeface="Consolas" panose="020B0609020204030204" pitchFamily="49" charset="0"/>
                <a:ea typeface="楷体_GB2312" pitchFamily="49" charset="-122"/>
                <a:cs typeface="Arial" panose="020B0604020202020204" pitchFamily="34" charset="0"/>
              </a:rPr>
              <a:t> </a:t>
            </a:r>
            <a:r>
              <a:rPr lang="en-US" altLang="zh-CN" i="1" dirty="0" err="1">
                <a:solidFill>
                  <a:srgbClr val="00B050"/>
                </a:solidFill>
                <a:latin typeface="Consolas" panose="020B0609020204030204" pitchFamily="49" charset="0"/>
                <a:ea typeface="楷体_GB2312" pitchFamily="49" charset="-122"/>
                <a:cs typeface="Arial" panose="020B0604020202020204" pitchFamily="34" charset="0"/>
              </a:rPr>
              <a:t>GeometricObject</a:t>
            </a:r>
            <a:endParaRPr lang="en-US" altLang="zh-CN" sz="2000" i="1" dirty="0">
              <a:solidFill>
                <a:srgbClr val="00B050"/>
              </a:solidFill>
              <a:latin typeface="Consolas" panose="020B0609020204030204" pitchFamily="49" charset="0"/>
              <a:ea typeface="楷体_GB2312" pitchFamily="49" charset="-122"/>
              <a:cs typeface="Arial" panose="020B0604020202020204" pitchFamily="34" charset="0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6604578" y="2286247"/>
            <a:ext cx="1548822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20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Base class</a:t>
            </a:r>
            <a:endParaRPr lang="zh-CN" altLang="en-US" sz="2200"/>
          </a:p>
        </p:txBody>
      </p:sp>
      <p:sp>
        <p:nvSpPr>
          <p:cNvPr id="27" name="矩形 26"/>
          <p:cNvSpPr/>
          <p:nvPr/>
        </p:nvSpPr>
        <p:spPr>
          <a:xfrm>
            <a:off x="1123732" y="2286248"/>
            <a:ext cx="1879041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20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Derived class</a:t>
            </a:r>
            <a:endParaRPr lang="zh-CN" altLang="en-US" sz="2200"/>
          </a:p>
        </p:txBody>
      </p:sp>
      <p:sp>
        <p:nvSpPr>
          <p:cNvPr id="4" name="矩形 3"/>
          <p:cNvSpPr/>
          <p:nvPr/>
        </p:nvSpPr>
        <p:spPr>
          <a:xfrm>
            <a:off x="2555632" y="4184627"/>
            <a:ext cx="1066800" cy="381000"/>
          </a:xfrm>
          <a:prstGeom prst="rect">
            <a:avLst/>
          </a:prstGeom>
          <a:solidFill>
            <a:schemeClr val="bg1">
              <a:alpha val="0"/>
            </a:schemeClr>
          </a:solidFill>
        </p:spPr>
        <p:txBody>
          <a:bodyPr wrap="square" lIns="0" tIns="0" rIns="0" bIns="0" rtlCol="0" anchor="ctr">
            <a:spAutoFit/>
          </a:bodyPr>
          <a:lstStyle/>
          <a:p>
            <a:pPr marL="0" algn="ctr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60000"/>
            </a:pPr>
            <a:endParaRPr lang="zh-CN" altLang="en-US" sz="2200" b="1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5114192" y="4193419"/>
            <a:ext cx="2582008" cy="381000"/>
          </a:xfrm>
          <a:prstGeom prst="rect">
            <a:avLst/>
          </a:prstGeom>
          <a:solidFill>
            <a:schemeClr val="bg1">
              <a:alpha val="0"/>
            </a:schemeClr>
          </a:solidFill>
        </p:spPr>
        <p:txBody>
          <a:bodyPr wrap="square" lIns="0" tIns="0" rIns="0" bIns="0" rtlCol="0" anchor="ctr">
            <a:spAutoFit/>
          </a:bodyPr>
          <a:lstStyle/>
          <a:p>
            <a:pPr marL="0" algn="ctr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60000"/>
            </a:pPr>
            <a:endParaRPr lang="zh-CN" altLang="en-US" sz="2200" b="1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cxnSp>
        <p:nvCxnSpPr>
          <p:cNvPr id="7" name="直接箭头连接符 6"/>
          <p:cNvCxnSpPr>
            <a:stCxn id="27" idx="2"/>
            <a:endCxn id="4" idx="0"/>
          </p:cNvCxnSpPr>
          <p:nvPr/>
        </p:nvCxnSpPr>
        <p:spPr>
          <a:xfrm>
            <a:off x="2063253" y="2717135"/>
            <a:ext cx="1025779" cy="146749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>
            <a:stCxn id="24" idx="2"/>
            <a:endCxn id="29" idx="0"/>
          </p:cNvCxnSpPr>
          <p:nvPr/>
        </p:nvCxnSpPr>
        <p:spPr>
          <a:xfrm flipH="1">
            <a:off x="6405196" y="2717134"/>
            <a:ext cx="973793" cy="147628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矩形 34"/>
          <p:cNvSpPr/>
          <p:nvPr/>
        </p:nvSpPr>
        <p:spPr>
          <a:xfrm>
            <a:off x="245146" y="4859017"/>
            <a:ext cx="8653708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200" b="1">
                <a:solidFill>
                  <a:srgbClr val="FF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</a:t>
            </a:r>
            <a:r>
              <a:rPr lang="en-US" altLang="zh-CN" sz="2200">
                <a:latin typeface="Arial" panose="020B0604020202020204" pitchFamily="34" charset="0"/>
                <a:cs typeface="Arial" panose="020B0604020202020204" pitchFamily="34" charset="0"/>
              </a:rPr>
              <a:t> keyword: all public members in GeometricObject are inherited as public members in Circle.</a:t>
            </a:r>
            <a:endParaRPr lang="zh-CN" altLang="en-US" sz="22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3944814" y="4553393"/>
            <a:ext cx="990600" cy="0"/>
          </a:xfrm>
          <a:prstGeom prst="line">
            <a:avLst/>
          </a:prstGeom>
          <a:ln w="25400">
            <a:solidFill>
              <a:srgbClr val="FF33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5114192" y="4555812"/>
            <a:ext cx="258200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3" name="Rectangle 2"/>
          <p:cNvSpPr>
            <a:spLocks noGrp="1"/>
          </p:cNvSpPr>
          <p:nvPr>
            <p:ph type="title"/>
          </p:nvPr>
        </p:nvSpPr>
        <p:spPr>
          <a:xfrm>
            <a:off x="876300" y="457200"/>
            <a:ext cx="8267700" cy="381000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4000">
                <a:sym typeface="+mn-ea"/>
              </a:rPr>
              <a:t>The protected Keyword</a:t>
            </a:r>
            <a:endParaRPr lang="en-US" altLang="zh-CN" sz="4000">
              <a:ea typeface="宋体" panose="02010600030101010101" pitchFamily="2" charset="-122"/>
            </a:endParaRPr>
          </a:p>
        </p:txBody>
      </p:sp>
      <p:sp>
        <p:nvSpPr>
          <p:cNvPr id="125955" name="灯片编号占位符 4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  <a:t>10</a:t>
            </a:fld>
            <a:endParaRPr lang="en-US" altLang="zh-CN" sz="1600" b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550779" y="1029101"/>
            <a:ext cx="7212221" cy="811367"/>
          </a:xfrm>
          <a:prstGeom prst="rect">
            <a:avLst/>
          </a:prstGeom>
          <a:noFill/>
          <a:ln w="19050">
            <a:noFill/>
          </a:ln>
        </p:spPr>
        <p:txBody>
          <a:bodyPr wrap="square" tIns="36000" rIns="0" bIns="36000">
            <a:spAutoFit/>
          </a:bodyPr>
          <a:lstStyle/>
          <a:p>
            <a:pPr>
              <a:defRPr/>
            </a:pPr>
            <a:r>
              <a:rPr lang="en-US" altLang="zh-CN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A </a:t>
            </a:r>
            <a:r>
              <a:rPr lang="en-US" altLang="zh-CN" b="1" dirty="0">
                <a:solidFill>
                  <a:srgbClr val="C00000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protected</a:t>
            </a:r>
            <a:r>
              <a:rPr lang="en-US" altLang="zh-CN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 member of a class </a:t>
            </a:r>
            <a:r>
              <a:rPr lang="en-US" altLang="zh-CN" dirty="0">
                <a:solidFill>
                  <a:srgbClr val="C00000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can</a:t>
            </a:r>
            <a:r>
              <a:rPr lang="en-US" altLang="zh-CN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 be accessed </a:t>
            </a:r>
            <a:r>
              <a:rPr lang="en-US" altLang="zh-CN" dirty="0">
                <a:solidFill>
                  <a:srgbClr val="C00000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from a derived </a:t>
            </a:r>
            <a:r>
              <a:rPr lang="en-US" altLang="zh-CN" b="1" i="1" dirty="0">
                <a:solidFill>
                  <a:srgbClr val="C00000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class</a:t>
            </a:r>
            <a:r>
              <a:rPr lang="en-US" altLang="zh-CN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.</a:t>
            </a:r>
          </a:p>
        </p:txBody>
      </p:sp>
      <p:grpSp>
        <p:nvGrpSpPr>
          <p:cNvPr id="13" name="组合 7"/>
          <p:cNvGrpSpPr/>
          <p:nvPr/>
        </p:nvGrpSpPr>
        <p:grpSpPr bwMode="auto">
          <a:xfrm>
            <a:off x="355905" y="1194560"/>
            <a:ext cx="1036637" cy="615950"/>
            <a:chOff x="333108" y="1289466"/>
            <a:chExt cx="1037032" cy="615301"/>
          </a:xfrm>
        </p:grpSpPr>
        <p:pic>
          <p:nvPicPr>
            <p:cNvPr id="16" name="图片 4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-6616077">
              <a:off x="442540" y="1180034"/>
              <a:ext cx="486519" cy="7053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" name="矩形 10"/>
            <p:cNvSpPr>
              <a:spLocks noChangeArrowheads="1"/>
            </p:cNvSpPr>
            <p:nvPr/>
          </p:nvSpPr>
          <p:spPr bwMode="auto">
            <a:xfrm>
              <a:off x="523473" y="1319992"/>
              <a:ext cx="846667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algn="r"/>
              <a:r>
                <a:rPr lang="en-US" altLang="zh-CN" sz="1600">
                  <a:latin typeface="微软雅黑" panose="020B0503020204020204" pitchFamily="34" charset="-122"/>
                  <a:ea typeface="微软雅黑" panose="020B0503020204020204" pitchFamily="34" charset="-122"/>
                </a:rPr>
                <a:t>Key</a:t>
              </a:r>
            </a:p>
            <a:p>
              <a:pPr algn="r"/>
              <a:r>
                <a:rPr lang="en-US" altLang="zh-CN" sz="1600">
                  <a:latin typeface="微软雅黑" panose="020B0503020204020204" pitchFamily="34" charset="-122"/>
                  <a:ea typeface="微软雅黑" panose="020B0503020204020204" pitchFamily="34" charset="-122"/>
                </a:rPr>
                <a:t>Point</a:t>
              </a:r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" name="矩形 2"/>
          <p:cNvSpPr/>
          <p:nvPr/>
        </p:nvSpPr>
        <p:spPr>
          <a:xfrm>
            <a:off x="245146" y="1923023"/>
            <a:ext cx="865370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>
                <a:latin typeface="Arial" panose="020B0604020202020204" pitchFamily="34" charset="0"/>
                <a:cs typeface="Arial" panose="020B0604020202020204" pitchFamily="34" charset="0"/>
              </a:rPr>
              <a:t>The keywords </a:t>
            </a:r>
            <a:r>
              <a:rPr lang="en-US" altLang="zh-CN" sz="2000" b="1">
                <a:latin typeface="Arial" panose="020B0604020202020204" pitchFamily="34" charset="0"/>
                <a:cs typeface="Arial" panose="020B0604020202020204" pitchFamily="34" charset="0"/>
              </a:rPr>
              <a:t>private</a:t>
            </a:r>
            <a:r>
              <a:rPr lang="en-US" altLang="zh-CN" sz="200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zh-CN" sz="2000" b="1">
                <a:latin typeface="Arial" panose="020B0604020202020204" pitchFamily="34" charset="0"/>
                <a:cs typeface="Arial" panose="020B0604020202020204" pitchFamily="34" charset="0"/>
              </a:rPr>
              <a:t>protected</a:t>
            </a:r>
            <a:r>
              <a:rPr lang="en-US" altLang="zh-CN" sz="2000">
                <a:latin typeface="Arial" panose="020B0604020202020204" pitchFamily="34" charset="0"/>
                <a:cs typeface="Arial" panose="020B0604020202020204" pitchFamily="34" charset="0"/>
              </a:rPr>
              <a:t>, and </a:t>
            </a:r>
            <a:r>
              <a:rPr lang="en-US" altLang="zh-CN" sz="2000" b="1">
                <a:latin typeface="Arial" panose="020B0604020202020204" pitchFamily="34" charset="0"/>
                <a:cs typeface="Arial" panose="020B0604020202020204" pitchFamily="34" charset="0"/>
              </a:rPr>
              <a:t>public</a:t>
            </a:r>
            <a:r>
              <a:rPr lang="en-US" altLang="zh-CN" sz="2000">
                <a:latin typeface="Arial" panose="020B0604020202020204" pitchFamily="34" charset="0"/>
                <a:cs typeface="Arial" panose="020B0604020202020204" pitchFamily="34" charset="0"/>
              </a:rPr>
              <a:t> are known as visibility or accessibility keywords because they specify how class and class members are accessed. Their visibility increases in this order:</a:t>
            </a:r>
            <a:endParaRPr lang="zh-CN" alt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228600" y="3810963"/>
            <a:ext cx="1233182" cy="2781137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</p:spPr>
        <p:txBody>
          <a:bodyPr wrap="square" tIns="36000" rIns="0" bIns="36000">
            <a:spAutoFit/>
          </a:bodyPr>
          <a:lstStyle/>
          <a:p>
            <a:pPr>
              <a:defRPr/>
            </a:pPr>
            <a:r>
              <a:rPr lang="en-US" altLang="zh-CN" sz="1600">
                <a:solidFill>
                  <a:srgbClr val="0070C0"/>
                </a:solidFill>
                <a:latin typeface="Consolas" panose="020B0609020204030204" pitchFamily="49" charset="0"/>
                <a:ea typeface="楷体_GB2312" pitchFamily="49" charset="-122"/>
              </a:rPr>
              <a:t>class</a:t>
            </a:r>
            <a:r>
              <a:rPr lang="en-US" altLang="zh-CN" sz="1600">
                <a:latin typeface="Consolas" panose="020B0609020204030204" pitchFamily="49" charset="0"/>
                <a:ea typeface="楷体_GB2312" pitchFamily="49" charset="-122"/>
              </a:rPr>
              <a:t> </a:t>
            </a:r>
            <a:r>
              <a:rPr lang="en-US" altLang="zh-CN" sz="1600">
                <a:solidFill>
                  <a:srgbClr val="00B050"/>
                </a:solidFill>
                <a:latin typeface="Consolas" panose="020B0609020204030204" pitchFamily="49" charset="0"/>
                <a:ea typeface="楷体_GB2312" pitchFamily="49" charset="-122"/>
              </a:rPr>
              <a:t>B</a:t>
            </a:r>
          </a:p>
          <a:p>
            <a:pPr>
              <a:defRPr/>
            </a:pPr>
            <a:r>
              <a:rPr lang="en-US" altLang="zh-CN" sz="1600">
                <a:latin typeface="Consolas" panose="020B0609020204030204" pitchFamily="49" charset="0"/>
                <a:ea typeface="楷体_GB2312" pitchFamily="49" charset="-122"/>
              </a:rPr>
              <a:t>{</a:t>
            </a:r>
          </a:p>
          <a:p>
            <a:pPr>
              <a:defRPr/>
            </a:pPr>
            <a:r>
              <a:rPr lang="en-US" altLang="zh-CN" sz="1600">
                <a:solidFill>
                  <a:srgbClr val="FF3399"/>
                </a:solidFill>
                <a:latin typeface="Consolas" panose="020B0609020204030204" pitchFamily="49" charset="0"/>
                <a:ea typeface="楷体_GB2312" pitchFamily="49" charset="-122"/>
              </a:rPr>
              <a:t>public</a:t>
            </a:r>
            <a:r>
              <a:rPr lang="en-US" altLang="zh-CN" sz="1600">
                <a:latin typeface="Consolas" panose="020B0609020204030204" pitchFamily="49" charset="0"/>
                <a:ea typeface="楷体_GB2312" pitchFamily="49" charset="-122"/>
              </a:rPr>
              <a:t>:</a:t>
            </a:r>
          </a:p>
          <a:p>
            <a:pPr>
              <a:defRPr/>
            </a:pPr>
            <a:r>
              <a:rPr lang="en-US" altLang="zh-CN" sz="1600">
                <a:latin typeface="Consolas" panose="020B0609020204030204" pitchFamily="49" charset="0"/>
                <a:ea typeface="楷体_GB2312" pitchFamily="49" charset="-122"/>
              </a:rPr>
              <a:t>  </a:t>
            </a:r>
            <a:r>
              <a:rPr lang="en-US" altLang="zh-CN" sz="1600">
                <a:solidFill>
                  <a:srgbClr val="0070C0"/>
                </a:solidFill>
                <a:latin typeface="Consolas" panose="020B0609020204030204" pitchFamily="49" charset="0"/>
                <a:ea typeface="楷体_GB2312" pitchFamily="49" charset="-122"/>
              </a:rPr>
              <a:t>int</a:t>
            </a:r>
            <a:r>
              <a:rPr lang="en-US" altLang="zh-CN" sz="1600">
                <a:latin typeface="Consolas" panose="020B0609020204030204" pitchFamily="49" charset="0"/>
                <a:ea typeface="楷体_GB2312" pitchFamily="49" charset="-122"/>
              </a:rPr>
              <a:t> i;</a:t>
            </a:r>
          </a:p>
          <a:p>
            <a:pPr>
              <a:defRPr/>
            </a:pPr>
            <a:endParaRPr lang="en-US" altLang="zh-CN" sz="1600">
              <a:latin typeface="Consolas" panose="020B0609020204030204" pitchFamily="49" charset="0"/>
              <a:ea typeface="楷体_GB2312" pitchFamily="49" charset="-122"/>
            </a:endParaRPr>
          </a:p>
          <a:p>
            <a:pPr>
              <a:defRPr/>
            </a:pPr>
            <a:r>
              <a:rPr lang="en-US" altLang="zh-CN" sz="1600">
                <a:solidFill>
                  <a:srgbClr val="FF3399"/>
                </a:solidFill>
                <a:latin typeface="Consolas" panose="020B0609020204030204" pitchFamily="49" charset="0"/>
                <a:ea typeface="楷体_GB2312" pitchFamily="49" charset="-122"/>
              </a:rPr>
              <a:t>protected</a:t>
            </a:r>
            <a:r>
              <a:rPr lang="en-US" altLang="zh-CN" sz="1600">
                <a:latin typeface="Consolas" panose="020B0609020204030204" pitchFamily="49" charset="0"/>
                <a:ea typeface="楷体_GB2312" pitchFamily="49" charset="-122"/>
              </a:rPr>
              <a:t>:</a:t>
            </a:r>
          </a:p>
          <a:p>
            <a:pPr>
              <a:defRPr/>
            </a:pPr>
            <a:r>
              <a:rPr lang="en-US" altLang="zh-CN" sz="1600">
                <a:latin typeface="Consolas" panose="020B0609020204030204" pitchFamily="49" charset="0"/>
                <a:ea typeface="楷体_GB2312" pitchFamily="49" charset="-122"/>
              </a:rPr>
              <a:t>  </a:t>
            </a:r>
            <a:r>
              <a:rPr lang="en-US" altLang="zh-CN" sz="1600">
                <a:solidFill>
                  <a:srgbClr val="0070C0"/>
                </a:solidFill>
                <a:latin typeface="Consolas" panose="020B0609020204030204" pitchFamily="49" charset="0"/>
                <a:ea typeface="楷体_GB2312" pitchFamily="49" charset="-122"/>
              </a:rPr>
              <a:t>int</a:t>
            </a:r>
            <a:r>
              <a:rPr lang="en-US" altLang="zh-CN" sz="1600">
                <a:latin typeface="Consolas" panose="020B0609020204030204" pitchFamily="49" charset="0"/>
                <a:ea typeface="楷体_GB2312" pitchFamily="49" charset="-122"/>
              </a:rPr>
              <a:t> j;</a:t>
            </a:r>
          </a:p>
          <a:p>
            <a:pPr>
              <a:defRPr/>
            </a:pPr>
            <a:endParaRPr lang="en-US" altLang="zh-CN" sz="1600">
              <a:latin typeface="Consolas" panose="020B0609020204030204" pitchFamily="49" charset="0"/>
              <a:ea typeface="楷体_GB2312" pitchFamily="49" charset="-122"/>
            </a:endParaRPr>
          </a:p>
          <a:p>
            <a:pPr>
              <a:defRPr/>
            </a:pPr>
            <a:r>
              <a:rPr lang="en-US" altLang="zh-CN" sz="1600">
                <a:solidFill>
                  <a:srgbClr val="FF3399"/>
                </a:solidFill>
                <a:latin typeface="Consolas" panose="020B0609020204030204" pitchFamily="49" charset="0"/>
                <a:ea typeface="楷体_GB2312" pitchFamily="49" charset="-122"/>
              </a:rPr>
              <a:t>private</a:t>
            </a:r>
            <a:r>
              <a:rPr lang="en-US" altLang="zh-CN" sz="1600">
                <a:latin typeface="Consolas" panose="020B0609020204030204" pitchFamily="49" charset="0"/>
                <a:ea typeface="楷体_GB2312" pitchFamily="49" charset="-122"/>
              </a:rPr>
              <a:t>:</a:t>
            </a:r>
          </a:p>
          <a:p>
            <a:pPr>
              <a:defRPr/>
            </a:pPr>
            <a:r>
              <a:rPr lang="en-US" altLang="zh-CN" sz="1600">
                <a:latin typeface="Consolas" panose="020B0609020204030204" pitchFamily="49" charset="0"/>
                <a:ea typeface="楷体_GB2312" pitchFamily="49" charset="-122"/>
              </a:rPr>
              <a:t>  </a:t>
            </a:r>
            <a:r>
              <a:rPr lang="en-US" altLang="zh-CN" sz="1600">
                <a:solidFill>
                  <a:srgbClr val="0070C0"/>
                </a:solidFill>
                <a:latin typeface="Consolas" panose="020B0609020204030204" pitchFamily="49" charset="0"/>
                <a:ea typeface="楷体_GB2312" pitchFamily="49" charset="-122"/>
              </a:rPr>
              <a:t>int</a:t>
            </a:r>
            <a:r>
              <a:rPr lang="en-US" altLang="zh-CN" sz="1600">
                <a:latin typeface="Consolas" panose="020B0609020204030204" pitchFamily="49" charset="0"/>
                <a:ea typeface="楷体_GB2312" pitchFamily="49" charset="-122"/>
              </a:rPr>
              <a:t> k;</a:t>
            </a:r>
          </a:p>
          <a:p>
            <a:pPr>
              <a:defRPr/>
            </a:pPr>
            <a:r>
              <a:rPr lang="en-US" altLang="zh-CN" sz="1600">
                <a:latin typeface="Consolas" panose="020B0609020204030204" pitchFamily="49" charset="0"/>
                <a:ea typeface="楷体_GB2312" pitchFamily="49" charset="-122"/>
              </a:rPr>
              <a:t>};</a:t>
            </a:r>
            <a:endParaRPr lang="en-US" altLang="zh-CN" sz="1600">
              <a:latin typeface="Consolas" panose="020B0609020204030204" pitchFamily="49" charset="0"/>
              <a:ea typeface="楷体_GB2312" pitchFamily="49" charset="-122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819400" y="2859546"/>
            <a:ext cx="30494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>
                <a:latin typeface="Arial" panose="020B0604020202020204" pitchFamily="34" charset="0"/>
                <a:cs typeface="Arial" panose="020B0604020202020204" pitchFamily="34" charset="0"/>
              </a:rPr>
              <a:t>Visibility increases</a:t>
            </a:r>
            <a:endParaRPr lang="zh-CN" alt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2515330" y="3259656"/>
            <a:ext cx="411334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>
                <a:latin typeface="Arial" panose="020B0604020202020204" pitchFamily="34" charset="0"/>
                <a:cs typeface="Arial" panose="020B0604020202020204" pitchFamily="34" charset="0"/>
              </a:rPr>
              <a:t>private, protected, public</a:t>
            </a:r>
            <a:endParaRPr lang="zh-CN" altLang="en-US" sz="20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" name="直接箭头连接符 4"/>
          <p:cNvCxnSpPr/>
          <p:nvPr/>
        </p:nvCxnSpPr>
        <p:spPr>
          <a:xfrm>
            <a:off x="2342068" y="3264172"/>
            <a:ext cx="3579940" cy="0"/>
          </a:xfrm>
          <a:prstGeom prst="straightConnector1">
            <a:avLst/>
          </a:prstGeom>
          <a:ln w="31750">
            <a:solidFill>
              <a:srgbClr val="FF3399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>
            <a:off x="1538510" y="3810963"/>
            <a:ext cx="3619417" cy="2534916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</p:spPr>
        <p:txBody>
          <a:bodyPr wrap="square" tIns="36000" rIns="0" bIns="36000">
            <a:spAutoFit/>
          </a:bodyPr>
          <a:lstStyle/>
          <a:p>
            <a:pPr>
              <a:defRPr/>
            </a:pPr>
            <a:r>
              <a:rPr lang="en-US" altLang="zh-CN" sz="1600">
                <a:solidFill>
                  <a:srgbClr val="0070C0"/>
                </a:solidFill>
                <a:latin typeface="Consolas" panose="020B0609020204030204" pitchFamily="49" charset="0"/>
                <a:ea typeface="楷体_GB2312" pitchFamily="49" charset="-122"/>
              </a:rPr>
              <a:t>class</a:t>
            </a:r>
            <a:r>
              <a:rPr lang="en-US" altLang="zh-CN" sz="1600">
                <a:latin typeface="Consolas" panose="020B0609020204030204" pitchFamily="49" charset="0"/>
                <a:ea typeface="楷体_GB2312" pitchFamily="49" charset="-122"/>
              </a:rPr>
              <a:t> </a:t>
            </a:r>
            <a:r>
              <a:rPr lang="en-US" altLang="zh-CN" sz="1600">
                <a:solidFill>
                  <a:srgbClr val="00B050"/>
                </a:solidFill>
                <a:latin typeface="Consolas" panose="020B0609020204030204" pitchFamily="49" charset="0"/>
                <a:ea typeface="楷体_GB2312" pitchFamily="49" charset="-122"/>
              </a:rPr>
              <a:t>A</a:t>
            </a:r>
            <a:r>
              <a:rPr lang="en-US" altLang="zh-CN" sz="1600">
                <a:latin typeface="Consolas" panose="020B0609020204030204" pitchFamily="49" charset="0"/>
                <a:ea typeface="楷体_GB2312" pitchFamily="49" charset="-122"/>
              </a:rPr>
              <a:t>: </a:t>
            </a:r>
            <a:r>
              <a:rPr lang="en-US" altLang="zh-CN" sz="1600">
                <a:solidFill>
                  <a:srgbClr val="FF3399"/>
                </a:solidFill>
                <a:latin typeface="Consolas" panose="020B0609020204030204" pitchFamily="49" charset="0"/>
                <a:ea typeface="楷体_GB2312" pitchFamily="49" charset="-122"/>
              </a:rPr>
              <a:t>public</a:t>
            </a:r>
            <a:r>
              <a:rPr lang="en-US" altLang="zh-CN" sz="1600">
                <a:latin typeface="Consolas" panose="020B0609020204030204" pitchFamily="49" charset="0"/>
                <a:ea typeface="楷体_GB2312" pitchFamily="49" charset="-122"/>
              </a:rPr>
              <a:t> </a:t>
            </a:r>
            <a:r>
              <a:rPr lang="en-US" altLang="zh-CN" sz="1600">
                <a:solidFill>
                  <a:srgbClr val="00B050"/>
                </a:solidFill>
                <a:latin typeface="Consolas" panose="020B0609020204030204" pitchFamily="49" charset="0"/>
                <a:ea typeface="楷体_GB2312" pitchFamily="49" charset="-122"/>
              </a:rPr>
              <a:t>B</a:t>
            </a:r>
          </a:p>
          <a:p>
            <a:pPr>
              <a:defRPr/>
            </a:pPr>
            <a:r>
              <a:rPr lang="en-US" altLang="zh-CN" sz="1600">
                <a:latin typeface="Consolas" panose="020B0609020204030204" pitchFamily="49" charset="0"/>
                <a:ea typeface="楷体_GB2312" pitchFamily="49" charset="-122"/>
              </a:rPr>
              <a:t>{</a:t>
            </a:r>
          </a:p>
          <a:p>
            <a:pPr>
              <a:defRPr/>
            </a:pPr>
            <a:r>
              <a:rPr lang="en-US" altLang="zh-CN" sz="1600">
                <a:solidFill>
                  <a:srgbClr val="FF3399"/>
                </a:solidFill>
                <a:latin typeface="Consolas" panose="020B0609020204030204" pitchFamily="49" charset="0"/>
                <a:ea typeface="楷体_GB2312" pitchFamily="49" charset="-122"/>
              </a:rPr>
              <a:t>public</a:t>
            </a:r>
            <a:r>
              <a:rPr lang="en-US" altLang="zh-CN" sz="1600">
                <a:latin typeface="Consolas" panose="020B0609020204030204" pitchFamily="49" charset="0"/>
                <a:ea typeface="楷体_GB2312" pitchFamily="49" charset="-122"/>
              </a:rPr>
              <a:t>:</a:t>
            </a:r>
          </a:p>
          <a:p>
            <a:pPr>
              <a:defRPr/>
            </a:pPr>
            <a:r>
              <a:rPr lang="en-US" altLang="zh-CN" sz="1600">
                <a:latin typeface="Consolas" panose="020B0609020204030204" pitchFamily="49" charset="0"/>
                <a:ea typeface="楷体_GB2312" pitchFamily="49" charset="-122"/>
              </a:rPr>
              <a:t>  </a:t>
            </a:r>
            <a:r>
              <a:rPr lang="en-US" altLang="zh-CN" sz="1600">
                <a:solidFill>
                  <a:srgbClr val="0070C0"/>
                </a:solidFill>
                <a:latin typeface="Consolas" panose="020B0609020204030204" pitchFamily="49" charset="0"/>
                <a:ea typeface="楷体_GB2312" pitchFamily="49" charset="-122"/>
              </a:rPr>
              <a:t>void</a:t>
            </a:r>
            <a:r>
              <a:rPr lang="en-US" altLang="zh-CN" sz="1600">
                <a:latin typeface="Consolas" panose="020B0609020204030204" pitchFamily="49" charset="0"/>
                <a:ea typeface="楷体_GB2312" pitchFamily="49" charset="-122"/>
              </a:rPr>
              <a:t> </a:t>
            </a:r>
            <a:r>
              <a:rPr lang="en-US" altLang="zh-CN" sz="1600">
                <a:solidFill>
                  <a:srgbClr val="00B050"/>
                </a:solidFill>
                <a:latin typeface="Consolas" panose="020B0609020204030204" pitchFamily="49" charset="0"/>
                <a:ea typeface="楷体_GB2312" pitchFamily="49" charset="-122"/>
              </a:rPr>
              <a:t>display</a:t>
            </a:r>
            <a:r>
              <a:rPr lang="en-US" altLang="zh-CN" sz="1600">
                <a:latin typeface="Consolas" panose="020B0609020204030204" pitchFamily="49" charset="0"/>
                <a:ea typeface="楷体_GB2312" pitchFamily="49" charset="-122"/>
              </a:rPr>
              <a:t>() </a:t>
            </a:r>
            <a:r>
              <a:rPr lang="en-US" altLang="zh-CN" sz="1600">
                <a:solidFill>
                  <a:srgbClr val="FF3399"/>
                </a:solidFill>
                <a:latin typeface="Consolas" panose="020B0609020204030204" pitchFamily="49" charset="0"/>
                <a:ea typeface="楷体_GB2312" pitchFamily="49" charset="-122"/>
              </a:rPr>
              <a:t>const</a:t>
            </a:r>
          </a:p>
          <a:p>
            <a:pPr>
              <a:defRPr/>
            </a:pPr>
            <a:r>
              <a:rPr lang="en-US" altLang="zh-CN" sz="1600">
                <a:latin typeface="Consolas" panose="020B0609020204030204" pitchFamily="49" charset="0"/>
                <a:ea typeface="楷体_GB2312" pitchFamily="49" charset="-122"/>
              </a:rPr>
              <a:t>  {</a:t>
            </a:r>
          </a:p>
          <a:p>
            <a:pPr>
              <a:defRPr/>
            </a:pPr>
            <a:r>
              <a:rPr lang="en-US" altLang="zh-CN" sz="1600">
                <a:latin typeface="Consolas" panose="020B0609020204030204" pitchFamily="49" charset="0"/>
                <a:ea typeface="楷体_GB2312" pitchFamily="49" charset="-122"/>
              </a:rPr>
              <a:t>    cout &lt;&lt; i &lt;&lt; endl; </a:t>
            </a:r>
            <a:r>
              <a:rPr lang="en-US" altLang="zh-CN" sz="160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ea typeface="楷体_GB2312" pitchFamily="49" charset="-122"/>
              </a:rPr>
              <a:t>// </a:t>
            </a:r>
            <a:r>
              <a:rPr lang="en-US" altLang="zh-CN" sz="1600" b="1">
                <a:solidFill>
                  <a:srgbClr val="00B050"/>
                </a:solidFill>
                <a:latin typeface="Consolas" panose="020B0609020204030204" pitchFamily="49" charset="0"/>
                <a:ea typeface="楷体_GB2312" pitchFamily="49" charset="-122"/>
              </a:rPr>
              <a:t>F</a:t>
            </a:r>
            <a:r>
              <a:rPr lang="en-US" altLang="zh-CN" sz="160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ea typeface="楷体_GB2312" pitchFamily="49" charset="-122"/>
              </a:rPr>
              <a:t>ine</a:t>
            </a:r>
          </a:p>
          <a:p>
            <a:pPr>
              <a:defRPr/>
            </a:pPr>
            <a:r>
              <a:rPr lang="en-US" altLang="zh-CN" sz="1600">
                <a:latin typeface="Consolas" panose="020B0609020204030204" pitchFamily="49" charset="0"/>
                <a:ea typeface="楷体_GB2312" pitchFamily="49" charset="-122"/>
              </a:rPr>
              <a:t>    cout &lt;&lt; j &lt;&lt; endl; </a:t>
            </a:r>
            <a:r>
              <a:rPr lang="en-US" altLang="zh-CN" sz="160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ea typeface="楷体_GB2312" pitchFamily="49" charset="-122"/>
              </a:rPr>
              <a:t>// </a:t>
            </a:r>
            <a:r>
              <a:rPr lang="en-US" altLang="zh-CN" sz="1600" b="1">
                <a:solidFill>
                  <a:srgbClr val="00B050"/>
                </a:solidFill>
                <a:latin typeface="Consolas" panose="020B0609020204030204" pitchFamily="49" charset="0"/>
                <a:ea typeface="楷体_GB2312" pitchFamily="49" charset="-122"/>
              </a:rPr>
              <a:t>F</a:t>
            </a:r>
            <a:r>
              <a:rPr lang="en-US" altLang="zh-CN" sz="160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ea typeface="楷体_GB2312" pitchFamily="49" charset="-122"/>
              </a:rPr>
              <a:t>ine</a:t>
            </a:r>
          </a:p>
          <a:p>
            <a:pPr>
              <a:defRPr/>
            </a:pPr>
            <a:r>
              <a:rPr lang="en-US" altLang="zh-CN" sz="1600">
                <a:latin typeface="Consolas" panose="020B0609020204030204" pitchFamily="49" charset="0"/>
                <a:ea typeface="楷体_GB2312" pitchFamily="49" charset="-122"/>
              </a:rPr>
              <a:t>    cout &lt;&lt; k &lt;&lt; endl; </a:t>
            </a:r>
            <a:r>
              <a:rPr lang="en-US" altLang="zh-CN" sz="160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ea typeface="楷体_GB2312" pitchFamily="49" charset="-122"/>
              </a:rPr>
              <a:t>// </a:t>
            </a:r>
            <a:r>
              <a:rPr lang="en-US" altLang="zh-CN" sz="1600" b="1">
                <a:solidFill>
                  <a:srgbClr val="C00000"/>
                </a:solidFill>
                <a:latin typeface="Consolas" panose="020B0609020204030204" pitchFamily="49" charset="0"/>
                <a:ea typeface="楷体_GB2312" pitchFamily="49" charset="-122"/>
              </a:rPr>
              <a:t>W</a:t>
            </a:r>
            <a:r>
              <a:rPr lang="en-US" altLang="zh-CN" sz="160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ea typeface="楷体_GB2312" pitchFamily="49" charset="-122"/>
              </a:rPr>
              <a:t>rong</a:t>
            </a:r>
          </a:p>
          <a:p>
            <a:pPr>
              <a:defRPr/>
            </a:pPr>
            <a:r>
              <a:rPr lang="en-US" altLang="zh-CN" sz="1600">
                <a:latin typeface="Consolas" panose="020B0609020204030204" pitchFamily="49" charset="0"/>
                <a:ea typeface="楷体_GB2312" pitchFamily="49" charset="-122"/>
              </a:rPr>
              <a:t>  }</a:t>
            </a:r>
          </a:p>
          <a:p>
            <a:pPr>
              <a:defRPr/>
            </a:pPr>
            <a:r>
              <a:rPr lang="en-US" altLang="zh-CN" sz="1600">
                <a:latin typeface="Consolas" panose="020B0609020204030204" pitchFamily="49" charset="0"/>
                <a:ea typeface="楷体_GB2312" pitchFamily="49" charset="-122"/>
              </a:rPr>
              <a:t>};</a:t>
            </a:r>
            <a:endParaRPr lang="en-US" altLang="zh-CN" sz="1600">
              <a:latin typeface="Consolas" panose="020B0609020204030204" pitchFamily="49" charset="0"/>
              <a:ea typeface="楷体_GB2312" pitchFamily="49" charset="-122"/>
              <a:cs typeface="+mn-cs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5234655" y="3810000"/>
            <a:ext cx="3581400" cy="2288694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</p:spPr>
        <p:txBody>
          <a:bodyPr wrap="square" tIns="36000" rIns="0" bIns="36000">
            <a:spAutoFit/>
          </a:bodyPr>
          <a:lstStyle/>
          <a:p>
            <a:pPr>
              <a:defRPr/>
            </a:pPr>
            <a:r>
              <a:rPr lang="en-US" altLang="zh-CN" sz="1600">
                <a:solidFill>
                  <a:srgbClr val="0070C0"/>
                </a:solidFill>
                <a:latin typeface="Consolas" panose="020B0609020204030204" pitchFamily="49" charset="0"/>
                <a:ea typeface="楷体_GB2312" pitchFamily="49" charset="-122"/>
              </a:rPr>
              <a:t>int</a:t>
            </a:r>
            <a:r>
              <a:rPr lang="en-US" altLang="zh-CN" sz="1600">
                <a:latin typeface="Consolas" panose="020B0609020204030204" pitchFamily="49" charset="0"/>
                <a:ea typeface="楷体_GB2312" pitchFamily="49" charset="-122"/>
              </a:rPr>
              <a:t> </a:t>
            </a:r>
            <a:r>
              <a:rPr lang="en-US" altLang="zh-CN" sz="1600">
                <a:solidFill>
                  <a:srgbClr val="00B050"/>
                </a:solidFill>
                <a:latin typeface="Consolas" panose="020B0609020204030204" pitchFamily="49" charset="0"/>
                <a:ea typeface="楷体_GB2312" pitchFamily="49" charset="-122"/>
              </a:rPr>
              <a:t>main</a:t>
            </a:r>
            <a:r>
              <a:rPr lang="en-US" altLang="zh-CN" sz="1600">
                <a:latin typeface="Consolas" panose="020B0609020204030204" pitchFamily="49" charset="0"/>
                <a:ea typeface="楷体_GB2312" pitchFamily="49" charset="-122"/>
              </a:rPr>
              <a:t>()</a:t>
            </a:r>
          </a:p>
          <a:p>
            <a:pPr>
              <a:defRPr/>
            </a:pPr>
            <a:r>
              <a:rPr lang="en-US" altLang="zh-CN" sz="1600">
                <a:latin typeface="Consolas" panose="020B0609020204030204" pitchFamily="49" charset="0"/>
                <a:ea typeface="楷体_GB2312" pitchFamily="49" charset="-122"/>
              </a:rPr>
              <a:t>{</a:t>
            </a:r>
          </a:p>
          <a:p>
            <a:pPr>
              <a:defRPr/>
            </a:pPr>
            <a:r>
              <a:rPr lang="en-US" altLang="zh-CN" sz="1600">
                <a:latin typeface="Consolas" panose="020B0609020204030204" pitchFamily="49" charset="0"/>
                <a:ea typeface="楷体_GB2312" pitchFamily="49" charset="-122"/>
              </a:rPr>
              <a:t>  A a;</a:t>
            </a:r>
          </a:p>
          <a:p>
            <a:pPr>
              <a:defRPr/>
            </a:pPr>
            <a:r>
              <a:rPr lang="en-US" altLang="zh-CN" sz="1600">
                <a:latin typeface="Consolas" panose="020B0609020204030204" pitchFamily="49" charset="0"/>
                <a:ea typeface="楷体_GB2312" pitchFamily="49" charset="-122"/>
              </a:rPr>
              <a:t>  cout &lt;&lt; a.i &lt;&lt; endl; </a:t>
            </a:r>
            <a:r>
              <a:rPr lang="en-US" altLang="zh-CN" sz="160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ea typeface="楷体_GB2312" pitchFamily="49" charset="-122"/>
              </a:rPr>
              <a:t>// </a:t>
            </a:r>
            <a:r>
              <a:rPr lang="en-US" altLang="zh-CN" sz="1600" b="1">
                <a:solidFill>
                  <a:srgbClr val="00B050"/>
                </a:solidFill>
                <a:latin typeface="Consolas" panose="020B0609020204030204" pitchFamily="49" charset="0"/>
                <a:ea typeface="楷体_GB2312" pitchFamily="49" charset="-122"/>
              </a:rPr>
              <a:t>F</a:t>
            </a:r>
            <a:r>
              <a:rPr lang="en-US" altLang="zh-CN" sz="160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ea typeface="楷体_GB2312" pitchFamily="49" charset="-122"/>
              </a:rPr>
              <a:t>ine    </a:t>
            </a:r>
          </a:p>
          <a:p>
            <a:pPr>
              <a:defRPr/>
            </a:pPr>
            <a:r>
              <a:rPr lang="en-US" altLang="zh-CN" sz="1600">
                <a:latin typeface="Consolas" panose="020B0609020204030204" pitchFamily="49" charset="0"/>
                <a:ea typeface="楷体_GB2312" pitchFamily="49" charset="-122"/>
              </a:rPr>
              <a:t>  cout &lt;&lt; a.j &lt;&lt; endl; </a:t>
            </a:r>
            <a:r>
              <a:rPr lang="en-US" altLang="zh-CN" sz="160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ea typeface="楷体_GB2312" pitchFamily="49" charset="-122"/>
              </a:rPr>
              <a:t>// </a:t>
            </a:r>
            <a:r>
              <a:rPr lang="en-US" altLang="zh-CN" sz="1600" b="1">
                <a:solidFill>
                  <a:srgbClr val="C00000"/>
                </a:solidFill>
                <a:latin typeface="Consolas" panose="020B0609020204030204" pitchFamily="49" charset="0"/>
                <a:ea typeface="楷体_GB2312" pitchFamily="49" charset="-122"/>
              </a:rPr>
              <a:t>W</a:t>
            </a:r>
            <a:r>
              <a:rPr lang="en-US" altLang="zh-CN" sz="160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ea typeface="楷体_GB2312" pitchFamily="49" charset="-122"/>
              </a:rPr>
              <a:t>rong</a:t>
            </a:r>
          </a:p>
          <a:p>
            <a:pPr>
              <a:defRPr/>
            </a:pPr>
            <a:r>
              <a:rPr lang="en-US" altLang="zh-CN" sz="1600">
                <a:latin typeface="Consolas" panose="020B0609020204030204" pitchFamily="49" charset="0"/>
                <a:ea typeface="楷体_GB2312" pitchFamily="49" charset="-122"/>
              </a:rPr>
              <a:t>  cout &lt;&lt; a.k &lt;&lt; endl; </a:t>
            </a:r>
            <a:r>
              <a:rPr lang="en-US" altLang="zh-CN" sz="160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ea typeface="楷体_GB2312" pitchFamily="49" charset="-122"/>
              </a:rPr>
              <a:t>// </a:t>
            </a:r>
            <a:r>
              <a:rPr lang="en-US" altLang="zh-CN" sz="1600" b="1">
                <a:solidFill>
                  <a:srgbClr val="C00000"/>
                </a:solidFill>
                <a:latin typeface="Consolas" panose="020B0609020204030204" pitchFamily="49" charset="0"/>
                <a:ea typeface="楷体_GB2312" pitchFamily="49" charset="-122"/>
              </a:rPr>
              <a:t>W</a:t>
            </a:r>
            <a:r>
              <a:rPr lang="en-US" altLang="zh-CN" sz="160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ea typeface="楷体_GB2312" pitchFamily="49" charset="-122"/>
              </a:rPr>
              <a:t>rong</a:t>
            </a:r>
          </a:p>
          <a:p>
            <a:pPr>
              <a:defRPr/>
            </a:pPr>
            <a:endParaRPr lang="en-US" altLang="zh-CN" sz="1600">
              <a:latin typeface="Consolas" panose="020B0609020204030204" pitchFamily="49" charset="0"/>
              <a:ea typeface="楷体_GB2312" pitchFamily="49" charset="-122"/>
            </a:endParaRPr>
          </a:p>
          <a:p>
            <a:pPr>
              <a:defRPr/>
            </a:pPr>
            <a:r>
              <a:rPr lang="en-US" altLang="zh-CN" sz="1600">
                <a:latin typeface="Consolas" panose="020B0609020204030204" pitchFamily="49" charset="0"/>
                <a:ea typeface="楷体_GB2312" pitchFamily="49" charset="-122"/>
              </a:rPr>
              <a:t>  </a:t>
            </a:r>
            <a:r>
              <a:rPr lang="en-US" altLang="zh-CN" sz="1600">
                <a:solidFill>
                  <a:srgbClr val="FF3399"/>
                </a:solidFill>
                <a:latin typeface="Consolas" panose="020B0609020204030204" pitchFamily="49" charset="0"/>
                <a:ea typeface="楷体_GB2312" pitchFamily="49" charset="-122"/>
              </a:rPr>
              <a:t>return</a:t>
            </a:r>
            <a:r>
              <a:rPr lang="en-US" altLang="zh-CN" sz="1600">
                <a:latin typeface="Consolas" panose="020B0609020204030204" pitchFamily="49" charset="0"/>
                <a:ea typeface="楷体_GB2312" pitchFamily="49" charset="-122"/>
              </a:rPr>
              <a:t> </a:t>
            </a:r>
            <a:r>
              <a:rPr lang="en-US" altLang="zh-CN" sz="1600">
                <a:solidFill>
                  <a:srgbClr val="9966FF"/>
                </a:solidFill>
                <a:latin typeface="Consolas" panose="020B0609020204030204" pitchFamily="49" charset="0"/>
                <a:ea typeface="楷体_GB2312" pitchFamily="49" charset="-122"/>
              </a:rPr>
              <a:t>0</a:t>
            </a:r>
            <a:r>
              <a:rPr lang="en-US" altLang="zh-CN" sz="1600">
                <a:latin typeface="Consolas" panose="020B0609020204030204" pitchFamily="49" charset="0"/>
                <a:ea typeface="楷体_GB2312" pitchFamily="49" charset="-122"/>
              </a:rPr>
              <a:t>;</a:t>
            </a:r>
          </a:p>
          <a:p>
            <a:pPr>
              <a:defRPr/>
            </a:pPr>
            <a:r>
              <a:rPr lang="en-US" altLang="zh-CN" sz="1600">
                <a:latin typeface="Consolas" panose="020B0609020204030204" pitchFamily="49" charset="0"/>
                <a:ea typeface="楷体_GB2312" pitchFamily="49" charset="-122"/>
              </a:rPr>
              <a:t>}</a:t>
            </a:r>
            <a:endParaRPr lang="en-US" altLang="zh-CN" sz="1600">
              <a:latin typeface="Consolas" panose="020B0609020204030204" pitchFamily="49" charset="0"/>
              <a:ea typeface="楷体_GB2312" pitchFamily="49" charset="-122"/>
              <a:cs typeface="+mn-cs"/>
            </a:endParaRP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3" name="Rectangle 2"/>
          <p:cNvSpPr>
            <a:spLocks noGrp="1"/>
          </p:cNvSpPr>
          <p:nvPr>
            <p:ph type="title"/>
          </p:nvPr>
        </p:nvSpPr>
        <p:spPr>
          <a:xfrm>
            <a:off x="876300" y="457200"/>
            <a:ext cx="8267700" cy="381000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4000">
                <a:sym typeface="+mn-ea"/>
              </a:rPr>
              <a:t>Base Classes and Derived Classes</a:t>
            </a:r>
            <a:endParaRPr lang="en-US" altLang="zh-CN" sz="4000">
              <a:ea typeface="宋体" panose="02010600030101010101" pitchFamily="2" charset="-122"/>
            </a:endParaRPr>
          </a:p>
        </p:txBody>
      </p:sp>
      <p:sp>
        <p:nvSpPr>
          <p:cNvPr id="125955" name="灯片编号占位符 4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  <a:t>11</a:t>
            </a:fld>
            <a:endParaRPr lang="en-US" altLang="zh-CN" sz="1600" b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05504" y="3363421"/>
            <a:ext cx="3429000" cy="1437179"/>
          </a:xfrm>
          <a:prstGeom prst="rect">
            <a:avLst/>
          </a:prstGeom>
          <a:solidFill>
            <a:srgbClr val="00B0F0">
              <a:alpha val="10000"/>
            </a:srgbClr>
          </a:solidFill>
          <a:ln w="19050">
            <a:noFill/>
          </a:ln>
        </p:spPr>
        <p:txBody>
          <a:bodyPr wrap="square" tIns="36000" rIns="0" bIns="36000">
            <a:spAutoFit/>
          </a:bodyPr>
          <a:lstStyle/>
          <a:p>
            <a:pPr>
              <a:spcAft>
                <a:spcPts val="1000"/>
              </a:spcAft>
              <a:defRPr/>
            </a:pPr>
            <a:r>
              <a:rPr lang="en-US" altLang="zh-CN">
                <a:solidFill>
                  <a:srgbClr val="0070C0"/>
                </a:solidFill>
                <a:latin typeface="Consolas" panose="020B0609020204030204" pitchFamily="49" charset="0"/>
                <a:ea typeface="楷体_GB2312" pitchFamily="49" charset="-122"/>
                <a:cs typeface="Arial" panose="020B0604020202020204" pitchFamily="34" charset="0"/>
              </a:rPr>
              <a:t>class</a:t>
            </a:r>
            <a:r>
              <a:rPr lang="en-US" altLang="zh-CN">
                <a:latin typeface="Consolas" panose="020B0609020204030204" pitchFamily="49" charset="0"/>
                <a:ea typeface="楷体_GB2312" pitchFamily="49" charset="-122"/>
                <a:cs typeface="Arial" panose="020B0604020202020204" pitchFamily="34" charset="0"/>
              </a:rPr>
              <a:t> </a:t>
            </a:r>
            <a:r>
              <a:rPr lang="en-US" altLang="zh-CN">
                <a:solidFill>
                  <a:srgbClr val="00B050"/>
                </a:solidFill>
                <a:latin typeface="Consolas" panose="020B0609020204030204" pitchFamily="49" charset="0"/>
                <a:ea typeface="楷体_GB2312" pitchFamily="49" charset="-122"/>
                <a:cs typeface="Arial" panose="020B0604020202020204" pitchFamily="34" charset="0"/>
              </a:rPr>
              <a:t>A</a:t>
            </a:r>
            <a:r>
              <a:rPr lang="en-US" altLang="zh-CN">
                <a:latin typeface="Consolas" panose="020B0609020204030204" pitchFamily="49" charset="0"/>
                <a:ea typeface="楷体_GB2312" pitchFamily="49" charset="-122"/>
                <a:cs typeface="Arial" panose="020B0604020202020204" pitchFamily="34" charset="0"/>
              </a:rPr>
              <a:t>:</a:t>
            </a:r>
            <a:r>
              <a:rPr lang="en-US" altLang="zh-CN">
                <a:solidFill>
                  <a:srgbClr val="FF3399"/>
                </a:solidFill>
                <a:latin typeface="Consolas" panose="020B0609020204030204" pitchFamily="49" charset="0"/>
                <a:ea typeface="楷体_GB2312" pitchFamily="49" charset="-122"/>
                <a:cs typeface="Arial" panose="020B0604020202020204" pitchFamily="34" charset="0"/>
              </a:rPr>
              <a:t>public</a:t>
            </a:r>
            <a:r>
              <a:rPr lang="en-US" altLang="zh-CN">
                <a:latin typeface="Consolas" panose="020B0609020204030204" pitchFamily="49" charset="0"/>
                <a:ea typeface="楷体_GB2312" pitchFamily="49" charset="-122"/>
                <a:cs typeface="Arial" panose="020B0604020202020204" pitchFamily="34" charset="0"/>
              </a:rPr>
              <a:t> </a:t>
            </a:r>
            <a:r>
              <a:rPr lang="en-US" altLang="zh-CN" i="1">
                <a:solidFill>
                  <a:srgbClr val="00B050"/>
                </a:solidFill>
                <a:latin typeface="Consolas" panose="020B0609020204030204" pitchFamily="49" charset="0"/>
                <a:ea typeface="楷体_GB2312" pitchFamily="49" charset="-122"/>
                <a:cs typeface="Arial" panose="020B0604020202020204" pitchFamily="34" charset="0"/>
              </a:rPr>
              <a:t>B</a:t>
            </a:r>
          </a:p>
          <a:p>
            <a:pPr>
              <a:spcAft>
                <a:spcPts val="1000"/>
              </a:spcAft>
              <a:defRPr/>
            </a:pPr>
            <a:r>
              <a:rPr lang="en-US" altLang="zh-CN">
                <a:solidFill>
                  <a:srgbClr val="0070C0"/>
                </a:solidFill>
                <a:latin typeface="Consolas" panose="020B0609020204030204" pitchFamily="49" charset="0"/>
                <a:ea typeface="楷体_GB2312" pitchFamily="49" charset="-122"/>
                <a:cs typeface="Arial" panose="020B0604020202020204" pitchFamily="34" charset="0"/>
              </a:rPr>
              <a:t>class</a:t>
            </a:r>
            <a:r>
              <a:rPr lang="en-US" altLang="zh-CN">
                <a:latin typeface="Consolas" panose="020B0609020204030204" pitchFamily="49" charset="0"/>
                <a:ea typeface="楷体_GB2312" pitchFamily="49" charset="-122"/>
                <a:cs typeface="Arial" panose="020B0604020202020204" pitchFamily="34" charset="0"/>
              </a:rPr>
              <a:t> </a:t>
            </a:r>
            <a:r>
              <a:rPr lang="en-US" altLang="zh-CN">
                <a:solidFill>
                  <a:srgbClr val="00B050"/>
                </a:solidFill>
                <a:latin typeface="Consolas" panose="020B0609020204030204" pitchFamily="49" charset="0"/>
                <a:ea typeface="楷体_GB2312" pitchFamily="49" charset="-122"/>
                <a:cs typeface="Arial" panose="020B0604020202020204" pitchFamily="34" charset="0"/>
              </a:rPr>
              <a:t>A</a:t>
            </a:r>
            <a:r>
              <a:rPr lang="en-US" altLang="zh-CN">
                <a:latin typeface="Consolas" panose="020B0609020204030204" pitchFamily="49" charset="0"/>
                <a:ea typeface="楷体_GB2312" pitchFamily="49" charset="-122"/>
                <a:cs typeface="Arial" panose="020B0604020202020204" pitchFamily="34" charset="0"/>
              </a:rPr>
              <a:t>:</a:t>
            </a:r>
            <a:r>
              <a:rPr lang="en-US" altLang="zh-CN">
                <a:solidFill>
                  <a:srgbClr val="FF3399"/>
                </a:solidFill>
                <a:latin typeface="Consolas" panose="020B0609020204030204" pitchFamily="49" charset="0"/>
                <a:ea typeface="楷体_GB2312" pitchFamily="49" charset="-122"/>
                <a:cs typeface="Arial" panose="020B0604020202020204" pitchFamily="34" charset="0"/>
              </a:rPr>
              <a:t>protected </a:t>
            </a:r>
            <a:r>
              <a:rPr lang="en-US" altLang="zh-CN" i="1">
                <a:solidFill>
                  <a:srgbClr val="00B050"/>
                </a:solidFill>
                <a:latin typeface="Consolas" panose="020B0609020204030204" pitchFamily="49" charset="0"/>
                <a:ea typeface="楷体_GB2312" pitchFamily="49" charset="-122"/>
                <a:cs typeface="Arial" panose="020B0604020202020204" pitchFamily="34" charset="0"/>
              </a:rPr>
              <a:t>B</a:t>
            </a:r>
          </a:p>
          <a:p>
            <a:pPr>
              <a:spcAft>
                <a:spcPts val="1000"/>
              </a:spcAft>
              <a:defRPr/>
            </a:pPr>
            <a:r>
              <a:rPr lang="en-US" altLang="zh-CN">
                <a:solidFill>
                  <a:srgbClr val="0070C0"/>
                </a:solidFill>
                <a:latin typeface="Consolas" panose="020B0609020204030204" pitchFamily="49" charset="0"/>
                <a:ea typeface="楷体_GB2312" pitchFamily="49" charset="-122"/>
                <a:cs typeface="Arial" panose="020B0604020202020204" pitchFamily="34" charset="0"/>
              </a:rPr>
              <a:t>class</a:t>
            </a:r>
            <a:r>
              <a:rPr lang="en-US" altLang="zh-CN">
                <a:latin typeface="Consolas" panose="020B0609020204030204" pitchFamily="49" charset="0"/>
                <a:ea typeface="楷体_GB2312" pitchFamily="49" charset="-122"/>
                <a:cs typeface="Arial" panose="020B0604020202020204" pitchFamily="34" charset="0"/>
              </a:rPr>
              <a:t> </a:t>
            </a:r>
            <a:r>
              <a:rPr lang="en-US" altLang="zh-CN">
                <a:solidFill>
                  <a:srgbClr val="00B050"/>
                </a:solidFill>
                <a:latin typeface="Consolas" panose="020B0609020204030204" pitchFamily="49" charset="0"/>
                <a:ea typeface="楷体_GB2312" pitchFamily="49" charset="-122"/>
                <a:cs typeface="Arial" panose="020B0604020202020204" pitchFamily="34" charset="0"/>
              </a:rPr>
              <a:t>A</a:t>
            </a:r>
            <a:r>
              <a:rPr lang="en-US" altLang="zh-CN">
                <a:latin typeface="Consolas" panose="020B0609020204030204" pitchFamily="49" charset="0"/>
                <a:ea typeface="楷体_GB2312" pitchFamily="49" charset="-122"/>
                <a:cs typeface="Arial" panose="020B0604020202020204" pitchFamily="34" charset="0"/>
              </a:rPr>
              <a:t>:</a:t>
            </a:r>
            <a:r>
              <a:rPr lang="en-US" altLang="zh-CN">
                <a:solidFill>
                  <a:srgbClr val="FF3399"/>
                </a:solidFill>
                <a:latin typeface="Consolas" panose="020B0609020204030204" pitchFamily="49" charset="0"/>
                <a:ea typeface="楷体_GB2312" pitchFamily="49" charset="-122"/>
                <a:cs typeface="Arial" panose="020B0604020202020204" pitchFamily="34" charset="0"/>
              </a:rPr>
              <a:t>private </a:t>
            </a:r>
            <a:r>
              <a:rPr lang="en-US" altLang="zh-CN" i="1">
                <a:solidFill>
                  <a:srgbClr val="00B050"/>
                </a:solidFill>
                <a:latin typeface="Consolas" panose="020B0609020204030204" pitchFamily="49" charset="0"/>
                <a:ea typeface="楷体_GB2312" pitchFamily="49" charset="-122"/>
                <a:cs typeface="Arial" panose="020B0604020202020204" pitchFamily="34" charset="0"/>
              </a:rPr>
              <a:t>B</a:t>
            </a:r>
            <a:endParaRPr lang="en-US" altLang="zh-CN">
              <a:solidFill>
                <a:srgbClr val="FF3399"/>
              </a:solidFill>
              <a:latin typeface="Consolas" panose="020B0609020204030204" pitchFamily="49" charset="0"/>
              <a:ea typeface="楷体_GB2312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3534504" y="3363421"/>
            <a:ext cx="1828800" cy="1437179"/>
          </a:xfrm>
          <a:prstGeom prst="rect">
            <a:avLst/>
          </a:prstGeom>
          <a:solidFill>
            <a:srgbClr val="00B0F0">
              <a:alpha val="10000"/>
            </a:srgbClr>
          </a:solidFill>
          <a:ln w="19050">
            <a:noFill/>
          </a:ln>
        </p:spPr>
        <p:txBody>
          <a:bodyPr wrap="square" tIns="36000" rIns="0" bIns="36000">
            <a:spAutoFit/>
          </a:bodyPr>
          <a:lstStyle/>
          <a:p>
            <a:pPr>
              <a:spcAft>
                <a:spcPts val="1000"/>
              </a:spcAft>
              <a:defRPr/>
            </a:pPr>
            <a:r>
              <a:rPr lang="en-US" altLang="zh-CN" dirty="0">
                <a:solidFill>
                  <a:srgbClr val="FF3399"/>
                </a:solidFill>
                <a:latin typeface="Consolas" panose="020B0609020204030204" pitchFamily="49" charset="0"/>
                <a:ea typeface="楷体_GB2312" pitchFamily="49" charset="-122"/>
                <a:cs typeface="Arial" panose="020B0604020202020204" pitchFamily="34" charset="0"/>
              </a:rPr>
              <a:t>public</a:t>
            </a:r>
          </a:p>
          <a:p>
            <a:pPr>
              <a:spcAft>
                <a:spcPts val="1000"/>
              </a:spcAft>
              <a:defRPr/>
            </a:pPr>
            <a:r>
              <a:rPr lang="en-US" altLang="zh-CN" dirty="0">
                <a:solidFill>
                  <a:srgbClr val="FF3399"/>
                </a:solidFill>
                <a:latin typeface="Consolas" panose="020B0609020204030204" pitchFamily="49" charset="0"/>
                <a:ea typeface="楷体_GB2312" pitchFamily="49" charset="-122"/>
                <a:cs typeface="Arial" panose="020B0604020202020204" pitchFamily="34" charset="0"/>
              </a:rPr>
              <a:t>protected</a:t>
            </a:r>
          </a:p>
          <a:p>
            <a:pPr>
              <a:spcAft>
                <a:spcPts val="1000"/>
              </a:spcAft>
              <a:defRPr/>
            </a:pPr>
            <a:r>
              <a:rPr lang="en-US" altLang="zh-CN" dirty="0">
                <a:solidFill>
                  <a:srgbClr val="FF3399"/>
                </a:solidFill>
                <a:latin typeface="Consolas" panose="020B0609020204030204" pitchFamily="49" charset="0"/>
                <a:ea typeface="楷体_GB2312" pitchFamily="49" charset="-122"/>
                <a:cs typeface="Arial" panose="020B0604020202020204" pitchFamily="34" charset="0"/>
              </a:rPr>
              <a:t>private</a:t>
            </a:r>
          </a:p>
        </p:txBody>
      </p:sp>
      <p:sp>
        <p:nvSpPr>
          <p:cNvPr id="18" name="矩形 17"/>
          <p:cNvSpPr/>
          <p:nvPr/>
        </p:nvSpPr>
        <p:spPr>
          <a:xfrm>
            <a:off x="5363304" y="3363421"/>
            <a:ext cx="1828800" cy="1437179"/>
          </a:xfrm>
          <a:prstGeom prst="rect">
            <a:avLst/>
          </a:prstGeom>
          <a:solidFill>
            <a:srgbClr val="00B0F0">
              <a:alpha val="10000"/>
            </a:srgbClr>
          </a:solidFill>
          <a:ln w="19050">
            <a:noFill/>
          </a:ln>
        </p:spPr>
        <p:txBody>
          <a:bodyPr wrap="square" tIns="36000" rIns="0" bIns="36000">
            <a:spAutoFit/>
          </a:bodyPr>
          <a:lstStyle/>
          <a:p>
            <a:pPr>
              <a:spcAft>
                <a:spcPts val="1000"/>
              </a:spcAft>
              <a:defRPr/>
            </a:pPr>
            <a:r>
              <a:rPr lang="en-US" altLang="zh-CN" dirty="0">
                <a:solidFill>
                  <a:srgbClr val="FF3399"/>
                </a:solidFill>
                <a:latin typeface="Consolas" panose="020B0609020204030204" pitchFamily="49" charset="0"/>
                <a:ea typeface="楷体_GB2312" pitchFamily="49" charset="-122"/>
                <a:cs typeface="Arial" panose="020B0604020202020204" pitchFamily="34" charset="0"/>
              </a:rPr>
              <a:t>protected</a:t>
            </a:r>
          </a:p>
          <a:p>
            <a:pPr>
              <a:spcAft>
                <a:spcPts val="1000"/>
              </a:spcAft>
              <a:defRPr/>
            </a:pPr>
            <a:r>
              <a:rPr lang="en-US" altLang="zh-CN" dirty="0">
                <a:solidFill>
                  <a:srgbClr val="FF3399"/>
                </a:solidFill>
                <a:latin typeface="Consolas" panose="020B0609020204030204" pitchFamily="49" charset="0"/>
                <a:ea typeface="楷体_GB2312" pitchFamily="49" charset="-122"/>
                <a:cs typeface="Arial" panose="020B0604020202020204" pitchFamily="34" charset="0"/>
              </a:rPr>
              <a:t>protected</a:t>
            </a:r>
          </a:p>
          <a:p>
            <a:pPr>
              <a:spcAft>
                <a:spcPts val="1000"/>
              </a:spcAft>
              <a:defRPr/>
            </a:pPr>
            <a:r>
              <a:rPr lang="en-US" altLang="zh-CN" dirty="0">
                <a:solidFill>
                  <a:srgbClr val="FF3399"/>
                </a:solidFill>
                <a:latin typeface="Consolas" panose="020B0609020204030204" pitchFamily="49" charset="0"/>
                <a:ea typeface="楷体_GB2312" pitchFamily="49" charset="-122"/>
                <a:cs typeface="Arial" panose="020B0604020202020204" pitchFamily="34" charset="0"/>
              </a:rPr>
              <a:t>private</a:t>
            </a:r>
          </a:p>
        </p:txBody>
      </p:sp>
      <p:sp>
        <p:nvSpPr>
          <p:cNvPr id="19" name="矩形 18"/>
          <p:cNvSpPr/>
          <p:nvPr/>
        </p:nvSpPr>
        <p:spPr>
          <a:xfrm>
            <a:off x="7192104" y="3363421"/>
            <a:ext cx="1828800" cy="1437179"/>
          </a:xfrm>
          <a:prstGeom prst="rect">
            <a:avLst/>
          </a:prstGeom>
          <a:solidFill>
            <a:srgbClr val="00B0F0">
              <a:alpha val="10000"/>
            </a:srgbClr>
          </a:solidFill>
          <a:ln w="19050">
            <a:noFill/>
          </a:ln>
        </p:spPr>
        <p:txBody>
          <a:bodyPr wrap="square" tIns="36000" rIns="0" bIns="36000">
            <a:spAutoFit/>
          </a:bodyPr>
          <a:lstStyle/>
          <a:p>
            <a:pPr>
              <a:spcAft>
                <a:spcPts val="1000"/>
              </a:spcAft>
              <a:defRPr/>
            </a:pPr>
            <a:r>
              <a:rPr lang="en-US" altLang="zh-CN">
                <a:solidFill>
                  <a:srgbClr val="FF3399"/>
                </a:solidFill>
                <a:latin typeface="Consolas" panose="020B0609020204030204" pitchFamily="49" charset="0"/>
                <a:ea typeface="楷体_GB2312" pitchFamily="49" charset="-122"/>
                <a:cs typeface="Arial" panose="020B0604020202020204" pitchFamily="34" charset="0"/>
              </a:rPr>
              <a:t>private</a:t>
            </a:r>
          </a:p>
          <a:p>
            <a:pPr>
              <a:spcAft>
                <a:spcPts val="1000"/>
              </a:spcAft>
              <a:defRPr/>
            </a:pPr>
            <a:r>
              <a:rPr lang="en-US" altLang="zh-CN">
                <a:solidFill>
                  <a:srgbClr val="FF3399"/>
                </a:solidFill>
                <a:latin typeface="Consolas" panose="020B0609020204030204" pitchFamily="49" charset="0"/>
                <a:ea typeface="楷体_GB2312" pitchFamily="49" charset="-122"/>
                <a:cs typeface="Arial" panose="020B0604020202020204" pitchFamily="34" charset="0"/>
              </a:rPr>
              <a:t>private</a:t>
            </a:r>
          </a:p>
          <a:p>
            <a:pPr>
              <a:spcAft>
                <a:spcPts val="1000"/>
              </a:spcAft>
              <a:defRPr/>
            </a:pPr>
            <a:r>
              <a:rPr lang="en-US" altLang="zh-CN">
                <a:solidFill>
                  <a:srgbClr val="FF3399"/>
                </a:solidFill>
                <a:latin typeface="Consolas" panose="020B0609020204030204" pitchFamily="49" charset="0"/>
                <a:ea typeface="楷体_GB2312" pitchFamily="49" charset="-122"/>
                <a:cs typeface="Arial" panose="020B0604020202020204" pitchFamily="34" charset="0"/>
              </a:rPr>
              <a:t>private</a:t>
            </a:r>
          </a:p>
        </p:txBody>
      </p:sp>
      <p:sp>
        <p:nvSpPr>
          <p:cNvPr id="21" name="矩形 20"/>
          <p:cNvSpPr/>
          <p:nvPr/>
        </p:nvSpPr>
        <p:spPr>
          <a:xfrm>
            <a:off x="3534504" y="1813390"/>
            <a:ext cx="1828800" cy="1550031"/>
          </a:xfrm>
          <a:prstGeom prst="rect">
            <a:avLst/>
          </a:prstGeom>
          <a:solidFill>
            <a:srgbClr val="00B0F0">
              <a:alpha val="10000"/>
            </a:srgbClr>
          </a:solidFill>
          <a:ln w="19050">
            <a:noFill/>
          </a:ln>
        </p:spPr>
        <p:txBody>
          <a:bodyPr wrap="square" tIns="36000" rIns="0" bIns="36000">
            <a:spAutoFit/>
          </a:bodyPr>
          <a:lstStyle/>
          <a:p>
            <a:pPr>
              <a:spcAft>
                <a:spcPts val="0"/>
              </a:spcAft>
              <a:defRPr/>
            </a:pPr>
            <a:r>
              <a:rPr lang="en-US" altLang="zh-CN">
                <a:solidFill>
                  <a:srgbClr val="FF3399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public</a:t>
            </a:r>
            <a:r>
              <a:rPr lang="en-US" altLang="zh-CN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 members in class B are inherited as</a:t>
            </a:r>
          </a:p>
        </p:txBody>
      </p:sp>
      <p:sp>
        <p:nvSpPr>
          <p:cNvPr id="25" name="矩形 24"/>
          <p:cNvSpPr/>
          <p:nvPr/>
        </p:nvSpPr>
        <p:spPr>
          <a:xfrm>
            <a:off x="5363304" y="1813390"/>
            <a:ext cx="1828800" cy="1550031"/>
          </a:xfrm>
          <a:prstGeom prst="rect">
            <a:avLst/>
          </a:prstGeom>
          <a:solidFill>
            <a:srgbClr val="00B0F0">
              <a:alpha val="10000"/>
            </a:srgbClr>
          </a:solidFill>
          <a:ln w="19050">
            <a:noFill/>
          </a:ln>
        </p:spPr>
        <p:txBody>
          <a:bodyPr wrap="square" tIns="36000" rIns="0" bIns="36000">
            <a:spAutoFit/>
          </a:bodyPr>
          <a:lstStyle/>
          <a:p>
            <a:pPr>
              <a:spcAft>
                <a:spcPts val="0"/>
              </a:spcAft>
              <a:defRPr/>
            </a:pPr>
            <a:r>
              <a:rPr lang="en-US" altLang="zh-CN">
                <a:solidFill>
                  <a:srgbClr val="FF3399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protected</a:t>
            </a:r>
            <a:r>
              <a:rPr lang="en-US" altLang="zh-CN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 members in class B are inherited as</a:t>
            </a:r>
          </a:p>
        </p:txBody>
      </p:sp>
      <p:sp>
        <p:nvSpPr>
          <p:cNvPr id="26" name="矩形 25"/>
          <p:cNvSpPr/>
          <p:nvPr/>
        </p:nvSpPr>
        <p:spPr>
          <a:xfrm>
            <a:off x="7192104" y="1813390"/>
            <a:ext cx="1828800" cy="1550031"/>
          </a:xfrm>
          <a:prstGeom prst="rect">
            <a:avLst/>
          </a:prstGeom>
          <a:solidFill>
            <a:srgbClr val="00B0F0">
              <a:alpha val="10000"/>
            </a:srgbClr>
          </a:solidFill>
          <a:ln w="19050">
            <a:noFill/>
          </a:ln>
        </p:spPr>
        <p:txBody>
          <a:bodyPr wrap="square" tIns="36000" rIns="0" bIns="36000">
            <a:spAutoFit/>
          </a:bodyPr>
          <a:lstStyle/>
          <a:p>
            <a:pPr>
              <a:spcAft>
                <a:spcPts val="0"/>
              </a:spcAft>
              <a:defRPr/>
            </a:pPr>
            <a:r>
              <a:rPr lang="en-US" altLang="zh-CN">
                <a:solidFill>
                  <a:srgbClr val="FF3399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private</a:t>
            </a:r>
            <a:r>
              <a:rPr lang="en-US" altLang="zh-CN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 members in class B are inherited as</a:t>
            </a:r>
          </a:p>
        </p:txBody>
      </p:sp>
      <p:sp>
        <p:nvSpPr>
          <p:cNvPr id="28" name="矩形 27"/>
          <p:cNvSpPr/>
          <p:nvPr/>
        </p:nvSpPr>
        <p:spPr>
          <a:xfrm>
            <a:off x="105504" y="1813390"/>
            <a:ext cx="3429000" cy="1550031"/>
          </a:xfrm>
          <a:prstGeom prst="rect">
            <a:avLst/>
          </a:prstGeom>
          <a:solidFill>
            <a:srgbClr val="00B0F0">
              <a:alpha val="10000"/>
            </a:srgbClr>
          </a:solidFill>
          <a:ln w="19050">
            <a:noFill/>
          </a:ln>
        </p:spPr>
        <p:txBody>
          <a:bodyPr wrap="square" tIns="36000" rIns="0" bIns="36000">
            <a:spAutoFit/>
          </a:bodyPr>
          <a:lstStyle/>
          <a:p>
            <a:pPr>
              <a:spcAft>
                <a:spcPts val="0"/>
              </a:spcAft>
              <a:defRPr/>
            </a:pPr>
            <a:endParaRPr lang="en-US" altLang="zh-CN">
              <a:latin typeface="Arial" panose="020B0604020202020204" pitchFamily="34" charset="0"/>
              <a:ea typeface="楷体_GB2312" pitchFamily="49" charset="-122"/>
              <a:cs typeface="Arial" panose="020B0604020202020204" pitchFamily="34" charset="0"/>
            </a:endParaRPr>
          </a:p>
          <a:p>
            <a:pPr>
              <a:spcAft>
                <a:spcPts val="0"/>
              </a:spcAft>
              <a:defRPr/>
            </a:pPr>
            <a:endParaRPr lang="en-US" altLang="zh-CN">
              <a:latin typeface="Arial" panose="020B0604020202020204" pitchFamily="34" charset="0"/>
              <a:ea typeface="楷体_GB2312" pitchFamily="49" charset="-122"/>
              <a:cs typeface="Arial" panose="020B0604020202020204" pitchFamily="34" charset="0"/>
            </a:endParaRPr>
          </a:p>
          <a:p>
            <a:pPr>
              <a:spcAft>
                <a:spcPts val="0"/>
              </a:spcAft>
              <a:defRPr/>
            </a:pPr>
            <a:endParaRPr lang="en-US" altLang="zh-CN">
              <a:latin typeface="Arial" panose="020B0604020202020204" pitchFamily="34" charset="0"/>
              <a:ea typeface="楷体_GB2312" pitchFamily="49" charset="-122"/>
              <a:cs typeface="Arial" panose="020B0604020202020204" pitchFamily="34" charset="0"/>
            </a:endParaRPr>
          </a:p>
          <a:p>
            <a:pPr>
              <a:spcAft>
                <a:spcPts val="0"/>
              </a:spcAft>
              <a:defRPr/>
            </a:pPr>
            <a:endParaRPr lang="en-US" altLang="zh-CN">
              <a:latin typeface="Arial" panose="020B0604020202020204" pitchFamily="34" charset="0"/>
              <a:ea typeface="楷体_GB2312" pitchFamily="49" charset="-122"/>
              <a:cs typeface="Arial" panose="020B0604020202020204" pitchFamily="34" charset="0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105504" y="3363421"/>
            <a:ext cx="8915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3458304" y="1813390"/>
            <a:ext cx="0" cy="298721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172915" y="2168089"/>
            <a:ext cx="281939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/>
            </a:pPr>
            <a:r>
              <a:rPr lang="en-US" altLang="zh-CN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Class A is derived from class B</a:t>
            </a:r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3" name="Rectangle 2"/>
          <p:cNvSpPr>
            <a:spLocks noGrp="1"/>
          </p:cNvSpPr>
          <p:nvPr>
            <p:ph type="title"/>
          </p:nvPr>
        </p:nvSpPr>
        <p:spPr>
          <a:xfrm>
            <a:off x="876300" y="457200"/>
            <a:ext cx="8267700" cy="381000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4000">
                <a:sym typeface="+mn-ea"/>
              </a:rPr>
              <a:t>Generic Programming</a:t>
            </a:r>
            <a:endParaRPr lang="en-US" altLang="zh-CN" sz="4000">
              <a:ea typeface="宋体" panose="02010600030101010101" pitchFamily="2" charset="-122"/>
            </a:endParaRPr>
          </a:p>
        </p:txBody>
      </p:sp>
      <p:sp>
        <p:nvSpPr>
          <p:cNvPr id="125955" name="灯片编号占位符 4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  <a:t>12</a:t>
            </a:fld>
            <a:endParaRPr lang="en-US" altLang="zh-CN" sz="1600" b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550779" y="1029101"/>
            <a:ext cx="7412246" cy="1426920"/>
          </a:xfrm>
          <a:prstGeom prst="rect">
            <a:avLst/>
          </a:prstGeom>
          <a:noFill/>
          <a:ln w="19050">
            <a:noFill/>
          </a:ln>
        </p:spPr>
        <p:txBody>
          <a:bodyPr wrap="square" tIns="36000" rIns="0" bIns="36000">
            <a:spAutoFit/>
          </a:bodyPr>
          <a:lstStyle/>
          <a:p>
            <a:pPr>
              <a:defRPr/>
            </a:pPr>
            <a:r>
              <a:rPr lang="en-US" altLang="zh-CN" sz="220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An object of a derived class can be passed wherever an object of a base type parameter is required. Thus a function can be used generically for a wide range of object arguments. This is known as generic programming.</a:t>
            </a:r>
          </a:p>
        </p:txBody>
      </p:sp>
      <p:grpSp>
        <p:nvGrpSpPr>
          <p:cNvPr id="13" name="组合 7"/>
          <p:cNvGrpSpPr/>
          <p:nvPr/>
        </p:nvGrpSpPr>
        <p:grpSpPr bwMode="auto">
          <a:xfrm>
            <a:off x="457200" y="1752600"/>
            <a:ext cx="1036637" cy="615950"/>
            <a:chOff x="333108" y="1289466"/>
            <a:chExt cx="1037032" cy="615301"/>
          </a:xfrm>
        </p:grpSpPr>
        <p:pic>
          <p:nvPicPr>
            <p:cNvPr id="16" name="图片 4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-6616077">
              <a:off x="442540" y="1180034"/>
              <a:ext cx="486519" cy="7053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" name="矩形 10"/>
            <p:cNvSpPr>
              <a:spLocks noChangeArrowheads="1"/>
            </p:cNvSpPr>
            <p:nvPr/>
          </p:nvSpPr>
          <p:spPr bwMode="auto">
            <a:xfrm>
              <a:off x="523473" y="1319992"/>
              <a:ext cx="846667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algn="r"/>
              <a:r>
                <a:rPr lang="en-US" altLang="zh-CN" sz="1600">
                  <a:latin typeface="微软雅黑" panose="020B0503020204020204" pitchFamily="34" charset="-122"/>
                  <a:ea typeface="微软雅黑" panose="020B0503020204020204" pitchFamily="34" charset="-122"/>
                </a:rPr>
                <a:t>Key</a:t>
              </a:r>
            </a:p>
            <a:p>
              <a:pPr algn="r"/>
              <a:r>
                <a:rPr lang="en-US" altLang="zh-CN" sz="1600">
                  <a:latin typeface="微软雅黑" panose="020B0503020204020204" pitchFamily="34" charset="-122"/>
                  <a:ea typeface="微软雅黑" panose="020B0503020204020204" pitchFamily="34" charset="-122"/>
                </a:rPr>
                <a:t>Point</a:t>
              </a:r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" name="矩形 2"/>
          <p:cNvSpPr/>
          <p:nvPr/>
        </p:nvSpPr>
        <p:spPr>
          <a:xfrm>
            <a:off x="309318" y="2514600"/>
            <a:ext cx="865370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>
                <a:latin typeface="Arial" panose="020B0604020202020204" pitchFamily="34" charset="0"/>
                <a:cs typeface="Arial" panose="020B0604020202020204" pitchFamily="34" charset="0"/>
              </a:rPr>
              <a:t>Passing a Circle object or a Rectangle object to the GeometricObject</a:t>
            </a:r>
          </a:p>
          <a:p>
            <a:r>
              <a:rPr lang="en-US" altLang="zh-CN" sz="2000">
                <a:latin typeface="Arial" panose="020B0604020202020204" pitchFamily="34" charset="0"/>
                <a:cs typeface="Arial" panose="020B0604020202020204" pitchFamily="34" charset="0"/>
              </a:rPr>
              <a:t>parameter type in the displayGeometricObject function.</a:t>
            </a:r>
            <a:endParaRPr lang="zh-CN" alt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593913" y="3783577"/>
            <a:ext cx="7956173" cy="9037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</p:spPr>
        <p:txBody>
          <a:bodyPr wrap="square" tIns="36000" rIns="0" bIns="36000">
            <a:spAutoFit/>
          </a:bodyPr>
          <a:lstStyle/>
          <a:p>
            <a:pPr>
              <a:defRPr/>
            </a:pPr>
            <a:r>
              <a:rPr lang="en-US" altLang="zh-CN" sz="1800" dirty="0">
                <a:solidFill>
                  <a:srgbClr val="0070C0"/>
                </a:solidFill>
                <a:latin typeface="Consolas" panose="020B0609020204030204" pitchFamily="49" charset="0"/>
                <a:ea typeface="楷体_GB2312" pitchFamily="49" charset="-122"/>
              </a:rPr>
              <a:t>void</a:t>
            </a:r>
            <a:r>
              <a:rPr lang="en-US" altLang="zh-CN" sz="1800" dirty="0">
                <a:latin typeface="Consolas" panose="020B0609020204030204" pitchFamily="49" charset="0"/>
                <a:ea typeface="楷体_GB2312" pitchFamily="49" charset="-122"/>
              </a:rPr>
              <a:t> </a:t>
            </a:r>
            <a:r>
              <a:rPr lang="en-US" altLang="zh-CN" sz="1800" dirty="0" err="1">
                <a:solidFill>
                  <a:srgbClr val="00B050"/>
                </a:solidFill>
                <a:latin typeface="Consolas" panose="020B0609020204030204" pitchFamily="49" charset="0"/>
                <a:ea typeface="楷体_GB2312" pitchFamily="49" charset="-122"/>
              </a:rPr>
              <a:t>displayGeometricObject</a:t>
            </a:r>
            <a:r>
              <a:rPr lang="en-US" altLang="zh-CN" sz="1800" dirty="0">
                <a:latin typeface="Consolas" panose="020B0609020204030204" pitchFamily="49" charset="0"/>
                <a:ea typeface="楷体_GB2312" pitchFamily="49" charset="-122"/>
              </a:rPr>
              <a:t>(</a:t>
            </a:r>
            <a:r>
              <a:rPr lang="en-US" altLang="zh-CN" sz="1800" dirty="0" err="1">
                <a:solidFill>
                  <a:srgbClr val="FF3399"/>
                </a:solidFill>
                <a:latin typeface="Consolas" panose="020B0609020204030204" pitchFamily="49" charset="0"/>
                <a:ea typeface="楷体_GB2312" pitchFamily="49" charset="-122"/>
              </a:rPr>
              <a:t>const</a:t>
            </a:r>
            <a:r>
              <a:rPr lang="en-US" altLang="zh-CN" sz="1800" dirty="0">
                <a:latin typeface="Consolas" panose="020B0609020204030204" pitchFamily="49" charset="0"/>
                <a:ea typeface="楷体_GB2312" pitchFamily="49" charset="-122"/>
              </a:rPr>
              <a:t> </a:t>
            </a:r>
            <a:r>
              <a:rPr lang="en-US" altLang="zh-CN" sz="1800" dirty="0" err="1">
                <a:latin typeface="Consolas" panose="020B0609020204030204" pitchFamily="49" charset="0"/>
                <a:ea typeface="楷体_GB2312" pitchFamily="49" charset="-122"/>
              </a:rPr>
              <a:t>GeometricObject</a:t>
            </a:r>
            <a:r>
              <a:rPr lang="en-US" altLang="zh-CN" sz="1800" dirty="0">
                <a:latin typeface="Consolas" panose="020B0609020204030204" pitchFamily="49" charset="0"/>
                <a:ea typeface="楷体_GB2312" pitchFamily="49" charset="-122"/>
              </a:rPr>
              <a:t>&amp; shape) {</a:t>
            </a:r>
          </a:p>
          <a:p>
            <a:pPr>
              <a:defRPr/>
            </a:pPr>
            <a:r>
              <a:rPr lang="en-US" altLang="zh-CN" sz="1800" dirty="0">
                <a:latin typeface="Consolas" panose="020B0609020204030204" pitchFamily="49" charset="0"/>
                <a:ea typeface="楷体_GB2312" pitchFamily="49" charset="-122"/>
              </a:rPr>
              <a:t>    </a:t>
            </a:r>
            <a:r>
              <a:rPr lang="en-US" altLang="zh-CN" sz="1800" dirty="0" err="1">
                <a:latin typeface="Consolas" panose="020B0609020204030204" pitchFamily="49" charset="0"/>
                <a:ea typeface="楷体_GB2312" pitchFamily="49" charset="-122"/>
              </a:rPr>
              <a:t>cout</a:t>
            </a:r>
            <a:r>
              <a:rPr lang="en-US" altLang="zh-CN" sz="1800" dirty="0">
                <a:latin typeface="Consolas" panose="020B0609020204030204" pitchFamily="49" charset="0"/>
                <a:ea typeface="楷体_GB2312" pitchFamily="49" charset="-122"/>
              </a:rPr>
              <a:t> &lt;&lt; </a:t>
            </a:r>
            <a:r>
              <a:rPr lang="en-US" altLang="zh-CN" sz="1800" dirty="0" err="1">
                <a:latin typeface="Consolas" panose="020B0609020204030204" pitchFamily="49" charset="0"/>
                <a:ea typeface="楷体_GB2312" pitchFamily="49" charset="-122"/>
              </a:rPr>
              <a:t>shape.</a:t>
            </a:r>
            <a:r>
              <a:rPr lang="en-US" altLang="zh-CN" sz="1800" dirty="0" err="1">
                <a:solidFill>
                  <a:srgbClr val="0070C0"/>
                </a:solidFill>
                <a:latin typeface="Consolas" panose="020B0609020204030204" pitchFamily="49" charset="0"/>
                <a:ea typeface="楷体_GB2312" pitchFamily="49" charset="-122"/>
              </a:rPr>
              <a:t>getColor</a:t>
            </a:r>
            <a:r>
              <a:rPr lang="en-US" altLang="zh-CN" sz="1800" dirty="0">
                <a:latin typeface="Consolas" panose="020B0609020204030204" pitchFamily="49" charset="0"/>
                <a:ea typeface="楷体_GB2312" pitchFamily="49" charset="-122"/>
              </a:rPr>
              <a:t>() &lt;&lt; </a:t>
            </a:r>
            <a:r>
              <a:rPr lang="en-US" altLang="zh-CN" sz="1800" dirty="0" err="1">
                <a:latin typeface="Consolas" panose="020B0609020204030204" pitchFamily="49" charset="0"/>
                <a:ea typeface="楷体_GB2312" pitchFamily="49" charset="-122"/>
              </a:rPr>
              <a:t>endl</a:t>
            </a:r>
            <a:r>
              <a:rPr lang="en-US" altLang="zh-CN" sz="1800" dirty="0">
                <a:latin typeface="Consolas" panose="020B0609020204030204" pitchFamily="49" charset="0"/>
                <a:ea typeface="楷体_GB2312" pitchFamily="49" charset="-122"/>
              </a:rPr>
              <a:t>;</a:t>
            </a:r>
          </a:p>
          <a:p>
            <a:pPr>
              <a:defRPr/>
            </a:pPr>
            <a:r>
              <a:rPr lang="en-US" altLang="zh-CN" sz="1800" dirty="0">
                <a:latin typeface="Consolas" panose="020B0609020204030204" pitchFamily="49" charset="0"/>
                <a:ea typeface="楷体_GB2312" pitchFamily="49" charset="-122"/>
              </a:rPr>
              <a:t>}</a:t>
            </a:r>
            <a:endParaRPr lang="en-US" altLang="zh-CN" sz="1800" dirty="0">
              <a:latin typeface="Consolas" panose="020B0609020204030204" pitchFamily="49" charset="0"/>
              <a:ea typeface="楷体_GB2312" pitchFamily="49" charset="-122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93913" y="4807422"/>
            <a:ext cx="7956174" cy="1734697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</p:spPr>
        <p:txBody>
          <a:bodyPr wrap="square" tIns="36000" rIns="0" bIns="36000">
            <a:spAutoFit/>
          </a:bodyPr>
          <a:lstStyle/>
          <a:p>
            <a:pPr>
              <a:defRPr/>
            </a:pPr>
            <a:r>
              <a:rPr lang="en-US" altLang="zh-CN" sz="1800">
                <a:solidFill>
                  <a:srgbClr val="0070C0"/>
                </a:solidFill>
                <a:latin typeface="Consolas" panose="020B0609020204030204" pitchFamily="49" charset="0"/>
                <a:ea typeface="楷体_GB2312" pitchFamily="49" charset="-122"/>
              </a:rPr>
              <a:t>int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 </a:t>
            </a:r>
            <a:r>
              <a:rPr lang="en-US" altLang="zh-CN" sz="1800">
                <a:solidFill>
                  <a:srgbClr val="00B050"/>
                </a:solidFill>
                <a:latin typeface="Consolas" panose="020B0609020204030204" pitchFamily="49" charset="0"/>
                <a:ea typeface="楷体_GB2312" pitchFamily="49" charset="-122"/>
              </a:rPr>
              <a:t>main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(){</a:t>
            </a:r>
          </a:p>
          <a:p>
            <a:pPr>
              <a:defRPr/>
            </a:pP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    </a:t>
            </a:r>
            <a:r>
              <a:rPr lang="en-US" altLang="zh-CN" sz="1800">
                <a:solidFill>
                  <a:srgbClr val="0070C0"/>
                </a:solidFill>
                <a:latin typeface="Consolas" panose="020B0609020204030204" pitchFamily="49" charset="0"/>
                <a:ea typeface="楷体_GB2312" pitchFamily="49" charset="-122"/>
              </a:rPr>
              <a:t>displayGeometricObject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(GeometricObject(</a:t>
            </a:r>
            <a:r>
              <a:rPr lang="en-US" altLang="zh-CN" sz="1800">
                <a:solidFill>
                  <a:srgbClr val="D29818"/>
                </a:solidFill>
                <a:latin typeface="Consolas" panose="020B0609020204030204" pitchFamily="49" charset="0"/>
                <a:ea typeface="楷体_GB2312" pitchFamily="49" charset="-122"/>
              </a:rPr>
              <a:t>"black"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, </a:t>
            </a:r>
            <a:r>
              <a:rPr lang="en-US" altLang="zh-CN" sz="1800">
                <a:solidFill>
                  <a:srgbClr val="9966FF"/>
                </a:solidFill>
                <a:latin typeface="Consolas" panose="020B0609020204030204" pitchFamily="49" charset="0"/>
                <a:ea typeface="楷体_GB2312" pitchFamily="49" charset="-122"/>
              </a:rPr>
              <a:t>true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));</a:t>
            </a:r>
          </a:p>
          <a:p>
            <a:pPr>
              <a:defRPr/>
            </a:pP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    </a:t>
            </a:r>
            <a:r>
              <a:rPr lang="en-US" altLang="zh-CN" sz="1800">
                <a:solidFill>
                  <a:srgbClr val="0070C0"/>
                </a:solidFill>
                <a:latin typeface="Consolas" panose="020B0609020204030204" pitchFamily="49" charset="0"/>
                <a:ea typeface="楷体_GB2312" pitchFamily="49" charset="-122"/>
              </a:rPr>
              <a:t>displayGeometricObject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(Circle(</a:t>
            </a:r>
            <a:r>
              <a:rPr lang="en-US" altLang="zh-CN" sz="1800">
                <a:solidFill>
                  <a:srgbClr val="9966FF"/>
                </a:solidFill>
                <a:latin typeface="Consolas" panose="020B0609020204030204" pitchFamily="49" charset="0"/>
                <a:ea typeface="楷体_GB2312" pitchFamily="49" charset="-122"/>
              </a:rPr>
              <a:t>5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));</a:t>
            </a:r>
          </a:p>
          <a:p>
            <a:pPr>
              <a:defRPr/>
            </a:pP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    </a:t>
            </a:r>
            <a:r>
              <a:rPr lang="en-US" altLang="zh-CN" sz="1800">
                <a:solidFill>
                  <a:srgbClr val="0070C0"/>
                </a:solidFill>
                <a:latin typeface="Consolas" panose="020B0609020204030204" pitchFamily="49" charset="0"/>
                <a:ea typeface="楷体_GB2312" pitchFamily="49" charset="-122"/>
              </a:rPr>
              <a:t>displayGeometricObject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(Rectangle(</a:t>
            </a:r>
            <a:r>
              <a:rPr lang="en-US" altLang="zh-CN" sz="1800">
                <a:solidFill>
                  <a:srgbClr val="9966FF"/>
                </a:solidFill>
                <a:latin typeface="Consolas" panose="020B0609020204030204" pitchFamily="49" charset="0"/>
                <a:ea typeface="楷体_GB2312" pitchFamily="49" charset="-122"/>
              </a:rPr>
              <a:t>2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, </a:t>
            </a:r>
            <a:r>
              <a:rPr lang="en-US" altLang="zh-CN" sz="1800">
                <a:solidFill>
                  <a:srgbClr val="9966FF"/>
                </a:solidFill>
                <a:latin typeface="Consolas" panose="020B0609020204030204" pitchFamily="49" charset="0"/>
                <a:ea typeface="楷体_GB2312" pitchFamily="49" charset="-122"/>
              </a:rPr>
              <a:t>3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));</a:t>
            </a:r>
          </a:p>
          <a:p>
            <a:pPr>
              <a:defRPr/>
            </a:pP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    </a:t>
            </a:r>
            <a:r>
              <a:rPr lang="en-US" altLang="zh-CN" sz="1800">
                <a:solidFill>
                  <a:srgbClr val="FF3399"/>
                </a:solidFill>
                <a:latin typeface="Consolas" panose="020B0609020204030204" pitchFamily="49" charset="0"/>
                <a:ea typeface="楷体_GB2312" pitchFamily="49" charset="-122"/>
              </a:rPr>
              <a:t>return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 </a:t>
            </a:r>
            <a:r>
              <a:rPr lang="en-US" altLang="zh-CN" sz="1800">
                <a:solidFill>
                  <a:srgbClr val="9966FF"/>
                </a:solidFill>
                <a:latin typeface="Consolas" panose="020B0609020204030204" pitchFamily="49" charset="0"/>
                <a:ea typeface="楷体_GB2312" pitchFamily="49" charset="-122"/>
              </a:rPr>
              <a:t>0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;</a:t>
            </a:r>
          </a:p>
          <a:p>
            <a:pPr>
              <a:defRPr/>
            </a:pP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}</a:t>
            </a:r>
            <a:endParaRPr lang="en-US" altLang="zh-CN" sz="1800">
              <a:latin typeface="Consolas" panose="020B0609020204030204" pitchFamily="49" charset="0"/>
              <a:ea typeface="楷体_GB2312" pitchFamily="49" charset="-122"/>
              <a:cs typeface="+mn-cs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6248400" y="3191380"/>
            <a:ext cx="256540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800">
                <a:latin typeface="Arial" panose="020B0604020202020204" pitchFamily="34" charset="0"/>
                <a:cs typeface="Arial" panose="020B0604020202020204" pitchFamily="34" charset="0"/>
              </a:rPr>
              <a:t>Base type parameter</a:t>
            </a:r>
            <a:endParaRPr lang="zh-CN" altLang="en-US" sz="1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8" name="直接箭头连接符 17"/>
          <p:cNvCxnSpPr>
            <a:stCxn id="15" idx="1"/>
          </p:cNvCxnSpPr>
          <p:nvPr/>
        </p:nvCxnSpPr>
        <p:spPr>
          <a:xfrm flipH="1">
            <a:off x="5867400" y="3376046"/>
            <a:ext cx="381000" cy="48105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矩形 18"/>
          <p:cNvSpPr/>
          <p:nvPr/>
        </p:nvSpPr>
        <p:spPr>
          <a:xfrm>
            <a:off x="6000650" y="4527537"/>
            <a:ext cx="256540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800">
                <a:latin typeface="Arial" panose="020B0604020202020204" pitchFamily="34" charset="0"/>
                <a:cs typeface="Arial" panose="020B0604020202020204" pitchFamily="34" charset="0"/>
              </a:rPr>
              <a:t>Base class object</a:t>
            </a:r>
            <a:endParaRPr lang="zh-CN" altLang="en-US" sz="1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0" name="直接箭头连接符 19"/>
          <p:cNvCxnSpPr>
            <a:stCxn id="19" idx="1"/>
          </p:cNvCxnSpPr>
          <p:nvPr/>
        </p:nvCxnSpPr>
        <p:spPr>
          <a:xfrm flipH="1">
            <a:off x="5619650" y="4712203"/>
            <a:ext cx="381000" cy="48105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矩形 20"/>
          <p:cNvSpPr/>
          <p:nvPr/>
        </p:nvSpPr>
        <p:spPr>
          <a:xfrm>
            <a:off x="5802166" y="6256869"/>
            <a:ext cx="256540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800">
                <a:latin typeface="Arial" panose="020B0604020202020204" pitchFamily="34" charset="0"/>
                <a:cs typeface="Arial" panose="020B0604020202020204" pitchFamily="34" charset="0"/>
              </a:rPr>
              <a:t>Derived class object</a:t>
            </a:r>
            <a:endParaRPr lang="zh-CN" altLang="en-US" sz="1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3" name="直接箭头连接符 22"/>
          <p:cNvCxnSpPr>
            <a:stCxn id="21" idx="1"/>
          </p:cNvCxnSpPr>
          <p:nvPr/>
        </p:nvCxnSpPr>
        <p:spPr>
          <a:xfrm flipH="1" flipV="1">
            <a:off x="4343400" y="5970864"/>
            <a:ext cx="1458766" cy="47067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/>
          <p:nvPr/>
        </p:nvCxnSpPr>
        <p:spPr>
          <a:xfrm flipH="1" flipV="1">
            <a:off x="4616262" y="5638801"/>
            <a:ext cx="1185904" cy="80273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5" name="灯片编号占位符 4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  <a:t>13</a:t>
            </a:fld>
            <a:endParaRPr lang="en-US" altLang="zh-CN" sz="1600" b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381000" y="2133600"/>
            <a:ext cx="8288338" cy="2892333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altLang="zh-CN" sz="4400" b="0" dirty="0">
                <a:solidFill>
                  <a:schemeClr val="tx1"/>
                </a:solidFill>
              </a:rPr>
              <a:t>2. </a:t>
            </a:r>
            <a:r>
              <a:rPr lang="en-US" altLang="zh-CN" sz="4400" dirty="0">
                <a:solidFill>
                  <a:schemeClr val="tx1"/>
                </a:solidFill>
                <a:sym typeface="+mn-ea"/>
              </a:rPr>
              <a:t>Constructors and Destructors</a:t>
            </a:r>
            <a:endParaRPr lang="en-US" altLang="zh-CN" sz="4400" b="0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690667" y="4119880"/>
            <a:ext cx="3857625" cy="58356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l"/>
            <a:r>
              <a:rPr lang="zh-CN" altLang="en-US" sz="3200" b="1" dirty="0">
                <a:pattFill prst="pct90">
                  <a:fgClr>
                    <a:srgbClr val="6C0000"/>
                  </a:fgClr>
                  <a:bgClr>
                    <a:srgbClr val="FF1919"/>
                  </a:bgClr>
                </a:pattFill>
                <a:latin typeface="Arial" panose="020B0604020202020204" pitchFamily="34" charset="0"/>
                <a:ea typeface="仿宋" panose="02010609060101010101" pitchFamily="49" charset="-122"/>
                <a:cs typeface="Arial" panose="020B0604020202020204" pitchFamily="34" charset="0"/>
                <a:sym typeface="+mn-ea"/>
              </a:rPr>
              <a:t>构造函数和析构函数</a:t>
            </a:r>
            <a:endParaRPr lang="zh-CN" altLang="en-US" sz="3200" b="1" dirty="0">
              <a:pattFill prst="pct90">
                <a:fgClr>
                  <a:srgbClr val="6C0000"/>
                </a:fgClr>
                <a:bgClr>
                  <a:srgbClr val="FF1919"/>
                </a:bgClr>
              </a:pattFill>
              <a:latin typeface="Arial" panose="020B0604020202020204" pitchFamily="34" charset="0"/>
              <a:ea typeface="仿宋" panose="02010609060101010101" pitchFamily="49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3" name="Rectangle 2"/>
          <p:cNvSpPr>
            <a:spLocks noGrp="1"/>
          </p:cNvSpPr>
          <p:nvPr>
            <p:ph type="title"/>
          </p:nvPr>
        </p:nvSpPr>
        <p:spPr>
          <a:xfrm>
            <a:off x="876300" y="457200"/>
            <a:ext cx="8267700" cy="381000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4000" dirty="0">
                <a:sym typeface="+mn-ea"/>
              </a:rPr>
              <a:t>Destructors</a:t>
            </a:r>
            <a:endParaRPr lang="en-US" altLang="zh-CN" sz="4000">
              <a:ea typeface="宋体" panose="02010600030101010101" pitchFamily="2" charset="-122"/>
            </a:endParaRPr>
          </a:p>
        </p:txBody>
      </p:sp>
      <p:sp>
        <p:nvSpPr>
          <p:cNvPr id="125955" name="灯片编号占位符 4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  <a:t>14</a:t>
            </a:fld>
            <a:endParaRPr lang="en-US" altLang="zh-CN" sz="1600" b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28601" y="2098335"/>
            <a:ext cx="873442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Every class has a default destructor if the destructor is not explicitly defined. Also, we could implement destructors to perform customized operations. </a:t>
            </a:r>
          </a:p>
          <a:p>
            <a:endParaRPr lang="en-US" altLang="zh-CN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Destructors are named the same as constructors, but you must put a tilde character (~) in front: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550779" y="1118932"/>
            <a:ext cx="7412246" cy="811367"/>
          </a:xfrm>
          <a:prstGeom prst="rect">
            <a:avLst/>
          </a:prstGeom>
          <a:noFill/>
          <a:ln w="19050">
            <a:noFill/>
          </a:ln>
        </p:spPr>
        <p:txBody>
          <a:bodyPr wrap="square" tIns="36000" rIns="0" bIns="36000">
            <a:spAutoFit/>
          </a:bodyPr>
          <a:lstStyle/>
          <a:p>
            <a:pPr>
              <a:defRPr/>
            </a:pPr>
            <a:r>
              <a:rPr lang="en-US" altLang="zh-CN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Every class has a destructor, which is called automatically when an object is deleted.</a:t>
            </a:r>
          </a:p>
        </p:txBody>
      </p:sp>
      <p:grpSp>
        <p:nvGrpSpPr>
          <p:cNvPr id="13" name="组合 7"/>
          <p:cNvGrpSpPr/>
          <p:nvPr/>
        </p:nvGrpSpPr>
        <p:grpSpPr bwMode="auto">
          <a:xfrm>
            <a:off x="457200" y="1314349"/>
            <a:ext cx="1036637" cy="615950"/>
            <a:chOff x="333108" y="1289466"/>
            <a:chExt cx="1037032" cy="615301"/>
          </a:xfrm>
        </p:grpSpPr>
        <p:pic>
          <p:nvPicPr>
            <p:cNvPr id="16" name="图片 4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-6616077">
              <a:off x="442540" y="1180034"/>
              <a:ext cx="486519" cy="7053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" name="矩形 10"/>
            <p:cNvSpPr>
              <a:spLocks noChangeArrowheads="1"/>
            </p:cNvSpPr>
            <p:nvPr/>
          </p:nvSpPr>
          <p:spPr bwMode="auto">
            <a:xfrm>
              <a:off x="523473" y="1319992"/>
              <a:ext cx="846667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algn="r"/>
              <a:r>
                <a:rPr lang="en-US" altLang="zh-CN" sz="1600">
                  <a:latin typeface="微软雅黑" panose="020B0503020204020204" pitchFamily="34" charset="-122"/>
                  <a:ea typeface="微软雅黑" panose="020B0503020204020204" pitchFamily="34" charset="-122"/>
                </a:rPr>
                <a:t>Key</a:t>
              </a:r>
            </a:p>
            <a:p>
              <a:pPr algn="r"/>
              <a:r>
                <a:rPr lang="en-US" altLang="zh-CN" sz="1600">
                  <a:latin typeface="微软雅黑" panose="020B0503020204020204" pitchFamily="34" charset="-122"/>
                  <a:ea typeface="微软雅黑" panose="020B0503020204020204" pitchFamily="34" charset="-122"/>
                </a:rPr>
                <a:t>Point</a:t>
              </a:r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4" name="矩形 33"/>
          <p:cNvSpPr/>
          <p:nvPr/>
        </p:nvSpPr>
        <p:spPr>
          <a:xfrm>
            <a:off x="2627570" y="3674226"/>
            <a:ext cx="3135501" cy="2227139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</p:spPr>
        <p:txBody>
          <a:bodyPr wrap="square" tIns="36000" rIns="0" bIns="36000">
            <a:spAutoFit/>
          </a:bodyPr>
          <a:lstStyle/>
          <a:p>
            <a:pPr>
              <a:defRPr/>
            </a:pPr>
            <a:r>
              <a:rPr lang="en-US" altLang="zh-CN" sz="2000">
                <a:solidFill>
                  <a:srgbClr val="0070C0"/>
                </a:solidFill>
                <a:latin typeface="Consolas" panose="020B0609020204030204" pitchFamily="49" charset="0"/>
                <a:ea typeface="楷体_GB2312" pitchFamily="49" charset="-122"/>
              </a:rPr>
              <a:t>class</a:t>
            </a:r>
            <a:r>
              <a:rPr lang="en-US" altLang="zh-CN" sz="2000">
                <a:latin typeface="Consolas" panose="020B0609020204030204" pitchFamily="49" charset="0"/>
                <a:ea typeface="楷体_GB2312" pitchFamily="49" charset="-122"/>
              </a:rPr>
              <a:t> </a:t>
            </a:r>
            <a:r>
              <a:rPr lang="en-US" altLang="zh-CN" sz="2000">
                <a:solidFill>
                  <a:srgbClr val="00B050"/>
                </a:solidFill>
                <a:latin typeface="Consolas" panose="020B0609020204030204" pitchFamily="49" charset="0"/>
                <a:ea typeface="楷体_GB2312" pitchFamily="49" charset="-122"/>
              </a:rPr>
              <a:t>Circle</a:t>
            </a:r>
            <a:r>
              <a:rPr lang="en-US" altLang="zh-CN" sz="2000">
                <a:latin typeface="Consolas" panose="020B0609020204030204" pitchFamily="49" charset="0"/>
                <a:ea typeface="楷体_GB2312" pitchFamily="49" charset="-122"/>
              </a:rPr>
              <a:t>{</a:t>
            </a:r>
          </a:p>
          <a:p>
            <a:pPr>
              <a:defRPr/>
            </a:pPr>
            <a:r>
              <a:rPr lang="en-US" altLang="zh-CN" sz="2000">
                <a:solidFill>
                  <a:srgbClr val="FF3399"/>
                </a:solidFill>
                <a:latin typeface="Consolas" panose="020B0609020204030204" pitchFamily="49" charset="0"/>
                <a:ea typeface="楷体_GB2312" pitchFamily="49" charset="-122"/>
              </a:rPr>
              <a:t>public</a:t>
            </a:r>
            <a:r>
              <a:rPr lang="en-US" altLang="zh-CN" sz="2000">
                <a:latin typeface="Consolas" panose="020B0609020204030204" pitchFamily="49" charset="0"/>
                <a:ea typeface="楷体_GB2312" pitchFamily="49" charset="-122"/>
              </a:rPr>
              <a:t>:</a:t>
            </a:r>
          </a:p>
          <a:p>
            <a:pPr>
              <a:defRPr/>
            </a:pPr>
            <a:r>
              <a:rPr lang="en-US" altLang="zh-CN" sz="2000">
                <a:latin typeface="Consolas" panose="020B0609020204030204" pitchFamily="49" charset="0"/>
                <a:ea typeface="楷体_GB2312" pitchFamily="49" charset="-122"/>
              </a:rPr>
              <a:t>    </a:t>
            </a:r>
            <a:r>
              <a:rPr lang="en-US" altLang="zh-CN" sz="2000">
                <a:solidFill>
                  <a:srgbClr val="00B050"/>
                </a:solidFill>
                <a:latin typeface="Consolas" panose="020B0609020204030204" pitchFamily="49" charset="0"/>
                <a:ea typeface="楷体_GB2312" pitchFamily="49" charset="-122"/>
              </a:rPr>
              <a:t>Circle</a:t>
            </a:r>
            <a:r>
              <a:rPr lang="en-US" altLang="zh-CN" sz="2000">
                <a:latin typeface="Consolas" panose="020B0609020204030204" pitchFamily="49" charset="0"/>
                <a:ea typeface="楷体_GB2312" pitchFamily="49" charset="-122"/>
              </a:rPr>
              <a:t>();</a:t>
            </a:r>
          </a:p>
          <a:p>
            <a:pPr>
              <a:defRPr/>
            </a:pPr>
            <a:r>
              <a:rPr lang="en-US" altLang="zh-CN" sz="2000">
                <a:latin typeface="Consolas" panose="020B0609020204030204" pitchFamily="49" charset="0"/>
                <a:ea typeface="楷体_GB2312" pitchFamily="49" charset="-122"/>
              </a:rPr>
              <a:t>    </a:t>
            </a:r>
            <a:r>
              <a:rPr lang="en-US" altLang="zh-CN" sz="2000">
                <a:solidFill>
                  <a:srgbClr val="00B050"/>
                </a:solidFill>
                <a:latin typeface="Consolas" panose="020B0609020204030204" pitchFamily="49" charset="0"/>
                <a:ea typeface="楷体_GB2312" pitchFamily="49" charset="-122"/>
              </a:rPr>
              <a:t>Circle</a:t>
            </a:r>
            <a:r>
              <a:rPr lang="en-US" altLang="zh-CN" sz="2000">
                <a:latin typeface="Consolas" panose="020B0609020204030204" pitchFamily="49" charset="0"/>
                <a:ea typeface="楷体_GB2312" pitchFamily="49" charset="-122"/>
              </a:rPr>
              <a:t>(</a:t>
            </a:r>
            <a:r>
              <a:rPr lang="en-US" altLang="zh-CN" sz="2000">
                <a:solidFill>
                  <a:srgbClr val="0070C0"/>
                </a:solidFill>
                <a:latin typeface="Consolas" panose="020B0609020204030204" pitchFamily="49" charset="0"/>
                <a:ea typeface="楷体_GB2312" pitchFamily="49" charset="-122"/>
              </a:rPr>
              <a:t>double</a:t>
            </a:r>
            <a:r>
              <a:rPr lang="en-US" altLang="zh-CN" sz="2000">
                <a:latin typeface="Consolas" panose="020B0609020204030204" pitchFamily="49" charset="0"/>
                <a:ea typeface="楷体_GB2312" pitchFamily="49" charset="-122"/>
              </a:rPr>
              <a:t> r);</a:t>
            </a:r>
          </a:p>
          <a:p>
            <a:pPr>
              <a:defRPr/>
            </a:pPr>
            <a:r>
              <a:rPr lang="en-US" altLang="zh-CN" sz="2000">
                <a:latin typeface="Consolas" panose="020B0609020204030204" pitchFamily="49" charset="0"/>
                <a:ea typeface="楷体_GB2312" pitchFamily="49" charset="-122"/>
              </a:rPr>
              <a:t>    </a:t>
            </a:r>
            <a:r>
              <a:rPr lang="en-US" altLang="zh-CN" sz="2000">
                <a:solidFill>
                  <a:srgbClr val="00B050"/>
                </a:solidFill>
                <a:latin typeface="Consolas" panose="020B0609020204030204" pitchFamily="49" charset="0"/>
                <a:ea typeface="楷体_GB2312" pitchFamily="49" charset="-122"/>
              </a:rPr>
              <a:t>~Circle</a:t>
            </a:r>
            <a:r>
              <a:rPr lang="en-US" altLang="zh-CN" sz="2000">
                <a:latin typeface="Consolas" panose="020B0609020204030204" pitchFamily="49" charset="0"/>
                <a:ea typeface="楷体_GB2312" pitchFamily="49" charset="-122"/>
              </a:rPr>
              <a:t>();</a:t>
            </a:r>
          </a:p>
          <a:p>
            <a:pPr>
              <a:defRPr/>
            </a:pPr>
            <a:r>
              <a:rPr lang="en-US" altLang="zh-CN" sz="2000">
                <a:latin typeface="Consolas" panose="020B0609020204030204" pitchFamily="49" charset="0"/>
                <a:ea typeface="楷体_GB2312" pitchFamily="49" charset="-122"/>
                <a:cs typeface="+mn-cs"/>
              </a:rPr>
              <a:t>    …</a:t>
            </a:r>
          </a:p>
          <a:p>
            <a:pPr>
              <a:defRPr/>
            </a:pPr>
            <a:r>
              <a:rPr lang="en-US" altLang="zh-CN" sz="2000">
                <a:latin typeface="Consolas" panose="020B0609020204030204" pitchFamily="49" charset="0"/>
                <a:ea typeface="楷体_GB2312" pitchFamily="49" charset="-122"/>
                <a:cs typeface="+mn-cs"/>
              </a:rPr>
              <a:t>}</a:t>
            </a:r>
          </a:p>
        </p:txBody>
      </p:sp>
      <p:sp>
        <p:nvSpPr>
          <p:cNvPr id="12" name="矩形 11"/>
          <p:cNvSpPr/>
          <p:nvPr/>
        </p:nvSpPr>
        <p:spPr>
          <a:xfrm>
            <a:off x="2627569" y="4937176"/>
            <a:ext cx="3135501" cy="304800"/>
          </a:xfrm>
          <a:prstGeom prst="rect">
            <a:avLst/>
          </a:prstGeom>
          <a:solidFill>
            <a:schemeClr val="bg1">
              <a:alpha val="0"/>
            </a:schemeClr>
          </a:solidFill>
          <a:ln w="19050">
            <a:solidFill>
              <a:schemeClr val="dk1"/>
            </a:solidFill>
            <a:prstDash val="dash"/>
          </a:ln>
        </p:spPr>
        <p:txBody>
          <a:bodyPr wrap="square" lIns="0" tIns="0" rIns="0" bIns="0" rtlCol="0" anchor="ctr">
            <a:spAutoFit/>
          </a:bodyPr>
          <a:lstStyle/>
          <a:p>
            <a:pPr marL="0" algn="ctr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60000"/>
            </a:pPr>
            <a:endParaRPr lang="zh-CN" altLang="en-US" sz="2200" b="1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6104327" y="5387660"/>
            <a:ext cx="189667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>
                <a:latin typeface="Arial" panose="020B0604020202020204" pitchFamily="34" charset="0"/>
                <a:cs typeface="Arial" panose="020B0604020202020204" pitchFamily="34" charset="0"/>
              </a:rPr>
              <a:t>destructor</a:t>
            </a:r>
            <a:endParaRPr lang="zh-CN" alt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8" name="直接箭头连接符 17"/>
          <p:cNvCxnSpPr>
            <a:stCxn id="15" idx="1"/>
            <a:endCxn id="12" idx="2"/>
          </p:cNvCxnSpPr>
          <p:nvPr/>
        </p:nvCxnSpPr>
        <p:spPr>
          <a:xfrm flipH="1" flipV="1">
            <a:off x="4195320" y="5241976"/>
            <a:ext cx="1909007" cy="34573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矩形 18"/>
          <p:cNvSpPr/>
          <p:nvPr/>
        </p:nvSpPr>
        <p:spPr>
          <a:xfrm>
            <a:off x="2627569" y="6040819"/>
            <a:ext cx="4495801" cy="38048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</p:spPr>
        <p:txBody>
          <a:bodyPr wrap="square" tIns="36000" rIns="0" bIns="36000">
            <a:spAutoFit/>
          </a:bodyPr>
          <a:lstStyle/>
          <a:p>
            <a:pPr>
              <a:defRPr/>
            </a:pPr>
            <a:r>
              <a:rPr lang="en-US" altLang="zh-CN" sz="2000">
                <a:solidFill>
                  <a:srgbClr val="00B050"/>
                </a:solidFill>
                <a:latin typeface="Consolas" panose="020B0609020204030204" pitchFamily="49" charset="0"/>
                <a:ea typeface="楷体_GB2312" pitchFamily="49" charset="-122"/>
              </a:rPr>
              <a:t>Circle::~Circle</a:t>
            </a:r>
            <a:r>
              <a:rPr lang="en-US" altLang="zh-CN" sz="2000">
                <a:latin typeface="Consolas" panose="020B0609020204030204" pitchFamily="49" charset="0"/>
                <a:ea typeface="楷体_GB2312" pitchFamily="49" charset="-122"/>
              </a:rPr>
              <a:t>(){</a:t>
            </a:r>
            <a:r>
              <a:rPr lang="en-US" altLang="zh-CN" sz="2000">
                <a:latin typeface="Consolas" panose="020B0609020204030204" pitchFamily="49" charset="0"/>
                <a:ea typeface="楷体_GB2312" pitchFamily="49" charset="-122"/>
                <a:cs typeface="+mn-cs"/>
              </a:rPr>
              <a:t>  …  }</a:t>
            </a:r>
          </a:p>
        </p:txBody>
      </p:sp>
      <p:sp>
        <p:nvSpPr>
          <p:cNvPr id="20" name="矩形 19"/>
          <p:cNvSpPr/>
          <p:nvPr/>
        </p:nvSpPr>
        <p:spPr>
          <a:xfrm>
            <a:off x="1537317" y="3600504"/>
            <a:ext cx="119538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>
                <a:latin typeface="Arial" panose="020B0604020202020204" pitchFamily="34" charset="0"/>
                <a:cs typeface="Arial" panose="020B0604020202020204" pitchFamily="34" charset="0"/>
              </a:rPr>
              <a:t>Circle.h</a:t>
            </a:r>
            <a:endParaRPr lang="zh-CN" alt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1303727" y="5997755"/>
            <a:ext cx="136180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>
                <a:latin typeface="Arial" panose="020B0604020202020204" pitchFamily="34" charset="0"/>
                <a:cs typeface="Arial" panose="020B0604020202020204" pitchFamily="34" charset="0"/>
              </a:rPr>
              <a:t>Circle.cpp</a:t>
            </a:r>
            <a:endParaRPr lang="zh-CN" alt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2" name="直接箭头连接符 21"/>
          <p:cNvCxnSpPr>
            <a:stCxn id="15" idx="1"/>
            <a:endCxn id="19" idx="0"/>
          </p:cNvCxnSpPr>
          <p:nvPr/>
        </p:nvCxnSpPr>
        <p:spPr>
          <a:xfrm flipH="1">
            <a:off x="4875470" y="5587715"/>
            <a:ext cx="1228857" cy="45310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3" name="Rectangle 2"/>
          <p:cNvSpPr>
            <a:spLocks noGrp="1"/>
          </p:cNvSpPr>
          <p:nvPr>
            <p:ph type="title"/>
          </p:nvPr>
        </p:nvSpPr>
        <p:spPr>
          <a:xfrm>
            <a:off x="876300" y="457200"/>
            <a:ext cx="8267700" cy="381000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4000">
                <a:sym typeface="+mn-ea"/>
              </a:rPr>
              <a:t>Constructors and Destructors</a:t>
            </a:r>
            <a:endParaRPr lang="en-US" altLang="zh-CN" sz="4000">
              <a:ea typeface="宋体" panose="02010600030101010101" pitchFamily="2" charset="-122"/>
            </a:endParaRPr>
          </a:p>
        </p:txBody>
      </p:sp>
      <p:sp>
        <p:nvSpPr>
          <p:cNvPr id="125955" name="灯片编号占位符 4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  <a:t>15</a:t>
            </a:fld>
            <a:endParaRPr lang="en-US" altLang="zh-CN" sz="1600" b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550779" y="1029101"/>
            <a:ext cx="7364621" cy="1426920"/>
          </a:xfrm>
          <a:prstGeom prst="rect">
            <a:avLst/>
          </a:prstGeom>
          <a:noFill/>
          <a:ln w="19050">
            <a:noFill/>
          </a:ln>
        </p:spPr>
        <p:txBody>
          <a:bodyPr wrap="square" tIns="36000" rIns="0" bIns="36000">
            <a:spAutoFit/>
          </a:bodyPr>
          <a:lstStyle/>
          <a:p>
            <a:pPr>
              <a:defRPr/>
            </a:pPr>
            <a:r>
              <a:rPr lang="en-US" altLang="zh-CN" sz="220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The constructor of a derived class first calls its base class’s constructor before it executes its own code. </a:t>
            </a:r>
          </a:p>
          <a:p>
            <a:pPr>
              <a:defRPr/>
            </a:pPr>
            <a:r>
              <a:rPr lang="en-US" altLang="zh-CN" sz="220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The destructor of a derived class executes its own code then automatically calls its base class’s destructor.</a:t>
            </a:r>
          </a:p>
        </p:txBody>
      </p:sp>
      <p:grpSp>
        <p:nvGrpSpPr>
          <p:cNvPr id="13" name="组合 7"/>
          <p:cNvGrpSpPr/>
          <p:nvPr/>
        </p:nvGrpSpPr>
        <p:grpSpPr bwMode="auto">
          <a:xfrm>
            <a:off x="457200" y="1822450"/>
            <a:ext cx="1036637" cy="615950"/>
            <a:chOff x="333108" y="1289466"/>
            <a:chExt cx="1037032" cy="615301"/>
          </a:xfrm>
        </p:grpSpPr>
        <p:pic>
          <p:nvPicPr>
            <p:cNvPr id="16" name="图片 4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-6616077">
              <a:off x="442540" y="1180034"/>
              <a:ext cx="486519" cy="7053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" name="矩形 10"/>
            <p:cNvSpPr>
              <a:spLocks noChangeArrowheads="1"/>
            </p:cNvSpPr>
            <p:nvPr/>
          </p:nvSpPr>
          <p:spPr bwMode="auto">
            <a:xfrm>
              <a:off x="523473" y="1319992"/>
              <a:ext cx="846667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algn="r"/>
              <a:r>
                <a:rPr lang="en-US" altLang="zh-CN" sz="1600">
                  <a:latin typeface="微软雅黑" panose="020B0503020204020204" pitchFamily="34" charset="-122"/>
                  <a:ea typeface="微软雅黑" panose="020B0503020204020204" pitchFamily="34" charset="-122"/>
                </a:rPr>
                <a:t>Key</a:t>
              </a:r>
            </a:p>
            <a:p>
              <a:pPr algn="r"/>
              <a:r>
                <a:rPr lang="en-US" altLang="zh-CN" sz="1600">
                  <a:latin typeface="微软雅黑" panose="020B0503020204020204" pitchFamily="34" charset="-122"/>
                  <a:ea typeface="微软雅黑" panose="020B0503020204020204" pitchFamily="34" charset="-122"/>
                </a:rPr>
                <a:t>Point</a:t>
              </a:r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" name="矩形 2"/>
          <p:cNvSpPr/>
          <p:nvPr/>
        </p:nvSpPr>
        <p:spPr>
          <a:xfrm>
            <a:off x="309317" y="2488617"/>
            <a:ext cx="865370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>
                <a:latin typeface="Arial" panose="020B0604020202020204" pitchFamily="34" charset="0"/>
                <a:cs typeface="Arial" panose="020B0604020202020204" pitchFamily="34" charset="0"/>
              </a:rPr>
              <a:t>You can invoke the base class’s constructor </a:t>
            </a:r>
            <a:r>
              <a:rPr lang="en-US" altLang="zh-CN" sz="2000" b="1" i="1">
                <a:latin typeface="Arial" panose="020B0604020202020204" pitchFamily="34" charset="0"/>
                <a:cs typeface="Arial" panose="020B0604020202020204" pitchFamily="34" charset="0"/>
              </a:rPr>
              <a:t>from the constructor initializer list</a:t>
            </a:r>
            <a:r>
              <a:rPr lang="en-US" altLang="zh-CN" sz="2000">
                <a:latin typeface="Arial" panose="020B0604020202020204" pitchFamily="34" charset="0"/>
                <a:cs typeface="Arial" panose="020B0604020202020204" pitchFamily="34" charset="0"/>
              </a:rPr>
              <a:t> of the derived class. The syntax is as follows:</a:t>
            </a:r>
            <a:endParaRPr lang="zh-CN" alt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1224841" y="3605797"/>
            <a:ext cx="6811963" cy="1180699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</p:spPr>
        <p:txBody>
          <a:bodyPr wrap="square" tIns="36000" rIns="0" bIns="36000">
            <a:spAutoFit/>
          </a:bodyPr>
          <a:lstStyle/>
          <a:p>
            <a:pPr>
              <a:defRPr/>
            </a:pPr>
            <a:r>
              <a:rPr lang="en-US" altLang="zh-CN" sz="1800">
                <a:solidFill>
                  <a:srgbClr val="00B050"/>
                </a:solidFill>
                <a:latin typeface="Consolas" panose="020B0609020204030204" pitchFamily="49" charset="0"/>
                <a:ea typeface="楷体_GB2312" pitchFamily="49" charset="-122"/>
              </a:rPr>
              <a:t>DerivedClass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(parameterList): </a:t>
            </a:r>
            <a:r>
              <a:rPr lang="en-US" altLang="zh-CN" sz="1800">
                <a:solidFill>
                  <a:srgbClr val="0070C0"/>
                </a:solidFill>
                <a:latin typeface="Consolas" panose="020B0609020204030204" pitchFamily="49" charset="0"/>
                <a:ea typeface="楷体_GB2312" pitchFamily="49" charset="-122"/>
              </a:rPr>
              <a:t>BaseClass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()</a:t>
            </a:r>
          </a:p>
          <a:p>
            <a:pPr>
              <a:defRPr/>
            </a:pP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{</a:t>
            </a:r>
          </a:p>
          <a:p>
            <a:pPr>
              <a:defRPr/>
            </a:pPr>
            <a:r>
              <a:rPr lang="en-US" altLang="zh-CN" sz="180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ea typeface="楷体_GB2312" pitchFamily="49" charset="-122"/>
              </a:rPr>
              <a:t>    // Perform initialization</a:t>
            </a:r>
          </a:p>
          <a:p>
            <a:pPr>
              <a:defRPr/>
            </a:pP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}</a:t>
            </a:r>
            <a:endParaRPr lang="en-US" altLang="zh-CN" sz="1800">
              <a:latin typeface="Consolas" panose="020B0609020204030204" pitchFamily="49" charset="0"/>
              <a:ea typeface="楷体_GB2312" pitchFamily="49" charset="-122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224842" y="5214233"/>
            <a:ext cx="6811963" cy="1180699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</p:spPr>
        <p:txBody>
          <a:bodyPr wrap="square" tIns="36000" rIns="0" bIns="36000">
            <a:spAutoFit/>
          </a:bodyPr>
          <a:lstStyle/>
          <a:p>
            <a:pPr>
              <a:defRPr/>
            </a:pPr>
            <a:r>
              <a:rPr lang="en-US" altLang="zh-CN" sz="1800">
                <a:solidFill>
                  <a:srgbClr val="00B050"/>
                </a:solidFill>
                <a:latin typeface="Consolas" panose="020B0609020204030204" pitchFamily="49" charset="0"/>
                <a:ea typeface="楷体_GB2312" pitchFamily="49" charset="-122"/>
              </a:rPr>
              <a:t>DerivedClass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(parameterList): </a:t>
            </a:r>
            <a:r>
              <a:rPr lang="en-US" altLang="zh-CN" sz="1800">
                <a:solidFill>
                  <a:srgbClr val="0070C0"/>
                </a:solidFill>
                <a:latin typeface="Consolas" panose="020B0609020204030204" pitchFamily="49" charset="0"/>
                <a:ea typeface="楷体_GB2312" pitchFamily="49" charset="-122"/>
              </a:rPr>
              <a:t>BaseClass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(argumentList)</a:t>
            </a:r>
          </a:p>
          <a:p>
            <a:pPr>
              <a:defRPr/>
            </a:pP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{</a:t>
            </a:r>
          </a:p>
          <a:p>
            <a:pPr>
              <a:defRPr/>
            </a:pPr>
            <a:r>
              <a:rPr lang="en-US" altLang="zh-CN" sz="180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ea typeface="楷体_GB2312" pitchFamily="49" charset="-122"/>
              </a:rPr>
              <a:t>    // Perform initialization</a:t>
            </a:r>
          </a:p>
          <a:p>
            <a:pPr>
              <a:defRPr/>
            </a:pP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}</a:t>
            </a:r>
            <a:endParaRPr lang="en-US" altLang="zh-CN" sz="1800">
              <a:latin typeface="Consolas" panose="020B0609020204030204" pitchFamily="49" charset="0"/>
              <a:ea typeface="楷体_GB2312" pitchFamily="49" charset="-122"/>
              <a:cs typeface="+mn-cs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45135" y="3199515"/>
            <a:ext cx="651530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Clr>
                <a:srgbClr val="C00000"/>
              </a:buClr>
              <a:buSzPct val="65000"/>
              <a:buFont typeface="Wingdings" panose="05000000000000000000" pitchFamily="2" charset="2"/>
              <a:buChar char="n"/>
            </a:pPr>
            <a:r>
              <a:rPr lang="en-US" altLang="zh-CN" sz="2000">
                <a:latin typeface="Arial" panose="020B0604020202020204" pitchFamily="34" charset="0"/>
                <a:cs typeface="Arial" panose="020B0604020202020204" pitchFamily="34" charset="0"/>
              </a:rPr>
              <a:t>Invoking the no-arg constructor of its base class</a:t>
            </a:r>
            <a:endParaRPr lang="zh-CN" alt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645135" y="4810891"/>
            <a:ext cx="788690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SzPct val="65000"/>
              <a:buFont typeface="Wingdings" panose="05000000000000000000" pitchFamily="2" charset="2"/>
              <a:buChar char="n"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 Invoking the base class constructor with the specified arguments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3" name="Rectangle 2"/>
          <p:cNvSpPr>
            <a:spLocks noGrp="1"/>
          </p:cNvSpPr>
          <p:nvPr>
            <p:ph type="title"/>
          </p:nvPr>
        </p:nvSpPr>
        <p:spPr>
          <a:xfrm>
            <a:off x="876300" y="457200"/>
            <a:ext cx="8267700" cy="381000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4000">
                <a:sym typeface="+mn-ea"/>
              </a:rPr>
              <a:t>Constructors and Destructors</a:t>
            </a:r>
            <a:endParaRPr lang="en-US" altLang="zh-CN" sz="4000">
              <a:ea typeface="宋体" panose="02010600030101010101" pitchFamily="2" charset="-122"/>
            </a:endParaRPr>
          </a:p>
        </p:txBody>
      </p:sp>
      <p:sp>
        <p:nvSpPr>
          <p:cNvPr id="125955" name="灯片编号占位符 4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  <a:t>16</a:t>
            </a:fld>
            <a:endParaRPr lang="en-US" altLang="zh-CN" sz="1600" b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81000" y="1016366"/>
            <a:ext cx="838200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SzPct val="65000"/>
              <a:buFont typeface="Wingdings" panose="05000000000000000000" pitchFamily="2" charset="2"/>
              <a:buChar char="n"/>
            </a:pPr>
            <a:r>
              <a:rPr lang="en-US" altLang="zh-CN" sz="2200">
                <a:latin typeface="Arial" panose="020B0604020202020204" pitchFamily="34" charset="0"/>
                <a:cs typeface="Arial" panose="020B0604020202020204" pitchFamily="34" charset="0"/>
              </a:rPr>
              <a:t>If a base constructor is not invoked explicitly, the base class’s no-arg constructor is invoked by default.</a:t>
            </a:r>
            <a:endParaRPr lang="zh-CN" altLang="en-US" sz="2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834425" y="1879839"/>
            <a:ext cx="2239963" cy="1180699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dk1"/>
            </a:solidFill>
            <a:prstDash val="dash"/>
          </a:ln>
        </p:spPr>
        <p:txBody>
          <a:bodyPr wrap="square" tIns="36000" rIns="0" bIns="36000">
            <a:spAutoFit/>
          </a:bodyPr>
          <a:lstStyle/>
          <a:p>
            <a:pPr>
              <a:defRPr/>
            </a:pPr>
            <a:r>
              <a:rPr lang="en-US" altLang="zh-CN" sz="1800">
                <a:solidFill>
                  <a:srgbClr val="00B050"/>
                </a:solidFill>
                <a:latin typeface="Consolas" panose="020B0609020204030204" pitchFamily="49" charset="0"/>
                <a:ea typeface="楷体_GB2312" pitchFamily="49" charset="-122"/>
              </a:rPr>
              <a:t>Circle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()</a:t>
            </a:r>
          </a:p>
          <a:p>
            <a:pPr>
              <a:defRPr/>
            </a:pP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{</a:t>
            </a:r>
          </a:p>
          <a:p>
            <a:pPr>
              <a:defRPr/>
            </a:pP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    radius = </a:t>
            </a:r>
            <a:r>
              <a:rPr lang="en-US" altLang="zh-CN" sz="1800">
                <a:solidFill>
                  <a:srgbClr val="9966FF"/>
                </a:solidFill>
                <a:latin typeface="Consolas" panose="020B0609020204030204" pitchFamily="49" charset="0"/>
                <a:ea typeface="楷体_GB2312" pitchFamily="49" charset="-122"/>
              </a:rPr>
              <a:t>1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;</a:t>
            </a:r>
          </a:p>
          <a:p>
            <a:pPr>
              <a:defRPr/>
            </a:pP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}</a:t>
            </a:r>
            <a:endParaRPr lang="en-US" altLang="zh-CN" sz="1800">
              <a:latin typeface="Consolas" panose="020B0609020204030204" pitchFamily="49" charset="0"/>
              <a:ea typeface="楷体_GB2312" pitchFamily="49" charset="-122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808034" y="4764319"/>
            <a:ext cx="7802565" cy="1180699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dk1"/>
            </a:solidFill>
            <a:prstDash val="dash"/>
          </a:ln>
        </p:spPr>
        <p:txBody>
          <a:bodyPr wrap="square" tIns="36000" rIns="0" bIns="36000">
            <a:spAutoFit/>
          </a:bodyPr>
          <a:lstStyle/>
          <a:p>
            <a:pPr>
              <a:defRPr/>
            </a:pPr>
            <a:r>
              <a:rPr lang="en-US" altLang="zh-CN" sz="1800" kern="800" spc="-30">
                <a:solidFill>
                  <a:srgbClr val="00B050"/>
                </a:solidFill>
                <a:latin typeface="Consolas" panose="020B0609020204030204" pitchFamily="49" charset="0"/>
                <a:ea typeface="楷体_GB2312" pitchFamily="49" charset="-122"/>
              </a:rPr>
              <a:t>Circle::Circle</a:t>
            </a:r>
            <a:r>
              <a:rPr lang="en-US" altLang="zh-CN" sz="1800" kern="800" spc="-30">
                <a:latin typeface="Consolas" panose="020B0609020204030204" pitchFamily="49" charset="0"/>
                <a:ea typeface="楷体_GB2312" pitchFamily="49" charset="-122"/>
              </a:rPr>
              <a:t>(</a:t>
            </a:r>
            <a:r>
              <a:rPr lang="en-US" altLang="zh-CN" sz="1800" kern="800" spc="-30">
                <a:solidFill>
                  <a:srgbClr val="0070C0"/>
                </a:solidFill>
                <a:latin typeface="Consolas" panose="020B0609020204030204" pitchFamily="49" charset="0"/>
                <a:ea typeface="楷体_GB2312" pitchFamily="49" charset="-122"/>
              </a:rPr>
              <a:t>double</a:t>
            </a:r>
            <a:r>
              <a:rPr lang="en-US" altLang="zh-CN" sz="1800" kern="800" spc="-30">
                <a:latin typeface="Consolas" panose="020B0609020204030204" pitchFamily="49" charset="0"/>
                <a:ea typeface="楷体_GB2312" pitchFamily="49" charset="-122"/>
              </a:rPr>
              <a:t> radius, </a:t>
            </a:r>
            <a:r>
              <a:rPr lang="en-US" altLang="zh-CN" sz="1800" kern="800" spc="-30">
                <a:solidFill>
                  <a:srgbClr val="FF3399"/>
                </a:solidFill>
                <a:latin typeface="Consolas" panose="020B0609020204030204" pitchFamily="49" charset="0"/>
                <a:ea typeface="楷体_GB2312" pitchFamily="49" charset="-122"/>
              </a:rPr>
              <a:t>const</a:t>
            </a:r>
            <a:r>
              <a:rPr lang="en-US" altLang="zh-CN" sz="1800" kern="800" spc="-30">
                <a:latin typeface="Consolas" panose="020B0609020204030204" pitchFamily="49" charset="0"/>
                <a:ea typeface="楷体_GB2312" pitchFamily="49" charset="-122"/>
              </a:rPr>
              <a:t> string&amp; color, </a:t>
            </a:r>
            <a:r>
              <a:rPr lang="en-US" altLang="zh-CN" sz="1800" kern="800" spc="-30">
                <a:solidFill>
                  <a:srgbClr val="0070C0"/>
                </a:solidFill>
                <a:latin typeface="Consolas" panose="020B0609020204030204" pitchFamily="49" charset="0"/>
                <a:ea typeface="楷体_GB2312" pitchFamily="49" charset="-122"/>
              </a:rPr>
              <a:t>bool</a:t>
            </a:r>
            <a:r>
              <a:rPr lang="en-US" altLang="zh-CN" sz="1800" kern="800" spc="-30">
                <a:latin typeface="Consolas" panose="020B0609020204030204" pitchFamily="49" charset="0"/>
                <a:ea typeface="楷体_GB2312" pitchFamily="49" charset="-122"/>
              </a:rPr>
              <a:t> filled)</a:t>
            </a:r>
          </a:p>
          <a:p>
            <a:pPr>
              <a:defRPr/>
            </a:pPr>
            <a:r>
              <a:rPr lang="en-US" altLang="zh-CN" sz="1800" kern="800" spc="-30">
                <a:latin typeface="Consolas" panose="020B0609020204030204" pitchFamily="49" charset="0"/>
                <a:ea typeface="楷体_GB2312" pitchFamily="49" charset="-122"/>
              </a:rPr>
              <a:t>: </a:t>
            </a:r>
            <a:r>
              <a:rPr lang="en-US" altLang="zh-CN" sz="1800" kern="800" spc="-30">
                <a:solidFill>
                  <a:srgbClr val="0070C0"/>
                </a:solidFill>
                <a:latin typeface="Consolas" panose="020B0609020204030204" pitchFamily="49" charset="0"/>
                <a:ea typeface="楷体_GB2312" pitchFamily="49" charset="-122"/>
              </a:rPr>
              <a:t>GeometricObject</a:t>
            </a:r>
            <a:r>
              <a:rPr lang="en-US" altLang="zh-CN" sz="1800" kern="800" spc="-30">
                <a:latin typeface="Consolas" panose="020B0609020204030204" pitchFamily="49" charset="0"/>
                <a:ea typeface="楷体_GB2312" pitchFamily="49" charset="-122"/>
              </a:rPr>
              <a:t>(color, filled), </a:t>
            </a:r>
            <a:r>
              <a:rPr lang="en-US" altLang="zh-CN" sz="1800" kern="800" spc="-30">
                <a:solidFill>
                  <a:srgbClr val="0070C0"/>
                </a:solidFill>
                <a:latin typeface="Consolas" panose="020B0609020204030204" pitchFamily="49" charset="0"/>
                <a:ea typeface="楷体_GB2312" pitchFamily="49" charset="-122"/>
              </a:rPr>
              <a:t>radius</a:t>
            </a:r>
            <a:r>
              <a:rPr lang="en-US" altLang="zh-CN" sz="1800" kern="800" spc="-30">
                <a:latin typeface="Consolas" panose="020B0609020204030204" pitchFamily="49" charset="0"/>
                <a:ea typeface="楷体_GB2312" pitchFamily="49" charset="-122"/>
              </a:rPr>
              <a:t>(radius)</a:t>
            </a:r>
          </a:p>
          <a:p>
            <a:pPr>
              <a:defRPr/>
            </a:pPr>
            <a:r>
              <a:rPr lang="en-US" altLang="zh-CN" sz="1800" kern="800" spc="-30">
                <a:latin typeface="Consolas" panose="020B0609020204030204" pitchFamily="49" charset="0"/>
                <a:ea typeface="楷体_GB2312" pitchFamily="49" charset="-122"/>
              </a:rPr>
              <a:t>{</a:t>
            </a:r>
          </a:p>
          <a:p>
            <a:pPr>
              <a:defRPr/>
            </a:pPr>
            <a:r>
              <a:rPr lang="en-US" altLang="zh-CN" sz="1800" kern="800" spc="-30">
                <a:latin typeface="Consolas" panose="020B0609020204030204" pitchFamily="49" charset="0"/>
                <a:ea typeface="楷体_GB2312" pitchFamily="49" charset="-122"/>
              </a:rPr>
              <a:t>}</a:t>
            </a:r>
            <a:endParaRPr lang="en-US" altLang="zh-CN" sz="1800" kern="800" spc="-30">
              <a:latin typeface="Consolas" panose="020B0609020204030204" pitchFamily="49" charset="0"/>
              <a:ea typeface="楷体_GB2312" pitchFamily="49" charset="-122"/>
              <a:cs typeface="+mn-cs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4899817" y="1879840"/>
            <a:ext cx="3657600" cy="1180699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dk1"/>
            </a:solidFill>
            <a:prstDash val="dash"/>
          </a:ln>
        </p:spPr>
        <p:txBody>
          <a:bodyPr wrap="square" tIns="36000" rIns="0" bIns="36000">
            <a:spAutoFit/>
          </a:bodyPr>
          <a:lstStyle/>
          <a:p>
            <a:pPr>
              <a:defRPr/>
            </a:pPr>
            <a:r>
              <a:rPr lang="en-US" altLang="zh-CN" sz="1800">
                <a:solidFill>
                  <a:srgbClr val="00B050"/>
                </a:solidFill>
                <a:latin typeface="Consolas" panose="020B0609020204030204" pitchFamily="49" charset="0"/>
                <a:ea typeface="楷体_GB2312" pitchFamily="49" charset="-122"/>
              </a:rPr>
              <a:t>Circle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(): </a:t>
            </a:r>
            <a:r>
              <a:rPr lang="en-US" altLang="zh-CN" sz="1800">
                <a:solidFill>
                  <a:srgbClr val="0070C0"/>
                </a:solidFill>
                <a:latin typeface="Consolas" panose="020B0609020204030204" pitchFamily="49" charset="0"/>
                <a:ea typeface="楷体_GB2312" pitchFamily="49" charset="-122"/>
              </a:rPr>
              <a:t>GeometricObject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()</a:t>
            </a:r>
          </a:p>
          <a:p>
            <a:pPr>
              <a:defRPr/>
            </a:pP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{</a:t>
            </a:r>
          </a:p>
          <a:p>
            <a:pPr>
              <a:defRPr/>
            </a:pP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    radius = </a:t>
            </a:r>
            <a:r>
              <a:rPr lang="en-US" altLang="zh-CN" sz="1800">
                <a:solidFill>
                  <a:srgbClr val="9966FF"/>
                </a:solidFill>
                <a:latin typeface="Consolas" panose="020B0609020204030204" pitchFamily="49" charset="0"/>
                <a:ea typeface="楷体_GB2312" pitchFamily="49" charset="-122"/>
              </a:rPr>
              <a:t>1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;</a:t>
            </a:r>
          </a:p>
          <a:p>
            <a:pPr>
              <a:defRPr/>
            </a:pP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}</a:t>
            </a:r>
            <a:endParaRPr lang="en-US" altLang="zh-CN" sz="1800">
              <a:latin typeface="Consolas" panose="020B0609020204030204" pitchFamily="49" charset="0"/>
              <a:ea typeface="楷体_GB2312" pitchFamily="49" charset="-122"/>
              <a:cs typeface="+mn-cs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3048000" y="2079028"/>
            <a:ext cx="19050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>
                <a:latin typeface="Arial" panose="020B0604020202020204" pitchFamily="34" charset="0"/>
                <a:cs typeface="Arial" panose="020B0604020202020204" pitchFamily="34" charset="0"/>
              </a:rPr>
              <a:t>is equivalent to</a:t>
            </a:r>
            <a:endParaRPr lang="zh-CN" alt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381000" y="3231874"/>
            <a:ext cx="8382000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SzPct val="65000"/>
              <a:buFont typeface="Wingdings" panose="05000000000000000000" pitchFamily="2" charset="2"/>
              <a:buChar char="n"/>
            </a:pPr>
            <a:r>
              <a:rPr lang="en-US" altLang="zh-CN" sz="2200">
                <a:latin typeface="Arial" panose="020B0604020202020204" pitchFamily="34" charset="0"/>
                <a:cs typeface="Arial" panose="020B0604020202020204" pitchFamily="34" charset="0"/>
              </a:rPr>
              <a:t>The Circle(double radius, const string&amp; color, bool filled) constructor can also be implemented by invoking the base class’s constructor GeometricObject(const string&amp; color, bool filled) as follows:</a:t>
            </a:r>
            <a:endParaRPr lang="zh-CN" altLang="en-US" sz="2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3074388" y="2555628"/>
            <a:ext cx="182542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>
            <a:stCxn id="22" idx="3"/>
            <a:endCxn id="15" idx="1"/>
          </p:cNvCxnSpPr>
          <p:nvPr/>
        </p:nvCxnSpPr>
        <p:spPr>
          <a:xfrm>
            <a:off x="3074388" y="2470189"/>
            <a:ext cx="1825429" cy="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3" name="Rectangle 2"/>
          <p:cNvSpPr>
            <a:spLocks noGrp="1"/>
          </p:cNvSpPr>
          <p:nvPr>
            <p:ph type="title"/>
          </p:nvPr>
        </p:nvSpPr>
        <p:spPr>
          <a:xfrm>
            <a:off x="876300" y="457200"/>
            <a:ext cx="8267700" cy="381000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4000">
                <a:sym typeface="+mn-ea"/>
              </a:rPr>
              <a:t>Constructors and Destructors</a:t>
            </a:r>
            <a:endParaRPr lang="en-US" altLang="zh-CN" sz="4000">
              <a:ea typeface="宋体" panose="02010600030101010101" pitchFamily="2" charset="-122"/>
            </a:endParaRPr>
          </a:p>
        </p:txBody>
      </p:sp>
      <p:sp>
        <p:nvSpPr>
          <p:cNvPr id="125955" name="灯片编号占位符 4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  <a:t>17</a:t>
            </a:fld>
            <a:endParaRPr lang="en-US" altLang="zh-CN" sz="1600" b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480218" y="4652984"/>
            <a:ext cx="3581400" cy="1380754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dk1"/>
            </a:solidFill>
          </a:ln>
        </p:spPr>
        <p:txBody>
          <a:bodyPr wrap="square" tIns="36000" rIns="0" bIns="36000">
            <a:spAutoFit/>
          </a:bodyPr>
          <a:lstStyle/>
          <a:p>
            <a:pPr>
              <a:defRPr/>
            </a:pPr>
            <a:r>
              <a:rPr lang="en-US" altLang="zh-CN" sz="1800">
                <a:solidFill>
                  <a:srgbClr val="00B050"/>
                </a:solidFill>
                <a:latin typeface="Consolas" panose="020B0609020204030204" pitchFamily="49" charset="0"/>
                <a:ea typeface="楷体_GB2312" pitchFamily="49" charset="-122"/>
              </a:rPr>
              <a:t>~B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()</a:t>
            </a:r>
          </a:p>
          <a:p>
            <a:pPr>
              <a:defRPr/>
            </a:pP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{</a:t>
            </a:r>
          </a:p>
          <a:p>
            <a:pPr>
              <a:defRPr/>
            </a:pPr>
            <a:endParaRPr lang="en-US" altLang="zh-CN" sz="500">
              <a:latin typeface="Consolas" panose="020B0609020204030204" pitchFamily="49" charset="0"/>
              <a:ea typeface="楷体_GB2312" pitchFamily="49" charset="-122"/>
            </a:endParaRPr>
          </a:p>
          <a:p>
            <a:pPr>
              <a:defRPr/>
            </a:pP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  </a:t>
            </a:r>
            <a:r>
              <a:rPr lang="en-US" altLang="zh-CN" sz="1600">
                <a:latin typeface="Consolas" panose="020B0609020204030204" pitchFamily="49" charset="0"/>
                <a:ea typeface="楷体_GB2312" pitchFamily="49" charset="-122"/>
              </a:rPr>
              <a:t>cout &lt;&lt;</a:t>
            </a:r>
            <a:r>
              <a:rPr lang="en-US" altLang="zh-CN" sz="1600">
                <a:solidFill>
                  <a:srgbClr val="D29818"/>
                </a:solidFill>
                <a:latin typeface="Consolas" panose="020B0609020204030204" pitchFamily="49" charset="0"/>
                <a:ea typeface="楷体_GB2312" pitchFamily="49" charset="-122"/>
              </a:rPr>
              <a:t>"Destructor B"</a:t>
            </a:r>
            <a:r>
              <a:rPr lang="en-US" altLang="zh-CN" sz="1600">
                <a:latin typeface="Consolas" panose="020B0609020204030204" pitchFamily="49" charset="0"/>
                <a:ea typeface="楷体_GB2312" pitchFamily="49" charset="-122"/>
              </a:rPr>
              <a:t>&lt;&lt;endl;</a:t>
            </a:r>
          </a:p>
          <a:p>
            <a:pPr>
              <a:defRPr/>
            </a:pPr>
            <a:endParaRPr lang="en-US" altLang="zh-CN" sz="800">
              <a:latin typeface="Consolas" panose="020B0609020204030204" pitchFamily="49" charset="0"/>
              <a:ea typeface="楷体_GB2312" pitchFamily="49" charset="-122"/>
            </a:endParaRPr>
          </a:p>
          <a:p>
            <a:pPr>
              <a:defRPr/>
            </a:pP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}</a:t>
            </a:r>
            <a:endParaRPr lang="en-US" altLang="zh-CN" sz="1800">
              <a:latin typeface="Consolas" panose="020B0609020204030204" pitchFamily="49" charset="0"/>
              <a:ea typeface="楷体_GB2312" pitchFamily="49" charset="-122"/>
              <a:cs typeface="+mn-cs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480218" y="2276846"/>
            <a:ext cx="3581400" cy="1380754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dk1"/>
            </a:solidFill>
          </a:ln>
        </p:spPr>
        <p:txBody>
          <a:bodyPr wrap="square" tIns="36000" rIns="0" bIns="36000">
            <a:spAutoFit/>
          </a:bodyPr>
          <a:lstStyle/>
          <a:p>
            <a:pPr>
              <a:defRPr/>
            </a:pPr>
            <a:r>
              <a:rPr lang="en-US" altLang="zh-CN" sz="1800">
                <a:solidFill>
                  <a:srgbClr val="00B050"/>
                </a:solidFill>
                <a:latin typeface="Consolas" panose="020B0609020204030204" pitchFamily="49" charset="0"/>
                <a:ea typeface="楷体_GB2312" pitchFamily="49" charset="-122"/>
              </a:rPr>
              <a:t>B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()</a:t>
            </a:r>
          </a:p>
          <a:p>
            <a:pPr>
              <a:defRPr/>
            </a:pP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{</a:t>
            </a:r>
          </a:p>
          <a:p>
            <a:pPr>
              <a:defRPr/>
            </a:pPr>
            <a:endParaRPr lang="en-US" altLang="zh-CN" sz="500">
              <a:latin typeface="Consolas" panose="020B0609020204030204" pitchFamily="49" charset="0"/>
              <a:ea typeface="楷体_GB2312" pitchFamily="49" charset="-122"/>
            </a:endParaRPr>
          </a:p>
          <a:p>
            <a:pPr>
              <a:defRPr/>
            </a:pP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  </a:t>
            </a:r>
            <a:r>
              <a:rPr lang="en-US" altLang="zh-CN" sz="1600">
                <a:latin typeface="Consolas" panose="020B0609020204030204" pitchFamily="49" charset="0"/>
                <a:ea typeface="楷体_GB2312" pitchFamily="49" charset="-122"/>
              </a:rPr>
              <a:t>cout &lt;&lt;</a:t>
            </a:r>
            <a:r>
              <a:rPr lang="en-US" altLang="zh-CN" sz="1600">
                <a:solidFill>
                  <a:srgbClr val="D29818"/>
                </a:solidFill>
                <a:latin typeface="Consolas" panose="020B0609020204030204" pitchFamily="49" charset="0"/>
                <a:ea typeface="楷体_GB2312" pitchFamily="49" charset="-122"/>
              </a:rPr>
              <a:t>"Constructor B"</a:t>
            </a:r>
            <a:r>
              <a:rPr lang="en-US" altLang="zh-CN" sz="1600">
                <a:latin typeface="Consolas" panose="020B0609020204030204" pitchFamily="49" charset="0"/>
                <a:ea typeface="楷体_GB2312" pitchFamily="49" charset="-122"/>
              </a:rPr>
              <a:t>&lt;&lt;endl;</a:t>
            </a:r>
          </a:p>
          <a:p>
            <a:pPr>
              <a:defRPr/>
            </a:pPr>
            <a:endParaRPr lang="en-US" altLang="zh-CN" sz="800">
              <a:latin typeface="Consolas" panose="020B0609020204030204" pitchFamily="49" charset="0"/>
              <a:ea typeface="楷体_GB2312" pitchFamily="49" charset="-122"/>
            </a:endParaRPr>
          </a:p>
          <a:p>
            <a:pPr>
              <a:defRPr/>
            </a:pP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}</a:t>
            </a:r>
            <a:endParaRPr lang="en-US" altLang="zh-CN" sz="1800">
              <a:latin typeface="Consolas" panose="020B0609020204030204" pitchFamily="49" charset="0"/>
              <a:ea typeface="楷体_GB2312" pitchFamily="49" charset="-122"/>
              <a:cs typeface="+mn-cs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471426" y="4132534"/>
            <a:ext cx="2601851" cy="430887"/>
          </a:xfrm>
          <a:prstGeom prst="rect">
            <a:avLst/>
          </a:prstGeom>
          <a:solidFill>
            <a:srgbClr val="00B0F0">
              <a:alpha val="20000"/>
            </a:srgbClr>
          </a:solidFill>
        </p:spPr>
        <p:txBody>
          <a:bodyPr wrap="square">
            <a:spAutoFit/>
          </a:bodyPr>
          <a:lstStyle/>
          <a:p>
            <a:r>
              <a:rPr lang="en-US" altLang="zh-CN" sz="2200">
                <a:latin typeface="Arial" panose="020B0604020202020204" pitchFamily="34" charset="0"/>
                <a:cs typeface="Arial" panose="020B0604020202020204" pitchFamily="34" charset="0"/>
              </a:rPr>
              <a:t>Destructor chaining</a:t>
            </a:r>
            <a:endParaRPr lang="zh-CN" altLang="en-US" sz="2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471426" y="1731965"/>
            <a:ext cx="2778125" cy="430887"/>
          </a:xfrm>
          <a:prstGeom prst="rect">
            <a:avLst/>
          </a:prstGeom>
          <a:solidFill>
            <a:srgbClr val="00B0F0">
              <a:alpha val="20000"/>
            </a:srgbClr>
          </a:solidFill>
        </p:spPr>
        <p:txBody>
          <a:bodyPr wrap="square">
            <a:spAutoFit/>
          </a:bodyPr>
          <a:lstStyle/>
          <a:p>
            <a:r>
              <a:rPr lang="en-US" altLang="zh-CN" sz="2200">
                <a:latin typeface="Arial" panose="020B0604020202020204" pitchFamily="34" charset="0"/>
                <a:cs typeface="Arial" panose="020B0604020202020204" pitchFamily="34" charset="0"/>
              </a:rPr>
              <a:t>Constructor chaining</a:t>
            </a:r>
            <a:endParaRPr lang="zh-CN" altLang="en-US" sz="2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5088244" y="2276846"/>
            <a:ext cx="3581400" cy="1380754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dk1"/>
            </a:solidFill>
          </a:ln>
        </p:spPr>
        <p:txBody>
          <a:bodyPr wrap="square" tIns="36000" rIns="0" bIns="36000">
            <a:spAutoFit/>
          </a:bodyPr>
          <a:lstStyle/>
          <a:p>
            <a:pPr>
              <a:defRPr/>
            </a:pPr>
            <a:r>
              <a:rPr lang="en-US" altLang="zh-CN" sz="1800">
                <a:solidFill>
                  <a:srgbClr val="00B050"/>
                </a:solidFill>
                <a:latin typeface="Consolas" panose="020B0609020204030204" pitchFamily="49" charset="0"/>
                <a:ea typeface="楷体_GB2312" pitchFamily="49" charset="-122"/>
              </a:rPr>
              <a:t>A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()</a:t>
            </a:r>
          </a:p>
          <a:p>
            <a:pPr>
              <a:defRPr/>
            </a:pP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{</a:t>
            </a:r>
          </a:p>
          <a:p>
            <a:pPr>
              <a:defRPr/>
            </a:pPr>
            <a:endParaRPr lang="en-US" altLang="zh-CN" sz="500">
              <a:latin typeface="Consolas" panose="020B0609020204030204" pitchFamily="49" charset="0"/>
              <a:ea typeface="楷体_GB2312" pitchFamily="49" charset="-122"/>
            </a:endParaRPr>
          </a:p>
          <a:p>
            <a:pPr>
              <a:defRPr/>
            </a:pP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  </a:t>
            </a:r>
            <a:r>
              <a:rPr lang="en-US" altLang="zh-CN" sz="1600">
                <a:latin typeface="Consolas" panose="020B0609020204030204" pitchFamily="49" charset="0"/>
                <a:ea typeface="楷体_GB2312" pitchFamily="49" charset="-122"/>
              </a:rPr>
              <a:t>cout &lt;&lt;</a:t>
            </a:r>
            <a:r>
              <a:rPr lang="en-US" altLang="zh-CN" sz="1600">
                <a:solidFill>
                  <a:srgbClr val="D29818"/>
                </a:solidFill>
                <a:latin typeface="Consolas" panose="020B0609020204030204" pitchFamily="49" charset="0"/>
                <a:ea typeface="楷体_GB2312" pitchFamily="49" charset="-122"/>
              </a:rPr>
              <a:t>"Constructor A"</a:t>
            </a:r>
            <a:r>
              <a:rPr lang="en-US" altLang="zh-CN" sz="1600">
                <a:latin typeface="Consolas" panose="020B0609020204030204" pitchFamily="49" charset="0"/>
                <a:ea typeface="楷体_GB2312" pitchFamily="49" charset="-122"/>
              </a:rPr>
              <a:t>&lt;&lt;endl;</a:t>
            </a:r>
          </a:p>
          <a:p>
            <a:pPr>
              <a:defRPr/>
            </a:pPr>
            <a:endParaRPr lang="en-US" altLang="zh-CN" sz="800">
              <a:latin typeface="Consolas" panose="020B0609020204030204" pitchFamily="49" charset="0"/>
              <a:ea typeface="楷体_GB2312" pitchFamily="49" charset="-122"/>
            </a:endParaRPr>
          </a:p>
          <a:p>
            <a:pPr>
              <a:defRPr/>
            </a:pP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}</a:t>
            </a:r>
            <a:endParaRPr lang="en-US" altLang="zh-CN" sz="1800">
              <a:latin typeface="Consolas" panose="020B0609020204030204" pitchFamily="49" charset="0"/>
              <a:ea typeface="楷体_GB2312" pitchFamily="49" charset="-122"/>
              <a:cs typeface="+mn-cs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480218" y="1156939"/>
            <a:ext cx="3581400" cy="349702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dk1"/>
            </a:solidFill>
          </a:ln>
        </p:spPr>
        <p:txBody>
          <a:bodyPr wrap="square" tIns="36000" rIns="0" bIns="36000">
            <a:spAutoFit/>
          </a:bodyPr>
          <a:lstStyle/>
          <a:p>
            <a:pPr>
              <a:defRPr/>
            </a:pPr>
            <a:r>
              <a:rPr lang="en-US" altLang="zh-CN" sz="1800">
                <a:solidFill>
                  <a:srgbClr val="0070C0"/>
                </a:solidFill>
                <a:latin typeface="Consolas" panose="020B0609020204030204" pitchFamily="49" charset="0"/>
                <a:ea typeface="楷体_GB2312" pitchFamily="49" charset="-122"/>
              </a:rPr>
              <a:t>class</a:t>
            </a:r>
            <a:r>
              <a:rPr lang="en-US" altLang="zh-CN" sz="1800">
                <a:solidFill>
                  <a:srgbClr val="00B050"/>
                </a:solidFill>
                <a:latin typeface="Consolas" panose="020B0609020204030204" pitchFamily="49" charset="0"/>
                <a:ea typeface="楷体_GB2312" pitchFamily="49" charset="-122"/>
              </a:rPr>
              <a:t> B : </a:t>
            </a:r>
            <a:r>
              <a:rPr lang="en-US" altLang="zh-CN" sz="1800">
                <a:solidFill>
                  <a:srgbClr val="FF3399"/>
                </a:solidFill>
                <a:latin typeface="Consolas" panose="020B0609020204030204" pitchFamily="49" charset="0"/>
                <a:ea typeface="楷体_GB2312" pitchFamily="49" charset="-122"/>
              </a:rPr>
              <a:t>public</a:t>
            </a:r>
            <a:r>
              <a:rPr lang="en-US" altLang="zh-CN" sz="1800">
                <a:solidFill>
                  <a:srgbClr val="00B050"/>
                </a:solidFill>
                <a:latin typeface="Consolas" panose="020B0609020204030204" pitchFamily="49" charset="0"/>
                <a:ea typeface="楷体_GB2312" pitchFamily="49" charset="-122"/>
              </a:rPr>
              <a:t> </a:t>
            </a:r>
            <a:r>
              <a:rPr lang="en-US" altLang="zh-CN" sz="1800" i="1">
                <a:solidFill>
                  <a:srgbClr val="00B050"/>
                </a:solidFill>
                <a:latin typeface="Consolas" panose="020B0609020204030204" pitchFamily="49" charset="0"/>
                <a:ea typeface="楷体_GB2312" pitchFamily="49" charset="-122"/>
              </a:rPr>
              <a:t>A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{…};</a:t>
            </a:r>
            <a:endParaRPr lang="en-US" altLang="zh-CN" sz="1800">
              <a:latin typeface="Consolas" panose="020B0609020204030204" pitchFamily="49" charset="0"/>
              <a:ea typeface="楷体_GB2312" pitchFamily="49" charset="-122"/>
              <a:cs typeface="+mn-cs"/>
            </a:endParaRPr>
          </a:p>
        </p:txBody>
      </p:sp>
      <p:cxnSp>
        <p:nvCxnSpPr>
          <p:cNvPr id="17" name="直接箭头连接符 16"/>
          <p:cNvCxnSpPr/>
          <p:nvPr/>
        </p:nvCxnSpPr>
        <p:spPr>
          <a:xfrm flipV="1">
            <a:off x="773723" y="2444262"/>
            <a:ext cx="4317023" cy="44840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/>
          <p:nvPr/>
        </p:nvCxnSpPr>
        <p:spPr>
          <a:xfrm flipV="1">
            <a:off x="870438" y="4826977"/>
            <a:ext cx="4220308" cy="835269"/>
          </a:xfrm>
          <a:prstGeom prst="bentConnector3">
            <a:avLst>
              <a:gd name="adj1" fmla="val 92292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矩形 35"/>
          <p:cNvSpPr/>
          <p:nvPr/>
        </p:nvSpPr>
        <p:spPr>
          <a:xfrm>
            <a:off x="5088244" y="4652984"/>
            <a:ext cx="3581400" cy="1380754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dk1"/>
            </a:solidFill>
          </a:ln>
        </p:spPr>
        <p:txBody>
          <a:bodyPr wrap="square" tIns="36000" rIns="0" bIns="36000">
            <a:spAutoFit/>
          </a:bodyPr>
          <a:lstStyle/>
          <a:p>
            <a:pPr>
              <a:defRPr/>
            </a:pPr>
            <a:r>
              <a:rPr lang="en-US" altLang="zh-CN" sz="1800">
                <a:solidFill>
                  <a:srgbClr val="00B050"/>
                </a:solidFill>
                <a:latin typeface="Consolas" panose="020B0609020204030204" pitchFamily="49" charset="0"/>
                <a:ea typeface="楷体_GB2312" pitchFamily="49" charset="-122"/>
              </a:rPr>
              <a:t>~A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()</a:t>
            </a:r>
          </a:p>
          <a:p>
            <a:pPr>
              <a:defRPr/>
            </a:pP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{</a:t>
            </a:r>
          </a:p>
          <a:p>
            <a:pPr>
              <a:defRPr/>
            </a:pPr>
            <a:endParaRPr lang="en-US" altLang="zh-CN" sz="500">
              <a:latin typeface="Consolas" panose="020B0609020204030204" pitchFamily="49" charset="0"/>
              <a:ea typeface="楷体_GB2312" pitchFamily="49" charset="-122"/>
            </a:endParaRPr>
          </a:p>
          <a:p>
            <a:pPr>
              <a:defRPr/>
            </a:pP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  </a:t>
            </a:r>
            <a:r>
              <a:rPr lang="en-US" altLang="zh-CN" sz="1600">
                <a:latin typeface="Consolas" panose="020B0609020204030204" pitchFamily="49" charset="0"/>
                <a:ea typeface="楷体_GB2312" pitchFamily="49" charset="-122"/>
              </a:rPr>
              <a:t>cout &lt;&lt;</a:t>
            </a:r>
            <a:r>
              <a:rPr lang="en-US" altLang="zh-CN" sz="1600">
                <a:solidFill>
                  <a:srgbClr val="D29818"/>
                </a:solidFill>
                <a:latin typeface="Consolas" panose="020B0609020204030204" pitchFamily="49" charset="0"/>
                <a:ea typeface="楷体_GB2312" pitchFamily="49" charset="-122"/>
              </a:rPr>
              <a:t>"Destructor A"</a:t>
            </a:r>
            <a:r>
              <a:rPr lang="en-US" altLang="zh-CN" sz="1600">
                <a:latin typeface="Consolas" panose="020B0609020204030204" pitchFamily="49" charset="0"/>
                <a:ea typeface="楷体_GB2312" pitchFamily="49" charset="-122"/>
              </a:rPr>
              <a:t>&lt;&lt;endl;</a:t>
            </a:r>
          </a:p>
          <a:p>
            <a:pPr>
              <a:defRPr/>
            </a:pPr>
            <a:endParaRPr lang="en-US" altLang="zh-CN" sz="800">
              <a:latin typeface="Consolas" panose="020B0609020204030204" pitchFamily="49" charset="0"/>
              <a:ea typeface="楷体_GB2312" pitchFamily="49" charset="-122"/>
            </a:endParaRPr>
          </a:p>
          <a:p>
            <a:pPr>
              <a:defRPr/>
            </a:pP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}</a:t>
            </a:r>
            <a:endParaRPr lang="en-US" altLang="zh-CN" sz="1800">
              <a:latin typeface="Consolas" panose="020B0609020204030204" pitchFamily="49" charset="0"/>
              <a:ea typeface="楷体_GB2312" pitchFamily="49" charset="-122"/>
              <a:cs typeface="+mn-cs"/>
            </a:endParaRPr>
          </a:p>
        </p:txBody>
      </p:sp>
      <p:cxnSp>
        <p:nvCxnSpPr>
          <p:cNvPr id="37" name="直接箭头连接符 25"/>
          <p:cNvCxnSpPr/>
          <p:nvPr/>
        </p:nvCxnSpPr>
        <p:spPr>
          <a:xfrm rot="10800000">
            <a:off x="764934" y="2963009"/>
            <a:ext cx="4323311" cy="513315"/>
          </a:xfrm>
          <a:prstGeom prst="bentConnector3">
            <a:avLst>
              <a:gd name="adj1" fmla="val 7496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3" name="Rectangle 2"/>
          <p:cNvSpPr>
            <a:spLocks noGrp="1"/>
          </p:cNvSpPr>
          <p:nvPr>
            <p:ph type="title"/>
          </p:nvPr>
        </p:nvSpPr>
        <p:spPr>
          <a:xfrm>
            <a:off x="876300" y="457200"/>
            <a:ext cx="8267700" cy="381000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4000">
                <a:sym typeface="+mn-ea"/>
              </a:rPr>
              <a:t>Constructors and Destructors</a:t>
            </a:r>
            <a:endParaRPr lang="en-US" altLang="zh-CN" sz="4000">
              <a:ea typeface="宋体" panose="02010600030101010101" pitchFamily="2" charset="-122"/>
            </a:endParaRPr>
          </a:p>
        </p:txBody>
      </p:sp>
      <p:sp>
        <p:nvSpPr>
          <p:cNvPr id="125955" name="灯片编号占位符 4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  <a:t>18</a:t>
            </a:fld>
            <a:endParaRPr lang="en-US" altLang="zh-CN" sz="1600" b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4902200" y="5077491"/>
            <a:ext cx="3581400" cy="118069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19050">
            <a:noFill/>
          </a:ln>
        </p:spPr>
        <p:txBody>
          <a:bodyPr wrap="square" tIns="36000" rIns="0" bIns="36000">
            <a:spAutoFit/>
          </a:bodyPr>
          <a:lstStyle/>
          <a:p>
            <a:pPr>
              <a:defRPr/>
            </a:pPr>
            <a:r>
              <a:rPr lang="en-US" altLang="zh-CN" sz="180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  <a:ea typeface="楷体_GB2312" pitchFamily="49" charset="-122"/>
              </a:rPr>
              <a:t>Constructor A</a:t>
            </a:r>
          </a:p>
          <a:p>
            <a:pPr>
              <a:defRPr/>
            </a:pPr>
            <a:r>
              <a:rPr lang="en-US" altLang="zh-CN" sz="180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  <a:ea typeface="楷体_GB2312" pitchFamily="49" charset="-122"/>
              </a:rPr>
              <a:t>  Constructor B</a:t>
            </a:r>
          </a:p>
          <a:p>
            <a:pPr>
              <a:defRPr/>
            </a:pPr>
            <a:r>
              <a:rPr lang="en-US" altLang="zh-CN" sz="180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  <a:ea typeface="楷体_GB2312" pitchFamily="49" charset="-122"/>
              </a:rPr>
              <a:t>  Destructor  B</a:t>
            </a:r>
          </a:p>
          <a:p>
            <a:pPr>
              <a:defRPr/>
            </a:pPr>
            <a:r>
              <a:rPr lang="en-US" altLang="zh-CN" sz="180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  <a:ea typeface="楷体_GB2312" pitchFamily="49" charset="-122"/>
              </a:rPr>
              <a:t>Destructor  A</a:t>
            </a:r>
            <a:endParaRPr lang="en-US" altLang="zh-CN" sz="1800">
              <a:solidFill>
                <a:schemeClr val="bg1">
                  <a:lumMod val="95000"/>
                </a:schemeClr>
              </a:solidFill>
              <a:latin typeface="Consolas" panose="020B0609020204030204" pitchFamily="49" charset="0"/>
              <a:ea typeface="楷体_GB2312" pitchFamily="49" charset="-122"/>
              <a:cs typeface="+mn-cs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491941" y="1131777"/>
            <a:ext cx="4862574" cy="430887"/>
          </a:xfrm>
          <a:prstGeom prst="rect">
            <a:avLst/>
          </a:prstGeom>
          <a:solidFill>
            <a:srgbClr val="00B0F0">
              <a:alpha val="20000"/>
            </a:srgbClr>
          </a:solidFill>
        </p:spPr>
        <p:txBody>
          <a:bodyPr wrap="square">
            <a:spAutoFit/>
          </a:bodyPr>
          <a:lstStyle/>
          <a:p>
            <a:r>
              <a:rPr lang="en-US" altLang="zh-CN" sz="2200">
                <a:latin typeface="Arial" panose="020B0604020202020204" pitchFamily="34" charset="0"/>
                <a:cs typeface="Arial" panose="020B0604020202020204" pitchFamily="34" charset="0"/>
              </a:rPr>
              <a:t>Constructor and Destructor chaining</a:t>
            </a:r>
            <a:endParaRPr lang="zh-CN" altLang="en-US" sz="2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491940" y="1772330"/>
            <a:ext cx="7991660" cy="3119691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dk1"/>
            </a:solidFill>
          </a:ln>
        </p:spPr>
        <p:txBody>
          <a:bodyPr wrap="square" tIns="36000" rIns="0" bIns="36000">
            <a:spAutoFit/>
          </a:bodyPr>
          <a:lstStyle/>
          <a:p>
            <a:pPr>
              <a:defRPr/>
            </a:pPr>
            <a:r>
              <a:rPr lang="en-US" altLang="zh-CN" sz="1800" dirty="0">
                <a:solidFill>
                  <a:srgbClr val="0070C0"/>
                </a:solidFill>
                <a:latin typeface="Consolas" panose="020B0609020204030204" pitchFamily="49" charset="0"/>
                <a:ea typeface="楷体_GB2312" pitchFamily="49" charset="-122"/>
              </a:rPr>
              <a:t>class</a:t>
            </a:r>
            <a:r>
              <a:rPr lang="en-US" altLang="zh-CN" sz="1800" dirty="0">
                <a:solidFill>
                  <a:srgbClr val="00B050"/>
                </a:solidFill>
                <a:latin typeface="Consolas" panose="020B0609020204030204" pitchFamily="49" charset="0"/>
                <a:ea typeface="楷体_GB2312" pitchFamily="49" charset="-122"/>
              </a:rPr>
              <a:t> A </a:t>
            </a:r>
            <a:r>
              <a:rPr lang="en-US" altLang="zh-CN" sz="1800" dirty="0">
                <a:latin typeface="Consolas" panose="020B0609020204030204" pitchFamily="49" charset="0"/>
                <a:ea typeface="楷体_GB2312" pitchFamily="49" charset="-122"/>
              </a:rPr>
              <a:t>{</a:t>
            </a:r>
          </a:p>
          <a:p>
            <a:pPr>
              <a:defRPr/>
            </a:pPr>
            <a:r>
              <a:rPr lang="en-US" altLang="zh-CN" sz="1800" dirty="0">
                <a:solidFill>
                  <a:srgbClr val="FF3399"/>
                </a:solidFill>
                <a:latin typeface="Consolas" panose="020B0609020204030204" pitchFamily="49" charset="0"/>
                <a:ea typeface="楷体_GB2312" pitchFamily="49" charset="-122"/>
              </a:rPr>
              <a:t>public:</a:t>
            </a:r>
          </a:p>
          <a:p>
            <a:pPr>
              <a:defRPr/>
            </a:pPr>
            <a:r>
              <a:rPr lang="en-US" altLang="zh-CN" sz="1800" dirty="0">
                <a:latin typeface="Consolas" panose="020B0609020204030204" pitchFamily="49" charset="0"/>
                <a:ea typeface="楷体_GB2312" pitchFamily="49" charset="-122"/>
              </a:rPr>
              <a:t>    </a:t>
            </a:r>
            <a:r>
              <a:rPr lang="en-US" altLang="zh-CN" sz="1800" dirty="0">
                <a:solidFill>
                  <a:srgbClr val="00B050"/>
                </a:solidFill>
                <a:latin typeface="Consolas" panose="020B0609020204030204" pitchFamily="49" charset="0"/>
                <a:ea typeface="楷体_GB2312" pitchFamily="49" charset="-122"/>
              </a:rPr>
              <a:t>A</a:t>
            </a:r>
            <a:r>
              <a:rPr lang="en-US" altLang="zh-CN" sz="1800" dirty="0">
                <a:latin typeface="Consolas" panose="020B0609020204030204" pitchFamily="49" charset="0"/>
                <a:ea typeface="楷体_GB2312" pitchFamily="49" charset="-122"/>
              </a:rPr>
              <a:t>(){</a:t>
            </a:r>
            <a:r>
              <a:rPr lang="en-US" altLang="zh-CN" sz="1800" dirty="0" err="1">
                <a:latin typeface="Consolas" panose="020B0609020204030204" pitchFamily="49" charset="0"/>
                <a:ea typeface="楷体_GB2312" pitchFamily="49" charset="-122"/>
              </a:rPr>
              <a:t>cout</a:t>
            </a:r>
            <a:r>
              <a:rPr lang="en-US" altLang="zh-CN" sz="1800" dirty="0">
                <a:latin typeface="Consolas" panose="020B0609020204030204" pitchFamily="49" charset="0"/>
                <a:ea typeface="楷体_GB2312" pitchFamily="49" charset="-122"/>
              </a:rPr>
              <a:t> &lt;&lt; </a:t>
            </a:r>
            <a:r>
              <a:rPr lang="en-US" altLang="zh-CN" sz="1800" dirty="0">
                <a:solidFill>
                  <a:srgbClr val="D29818"/>
                </a:solidFill>
                <a:latin typeface="Consolas" panose="020B0609020204030204" pitchFamily="49" charset="0"/>
                <a:ea typeface="楷体_GB2312" pitchFamily="49" charset="-122"/>
              </a:rPr>
              <a:t>"Constructor A" </a:t>
            </a:r>
            <a:r>
              <a:rPr lang="en-US" altLang="zh-CN" sz="1800" dirty="0">
                <a:latin typeface="Consolas" panose="020B0609020204030204" pitchFamily="49" charset="0"/>
                <a:ea typeface="楷体_GB2312" pitchFamily="49" charset="-122"/>
              </a:rPr>
              <a:t>&lt;&lt; </a:t>
            </a:r>
            <a:r>
              <a:rPr lang="en-US" altLang="zh-CN" sz="1800" dirty="0" err="1">
                <a:latin typeface="Consolas" panose="020B0609020204030204" pitchFamily="49" charset="0"/>
                <a:ea typeface="楷体_GB2312" pitchFamily="49" charset="-122"/>
              </a:rPr>
              <a:t>endl</a:t>
            </a:r>
            <a:r>
              <a:rPr lang="en-US" altLang="zh-CN" sz="1800" dirty="0">
                <a:latin typeface="Consolas" panose="020B0609020204030204" pitchFamily="49" charset="0"/>
                <a:ea typeface="楷体_GB2312" pitchFamily="49" charset="-122"/>
              </a:rPr>
              <a:t>;}</a:t>
            </a:r>
          </a:p>
          <a:p>
            <a:pPr>
              <a:defRPr/>
            </a:pPr>
            <a:r>
              <a:rPr lang="en-US" altLang="zh-CN" sz="1800" dirty="0">
                <a:latin typeface="Consolas" panose="020B0609020204030204" pitchFamily="49" charset="0"/>
                <a:ea typeface="楷体_GB2312" pitchFamily="49" charset="-122"/>
              </a:rPr>
              <a:t>    </a:t>
            </a:r>
            <a:r>
              <a:rPr lang="en-US" altLang="zh-CN" sz="1800" dirty="0">
                <a:solidFill>
                  <a:srgbClr val="00B050"/>
                </a:solidFill>
                <a:latin typeface="Consolas" panose="020B0609020204030204" pitchFamily="49" charset="0"/>
                <a:ea typeface="楷体_GB2312" pitchFamily="49" charset="-122"/>
              </a:rPr>
              <a:t>~A</a:t>
            </a:r>
            <a:r>
              <a:rPr lang="en-US" altLang="zh-CN" sz="1800" dirty="0">
                <a:latin typeface="Consolas" panose="020B0609020204030204" pitchFamily="49" charset="0"/>
                <a:ea typeface="楷体_GB2312" pitchFamily="49" charset="-122"/>
              </a:rPr>
              <a:t>(){</a:t>
            </a:r>
            <a:r>
              <a:rPr lang="en-US" altLang="zh-CN" sz="1800" dirty="0" err="1">
                <a:latin typeface="Consolas" panose="020B0609020204030204" pitchFamily="49" charset="0"/>
                <a:ea typeface="楷体_GB2312" pitchFamily="49" charset="-122"/>
              </a:rPr>
              <a:t>cout</a:t>
            </a:r>
            <a:r>
              <a:rPr lang="en-US" altLang="zh-CN" sz="1800" dirty="0">
                <a:latin typeface="Consolas" panose="020B0609020204030204" pitchFamily="49" charset="0"/>
                <a:ea typeface="楷体_GB2312" pitchFamily="49" charset="-122"/>
              </a:rPr>
              <a:t> &lt;&lt; </a:t>
            </a:r>
            <a:r>
              <a:rPr lang="en-US" altLang="zh-CN" sz="1800" dirty="0">
                <a:solidFill>
                  <a:srgbClr val="D29818"/>
                </a:solidFill>
                <a:latin typeface="Consolas" panose="020B0609020204030204" pitchFamily="49" charset="0"/>
                <a:ea typeface="楷体_GB2312" pitchFamily="49" charset="-122"/>
              </a:rPr>
              <a:t>"Destructor  A" </a:t>
            </a:r>
            <a:r>
              <a:rPr lang="en-US" altLang="zh-CN" sz="1800" dirty="0">
                <a:latin typeface="Consolas" panose="020B0609020204030204" pitchFamily="49" charset="0"/>
                <a:ea typeface="楷体_GB2312" pitchFamily="49" charset="-122"/>
              </a:rPr>
              <a:t>&lt;&lt; </a:t>
            </a:r>
            <a:r>
              <a:rPr lang="en-US" altLang="zh-CN" sz="1800" dirty="0" err="1">
                <a:latin typeface="Consolas" panose="020B0609020204030204" pitchFamily="49" charset="0"/>
                <a:ea typeface="楷体_GB2312" pitchFamily="49" charset="-122"/>
              </a:rPr>
              <a:t>endl</a:t>
            </a:r>
            <a:r>
              <a:rPr lang="en-US" altLang="zh-CN" sz="1800" dirty="0">
                <a:latin typeface="Consolas" panose="020B0609020204030204" pitchFamily="49" charset="0"/>
                <a:ea typeface="楷体_GB2312" pitchFamily="49" charset="-122"/>
              </a:rPr>
              <a:t>;}</a:t>
            </a:r>
          </a:p>
          <a:p>
            <a:pPr>
              <a:defRPr/>
            </a:pPr>
            <a:r>
              <a:rPr lang="en-US" altLang="zh-CN" sz="1800" dirty="0">
                <a:latin typeface="Consolas" panose="020B0609020204030204" pitchFamily="49" charset="0"/>
                <a:ea typeface="楷体_GB2312" pitchFamily="49" charset="-122"/>
              </a:rPr>
              <a:t>};</a:t>
            </a:r>
          </a:p>
          <a:p>
            <a:pPr>
              <a:defRPr/>
            </a:pPr>
            <a:endParaRPr lang="en-US" altLang="zh-CN" sz="1800" dirty="0">
              <a:solidFill>
                <a:srgbClr val="0070C0"/>
              </a:solidFill>
              <a:latin typeface="Consolas" panose="020B0609020204030204" pitchFamily="49" charset="0"/>
              <a:ea typeface="楷体_GB2312" pitchFamily="49" charset="-122"/>
            </a:endParaRPr>
          </a:p>
          <a:p>
            <a:pPr>
              <a:defRPr/>
            </a:pPr>
            <a:r>
              <a:rPr lang="en-US" altLang="zh-CN" sz="1800" dirty="0">
                <a:solidFill>
                  <a:srgbClr val="0070C0"/>
                </a:solidFill>
                <a:latin typeface="Consolas" panose="020B0609020204030204" pitchFamily="49" charset="0"/>
                <a:ea typeface="楷体_GB2312" pitchFamily="49" charset="-122"/>
              </a:rPr>
              <a:t>class</a:t>
            </a:r>
            <a:r>
              <a:rPr lang="en-US" altLang="zh-CN" sz="1800" dirty="0">
                <a:solidFill>
                  <a:srgbClr val="00B050"/>
                </a:solidFill>
                <a:latin typeface="Consolas" panose="020B0609020204030204" pitchFamily="49" charset="0"/>
                <a:ea typeface="楷体_GB2312" pitchFamily="49" charset="-122"/>
              </a:rPr>
              <a:t> B : </a:t>
            </a:r>
            <a:r>
              <a:rPr lang="en-US" altLang="zh-CN" sz="1800" dirty="0">
                <a:solidFill>
                  <a:srgbClr val="FF3399"/>
                </a:solidFill>
                <a:latin typeface="Consolas" panose="020B0609020204030204" pitchFamily="49" charset="0"/>
                <a:ea typeface="楷体_GB2312" pitchFamily="49" charset="-122"/>
              </a:rPr>
              <a:t>public</a:t>
            </a:r>
            <a:r>
              <a:rPr lang="en-US" altLang="zh-CN" sz="1800" dirty="0">
                <a:solidFill>
                  <a:srgbClr val="00B050"/>
                </a:solidFill>
                <a:latin typeface="Consolas" panose="020B0609020204030204" pitchFamily="49" charset="0"/>
                <a:ea typeface="楷体_GB2312" pitchFamily="49" charset="-122"/>
              </a:rPr>
              <a:t> </a:t>
            </a:r>
            <a:r>
              <a:rPr lang="en-US" altLang="zh-CN" sz="1800" i="1" dirty="0">
                <a:solidFill>
                  <a:srgbClr val="00B050"/>
                </a:solidFill>
                <a:latin typeface="Consolas" panose="020B0609020204030204" pitchFamily="49" charset="0"/>
                <a:ea typeface="楷体_GB2312" pitchFamily="49" charset="-122"/>
              </a:rPr>
              <a:t>A</a:t>
            </a:r>
            <a:r>
              <a:rPr lang="en-US" altLang="zh-CN" sz="1800" dirty="0">
                <a:latin typeface="Consolas" panose="020B0609020204030204" pitchFamily="49" charset="0"/>
                <a:ea typeface="楷体_GB2312" pitchFamily="49" charset="-122"/>
              </a:rPr>
              <a:t>{</a:t>
            </a:r>
          </a:p>
          <a:p>
            <a:pPr>
              <a:defRPr/>
            </a:pPr>
            <a:r>
              <a:rPr lang="en-US" altLang="zh-CN" sz="1800" dirty="0">
                <a:solidFill>
                  <a:srgbClr val="FF3399"/>
                </a:solidFill>
                <a:latin typeface="Consolas" panose="020B0609020204030204" pitchFamily="49" charset="0"/>
                <a:ea typeface="楷体_GB2312" pitchFamily="49" charset="-122"/>
              </a:rPr>
              <a:t>public:</a:t>
            </a:r>
          </a:p>
          <a:p>
            <a:pPr>
              <a:defRPr/>
            </a:pPr>
            <a:r>
              <a:rPr lang="en-US" altLang="zh-CN" sz="1800" dirty="0">
                <a:latin typeface="Consolas" panose="020B0609020204030204" pitchFamily="49" charset="0"/>
                <a:ea typeface="楷体_GB2312" pitchFamily="49" charset="-122"/>
              </a:rPr>
              <a:t>    </a:t>
            </a:r>
            <a:r>
              <a:rPr lang="en-US" altLang="zh-CN" sz="1800" dirty="0">
                <a:solidFill>
                  <a:srgbClr val="00B050"/>
                </a:solidFill>
                <a:latin typeface="Consolas" panose="020B0609020204030204" pitchFamily="49" charset="0"/>
                <a:ea typeface="楷体_GB2312" pitchFamily="49" charset="-122"/>
              </a:rPr>
              <a:t>B</a:t>
            </a:r>
            <a:r>
              <a:rPr lang="en-US" altLang="zh-CN" sz="1800" dirty="0">
                <a:latin typeface="Consolas" panose="020B0609020204030204" pitchFamily="49" charset="0"/>
                <a:ea typeface="楷体_GB2312" pitchFamily="49" charset="-122"/>
              </a:rPr>
              <a:t>(){</a:t>
            </a:r>
            <a:r>
              <a:rPr lang="en-US" altLang="zh-CN" sz="1800" dirty="0" err="1">
                <a:latin typeface="Consolas" panose="020B0609020204030204" pitchFamily="49" charset="0"/>
                <a:ea typeface="楷体_GB2312" pitchFamily="49" charset="-122"/>
              </a:rPr>
              <a:t>cout</a:t>
            </a:r>
            <a:r>
              <a:rPr lang="en-US" altLang="zh-CN" sz="1800" dirty="0">
                <a:latin typeface="Consolas" panose="020B0609020204030204" pitchFamily="49" charset="0"/>
                <a:ea typeface="楷体_GB2312" pitchFamily="49" charset="-122"/>
              </a:rPr>
              <a:t> &lt;&lt; </a:t>
            </a:r>
            <a:r>
              <a:rPr lang="en-US" altLang="zh-CN" sz="1800" dirty="0">
                <a:solidFill>
                  <a:srgbClr val="D29818"/>
                </a:solidFill>
                <a:latin typeface="Consolas" panose="020B0609020204030204" pitchFamily="49" charset="0"/>
                <a:ea typeface="楷体_GB2312" pitchFamily="49" charset="-122"/>
              </a:rPr>
              <a:t>"  Constructor B" </a:t>
            </a:r>
            <a:r>
              <a:rPr lang="en-US" altLang="zh-CN" sz="1800" dirty="0">
                <a:latin typeface="Consolas" panose="020B0609020204030204" pitchFamily="49" charset="0"/>
                <a:ea typeface="楷体_GB2312" pitchFamily="49" charset="-122"/>
              </a:rPr>
              <a:t>&lt;&lt; </a:t>
            </a:r>
            <a:r>
              <a:rPr lang="en-US" altLang="zh-CN" sz="1800" dirty="0" err="1">
                <a:latin typeface="Consolas" panose="020B0609020204030204" pitchFamily="49" charset="0"/>
                <a:ea typeface="楷体_GB2312" pitchFamily="49" charset="-122"/>
              </a:rPr>
              <a:t>endl</a:t>
            </a:r>
            <a:r>
              <a:rPr lang="en-US" altLang="zh-CN" sz="1800" dirty="0">
                <a:latin typeface="Consolas" panose="020B0609020204030204" pitchFamily="49" charset="0"/>
                <a:ea typeface="楷体_GB2312" pitchFamily="49" charset="-122"/>
              </a:rPr>
              <a:t>;}</a:t>
            </a:r>
          </a:p>
          <a:p>
            <a:pPr>
              <a:defRPr/>
            </a:pPr>
            <a:r>
              <a:rPr lang="en-US" altLang="zh-CN" sz="1800" dirty="0">
                <a:latin typeface="Consolas" panose="020B0609020204030204" pitchFamily="49" charset="0"/>
                <a:ea typeface="楷体_GB2312" pitchFamily="49" charset="-122"/>
              </a:rPr>
              <a:t>    </a:t>
            </a:r>
            <a:r>
              <a:rPr lang="en-US" altLang="zh-CN" sz="1800" dirty="0">
                <a:solidFill>
                  <a:srgbClr val="00B050"/>
                </a:solidFill>
                <a:latin typeface="Consolas" panose="020B0609020204030204" pitchFamily="49" charset="0"/>
                <a:ea typeface="楷体_GB2312" pitchFamily="49" charset="-122"/>
              </a:rPr>
              <a:t>~B</a:t>
            </a:r>
            <a:r>
              <a:rPr lang="en-US" altLang="zh-CN" sz="1800" dirty="0">
                <a:latin typeface="Consolas" panose="020B0609020204030204" pitchFamily="49" charset="0"/>
                <a:ea typeface="楷体_GB2312" pitchFamily="49" charset="-122"/>
              </a:rPr>
              <a:t>(){</a:t>
            </a:r>
            <a:r>
              <a:rPr lang="en-US" altLang="zh-CN" sz="1800" dirty="0" err="1">
                <a:latin typeface="Consolas" panose="020B0609020204030204" pitchFamily="49" charset="0"/>
                <a:ea typeface="楷体_GB2312" pitchFamily="49" charset="-122"/>
              </a:rPr>
              <a:t>cout</a:t>
            </a:r>
            <a:r>
              <a:rPr lang="en-US" altLang="zh-CN" sz="1800" dirty="0">
                <a:latin typeface="Consolas" panose="020B0609020204030204" pitchFamily="49" charset="0"/>
                <a:ea typeface="楷体_GB2312" pitchFamily="49" charset="-122"/>
              </a:rPr>
              <a:t> &lt;&lt; </a:t>
            </a:r>
            <a:r>
              <a:rPr lang="en-US" altLang="zh-CN" sz="1800" dirty="0">
                <a:solidFill>
                  <a:srgbClr val="D29818"/>
                </a:solidFill>
                <a:latin typeface="Consolas" panose="020B0609020204030204" pitchFamily="49" charset="0"/>
                <a:ea typeface="楷体_GB2312" pitchFamily="49" charset="-122"/>
              </a:rPr>
              <a:t>"  Destructor  B" </a:t>
            </a:r>
            <a:r>
              <a:rPr lang="en-US" altLang="zh-CN" sz="1800" dirty="0">
                <a:latin typeface="Consolas" panose="020B0609020204030204" pitchFamily="49" charset="0"/>
                <a:ea typeface="楷体_GB2312" pitchFamily="49" charset="-122"/>
              </a:rPr>
              <a:t>&lt;&lt; </a:t>
            </a:r>
            <a:r>
              <a:rPr lang="en-US" altLang="zh-CN" sz="1800" dirty="0" err="1">
                <a:latin typeface="Consolas" panose="020B0609020204030204" pitchFamily="49" charset="0"/>
                <a:ea typeface="楷体_GB2312" pitchFamily="49" charset="-122"/>
              </a:rPr>
              <a:t>endl</a:t>
            </a:r>
            <a:r>
              <a:rPr lang="en-US" altLang="zh-CN" sz="1800" dirty="0">
                <a:latin typeface="Consolas" panose="020B0609020204030204" pitchFamily="49" charset="0"/>
                <a:ea typeface="楷体_GB2312" pitchFamily="49" charset="-122"/>
              </a:rPr>
              <a:t>;}</a:t>
            </a:r>
          </a:p>
          <a:p>
            <a:pPr>
              <a:defRPr/>
            </a:pPr>
            <a:r>
              <a:rPr lang="en-US" altLang="zh-CN" sz="1800" dirty="0">
                <a:latin typeface="Consolas" panose="020B0609020204030204" pitchFamily="49" charset="0"/>
                <a:ea typeface="楷体_GB2312" pitchFamily="49" charset="-122"/>
              </a:rPr>
              <a:t>};</a:t>
            </a:r>
            <a:endParaRPr lang="en-US" altLang="zh-CN" sz="1800" dirty="0">
              <a:latin typeface="Consolas" panose="020B0609020204030204" pitchFamily="49" charset="0"/>
              <a:ea typeface="楷体_GB2312" pitchFamily="49" charset="-122"/>
              <a:cs typeface="+mn-cs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491940" y="5077492"/>
            <a:ext cx="3851460" cy="1180699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dk1"/>
            </a:solidFill>
          </a:ln>
        </p:spPr>
        <p:txBody>
          <a:bodyPr wrap="square" tIns="36000" rIns="0" bIns="36000">
            <a:spAutoFit/>
          </a:bodyPr>
          <a:lstStyle/>
          <a:p>
            <a:pPr>
              <a:defRPr/>
            </a:pPr>
            <a:r>
              <a:rPr lang="en-US" altLang="zh-CN" sz="1800">
                <a:solidFill>
                  <a:srgbClr val="0070C0"/>
                </a:solidFill>
                <a:latin typeface="Consolas" panose="020B0609020204030204" pitchFamily="49" charset="0"/>
                <a:ea typeface="楷体_GB2312" pitchFamily="49" charset="-122"/>
              </a:rPr>
              <a:t>int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 </a:t>
            </a:r>
            <a:r>
              <a:rPr lang="en-US" altLang="zh-CN" sz="1800">
                <a:solidFill>
                  <a:srgbClr val="00B050"/>
                </a:solidFill>
                <a:latin typeface="Consolas" panose="020B0609020204030204" pitchFamily="49" charset="0"/>
                <a:ea typeface="楷体_GB2312" pitchFamily="49" charset="-122"/>
              </a:rPr>
              <a:t>main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() {</a:t>
            </a:r>
          </a:p>
          <a:p>
            <a:pPr>
              <a:defRPr/>
            </a:pP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    B b;</a:t>
            </a:r>
          </a:p>
          <a:p>
            <a:pPr>
              <a:defRPr/>
            </a:pP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    </a:t>
            </a:r>
            <a:r>
              <a:rPr lang="en-US" altLang="zh-CN" sz="1800">
                <a:solidFill>
                  <a:srgbClr val="FF3399"/>
                </a:solidFill>
                <a:latin typeface="Consolas" panose="020B0609020204030204" pitchFamily="49" charset="0"/>
                <a:ea typeface="楷体_GB2312" pitchFamily="49" charset="-122"/>
              </a:rPr>
              <a:t>return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 </a:t>
            </a:r>
            <a:r>
              <a:rPr lang="en-US" altLang="zh-CN" sz="1800">
                <a:solidFill>
                  <a:srgbClr val="9966FF"/>
                </a:solidFill>
                <a:latin typeface="Consolas" panose="020B0609020204030204" pitchFamily="49" charset="0"/>
                <a:ea typeface="楷体_GB2312" pitchFamily="49" charset="-122"/>
              </a:rPr>
              <a:t>0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;</a:t>
            </a:r>
          </a:p>
          <a:p>
            <a:pPr>
              <a:defRPr/>
            </a:pP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}</a:t>
            </a:r>
            <a:endParaRPr lang="en-US" altLang="zh-CN" sz="1800">
              <a:latin typeface="Consolas" panose="020B0609020204030204" pitchFamily="49" charset="0"/>
              <a:ea typeface="楷体_GB2312" pitchFamily="49" charset="-122"/>
              <a:cs typeface="+mn-cs"/>
            </a:endParaRPr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5" name="灯片编号占位符 4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  <a:t>19</a:t>
            </a:fld>
            <a:endParaRPr lang="en-US" altLang="zh-CN" sz="1600" b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381000" y="2133600"/>
            <a:ext cx="8288338" cy="2892333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altLang="zh-CN" sz="4400" b="0" dirty="0">
                <a:solidFill>
                  <a:schemeClr val="tx1"/>
                </a:solidFill>
              </a:rPr>
              <a:t>3. </a:t>
            </a:r>
            <a:r>
              <a:rPr lang="en-US" altLang="zh-CN" sz="4400" dirty="0">
                <a:solidFill>
                  <a:schemeClr val="tx1"/>
                </a:solidFill>
                <a:sym typeface="+mn-ea"/>
              </a:rPr>
              <a:t>Redefining Functions</a:t>
            </a:r>
            <a:br>
              <a:rPr lang="en-US" altLang="zh-CN" sz="4400" dirty="0">
                <a:solidFill>
                  <a:schemeClr val="tx1"/>
                </a:solidFill>
                <a:sym typeface="+mn-ea"/>
              </a:rPr>
            </a:br>
            <a:r>
              <a:rPr lang="en-US" altLang="zh-CN" sz="4400" dirty="0">
                <a:solidFill>
                  <a:schemeClr val="tx1"/>
                </a:solidFill>
                <a:sym typeface="+mn-ea"/>
              </a:rPr>
              <a:t>and Polymorphism</a:t>
            </a:r>
            <a:br>
              <a:rPr lang="en-US" altLang="zh-CN" sz="4400" dirty="0">
                <a:solidFill>
                  <a:schemeClr val="tx1"/>
                </a:solidFill>
              </a:rPr>
            </a:br>
            <a:endParaRPr lang="en-US" altLang="zh-CN" sz="4400" b="0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690667" y="4119880"/>
            <a:ext cx="3449320" cy="58356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l"/>
            <a:r>
              <a:rPr lang="zh-CN" altLang="en-US" sz="3200" b="1" dirty="0">
                <a:pattFill prst="pct90">
                  <a:fgClr>
                    <a:srgbClr val="6C0000"/>
                  </a:fgClr>
                  <a:bgClr>
                    <a:srgbClr val="FF1919"/>
                  </a:bgClr>
                </a:pattFill>
                <a:latin typeface="Arial" panose="020B0604020202020204" pitchFamily="34" charset="0"/>
                <a:ea typeface="仿宋" panose="02010609060101010101" pitchFamily="49" charset="-122"/>
                <a:cs typeface="Arial" panose="020B0604020202020204" pitchFamily="34" charset="0"/>
                <a:sym typeface="+mn-ea"/>
              </a:rPr>
              <a:t>函数重定义和多态</a:t>
            </a:r>
            <a:endParaRPr lang="zh-CN" altLang="en-US" sz="3200" b="1" dirty="0">
              <a:pattFill prst="pct90">
                <a:fgClr>
                  <a:srgbClr val="6C0000"/>
                </a:fgClr>
                <a:bgClr>
                  <a:srgbClr val="FF1919"/>
                </a:bgClr>
              </a:pattFill>
              <a:latin typeface="Arial" panose="020B0604020202020204" pitchFamily="34" charset="0"/>
              <a:ea typeface="仿宋" panose="02010609060101010101" pitchFamily="49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3" name="Rectangle 2"/>
          <p:cNvSpPr>
            <a:spLocks noGrp="1"/>
          </p:cNvSpPr>
          <p:nvPr>
            <p:ph type="title"/>
          </p:nvPr>
        </p:nvSpPr>
        <p:spPr>
          <a:xfrm>
            <a:off x="876300" y="457200"/>
            <a:ext cx="8267700" cy="381000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4000">
                <a:sym typeface="+mn-ea"/>
              </a:rPr>
              <a:t>Redefining Functions</a:t>
            </a:r>
            <a:endParaRPr lang="en-US" altLang="zh-CN" sz="4000">
              <a:ea typeface="宋体" panose="02010600030101010101" pitchFamily="2" charset="-122"/>
            </a:endParaRPr>
          </a:p>
        </p:txBody>
      </p:sp>
      <p:sp>
        <p:nvSpPr>
          <p:cNvPr id="125955" name="灯片编号占位符 4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  <a:t>20</a:t>
            </a:fld>
            <a:endParaRPr lang="en-US" altLang="zh-CN" sz="1600" b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550779" y="1029101"/>
            <a:ext cx="7412246" cy="811367"/>
          </a:xfrm>
          <a:prstGeom prst="rect">
            <a:avLst/>
          </a:prstGeom>
          <a:noFill/>
          <a:ln w="19050">
            <a:noFill/>
          </a:ln>
        </p:spPr>
        <p:txBody>
          <a:bodyPr wrap="square" tIns="36000" rIns="0" bIns="36000">
            <a:spAutoFit/>
          </a:bodyPr>
          <a:lstStyle/>
          <a:p>
            <a:pPr>
              <a:defRPr/>
            </a:pPr>
            <a:r>
              <a:rPr lang="en-US" altLang="zh-CN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A function defined in the base class can be redefined in the derived classes.</a:t>
            </a:r>
          </a:p>
        </p:txBody>
      </p:sp>
      <p:grpSp>
        <p:nvGrpSpPr>
          <p:cNvPr id="13" name="组合 7"/>
          <p:cNvGrpSpPr/>
          <p:nvPr/>
        </p:nvGrpSpPr>
        <p:grpSpPr bwMode="auto">
          <a:xfrm>
            <a:off x="481684" y="1219543"/>
            <a:ext cx="1036637" cy="615950"/>
            <a:chOff x="333108" y="1289466"/>
            <a:chExt cx="1037032" cy="615301"/>
          </a:xfrm>
        </p:grpSpPr>
        <p:pic>
          <p:nvPicPr>
            <p:cNvPr id="16" name="图片 4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-6616077">
              <a:off x="442540" y="1180034"/>
              <a:ext cx="486519" cy="7053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" name="矩形 10"/>
            <p:cNvSpPr>
              <a:spLocks noChangeArrowheads="1"/>
            </p:cNvSpPr>
            <p:nvPr/>
          </p:nvSpPr>
          <p:spPr bwMode="auto">
            <a:xfrm>
              <a:off x="523473" y="1319992"/>
              <a:ext cx="846667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algn="r"/>
              <a:r>
                <a:rPr lang="en-US" altLang="zh-CN" sz="1600">
                  <a:latin typeface="微软雅黑" panose="020B0503020204020204" pitchFamily="34" charset="-122"/>
                  <a:ea typeface="微软雅黑" panose="020B0503020204020204" pitchFamily="34" charset="-122"/>
                </a:rPr>
                <a:t>Key</a:t>
              </a:r>
            </a:p>
            <a:p>
              <a:pPr algn="r"/>
              <a:r>
                <a:rPr lang="en-US" altLang="zh-CN" sz="1600">
                  <a:latin typeface="微软雅黑" panose="020B0503020204020204" pitchFamily="34" charset="-122"/>
                  <a:ea typeface="微软雅黑" panose="020B0503020204020204" pitchFamily="34" charset="-122"/>
                </a:rPr>
                <a:t>Point</a:t>
              </a:r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371475" y="2003634"/>
            <a:ext cx="8112125" cy="2950564"/>
            <a:chOff x="422275" y="4049300"/>
            <a:chExt cx="8112125" cy="2950564"/>
          </a:xfrm>
        </p:grpSpPr>
        <p:sp>
          <p:nvSpPr>
            <p:cNvPr id="22" name="矩形 21"/>
            <p:cNvSpPr/>
            <p:nvPr/>
          </p:nvSpPr>
          <p:spPr>
            <a:xfrm>
              <a:off x="2895600" y="4049300"/>
              <a:ext cx="5638800" cy="9037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noFill/>
            </a:ln>
          </p:spPr>
          <p:txBody>
            <a:bodyPr wrap="square" tIns="36000" rIns="0" bIns="36000">
              <a:spAutoFit/>
            </a:bodyPr>
            <a:lstStyle/>
            <a:p>
              <a:pPr>
                <a:defRPr/>
              </a:pPr>
              <a:r>
                <a:rPr lang="en-US" altLang="zh-CN" sz="1800">
                  <a:latin typeface="Consolas" panose="020B0609020204030204" pitchFamily="49" charset="0"/>
                  <a:ea typeface="楷体_GB2312" pitchFamily="49" charset="-122"/>
                </a:rPr>
                <a:t>string </a:t>
              </a:r>
              <a:r>
                <a:rPr lang="en-US" altLang="zh-CN" sz="1800">
                  <a:solidFill>
                    <a:srgbClr val="00B050"/>
                  </a:solidFill>
                  <a:latin typeface="Consolas" panose="020B0609020204030204" pitchFamily="49" charset="0"/>
                  <a:ea typeface="楷体_GB2312" pitchFamily="49" charset="-122"/>
                </a:rPr>
                <a:t>GeometricObject::toString</a:t>
              </a:r>
              <a:r>
                <a:rPr lang="en-US" altLang="zh-CN" sz="1800">
                  <a:latin typeface="Consolas" panose="020B0609020204030204" pitchFamily="49" charset="0"/>
                  <a:ea typeface="楷体_GB2312" pitchFamily="49" charset="-122"/>
                </a:rPr>
                <a:t>() </a:t>
              </a:r>
              <a:r>
                <a:rPr lang="en-US" altLang="zh-CN" sz="1800">
                  <a:solidFill>
                    <a:srgbClr val="FF3399"/>
                  </a:solidFill>
                  <a:latin typeface="Consolas" panose="020B0609020204030204" pitchFamily="49" charset="0"/>
                  <a:ea typeface="楷体_GB2312" pitchFamily="49" charset="-122"/>
                </a:rPr>
                <a:t>const</a:t>
              </a:r>
              <a:r>
                <a:rPr lang="en-US" altLang="zh-CN" sz="1800">
                  <a:latin typeface="Consolas" panose="020B0609020204030204" pitchFamily="49" charset="0"/>
                  <a:ea typeface="楷体_GB2312" pitchFamily="49" charset="-122"/>
                </a:rPr>
                <a:t>{</a:t>
              </a:r>
            </a:p>
            <a:p>
              <a:pPr>
                <a:defRPr/>
              </a:pPr>
              <a:r>
                <a:rPr lang="en-US" altLang="zh-CN" sz="1800">
                  <a:latin typeface="Consolas" panose="020B0609020204030204" pitchFamily="49" charset="0"/>
                  <a:ea typeface="楷体_GB2312" pitchFamily="49" charset="-122"/>
                </a:rPr>
                <a:t>    </a:t>
              </a:r>
              <a:r>
                <a:rPr lang="en-US" altLang="zh-CN" sz="1800">
                  <a:solidFill>
                    <a:srgbClr val="FF3399"/>
                  </a:solidFill>
                  <a:latin typeface="Consolas" panose="020B0609020204030204" pitchFamily="49" charset="0"/>
                  <a:ea typeface="楷体_GB2312" pitchFamily="49" charset="-122"/>
                </a:rPr>
                <a:t>return</a:t>
              </a:r>
              <a:r>
                <a:rPr lang="en-US" altLang="zh-CN" sz="1800">
                  <a:latin typeface="Consolas" panose="020B0609020204030204" pitchFamily="49" charset="0"/>
                  <a:ea typeface="楷体_GB2312" pitchFamily="49" charset="-122"/>
                </a:rPr>
                <a:t> </a:t>
              </a:r>
              <a:r>
                <a:rPr lang="en-US" altLang="zh-CN" sz="1800">
                  <a:solidFill>
                    <a:srgbClr val="D29818"/>
                  </a:solidFill>
                  <a:latin typeface="Consolas" panose="020B0609020204030204" pitchFamily="49" charset="0"/>
                  <a:ea typeface="楷体_GB2312" pitchFamily="49" charset="-122"/>
                </a:rPr>
                <a:t>"Geometric Object"</a:t>
              </a:r>
              <a:r>
                <a:rPr lang="en-US" altLang="zh-CN" sz="1800">
                  <a:latin typeface="Consolas" panose="020B0609020204030204" pitchFamily="49" charset="0"/>
                  <a:ea typeface="楷体_GB2312" pitchFamily="49" charset="-122"/>
                </a:rPr>
                <a:t>;</a:t>
              </a:r>
            </a:p>
            <a:p>
              <a:pPr>
                <a:defRPr/>
              </a:pPr>
              <a:r>
                <a:rPr lang="en-US" altLang="zh-CN" sz="1800">
                  <a:latin typeface="Consolas" panose="020B0609020204030204" pitchFamily="49" charset="0"/>
                  <a:ea typeface="楷体_GB2312" pitchFamily="49" charset="-122"/>
                </a:rPr>
                <a:t>}</a:t>
              </a:r>
              <a:endParaRPr lang="en-US" altLang="zh-CN" sz="1800">
                <a:latin typeface="Consolas" panose="020B0609020204030204" pitchFamily="49" charset="0"/>
                <a:ea typeface="楷体_GB2312" pitchFamily="49" charset="-122"/>
                <a:cs typeface="+mn-cs"/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2895600" y="5072732"/>
              <a:ext cx="5638800" cy="9037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noFill/>
            </a:ln>
          </p:spPr>
          <p:txBody>
            <a:bodyPr wrap="square" tIns="36000" rIns="0" bIns="36000">
              <a:spAutoFit/>
            </a:bodyPr>
            <a:lstStyle/>
            <a:p>
              <a:pPr>
                <a:defRPr/>
              </a:pPr>
              <a:r>
                <a:rPr lang="en-US" altLang="zh-CN" sz="1800">
                  <a:latin typeface="Consolas" panose="020B0609020204030204" pitchFamily="49" charset="0"/>
                  <a:ea typeface="楷体_GB2312" pitchFamily="49" charset="-122"/>
                </a:rPr>
                <a:t>string </a:t>
              </a:r>
              <a:r>
                <a:rPr lang="en-US" altLang="zh-CN" sz="1800">
                  <a:solidFill>
                    <a:srgbClr val="00B050"/>
                  </a:solidFill>
                  <a:latin typeface="Consolas" panose="020B0609020204030204" pitchFamily="49" charset="0"/>
                  <a:ea typeface="楷体_GB2312" pitchFamily="49" charset="-122"/>
                </a:rPr>
                <a:t>Circle::toString</a:t>
              </a:r>
              <a:r>
                <a:rPr lang="en-US" altLang="zh-CN" sz="1800">
                  <a:latin typeface="Consolas" panose="020B0609020204030204" pitchFamily="49" charset="0"/>
                  <a:ea typeface="楷体_GB2312" pitchFamily="49" charset="-122"/>
                </a:rPr>
                <a:t>() </a:t>
              </a:r>
              <a:r>
                <a:rPr lang="en-US" altLang="zh-CN" sz="1800">
                  <a:solidFill>
                    <a:srgbClr val="FF3399"/>
                  </a:solidFill>
                  <a:latin typeface="Consolas" panose="020B0609020204030204" pitchFamily="49" charset="0"/>
                  <a:ea typeface="楷体_GB2312" pitchFamily="49" charset="-122"/>
                </a:rPr>
                <a:t>const</a:t>
              </a:r>
              <a:r>
                <a:rPr lang="en-US" altLang="zh-CN" sz="1800">
                  <a:latin typeface="Consolas" panose="020B0609020204030204" pitchFamily="49" charset="0"/>
                  <a:ea typeface="楷体_GB2312" pitchFamily="49" charset="-122"/>
                </a:rPr>
                <a:t>{</a:t>
              </a:r>
            </a:p>
            <a:p>
              <a:pPr>
                <a:defRPr/>
              </a:pPr>
              <a:r>
                <a:rPr lang="en-US" altLang="zh-CN" sz="1800">
                  <a:latin typeface="Consolas" panose="020B0609020204030204" pitchFamily="49" charset="0"/>
                  <a:ea typeface="楷体_GB2312" pitchFamily="49" charset="-122"/>
                </a:rPr>
                <a:t>    </a:t>
              </a:r>
              <a:r>
                <a:rPr lang="en-US" altLang="zh-CN" sz="1800">
                  <a:solidFill>
                    <a:srgbClr val="FF3399"/>
                  </a:solidFill>
                  <a:latin typeface="Consolas" panose="020B0609020204030204" pitchFamily="49" charset="0"/>
                  <a:ea typeface="楷体_GB2312" pitchFamily="49" charset="-122"/>
                </a:rPr>
                <a:t>return</a:t>
              </a:r>
              <a:r>
                <a:rPr lang="en-US" altLang="zh-CN" sz="1800">
                  <a:latin typeface="Consolas" panose="020B0609020204030204" pitchFamily="49" charset="0"/>
                  <a:ea typeface="楷体_GB2312" pitchFamily="49" charset="-122"/>
                </a:rPr>
                <a:t> </a:t>
              </a:r>
              <a:r>
                <a:rPr lang="en-US" altLang="zh-CN" sz="1800">
                  <a:solidFill>
                    <a:srgbClr val="D29818"/>
                  </a:solidFill>
                  <a:latin typeface="Consolas" panose="020B0609020204030204" pitchFamily="49" charset="0"/>
                  <a:ea typeface="楷体_GB2312" pitchFamily="49" charset="-122"/>
                </a:rPr>
                <a:t>"Circle"</a:t>
              </a:r>
              <a:r>
                <a:rPr lang="en-US" altLang="zh-CN" sz="1800">
                  <a:latin typeface="Consolas" panose="020B0609020204030204" pitchFamily="49" charset="0"/>
                  <a:ea typeface="楷体_GB2312" pitchFamily="49" charset="-122"/>
                </a:rPr>
                <a:t>;</a:t>
              </a:r>
            </a:p>
            <a:p>
              <a:pPr>
                <a:defRPr/>
              </a:pPr>
              <a:r>
                <a:rPr lang="en-US" altLang="zh-CN" sz="1800">
                  <a:latin typeface="Consolas" panose="020B0609020204030204" pitchFamily="49" charset="0"/>
                  <a:ea typeface="楷体_GB2312" pitchFamily="49" charset="-122"/>
                </a:rPr>
                <a:t>}</a:t>
              </a:r>
              <a:endParaRPr lang="en-US" altLang="zh-CN" sz="1800">
                <a:latin typeface="Consolas" panose="020B0609020204030204" pitchFamily="49" charset="0"/>
                <a:ea typeface="楷体_GB2312" pitchFamily="49" charset="-122"/>
                <a:cs typeface="+mn-cs"/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2895600" y="6096164"/>
              <a:ext cx="5638800" cy="9037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noFill/>
            </a:ln>
          </p:spPr>
          <p:txBody>
            <a:bodyPr wrap="square" tIns="36000" rIns="0" bIns="36000">
              <a:spAutoFit/>
            </a:bodyPr>
            <a:lstStyle/>
            <a:p>
              <a:pPr>
                <a:defRPr/>
              </a:pPr>
              <a:r>
                <a:rPr lang="en-US" altLang="zh-CN" sz="1800">
                  <a:latin typeface="Consolas" panose="020B0609020204030204" pitchFamily="49" charset="0"/>
                  <a:ea typeface="楷体_GB2312" pitchFamily="49" charset="-122"/>
                </a:rPr>
                <a:t>string </a:t>
              </a:r>
              <a:r>
                <a:rPr lang="en-US" altLang="zh-CN" sz="1800">
                  <a:solidFill>
                    <a:srgbClr val="00B050"/>
                  </a:solidFill>
                  <a:latin typeface="Consolas" panose="020B0609020204030204" pitchFamily="49" charset="0"/>
                  <a:ea typeface="楷体_GB2312" pitchFamily="49" charset="-122"/>
                </a:rPr>
                <a:t>Rectangle::toString</a:t>
              </a:r>
              <a:r>
                <a:rPr lang="en-US" altLang="zh-CN" sz="1800">
                  <a:latin typeface="Consolas" panose="020B0609020204030204" pitchFamily="49" charset="0"/>
                  <a:ea typeface="楷体_GB2312" pitchFamily="49" charset="-122"/>
                </a:rPr>
                <a:t>() </a:t>
              </a:r>
              <a:r>
                <a:rPr lang="en-US" altLang="zh-CN" sz="1800">
                  <a:solidFill>
                    <a:srgbClr val="FF3399"/>
                  </a:solidFill>
                  <a:latin typeface="Consolas" panose="020B0609020204030204" pitchFamily="49" charset="0"/>
                  <a:ea typeface="楷体_GB2312" pitchFamily="49" charset="-122"/>
                </a:rPr>
                <a:t>const</a:t>
              </a:r>
              <a:r>
                <a:rPr lang="en-US" altLang="zh-CN" sz="1800">
                  <a:latin typeface="Consolas" panose="020B0609020204030204" pitchFamily="49" charset="0"/>
                  <a:ea typeface="楷体_GB2312" pitchFamily="49" charset="-122"/>
                </a:rPr>
                <a:t>{</a:t>
              </a:r>
            </a:p>
            <a:p>
              <a:pPr>
                <a:defRPr/>
              </a:pPr>
              <a:r>
                <a:rPr lang="en-US" altLang="zh-CN" sz="1800">
                  <a:latin typeface="Consolas" panose="020B0609020204030204" pitchFamily="49" charset="0"/>
                  <a:ea typeface="楷体_GB2312" pitchFamily="49" charset="-122"/>
                </a:rPr>
                <a:t>    </a:t>
              </a:r>
              <a:r>
                <a:rPr lang="en-US" altLang="zh-CN" sz="1800">
                  <a:solidFill>
                    <a:srgbClr val="FF3399"/>
                  </a:solidFill>
                  <a:latin typeface="Consolas" panose="020B0609020204030204" pitchFamily="49" charset="0"/>
                  <a:ea typeface="楷体_GB2312" pitchFamily="49" charset="-122"/>
                </a:rPr>
                <a:t>return</a:t>
              </a:r>
              <a:r>
                <a:rPr lang="en-US" altLang="zh-CN" sz="1800">
                  <a:latin typeface="Consolas" panose="020B0609020204030204" pitchFamily="49" charset="0"/>
                  <a:ea typeface="楷体_GB2312" pitchFamily="49" charset="-122"/>
                </a:rPr>
                <a:t> </a:t>
              </a:r>
              <a:r>
                <a:rPr lang="en-US" altLang="zh-CN" sz="1800">
                  <a:solidFill>
                    <a:srgbClr val="D29818"/>
                  </a:solidFill>
                  <a:latin typeface="Consolas" panose="020B0609020204030204" pitchFamily="49" charset="0"/>
                  <a:ea typeface="楷体_GB2312" pitchFamily="49" charset="-122"/>
                </a:rPr>
                <a:t>"Rectangle"</a:t>
              </a:r>
              <a:r>
                <a:rPr lang="en-US" altLang="zh-CN" sz="1800">
                  <a:latin typeface="Consolas" panose="020B0609020204030204" pitchFamily="49" charset="0"/>
                  <a:ea typeface="楷体_GB2312" pitchFamily="49" charset="-122"/>
                </a:rPr>
                <a:t>;</a:t>
              </a:r>
            </a:p>
            <a:p>
              <a:pPr>
                <a:defRPr/>
              </a:pPr>
              <a:r>
                <a:rPr lang="en-US" altLang="zh-CN" sz="1800">
                  <a:latin typeface="Consolas" panose="020B0609020204030204" pitchFamily="49" charset="0"/>
                  <a:ea typeface="楷体_GB2312" pitchFamily="49" charset="-122"/>
                </a:rPr>
                <a:t>}</a:t>
              </a:r>
              <a:endParaRPr lang="en-US" altLang="zh-CN" sz="1800">
                <a:latin typeface="Consolas" panose="020B0609020204030204" pitchFamily="49" charset="0"/>
                <a:ea typeface="楷体_GB2312" pitchFamily="49" charset="-122"/>
                <a:cs typeface="+mn-cs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422275" y="4049300"/>
              <a:ext cx="2473325" cy="369332"/>
            </a:xfrm>
            <a:prstGeom prst="rect">
              <a:avLst/>
            </a:prstGeom>
            <a:solidFill>
              <a:srgbClr val="00B050">
                <a:alpha val="20000"/>
              </a:srgbClr>
            </a:solidFill>
          </p:spPr>
          <p:txBody>
            <a:bodyPr wrap="square">
              <a:spAutoFit/>
            </a:bodyPr>
            <a:lstStyle/>
            <a:p>
              <a:pPr algn="r"/>
              <a:r>
                <a:rPr lang="en-US" altLang="zh-CN" sz="1800">
                  <a:latin typeface="Arial" panose="020B0604020202020204" pitchFamily="34" charset="0"/>
                  <a:ea typeface="楷体_GB2312" pitchFamily="49" charset="-122"/>
                  <a:cs typeface="Arial" panose="020B0604020202020204" pitchFamily="34" charset="0"/>
                </a:rPr>
                <a:t>GeometricObject.cpp</a:t>
              </a:r>
              <a:endParaRPr lang="zh-CN" altLang="en-US" sz="18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>
              <a:off x="1550779" y="5072732"/>
              <a:ext cx="1344821" cy="369332"/>
            </a:xfrm>
            <a:prstGeom prst="rect">
              <a:avLst/>
            </a:prstGeom>
            <a:solidFill>
              <a:srgbClr val="00B050">
                <a:alpha val="20000"/>
              </a:srgbClr>
            </a:solidFill>
          </p:spPr>
          <p:txBody>
            <a:bodyPr wrap="square">
              <a:spAutoFit/>
            </a:bodyPr>
            <a:lstStyle/>
            <a:p>
              <a:pPr algn="r"/>
              <a:r>
                <a:rPr lang="en-US" altLang="zh-CN" sz="1800">
                  <a:latin typeface="Arial" panose="020B0604020202020204" pitchFamily="34" charset="0"/>
                  <a:ea typeface="楷体_GB2312" pitchFamily="49" charset="-122"/>
                  <a:cs typeface="Arial" panose="020B0604020202020204" pitchFamily="34" charset="0"/>
                </a:rPr>
                <a:t>Circle.cpp</a:t>
              </a:r>
              <a:endParaRPr lang="zh-CN" altLang="en-US" sz="18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1249327" y="6096164"/>
              <a:ext cx="1646054" cy="369332"/>
            </a:xfrm>
            <a:prstGeom prst="rect">
              <a:avLst/>
            </a:prstGeom>
            <a:solidFill>
              <a:srgbClr val="00B050">
                <a:alpha val="20000"/>
              </a:srgbClr>
            </a:solidFill>
          </p:spPr>
          <p:txBody>
            <a:bodyPr wrap="square">
              <a:spAutoFit/>
            </a:bodyPr>
            <a:lstStyle/>
            <a:p>
              <a:pPr algn="r"/>
              <a:r>
                <a:rPr lang="en-US" altLang="zh-CN" sz="1800">
                  <a:latin typeface="Arial" panose="020B0604020202020204" pitchFamily="34" charset="0"/>
                  <a:ea typeface="楷体_GB2312" pitchFamily="49" charset="-122"/>
                  <a:cs typeface="Arial" panose="020B0604020202020204" pitchFamily="34" charset="0"/>
                </a:rPr>
                <a:t>Rectangle.cpp</a:t>
              </a:r>
              <a:endParaRPr lang="zh-CN" altLang="en-US" sz="18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1" name="矩形 20"/>
          <p:cNvSpPr/>
          <p:nvPr/>
        </p:nvSpPr>
        <p:spPr>
          <a:xfrm>
            <a:off x="137746" y="5070999"/>
            <a:ext cx="4419600" cy="1734697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</p:spPr>
        <p:txBody>
          <a:bodyPr wrap="square" tIns="36000" rIns="0" bIns="36000">
            <a:spAutoFit/>
          </a:bodyPr>
          <a:lstStyle/>
          <a:p>
            <a:pPr>
              <a:defRPr/>
            </a:pP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GeometricObject g;</a:t>
            </a:r>
          </a:p>
          <a:p>
            <a:pPr>
              <a:defRPr/>
            </a:pP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cout &lt;&lt; g.</a:t>
            </a:r>
            <a:r>
              <a:rPr lang="en-US" altLang="zh-CN" sz="1800">
                <a:solidFill>
                  <a:srgbClr val="0070C0"/>
                </a:solidFill>
                <a:latin typeface="Consolas" panose="020B0609020204030204" pitchFamily="49" charset="0"/>
                <a:ea typeface="楷体_GB2312" pitchFamily="49" charset="-122"/>
              </a:rPr>
              <a:t>toString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() &lt;&lt; endl;</a:t>
            </a:r>
          </a:p>
          <a:p>
            <a:pPr>
              <a:defRPr/>
            </a:pP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Circle circle(</a:t>
            </a:r>
            <a:r>
              <a:rPr lang="en-US" altLang="zh-CN" sz="1800">
                <a:solidFill>
                  <a:srgbClr val="9966FF"/>
                </a:solidFill>
                <a:latin typeface="Consolas" panose="020B0609020204030204" pitchFamily="49" charset="0"/>
                <a:ea typeface="楷体_GB2312" pitchFamily="49" charset="-122"/>
              </a:rPr>
              <a:t>5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, </a:t>
            </a:r>
            <a:r>
              <a:rPr lang="en-US" altLang="zh-CN" sz="1800">
                <a:solidFill>
                  <a:srgbClr val="D29818"/>
                </a:solidFill>
                <a:latin typeface="Consolas" panose="020B0609020204030204" pitchFamily="49" charset="0"/>
                <a:ea typeface="楷体_GB2312" pitchFamily="49" charset="-122"/>
              </a:rPr>
              <a:t>"red"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, </a:t>
            </a:r>
            <a:r>
              <a:rPr lang="en-US" altLang="zh-CN" sz="1800">
                <a:solidFill>
                  <a:srgbClr val="9966FF"/>
                </a:solidFill>
                <a:latin typeface="Consolas" panose="020B0609020204030204" pitchFamily="49" charset="0"/>
                <a:ea typeface="楷体_GB2312" pitchFamily="49" charset="-122"/>
              </a:rPr>
              <a:t>true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);</a:t>
            </a:r>
          </a:p>
          <a:p>
            <a:pPr>
              <a:defRPr/>
            </a:pP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cout &lt;&lt; circle.</a:t>
            </a:r>
            <a:r>
              <a:rPr lang="en-US" altLang="zh-CN" sz="1800">
                <a:solidFill>
                  <a:srgbClr val="0070C0"/>
                </a:solidFill>
                <a:latin typeface="Consolas" panose="020B0609020204030204" pitchFamily="49" charset="0"/>
                <a:ea typeface="楷体_GB2312" pitchFamily="49" charset="-122"/>
              </a:rPr>
              <a:t>toString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() &lt;&lt; endl;</a:t>
            </a:r>
          </a:p>
          <a:p>
            <a:pPr>
              <a:defRPr/>
            </a:pP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Rectangle rect;</a:t>
            </a:r>
          </a:p>
          <a:p>
            <a:pPr>
              <a:defRPr/>
            </a:pP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cout &lt;&lt; rect.</a:t>
            </a:r>
            <a:r>
              <a:rPr lang="en-US" altLang="zh-CN" sz="1800">
                <a:solidFill>
                  <a:srgbClr val="0070C0"/>
                </a:solidFill>
                <a:latin typeface="Consolas" panose="020B0609020204030204" pitchFamily="49" charset="0"/>
                <a:ea typeface="楷体_GB2312" pitchFamily="49" charset="-122"/>
              </a:rPr>
              <a:t>toString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() &lt;&lt; endl;</a:t>
            </a:r>
            <a:endParaRPr lang="en-US" altLang="zh-CN" sz="1800">
              <a:latin typeface="Consolas" panose="020B0609020204030204" pitchFamily="49" charset="0"/>
              <a:ea typeface="楷体_GB2312" pitchFamily="49" charset="-122"/>
              <a:cs typeface="+mn-cs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4876800" y="5205347"/>
            <a:ext cx="3956050" cy="318924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</p:spPr>
        <p:txBody>
          <a:bodyPr wrap="square" tIns="36000" rIns="0" bIns="36000">
            <a:spAutoFit/>
          </a:bodyPr>
          <a:lstStyle/>
          <a:p>
            <a:pPr>
              <a:defRPr/>
            </a:pPr>
            <a:r>
              <a:rPr lang="en-US" altLang="zh-CN" sz="1600">
                <a:latin typeface="Consolas" panose="020B0609020204030204" pitchFamily="49" charset="0"/>
                <a:ea typeface="楷体_GB2312" pitchFamily="49" charset="-122"/>
              </a:rPr>
              <a:t>circle.GeometricObject::</a:t>
            </a:r>
            <a:r>
              <a:rPr lang="en-US" altLang="zh-CN" sz="1600">
                <a:solidFill>
                  <a:srgbClr val="0070C0"/>
                </a:solidFill>
                <a:latin typeface="Consolas" panose="020B0609020204030204" pitchFamily="49" charset="0"/>
                <a:ea typeface="楷体_GB2312" pitchFamily="49" charset="-122"/>
              </a:rPr>
              <a:t>toString</a:t>
            </a:r>
            <a:r>
              <a:rPr lang="en-US" altLang="zh-CN" sz="1600">
                <a:latin typeface="Consolas" panose="020B0609020204030204" pitchFamily="49" charset="0"/>
                <a:ea typeface="楷体_GB2312" pitchFamily="49" charset="-122"/>
              </a:rPr>
              <a:t>()</a:t>
            </a:r>
          </a:p>
        </p:txBody>
      </p:sp>
      <p:cxnSp>
        <p:nvCxnSpPr>
          <p:cNvPr id="24" name="直接箭头连接符 23"/>
          <p:cNvCxnSpPr>
            <a:stCxn id="6" idx="3"/>
            <a:endCxn id="23" idx="1"/>
          </p:cNvCxnSpPr>
          <p:nvPr/>
        </p:nvCxnSpPr>
        <p:spPr>
          <a:xfrm flipV="1">
            <a:off x="3472962" y="5364809"/>
            <a:ext cx="1403838" cy="71102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1213338" y="5935133"/>
            <a:ext cx="2259624" cy="281394"/>
          </a:xfrm>
          <a:prstGeom prst="rect">
            <a:avLst/>
          </a:prstGeom>
          <a:solidFill>
            <a:schemeClr val="bg1">
              <a:alpha val="0"/>
            </a:schemeClr>
          </a:solidFill>
          <a:ln w="19050">
            <a:solidFill>
              <a:schemeClr val="dk1"/>
            </a:solidFill>
            <a:prstDash val="dash"/>
          </a:ln>
        </p:spPr>
        <p:txBody>
          <a:bodyPr wrap="square" lIns="0" tIns="0" rIns="0" bIns="0" rtlCol="0" anchor="ctr">
            <a:spAutoFit/>
          </a:bodyPr>
          <a:lstStyle/>
          <a:p>
            <a:pPr marL="0" algn="ctr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60000"/>
            </a:pPr>
            <a:endParaRPr lang="zh-CN" altLang="en-US" sz="2200" b="1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5207978" y="5646397"/>
            <a:ext cx="32004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800">
                <a:latin typeface="Consolas" panose="020B0609020204030204" pitchFamily="49" charset="0"/>
                <a:cs typeface="Arial" panose="020B0604020202020204" pitchFamily="34" charset="0"/>
              </a:rPr>
              <a:t>::</a:t>
            </a:r>
          </a:p>
          <a:p>
            <a:r>
              <a:rPr lang="en-US" altLang="zh-CN" sz="1800">
                <a:latin typeface="Arial" panose="020B0604020202020204" pitchFamily="34" charset="0"/>
                <a:cs typeface="Arial" panose="020B0604020202020204" pitchFamily="34" charset="0"/>
              </a:rPr>
              <a:t>scope resolution operator</a:t>
            </a:r>
            <a:endParaRPr lang="en-US" altLang="zh-CN" sz="18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  <a:p>
            <a:r>
              <a:rPr lang="zh-CN" altLang="en-US" sz="1800"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作用域解析运算符</a:t>
            </a:r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3" name="Rectangle 2"/>
          <p:cNvSpPr>
            <a:spLocks noGrp="1"/>
          </p:cNvSpPr>
          <p:nvPr>
            <p:ph type="title"/>
          </p:nvPr>
        </p:nvSpPr>
        <p:spPr>
          <a:xfrm>
            <a:off x="876300" y="457200"/>
            <a:ext cx="8267700" cy="381000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4000">
                <a:sym typeface="+mn-ea"/>
              </a:rPr>
              <a:t>Polymorphism</a:t>
            </a:r>
            <a:endParaRPr lang="en-US" altLang="zh-CN" sz="4000">
              <a:ea typeface="宋体" panose="02010600030101010101" pitchFamily="2" charset="-122"/>
            </a:endParaRPr>
          </a:p>
        </p:txBody>
      </p:sp>
      <p:sp>
        <p:nvSpPr>
          <p:cNvPr id="125955" name="灯片编号占位符 4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  <a:t>21</a:t>
            </a:fld>
            <a:endParaRPr lang="en-US" altLang="zh-CN" sz="1600" b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550779" y="1029101"/>
            <a:ext cx="7412246" cy="811367"/>
          </a:xfrm>
          <a:prstGeom prst="rect">
            <a:avLst/>
          </a:prstGeom>
          <a:noFill/>
          <a:ln w="19050">
            <a:noFill/>
          </a:ln>
        </p:spPr>
        <p:txBody>
          <a:bodyPr wrap="square" tIns="36000" rIns="0" bIns="36000">
            <a:spAutoFit/>
          </a:bodyPr>
          <a:lstStyle/>
          <a:p>
            <a:pPr>
              <a:defRPr/>
            </a:pPr>
            <a:r>
              <a:rPr lang="en-US" altLang="zh-CN" b="1" dirty="0">
                <a:solidFill>
                  <a:srgbClr val="C00000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Polymorphism</a:t>
            </a:r>
            <a:r>
              <a:rPr lang="en-US" altLang="zh-CN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 means that a variable of a </a:t>
            </a:r>
            <a:r>
              <a:rPr lang="en-US" altLang="zh-CN" dirty="0" err="1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supertype</a:t>
            </a:r>
            <a:r>
              <a:rPr lang="en-US" altLang="zh-CN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 can refer to a subtype object.</a:t>
            </a:r>
          </a:p>
        </p:txBody>
      </p:sp>
      <p:grpSp>
        <p:nvGrpSpPr>
          <p:cNvPr id="13" name="组合 7"/>
          <p:cNvGrpSpPr/>
          <p:nvPr/>
        </p:nvGrpSpPr>
        <p:grpSpPr bwMode="auto">
          <a:xfrm>
            <a:off x="326817" y="1187800"/>
            <a:ext cx="1036637" cy="615950"/>
            <a:chOff x="333108" y="1289466"/>
            <a:chExt cx="1037032" cy="615301"/>
          </a:xfrm>
        </p:grpSpPr>
        <p:pic>
          <p:nvPicPr>
            <p:cNvPr id="16" name="图片 4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-6616077">
              <a:off x="442540" y="1180034"/>
              <a:ext cx="486519" cy="7053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" name="矩形 10"/>
            <p:cNvSpPr>
              <a:spLocks noChangeArrowheads="1"/>
            </p:cNvSpPr>
            <p:nvPr/>
          </p:nvSpPr>
          <p:spPr bwMode="auto">
            <a:xfrm>
              <a:off x="523473" y="1319992"/>
              <a:ext cx="846667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algn="r"/>
              <a:r>
                <a:rPr lang="en-US" altLang="zh-CN" sz="1600">
                  <a:latin typeface="微软雅黑" panose="020B0503020204020204" pitchFamily="34" charset="-122"/>
                  <a:ea typeface="微软雅黑" panose="020B0503020204020204" pitchFamily="34" charset="-122"/>
                </a:rPr>
                <a:t>Key</a:t>
              </a:r>
            </a:p>
            <a:p>
              <a:pPr algn="r"/>
              <a:r>
                <a:rPr lang="en-US" altLang="zh-CN" sz="1600">
                  <a:latin typeface="微软雅黑" panose="020B0503020204020204" pitchFamily="34" charset="-122"/>
                  <a:ea typeface="微软雅黑" panose="020B0503020204020204" pitchFamily="34" charset="-122"/>
                </a:rPr>
                <a:t>Point</a:t>
              </a:r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" name="矩形 2"/>
          <p:cNvSpPr/>
          <p:nvPr/>
        </p:nvSpPr>
        <p:spPr>
          <a:xfrm>
            <a:off x="243774" y="1869921"/>
            <a:ext cx="865370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>
                <a:latin typeface="Arial" panose="020B0604020202020204" pitchFamily="34" charset="0"/>
                <a:cs typeface="Arial" panose="020B0604020202020204" pitchFamily="34" charset="0"/>
              </a:rPr>
              <a:t>The function displayGeometricObject takes a parameter of the GeometricObject type. </a:t>
            </a:r>
            <a:endParaRPr lang="zh-CN" alt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562596" y="2605405"/>
            <a:ext cx="7956173" cy="9037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</p:spPr>
        <p:txBody>
          <a:bodyPr wrap="square" tIns="36000" rIns="0" bIns="36000">
            <a:spAutoFit/>
          </a:bodyPr>
          <a:lstStyle/>
          <a:p>
            <a:pPr>
              <a:defRPr/>
            </a:pPr>
            <a:r>
              <a:rPr lang="en-US" altLang="zh-CN" sz="1800">
                <a:solidFill>
                  <a:srgbClr val="0070C0"/>
                </a:solidFill>
                <a:latin typeface="Consolas" panose="020B0609020204030204" pitchFamily="49" charset="0"/>
                <a:ea typeface="楷体_GB2312" pitchFamily="49" charset="-122"/>
              </a:rPr>
              <a:t>void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 </a:t>
            </a:r>
            <a:r>
              <a:rPr lang="en-US" altLang="zh-CN" sz="1800">
                <a:solidFill>
                  <a:srgbClr val="00B050"/>
                </a:solidFill>
                <a:latin typeface="Consolas" panose="020B0609020204030204" pitchFamily="49" charset="0"/>
                <a:ea typeface="楷体_GB2312" pitchFamily="49" charset="-122"/>
              </a:rPr>
              <a:t>displayGeometricObject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(</a:t>
            </a:r>
            <a:r>
              <a:rPr lang="en-US" altLang="zh-CN" sz="1800">
                <a:solidFill>
                  <a:srgbClr val="FF3399"/>
                </a:solidFill>
                <a:latin typeface="Consolas" panose="020B0609020204030204" pitchFamily="49" charset="0"/>
                <a:ea typeface="楷体_GB2312" pitchFamily="49" charset="-122"/>
              </a:rPr>
              <a:t>const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 GeometricObject&amp; shape) {</a:t>
            </a:r>
          </a:p>
          <a:p>
            <a:pPr>
              <a:defRPr/>
            </a:pP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    cout &lt;&lt; shape.</a:t>
            </a:r>
            <a:r>
              <a:rPr lang="en-US" altLang="zh-CN" sz="1800">
                <a:solidFill>
                  <a:srgbClr val="0070C0"/>
                </a:solidFill>
                <a:latin typeface="Consolas" panose="020B0609020204030204" pitchFamily="49" charset="0"/>
                <a:ea typeface="楷体_GB2312" pitchFamily="49" charset="-122"/>
              </a:rPr>
              <a:t>getColor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() &lt;&lt; endl;</a:t>
            </a:r>
          </a:p>
          <a:p>
            <a:pPr>
              <a:defRPr/>
            </a:pP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}</a:t>
            </a:r>
            <a:endParaRPr lang="en-US" altLang="zh-CN" sz="1800">
              <a:latin typeface="Consolas" panose="020B0609020204030204" pitchFamily="49" charset="0"/>
              <a:ea typeface="楷体_GB2312" pitchFamily="49" charset="-122"/>
              <a:cs typeface="+mn-cs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562595" y="4347988"/>
            <a:ext cx="7956174" cy="1734697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</p:spPr>
        <p:txBody>
          <a:bodyPr wrap="square" tIns="36000" rIns="0" bIns="36000">
            <a:spAutoFit/>
          </a:bodyPr>
          <a:lstStyle/>
          <a:p>
            <a:pPr>
              <a:defRPr/>
            </a:pPr>
            <a:r>
              <a:rPr lang="en-US" altLang="zh-CN" sz="1800">
                <a:solidFill>
                  <a:srgbClr val="0070C0"/>
                </a:solidFill>
                <a:latin typeface="Consolas" panose="020B0609020204030204" pitchFamily="49" charset="0"/>
                <a:ea typeface="楷体_GB2312" pitchFamily="49" charset="-122"/>
              </a:rPr>
              <a:t>int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 </a:t>
            </a:r>
            <a:r>
              <a:rPr lang="en-US" altLang="zh-CN" sz="1800">
                <a:solidFill>
                  <a:srgbClr val="00B050"/>
                </a:solidFill>
                <a:latin typeface="Consolas" panose="020B0609020204030204" pitchFamily="49" charset="0"/>
                <a:ea typeface="楷体_GB2312" pitchFamily="49" charset="-122"/>
              </a:rPr>
              <a:t>main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(){</a:t>
            </a:r>
          </a:p>
          <a:p>
            <a:pPr>
              <a:defRPr/>
            </a:pP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    </a:t>
            </a:r>
            <a:r>
              <a:rPr lang="en-US" altLang="zh-CN" sz="1800">
                <a:solidFill>
                  <a:srgbClr val="0070C0"/>
                </a:solidFill>
                <a:latin typeface="Consolas" panose="020B0609020204030204" pitchFamily="49" charset="0"/>
                <a:ea typeface="楷体_GB2312" pitchFamily="49" charset="-122"/>
              </a:rPr>
              <a:t>displayGeometricObject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(GeometricObject(</a:t>
            </a:r>
            <a:r>
              <a:rPr lang="en-US" altLang="zh-CN" sz="1800">
                <a:solidFill>
                  <a:srgbClr val="D29818"/>
                </a:solidFill>
                <a:latin typeface="Consolas" panose="020B0609020204030204" pitchFamily="49" charset="0"/>
                <a:ea typeface="楷体_GB2312" pitchFamily="49" charset="-122"/>
              </a:rPr>
              <a:t>"black"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, </a:t>
            </a:r>
            <a:r>
              <a:rPr lang="en-US" altLang="zh-CN" sz="1800">
                <a:solidFill>
                  <a:srgbClr val="9966FF"/>
                </a:solidFill>
                <a:latin typeface="Consolas" panose="020B0609020204030204" pitchFamily="49" charset="0"/>
                <a:ea typeface="楷体_GB2312" pitchFamily="49" charset="-122"/>
              </a:rPr>
              <a:t>true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));</a:t>
            </a:r>
          </a:p>
          <a:p>
            <a:pPr>
              <a:defRPr/>
            </a:pP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    </a:t>
            </a:r>
            <a:r>
              <a:rPr lang="en-US" altLang="zh-CN" sz="1800">
                <a:solidFill>
                  <a:srgbClr val="0070C0"/>
                </a:solidFill>
                <a:latin typeface="Consolas" panose="020B0609020204030204" pitchFamily="49" charset="0"/>
                <a:ea typeface="楷体_GB2312" pitchFamily="49" charset="-122"/>
              </a:rPr>
              <a:t>displayGeometricObject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(Circle(</a:t>
            </a:r>
            <a:r>
              <a:rPr lang="en-US" altLang="zh-CN" sz="1800">
                <a:solidFill>
                  <a:srgbClr val="9966FF"/>
                </a:solidFill>
                <a:latin typeface="Consolas" panose="020B0609020204030204" pitchFamily="49" charset="0"/>
                <a:ea typeface="楷体_GB2312" pitchFamily="49" charset="-122"/>
              </a:rPr>
              <a:t>5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));</a:t>
            </a:r>
          </a:p>
          <a:p>
            <a:pPr>
              <a:defRPr/>
            </a:pP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    </a:t>
            </a:r>
            <a:r>
              <a:rPr lang="en-US" altLang="zh-CN" sz="1800">
                <a:solidFill>
                  <a:srgbClr val="0070C0"/>
                </a:solidFill>
                <a:latin typeface="Consolas" panose="020B0609020204030204" pitchFamily="49" charset="0"/>
                <a:ea typeface="楷体_GB2312" pitchFamily="49" charset="-122"/>
              </a:rPr>
              <a:t>displayGeometricObject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(Rectangle(</a:t>
            </a:r>
            <a:r>
              <a:rPr lang="en-US" altLang="zh-CN" sz="1800">
                <a:solidFill>
                  <a:srgbClr val="9966FF"/>
                </a:solidFill>
                <a:latin typeface="Consolas" panose="020B0609020204030204" pitchFamily="49" charset="0"/>
                <a:ea typeface="楷体_GB2312" pitchFamily="49" charset="-122"/>
              </a:rPr>
              <a:t>2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, </a:t>
            </a:r>
            <a:r>
              <a:rPr lang="en-US" altLang="zh-CN" sz="1800">
                <a:solidFill>
                  <a:srgbClr val="9966FF"/>
                </a:solidFill>
                <a:latin typeface="Consolas" panose="020B0609020204030204" pitchFamily="49" charset="0"/>
                <a:ea typeface="楷体_GB2312" pitchFamily="49" charset="-122"/>
              </a:rPr>
              <a:t>3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));</a:t>
            </a:r>
          </a:p>
          <a:p>
            <a:pPr>
              <a:defRPr/>
            </a:pP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    </a:t>
            </a:r>
            <a:r>
              <a:rPr lang="en-US" altLang="zh-CN" sz="1800">
                <a:solidFill>
                  <a:srgbClr val="FF3399"/>
                </a:solidFill>
                <a:latin typeface="Consolas" panose="020B0609020204030204" pitchFamily="49" charset="0"/>
                <a:ea typeface="楷体_GB2312" pitchFamily="49" charset="-122"/>
              </a:rPr>
              <a:t>return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 </a:t>
            </a:r>
            <a:r>
              <a:rPr lang="en-US" altLang="zh-CN" sz="1800">
                <a:solidFill>
                  <a:srgbClr val="9966FF"/>
                </a:solidFill>
                <a:latin typeface="Consolas" panose="020B0609020204030204" pitchFamily="49" charset="0"/>
                <a:ea typeface="楷体_GB2312" pitchFamily="49" charset="-122"/>
              </a:rPr>
              <a:t>0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;</a:t>
            </a:r>
          </a:p>
          <a:p>
            <a:pPr>
              <a:defRPr/>
            </a:pP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}</a:t>
            </a:r>
            <a:endParaRPr lang="en-US" altLang="zh-CN" sz="1800">
              <a:latin typeface="Consolas" panose="020B0609020204030204" pitchFamily="49" charset="0"/>
              <a:ea typeface="楷体_GB2312" pitchFamily="49" charset="-122"/>
              <a:cs typeface="+mn-cs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243774" y="3587166"/>
            <a:ext cx="865370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>
                <a:latin typeface="Arial" panose="020B0604020202020204" pitchFamily="34" charset="0"/>
                <a:cs typeface="Arial" panose="020B0604020202020204" pitchFamily="34" charset="0"/>
              </a:rPr>
              <a:t>You can invoke displayGeometricObject by passing any instance of GeometricObject, Circle, and Rectangle. </a:t>
            </a:r>
            <a:endParaRPr lang="zh-CN" alt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1616672" y="6107834"/>
            <a:ext cx="590791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>
                <a:latin typeface="Arial" panose="020B0604020202020204" pitchFamily="34" charset="0"/>
                <a:cs typeface="Arial" panose="020B0604020202020204" pitchFamily="34" charset="0"/>
              </a:rPr>
              <a:t>An object of a derived class can be used wherever its base class object is used.</a:t>
            </a:r>
            <a:endParaRPr lang="zh-CN" alt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5" name="灯片编号占位符 4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  <a:t>22</a:t>
            </a:fld>
            <a:endParaRPr lang="en-US" altLang="zh-CN" sz="1600" b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381000" y="2133600"/>
            <a:ext cx="8288338" cy="2892333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altLang="zh-CN" sz="4400" b="0" dirty="0">
                <a:solidFill>
                  <a:schemeClr val="tx1"/>
                </a:solidFill>
              </a:rPr>
              <a:t>4. </a:t>
            </a:r>
            <a:r>
              <a:rPr lang="en-US" altLang="zh-CN" sz="4400" dirty="0">
                <a:solidFill>
                  <a:schemeClr val="tx1"/>
                </a:solidFill>
                <a:sym typeface="+mn-ea"/>
              </a:rPr>
              <a:t>Virtual functions and </a:t>
            </a:r>
            <a:br>
              <a:rPr lang="en-US" altLang="zh-CN" sz="4400" dirty="0">
                <a:solidFill>
                  <a:schemeClr val="tx1"/>
                </a:solidFill>
                <a:sym typeface="+mn-ea"/>
              </a:rPr>
            </a:br>
            <a:r>
              <a:rPr lang="en-US" altLang="zh-CN" sz="4400" dirty="0">
                <a:solidFill>
                  <a:schemeClr val="tx1"/>
                </a:solidFill>
                <a:sym typeface="+mn-ea"/>
              </a:rPr>
              <a:t>Dynamic Binding</a:t>
            </a:r>
            <a:br>
              <a:rPr lang="en-US" altLang="zh-CN" sz="4400" dirty="0">
                <a:solidFill>
                  <a:schemeClr val="tx1"/>
                </a:solidFill>
              </a:rPr>
            </a:br>
            <a:endParaRPr lang="en-US" altLang="zh-CN" sz="4400" b="0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690667" y="4119880"/>
            <a:ext cx="3449320" cy="58356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l"/>
            <a:r>
              <a:rPr lang="zh-CN" altLang="en-US" sz="3200" b="1" dirty="0">
                <a:pattFill prst="pct90">
                  <a:fgClr>
                    <a:srgbClr val="6C0000"/>
                  </a:fgClr>
                  <a:bgClr>
                    <a:srgbClr val="FF1919"/>
                  </a:bgClr>
                </a:pattFill>
                <a:latin typeface="Arial" panose="020B0604020202020204" pitchFamily="34" charset="0"/>
                <a:ea typeface="仿宋" panose="02010609060101010101" pitchFamily="49" charset="-122"/>
                <a:cs typeface="Arial" panose="020B0604020202020204" pitchFamily="34" charset="0"/>
                <a:sym typeface="+mn-ea"/>
              </a:rPr>
              <a:t>虚函数和动态绑定</a:t>
            </a:r>
            <a:endParaRPr lang="zh-CN" altLang="en-US" sz="3200" b="1" dirty="0">
              <a:pattFill prst="pct90">
                <a:fgClr>
                  <a:srgbClr val="6C0000"/>
                </a:fgClr>
                <a:bgClr>
                  <a:srgbClr val="FF1919"/>
                </a:bgClr>
              </a:pattFill>
              <a:latin typeface="Arial" panose="020B0604020202020204" pitchFamily="34" charset="0"/>
              <a:ea typeface="仿宋" panose="02010609060101010101" pitchFamily="49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3" name="Rectangle 2"/>
          <p:cNvSpPr>
            <a:spLocks noGrp="1"/>
          </p:cNvSpPr>
          <p:nvPr>
            <p:ph type="title"/>
          </p:nvPr>
        </p:nvSpPr>
        <p:spPr>
          <a:xfrm>
            <a:off x="876300" y="457200"/>
            <a:ext cx="8267700" cy="381000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dirty="0">
                <a:sym typeface="+mn-ea"/>
              </a:rPr>
              <a:t>Virtual Functions and Dynamic Binding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125955" name="灯片编号占位符 4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  <a:t>23</a:t>
            </a:fld>
            <a:endParaRPr lang="en-US" altLang="zh-CN" sz="1600" b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550779" y="1029101"/>
            <a:ext cx="7412246" cy="1550031"/>
          </a:xfrm>
          <a:prstGeom prst="rect">
            <a:avLst/>
          </a:prstGeom>
          <a:noFill/>
          <a:ln w="19050">
            <a:noFill/>
          </a:ln>
        </p:spPr>
        <p:txBody>
          <a:bodyPr wrap="square" tIns="36000" rIns="0" bIns="36000">
            <a:spAutoFit/>
          </a:bodyPr>
          <a:lstStyle/>
          <a:p>
            <a:pPr>
              <a:defRPr/>
            </a:pPr>
            <a:r>
              <a:rPr lang="en-US" altLang="zh-CN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A function can be implemented in several classes along the inheritance chain. </a:t>
            </a:r>
            <a:r>
              <a:rPr lang="en-US" altLang="zh-CN" b="1" i="1" dirty="0">
                <a:solidFill>
                  <a:srgbClr val="C00000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Virtual functions</a:t>
            </a:r>
            <a:r>
              <a:rPr lang="en-US" altLang="zh-CN" dirty="0">
                <a:solidFill>
                  <a:srgbClr val="C00000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 </a:t>
            </a:r>
            <a:r>
              <a:rPr lang="en-US" altLang="zh-CN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enable</a:t>
            </a:r>
            <a:r>
              <a:rPr lang="en-US" altLang="zh-CN" dirty="0">
                <a:solidFill>
                  <a:srgbClr val="C00000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 </a:t>
            </a:r>
            <a:r>
              <a:rPr lang="en-US" altLang="zh-CN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the system to decide </a:t>
            </a:r>
            <a:r>
              <a:rPr lang="en-US" altLang="zh-CN" dirty="0">
                <a:solidFill>
                  <a:srgbClr val="C00000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which function is invoked at runtime</a:t>
            </a:r>
            <a:r>
              <a:rPr lang="en-US" altLang="zh-CN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 based on the </a:t>
            </a:r>
            <a:r>
              <a:rPr lang="en-US" altLang="zh-CN" b="1" i="1" dirty="0">
                <a:solidFill>
                  <a:srgbClr val="C00000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actual type </a:t>
            </a:r>
            <a:r>
              <a:rPr lang="en-US" altLang="zh-CN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of the object .</a:t>
            </a:r>
          </a:p>
        </p:txBody>
      </p:sp>
      <p:grpSp>
        <p:nvGrpSpPr>
          <p:cNvPr id="13" name="组合 7"/>
          <p:cNvGrpSpPr/>
          <p:nvPr/>
        </p:nvGrpSpPr>
        <p:grpSpPr bwMode="auto">
          <a:xfrm>
            <a:off x="457200" y="1905000"/>
            <a:ext cx="1036637" cy="615950"/>
            <a:chOff x="333108" y="1289466"/>
            <a:chExt cx="1037032" cy="615301"/>
          </a:xfrm>
        </p:grpSpPr>
        <p:pic>
          <p:nvPicPr>
            <p:cNvPr id="16" name="图片 4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-6616077">
              <a:off x="442540" y="1180034"/>
              <a:ext cx="486519" cy="7053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" name="矩形 10"/>
            <p:cNvSpPr>
              <a:spLocks noChangeArrowheads="1"/>
            </p:cNvSpPr>
            <p:nvPr/>
          </p:nvSpPr>
          <p:spPr bwMode="auto">
            <a:xfrm>
              <a:off x="523473" y="1319992"/>
              <a:ext cx="846667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algn="r"/>
              <a:r>
                <a:rPr lang="en-US" altLang="zh-CN" sz="1600">
                  <a:latin typeface="微软雅黑" panose="020B0503020204020204" pitchFamily="34" charset="-122"/>
                  <a:ea typeface="微软雅黑" panose="020B0503020204020204" pitchFamily="34" charset="-122"/>
                </a:rPr>
                <a:t>Key</a:t>
              </a:r>
            </a:p>
            <a:p>
              <a:pPr algn="r"/>
              <a:r>
                <a:rPr lang="en-US" altLang="zh-CN" sz="1600">
                  <a:latin typeface="微软雅黑" panose="020B0503020204020204" pitchFamily="34" charset="-122"/>
                  <a:ea typeface="微软雅黑" panose="020B0503020204020204" pitchFamily="34" charset="-122"/>
                </a:rPr>
                <a:t>Point</a:t>
              </a:r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" name="矩形 2"/>
          <p:cNvSpPr/>
          <p:nvPr/>
        </p:nvSpPr>
        <p:spPr>
          <a:xfrm>
            <a:off x="394672" y="5282065"/>
            <a:ext cx="865370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>
                <a:latin typeface="Arial" panose="020B0604020202020204" pitchFamily="34" charset="0"/>
                <a:cs typeface="Arial" panose="020B0604020202020204" pitchFamily="34" charset="0"/>
              </a:rPr>
              <a:t>Define the toString() function as virtual </a:t>
            </a:r>
            <a:r>
              <a:rPr lang="en-US" altLang="zh-CN" sz="2000" b="1" i="1">
                <a:latin typeface="Arial" panose="020B0604020202020204" pitchFamily="34" charset="0"/>
                <a:cs typeface="Arial" panose="020B0604020202020204" pitchFamily="34" charset="0"/>
              </a:rPr>
              <a:t>in the base class</a:t>
            </a:r>
            <a:r>
              <a:rPr lang="en-US" altLang="zh-CN" sz="200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zh-CN" alt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2184472" y="5786954"/>
            <a:ext cx="4775055" cy="38048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</p:spPr>
        <p:txBody>
          <a:bodyPr wrap="square" tIns="36000" rIns="0" bIns="36000">
            <a:spAutoFit/>
          </a:bodyPr>
          <a:lstStyle/>
          <a:p>
            <a:pPr>
              <a:defRPr/>
            </a:pPr>
            <a:r>
              <a:rPr lang="en-US" altLang="zh-CN" sz="2000">
                <a:solidFill>
                  <a:srgbClr val="FF3399"/>
                </a:solidFill>
                <a:latin typeface="Consolas" panose="020B0609020204030204" pitchFamily="49" charset="0"/>
                <a:ea typeface="楷体_GB2312" pitchFamily="49" charset="-122"/>
              </a:rPr>
              <a:t>virtual</a:t>
            </a:r>
            <a:r>
              <a:rPr lang="en-US" altLang="zh-CN" sz="2000">
                <a:latin typeface="Consolas" panose="020B0609020204030204" pitchFamily="49" charset="0"/>
                <a:ea typeface="楷体_GB2312" pitchFamily="49" charset="-122"/>
              </a:rPr>
              <a:t> string </a:t>
            </a:r>
            <a:r>
              <a:rPr lang="en-US" altLang="zh-CN" sz="2000">
                <a:solidFill>
                  <a:srgbClr val="00B050"/>
                </a:solidFill>
                <a:latin typeface="Consolas" panose="020B0609020204030204" pitchFamily="49" charset="0"/>
                <a:ea typeface="楷体_GB2312" pitchFamily="49" charset="-122"/>
              </a:rPr>
              <a:t>toString</a:t>
            </a:r>
            <a:r>
              <a:rPr lang="en-US" altLang="zh-CN" sz="2000">
                <a:latin typeface="Consolas" panose="020B0609020204030204" pitchFamily="49" charset="0"/>
                <a:ea typeface="楷体_GB2312" pitchFamily="49" charset="-122"/>
              </a:rPr>
              <a:t>() </a:t>
            </a:r>
            <a:r>
              <a:rPr lang="en-US" altLang="zh-CN" sz="2000">
                <a:solidFill>
                  <a:srgbClr val="FF3399"/>
                </a:solidFill>
                <a:latin typeface="Consolas" panose="020B0609020204030204" pitchFamily="49" charset="0"/>
                <a:ea typeface="楷体_GB2312" pitchFamily="49" charset="-122"/>
              </a:rPr>
              <a:t>const</a:t>
            </a:r>
            <a:r>
              <a:rPr lang="en-US" altLang="zh-CN" sz="2000">
                <a:latin typeface="Consolas" panose="020B0609020204030204" pitchFamily="49" charset="0"/>
                <a:ea typeface="楷体_GB2312" pitchFamily="49" charset="-122"/>
              </a:rPr>
              <a:t>;</a:t>
            </a:r>
            <a:endParaRPr lang="en-US" altLang="zh-CN" sz="2000">
              <a:latin typeface="Consolas" panose="020B0609020204030204" pitchFamily="49" charset="0"/>
              <a:ea typeface="楷体_GB2312" pitchFamily="49" charset="-122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87739" y="2716742"/>
            <a:ext cx="8235573" cy="1303809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</p:spPr>
        <p:txBody>
          <a:bodyPr wrap="square" tIns="36000" rIns="0" bIns="36000">
            <a:spAutoFit/>
          </a:bodyPr>
          <a:lstStyle/>
          <a:p>
            <a:pPr>
              <a:defRPr/>
            </a:pPr>
            <a:r>
              <a:rPr lang="en-US" altLang="zh-CN" sz="2000">
                <a:solidFill>
                  <a:srgbClr val="0070C0"/>
                </a:solidFill>
                <a:latin typeface="Consolas" panose="020B0609020204030204" pitchFamily="49" charset="0"/>
                <a:ea typeface="楷体_GB2312" pitchFamily="49" charset="-122"/>
              </a:rPr>
              <a:t>void</a:t>
            </a:r>
            <a:r>
              <a:rPr lang="en-US" altLang="zh-CN" sz="2000">
                <a:latin typeface="Consolas" panose="020B0609020204030204" pitchFamily="49" charset="0"/>
                <a:ea typeface="楷体_GB2312" pitchFamily="49" charset="-122"/>
              </a:rPr>
              <a:t> </a:t>
            </a:r>
            <a:r>
              <a:rPr lang="en-US" altLang="zh-CN" sz="2000">
                <a:solidFill>
                  <a:srgbClr val="00B050"/>
                </a:solidFill>
                <a:latin typeface="Consolas" panose="020B0609020204030204" pitchFamily="49" charset="0"/>
                <a:ea typeface="楷体_GB2312" pitchFamily="49" charset="-122"/>
              </a:rPr>
              <a:t>displayGeometricObject</a:t>
            </a:r>
            <a:r>
              <a:rPr lang="en-US" altLang="zh-CN" sz="2000">
                <a:latin typeface="Consolas" panose="020B0609020204030204" pitchFamily="49" charset="0"/>
                <a:ea typeface="楷体_GB2312" pitchFamily="49" charset="-122"/>
              </a:rPr>
              <a:t>(</a:t>
            </a:r>
            <a:r>
              <a:rPr lang="en-US" altLang="zh-CN" sz="2000">
                <a:solidFill>
                  <a:srgbClr val="FF3399"/>
                </a:solidFill>
                <a:latin typeface="Consolas" panose="020B0609020204030204" pitchFamily="49" charset="0"/>
                <a:ea typeface="楷体_GB2312" pitchFamily="49" charset="-122"/>
              </a:rPr>
              <a:t>const</a:t>
            </a:r>
            <a:r>
              <a:rPr lang="en-US" altLang="zh-CN" sz="2000">
                <a:latin typeface="Consolas" panose="020B0609020204030204" pitchFamily="49" charset="0"/>
                <a:ea typeface="楷体_GB2312" pitchFamily="49" charset="-122"/>
              </a:rPr>
              <a:t> GeometricObject&amp; shape) {</a:t>
            </a:r>
          </a:p>
          <a:p>
            <a:pPr>
              <a:defRPr/>
            </a:pPr>
            <a:r>
              <a:rPr lang="en-US" altLang="zh-CN" sz="2000">
                <a:latin typeface="Consolas" panose="020B0609020204030204" pitchFamily="49" charset="0"/>
                <a:ea typeface="楷体_GB2312" pitchFamily="49" charset="-122"/>
              </a:rPr>
              <a:t>    cout &lt;&lt; shape.</a:t>
            </a:r>
            <a:r>
              <a:rPr lang="en-US" altLang="zh-CN" sz="2000">
                <a:solidFill>
                  <a:srgbClr val="0070C0"/>
                </a:solidFill>
                <a:latin typeface="Consolas" panose="020B0609020204030204" pitchFamily="49" charset="0"/>
                <a:ea typeface="楷体_GB2312" pitchFamily="49" charset="-122"/>
              </a:rPr>
              <a:t>toString</a:t>
            </a:r>
            <a:r>
              <a:rPr lang="en-US" altLang="zh-CN" sz="2000">
                <a:latin typeface="Consolas" panose="020B0609020204030204" pitchFamily="49" charset="0"/>
                <a:ea typeface="楷体_GB2312" pitchFamily="49" charset="-122"/>
              </a:rPr>
              <a:t>() &lt;&lt; endl;</a:t>
            </a:r>
          </a:p>
          <a:p>
            <a:pPr>
              <a:defRPr/>
            </a:pPr>
            <a:r>
              <a:rPr lang="en-US" altLang="zh-CN" sz="2000">
                <a:latin typeface="Consolas" panose="020B0609020204030204" pitchFamily="49" charset="0"/>
                <a:ea typeface="楷体_GB2312" pitchFamily="49" charset="-122"/>
              </a:rPr>
              <a:t>}</a:t>
            </a:r>
            <a:endParaRPr lang="en-US" altLang="zh-CN" sz="2000">
              <a:latin typeface="Consolas" panose="020B0609020204030204" pitchFamily="49" charset="0"/>
              <a:ea typeface="楷体_GB2312" pitchFamily="49" charset="-122"/>
              <a:cs typeface="+mn-cs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914400" y="4114800"/>
            <a:ext cx="2918680" cy="101566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200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Geometric Object</a:t>
            </a:r>
          </a:p>
          <a:p>
            <a:r>
              <a:rPr lang="zh-CN" altLang="en-US" sz="200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Geometric Object</a:t>
            </a:r>
          </a:p>
          <a:p>
            <a:r>
              <a:rPr lang="zh-CN" altLang="en-US" sz="200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Geometric Object</a:t>
            </a:r>
          </a:p>
        </p:txBody>
      </p:sp>
      <p:sp>
        <p:nvSpPr>
          <p:cNvPr id="15" name="矩形 14"/>
          <p:cNvSpPr/>
          <p:nvPr/>
        </p:nvSpPr>
        <p:spPr>
          <a:xfrm>
            <a:off x="5205473" y="4114800"/>
            <a:ext cx="2918680" cy="101566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200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Geometric Object</a:t>
            </a:r>
          </a:p>
          <a:p>
            <a:r>
              <a:rPr lang="en-US" altLang="zh-CN" sz="200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Circle</a:t>
            </a:r>
          </a:p>
          <a:p>
            <a:r>
              <a:rPr lang="en-US" altLang="zh-CN" sz="200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Rectangle</a:t>
            </a:r>
            <a:endParaRPr lang="zh-CN" altLang="en-US" sz="2000">
              <a:solidFill>
                <a:schemeClr val="bg1">
                  <a:lumMod val="95000"/>
                </a:schemeClr>
              </a:solidFill>
              <a:latin typeface="Consolas" panose="020B0609020204030204" pitchFamily="49" charset="0"/>
            </a:endParaRPr>
          </a:p>
        </p:txBody>
      </p:sp>
      <p:cxnSp>
        <p:nvCxnSpPr>
          <p:cNvPr id="18" name="直接箭头连接符 17"/>
          <p:cNvCxnSpPr>
            <a:stCxn id="4" idx="3"/>
            <a:endCxn id="15" idx="1"/>
          </p:cNvCxnSpPr>
          <p:nvPr/>
        </p:nvCxnSpPr>
        <p:spPr>
          <a:xfrm>
            <a:off x="3833080" y="4622632"/>
            <a:ext cx="1372393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362434" y="6180253"/>
            <a:ext cx="825798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800">
                <a:latin typeface="Arial" panose="020B0604020202020204" pitchFamily="34" charset="0"/>
                <a:cs typeface="Arial" panose="020B0604020202020204" pitchFamily="34" charset="0"/>
              </a:rPr>
              <a:t>Dynamic binding: C++ dynamically binds the implementation of the function at runtime, decided by the actual class of the object referenced by the variable. </a:t>
            </a:r>
            <a:endParaRPr lang="zh-CN" altLang="en-US" sz="1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3" name="Rectangle 2"/>
          <p:cNvSpPr>
            <a:spLocks noGrp="1"/>
          </p:cNvSpPr>
          <p:nvPr>
            <p:ph type="title"/>
          </p:nvPr>
        </p:nvSpPr>
        <p:spPr>
          <a:xfrm>
            <a:off x="876300" y="457200"/>
            <a:ext cx="8267700" cy="381000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dirty="0">
                <a:sym typeface="+mn-ea"/>
              </a:rPr>
              <a:t>Virtual Functions and Dynamic Binding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125955" name="灯片编号占位符 4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  <a:t>24</a:t>
            </a:fld>
            <a:endParaRPr lang="en-US" altLang="zh-CN" sz="1600" b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28600" y="1086916"/>
            <a:ext cx="8568353" cy="811367"/>
          </a:xfrm>
          <a:prstGeom prst="rect">
            <a:avLst/>
          </a:prstGeom>
          <a:noFill/>
          <a:ln w="19050">
            <a:noFill/>
          </a:ln>
        </p:spPr>
        <p:txBody>
          <a:bodyPr wrap="square" tIns="36000" rIns="0" bIns="36000">
            <a:spAutoFit/>
          </a:bodyPr>
          <a:lstStyle/>
          <a:p>
            <a:pPr>
              <a:defRPr/>
            </a:pPr>
            <a:r>
              <a:rPr lang="en-US" altLang="zh-CN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To enable dynamic binding for a function, you need to do two things:</a:t>
            </a:r>
          </a:p>
        </p:txBody>
      </p:sp>
      <p:sp>
        <p:nvSpPr>
          <p:cNvPr id="5" name="矩形 4"/>
          <p:cNvSpPr/>
          <p:nvPr/>
        </p:nvSpPr>
        <p:spPr>
          <a:xfrm>
            <a:off x="496642" y="1898283"/>
            <a:ext cx="8113958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altLang="zh-CN" sz="2200">
                <a:latin typeface="Arial" panose="020B0604020202020204" pitchFamily="34" charset="0"/>
                <a:cs typeface="Arial" panose="020B0604020202020204" pitchFamily="34" charset="0"/>
              </a:rPr>
              <a:t>The function must be defined </a:t>
            </a:r>
            <a:r>
              <a:rPr lang="en-US" altLang="zh-CN" sz="2200" b="1" i="1">
                <a:solidFill>
                  <a:srgbClr val="FF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virtual</a:t>
            </a:r>
            <a:r>
              <a:rPr lang="en-US" altLang="zh-CN" sz="2200">
                <a:latin typeface="Arial" panose="020B0604020202020204" pitchFamily="34" charset="0"/>
                <a:cs typeface="Arial" panose="020B0604020202020204" pitchFamily="34" charset="0"/>
              </a:rPr>
              <a:t> in the base class.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CN" sz="2200">
                <a:latin typeface="Arial" panose="020B0604020202020204" pitchFamily="34" charset="0"/>
                <a:cs typeface="Arial" panose="020B0604020202020204" pitchFamily="34" charset="0"/>
              </a:rPr>
              <a:t>The variable that references the object must be passed </a:t>
            </a:r>
            <a:br>
              <a:rPr lang="en-US" altLang="zh-CN" sz="220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2200" b="1" i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by reference</a:t>
            </a:r>
            <a:r>
              <a:rPr lang="en-US" altLang="zh-CN" sz="2200">
                <a:latin typeface="Arial" panose="020B0604020202020204" pitchFamily="34" charset="0"/>
                <a:cs typeface="Arial" panose="020B0604020202020204" pitchFamily="34" charset="0"/>
              </a:rPr>
              <a:t> or passed </a:t>
            </a:r>
            <a:r>
              <a:rPr lang="en-US" altLang="zh-CN" sz="2200" b="1" i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 a pointer </a:t>
            </a:r>
            <a:r>
              <a:rPr lang="en-US" altLang="zh-CN" sz="2200">
                <a:latin typeface="Arial" panose="020B0604020202020204" pitchFamily="34" charset="0"/>
                <a:cs typeface="Arial" panose="020B0604020202020204" pitchFamily="34" charset="0"/>
              </a:rPr>
              <a:t>in the virtual function.</a:t>
            </a:r>
            <a:endParaRPr lang="zh-CN" altLang="en-US" sz="2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35834" y="3284018"/>
            <a:ext cx="8235573" cy="1303809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</p:spPr>
        <p:txBody>
          <a:bodyPr wrap="square" tIns="36000" rIns="0" bIns="36000">
            <a:spAutoFit/>
          </a:bodyPr>
          <a:lstStyle/>
          <a:p>
            <a:pPr>
              <a:defRPr/>
            </a:pPr>
            <a:r>
              <a:rPr lang="en-US" altLang="zh-CN" sz="2000">
                <a:solidFill>
                  <a:srgbClr val="0070C0"/>
                </a:solidFill>
                <a:latin typeface="Consolas" panose="020B0609020204030204" pitchFamily="49" charset="0"/>
                <a:ea typeface="楷体_GB2312" pitchFamily="49" charset="-122"/>
              </a:rPr>
              <a:t>void</a:t>
            </a:r>
            <a:r>
              <a:rPr lang="en-US" altLang="zh-CN" sz="2000">
                <a:latin typeface="Consolas" panose="020B0609020204030204" pitchFamily="49" charset="0"/>
                <a:ea typeface="楷体_GB2312" pitchFamily="49" charset="-122"/>
              </a:rPr>
              <a:t> </a:t>
            </a:r>
            <a:r>
              <a:rPr lang="en-US" altLang="zh-CN" sz="2000">
                <a:solidFill>
                  <a:srgbClr val="00B050"/>
                </a:solidFill>
                <a:latin typeface="Consolas" panose="020B0609020204030204" pitchFamily="49" charset="0"/>
                <a:ea typeface="楷体_GB2312" pitchFamily="49" charset="-122"/>
              </a:rPr>
              <a:t>displayGeometricObject</a:t>
            </a:r>
            <a:r>
              <a:rPr lang="en-US" altLang="zh-CN" sz="2000">
                <a:latin typeface="Consolas" panose="020B0609020204030204" pitchFamily="49" charset="0"/>
                <a:ea typeface="楷体_GB2312" pitchFamily="49" charset="-122"/>
              </a:rPr>
              <a:t>(</a:t>
            </a:r>
            <a:r>
              <a:rPr lang="en-US" altLang="zh-CN" sz="2000">
                <a:solidFill>
                  <a:srgbClr val="FF3399"/>
                </a:solidFill>
                <a:latin typeface="Consolas" panose="020B0609020204030204" pitchFamily="49" charset="0"/>
                <a:ea typeface="楷体_GB2312" pitchFamily="49" charset="-122"/>
              </a:rPr>
              <a:t>const</a:t>
            </a:r>
            <a:r>
              <a:rPr lang="en-US" altLang="zh-CN" sz="2000">
                <a:latin typeface="Consolas" panose="020B0609020204030204" pitchFamily="49" charset="0"/>
                <a:ea typeface="楷体_GB2312" pitchFamily="49" charset="-122"/>
              </a:rPr>
              <a:t> GeometricObject&amp; shape) {</a:t>
            </a:r>
          </a:p>
          <a:p>
            <a:pPr>
              <a:defRPr/>
            </a:pPr>
            <a:r>
              <a:rPr lang="en-US" altLang="zh-CN" sz="2000">
                <a:latin typeface="Consolas" panose="020B0609020204030204" pitchFamily="49" charset="0"/>
                <a:ea typeface="楷体_GB2312" pitchFamily="49" charset="-122"/>
              </a:rPr>
              <a:t>    cout &lt;&lt; shape.</a:t>
            </a:r>
            <a:r>
              <a:rPr lang="en-US" altLang="zh-CN" sz="2000">
                <a:solidFill>
                  <a:srgbClr val="0070C0"/>
                </a:solidFill>
                <a:latin typeface="Consolas" panose="020B0609020204030204" pitchFamily="49" charset="0"/>
                <a:ea typeface="楷体_GB2312" pitchFamily="49" charset="-122"/>
              </a:rPr>
              <a:t>toString</a:t>
            </a:r>
            <a:r>
              <a:rPr lang="en-US" altLang="zh-CN" sz="2000">
                <a:latin typeface="Consolas" panose="020B0609020204030204" pitchFamily="49" charset="0"/>
                <a:ea typeface="楷体_GB2312" pitchFamily="49" charset="-122"/>
              </a:rPr>
              <a:t>() &lt;&lt; endl;</a:t>
            </a:r>
          </a:p>
          <a:p>
            <a:pPr>
              <a:defRPr/>
            </a:pPr>
            <a:r>
              <a:rPr lang="en-US" altLang="zh-CN" sz="2000">
                <a:latin typeface="Consolas" panose="020B0609020204030204" pitchFamily="49" charset="0"/>
                <a:ea typeface="楷体_GB2312" pitchFamily="49" charset="-122"/>
              </a:rPr>
              <a:t>}</a:t>
            </a:r>
            <a:endParaRPr lang="en-US" altLang="zh-CN" sz="2000">
              <a:latin typeface="Consolas" panose="020B0609020204030204" pitchFamily="49" charset="0"/>
              <a:ea typeface="楷体_GB2312" pitchFamily="49" charset="-122"/>
              <a:cs typeface="+mn-cs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435834" y="4729929"/>
            <a:ext cx="8235573" cy="1303809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</p:spPr>
        <p:txBody>
          <a:bodyPr wrap="square" tIns="36000" rIns="0" bIns="36000">
            <a:spAutoFit/>
          </a:bodyPr>
          <a:lstStyle/>
          <a:p>
            <a:pPr>
              <a:defRPr/>
            </a:pPr>
            <a:r>
              <a:rPr lang="en-US" altLang="zh-CN" sz="2000">
                <a:solidFill>
                  <a:srgbClr val="0070C0"/>
                </a:solidFill>
                <a:latin typeface="Consolas" panose="020B0609020204030204" pitchFamily="49" charset="0"/>
                <a:ea typeface="楷体_GB2312" pitchFamily="49" charset="-122"/>
              </a:rPr>
              <a:t>void</a:t>
            </a:r>
            <a:r>
              <a:rPr lang="en-US" altLang="zh-CN" sz="2000">
                <a:latin typeface="Consolas" panose="020B0609020204030204" pitchFamily="49" charset="0"/>
                <a:ea typeface="楷体_GB2312" pitchFamily="49" charset="-122"/>
              </a:rPr>
              <a:t> </a:t>
            </a:r>
            <a:r>
              <a:rPr lang="en-US" altLang="zh-CN" sz="2000">
                <a:solidFill>
                  <a:srgbClr val="00B050"/>
                </a:solidFill>
                <a:latin typeface="Consolas" panose="020B0609020204030204" pitchFamily="49" charset="0"/>
                <a:ea typeface="楷体_GB2312" pitchFamily="49" charset="-122"/>
              </a:rPr>
              <a:t>displayGeometricObject</a:t>
            </a:r>
            <a:r>
              <a:rPr lang="en-US" altLang="zh-CN" sz="2000">
                <a:latin typeface="Consolas" panose="020B0609020204030204" pitchFamily="49" charset="0"/>
                <a:ea typeface="楷体_GB2312" pitchFamily="49" charset="-122"/>
              </a:rPr>
              <a:t>(</a:t>
            </a:r>
            <a:r>
              <a:rPr lang="en-US" altLang="zh-CN" sz="2000">
                <a:solidFill>
                  <a:srgbClr val="FF3399"/>
                </a:solidFill>
                <a:latin typeface="Consolas" panose="020B0609020204030204" pitchFamily="49" charset="0"/>
                <a:ea typeface="楷体_GB2312" pitchFamily="49" charset="-122"/>
              </a:rPr>
              <a:t>const</a:t>
            </a:r>
            <a:r>
              <a:rPr lang="en-US" altLang="zh-CN" sz="2000">
                <a:latin typeface="Consolas" panose="020B0609020204030204" pitchFamily="49" charset="0"/>
                <a:ea typeface="楷体_GB2312" pitchFamily="49" charset="-122"/>
              </a:rPr>
              <a:t> GeometricObject</a:t>
            </a:r>
            <a:r>
              <a:rPr lang="zh-CN" altLang="en-US" sz="2000">
                <a:latin typeface="Consolas" panose="020B0609020204030204" pitchFamily="49" charset="0"/>
                <a:ea typeface="楷体_GB2312" pitchFamily="49" charset="-122"/>
              </a:rPr>
              <a:t>*</a:t>
            </a:r>
            <a:r>
              <a:rPr lang="en-US" altLang="zh-CN" sz="2000">
                <a:latin typeface="Consolas" panose="020B0609020204030204" pitchFamily="49" charset="0"/>
                <a:ea typeface="楷体_GB2312" pitchFamily="49" charset="-122"/>
              </a:rPr>
              <a:t> shape) {</a:t>
            </a:r>
          </a:p>
          <a:p>
            <a:pPr>
              <a:defRPr/>
            </a:pPr>
            <a:r>
              <a:rPr lang="en-US" altLang="zh-CN" sz="2000">
                <a:latin typeface="Consolas" panose="020B0609020204030204" pitchFamily="49" charset="0"/>
                <a:ea typeface="楷体_GB2312" pitchFamily="49" charset="-122"/>
              </a:rPr>
              <a:t>    cout &lt;&lt; (*shape).</a:t>
            </a:r>
            <a:r>
              <a:rPr lang="en-US" altLang="zh-CN" sz="2000">
                <a:solidFill>
                  <a:srgbClr val="0070C0"/>
                </a:solidFill>
                <a:latin typeface="Consolas" panose="020B0609020204030204" pitchFamily="49" charset="0"/>
                <a:ea typeface="楷体_GB2312" pitchFamily="49" charset="-122"/>
              </a:rPr>
              <a:t>toString</a:t>
            </a:r>
            <a:r>
              <a:rPr lang="en-US" altLang="zh-CN" sz="2000">
                <a:latin typeface="Consolas" panose="020B0609020204030204" pitchFamily="49" charset="0"/>
                <a:ea typeface="楷体_GB2312" pitchFamily="49" charset="-122"/>
              </a:rPr>
              <a:t>() &lt;&lt; endl;</a:t>
            </a:r>
          </a:p>
          <a:p>
            <a:pPr>
              <a:defRPr/>
            </a:pPr>
            <a:r>
              <a:rPr lang="en-US" altLang="zh-CN" sz="2000">
                <a:latin typeface="Consolas" panose="020B0609020204030204" pitchFamily="49" charset="0"/>
                <a:ea typeface="楷体_GB2312" pitchFamily="49" charset="-122"/>
              </a:rPr>
              <a:t>}</a:t>
            </a:r>
            <a:endParaRPr lang="en-US" altLang="zh-CN" sz="2000">
              <a:latin typeface="Consolas" panose="020B0609020204030204" pitchFamily="49" charset="0"/>
              <a:ea typeface="楷体_GB2312" pitchFamily="49" charset="-122"/>
              <a:cs typeface="+mn-cs"/>
            </a:endParaRPr>
          </a:p>
        </p:txBody>
      </p:sp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5" name="灯片编号占位符 4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  <a:t>25</a:t>
            </a:fld>
            <a:endParaRPr lang="en-US" altLang="zh-CN" sz="1600" b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381000" y="2133600"/>
            <a:ext cx="8288338" cy="2892333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altLang="zh-CN" sz="4400" b="0" dirty="0">
                <a:solidFill>
                  <a:schemeClr val="tx1"/>
                </a:solidFill>
              </a:rPr>
              <a:t>5. </a:t>
            </a:r>
            <a:r>
              <a:rPr lang="en-US" altLang="zh-CN" sz="4400" dirty="0">
                <a:solidFill>
                  <a:schemeClr val="tx1"/>
                </a:solidFill>
                <a:sym typeface="+mn-ea"/>
              </a:rPr>
              <a:t>Abstract Classes and </a:t>
            </a:r>
            <a:br>
              <a:rPr lang="en-US" altLang="zh-CN" sz="4400" dirty="0">
                <a:solidFill>
                  <a:schemeClr val="tx1"/>
                </a:solidFill>
                <a:sym typeface="+mn-ea"/>
              </a:rPr>
            </a:br>
            <a:r>
              <a:rPr lang="en-US" altLang="zh-CN" sz="4400" dirty="0">
                <a:solidFill>
                  <a:schemeClr val="tx1"/>
                </a:solidFill>
                <a:sym typeface="+mn-ea"/>
              </a:rPr>
              <a:t>Pure Virtual Functions</a:t>
            </a:r>
            <a:br>
              <a:rPr lang="en-US" altLang="zh-CN" sz="4400" dirty="0">
                <a:solidFill>
                  <a:schemeClr val="tx1"/>
                </a:solidFill>
              </a:rPr>
            </a:br>
            <a:endParaRPr lang="en-US" altLang="zh-CN" sz="4400" b="0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690667" y="4119880"/>
            <a:ext cx="3449320" cy="58356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l"/>
            <a:r>
              <a:rPr lang="zh-CN" altLang="en-US" sz="3200" b="1" dirty="0">
                <a:pattFill prst="pct90">
                  <a:fgClr>
                    <a:srgbClr val="6C0000"/>
                  </a:fgClr>
                  <a:bgClr>
                    <a:srgbClr val="FF1919"/>
                  </a:bgClr>
                </a:pattFill>
                <a:latin typeface="Arial" panose="020B0604020202020204" pitchFamily="34" charset="0"/>
                <a:ea typeface="仿宋" panose="02010609060101010101" pitchFamily="49" charset="-122"/>
                <a:cs typeface="Arial" panose="020B0604020202020204" pitchFamily="34" charset="0"/>
                <a:sym typeface="+mn-ea"/>
              </a:rPr>
              <a:t>抽象类和纯虚函数</a:t>
            </a:r>
            <a:endParaRPr lang="zh-CN" altLang="en-US" sz="3200" b="1" dirty="0">
              <a:pattFill prst="pct90">
                <a:fgClr>
                  <a:srgbClr val="6C0000"/>
                </a:fgClr>
                <a:bgClr>
                  <a:srgbClr val="FF1919"/>
                </a:bgClr>
              </a:pattFill>
              <a:latin typeface="Arial" panose="020B0604020202020204" pitchFamily="34" charset="0"/>
              <a:ea typeface="仿宋" panose="02010609060101010101" pitchFamily="49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3" name="Rectangle 2"/>
          <p:cNvSpPr>
            <a:spLocks noGrp="1"/>
          </p:cNvSpPr>
          <p:nvPr>
            <p:ph type="title"/>
          </p:nvPr>
        </p:nvSpPr>
        <p:spPr>
          <a:xfrm>
            <a:off x="876300" y="457200"/>
            <a:ext cx="8267700" cy="381000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200" dirty="0">
                <a:sym typeface="+mn-ea"/>
              </a:rPr>
              <a:t>Abstract Classes and Pure Virtual Functions</a:t>
            </a:r>
            <a:endParaRPr lang="en-US" altLang="zh-CN" sz="3200">
              <a:ea typeface="宋体" panose="02010600030101010101" pitchFamily="2" charset="-122"/>
            </a:endParaRPr>
          </a:p>
        </p:txBody>
      </p:sp>
      <p:sp>
        <p:nvSpPr>
          <p:cNvPr id="125955" name="灯片编号占位符 4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  <a:t>26</a:t>
            </a:fld>
            <a:endParaRPr lang="en-US" altLang="zh-CN" sz="1600" b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550779" y="1029101"/>
            <a:ext cx="7412246" cy="1180699"/>
          </a:xfrm>
          <a:prstGeom prst="rect">
            <a:avLst/>
          </a:prstGeom>
          <a:noFill/>
          <a:ln w="19050">
            <a:noFill/>
          </a:ln>
        </p:spPr>
        <p:txBody>
          <a:bodyPr wrap="square" tIns="36000" rIns="0" bIns="36000">
            <a:spAutoFit/>
          </a:bodyPr>
          <a:lstStyle/>
          <a:p>
            <a:pPr>
              <a:defRPr/>
            </a:pPr>
            <a:r>
              <a:rPr lang="en-US" altLang="zh-CN" b="1" dirty="0">
                <a:solidFill>
                  <a:srgbClr val="C00000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An abstract class CANNOT</a:t>
            </a:r>
            <a:r>
              <a:rPr lang="en-US" altLang="zh-CN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 be used to </a:t>
            </a:r>
            <a:r>
              <a:rPr lang="en-US" altLang="zh-CN" b="1" dirty="0">
                <a:solidFill>
                  <a:srgbClr val="C00000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create objects</a:t>
            </a:r>
            <a:r>
              <a:rPr lang="en-US" altLang="zh-CN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. An abstract class contains abstract functions, which are implemented in concrete derived classes.</a:t>
            </a:r>
          </a:p>
        </p:txBody>
      </p:sp>
      <p:grpSp>
        <p:nvGrpSpPr>
          <p:cNvPr id="13" name="组合 7"/>
          <p:cNvGrpSpPr/>
          <p:nvPr/>
        </p:nvGrpSpPr>
        <p:grpSpPr bwMode="auto">
          <a:xfrm>
            <a:off x="355905" y="1194560"/>
            <a:ext cx="1036637" cy="615950"/>
            <a:chOff x="333108" y="1289466"/>
            <a:chExt cx="1037032" cy="615301"/>
          </a:xfrm>
        </p:grpSpPr>
        <p:pic>
          <p:nvPicPr>
            <p:cNvPr id="16" name="图片 4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-6616077">
              <a:off x="442540" y="1180034"/>
              <a:ext cx="486519" cy="7053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" name="矩形 10"/>
            <p:cNvSpPr>
              <a:spLocks noChangeArrowheads="1"/>
            </p:cNvSpPr>
            <p:nvPr/>
          </p:nvSpPr>
          <p:spPr bwMode="auto">
            <a:xfrm>
              <a:off x="523473" y="1319992"/>
              <a:ext cx="846667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algn="r"/>
              <a:r>
                <a:rPr lang="en-US" altLang="zh-CN" sz="1600">
                  <a:latin typeface="微软雅黑" panose="020B0503020204020204" pitchFamily="34" charset="-122"/>
                  <a:ea typeface="微软雅黑" panose="020B0503020204020204" pitchFamily="34" charset="-122"/>
                </a:rPr>
                <a:t>Key</a:t>
              </a:r>
            </a:p>
            <a:p>
              <a:pPr algn="r"/>
              <a:r>
                <a:rPr lang="en-US" altLang="zh-CN" sz="1600">
                  <a:latin typeface="微软雅黑" panose="020B0503020204020204" pitchFamily="34" charset="-122"/>
                  <a:ea typeface="微软雅黑" panose="020B0503020204020204" pitchFamily="34" charset="-122"/>
                </a:rPr>
                <a:t>Point</a:t>
              </a:r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" name="矩形 2"/>
          <p:cNvSpPr/>
          <p:nvPr/>
        </p:nvSpPr>
        <p:spPr>
          <a:xfrm>
            <a:off x="319698" y="3023457"/>
            <a:ext cx="884148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>
                <a:latin typeface="Arial" panose="020B0604020202020204" pitchFamily="34" charset="0"/>
                <a:cs typeface="Arial" panose="020B0604020202020204" pitchFamily="34" charset="0"/>
              </a:rPr>
              <a:t>A pure virtual function is defined this way:</a:t>
            </a:r>
            <a:endParaRPr lang="zh-CN" alt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685800" y="3548878"/>
            <a:ext cx="7844352" cy="1675880"/>
            <a:chOff x="762000" y="3768732"/>
            <a:chExt cx="7844352" cy="1675880"/>
          </a:xfrm>
        </p:grpSpPr>
        <p:sp>
          <p:nvSpPr>
            <p:cNvPr id="19" name="矩形 18"/>
            <p:cNvSpPr/>
            <p:nvPr/>
          </p:nvSpPr>
          <p:spPr>
            <a:xfrm>
              <a:off x="1748352" y="5064132"/>
              <a:ext cx="5490648" cy="3804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noFill/>
            </a:ln>
          </p:spPr>
          <p:txBody>
            <a:bodyPr wrap="square" tIns="36000" rIns="0" bIns="36000">
              <a:spAutoFit/>
            </a:bodyPr>
            <a:lstStyle/>
            <a:p>
              <a:pPr>
                <a:defRPr/>
              </a:pPr>
              <a:r>
                <a:rPr lang="en-US" altLang="zh-CN" sz="2000">
                  <a:solidFill>
                    <a:srgbClr val="FF3399"/>
                  </a:solidFill>
                  <a:latin typeface="Consolas" panose="020B0609020204030204" pitchFamily="49" charset="0"/>
                  <a:ea typeface="楷体_GB2312" pitchFamily="49" charset="-122"/>
                </a:rPr>
                <a:t>virtual</a:t>
              </a:r>
              <a:r>
                <a:rPr lang="en-US" altLang="zh-CN" sz="2000">
                  <a:latin typeface="Consolas" panose="020B0609020204030204" pitchFamily="49" charset="0"/>
                  <a:ea typeface="楷体_GB2312" pitchFamily="49" charset="-122"/>
                </a:rPr>
                <a:t> double getArea() </a:t>
              </a:r>
              <a:r>
                <a:rPr lang="en-US" altLang="zh-CN" sz="2000">
                  <a:solidFill>
                    <a:srgbClr val="FF3399"/>
                  </a:solidFill>
                  <a:latin typeface="Consolas" panose="020B0609020204030204" pitchFamily="49" charset="0"/>
                  <a:ea typeface="楷体_GB2312" pitchFamily="49" charset="-122"/>
                </a:rPr>
                <a:t>const</a:t>
              </a:r>
              <a:r>
                <a:rPr lang="en-US" altLang="zh-CN" sz="2000">
                  <a:latin typeface="Consolas" panose="020B0609020204030204" pitchFamily="49" charset="0"/>
                  <a:ea typeface="楷体_GB2312" pitchFamily="49" charset="-122"/>
                </a:rPr>
                <a:t> = </a:t>
              </a:r>
              <a:r>
                <a:rPr lang="en-US" altLang="zh-CN" sz="2000">
                  <a:solidFill>
                    <a:srgbClr val="9966FF"/>
                  </a:solidFill>
                  <a:latin typeface="Consolas" panose="020B0609020204030204" pitchFamily="49" charset="0"/>
                  <a:ea typeface="楷体_GB2312" pitchFamily="49" charset="-122"/>
                </a:rPr>
                <a:t>0</a:t>
              </a:r>
              <a:r>
                <a:rPr lang="en-US" altLang="zh-CN" sz="2000">
                  <a:latin typeface="Consolas" panose="020B0609020204030204" pitchFamily="49" charset="0"/>
                  <a:ea typeface="楷体_GB2312" pitchFamily="49" charset="-122"/>
                </a:rPr>
                <a:t>;</a:t>
              </a:r>
              <a:endParaRPr lang="en-US" altLang="zh-CN" sz="2000">
                <a:latin typeface="Consolas" panose="020B0609020204030204" pitchFamily="49" charset="0"/>
                <a:ea typeface="楷体_GB2312" pitchFamily="49" charset="-122"/>
                <a:cs typeface="+mn-cs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762000" y="3768732"/>
              <a:ext cx="2667000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1800">
                  <a:latin typeface="Arial" panose="020B0604020202020204" pitchFamily="34" charset="0"/>
                  <a:cs typeface="Arial" panose="020B0604020202020204" pitchFamily="34" charset="0"/>
                </a:rPr>
                <a:t>Place </a:t>
              </a:r>
              <a:r>
                <a:rPr lang="en-US" altLang="zh-CN" sz="1800" b="1" i="1">
                  <a:latin typeface="Arial" panose="020B0604020202020204" pitchFamily="34" charset="0"/>
                  <a:cs typeface="Arial" panose="020B0604020202020204" pitchFamily="34" charset="0"/>
                </a:rPr>
                <a:t>optional</a:t>
              </a:r>
              <a:r>
                <a:rPr lang="en-US" altLang="zh-CN" sz="1800">
                  <a:latin typeface="Arial" panose="020B0604020202020204" pitchFamily="34" charset="0"/>
                  <a:cs typeface="Arial" panose="020B0604020202020204" pitchFamily="34" charset="0"/>
                </a:rPr>
                <a:t> const for</a:t>
              </a:r>
            </a:p>
            <a:p>
              <a:r>
                <a:rPr lang="en-US" altLang="zh-CN" sz="1800">
                  <a:latin typeface="Arial" panose="020B0604020202020204" pitchFamily="34" charset="0"/>
                  <a:cs typeface="Arial" panose="020B0604020202020204" pitchFamily="34" charset="0"/>
                </a:rPr>
                <a:t>constant function here.</a:t>
              </a:r>
              <a:endParaRPr lang="zh-CN" altLang="en-US" sz="18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" name="矩形 3"/>
            <p:cNvSpPr/>
            <p:nvPr/>
          </p:nvSpPr>
          <p:spPr>
            <a:xfrm>
              <a:off x="5177352" y="5102632"/>
              <a:ext cx="152400" cy="304800"/>
            </a:xfrm>
            <a:prstGeom prst="rect">
              <a:avLst/>
            </a:prstGeom>
            <a:solidFill>
              <a:schemeClr val="bg1">
                <a:alpha val="0"/>
              </a:schemeClr>
            </a:solidFill>
          </p:spPr>
          <p:txBody>
            <a:bodyPr wrap="square" lIns="0" tIns="0" rIns="0" bIns="0" rtlCol="0" anchor="ctr">
              <a:spAutoFit/>
            </a:bodyPr>
            <a:lstStyle/>
            <a:p>
              <a:pPr marL="0" algn="ctr" eaLnBrk="1" fontAlgn="auto" hangingPunct="1">
                <a:spcAft>
                  <a:spcPts val="0"/>
                </a:spcAft>
                <a:buClr>
                  <a:schemeClr val="accent1">
                    <a:lumMod val="75000"/>
                  </a:schemeClr>
                </a:buClr>
                <a:buSzPct val="60000"/>
              </a:pPr>
              <a:endParaRPr lang="zh-CN" altLang="en-US" sz="2200" b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cxnSp>
          <p:nvCxnSpPr>
            <p:cNvPr id="7" name="肘形连接符 6"/>
            <p:cNvCxnSpPr>
              <a:stCxn id="20" idx="3"/>
              <a:endCxn id="27" idx="0"/>
            </p:cNvCxnSpPr>
            <p:nvPr/>
          </p:nvCxnSpPr>
          <p:spPr>
            <a:xfrm>
              <a:off x="3429000" y="4091898"/>
              <a:ext cx="2182079" cy="1006435"/>
            </a:xfrm>
            <a:prstGeom prst="bentConnector2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4" name="矩形 23"/>
            <p:cNvSpPr/>
            <p:nvPr/>
          </p:nvSpPr>
          <p:spPr>
            <a:xfrm>
              <a:off x="6074166" y="5102632"/>
              <a:ext cx="537648" cy="304800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 w="25400">
              <a:solidFill>
                <a:srgbClr val="00B050"/>
              </a:solidFill>
              <a:prstDash val="dash"/>
            </a:ln>
          </p:spPr>
          <p:txBody>
            <a:bodyPr wrap="square" lIns="0" tIns="0" rIns="0" bIns="0" rtlCol="0" anchor="ctr">
              <a:spAutoFit/>
            </a:bodyPr>
            <a:lstStyle/>
            <a:p>
              <a:pPr marL="0" algn="ctr" eaLnBrk="1" fontAlgn="auto" hangingPunct="1">
                <a:spcAft>
                  <a:spcPts val="0"/>
                </a:spcAft>
                <a:buClr>
                  <a:schemeClr val="accent1">
                    <a:lumMod val="75000"/>
                  </a:schemeClr>
                </a:buClr>
                <a:buSzPct val="60000"/>
              </a:pPr>
              <a:endParaRPr lang="zh-CN" altLang="en-US" sz="2200" b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25" name="矩形 24"/>
            <p:cNvSpPr/>
            <p:nvPr/>
          </p:nvSpPr>
          <p:spPr>
            <a:xfrm>
              <a:off x="6320352" y="3768732"/>
              <a:ext cx="2286000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1800">
                  <a:latin typeface="Arial" panose="020B0604020202020204" pitchFamily="34" charset="0"/>
                  <a:cs typeface="Arial" panose="020B0604020202020204" pitchFamily="34" charset="0"/>
                </a:rPr>
                <a:t>Indicates </a:t>
              </a:r>
              <a:br>
                <a:rPr lang="en-US" altLang="zh-CN" sz="1800"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altLang="zh-CN" sz="1800">
                  <a:latin typeface="Arial" panose="020B0604020202020204" pitchFamily="34" charset="0"/>
                  <a:cs typeface="Arial" panose="020B0604020202020204" pitchFamily="34" charset="0"/>
                </a:rPr>
                <a:t>pure virtual function</a:t>
              </a:r>
              <a:endParaRPr lang="zh-CN" altLang="en-US" sz="18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6" name="肘形连接符 25"/>
            <p:cNvCxnSpPr>
              <a:stCxn id="25" idx="1"/>
              <a:endCxn id="24" idx="0"/>
            </p:cNvCxnSpPr>
            <p:nvPr/>
          </p:nvCxnSpPr>
          <p:spPr>
            <a:xfrm rot="10800000" flipH="1" flipV="1">
              <a:off x="6320352" y="4091898"/>
              <a:ext cx="22638" cy="1010734"/>
            </a:xfrm>
            <a:prstGeom prst="bentConnector4">
              <a:avLst>
                <a:gd name="adj1" fmla="val -1009807"/>
                <a:gd name="adj2" fmla="val 65987"/>
              </a:avLst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3" name="矩形 32"/>
          <p:cNvSpPr/>
          <p:nvPr/>
        </p:nvSpPr>
        <p:spPr>
          <a:xfrm>
            <a:off x="771341" y="2374926"/>
            <a:ext cx="846967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>
                <a:latin typeface="Arial" panose="020B0604020202020204" pitchFamily="34" charset="0"/>
                <a:cs typeface="Arial" panose="020B0604020202020204" pitchFamily="34" charset="0"/>
              </a:rPr>
              <a:t>abstract functions            pure virtual functions</a:t>
            </a:r>
            <a:endParaRPr lang="zh-CN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8" name="直接连接符 27"/>
          <p:cNvCxnSpPr/>
          <p:nvPr/>
        </p:nvCxnSpPr>
        <p:spPr>
          <a:xfrm>
            <a:off x="3774832" y="2618941"/>
            <a:ext cx="919609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>
            <a:off x="3768971" y="2709795"/>
            <a:ext cx="919609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矩形 36"/>
          <p:cNvSpPr/>
          <p:nvPr/>
        </p:nvSpPr>
        <p:spPr>
          <a:xfrm>
            <a:off x="293377" y="5475153"/>
            <a:ext cx="862202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Note</a:t>
            </a:r>
            <a:r>
              <a:rPr lang="en-US" altLang="zh-CN" sz="2000">
                <a:latin typeface="Arial" panose="020B0604020202020204" pitchFamily="34" charset="0"/>
                <a:cs typeface="Arial" panose="020B0604020202020204" pitchFamily="34" charset="0"/>
              </a:rPr>
              <a:t> that a pure virtual function does not have a body or implementation in the base class.</a:t>
            </a:r>
            <a:endParaRPr lang="zh-CN" alt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5266055" y="4878479"/>
            <a:ext cx="537648" cy="304800"/>
          </a:xfrm>
          <a:prstGeom prst="rect">
            <a:avLst/>
          </a:prstGeom>
          <a:solidFill>
            <a:schemeClr val="bg1">
              <a:alpha val="0"/>
            </a:schemeClr>
          </a:solidFill>
          <a:ln w="25400">
            <a:noFill/>
            <a:prstDash val="dash"/>
          </a:ln>
        </p:spPr>
        <p:txBody>
          <a:bodyPr wrap="square" lIns="0" tIns="0" rIns="0" bIns="0" rtlCol="0" anchor="ctr">
            <a:spAutoFit/>
          </a:bodyPr>
          <a:lstStyle/>
          <a:p>
            <a:pPr marL="0" algn="ctr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60000"/>
            </a:pPr>
            <a:endParaRPr lang="zh-CN" altLang="en-US" sz="2200" b="1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3" name="Rectangle 2"/>
          <p:cNvSpPr>
            <a:spLocks noGrp="1"/>
          </p:cNvSpPr>
          <p:nvPr>
            <p:ph type="title"/>
          </p:nvPr>
        </p:nvSpPr>
        <p:spPr>
          <a:xfrm>
            <a:off x="876300" y="457200"/>
            <a:ext cx="8267700" cy="381000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200" dirty="0">
                <a:sym typeface="+mn-ea"/>
              </a:rPr>
              <a:t>Abstract Classes and Pure Virtual Functions</a:t>
            </a:r>
            <a:endParaRPr lang="en-US" altLang="zh-CN" sz="3200">
              <a:ea typeface="宋体" panose="02010600030101010101" pitchFamily="2" charset="-122"/>
            </a:endParaRPr>
          </a:p>
        </p:txBody>
      </p:sp>
      <p:sp>
        <p:nvSpPr>
          <p:cNvPr id="125955" name="灯片编号占位符 4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  <a:t>27</a:t>
            </a:fld>
            <a:endParaRPr lang="en-US" altLang="zh-CN" sz="1600" b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3987800" y="2128387"/>
            <a:ext cx="4495800" cy="3627522"/>
          </a:xfrm>
          <a:prstGeom prst="rect">
            <a:avLst/>
          </a:prstGeom>
          <a:solidFill>
            <a:srgbClr val="00B0F0">
              <a:alpha val="20000"/>
            </a:srgbClr>
          </a:solidFill>
          <a:ln w="19050">
            <a:noFill/>
          </a:ln>
        </p:spPr>
        <p:txBody>
          <a:bodyPr wrap="square" tIns="36000" rIns="0" bIns="36000">
            <a:spAutoFit/>
          </a:bodyPr>
          <a:lstStyle/>
          <a:p>
            <a:pPr algn="ctr">
              <a:defRPr/>
            </a:pPr>
            <a:r>
              <a:rPr lang="en-US" altLang="zh-CN" sz="2000" b="1" i="1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GeometricObject</a:t>
            </a:r>
          </a:p>
          <a:p>
            <a:pPr algn="ctr">
              <a:defRPr/>
            </a:pPr>
            <a:endParaRPr lang="en-US" altLang="zh-CN" sz="500" b="1">
              <a:latin typeface="Arial" panose="020B0604020202020204" pitchFamily="34" charset="0"/>
              <a:ea typeface="楷体_GB2312" pitchFamily="49" charset="-122"/>
              <a:cs typeface="Arial" panose="020B0604020202020204" pitchFamily="34" charset="0"/>
            </a:endParaRPr>
          </a:p>
          <a:p>
            <a:pPr>
              <a:defRPr/>
            </a:pPr>
            <a:r>
              <a:rPr lang="en-US" altLang="zh-CN" sz="180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-color: string</a:t>
            </a:r>
          </a:p>
          <a:p>
            <a:pPr>
              <a:defRPr/>
            </a:pPr>
            <a:r>
              <a:rPr lang="en-US" altLang="zh-CN" sz="180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-filled: bool</a:t>
            </a:r>
          </a:p>
          <a:p>
            <a:pPr>
              <a:defRPr/>
            </a:pPr>
            <a:endParaRPr lang="en-US" altLang="zh-CN" sz="800" b="1">
              <a:latin typeface="Arial" panose="020B0604020202020204" pitchFamily="34" charset="0"/>
              <a:ea typeface="楷体_GB2312" pitchFamily="49" charset="-122"/>
              <a:cs typeface="Arial" panose="020B0604020202020204" pitchFamily="34" charset="0"/>
            </a:endParaRPr>
          </a:p>
          <a:p>
            <a:pPr>
              <a:defRPr/>
            </a:pPr>
            <a:r>
              <a:rPr lang="en-US" altLang="zh-CN" sz="180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#GeometricObject()</a:t>
            </a:r>
          </a:p>
          <a:p>
            <a:pPr>
              <a:defRPr/>
            </a:pPr>
            <a:r>
              <a:rPr lang="en-US" altLang="zh-CN" sz="180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#GeometricObject(color: string, filled: bool)</a:t>
            </a:r>
          </a:p>
          <a:p>
            <a:pPr>
              <a:defRPr/>
            </a:pPr>
            <a:r>
              <a:rPr lang="en-US" altLang="zh-CN" sz="180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+getColor(): string const</a:t>
            </a:r>
          </a:p>
          <a:p>
            <a:pPr>
              <a:defRPr/>
            </a:pPr>
            <a:r>
              <a:rPr lang="en-US" altLang="zh-CN" sz="180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+setColor(color: string&amp;): void</a:t>
            </a:r>
          </a:p>
          <a:p>
            <a:pPr>
              <a:defRPr/>
            </a:pPr>
            <a:r>
              <a:rPr lang="en-US" altLang="zh-CN" sz="180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+isFilled(): bool const</a:t>
            </a:r>
          </a:p>
          <a:p>
            <a:pPr>
              <a:defRPr/>
            </a:pPr>
            <a:r>
              <a:rPr lang="en-US" altLang="zh-CN" sz="180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+setFilled(filled: bool): void</a:t>
            </a:r>
          </a:p>
          <a:p>
            <a:pPr>
              <a:defRPr/>
            </a:pPr>
            <a:r>
              <a:rPr lang="en-US" altLang="zh-CN" sz="180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+toString(): string const</a:t>
            </a:r>
          </a:p>
          <a:p>
            <a:pPr>
              <a:defRPr/>
            </a:pPr>
            <a:r>
              <a:rPr lang="en-US" altLang="zh-CN" sz="1800" i="1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+getArea (): double</a:t>
            </a:r>
          </a:p>
          <a:p>
            <a:pPr>
              <a:defRPr/>
            </a:pPr>
            <a:r>
              <a:rPr lang="en-US" altLang="zh-CN" sz="1800" i="1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+getPerimeter(): double const</a:t>
            </a:r>
          </a:p>
        </p:txBody>
      </p:sp>
      <p:cxnSp>
        <p:nvCxnSpPr>
          <p:cNvPr id="30" name="直接连接符 29"/>
          <p:cNvCxnSpPr/>
          <p:nvPr/>
        </p:nvCxnSpPr>
        <p:spPr>
          <a:xfrm>
            <a:off x="3987800" y="2542115"/>
            <a:ext cx="4495800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>
            <a:off x="3987800" y="3151715"/>
            <a:ext cx="4495800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634999" y="3013321"/>
            <a:ext cx="285432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>
                <a:latin typeface="Arial" panose="020B0604020202020204" pitchFamily="34" charset="0"/>
                <a:cs typeface="Arial" panose="020B0604020202020204" pitchFamily="34" charset="0"/>
              </a:rPr>
              <a:t>The # sign indicates</a:t>
            </a:r>
          </a:p>
          <a:p>
            <a:r>
              <a:rPr lang="en-US" altLang="zh-CN" sz="2000">
                <a:latin typeface="Arial" panose="020B0604020202020204" pitchFamily="34" charset="0"/>
                <a:cs typeface="Arial" panose="020B0604020202020204" pitchFamily="34" charset="0"/>
              </a:rPr>
              <a:t>protected modifer</a:t>
            </a:r>
            <a:endParaRPr lang="zh-CN" alt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634999" y="4992583"/>
            <a:ext cx="285432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>
                <a:latin typeface="Arial" panose="020B0604020202020204" pitchFamily="34" charset="0"/>
                <a:cs typeface="Arial" panose="020B0604020202020204" pitchFamily="34" charset="0"/>
              </a:rPr>
              <a:t>Abstract functions</a:t>
            </a:r>
          </a:p>
          <a:p>
            <a:r>
              <a:rPr lang="en-US" altLang="zh-CN" sz="2000">
                <a:latin typeface="Arial" panose="020B0604020202020204" pitchFamily="34" charset="0"/>
                <a:cs typeface="Arial" panose="020B0604020202020204" pitchFamily="34" charset="0"/>
              </a:rPr>
              <a:t>are italicized</a:t>
            </a:r>
            <a:endParaRPr lang="zh-CN" alt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664308" y="2124285"/>
            <a:ext cx="285432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Abstract class</a:t>
            </a: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name is italicized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2" name="直接箭头连接符 31"/>
          <p:cNvCxnSpPr/>
          <p:nvPr/>
        </p:nvCxnSpPr>
        <p:spPr>
          <a:xfrm>
            <a:off x="2615407" y="2370802"/>
            <a:ext cx="1372393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直接箭头连接符 32"/>
          <p:cNvCxnSpPr/>
          <p:nvPr/>
        </p:nvCxnSpPr>
        <p:spPr>
          <a:xfrm>
            <a:off x="2997200" y="3367264"/>
            <a:ext cx="99060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直接箭头连接符 33"/>
          <p:cNvCxnSpPr/>
          <p:nvPr/>
        </p:nvCxnSpPr>
        <p:spPr>
          <a:xfrm>
            <a:off x="2768600" y="5272264"/>
            <a:ext cx="1216024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矩形 34"/>
          <p:cNvSpPr/>
          <p:nvPr/>
        </p:nvSpPr>
        <p:spPr>
          <a:xfrm>
            <a:off x="5868987" y="1742871"/>
            <a:ext cx="285432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>
                <a:latin typeface="Arial" panose="020B0604020202020204" pitchFamily="34" charset="0"/>
                <a:cs typeface="Arial" panose="020B0604020202020204" pitchFamily="34" charset="0"/>
              </a:rPr>
              <a:t>UML:</a:t>
            </a:r>
            <a:endParaRPr lang="zh-CN" alt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634999" y="1036546"/>
            <a:ext cx="774858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>
                <a:latin typeface="Arial" panose="020B0604020202020204" pitchFamily="34" charset="0"/>
                <a:cs typeface="Arial" panose="020B0604020202020204" pitchFamily="34" charset="0"/>
              </a:rPr>
              <a:t>GeometricObject is just like a regular class, except that you </a:t>
            </a:r>
            <a:r>
              <a:rPr lang="en-US" altLang="zh-CN" sz="200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cannot create objects</a:t>
            </a:r>
            <a:r>
              <a:rPr lang="en-US" altLang="zh-CN" sz="2000">
                <a:latin typeface="Arial" panose="020B0604020202020204" pitchFamily="34" charset="0"/>
                <a:cs typeface="Arial" panose="020B0604020202020204" pitchFamily="34" charset="0"/>
              </a:rPr>
              <a:t> from it because it is an abstract class.</a:t>
            </a:r>
            <a:endParaRPr lang="zh-CN" alt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3" name="Rectangle 2"/>
          <p:cNvSpPr>
            <a:spLocks noGrp="1"/>
          </p:cNvSpPr>
          <p:nvPr>
            <p:ph type="title"/>
          </p:nvPr>
        </p:nvSpPr>
        <p:spPr>
          <a:xfrm>
            <a:off x="876300" y="457200"/>
            <a:ext cx="8267700" cy="381000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200">
                <a:sym typeface="+mn-ea"/>
              </a:rPr>
              <a:t>Abstract Classes and Pure Virtual Functions</a:t>
            </a:r>
            <a:endParaRPr lang="en-US" altLang="zh-CN" sz="3200">
              <a:ea typeface="宋体" panose="02010600030101010101" pitchFamily="2" charset="-122"/>
            </a:endParaRPr>
          </a:p>
        </p:txBody>
      </p:sp>
      <p:sp>
        <p:nvSpPr>
          <p:cNvPr id="125955" name="灯片编号占位符 4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  <a:t>28</a:t>
            </a:fld>
            <a:endParaRPr lang="en-US" altLang="zh-CN" sz="1600" b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81000" y="1036546"/>
            <a:ext cx="832765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>
                <a:latin typeface="Arial" panose="020B0604020202020204" pitchFamily="34" charset="0"/>
                <a:cs typeface="Arial" panose="020B0604020202020204" pitchFamily="34" charset="0"/>
              </a:rPr>
              <a:t>This example presents a program that creates two geometric objects (a circle and a rectangle), invokes the equalArea function to check whether the two objects have equal areas:</a:t>
            </a:r>
            <a:endParaRPr lang="zh-CN" alt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509984" y="2011114"/>
            <a:ext cx="8124032" cy="339669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</p:spPr>
        <p:txBody>
          <a:bodyPr wrap="square" tIns="36000" rIns="0" bIns="36000">
            <a:spAutoFit/>
          </a:bodyPr>
          <a:lstStyle/>
          <a:p>
            <a:pPr>
              <a:defRPr/>
            </a:pPr>
            <a:r>
              <a:rPr lang="en-US" altLang="zh-CN" sz="1800">
                <a:solidFill>
                  <a:srgbClr val="0070C0"/>
                </a:solidFill>
                <a:latin typeface="Consolas" panose="020B0609020204030204" pitchFamily="49" charset="0"/>
                <a:ea typeface="楷体_GB2312" pitchFamily="49" charset="-122"/>
              </a:rPr>
              <a:t>bool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 </a:t>
            </a:r>
            <a:r>
              <a:rPr lang="en-US" altLang="zh-CN" sz="1800">
                <a:solidFill>
                  <a:srgbClr val="00B050"/>
                </a:solidFill>
                <a:latin typeface="Consolas" panose="020B0609020204030204" pitchFamily="49" charset="0"/>
                <a:ea typeface="楷体_GB2312" pitchFamily="49" charset="-122"/>
              </a:rPr>
              <a:t>equalArea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(GeometricObject&amp; g1, GeometricObject&amp; g2) {</a:t>
            </a:r>
          </a:p>
          <a:p>
            <a:pPr>
              <a:defRPr/>
            </a:pP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    cout &lt;&lt; g1.</a:t>
            </a:r>
            <a:r>
              <a:rPr lang="en-US" altLang="zh-CN" sz="1800">
                <a:solidFill>
                  <a:srgbClr val="0070C0"/>
                </a:solidFill>
                <a:latin typeface="Consolas" panose="020B0609020204030204" pitchFamily="49" charset="0"/>
                <a:ea typeface="楷体_GB2312" pitchFamily="49" charset="-122"/>
              </a:rPr>
              <a:t>getArea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()&lt;&lt; endl;</a:t>
            </a:r>
          </a:p>
          <a:p>
            <a:pPr>
              <a:defRPr/>
            </a:pP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    cout &lt;&lt; g2.</a:t>
            </a:r>
            <a:r>
              <a:rPr lang="en-US" altLang="zh-CN" sz="1800">
                <a:solidFill>
                  <a:srgbClr val="0070C0"/>
                </a:solidFill>
                <a:latin typeface="Consolas" panose="020B0609020204030204" pitchFamily="49" charset="0"/>
                <a:ea typeface="楷体_GB2312" pitchFamily="49" charset="-122"/>
              </a:rPr>
              <a:t>getArea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()&lt;&lt; endl;</a:t>
            </a:r>
          </a:p>
          <a:p>
            <a:pPr>
              <a:defRPr/>
            </a:pP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    </a:t>
            </a:r>
            <a:r>
              <a:rPr lang="en-US" altLang="zh-CN" sz="1800">
                <a:solidFill>
                  <a:srgbClr val="FF3399"/>
                </a:solidFill>
                <a:latin typeface="Consolas" panose="020B0609020204030204" pitchFamily="49" charset="0"/>
                <a:ea typeface="楷体_GB2312" pitchFamily="49" charset="-122"/>
              </a:rPr>
              <a:t>return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 g1.</a:t>
            </a:r>
            <a:r>
              <a:rPr lang="en-US" altLang="zh-CN" sz="1800">
                <a:solidFill>
                  <a:srgbClr val="0070C0"/>
                </a:solidFill>
                <a:latin typeface="Consolas" panose="020B0609020204030204" pitchFamily="49" charset="0"/>
                <a:ea typeface="楷体_GB2312" pitchFamily="49" charset="-122"/>
              </a:rPr>
              <a:t>getArea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() == g2.</a:t>
            </a:r>
            <a:r>
              <a:rPr lang="en-US" altLang="zh-CN" sz="1800">
                <a:solidFill>
                  <a:srgbClr val="0070C0"/>
                </a:solidFill>
                <a:latin typeface="Consolas" panose="020B0609020204030204" pitchFamily="49" charset="0"/>
                <a:ea typeface="楷体_GB2312" pitchFamily="49" charset="-122"/>
              </a:rPr>
              <a:t>getArea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();</a:t>
            </a:r>
          </a:p>
          <a:p>
            <a:pPr>
              <a:defRPr/>
            </a:pP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}</a:t>
            </a:r>
          </a:p>
          <a:p>
            <a:pPr>
              <a:defRPr/>
            </a:pPr>
            <a:endParaRPr lang="en-US" altLang="zh-CN" sz="1800">
              <a:latin typeface="Consolas" panose="020B0609020204030204" pitchFamily="49" charset="0"/>
              <a:ea typeface="楷体_GB2312" pitchFamily="49" charset="-122"/>
              <a:cs typeface="+mn-cs"/>
            </a:endParaRPr>
          </a:p>
          <a:p>
            <a:pPr>
              <a:defRPr/>
            </a:pPr>
            <a:r>
              <a:rPr lang="en-US" altLang="zh-CN" sz="1800">
                <a:solidFill>
                  <a:srgbClr val="0070C0"/>
                </a:solidFill>
                <a:latin typeface="Consolas" panose="020B0609020204030204" pitchFamily="49" charset="0"/>
                <a:ea typeface="楷体_GB2312" pitchFamily="49" charset="-122"/>
                <a:cs typeface="+mn-cs"/>
              </a:rPr>
              <a:t>int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  <a:cs typeface="+mn-cs"/>
              </a:rPr>
              <a:t> </a:t>
            </a:r>
            <a:r>
              <a:rPr lang="en-US" altLang="zh-CN" sz="1800">
                <a:solidFill>
                  <a:srgbClr val="00B050"/>
                </a:solidFill>
                <a:latin typeface="Consolas" panose="020B0609020204030204" pitchFamily="49" charset="0"/>
                <a:ea typeface="楷体_GB2312" pitchFamily="49" charset="-122"/>
                <a:cs typeface="+mn-cs"/>
              </a:rPr>
              <a:t>main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  <a:cs typeface="+mn-cs"/>
              </a:rPr>
              <a:t>() {</a:t>
            </a:r>
          </a:p>
          <a:p>
            <a:pPr>
              <a:defRPr/>
            </a:pP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  <a:cs typeface="+mn-cs"/>
              </a:rPr>
              <a:t>    Circle 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circle 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  <a:cs typeface="+mn-cs"/>
              </a:rPr>
              <a:t>(5, </a:t>
            </a:r>
            <a:r>
              <a:rPr lang="en-US" altLang="zh-CN" sz="1800">
                <a:solidFill>
                  <a:srgbClr val="D29818"/>
                </a:solidFill>
                <a:latin typeface="Consolas" panose="020B0609020204030204" pitchFamily="49" charset="0"/>
                <a:ea typeface="楷体_GB2312" pitchFamily="49" charset="-122"/>
                <a:cs typeface="+mn-cs"/>
              </a:rPr>
              <a:t>"red"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  <a:cs typeface="+mn-cs"/>
              </a:rPr>
              <a:t>, true);</a:t>
            </a:r>
          </a:p>
          <a:p>
            <a:pPr>
              <a:defRPr/>
            </a:pP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  <a:cs typeface="+mn-cs"/>
              </a:rPr>
              <a:t>    Rectangle rect;</a:t>
            </a:r>
          </a:p>
          <a:p>
            <a:pPr>
              <a:defRPr/>
            </a:pPr>
            <a:r>
              <a:rPr lang="en-US" altLang="zh-CN" sz="1800">
                <a:solidFill>
                  <a:srgbClr val="00B050"/>
                </a:solidFill>
                <a:latin typeface="Consolas" panose="020B0609020204030204" pitchFamily="49" charset="0"/>
                <a:ea typeface="楷体_GB2312" pitchFamily="49" charset="-122"/>
              </a:rPr>
              <a:t>    </a:t>
            </a:r>
            <a:r>
              <a:rPr lang="en-US" altLang="zh-CN" sz="1800">
                <a:solidFill>
                  <a:srgbClr val="0070C0"/>
                </a:solidFill>
                <a:latin typeface="Consolas" panose="020B0609020204030204" pitchFamily="49" charset="0"/>
                <a:ea typeface="楷体_GB2312" pitchFamily="49" charset="-122"/>
              </a:rPr>
              <a:t>bool 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isEqual = </a:t>
            </a:r>
            <a:r>
              <a:rPr lang="en-US" altLang="zh-CN" sz="1800">
                <a:solidFill>
                  <a:srgbClr val="0070C0"/>
                </a:solidFill>
                <a:latin typeface="Consolas" panose="020B0609020204030204" pitchFamily="49" charset="0"/>
                <a:ea typeface="楷体_GB2312" pitchFamily="49" charset="-122"/>
              </a:rPr>
              <a:t>equalArea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(circle, rect);</a:t>
            </a:r>
            <a:endParaRPr lang="en-US" altLang="zh-CN" sz="1800">
              <a:latin typeface="Consolas" panose="020B0609020204030204" pitchFamily="49" charset="0"/>
              <a:ea typeface="楷体_GB2312" pitchFamily="49" charset="-122"/>
              <a:cs typeface="+mn-cs"/>
            </a:endParaRPr>
          </a:p>
          <a:p>
            <a:pPr>
              <a:defRPr/>
            </a:pPr>
            <a:r>
              <a:rPr lang="en-US" altLang="zh-CN" sz="1800">
                <a:solidFill>
                  <a:srgbClr val="FF3399"/>
                </a:solidFill>
                <a:latin typeface="Consolas" panose="020B0609020204030204" pitchFamily="49" charset="0"/>
                <a:ea typeface="楷体_GB2312" pitchFamily="49" charset="-122"/>
              </a:rPr>
              <a:t>    return </a:t>
            </a:r>
            <a:r>
              <a:rPr lang="en-US" altLang="zh-CN" sz="1800">
                <a:solidFill>
                  <a:srgbClr val="9966FF"/>
                </a:solidFill>
                <a:latin typeface="Consolas" panose="020B0609020204030204" pitchFamily="49" charset="0"/>
                <a:ea typeface="楷体_GB2312" pitchFamily="49" charset="-122"/>
              </a:rPr>
              <a:t>0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;</a:t>
            </a:r>
            <a:endParaRPr lang="en-US" altLang="zh-CN" sz="1800">
              <a:latin typeface="Consolas" panose="020B0609020204030204" pitchFamily="49" charset="0"/>
              <a:ea typeface="楷体_GB2312" pitchFamily="49" charset="-122"/>
              <a:cs typeface="+mn-cs"/>
            </a:endParaRPr>
          </a:p>
          <a:p>
            <a:pPr>
              <a:defRPr/>
            </a:pP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  <a:cs typeface="+mn-cs"/>
              </a:rPr>
              <a:t>}</a:t>
            </a:r>
          </a:p>
        </p:txBody>
      </p:sp>
      <p:sp>
        <p:nvSpPr>
          <p:cNvPr id="18" name="矩形 17"/>
          <p:cNvSpPr/>
          <p:nvPr/>
        </p:nvSpPr>
        <p:spPr>
          <a:xfrm>
            <a:off x="2057400" y="5569184"/>
            <a:ext cx="6219032" cy="349702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</p:spPr>
        <p:txBody>
          <a:bodyPr wrap="square" tIns="36000" rIns="0" bIns="36000">
            <a:spAutoFit/>
          </a:bodyPr>
          <a:lstStyle/>
          <a:p>
            <a:pPr>
              <a:defRPr/>
            </a:pPr>
            <a:r>
              <a:rPr lang="en-US" altLang="zh-CN" sz="1800" dirty="0">
                <a:solidFill>
                  <a:srgbClr val="FF3399"/>
                </a:solidFill>
                <a:latin typeface="Consolas" panose="020B0609020204030204" pitchFamily="49" charset="0"/>
                <a:ea typeface="楷体_GB2312" pitchFamily="49" charset="-122"/>
              </a:rPr>
              <a:t>virtual</a:t>
            </a:r>
            <a:r>
              <a:rPr lang="en-US" altLang="zh-CN" sz="1800" dirty="0">
                <a:solidFill>
                  <a:srgbClr val="0070C0"/>
                </a:solidFill>
                <a:latin typeface="Consolas" panose="020B0609020204030204" pitchFamily="49" charset="0"/>
                <a:ea typeface="楷体_GB2312" pitchFamily="49" charset="-122"/>
              </a:rPr>
              <a:t> double </a:t>
            </a:r>
            <a:r>
              <a:rPr lang="en-US" altLang="zh-CN" sz="1800" dirty="0" err="1">
                <a:solidFill>
                  <a:srgbClr val="00B050"/>
                </a:solidFill>
                <a:latin typeface="Consolas" panose="020B0609020204030204" pitchFamily="49" charset="0"/>
                <a:ea typeface="楷体_GB2312" pitchFamily="49" charset="-122"/>
              </a:rPr>
              <a:t>getArea</a:t>
            </a:r>
            <a:r>
              <a:rPr lang="en-US" altLang="zh-CN" sz="1800" dirty="0">
                <a:latin typeface="Consolas" panose="020B0609020204030204" pitchFamily="49" charset="0"/>
                <a:ea typeface="楷体_GB2312" pitchFamily="49" charset="-122"/>
              </a:rPr>
              <a:t>()</a:t>
            </a:r>
            <a:r>
              <a:rPr lang="en-US" altLang="zh-CN" sz="1800" dirty="0">
                <a:solidFill>
                  <a:srgbClr val="0070C0"/>
                </a:solidFill>
                <a:latin typeface="Consolas" panose="020B0609020204030204" pitchFamily="49" charset="0"/>
                <a:ea typeface="楷体_GB2312" pitchFamily="49" charset="-122"/>
              </a:rPr>
              <a:t> </a:t>
            </a:r>
            <a:r>
              <a:rPr lang="en-US" altLang="zh-CN" sz="1800" dirty="0">
                <a:latin typeface="Consolas" panose="020B0609020204030204" pitchFamily="49" charset="0"/>
                <a:ea typeface="楷体_GB2312" pitchFamily="49" charset="-122"/>
              </a:rPr>
              <a:t>=</a:t>
            </a:r>
            <a:r>
              <a:rPr lang="en-US" altLang="zh-CN" sz="1800" dirty="0">
                <a:solidFill>
                  <a:srgbClr val="0070C0"/>
                </a:solidFill>
                <a:latin typeface="Consolas" panose="020B0609020204030204" pitchFamily="49" charset="0"/>
                <a:ea typeface="楷体_GB2312" pitchFamily="49" charset="-122"/>
              </a:rPr>
              <a:t> </a:t>
            </a:r>
            <a:r>
              <a:rPr lang="en-US" altLang="zh-CN" sz="1800" dirty="0">
                <a:solidFill>
                  <a:srgbClr val="9966FF"/>
                </a:solidFill>
                <a:latin typeface="Consolas" panose="020B0609020204030204" pitchFamily="49" charset="0"/>
                <a:ea typeface="楷体_GB2312" pitchFamily="49" charset="-122"/>
              </a:rPr>
              <a:t>0</a:t>
            </a:r>
            <a:r>
              <a:rPr lang="en-US" altLang="zh-CN" sz="1800" dirty="0">
                <a:latin typeface="Consolas" panose="020B0609020204030204" pitchFamily="49" charset="0"/>
                <a:ea typeface="楷体_GB2312" pitchFamily="49" charset="-122"/>
              </a:rPr>
              <a:t>;</a:t>
            </a:r>
            <a:endParaRPr lang="en-US" altLang="zh-CN" sz="1800" dirty="0">
              <a:latin typeface="Consolas" panose="020B0609020204030204" pitchFamily="49" charset="0"/>
              <a:ea typeface="楷体_GB2312" pitchFamily="49" charset="-122"/>
              <a:cs typeface="+mn-cs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2057400" y="5991893"/>
            <a:ext cx="6219032" cy="349702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</p:spPr>
        <p:txBody>
          <a:bodyPr wrap="square" tIns="36000" rIns="0" bIns="36000">
            <a:spAutoFit/>
          </a:bodyPr>
          <a:lstStyle/>
          <a:p>
            <a:pPr>
              <a:defRPr/>
            </a:pPr>
            <a:r>
              <a:rPr lang="en-US" altLang="zh-CN" sz="1800">
                <a:solidFill>
                  <a:srgbClr val="0070C0"/>
                </a:solidFill>
                <a:latin typeface="Consolas" panose="020B0609020204030204" pitchFamily="49" charset="0"/>
                <a:ea typeface="楷体_GB2312" pitchFamily="49" charset="-122"/>
              </a:rPr>
              <a:t>double </a:t>
            </a:r>
            <a:r>
              <a:rPr lang="en-US" altLang="zh-CN" sz="1800">
                <a:solidFill>
                  <a:srgbClr val="00B050"/>
                </a:solidFill>
                <a:latin typeface="Consolas" panose="020B0609020204030204" pitchFamily="49" charset="0"/>
                <a:ea typeface="楷体_GB2312" pitchFamily="49" charset="-122"/>
              </a:rPr>
              <a:t>getArea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(){</a:t>
            </a:r>
            <a:r>
              <a:rPr lang="en-US" altLang="zh-CN" sz="1800">
                <a:solidFill>
                  <a:srgbClr val="FF3399"/>
                </a:solidFill>
                <a:latin typeface="Consolas" panose="020B0609020204030204" pitchFamily="49" charset="0"/>
                <a:ea typeface="楷体_GB2312" pitchFamily="49" charset="-122"/>
              </a:rPr>
              <a:t>return</a:t>
            </a:r>
            <a:r>
              <a:rPr lang="en-US" altLang="zh-CN" sz="1800">
                <a:solidFill>
                  <a:srgbClr val="0070C0"/>
                </a:solidFill>
                <a:latin typeface="Consolas" panose="020B0609020204030204" pitchFamily="49" charset="0"/>
                <a:ea typeface="楷体_GB2312" pitchFamily="49" charset="-122"/>
              </a:rPr>
              <a:t> </a:t>
            </a:r>
            <a:r>
              <a:rPr lang="en-US" altLang="zh-CN" sz="1800">
                <a:solidFill>
                  <a:srgbClr val="9966FF"/>
                </a:solidFill>
                <a:latin typeface="Consolas" panose="020B0609020204030204" pitchFamily="49" charset="0"/>
                <a:ea typeface="楷体_GB2312" pitchFamily="49" charset="-122"/>
              </a:rPr>
              <a:t>3.14 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* radius * radius;}</a:t>
            </a:r>
            <a:endParaRPr lang="en-US" altLang="zh-CN" sz="1800">
              <a:latin typeface="Consolas" panose="020B0609020204030204" pitchFamily="49" charset="0"/>
              <a:ea typeface="楷体_GB2312" pitchFamily="49" charset="-122"/>
              <a:cs typeface="+mn-cs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2057400" y="6414602"/>
            <a:ext cx="6219032" cy="349702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</p:spPr>
        <p:txBody>
          <a:bodyPr wrap="square" tIns="36000" rIns="0" bIns="36000">
            <a:spAutoFit/>
          </a:bodyPr>
          <a:lstStyle/>
          <a:p>
            <a:pPr>
              <a:defRPr/>
            </a:pPr>
            <a:r>
              <a:rPr lang="en-US" altLang="zh-CN" sz="1800">
                <a:solidFill>
                  <a:srgbClr val="0070C0"/>
                </a:solidFill>
                <a:latin typeface="Consolas" panose="020B0609020204030204" pitchFamily="49" charset="0"/>
                <a:ea typeface="楷体_GB2312" pitchFamily="49" charset="-122"/>
              </a:rPr>
              <a:t>double </a:t>
            </a:r>
            <a:r>
              <a:rPr lang="en-US" altLang="zh-CN" sz="1800">
                <a:solidFill>
                  <a:srgbClr val="00B050"/>
                </a:solidFill>
                <a:latin typeface="Consolas" panose="020B0609020204030204" pitchFamily="49" charset="0"/>
                <a:ea typeface="楷体_GB2312" pitchFamily="49" charset="-122"/>
              </a:rPr>
              <a:t>getArea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(){</a:t>
            </a:r>
            <a:r>
              <a:rPr lang="en-US" altLang="zh-CN" sz="1800">
                <a:solidFill>
                  <a:srgbClr val="FF3399"/>
                </a:solidFill>
                <a:latin typeface="Consolas" panose="020B0609020204030204" pitchFamily="49" charset="0"/>
                <a:ea typeface="楷体_GB2312" pitchFamily="49" charset="-122"/>
              </a:rPr>
              <a:t>return</a:t>
            </a:r>
            <a:r>
              <a:rPr lang="en-US" altLang="zh-CN" sz="1800">
                <a:solidFill>
                  <a:srgbClr val="0070C0"/>
                </a:solidFill>
                <a:latin typeface="Consolas" panose="020B0609020204030204" pitchFamily="49" charset="0"/>
                <a:ea typeface="楷体_GB2312" pitchFamily="49" charset="-122"/>
              </a:rPr>
              <a:t> 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width * height;}</a:t>
            </a:r>
            <a:endParaRPr lang="en-US" altLang="zh-CN" sz="1800">
              <a:latin typeface="Consolas" panose="020B0609020204030204" pitchFamily="49" charset="0"/>
              <a:ea typeface="楷体_GB2312" pitchFamily="49" charset="-122"/>
              <a:cs typeface="+mn-cs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152400" y="5568543"/>
            <a:ext cx="1904781" cy="338554"/>
          </a:xfrm>
          <a:prstGeom prst="rect">
            <a:avLst/>
          </a:prstGeom>
          <a:solidFill>
            <a:srgbClr val="00B050">
              <a:alpha val="20000"/>
            </a:srgbClr>
          </a:solidFill>
        </p:spPr>
        <p:txBody>
          <a:bodyPr wrap="square">
            <a:spAutoFit/>
          </a:bodyPr>
          <a:lstStyle/>
          <a:p>
            <a:pPr algn="r"/>
            <a:r>
              <a:rPr lang="en-US" altLang="zh-CN" sz="160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GeometricObject.h</a:t>
            </a:r>
            <a:endParaRPr lang="zh-CN" alt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1143000" y="5988132"/>
            <a:ext cx="914181" cy="338554"/>
          </a:xfrm>
          <a:prstGeom prst="rect">
            <a:avLst/>
          </a:prstGeom>
          <a:solidFill>
            <a:srgbClr val="00B050">
              <a:alpha val="20000"/>
            </a:srgbClr>
          </a:solidFill>
        </p:spPr>
        <p:txBody>
          <a:bodyPr wrap="square">
            <a:spAutoFit/>
          </a:bodyPr>
          <a:lstStyle/>
          <a:p>
            <a:pPr algn="r"/>
            <a:r>
              <a:rPr lang="en-US" altLang="zh-CN" sz="160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Circle.h</a:t>
            </a:r>
            <a:endParaRPr lang="zh-CN" alt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761999" y="6421989"/>
            <a:ext cx="1295181" cy="338554"/>
          </a:xfrm>
          <a:prstGeom prst="rect">
            <a:avLst/>
          </a:prstGeom>
          <a:solidFill>
            <a:srgbClr val="00B050">
              <a:alpha val="20000"/>
            </a:srgbClr>
          </a:solidFill>
        </p:spPr>
        <p:txBody>
          <a:bodyPr wrap="square">
            <a:spAutoFit/>
          </a:bodyPr>
          <a:lstStyle/>
          <a:p>
            <a:pPr algn="r"/>
            <a:r>
              <a:rPr lang="en-US" altLang="zh-CN" sz="160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Rectangle.h</a:t>
            </a:r>
            <a:endParaRPr lang="zh-CN" alt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caddf623-44ff-4d28-b91f-b4e20d1b4bed"/>
  <p:tag name="COMMONDATA" val="eyJoZGlkIjoiZjQ2N2Q5MDA2ODkwZTA2YmZkMmJiZDQ5ZDg0NTJjZjgifQ=="/>
</p:tagLst>
</file>

<file path=ppt/theme/theme1.xml><?xml version="1.0" encoding="utf-8"?>
<a:theme xmlns:a="http://schemas.openxmlformats.org/drawingml/2006/main" name="主题1">
  <a:themeElements>
    <a:clrScheme name="117TGp_report_diagram_v2 1">
      <a:dk1>
        <a:srgbClr val="000000"/>
      </a:dk1>
      <a:lt1>
        <a:srgbClr val="FFFFFF"/>
      </a:lt1>
      <a:dk2>
        <a:srgbClr val="000798"/>
      </a:dk2>
      <a:lt2>
        <a:srgbClr val="B2B2B2"/>
      </a:lt2>
      <a:accent1>
        <a:srgbClr val="1B33E7"/>
      </a:accent1>
      <a:accent2>
        <a:srgbClr val="6699FF"/>
      </a:accent2>
      <a:accent3>
        <a:srgbClr val="FFFFFF"/>
      </a:accent3>
      <a:accent4>
        <a:srgbClr val="000000"/>
      </a:accent4>
      <a:accent5>
        <a:srgbClr val="ABADF1"/>
      </a:accent5>
      <a:accent6>
        <a:srgbClr val="5C8AE7"/>
      </a:accent6>
      <a:hlink>
        <a:srgbClr val="99CCFF"/>
      </a:hlink>
      <a:folHlink>
        <a:srgbClr val="3366CC"/>
      </a:folHlink>
    </a:clrScheme>
    <a:fontScheme name="117TGp_report_diagram_v2">
      <a:majorFont>
        <a:latin typeface="Times New Roman"/>
        <a:ea typeface="楷体_GB2312"/>
        <a:cs typeface=""/>
      </a:majorFont>
      <a:minorFont>
        <a:latin typeface="楷体_GB2312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lnDef>
    <a:txDef>
      <a:spPr>
        <a:noFill/>
      </a:spPr>
      <a:bodyPr wrap="square" rtlCol="0">
        <a:spAutoFit/>
      </a:bodyPr>
      <a:lstStyle>
        <a:defPPr algn="l" fontAlgn="base">
          <a:defRPr sz="1200" b="0" i="0" u="none" strike="noStrike" dirty="0">
            <a:effectLst/>
            <a:latin typeface="Consolas" panose="020B0609020204030204" pitchFamily="49" charset="0"/>
          </a:defRPr>
        </a:defPPr>
      </a:lstStyle>
    </a:txDef>
  </a:objectDefaults>
  <a:extraClrSchemeLst>
    <a:extraClrScheme>
      <a:clrScheme name="117TGp_report_diagram_v2 1">
        <a:dk1>
          <a:srgbClr val="000000"/>
        </a:dk1>
        <a:lt1>
          <a:srgbClr val="FFFFFF"/>
        </a:lt1>
        <a:dk2>
          <a:srgbClr val="000798"/>
        </a:dk2>
        <a:lt2>
          <a:srgbClr val="B2B2B2"/>
        </a:lt2>
        <a:accent1>
          <a:srgbClr val="1B33E7"/>
        </a:accent1>
        <a:accent2>
          <a:srgbClr val="6699FF"/>
        </a:accent2>
        <a:accent3>
          <a:srgbClr val="FFFFFF"/>
        </a:accent3>
        <a:accent4>
          <a:srgbClr val="000000"/>
        </a:accent4>
        <a:accent5>
          <a:srgbClr val="ABADF1"/>
        </a:accent5>
        <a:accent6>
          <a:srgbClr val="5C8AE7"/>
        </a:accent6>
        <a:hlink>
          <a:srgbClr val="99CCFF"/>
        </a:hlink>
        <a:folHlink>
          <a:srgbClr val="3366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17TGp_report_diagram_v2 2">
        <a:dk1>
          <a:srgbClr val="000000"/>
        </a:dk1>
        <a:lt1>
          <a:srgbClr val="FFFFFF"/>
        </a:lt1>
        <a:dk2>
          <a:srgbClr val="094332"/>
        </a:dk2>
        <a:lt2>
          <a:srgbClr val="B2B2B2"/>
        </a:lt2>
        <a:accent1>
          <a:srgbClr val="0D6531"/>
        </a:accent1>
        <a:accent2>
          <a:srgbClr val="39AF6E"/>
        </a:accent2>
        <a:accent3>
          <a:srgbClr val="FFFFFF"/>
        </a:accent3>
        <a:accent4>
          <a:srgbClr val="000000"/>
        </a:accent4>
        <a:accent5>
          <a:srgbClr val="AAB8AD"/>
        </a:accent5>
        <a:accent6>
          <a:srgbClr val="339E63"/>
        </a:accent6>
        <a:hlink>
          <a:srgbClr val="93E1A0"/>
        </a:hlink>
        <a:folHlink>
          <a:srgbClr val="1D834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17TGp_report_diagram_v2 3">
        <a:dk1>
          <a:srgbClr val="000000"/>
        </a:dk1>
        <a:lt1>
          <a:srgbClr val="FFFFFF"/>
        </a:lt1>
        <a:dk2>
          <a:srgbClr val="275CA3"/>
        </a:dk2>
        <a:lt2>
          <a:srgbClr val="C0C0C0"/>
        </a:lt2>
        <a:accent1>
          <a:srgbClr val="529EBC"/>
        </a:accent1>
        <a:accent2>
          <a:srgbClr val="55BEE3"/>
        </a:accent2>
        <a:accent3>
          <a:srgbClr val="FFFFFF"/>
        </a:accent3>
        <a:accent4>
          <a:srgbClr val="000000"/>
        </a:accent4>
        <a:accent5>
          <a:srgbClr val="B3CCDA"/>
        </a:accent5>
        <a:accent6>
          <a:srgbClr val="4CACCE"/>
        </a:accent6>
        <a:hlink>
          <a:srgbClr val="9FD4F1"/>
        </a:hlink>
        <a:folHlink>
          <a:srgbClr val="0099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主题1">
  <a:themeElements>
    <a:clrScheme name="117TGp_report_diagram_v2 1">
      <a:dk1>
        <a:srgbClr val="000000"/>
      </a:dk1>
      <a:lt1>
        <a:srgbClr val="FFFFFF"/>
      </a:lt1>
      <a:dk2>
        <a:srgbClr val="000798"/>
      </a:dk2>
      <a:lt2>
        <a:srgbClr val="B2B2B2"/>
      </a:lt2>
      <a:accent1>
        <a:srgbClr val="1B33E7"/>
      </a:accent1>
      <a:accent2>
        <a:srgbClr val="6699FF"/>
      </a:accent2>
      <a:accent3>
        <a:srgbClr val="FFFFFF"/>
      </a:accent3>
      <a:accent4>
        <a:srgbClr val="000000"/>
      </a:accent4>
      <a:accent5>
        <a:srgbClr val="ABADF1"/>
      </a:accent5>
      <a:accent6>
        <a:srgbClr val="5C8AE7"/>
      </a:accent6>
      <a:hlink>
        <a:srgbClr val="99CCFF"/>
      </a:hlink>
      <a:folHlink>
        <a:srgbClr val="3366CC"/>
      </a:folHlink>
    </a:clrScheme>
    <a:fontScheme name="117TGp_report_diagram_v2">
      <a:majorFont>
        <a:latin typeface="Times New Roman"/>
        <a:ea typeface="楷体_GB2312"/>
        <a:cs typeface=""/>
      </a:majorFont>
      <a:minorFont>
        <a:latin typeface="楷体_GB2312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lnDef>
    <a:txDef>
      <a:spPr>
        <a:noFill/>
      </a:spPr>
      <a:bodyPr wrap="square" rtlCol="0">
        <a:spAutoFit/>
      </a:bodyPr>
      <a:lstStyle>
        <a:defPPr algn="l" fontAlgn="base">
          <a:defRPr sz="1200" b="0" i="0" u="none" strike="noStrike" dirty="0">
            <a:effectLst/>
            <a:latin typeface="Consolas" panose="020B0609020204030204" pitchFamily="49" charset="0"/>
          </a:defRPr>
        </a:defPPr>
      </a:lstStyle>
    </a:txDef>
  </a:objectDefaults>
  <a:extraClrSchemeLst>
    <a:extraClrScheme>
      <a:clrScheme name="117TGp_report_diagram_v2 1">
        <a:dk1>
          <a:srgbClr val="000000"/>
        </a:dk1>
        <a:lt1>
          <a:srgbClr val="FFFFFF"/>
        </a:lt1>
        <a:dk2>
          <a:srgbClr val="000798"/>
        </a:dk2>
        <a:lt2>
          <a:srgbClr val="B2B2B2"/>
        </a:lt2>
        <a:accent1>
          <a:srgbClr val="1B33E7"/>
        </a:accent1>
        <a:accent2>
          <a:srgbClr val="6699FF"/>
        </a:accent2>
        <a:accent3>
          <a:srgbClr val="FFFFFF"/>
        </a:accent3>
        <a:accent4>
          <a:srgbClr val="000000"/>
        </a:accent4>
        <a:accent5>
          <a:srgbClr val="ABADF1"/>
        </a:accent5>
        <a:accent6>
          <a:srgbClr val="5C8AE7"/>
        </a:accent6>
        <a:hlink>
          <a:srgbClr val="99CCFF"/>
        </a:hlink>
        <a:folHlink>
          <a:srgbClr val="3366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17TGp_report_diagram_v2 2">
        <a:dk1>
          <a:srgbClr val="000000"/>
        </a:dk1>
        <a:lt1>
          <a:srgbClr val="FFFFFF"/>
        </a:lt1>
        <a:dk2>
          <a:srgbClr val="094332"/>
        </a:dk2>
        <a:lt2>
          <a:srgbClr val="B2B2B2"/>
        </a:lt2>
        <a:accent1>
          <a:srgbClr val="0D6531"/>
        </a:accent1>
        <a:accent2>
          <a:srgbClr val="39AF6E"/>
        </a:accent2>
        <a:accent3>
          <a:srgbClr val="FFFFFF"/>
        </a:accent3>
        <a:accent4>
          <a:srgbClr val="000000"/>
        </a:accent4>
        <a:accent5>
          <a:srgbClr val="AAB8AD"/>
        </a:accent5>
        <a:accent6>
          <a:srgbClr val="339E63"/>
        </a:accent6>
        <a:hlink>
          <a:srgbClr val="93E1A0"/>
        </a:hlink>
        <a:folHlink>
          <a:srgbClr val="1D834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17TGp_report_diagram_v2 3">
        <a:dk1>
          <a:srgbClr val="000000"/>
        </a:dk1>
        <a:lt1>
          <a:srgbClr val="FFFFFF"/>
        </a:lt1>
        <a:dk2>
          <a:srgbClr val="275CA3"/>
        </a:dk2>
        <a:lt2>
          <a:srgbClr val="C0C0C0"/>
        </a:lt2>
        <a:accent1>
          <a:srgbClr val="529EBC"/>
        </a:accent1>
        <a:accent2>
          <a:srgbClr val="55BEE3"/>
        </a:accent2>
        <a:accent3>
          <a:srgbClr val="FFFFFF"/>
        </a:accent3>
        <a:accent4>
          <a:srgbClr val="000000"/>
        </a:accent4>
        <a:accent5>
          <a:srgbClr val="B3CCDA"/>
        </a:accent5>
        <a:accent6>
          <a:srgbClr val="4CACCE"/>
        </a:accent6>
        <a:hlink>
          <a:srgbClr val="9FD4F1"/>
        </a:hlink>
        <a:folHlink>
          <a:srgbClr val="0099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2013 - 2022 主题">
  <a:themeElements>
    <a:clrScheme name="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2013 -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</TotalTime>
  <Words>2284</Words>
  <Application>Microsoft Macintosh PowerPoint</Application>
  <PresentationFormat>全屏显示(4:3)</PresentationFormat>
  <Paragraphs>428</Paragraphs>
  <Slides>28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28</vt:i4>
      </vt:variant>
      <vt:variant>
        <vt:lpstr>自定义放映</vt:lpstr>
      </vt:variant>
      <vt:variant>
        <vt:i4>1</vt:i4>
      </vt:variant>
    </vt:vector>
  </HeadingPairs>
  <TitlesOfParts>
    <vt:vector size="43" baseType="lpstr">
      <vt:lpstr>黑体</vt:lpstr>
      <vt:lpstr>KaiTi</vt:lpstr>
      <vt:lpstr>KaiTi</vt:lpstr>
      <vt:lpstr>楷体_GB2312</vt:lpstr>
      <vt:lpstr>宋体</vt:lpstr>
      <vt:lpstr>微软雅黑</vt:lpstr>
      <vt:lpstr>Arial</vt:lpstr>
      <vt:lpstr>Consolas</vt:lpstr>
      <vt:lpstr>Lucida Sans Unicode</vt:lpstr>
      <vt:lpstr>Times New Roman</vt:lpstr>
      <vt:lpstr>Verdana</vt:lpstr>
      <vt:lpstr>Wingdings</vt:lpstr>
      <vt:lpstr>主题1</vt:lpstr>
      <vt:lpstr>1_主题1</vt:lpstr>
      <vt:lpstr>程序设计原理</vt:lpstr>
      <vt:lpstr>review</vt:lpstr>
      <vt:lpstr>Objectives</vt:lpstr>
      <vt:lpstr>outline</vt:lpstr>
      <vt:lpstr>1. Base Classes and  Derived Classes</vt:lpstr>
      <vt:lpstr>introduction</vt:lpstr>
      <vt:lpstr>Base Classes and Derived Classes</vt:lpstr>
      <vt:lpstr>Base Classes and Derived Classes</vt:lpstr>
      <vt:lpstr>Base Classes and Derived Classes</vt:lpstr>
      <vt:lpstr>The protected Keyword</vt:lpstr>
      <vt:lpstr>Base Classes and Derived Classes</vt:lpstr>
      <vt:lpstr>Generic Programming</vt:lpstr>
      <vt:lpstr>2. Constructors and Destructors</vt:lpstr>
      <vt:lpstr>Destructors</vt:lpstr>
      <vt:lpstr>Constructors and Destructors</vt:lpstr>
      <vt:lpstr>Constructors and Destructors</vt:lpstr>
      <vt:lpstr>Constructors and Destructors</vt:lpstr>
      <vt:lpstr>Constructors and Destructors</vt:lpstr>
      <vt:lpstr>3. Redefining Functions and Polymorphism </vt:lpstr>
      <vt:lpstr>Redefining Functions</vt:lpstr>
      <vt:lpstr>Polymorphism</vt:lpstr>
      <vt:lpstr>4. Virtual functions and  Dynamic Binding </vt:lpstr>
      <vt:lpstr>Virtual Functions and Dynamic Binding</vt:lpstr>
      <vt:lpstr>Virtual Functions and Dynamic Binding</vt:lpstr>
      <vt:lpstr>5. Abstract Classes and  Pure Virtual Functions </vt:lpstr>
      <vt:lpstr>Abstract Classes and Pure Virtual Functions</vt:lpstr>
      <vt:lpstr>Abstract Classes and Pure Virtual Functions</vt:lpstr>
      <vt:lpstr>Abstract Classes and Pure Virtual Functions</vt:lpstr>
      <vt:lpstr>Custom Show 1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4 Methods</dc:title>
  <dc:creator>Y. Daniel Liang</dc:creator>
  <cp:lastModifiedBy>一隆 范</cp:lastModifiedBy>
  <cp:revision>429</cp:revision>
  <dcterms:created xsi:type="dcterms:W3CDTF">1995-06-10T17:31:50Z</dcterms:created>
  <dcterms:modified xsi:type="dcterms:W3CDTF">2024-11-20T10:48:50Z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4A38E43AE89040F1A98938C1D6CFE439</vt:lpwstr>
  </property>
  <property fmtid="{D5CDD505-2E9C-101B-9397-08002B2CF9AE}" pid="3" name="KSOProductBuildVer">
    <vt:lpwstr>2052-11.1.0.12598</vt:lpwstr>
  </property>
</Properties>
</file>