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739" r:id="rId2"/>
    <p:sldId id="716" r:id="rId3"/>
    <p:sldId id="717" r:id="rId4"/>
    <p:sldId id="718" r:id="rId5"/>
    <p:sldId id="719" r:id="rId6"/>
    <p:sldId id="720" r:id="rId7"/>
    <p:sldId id="721" r:id="rId8"/>
    <p:sldId id="722" r:id="rId9"/>
    <p:sldId id="723" r:id="rId10"/>
    <p:sldId id="724" r:id="rId11"/>
    <p:sldId id="725" r:id="rId12"/>
    <p:sldId id="726" r:id="rId13"/>
    <p:sldId id="727" r:id="rId14"/>
    <p:sldId id="728" r:id="rId15"/>
    <p:sldId id="729" r:id="rId16"/>
    <p:sldId id="730" r:id="rId17"/>
    <p:sldId id="731" r:id="rId18"/>
    <p:sldId id="732" r:id="rId19"/>
    <p:sldId id="733" r:id="rId20"/>
    <p:sldId id="734" r:id="rId21"/>
    <p:sldId id="735" r:id="rId22"/>
    <p:sldId id="736" r:id="rId23"/>
    <p:sldId id="737" r:id="rId24"/>
    <p:sldId id="738" r:id="rId25"/>
    <p:sldId id="558" r:id="rId26"/>
    <p:sldId id="559" r:id="rId27"/>
    <p:sldId id="740" r:id="rId28"/>
    <p:sldId id="741" r:id="rId29"/>
    <p:sldId id="742" r:id="rId30"/>
    <p:sldId id="743" r:id="rId31"/>
    <p:sldId id="744" r:id="rId32"/>
  </p:sldIdLst>
  <p:sldSz cx="9144000" cy="6858000" type="screen4x3"/>
  <p:notesSz cx="6858000" cy="9144000"/>
  <p:custShowLst>
    <p:custShow name="Custom Show 1" id="0">
      <p:sldLst/>
    </p:custShow>
  </p:custShowLst>
  <p:custDataLst>
    <p:tags r:id="rId34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508"/>
    <p:restoredTop sz="90929"/>
  </p:normalViewPr>
  <p:slideViewPr>
    <p:cSldViewPr showGuides="1">
      <p:cViewPr varScale="1">
        <p:scale>
          <a:sx n="128" d="100"/>
          <a:sy n="128" d="100"/>
        </p:scale>
        <p:origin x="1264" y="176"/>
      </p:cViewPr>
      <p:guideLst>
        <p:guide orient="horz" pos="864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2</a:t>
            </a:fld>
            <a:endParaRPr lang="en-US" altLang="zh-CN"/>
          </a:p>
        </p:txBody>
      </p:sp>
      <p:sp>
        <p:nvSpPr>
          <p:cNvPr id="7782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77827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3</a:t>
            </a:fld>
            <a:endParaRPr lang="en-US" altLang="zh-CN"/>
          </a:p>
        </p:txBody>
      </p:sp>
      <p:sp>
        <p:nvSpPr>
          <p:cNvPr id="7987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79875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4</a:t>
            </a:fld>
            <a:endParaRPr lang="en-US" altLang="zh-CN"/>
          </a:p>
        </p:txBody>
      </p:sp>
      <p:sp>
        <p:nvSpPr>
          <p:cNvPr id="819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81923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5</a:t>
            </a:fld>
            <a:endParaRPr lang="en-US" altLang="zh-CN"/>
          </a:p>
        </p:txBody>
      </p:sp>
      <p:sp>
        <p:nvSpPr>
          <p:cNvPr id="8397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8397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6</a:t>
            </a:fld>
            <a:endParaRPr lang="en-US" altLang="zh-CN"/>
          </a:p>
        </p:txBody>
      </p:sp>
      <p:sp>
        <p:nvSpPr>
          <p:cNvPr id="8601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86019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8</a:t>
            </a:fld>
            <a:endParaRPr lang="en-US" altLang="zh-CN"/>
          </a:p>
        </p:txBody>
      </p:sp>
      <p:sp>
        <p:nvSpPr>
          <p:cNvPr id="8909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8909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9</a:t>
            </a:fld>
            <a:endParaRPr lang="en-US" altLang="zh-CN"/>
          </a:p>
        </p:txBody>
      </p:sp>
      <p:sp>
        <p:nvSpPr>
          <p:cNvPr id="9113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91139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10</a:t>
            </a:fld>
            <a:endParaRPr lang="en-US" altLang="zh-CN"/>
          </a:p>
        </p:txBody>
      </p:sp>
      <p:sp>
        <p:nvSpPr>
          <p:cNvPr id="9318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93187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11</a:t>
            </a:fld>
            <a:endParaRPr lang="en-US" altLang="zh-CN"/>
          </a:p>
        </p:txBody>
      </p:sp>
      <p:sp>
        <p:nvSpPr>
          <p:cNvPr id="9523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95235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12</a:t>
            </a:fld>
            <a:endParaRPr lang="en-US" altLang="zh-CN"/>
          </a:p>
        </p:txBody>
      </p:sp>
      <p:sp>
        <p:nvSpPr>
          <p:cNvPr id="9728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97283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13</a:t>
            </a:fld>
            <a:endParaRPr lang="en-US" altLang="zh-CN"/>
          </a:p>
        </p:txBody>
      </p:sp>
      <p:sp>
        <p:nvSpPr>
          <p:cNvPr id="9933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9933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14</a:t>
            </a:fld>
            <a:endParaRPr lang="en-US" altLang="zh-CN"/>
          </a:p>
        </p:txBody>
      </p:sp>
      <p:sp>
        <p:nvSpPr>
          <p:cNvPr id="10137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01379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15</a:t>
            </a:fld>
            <a:endParaRPr lang="en-US" altLang="zh-CN"/>
          </a:p>
        </p:txBody>
      </p:sp>
      <p:sp>
        <p:nvSpPr>
          <p:cNvPr id="10342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03427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16</a:t>
            </a:fld>
            <a:endParaRPr lang="en-US" altLang="zh-CN"/>
          </a:p>
        </p:txBody>
      </p:sp>
      <p:sp>
        <p:nvSpPr>
          <p:cNvPr id="10547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05475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17</a:t>
            </a:fld>
            <a:endParaRPr lang="en-US" altLang="zh-CN"/>
          </a:p>
        </p:txBody>
      </p:sp>
      <p:sp>
        <p:nvSpPr>
          <p:cNvPr id="1075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07523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18</a:t>
            </a:fld>
            <a:endParaRPr lang="en-US" altLang="zh-CN"/>
          </a:p>
        </p:txBody>
      </p:sp>
      <p:sp>
        <p:nvSpPr>
          <p:cNvPr id="10957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0957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19</a:t>
            </a:fld>
            <a:endParaRPr lang="en-US" altLang="zh-CN"/>
          </a:p>
        </p:txBody>
      </p:sp>
      <p:sp>
        <p:nvSpPr>
          <p:cNvPr id="11161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11619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20</a:t>
            </a:fld>
            <a:endParaRPr lang="en-US" altLang="zh-CN"/>
          </a:p>
        </p:txBody>
      </p:sp>
      <p:sp>
        <p:nvSpPr>
          <p:cNvPr id="11366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13667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21</a:t>
            </a:fld>
            <a:endParaRPr lang="en-US" altLang="zh-CN"/>
          </a:p>
        </p:txBody>
      </p:sp>
      <p:sp>
        <p:nvSpPr>
          <p:cNvPr id="11571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15715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22</a:t>
            </a:fld>
            <a:endParaRPr lang="en-US" altLang="zh-CN"/>
          </a:p>
        </p:txBody>
      </p:sp>
      <p:sp>
        <p:nvSpPr>
          <p:cNvPr id="11776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17763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23</a:t>
            </a:fld>
            <a:endParaRPr lang="en-US" altLang="zh-CN"/>
          </a:p>
        </p:txBody>
      </p:sp>
      <p:sp>
        <p:nvSpPr>
          <p:cNvPr id="11981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1981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24</a:t>
            </a:fld>
            <a:endParaRPr lang="en-US" altLang="zh-CN"/>
          </a:p>
        </p:txBody>
      </p:sp>
      <p:sp>
        <p:nvSpPr>
          <p:cNvPr id="12185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21859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94" name="Group 29"/>
          <p:cNvGrpSpPr/>
          <p:nvPr/>
        </p:nvGrpSpPr>
        <p:grpSpPr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13" name="Rectangle 18"/>
            <p:cNvSpPr>
              <a:spLocks noChangeArrowheads="1"/>
            </p:cNvSpPr>
            <p:nvPr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4" name="Rectangle 28"/>
            <p:cNvSpPr>
              <a:spLocks noChangeArrowheads="1"/>
            </p:cNvSpPr>
            <p:nvPr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5" name="Rectangle 17"/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gray">
          <a:xfrm>
            <a:off x="573088" y="2520950"/>
            <a:ext cx="576263" cy="64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gray">
          <a:xfrm>
            <a:off x="1716088" y="628650"/>
            <a:ext cx="566738" cy="63658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gray">
          <a:xfrm>
            <a:off x="2278063" y="0"/>
            <a:ext cx="585788" cy="635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gray">
          <a:xfrm>
            <a:off x="2281238" y="628650"/>
            <a:ext cx="585788" cy="63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gray">
          <a:xfrm>
            <a:off x="1716088" y="1263650"/>
            <a:ext cx="566738" cy="62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gray">
          <a:xfrm>
            <a:off x="573088" y="1885950"/>
            <a:ext cx="576263" cy="64452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gray">
          <a:xfrm>
            <a:off x="1141413" y="1885950"/>
            <a:ext cx="576263" cy="64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4" name="Rectangle 27"/>
          <p:cNvSpPr>
            <a:spLocks noChangeArrowheads="1"/>
          </p:cNvSpPr>
          <p:nvPr/>
        </p:nvSpPr>
        <p:spPr bwMode="gray">
          <a:xfrm>
            <a:off x="0" y="2528888"/>
            <a:ext cx="574675" cy="6334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36205" name="Picture 30" descr="http://www.tju.edu.cn/yx/images/badge.g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4400" i="1">
                <a:latin typeface="Verdan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8294088" y="0"/>
            <a:ext cx="849913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32563"/>
            <a:ext cx="511175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841DF7-F00D-8219-C06F-F3F197DC06D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94088" y="0"/>
            <a:ext cx="849913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D1D62D-0F30-0672-A468-BEA1B38BE3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94088" y="0"/>
            <a:ext cx="849913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6C2C9C-D111-E155-6B99-A1D86936B6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94088" y="0"/>
            <a:ext cx="849913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A0CAC9-89DB-A4F1-F2E3-6BA4C4DB73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94088" y="0"/>
            <a:ext cx="849913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229E1A-9300-C2AA-AC4F-42745E5B0B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94088" y="0"/>
            <a:ext cx="849913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25247A-C191-EBC2-6007-D6CEC1DD3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94088" y="0"/>
            <a:ext cx="849913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700F75-60EC-9A51-4DD1-2D69D24DA1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94088" y="0"/>
            <a:ext cx="849913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3CE0CD-1081-F274-3228-ABB0132181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94088" y="0"/>
            <a:ext cx="849913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457200"/>
            <a:ext cx="2057400" cy="5916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457200"/>
            <a:ext cx="6019800" cy="5916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0D4ADB-7216-7248-D200-ACD369ED11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94088" y="0"/>
            <a:ext cx="849913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457200"/>
            <a:ext cx="8229600" cy="5916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F214F2-FD7D-F73D-D745-2DC5A5C8E14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94088" y="0"/>
            <a:ext cx="849913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</p:spTree>
  </p:cSld>
  <p:clrMapOvr>
    <a:masterClrMapping/>
  </p:clrMapOvr>
  <p:transition>
    <p:fade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NULL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gray">
          <a:xfrm>
            <a:off x="655638" y="360363"/>
            <a:ext cx="8497888" cy="719138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395288" y="1125538"/>
            <a:ext cx="8229600" cy="52482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600">
                <a:latin typeface="Lucida Sans Unicode" panose="020B0602030504020204" pitchFamily="3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9" name="Rectangle 2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Rectangle 24"/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gray">
          <a:xfrm>
            <a:off x="328613" y="35718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2" name="Rectangle 26"/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3" name="Rectangle 28"/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4" name="Rectangle 29"/>
          <p:cNvSpPr>
            <a:spLocks noChangeArrowheads="1"/>
          </p:cNvSpPr>
          <p:nvPr/>
        </p:nvSpPr>
        <p:spPr bwMode="gray">
          <a:xfrm>
            <a:off x="328613" y="719138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035" name="Picture 31" descr="http://www.tju.edu.cn/yx/images/badge.gif"/>
          <p:cNvPicPr>
            <a:picLocks noChangeAspect="1"/>
          </p:cNvPicPr>
          <p:nvPr/>
        </p:nvPicPr>
        <p:blipFill>
          <a:blip r:embed="rId14" r:link="rId15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Font typeface="Wingdings" panose="05000000000000000000" pitchFamily="2" charset="2"/>
        <a:buChar char="Ø"/>
        <a:defRPr sz="2800" b="1">
          <a:solidFill>
            <a:srgbClr val="000099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800" b="1">
          <a:solidFill>
            <a:srgbClr val="000099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Char char="•"/>
        <a:defRPr sz="2400" b="1">
          <a:solidFill>
            <a:srgbClr val="000099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99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  <a:cs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/>
          <p:cNvSpPr>
            <a:spLocks noGrp="1"/>
          </p:cNvSpPr>
          <p:nvPr>
            <p:ph type="ctrTitle"/>
          </p:nvPr>
        </p:nvSpPr>
        <p:spPr>
          <a:xfrm>
            <a:off x="609600" y="2209800"/>
            <a:ext cx="8229600" cy="1066800"/>
          </a:xfrm>
          <a:ln/>
        </p:spPr>
        <p:txBody>
          <a:bodyPr vert="horz" wrap="square" lIns="91440" tIns="45720" rIns="91440" bIns="45720" anchor="ctr" anchorCtr="0"/>
          <a:lstStyle/>
          <a:p>
            <a:pPr>
              <a:buClrTx/>
              <a:buSzTx/>
              <a:buFontTx/>
            </a:pPr>
            <a:r>
              <a:rPr lang="zh-CN" altLang="en-US" sz="4800"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程序设计原理</a:t>
            </a:r>
          </a:p>
        </p:txBody>
      </p:sp>
      <p:sp>
        <p:nvSpPr>
          <p:cNvPr id="16387" name="文本框 1"/>
          <p:cNvSpPr txBox="1"/>
          <p:nvPr/>
        </p:nvSpPr>
        <p:spPr>
          <a:xfrm>
            <a:off x="4096667" y="3198813"/>
            <a:ext cx="1255473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55D43A-5F6A-F739-4EE4-EF748EE6A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267200"/>
            <a:ext cx="3657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任课教师： 喻  梅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于瑞国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王建荣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李雪威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赵满坤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Oval 2"/>
          <p:cNvSpPr/>
          <p:nvPr/>
        </p:nvSpPr>
        <p:spPr>
          <a:xfrm>
            <a:off x="5632450" y="2817813"/>
            <a:ext cx="3429000" cy="2286000"/>
          </a:xfrm>
          <a:prstGeom prst="ellipse">
            <a:avLst/>
          </a:pr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757238" y="836613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C++  Data Types</a:t>
            </a:r>
          </a:p>
        </p:txBody>
      </p:sp>
      <p:sp>
        <p:nvSpPr>
          <p:cNvPr id="76804" name="Line 4"/>
          <p:cNvSpPr/>
          <p:nvPr/>
        </p:nvSpPr>
        <p:spPr>
          <a:xfrm flipH="1">
            <a:off x="2376488" y="2055813"/>
            <a:ext cx="1046162" cy="952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805" name="Line 5"/>
          <p:cNvSpPr/>
          <p:nvPr/>
        </p:nvSpPr>
        <p:spPr>
          <a:xfrm>
            <a:off x="4851400" y="1979613"/>
            <a:ext cx="1220788" cy="3657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806" name="Line 6"/>
          <p:cNvSpPr/>
          <p:nvPr/>
        </p:nvSpPr>
        <p:spPr>
          <a:xfrm>
            <a:off x="6127750" y="1998663"/>
            <a:ext cx="1303338" cy="10287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807" name="Rectangle 7"/>
          <p:cNvSpPr/>
          <p:nvPr/>
        </p:nvSpPr>
        <p:spPr>
          <a:xfrm>
            <a:off x="6683375" y="2916238"/>
            <a:ext cx="16922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structured</a:t>
            </a:r>
            <a:endParaRPr lang="en-US" altLang="zh-CN" sz="2400" b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08" name="Rectangle 8"/>
          <p:cNvSpPr/>
          <p:nvPr/>
        </p:nvSpPr>
        <p:spPr>
          <a:xfrm>
            <a:off x="5664200" y="3952875"/>
            <a:ext cx="3465513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array   struct   union   </a:t>
            </a:r>
            <a:r>
              <a:rPr lang="en-US" altLang="zh-CN" sz="2400" b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class</a:t>
            </a:r>
          </a:p>
        </p:txBody>
      </p:sp>
      <p:grpSp>
        <p:nvGrpSpPr>
          <p:cNvPr id="76809" name="Group 9"/>
          <p:cNvGrpSpPr/>
          <p:nvPr/>
        </p:nvGrpSpPr>
        <p:grpSpPr>
          <a:xfrm>
            <a:off x="6326188" y="3332163"/>
            <a:ext cx="2362200" cy="704850"/>
            <a:chOff x="3917" y="1980"/>
            <a:chExt cx="1488" cy="444"/>
          </a:xfrm>
        </p:grpSpPr>
        <p:sp>
          <p:nvSpPr>
            <p:cNvPr id="76833" name="Line 10"/>
            <p:cNvSpPr/>
            <p:nvPr/>
          </p:nvSpPr>
          <p:spPr>
            <a:xfrm>
              <a:off x="4973" y="1980"/>
              <a:ext cx="432" cy="4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6834" name="Line 11"/>
            <p:cNvSpPr/>
            <p:nvPr/>
          </p:nvSpPr>
          <p:spPr>
            <a:xfrm>
              <a:off x="4829" y="1980"/>
              <a:ext cx="96" cy="4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6835" name="Line 12"/>
            <p:cNvSpPr/>
            <p:nvPr/>
          </p:nvSpPr>
          <p:spPr>
            <a:xfrm flipH="1">
              <a:off x="4409" y="1980"/>
              <a:ext cx="228" cy="4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6836" name="Line 13"/>
            <p:cNvSpPr/>
            <p:nvPr/>
          </p:nvSpPr>
          <p:spPr>
            <a:xfrm flipH="1">
              <a:off x="3917" y="1980"/>
              <a:ext cx="432" cy="4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76810" name="Group 14"/>
          <p:cNvGrpSpPr/>
          <p:nvPr/>
        </p:nvGrpSpPr>
        <p:grpSpPr>
          <a:xfrm>
            <a:off x="5313363" y="5583238"/>
            <a:ext cx="2466975" cy="1281112"/>
            <a:chOff x="3351" y="3398"/>
            <a:chExt cx="1554" cy="807"/>
          </a:xfrm>
        </p:grpSpPr>
        <p:sp>
          <p:nvSpPr>
            <p:cNvPr id="76829" name="Rectangle 15"/>
            <p:cNvSpPr/>
            <p:nvPr/>
          </p:nvSpPr>
          <p:spPr>
            <a:xfrm>
              <a:off x="3591" y="3398"/>
              <a:ext cx="9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Font typeface="Wingdings" panose="05000000000000000000" pitchFamily="2" charset="2"/>
                <a:buChar char="Ø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l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Char char="•"/>
                <a:defRPr sz="24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400" b="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76830" name="Line 16"/>
            <p:cNvSpPr/>
            <p:nvPr/>
          </p:nvSpPr>
          <p:spPr>
            <a:xfrm flipH="1">
              <a:off x="3553" y="3648"/>
              <a:ext cx="288" cy="3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6831" name="Line 17"/>
            <p:cNvSpPr/>
            <p:nvPr/>
          </p:nvSpPr>
          <p:spPr>
            <a:xfrm>
              <a:off x="4177" y="3648"/>
              <a:ext cx="336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6832" name="Rectangle 18"/>
            <p:cNvSpPr/>
            <p:nvPr/>
          </p:nvSpPr>
          <p:spPr>
            <a:xfrm>
              <a:off x="3351" y="3955"/>
              <a:ext cx="155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Font typeface="Wingdings" panose="05000000000000000000" pitchFamily="2" charset="2"/>
                <a:buChar char="Ø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l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Char char="•"/>
                <a:defRPr sz="24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pointer    reference</a:t>
              </a:r>
            </a:p>
          </p:txBody>
        </p:sp>
      </p:grpSp>
      <p:sp>
        <p:nvSpPr>
          <p:cNvPr id="76811" name="Rectangle 19"/>
          <p:cNvSpPr/>
          <p:nvPr/>
        </p:nvSpPr>
        <p:spPr>
          <a:xfrm>
            <a:off x="1731963" y="2916238"/>
            <a:ext cx="1149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simple</a:t>
            </a:r>
            <a:endParaRPr lang="en-US" altLang="zh-CN" sz="2400" b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12" name="Line 20"/>
          <p:cNvSpPr/>
          <p:nvPr/>
        </p:nvSpPr>
        <p:spPr>
          <a:xfrm flipH="1">
            <a:off x="1214438" y="3313113"/>
            <a:ext cx="762000" cy="685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813" name="Line 21"/>
          <p:cNvSpPr/>
          <p:nvPr/>
        </p:nvSpPr>
        <p:spPr>
          <a:xfrm>
            <a:off x="2586038" y="3313113"/>
            <a:ext cx="1447800" cy="685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814" name="Rectangle 22"/>
          <p:cNvSpPr/>
          <p:nvPr/>
        </p:nvSpPr>
        <p:spPr>
          <a:xfrm>
            <a:off x="665163" y="3952875"/>
            <a:ext cx="2686050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integral            </a:t>
            </a: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enum</a:t>
            </a:r>
          </a:p>
        </p:txBody>
      </p:sp>
      <p:sp>
        <p:nvSpPr>
          <p:cNvPr id="76815" name="Rectangle 23"/>
          <p:cNvSpPr/>
          <p:nvPr/>
        </p:nvSpPr>
        <p:spPr>
          <a:xfrm>
            <a:off x="-4762" y="4867275"/>
            <a:ext cx="3367087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</a:t>
            </a:r>
            <a:r>
              <a:rPr lang="en-US" altLang="zh-CN" sz="2400" b="0">
                <a:solidFill>
                  <a:srgbClr val="99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short   int  long  bool</a:t>
            </a:r>
          </a:p>
        </p:txBody>
      </p:sp>
      <p:sp>
        <p:nvSpPr>
          <p:cNvPr id="76816" name="Line 24"/>
          <p:cNvSpPr/>
          <p:nvPr/>
        </p:nvSpPr>
        <p:spPr>
          <a:xfrm flipH="1">
            <a:off x="604838" y="4303713"/>
            <a:ext cx="381000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817" name="Line 25"/>
          <p:cNvSpPr/>
          <p:nvPr/>
        </p:nvSpPr>
        <p:spPr>
          <a:xfrm flipH="1">
            <a:off x="1062038" y="4303713"/>
            <a:ext cx="76200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818" name="Line 26"/>
          <p:cNvSpPr/>
          <p:nvPr/>
        </p:nvSpPr>
        <p:spPr>
          <a:xfrm>
            <a:off x="1366838" y="4303713"/>
            <a:ext cx="304800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819" name="Line 27"/>
          <p:cNvSpPr/>
          <p:nvPr/>
        </p:nvSpPr>
        <p:spPr>
          <a:xfrm>
            <a:off x="1595438" y="4303713"/>
            <a:ext cx="685800" cy="609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6820" name="Group 28"/>
          <p:cNvGrpSpPr/>
          <p:nvPr/>
        </p:nvGrpSpPr>
        <p:grpSpPr>
          <a:xfrm>
            <a:off x="2398713" y="3952875"/>
            <a:ext cx="3341687" cy="2168525"/>
            <a:chOff x="1467" y="2371"/>
            <a:chExt cx="2105" cy="1366"/>
          </a:xfrm>
        </p:grpSpPr>
        <p:sp>
          <p:nvSpPr>
            <p:cNvPr id="76824" name="Rectangle 29"/>
            <p:cNvSpPr/>
            <p:nvPr/>
          </p:nvSpPr>
          <p:spPr>
            <a:xfrm>
              <a:off x="2343" y="2371"/>
              <a:ext cx="69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Font typeface="Wingdings" panose="05000000000000000000" pitchFamily="2" charset="2"/>
                <a:buChar char="Ø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l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Char char="•"/>
                <a:defRPr sz="24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floating</a:t>
              </a:r>
            </a:p>
          </p:txBody>
        </p:sp>
        <p:sp>
          <p:nvSpPr>
            <p:cNvPr id="76825" name="Rectangle 30"/>
            <p:cNvSpPr/>
            <p:nvPr/>
          </p:nvSpPr>
          <p:spPr>
            <a:xfrm>
              <a:off x="1467" y="3487"/>
              <a:ext cx="21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Font typeface="Wingdings" panose="05000000000000000000" pitchFamily="2" charset="2"/>
                <a:buChar char="Ø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l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Char char="•"/>
                <a:defRPr sz="24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float  double   long double</a:t>
              </a:r>
            </a:p>
          </p:txBody>
        </p:sp>
        <p:sp>
          <p:nvSpPr>
            <p:cNvPr id="76826" name="Line 31"/>
            <p:cNvSpPr/>
            <p:nvPr/>
          </p:nvSpPr>
          <p:spPr>
            <a:xfrm flipH="1">
              <a:off x="1777" y="2592"/>
              <a:ext cx="960" cy="9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6827" name="Line 32"/>
            <p:cNvSpPr/>
            <p:nvPr/>
          </p:nvSpPr>
          <p:spPr>
            <a:xfrm>
              <a:off x="2833" y="2592"/>
              <a:ext cx="96" cy="9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6828" name="Line 33"/>
            <p:cNvSpPr/>
            <p:nvPr/>
          </p:nvSpPr>
          <p:spPr>
            <a:xfrm flipH="1">
              <a:off x="2209" y="2592"/>
              <a:ext cx="576" cy="9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76821" name="Line 34"/>
          <p:cNvSpPr/>
          <p:nvPr/>
        </p:nvSpPr>
        <p:spPr>
          <a:xfrm>
            <a:off x="1747838" y="4303713"/>
            <a:ext cx="121920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822" name="Line 35"/>
          <p:cNvSpPr/>
          <p:nvPr/>
        </p:nvSpPr>
        <p:spPr>
          <a:xfrm>
            <a:off x="2260600" y="3313113"/>
            <a:ext cx="495300" cy="7429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823" name="灯片编号占位符 3"/>
          <p:cNvSpPr txBox="1"/>
          <p:nvPr/>
        </p:nvSpPr>
        <p:spPr>
          <a:xfrm>
            <a:off x="8624888" y="6532563"/>
            <a:ext cx="511175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71684" name="Rectangle 3"/>
          <p:cNvSpPr>
            <a:spLocks noGrp="1" noChangeArrowheads="1"/>
          </p:cNvSpPr>
          <p:nvPr>
            <p:ph idx="1"/>
          </p:nvPr>
        </p:nvSpPr>
        <p:spPr>
          <a:xfrm>
            <a:off x="423863" y="1739900"/>
            <a:ext cx="8334375" cy="43005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Facilitates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re-use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of C++ code for an ADT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Software that uses the class is called 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client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Variables of the class type are called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class objects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or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class instances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Client code uses class’s public member functions to manipulate class objects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A0B402-2325-DDC4-4711-33F3BF6D8E4E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C++ </a:t>
            </a:r>
            <a:r>
              <a:rPr lang="en-US" altLang="zh-CN" dirty="0" err="1">
                <a:ea typeface="宋体" panose="02010600030101010101" pitchFamily="2" charset="-122"/>
              </a:rPr>
              <a:t>classType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80898" name="Rectangle 2"/>
          <p:cNvSpPr/>
          <p:nvPr/>
        </p:nvSpPr>
        <p:spPr>
          <a:xfrm>
            <a:off x="228600" y="1524000"/>
            <a:ext cx="8610600" cy="5067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0" name="Rectangle 4"/>
          <p:cNvSpPr>
            <a:spLocks noGrp="1"/>
          </p:cNvSpPr>
          <p:nvPr>
            <p:ph idx="1"/>
          </p:nvPr>
        </p:nvSpPr>
        <p:spPr>
          <a:xfrm>
            <a:off x="381000" y="1524000"/>
            <a:ext cx="8534400" cy="5053013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#include   “time.h”   </a:t>
            </a:r>
            <a:r>
              <a:rPr lang="en-US" altLang="zh-CN" sz="18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Includes specification of the class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using  namespace  std;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18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int  main ()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  Time  currentTime; </a:t>
            </a:r>
            <a:r>
              <a:rPr lang="en-US" altLang="zh-CN" sz="18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Declares two objects of Time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  Time  endTime;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  bool  done  =  false;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18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  currentTime.Set (5, 30, 0);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  endTime.Set (18, 30, 0);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  while  (! done)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  {	.  .  .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18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      currentTime.Increment ();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		 if  (currentTime.Equal (endTime))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	         done  =  true;      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  };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}</a:t>
            </a:r>
            <a:r>
              <a:rPr lang="en-US" altLang="zh-CN" sz="2000">
                <a:solidFill>
                  <a:schemeClr val="folHlink"/>
                </a:solidFill>
                <a:latin typeface="Courier" charset="0"/>
                <a:ea typeface="宋体" panose="02010600030101010101" pitchFamily="2" charset="-122"/>
              </a:rPr>
              <a:t>	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EBADF9D-7C1A-6BA0-C129-BE13795857A0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Client Code Using Time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5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75780" name="Rectangle 3"/>
          <p:cNvSpPr>
            <a:spLocks noGrp="1" noChangeArrowheads="1"/>
          </p:cNvSpPr>
          <p:nvPr>
            <p:ph idx="1"/>
          </p:nvPr>
        </p:nvSpPr>
        <p:spPr>
          <a:xfrm>
            <a:off x="584200" y="1739900"/>
            <a:ext cx="8308975" cy="42243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The class declaration creates a data type and names the members of the class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It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does not allocate memory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for any variables  of that type!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Client code still needs to declare class variables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5FC6918-7CCF-5303-D93D-A928C0D4FC4D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class type Declaration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6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84995" name="Rectangle 3"/>
          <p:cNvSpPr>
            <a:spLocks noGrp="1"/>
          </p:cNvSpPr>
          <p:nvPr>
            <p:ph idx="1"/>
          </p:nvPr>
        </p:nvSpPr>
        <p:spPr>
          <a:xfrm>
            <a:off x="633413" y="1897063"/>
            <a:ext cx="7977187" cy="4046537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ea typeface="宋体" panose="02010600030101010101" pitchFamily="2" charset="-122"/>
              </a:rPr>
              <a:t>Two kinds of class members:  					</a:t>
            </a:r>
            <a:r>
              <a:rPr lang="en-US" altLang="zh-CN" sz="2400">
                <a:solidFill>
                  <a:srgbClr val="990000"/>
                </a:solidFill>
                <a:ea typeface="宋体" panose="02010600030101010101" pitchFamily="2" charset="-122"/>
              </a:rPr>
              <a:t>data members</a:t>
            </a:r>
            <a:r>
              <a:rPr lang="en-US" altLang="zh-CN" sz="2400">
                <a:ea typeface="宋体" panose="02010600030101010101" pitchFamily="2" charset="-122"/>
              </a:rPr>
              <a:t> and </a:t>
            </a:r>
            <a:r>
              <a:rPr lang="en-US" altLang="zh-CN" sz="2400">
                <a:solidFill>
                  <a:srgbClr val="990000"/>
                </a:solidFill>
                <a:ea typeface="宋体" panose="02010600030101010101" pitchFamily="2" charset="-122"/>
              </a:rPr>
              <a:t>function members</a:t>
            </a:r>
            <a:r>
              <a:rPr lang="en-US" altLang="zh-CN" sz="2400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 sz="1200">
              <a:solidFill>
                <a:srgbClr val="CC0000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ea typeface="宋体" panose="02010600030101010101" pitchFamily="2" charset="-122"/>
              </a:rPr>
              <a:t>Class members are private by default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 sz="1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ea typeface="宋体" panose="02010600030101010101" pitchFamily="2" charset="-122"/>
              </a:rPr>
              <a:t>Data members are generally private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 sz="1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ea typeface="宋体" panose="02010600030101010101" pitchFamily="2" charset="-122"/>
              </a:rPr>
              <a:t>Function members are generally declared public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 sz="1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ea typeface="宋体" panose="02010600030101010101" pitchFamily="2" charset="-122"/>
              </a:rPr>
              <a:t>Private class members can be accessed only by the class member functions (and friend functions), not by client code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90B6CD-1B3C-185D-F53B-30EB4774CC07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Remember …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7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79876" name="Rectangle 3"/>
          <p:cNvSpPr>
            <a:spLocks noGrp="1" noChangeArrowheads="1"/>
          </p:cNvSpPr>
          <p:nvPr>
            <p:ph idx="1"/>
          </p:nvPr>
        </p:nvSpPr>
        <p:spPr>
          <a:xfrm>
            <a:off x="385763" y="1624013"/>
            <a:ext cx="8229600" cy="31480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Every function member can access any other members (function or data) no matter in what order the members are placed in the class body block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Declaration-before-use rule does not apply to class members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62641C2E-38EC-DDCC-A865-ECF5D332696E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Class Scope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8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88067" name="Rectangle 3"/>
          <p:cNvSpPr>
            <a:spLocks noGrp="1"/>
          </p:cNvSpPr>
          <p:nvPr>
            <p:ph idx="1"/>
          </p:nvPr>
        </p:nvSpPr>
        <p:spPr>
          <a:xfrm>
            <a:off x="423863" y="1393825"/>
            <a:ext cx="8135937" cy="47752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sz="2400">
                <a:solidFill>
                  <a:srgbClr val="990000"/>
                </a:solidFill>
                <a:ea typeface="宋体" panose="02010600030101010101" pitchFamily="2" charset="-122"/>
              </a:rPr>
              <a:t>Built-in operations valid on class objects are</a:t>
            </a:r>
          </a:p>
          <a:p>
            <a:pPr>
              <a:buFont typeface="Monotype Sorts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	</a:t>
            </a:r>
            <a:r>
              <a:rPr lang="en-US" altLang="zh-CN" sz="2400">
                <a:ea typeface="宋体" panose="02010600030101010101" pitchFamily="2" charset="-122"/>
              </a:rPr>
              <a:t>Member selection using dot (.) operator ,	   Assignment to another class variable using (=),</a:t>
            </a:r>
          </a:p>
          <a:p>
            <a:pPr>
              <a:buFont typeface="Monotype Sorts" pitchFamily="2" charset="2"/>
              <a:buNone/>
            </a:pPr>
            <a:r>
              <a:rPr lang="en-US" altLang="zh-CN" sz="1200">
                <a:ea typeface="宋体" panose="02010600030101010101" pitchFamily="2" charset="-122"/>
              </a:rPr>
              <a:t> </a:t>
            </a:r>
            <a:r>
              <a:rPr lang="en-US" altLang="zh-CN" sz="1000">
                <a:ea typeface="宋体" panose="02010600030101010101" pitchFamily="2" charset="-122"/>
              </a:rPr>
              <a:t>     </a:t>
            </a:r>
            <a:r>
              <a:rPr lang="en-US" altLang="zh-CN" sz="2400">
                <a:ea typeface="宋体" panose="02010600030101010101" pitchFamily="2" charset="-122"/>
              </a:rPr>
              <a:t>Pass to a function as argument 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					(by value or by reference),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   Return as value of a function</a:t>
            </a:r>
            <a:r>
              <a:rPr lang="en-US" altLang="zh-CN">
                <a:ea typeface="宋体" panose="02010600030101010101" pitchFamily="2" charset="-122"/>
              </a:rPr>
              <a:t>  </a:t>
            </a:r>
          </a:p>
          <a:p>
            <a:pPr>
              <a:buFont typeface="Monotype Sorts" pitchFamily="2" charset="2"/>
              <a:buNone/>
            </a:pPr>
            <a:endParaRPr lang="en-US" altLang="zh-CN" sz="10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Other operations can be defined as class member functions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74D6476-C1B1-45FA-38D4-5B9A0DBF640D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Aggregate class Operations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9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90115" name="Rectangle 3"/>
          <p:cNvSpPr/>
          <p:nvPr/>
        </p:nvSpPr>
        <p:spPr>
          <a:xfrm>
            <a:off x="769938" y="1393825"/>
            <a:ext cx="7110412" cy="3035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16" name="Rectangle 4"/>
          <p:cNvSpPr/>
          <p:nvPr/>
        </p:nvSpPr>
        <p:spPr>
          <a:xfrm>
            <a:off x="808038" y="4610100"/>
            <a:ext cx="7143750" cy="175577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17" name="Rectangle 5"/>
          <p:cNvSpPr>
            <a:spLocks noGrp="1"/>
          </p:cNvSpPr>
          <p:nvPr>
            <p:ph idx="1"/>
          </p:nvPr>
        </p:nvSpPr>
        <p:spPr>
          <a:xfrm>
            <a:off x="800100" y="1382713"/>
            <a:ext cx="7062788" cy="32004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Specification file “time.h”</a:t>
            </a:r>
            <a:endParaRPr lang="en-US" altLang="zh-CN">
              <a:solidFill>
                <a:srgbClr val="990000"/>
              </a:solidFill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Specifies the data and function members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class Time	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{</a:t>
            </a: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public: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400">
                <a:latin typeface="Courier" charset="0"/>
                <a:ea typeface="宋体" panose="02010600030101010101" pitchFamily="2" charset="-122"/>
              </a:rPr>
              <a:t>              .  .  .</a:t>
            </a:r>
            <a:endParaRPr lang="en-US" altLang="zh-CN" sz="2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2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private: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     .  .  .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};</a:t>
            </a:r>
            <a:endParaRPr lang="en-US" altLang="zh-CN" sz="2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000">
              <a:solidFill>
                <a:schemeClr val="folHlink"/>
              </a:solidFill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Implementation file “time.cpp”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Implements the Time member functions</a:t>
            </a:r>
            <a:r>
              <a:rPr lang="en-US" altLang="zh-CN" sz="1400">
                <a:latin typeface="Courier" charset="0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{ </a:t>
            </a:r>
            <a:r>
              <a:rPr lang="en-US" altLang="zh-CN" sz="1400">
                <a:latin typeface="Courier" charset="0"/>
                <a:ea typeface="宋体" panose="02010600030101010101" pitchFamily="2" charset="-122"/>
              </a:rPr>
              <a:t>      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400">
                <a:latin typeface="Courier" charset="0"/>
                <a:ea typeface="宋体" panose="02010600030101010101" pitchFamily="2" charset="-122"/>
              </a:rPr>
              <a:t>          .  .  .</a:t>
            </a:r>
            <a:endParaRPr lang="en-US" altLang="zh-CN" sz="2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EA5E993-B284-9704-437F-96A03D9353ED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89613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3200" dirty="0">
                <a:ea typeface="宋体" panose="02010600030101010101" pitchFamily="2" charset="-122"/>
              </a:rPr>
              <a:t>Separate Specification and Implementation</a:t>
            </a:r>
            <a:endParaRPr lang="zh-CN" altLang="en-US" sz="3200" kern="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10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92163" name="Rectangle 3"/>
          <p:cNvSpPr/>
          <p:nvPr/>
        </p:nvSpPr>
        <p:spPr>
          <a:xfrm>
            <a:off x="538163" y="1682750"/>
            <a:ext cx="8218487" cy="4635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4" name="Rectangle 4"/>
          <p:cNvSpPr>
            <a:spLocks noGrp="1"/>
          </p:cNvSpPr>
          <p:nvPr>
            <p:ph idx="1"/>
          </p:nvPr>
        </p:nvSpPr>
        <p:spPr>
          <a:xfrm>
            <a:off x="541338" y="1624013"/>
            <a:ext cx="8332787" cy="51054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Implementation file “time.cpp”</a:t>
            </a:r>
          </a:p>
          <a:p>
            <a:pPr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Implements the Time member functions.  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#include “ time.h” </a:t>
            </a: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Also must appear in client code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#include  &lt;iostream&gt;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	  .  .  .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bool Time::Equal(/* in */  Time otherTime) const</a:t>
            </a: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  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Postcondition:  Return value == true, 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    if this time equals otherTime,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	     otherwise == false</a:t>
            </a:r>
            <a:endParaRPr lang="en-US" altLang="zh-CN" sz="2000">
              <a:latin typeface="Courier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{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return ((hrs == otherTime.hrs)  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      &amp;&amp; (mins == otherTime.mins)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	 	    &amp;&amp; (secs  == otherTime.secs));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}</a:t>
            </a:r>
          </a:p>
          <a:p>
            <a:pPr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    .  .  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6A034D6-4997-EEDE-8B1A-118E9AAD0A86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89613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Implementation File for Time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11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231775" y="1365250"/>
            <a:ext cx="8718550" cy="52482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The member selection operator (.) selects either data members or function members 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Header files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iostream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and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fstream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declare the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istream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,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ostream,and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ifstream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,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ofstream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I/O classes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Both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cin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and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cout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are class objects and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get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and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ignore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are function members 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			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cin.get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someChar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			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cin.ignore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(100, ‘\n’);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These statements declare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myInfile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as an instance of class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ifstream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and invoke function member open 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			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ifstream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myInfile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			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myInfile.open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(“mydata.dat”);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DB1124F-6C3F-4087-1F1C-2875B8DA1EA8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89613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Should be familiar …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89092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238250"/>
            <a:ext cx="8555038" cy="1844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Information hiding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- Class implementation details are hidden from the client’s view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Public functions of a class provide the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interface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between the client code and the class objects</a:t>
            </a:r>
          </a:p>
        </p:txBody>
      </p:sp>
      <p:sp>
        <p:nvSpPr>
          <p:cNvPr id="96260" name="Rectangle 4"/>
          <p:cNvSpPr/>
          <p:nvPr/>
        </p:nvSpPr>
        <p:spPr>
          <a:xfrm>
            <a:off x="587375" y="4119563"/>
            <a:ext cx="1587500" cy="113030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61" name="Rectangle 5"/>
          <p:cNvSpPr/>
          <p:nvPr/>
        </p:nvSpPr>
        <p:spPr>
          <a:xfrm>
            <a:off x="2644775" y="4119563"/>
            <a:ext cx="1663700" cy="113030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62" name="Rectangle 6"/>
          <p:cNvSpPr/>
          <p:nvPr/>
        </p:nvSpPr>
        <p:spPr>
          <a:xfrm>
            <a:off x="6607175" y="4119563"/>
            <a:ext cx="1968500" cy="113030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63" name="AutoShape 7"/>
          <p:cNvSpPr/>
          <p:nvPr/>
        </p:nvSpPr>
        <p:spPr>
          <a:xfrm rot="5400000">
            <a:off x="4283075" y="4005263"/>
            <a:ext cx="2349500" cy="1511300"/>
          </a:xfrm>
          <a:prstGeom prst="parallelogram">
            <a:avLst>
              <a:gd name="adj" fmla="val 38857"/>
            </a:avLst>
          </a:prstGeom>
          <a:solidFill>
            <a:srgbClr val="FF505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64" name="Rectangle 8"/>
          <p:cNvSpPr/>
          <p:nvPr/>
        </p:nvSpPr>
        <p:spPr>
          <a:xfrm>
            <a:off x="946150" y="4295775"/>
            <a:ext cx="846138" cy="701675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client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</a:t>
            </a:r>
          </a:p>
        </p:txBody>
      </p:sp>
      <p:sp>
        <p:nvSpPr>
          <p:cNvPr id="96265" name="Rectangle 9"/>
          <p:cNvSpPr/>
          <p:nvPr/>
        </p:nvSpPr>
        <p:spPr>
          <a:xfrm>
            <a:off x="2622550" y="4448175"/>
            <a:ext cx="1735138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specification</a:t>
            </a:r>
          </a:p>
        </p:txBody>
      </p:sp>
      <p:sp>
        <p:nvSpPr>
          <p:cNvPr id="96266" name="Rectangle 10"/>
          <p:cNvSpPr/>
          <p:nvPr/>
        </p:nvSpPr>
        <p:spPr>
          <a:xfrm>
            <a:off x="6584950" y="4448175"/>
            <a:ext cx="2058988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implementation</a:t>
            </a:r>
          </a:p>
        </p:txBody>
      </p:sp>
      <p:sp>
        <p:nvSpPr>
          <p:cNvPr id="96267" name="Rectangle 11"/>
          <p:cNvSpPr/>
          <p:nvPr/>
        </p:nvSpPr>
        <p:spPr>
          <a:xfrm rot="1200000">
            <a:off x="4603750" y="4295775"/>
            <a:ext cx="1552575" cy="7016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abstraction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barrier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C863E90-A65B-9068-9083-95AAE364601A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89613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Information Hiding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22375"/>
            <a:ext cx="8610600" cy="51736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C++ programs typically use several class types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Different classes can have member functions with the same identifier, like Write()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Member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selection operator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is used to determine the object to whom member function Write() is applied  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	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currentTime.Write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();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// Class Time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	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numberZ.Write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();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// Class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ComplexNumber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In the implementation file, the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scope resolution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operator is used in the heading before the function member’s name to specify its class 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	void  Time::Write () 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const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	{           .  .  .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	}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2203865-6F0C-C3FF-8A0D-A288E86D7432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89613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Selection and Resolution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00356" name="Oval 4"/>
          <p:cNvSpPr/>
          <p:nvPr/>
        </p:nvSpPr>
        <p:spPr>
          <a:xfrm>
            <a:off x="844550" y="2673350"/>
            <a:ext cx="3568700" cy="35687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57" name="Oval 5"/>
          <p:cNvSpPr/>
          <p:nvPr/>
        </p:nvSpPr>
        <p:spPr>
          <a:xfrm>
            <a:off x="234950" y="3206750"/>
            <a:ext cx="1663700" cy="3683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58" name="Oval 6"/>
          <p:cNvSpPr/>
          <p:nvPr/>
        </p:nvSpPr>
        <p:spPr>
          <a:xfrm>
            <a:off x="234950" y="4273550"/>
            <a:ext cx="1663700" cy="3683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59" name="Oval 7"/>
          <p:cNvSpPr/>
          <p:nvPr/>
        </p:nvSpPr>
        <p:spPr>
          <a:xfrm>
            <a:off x="234950" y="4883150"/>
            <a:ext cx="1663700" cy="3683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60" name="Oval 8"/>
          <p:cNvSpPr/>
          <p:nvPr/>
        </p:nvSpPr>
        <p:spPr>
          <a:xfrm>
            <a:off x="234950" y="5416550"/>
            <a:ext cx="1663700" cy="3683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61" name="Oval 9"/>
          <p:cNvSpPr/>
          <p:nvPr/>
        </p:nvSpPr>
        <p:spPr>
          <a:xfrm>
            <a:off x="234950" y="3740150"/>
            <a:ext cx="1663700" cy="3683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62" name="Rectangle 10"/>
          <p:cNvSpPr/>
          <p:nvPr/>
        </p:nvSpPr>
        <p:spPr>
          <a:xfrm>
            <a:off x="2292350" y="3663950"/>
            <a:ext cx="1435100" cy="1968500"/>
          </a:xfrm>
          <a:prstGeom prst="rect">
            <a:avLst/>
          </a:prstGeom>
          <a:solidFill>
            <a:srgbClr val="FFFF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63" name="Rectangle 11"/>
          <p:cNvSpPr/>
          <p:nvPr/>
        </p:nvSpPr>
        <p:spPr>
          <a:xfrm>
            <a:off x="2270125" y="3633788"/>
            <a:ext cx="1460500" cy="18923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Private data: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0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hrs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mins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secs</a:t>
            </a:r>
          </a:p>
        </p:txBody>
      </p:sp>
      <p:sp>
        <p:nvSpPr>
          <p:cNvPr id="100364" name="Rectangle 12"/>
          <p:cNvSpPr/>
          <p:nvPr/>
        </p:nvSpPr>
        <p:spPr>
          <a:xfrm>
            <a:off x="669925" y="3160713"/>
            <a:ext cx="522288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Set</a:t>
            </a:r>
          </a:p>
        </p:txBody>
      </p:sp>
      <p:sp>
        <p:nvSpPr>
          <p:cNvPr id="100365" name="Rectangle 13"/>
          <p:cNvSpPr/>
          <p:nvPr/>
        </p:nvSpPr>
        <p:spPr>
          <a:xfrm>
            <a:off x="365125" y="3694113"/>
            <a:ext cx="131127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Increment</a:t>
            </a:r>
          </a:p>
        </p:txBody>
      </p:sp>
      <p:sp>
        <p:nvSpPr>
          <p:cNvPr id="100366" name="Rectangle 14"/>
          <p:cNvSpPr/>
          <p:nvPr/>
        </p:nvSpPr>
        <p:spPr>
          <a:xfrm>
            <a:off x="593725" y="4227513"/>
            <a:ext cx="817563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100367" name="Rectangle 15"/>
          <p:cNvSpPr/>
          <p:nvPr/>
        </p:nvSpPr>
        <p:spPr>
          <a:xfrm>
            <a:off x="441325" y="4837113"/>
            <a:ext cx="1243013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LessThan</a:t>
            </a:r>
          </a:p>
        </p:txBody>
      </p:sp>
      <p:sp>
        <p:nvSpPr>
          <p:cNvPr id="100368" name="Rectangle 16"/>
          <p:cNvSpPr/>
          <p:nvPr/>
        </p:nvSpPr>
        <p:spPr>
          <a:xfrm>
            <a:off x="669925" y="5370513"/>
            <a:ext cx="833438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Equal</a:t>
            </a:r>
          </a:p>
        </p:txBody>
      </p:sp>
      <p:sp>
        <p:nvSpPr>
          <p:cNvPr id="100369" name="Rectangle 17"/>
          <p:cNvSpPr/>
          <p:nvPr/>
        </p:nvSpPr>
        <p:spPr>
          <a:xfrm>
            <a:off x="2901950" y="4044950"/>
            <a:ext cx="673100" cy="36830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70" name="Rectangle 18"/>
          <p:cNvSpPr/>
          <p:nvPr/>
        </p:nvSpPr>
        <p:spPr>
          <a:xfrm>
            <a:off x="2901950" y="4578350"/>
            <a:ext cx="673100" cy="36830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71" name="Rectangle 19"/>
          <p:cNvSpPr/>
          <p:nvPr/>
        </p:nvSpPr>
        <p:spPr>
          <a:xfrm>
            <a:off x="2901950" y="5111750"/>
            <a:ext cx="673100" cy="36830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72" name="Oval 20"/>
          <p:cNvSpPr/>
          <p:nvPr/>
        </p:nvSpPr>
        <p:spPr>
          <a:xfrm>
            <a:off x="5340350" y="2673350"/>
            <a:ext cx="3568700" cy="35687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73" name="Oval 21"/>
          <p:cNvSpPr/>
          <p:nvPr/>
        </p:nvSpPr>
        <p:spPr>
          <a:xfrm>
            <a:off x="4959350" y="3130550"/>
            <a:ext cx="1663700" cy="3683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74" name="Oval 22"/>
          <p:cNvSpPr/>
          <p:nvPr/>
        </p:nvSpPr>
        <p:spPr>
          <a:xfrm>
            <a:off x="4959350" y="4197350"/>
            <a:ext cx="1663700" cy="3683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75" name="Oval 23"/>
          <p:cNvSpPr/>
          <p:nvPr/>
        </p:nvSpPr>
        <p:spPr>
          <a:xfrm>
            <a:off x="4959350" y="4806950"/>
            <a:ext cx="1663700" cy="3683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76" name="Oval 24"/>
          <p:cNvSpPr/>
          <p:nvPr/>
        </p:nvSpPr>
        <p:spPr>
          <a:xfrm>
            <a:off x="4959350" y="5340350"/>
            <a:ext cx="1663700" cy="3683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77" name="Oval 25"/>
          <p:cNvSpPr/>
          <p:nvPr/>
        </p:nvSpPr>
        <p:spPr>
          <a:xfrm>
            <a:off x="4959350" y="3663950"/>
            <a:ext cx="1663700" cy="3683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78" name="Rectangle 26"/>
          <p:cNvSpPr/>
          <p:nvPr/>
        </p:nvSpPr>
        <p:spPr>
          <a:xfrm>
            <a:off x="7016750" y="3587750"/>
            <a:ext cx="1435100" cy="1968500"/>
          </a:xfrm>
          <a:prstGeom prst="rect">
            <a:avLst/>
          </a:prstGeom>
          <a:solidFill>
            <a:srgbClr val="FFFF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79" name="Rectangle 27"/>
          <p:cNvSpPr/>
          <p:nvPr/>
        </p:nvSpPr>
        <p:spPr>
          <a:xfrm>
            <a:off x="6994525" y="3557588"/>
            <a:ext cx="1460500" cy="18923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Private data: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0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hrs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mins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secs</a:t>
            </a:r>
          </a:p>
        </p:txBody>
      </p:sp>
      <p:sp>
        <p:nvSpPr>
          <p:cNvPr id="100380" name="Rectangle 28"/>
          <p:cNvSpPr/>
          <p:nvPr/>
        </p:nvSpPr>
        <p:spPr>
          <a:xfrm>
            <a:off x="5394325" y="3082925"/>
            <a:ext cx="522288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Set</a:t>
            </a:r>
          </a:p>
        </p:txBody>
      </p:sp>
      <p:sp>
        <p:nvSpPr>
          <p:cNvPr id="100381" name="Rectangle 29"/>
          <p:cNvSpPr/>
          <p:nvPr/>
        </p:nvSpPr>
        <p:spPr>
          <a:xfrm>
            <a:off x="5089525" y="3616325"/>
            <a:ext cx="131127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Increment</a:t>
            </a:r>
          </a:p>
        </p:txBody>
      </p:sp>
      <p:sp>
        <p:nvSpPr>
          <p:cNvPr id="100382" name="Rectangle 30"/>
          <p:cNvSpPr/>
          <p:nvPr/>
        </p:nvSpPr>
        <p:spPr>
          <a:xfrm>
            <a:off x="5318125" y="4149725"/>
            <a:ext cx="817563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100383" name="Rectangle 31"/>
          <p:cNvSpPr/>
          <p:nvPr/>
        </p:nvSpPr>
        <p:spPr>
          <a:xfrm>
            <a:off x="5165725" y="4759325"/>
            <a:ext cx="1243013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LessThan</a:t>
            </a:r>
          </a:p>
        </p:txBody>
      </p:sp>
      <p:sp>
        <p:nvSpPr>
          <p:cNvPr id="100384" name="Rectangle 32"/>
          <p:cNvSpPr/>
          <p:nvPr/>
        </p:nvSpPr>
        <p:spPr>
          <a:xfrm>
            <a:off x="5394325" y="5292725"/>
            <a:ext cx="833438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Equal</a:t>
            </a:r>
          </a:p>
        </p:txBody>
      </p:sp>
      <p:sp>
        <p:nvSpPr>
          <p:cNvPr id="100385" name="Rectangle 33"/>
          <p:cNvSpPr/>
          <p:nvPr/>
        </p:nvSpPr>
        <p:spPr>
          <a:xfrm>
            <a:off x="7626350" y="3968750"/>
            <a:ext cx="673100" cy="36830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86" name="Rectangle 34"/>
          <p:cNvSpPr/>
          <p:nvPr/>
        </p:nvSpPr>
        <p:spPr>
          <a:xfrm>
            <a:off x="7626350" y="4502150"/>
            <a:ext cx="673100" cy="36830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87" name="Rectangle 35"/>
          <p:cNvSpPr/>
          <p:nvPr/>
        </p:nvSpPr>
        <p:spPr>
          <a:xfrm>
            <a:off x="7626350" y="5035550"/>
            <a:ext cx="673100" cy="36830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88" name="Rectangle 36"/>
          <p:cNvSpPr/>
          <p:nvPr/>
        </p:nvSpPr>
        <p:spPr>
          <a:xfrm>
            <a:off x="3032125" y="3992563"/>
            <a:ext cx="438150" cy="14335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17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2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58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600" b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2</a:t>
            </a:r>
          </a:p>
        </p:txBody>
      </p:sp>
      <p:sp>
        <p:nvSpPr>
          <p:cNvPr id="100389" name="Rectangle 37"/>
          <p:cNvSpPr/>
          <p:nvPr/>
        </p:nvSpPr>
        <p:spPr>
          <a:xfrm>
            <a:off x="7680325" y="3916363"/>
            <a:ext cx="501650" cy="14335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18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2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30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600" b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0</a:t>
            </a:r>
          </a:p>
        </p:txBody>
      </p:sp>
      <p:sp>
        <p:nvSpPr>
          <p:cNvPr id="100390" name="Rectangle 38"/>
          <p:cNvSpPr/>
          <p:nvPr/>
        </p:nvSpPr>
        <p:spPr>
          <a:xfrm>
            <a:off x="1355725" y="1874838"/>
            <a:ext cx="709771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3200" b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currentTime  </a:t>
            </a:r>
            <a:r>
              <a:rPr lang="en-US" altLang="zh-CN" sz="3200" b="0">
                <a:solidFill>
                  <a:schemeClr val="tx1"/>
                </a:solidFill>
                <a:latin typeface="Arial Rounded MT Bold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3200" b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endTime</a:t>
            </a:r>
            <a:endParaRPr lang="en-US" altLang="zh-CN" sz="3200" b="0">
              <a:solidFill>
                <a:schemeClr val="tx1"/>
              </a:solidFill>
              <a:latin typeface="Arial Rounded MT Bold" pitchFamily="34" charset="0"/>
              <a:ea typeface="宋体" panose="02010600030101010101" pitchFamily="2" charset="-122"/>
            </a:endParaRPr>
          </a:p>
        </p:txBody>
      </p:sp>
      <p:sp>
        <p:nvSpPr>
          <p:cNvPr id="44" name="标题 1">
            <a:extLst>
              <a:ext uri="{FF2B5EF4-FFF2-40B4-BE49-F238E27FC236}">
                <a16:creationId xmlns:a16="http://schemas.microsoft.com/office/drawing/2014/main" id="{F0EFB3FE-60F5-FC32-B19E-BE4947357C00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89613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 Time Class Instance Diagrams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15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95236" name="Rectangle 3"/>
          <p:cNvSpPr>
            <a:spLocks noGrp="1" noChangeArrowheads="1"/>
          </p:cNvSpPr>
          <p:nvPr>
            <p:ph idx="1"/>
          </p:nvPr>
        </p:nvSpPr>
        <p:spPr>
          <a:xfrm>
            <a:off x="693738" y="2084388"/>
            <a:ext cx="7488238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When a member function does not modify the private data members, use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const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in both the function prototype (in specification file) and the heading of the function definition (in implementation file)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ECFD4A69-F379-D0FC-2A97-BE785A9EE776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89613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Use of const with Member Functions 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16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04450" name="Rectangle 2"/>
          <p:cNvSpPr/>
          <p:nvPr/>
        </p:nvSpPr>
        <p:spPr>
          <a:xfrm>
            <a:off x="228600" y="1600200"/>
            <a:ext cx="8610600" cy="5029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52" name="Rectangle 4"/>
          <p:cNvSpPr>
            <a:spLocks noGrp="1"/>
          </p:cNvSpPr>
          <p:nvPr>
            <p:ph idx="1"/>
          </p:nvPr>
        </p:nvSpPr>
        <p:spPr>
          <a:xfrm>
            <a:off x="596900" y="1530350"/>
            <a:ext cx="8229600" cy="532765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8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8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void Time::Write ()   const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1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Postcondition: Time has been output in form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 HH:MM:SS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urier" charset="0"/>
                <a:ea typeface="宋体" panose="02010600030101010101" pitchFamily="2" charset="-122"/>
              </a:rPr>
              <a:t>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if  (hrs &lt; 10)  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    cout &lt;&lt; ‘0’; 	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cout  &lt;&lt; hrs  &lt;&lt;  ‘:’;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if  (mins &lt; 10)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    cout &lt;&lt; ‘0’;       </a:t>
            </a:r>
            <a:endParaRPr lang="en-US" altLang="zh-CN" sz="2000" i="1">
              <a:solidFill>
                <a:srgbClr val="CC0000"/>
              </a:solidFill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cout  &lt;&lt; mins  &lt;&lt;  ‘:’;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if  (secs &lt; 10) 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    cout &lt;&lt; ‘0’;        </a:t>
            </a:r>
            <a:endParaRPr lang="en-US" altLang="zh-CN" sz="2000" i="1">
              <a:solidFill>
                <a:srgbClr val="CC0000"/>
              </a:solidFill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cout  &lt;&lt; secs;</a:t>
            </a:r>
            <a:endParaRPr lang="en-US" altLang="zh-CN" sz="16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Courier" charset="0"/>
                <a:ea typeface="宋体" panose="02010600030101010101" pitchFamily="2" charset="-122"/>
              </a:rPr>
              <a:t>}</a:t>
            </a:r>
            <a:r>
              <a:rPr lang="en-US" altLang="zh-CN">
                <a:latin typeface="Courier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21F4CA3-7DDB-D9CB-490C-659ED4F0ED01}"/>
              </a:ext>
            </a:extLst>
          </p:cNvPr>
          <p:cNvSpPr txBox="1">
            <a:spLocks/>
          </p:cNvSpPr>
          <p:nvPr/>
        </p:nvSpPr>
        <p:spPr>
          <a:xfrm>
            <a:off x="1142999" y="457200"/>
            <a:ext cx="86106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</a:rPr>
              <a:t>Example: Using const with a Member Function 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17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6563" name="Group 3"/>
          <p:cNvGrpSpPr/>
          <p:nvPr/>
        </p:nvGrpSpPr>
        <p:grpSpPr bwMode="auto">
          <a:xfrm>
            <a:off x="3489325" y="1987550"/>
            <a:ext cx="1762125" cy="520700"/>
            <a:chOff x="2198" y="1252"/>
            <a:chExt cx="1110" cy="328"/>
          </a:xfrm>
          <a:solidFill>
            <a:srgbClr val="FFC000"/>
          </a:solidFill>
        </p:grpSpPr>
        <p:sp>
          <p:nvSpPr>
            <p:cNvPr id="66564" name="Rectangle 4"/>
            <p:cNvSpPr>
              <a:spLocks noChangeArrowheads="1"/>
            </p:cNvSpPr>
            <p:nvPr/>
          </p:nvSpPr>
          <p:spPr bwMode="auto">
            <a:xfrm>
              <a:off x="2212" y="1252"/>
              <a:ext cx="1096" cy="328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66565" name="Rectangle 5"/>
            <p:cNvSpPr>
              <a:spLocks noChangeArrowheads="1"/>
            </p:cNvSpPr>
            <p:nvPr/>
          </p:nvSpPr>
          <p:spPr bwMode="auto">
            <a:xfrm>
              <a:off x="2198" y="1286"/>
              <a:ext cx="792" cy="288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Rounded MT Bold" pitchFamily="34" charset="0"/>
                  <a:ea typeface="宋体" panose="02010600030101010101" pitchFamily="2" charset="-122"/>
                  <a:cs typeface="+mn-cs"/>
                </a:rPr>
                <a:t>time.h</a:t>
              </a:r>
            </a:p>
          </p:txBody>
        </p:sp>
      </p:grpSp>
      <p:grpSp>
        <p:nvGrpSpPr>
          <p:cNvPr id="66566" name="Group 6"/>
          <p:cNvGrpSpPr/>
          <p:nvPr/>
        </p:nvGrpSpPr>
        <p:grpSpPr bwMode="auto">
          <a:xfrm>
            <a:off x="609600" y="2444750"/>
            <a:ext cx="2117725" cy="520700"/>
            <a:chOff x="384" y="1540"/>
            <a:chExt cx="1334" cy="328"/>
          </a:xfrm>
          <a:solidFill>
            <a:srgbClr val="FFC000"/>
          </a:solidFill>
        </p:grpSpPr>
        <p:sp>
          <p:nvSpPr>
            <p:cNvPr id="66567" name="Rectangle 7"/>
            <p:cNvSpPr>
              <a:spLocks noChangeArrowheads="1"/>
            </p:cNvSpPr>
            <p:nvPr/>
          </p:nvSpPr>
          <p:spPr bwMode="auto">
            <a:xfrm>
              <a:off x="399" y="1540"/>
              <a:ext cx="1229" cy="328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66568" name="Rectangle 8"/>
            <p:cNvSpPr>
              <a:spLocks noChangeArrowheads="1"/>
            </p:cNvSpPr>
            <p:nvPr/>
          </p:nvSpPr>
          <p:spPr bwMode="auto">
            <a:xfrm>
              <a:off x="384" y="1574"/>
              <a:ext cx="1334" cy="288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Rounded MT Bold" pitchFamily="34" charset="0"/>
                  <a:ea typeface="宋体" panose="02010600030101010101" pitchFamily="2" charset="-122"/>
                  <a:cs typeface="+mn-cs"/>
                </a:rPr>
                <a:t>  client.cpp</a:t>
              </a:r>
            </a:p>
          </p:txBody>
        </p:sp>
      </p:grpSp>
      <p:grpSp>
        <p:nvGrpSpPr>
          <p:cNvPr id="66569" name="Group 9"/>
          <p:cNvGrpSpPr/>
          <p:nvPr/>
        </p:nvGrpSpPr>
        <p:grpSpPr bwMode="auto">
          <a:xfrm>
            <a:off x="6080125" y="2444750"/>
            <a:ext cx="2132013" cy="520700"/>
            <a:chOff x="3830" y="1540"/>
            <a:chExt cx="1343" cy="328"/>
          </a:xfrm>
          <a:solidFill>
            <a:srgbClr val="FFC000"/>
          </a:solidFill>
        </p:grpSpPr>
        <p:sp>
          <p:nvSpPr>
            <p:cNvPr id="66570" name="Rectangle 10"/>
            <p:cNvSpPr>
              <a:spLocks noChangeArrowheads="1"/>
            </p:cNvSpPr>
            <p:nvPr/>
          </p:nvSpPr>
          <p:spPr bwMode="auto">
            <a:xfrm>
              <a:off x="3846" y="1540"/>
              <a:ext cx="1327" cy="328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66571" name="Rectangle 11"/>
            <p:cNvSpPr>
              <a:spLocks noChangeArrowheads="1"/>
            </p:cNvSpPr>
            <p:nvPr/>
          </p:nvSpPr>
          <p:spPr bwMode="auto">
            <a:xfrm>
              <a:off x="3830" y="1574"/>
              <a:ext cx="1062" cy="288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Rounded MT Bold" pitchFamily="34" charset="0"/>
                  <a:ea typeface="宋体" panose="02010600030101010101" pitchFamily="2" charset="-122"/>
                  <a:cs typeface="+mn-cs"/>
                </a:rPr>
                <a:t>time.cpp</a:t>
              </a:r>
            </a:p>
          </p:txBody>
        </p:sp>
      </p:grpSp>
      <p:grpSp>
        <p:nvGrpSpPr>
          <p:cNvPr id="66572" name="Group 12"/>
          <p:cNvGrpSpPr/>
          <p:nvPr/>
        </p:nvGrpSpPr>
        <p:grpSpPr bwMode="auto">
          <a:xfrm>
            <a:off x="609600" y="4349750"/>
            <a:ext cx="1974850" cy="520700"/>
            <a:chOff x="384" y="2740"/>
            <a:chExt cx="1244" cy="328"/>
          </a:xfrm>
          <a:solidFill>
            <a:srgbClr val="FFC000"/>
          </a:solidFill>
        </p:grpSpPr>
        <p:sp>
          <p:nvSpPr>
            <p:cNvPr id="66573" name="Rectangle 13"/>
            <p:cNvSpPr>
              <a:spLocks noChangeArrowheads="1"/>
            </p:cNvSpPr>
            <p:nvPr/>
          </p:nvSpPr>
          <p:spPr bwMode="auto">
            <a:xfrm>
              <a:off x="399" y="2740"/>
              <a:ext cx="1229" cy="328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66574" name="Rectangle 14"/>
            <p:cNvSpPr>
              <a:spLocks noChangeArrowheads="1"/>
            </p:cNvSpPr>
            <p:nvPr/>
          </p:nvSpPr>
          <p:spPr bwMode="auto">
            <a:xfrm>
              <a:off x="384" y="2774"/>
              <a:ext cx="1204" cy="288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Rounded MT Bold" pitchFamily="34" charset="0"/>
                  <a:ea typeface="宋体" panose="02010600030101010101" pitchFamily="2" charset="-122"/>
                  <a:cs typeface="+mn-cs"/>
                </a:rPr>
                <a:t> client.obj</a:t>
              </a:r>
            </a:p>
          </p:txBody>
        </p:sp>
      </p:grpSp>
      <p:grpSp>
        <p:nvGrpSpPr>
          <p:cNvPr id="66575" name="Group 15"/>
          <p:cNvGrpSpPr/>
          <p:nvPr/>
        </p:nvGrpSpPr>
        <p:grpSpPr bwMode="auto">
          <a:xfrm>
            <a:off x="3584575" y="6051550"/>
            <a:ext cx="1873250" cy="520700"/>
            <a:chOff x="2198" y="3844"/>
            <a:chExt cx="1180" cy="328"/>
          </a:xfrm>
          <a:solidFill>
            <a:srgbClr val="FFC000"/>
          </a:solidFill>
        </p:grpSpPr>
        <p:sp>
          <p:nvSpPr>
            <p:cNvPr id="66576" name="Rectangle 16"/>
            <p:cNvSpPr>
              <a:spLocks noChangeArrowheads="1"/>
            </p:cNvSpPr>
            <p:nvPr/>
          </p:nvSpPr>
          <p:spPr bwMode="auto">
            <a:xfrm>
              <a:off x="2212" y="3844"/>
              <a:ext cx="1096" cy="328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66577" name="Rectangle 17"/>
            <p:cNvSpPr>
              <a:spLocks noChangeArrowheads="1"/>
            </p:cNvSpPr>
            <p:nvPr/>
          </p:nvSpPr>
          <p:spPr bwMode="auto">
            <a:xfrm>
              <a:off x="2198" y="3878"/>
              <a:ext cx="1180" cy="288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Rounded MT Bold" pitchFamily="34" charset="0"/>
                  <a:ea typeface="宋体" panose="02010600030101010101" pitchFamily="2" charset="-122"/>
                  <a:cs typeface="+mn-cs"/>
                </a:rPr>
                <a:t>client.exe</a:t>
              </a:r>
            </a:p>
          </p:txBody>
        </p:sp>
      </p:grpSp>
      <p:grpSp>
        <p:nvGrpSpPr>
          <p:cNvPr id="66578" name="Group 18"/>
          <p:cNvGrpSpPr/>
          <p:nvPr/>
        </p:nvGrpSpPr>
        <p:grpSpPr bwMode="auto">
          <a:xfrm>
            <a:off x="6080125" y="4349750"/>
            <a:ext cx="2073275" cy="520700"/>
            <a:chOff x="3830" y="2740"/>
            <a:chExt cx="1306" cy="328"/>
          </a:xfrm>
          <a:solidFill>
            <a:srgbClr val="FFC000"/>
          </a:solidFill>
        </p:grpSpPr>
        <p:sp>
          <p:nvSpPr>
            <p:cNvPr id="66579" name="Rectangle 19"/>
            <p:cNvSpPr>
              <a:spLocks noChangeArrowheads="1"/>
            </p:cNvSpPr>
            <p:nvPr/>
          </p:nvSpPr>
          <p:spPr bwMode="auto">
            <a:xfrm>
              <a:off x="3846" y="2740"/>
              <a:ext cx="1290" cy="328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66580" name="Rectangle 20"/>
            <p:cNvSpPr>
              <a:spLocks noChangeArrowheads="1"/>
            </p:cNvSpPr>
            <p:nvPr/>
          </p:nvSpPr>
          <p:spPr bwMode="auto">
            <a:xfrm>
              <a:off x="3830" y="2774"/>
              <a:ext cx="996" cy="288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Rounded MT Bold" pitchFamily="34" charset="0"/>
                  <a:ea typeface="宋体" panose="02010600030101010101" pitchFamily="2" charset="-122"/>
                  <a:cs typeface="+mn-cs"/>
                </a:rPr>
                <a:t>time.obj</a:t>
              </a:r>
            </a:p>
          </p:txBody>
        </p:sp>
      </p:grpSp>
      <p:sp>
        <p:nvSpPr>
          <p:cNvPr id="106505" name="Oval 21"/>
          <p:cNvSpPr/>
          <p:nvPr/>
        </p:nvSpPr>
        <p:spPr>
          <a:xfrm>
            <a:off x="6178550" y="3435350"/>
            <a:ext cx="1816100" cy="444500"/>
          </a:xfrm>
          <a:prstGeom prst="ellipse">
            <a:avLst/>
          </a:prstGeom>
          <a:solidFill>
            <a:srgbClr val="7A1E73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506" name="Oval 22"/>
          <p:cNvSpPr/>
          <p:nvPr/>
        </p:nvSpPr>
        <p:spPr>
          <a:xfrm>
            <a:off x="692150" y="3435350"/>
            <a:ext cx="1816100" cy="444500"/>
          </a:xfrm>
          <a:prstGeom prst="ellipse">
            <a:avLst/>
          </a:prstGeom>
          <a:solidFill>
            <a:srgbClr val="7A1E73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507" name="Oval 23"/>
          <p:cNvSpPr/>
          <p:nvPr/>
        </p:nvSpPr>
        <p:spPr>
          <a:xfrm>
            <a:off x="3435350" y="5340350"/>
            <a:ext cx="1816100" cy="444500"/>
          </a:xfrm>
          <a:prstGeom prst="ellipse">
            <a:avLst/>
          </a:prstGeom>
          <a:solidFill>
            <a:srgbClr val="7A1E73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508" name="Line 24"/>
          <p:cNvSpPr/>
          <p:nvPr/>
        </p:nvSpPr>
        <p:spPr>
          <a:xfrm>
            <a:off x="4343400" y="5791200"/>
            <a:ext cx="0" cy="304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med"/>
          </a:ln>
        </p:spPr>
      </p:sp>
      <p:grpSp>
        <p:nvGrpSpPr>
          <p:cNvPr id="106509" name="Group 25"/>
          <p:cNvGrpSpPr/>
          <p:nvPr/>
        </p:nvGrpSpPr>
        <p:grpSpPr>
          <a:xfrm>
            <a:off x="1600200" y="4876800"/>
            <a:ext cx="2438400" cy="457200"/>
            <a:chOff x="1008" y="3072"/>
            <a:chExt cx="1536" cy="288"/>
          </a:xfrm>
        </p:grpSpPr>
        <p:sp>
          <p:nvSpPr>
            <p:cNvPr id="106527" name="Line 26"/>
            <p:cNvSpPr/>
            <p:nvPr/>
          </p:nvSpPr>
          <p:spPr>
            <a:xfrm>
              <a:off x="1008" y="3072"/>
              <a:ext cx="0" cy="1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6528" name="Line 27"/>
            <p:cNvSpPr/>
            <p:nvPr/>
          </p:nvSpPr>
          <p:spPr>
            <a:xfrm>
              <a:off x="1008" y="3216"/>
              <a:ext cx="15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6529" name="Line 28"/>
            <p:cNvSpPr/>
            <p:nvPr/>
          </p:nvSpPr>
          <p:spPr>
            <a:xfrm>
              <a:off x="2544" y="3216"/>
              <a:ext cx="0" cy="1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stealth" w="med" len="med"/>
            </a:ln>
          </p:spPr>
        </p:sp>
      </p:grpSp>
      <p:grpSp>
        <p:nvGrpSpPr>
          <p:cNvPr id="106510" name="Group 29"/>
          <p:cNvGrpSpPr/>
          <p:nvPr/>
        </p:nvGrpSpPr>
        <p:grpSpPr>
          <a:xfrm>
            <a:off x="4724400" y="4876800"/>
            <a:ext cx="2438400" cy="457200"/>
            <a:chOff x="2976" y="3072"/>
            <a:chExt cx="1536" cy="288"/>
          </a:xfrm>
        </p:grpSpPr>
        <p:sp>
          <p:nvSpPr>
            <p:cNvPr id="106524" name="Line 30"/>
            <p:cNvSpPr/>
            <p:nvPr/>
          </p:nvSpPr>
          <p:spPr>
            <a:xfrm>
              <a:off x="4512" y="3072"/>
              <a:ext cx="0" cy="1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6525" name="Line 31"/>
            <p:cNvSpPr/>
            <p:nvPr/>
          </p:nvSpPr>
          <p:spPr>
            <a:xfrm flipH="1">
              <a:off x="2976" y="3216"/>
              <a:ext cx="15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6526" name="Line 32"/>
            <p:cNvSpPr/>
            <p:nvPr/>
          </p:nvSpPr>
          <p:spPr>
            <a:xfrm>
              <a:off x="2976" y="3216"/>
              <a:ext cx="0" cy="1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stealth" w="med" len="med"/>
            </a:ln>
          </p:spPr>
        </p:sp>
      </p:grpSp>
      <p:sp>
        <p:nvSpPr>
          <p:cNvPr id="106511" name="Line 33"/>
          <p:cNvSpPr/>
          <p:nvPr/>
        </p:nvSpPr>
        <p:spPr>
          <a:xfrm>
            <a:off x="1600200" y="3886200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med"/>
          </a:ln>
        </p:spPr>
      </p:sp>
      <p:sp>
        <p:nvSpPr>
          <p:cNvPr id="106512" name="Line 34"/>
          <p:cNvSpPr/>
          <p:nvPr/>
        </p:nvSpPr>
        <p:spPr>
          <a:xfrm>
            <a:off x="1524000" y="2971800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med"/>
          </a:ln>
        </p:spPr>
      </p:sp>
      <p:sp>
        <p:nvSpPr>
          <p:cNvPr id="106513" name="Line 35"/>
          <p:cNvSpPr/>
          <p:nvPr/>
        </p:nvSpPr>
        <p:spPr>
          <a:xfrm>
            <a:off x="7162800" y="2971800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med"/>
          </a:ln>
        </p:spPr>
      </p:sp>
      <p:sp>
        <p:nvSpPr>
          <p:cNvPr id="106514" name="Line 36"/>
          <p:cNvSpPr/>
          <p:nvPr/>
        </p:nvSpPr>
        <p:spPr>
          <a:xfrm>
            <a:off x="7162800" y="3886200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med"/>
          </a:ln>
        </p:spPr>
      </p:sp>
      <p:sp>
        <p:nvSpPr>
          <p:cNvPr id="106515" name="Rectangle 37"/>
          <p:cNvSpPr/>
          <p:nvPr/>
        </p:nvSpPr>
        <p:spPr>
          <a:xfrm>
            <a:off x="974725" y="3459163"/>
            <a:ext cx="1212850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Compiler</a:t>
            </a:r>
          </a:p>
        </p:txBody>
      </p:sp>
      <p:sp>
        <p:nvSpPr>
          <p:cNvPr id="106516" name="Rectangle 38"/>
          <p:cNvSpPr/>
          <p:nvPr/>
        </p:nvSpPr>
        <p:spPr>
          <a:xfrm>
            <a:off x="6461125" y="3459163"/>
            <a:ext cx="1212850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Compiler</a:t>
            </a:r>
          </a:p>
        </p:txBody>
      </p:sp>
      <p:sp>
        <p:nvSpPr>
          <p:cNvPr id="106517" name="Rectangle 39"/>
          <p:cNvSpPr/>
          <p:nvPr/>
        </p:nvSpPr>
        <p:spPr>
          <a:xfrm>
            <a:off x="3870325" y="5364163"/>
            <a:ext cx="931863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Linker</a:t>
            </a:r>
          </a:p>
        </p:txBody>
      </p:sp>
      <p:sp>
        <p:nvSpPr>
          <p:cNvPr id="106518" name="Arc 40"/>
          <p:cNvSpPr/>
          <p:nvPr/>
        </p:nvSpPr>
        <p:spPr>
          <a:xfrm>
            <a:off x="4497388" y="2514600"/>
            <a:ext cx="1600200" cy="3810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21600" h="21600" fill="none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</a:path>
              <a:path w="21600" h="21600" stroke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  <a:lnTo>
                  <a:pt x="21600" y="0"/>
                </a:lnTo>
                <a:lnTo>
                  <a:pt x="21600" y="21599"/>
                </a:lnTo>
                <a:close/>
              </a:path>
            </a:pathLst>
          </a:custGeom>
          <a:noFill/>
          <a:ln w="12700" cap="rnd" cmpd="sng">
            <a:solidFill>
              <a:schemeClr val="tx1">
                <a:alpha val="100000"/>
              </a:schemeClr>
            </a:solidFill>
            <a:prstDash val="dash"/>
            <a:round/>
            <a:headEnd type="stealth" w="med" len="med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519" name="Arc 41"/>
          <p:cNvSpPr/>
          <p:nvPr/>
        </p:nvSpPr>
        <p:spPr>
          <a:xfrm>
            <a:off x="2590800" y="2514600"/>
            <a:ext cx="1600200" cy="3810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0" y="0"/>
              </a:cxn>
            </a:cxnLst>
            <a:rect l="0" t="0" r="0" b="0"/>
            <a:pathLst>
              <a:path w="21600" h="21600" fill="none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 cap="rnd" cmpd="sng">
            <a:solidFill>
              <a:schemeClr val="tx1">
                <a:alpha val="100000"/>
              </a:schemeClr>
            </a:solidFill>
            <a:prstDash val="dash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520" name="Rectangle 42"/>
          <p:cNvSpPr/>
          <p:nvPr/>
        </p:nvSpPr>
        <p:spPr>
          <a:xfrm>
            <a:off x="2955925" y="2925763"/>
            <a:ext cx="2290763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#include “time.h” </a:t>
            </a:r>
          </a:p>
        </p:txBody>
      </p:sp>
      <p:sp>
        <p:nvSpPr>
          <p:cNvPr id="106521" name="Rectangle 43"/>
          <p:cNvSpPr/>
          <p:nvPr/>
        </p:nvSpPr>
        <p:spPr>
          <a:xfrm>
            <a:off x="6003925" y="2011363"/>
            <a:ext cx="2287588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implementation file</a:t>
            </a:r>
          </a:p>
        </p:txBody>
      </p:sp>
      <p:sp>
        <p:nvSpPr>
          <p:cNvPr id="106522" name="Rectangle 44"/>
          <p:cNvSpPr/>
          <p:nvPr/>
        </p:nvSpPr>
        <p:spPr>
          <a:xfrm>
            <a:off x="3413125" y="1554163"/>
            <a:ext cx="1935163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specification file</a:t>
            </a:r>
          </a:p>
        </p:txBody>
      </p:sp>
      <p:sp>
        <p:nvSpPr>
          <p:cNvPr id="106523" name="Rectangle 45"/>
          <p:cNvSpPr/>
          <p:nvPr/>
        </p:nvSpPr>
        <p:spPr>
          <a:xfrm>
            <a:off x="746125" y="2011363"/>
            <a:ext cx="175577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main program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DA03C91-A417-54B4-56C9-A54755F25F24}"/>
              </a:ext>
            </a:extLst>
          </p:cNvPr>
          <p:cNvSpPr txBox="1">
            <a:spLocks/>
          </p:cNvSpPr>
          <p:nvPr/>
        </p:nvSpPr>
        <p:spPr>
          <a:xfrm>
            <a:off x="1142999" y="457200"/>
            <a:ext cx="86106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ea typeface="宋体" panose="02010600030101010101" pitchFamily="2" charset="-122"/>
              </a:rPr>
              <a:t>Separate Compilation and Linking of Files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18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08546" name="Rectangle 2"/>
          <p:cNvSpPr/>
          <p:nvPr/>
        </p:nvSpPr>
        <p:spPr>
          <a:xfrm>
            <a:off x="1960563" y="4543425"/>
            <a:ext cx="4724400" cy="2111375"/>
          </a:xfrm>
          <a:prstGeom prst="rect">
            <a:avLst/>
          </a:prstGeom>
          <a:solidFill>
            <a:srgbClr val="FFFF66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47" name="Rectangle 3"/>
          <p:cNvSpPr>
            <a:spLocks noGrp="1"/>
          </p:cNvSpPr>
          <p:nvPr>
            <p:ph idx="1"/>
          </p:nvPr>
        </p:nvSpPr>
        <p:spPr>
          <a:xfrm>
            <a:off x="309563" y="1393825"/>
            <a:ext cx="8382000" cy="48006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Often several program files use the same header file containing typedef statements, constants, or class type declarations--but, it is a </a:t>
            </a:r>
            <a:r>
              <a:rPr lang="en-US" altLang="zh-CN" sz="2400">
                <a:solidFill>
                  <a:srgbClr val="990000"/>
                </a:solidFill>
                <a:ea typeface="宋体" panose="02010600030101010101" pitchFamily="2" charset="-122"/>
              </a:rPr>
              <a:t>compile-time error to define the same identifier twice within the same namespace </a:t>
            </a:r>
            <a:r>
              <a:rPr lang="en-US" altLang="zh-CN" sz="2000">
                <a:solidFill>
                  <a:srgbClr val="990000"/>
                </a:solidFill>
                <a:ea typeface="宋体" panose="02010600030101010101" pitchFamily="2" charset="-122"/>
              </a:rPr>
              <a:t>  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1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This preprocessor directive syntax is used to avoid the compilation error that would otherwise occur from multiple uses of #include for the same header file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1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			#ifndef   </a:t>
            </a:r>
            <a:r>
              <a:rPr lang="en-US" altLang="zh-CN" sz="2000" i="1">
                <a:ea typeface="宋体" panose="02010600030101010101" pitchFamily="2" charset="-122"/>
              </a:rPr>
              <a:t>Preprocessor_Identifier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			#define  </a:t>
            </a:r>
            <a:r>
              <a:rPr lang="en-US" altLang="zh-CN" sz="2000" i="1">
                <a:ea typeface="宋体" panose="02010600030101010101" pitchFamily="2" charset="-122"/>
              </a:rPr>
              <a:t>Preprocessor_Identifier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600">
                <a:latin typeface="Arial Black" panose="020B0A040201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900">
                <a:latin typeface="Arial Black" panose="020B0A04020102020204" pitchFamily="34" charset="0"/>
                <a:ea typeface="宋体" panose="02010600030101010101" pitchFamily="2" charset="-122"/>
              </a:rPr>
              <a:t>		       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900">
                <a:latin typeface="Arial Black" panose="020B0A04020102020204" pitchFamily="34" charset="0"/>
                <a:ea typeface="宋体" panose="02010600030101010101" pitchFamily="2" charset="-122"/>
              </a:rPr>
              <a:t>			       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900">
                <a:latin typeface="Arial Black" panose="020B0A04020102020204" pitchFamily="34" charset="0"/>
                <a:ea typeface="宋体" panose="02010600030101010101" pitchFamily="2" charset="-122"/>
              </a:rPr>
              <a:t>			       .</a:t>
            </a:r>
            <a:endParaRPr lang="en-US" altLang="zh-CN" sz="12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			#endif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4C4C656-F307-2368-8BEE-3903E1FE4BA8}"/>
              </a:ext>
            </a:extLst>
          </p:cNvPr>
          <p:cNvSpPr txBox="1">
            <a:spLocks/>
          </p:cNvSpPr>
          <p:nvPr/>
        </p:nvSpPr>
        <p:spPr>
          <a:xfrm>
            <a:off x="1142999" y="457200"/>
            <a:ext cx="86106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ea typeface="宋体" panose="02010600030101010101" pitchFamily="2" charset="-122"/>
              </a:rPr>
              <a:t>Avoiding Multiple Inclusion of Header Files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19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10594" name="Rectangle 2"/>
          <p:cNvSpPr/>
          <p:nvPr/>
        </p:nvSpPr>
        <p:spPr>
          <a:xfrm>
            <a:off x="158750" y="1758950"/>
            <a:ext cx="2654300" cy="4940300"/>
          </a:xfrm>
          <a:prstGeom prst="rect">
            <a:avLst/>
          </a:pr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6" name="Rectangle 4"/>
          <p:cNvSpPr/>
          <p:nvPr/>
        </p:nvSpPr>
        <p:spPr>
          <a:xfrm>
            <a:off x="2978150" y="2825750"/>
            <a:ext cx="2882900" cy="3492500"/>
          </a:xfrm>
          <a:prstGeom prst="rect">
            <a:avLst/>
          </a:pr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7" name="Rectangle 5"/>
          <p:cNvSpPr/>
          <p:nvPr/>
        </p:nvSpPr>
        <p:spPr>
          <a:xfrm>
            <a:off x="6102350" y="2825750"/>
            <a:ext cx="2806700" cy="3492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8" name="Rectangle 6"/>
          <p:cNvSpPr>
            <a:spLocks noGrp="1"/>
          </p:cNvSpPr>
          <p:nvPr>
            <p:ph idx="1"/>
          </p:nvPr>
        </p:nvSpPr>
        <p:spPr>
          <a:xfrm>
            <a:off x="152400" y="1758950"/>
            <a:ext cx="8991600" cy="47244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solidFill>
                  <a:srgbClr val="990000"/>
                </a:solidFill>
                <a:ea typeface="宋体" panose="02010600030101010101" pitchFamily="2" charset="-122"/>
              </a:rPr>
              <a:t>// time .h 		   </a:t>
            </a:r>
            <a:r>
              <a:rPr lang="en-US" altLang="zh-CN" sz="1600">
                <a:solidFill>
                  <a:srgbClr val="990000"/>
                </a:solidFill>
                <a:ea typeface="宋体" panose="02010600030101010101" pitchFamily="2" charset="-122"/>
              </a:rPr>
              <a:t>For compilation the class declaration in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solidFill>
                  <a:srgbClr val="990000"/>
                </a:solidFill>
                <a:ea typeface="宋体" panose="02010600030101010101" pitchFamily="2" charset="-122"/>
              </a:rPr>
              <a:t>// </a:t>
            </a:r>
            <a:r>
              <a:rPr lang="en-US" altLang="zh-CN" sz="1600">
                <a:solidFill>
                  <a:srgbClr val="990000"/>
                </a:solidFill>
                <a:ea typeface="宋体" panose="02010600030101010101" pitchFamily="2" charset="-122"/>
              </a:rPr>
              <a:t>Specification file</a:t>
            </a:r>
            <a:r>
              <a:rPr lang="en-US" altLang="zh-CN" sz="1600">
                <a:ea typeface="宋体" panose="02010600030101010101" pitchFamily="2" charset="-122"/>
              </a:rPr>
              <a:t> 	   </a:t>
            </a:r>
            <a:r>
              <a:rPr lang="en-US" altLang="zh-CN" sz="1600">
                <a:solidFill>
                  <a:srgbClr val="990000"/>
                </a:solidFill>
                <a:ea typeface="宋体" panose="02010600030101010101" pitchFamily="2" charset="-122"/>
              </a:rPr>
              <a:t>File time.h will be included only once</a:t>
            </a:r>
            <a:r>
              <a:rPr lang="en-US" altLang="zh-CN" sz="900">
                <a:ea typeface="宋体" panose="02010600030101010101" pitchFamily="2" charset="-122"/>
              </a:rPr>
              <a:t>	 				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#ifndef   TIME_H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#define  TIME_H	          </a:t>
            </a:r>
            <a:r>
              <a:rPr lang="en-US" altLang="zh-CN" sz="1800">
                <a:solidFill>
                  <a:srgbClr val="990000"/>
                </a:solidFill>
                <a:ea typeface="宋体" panose="02010600030101010101" pitchFamily="2" charset="-122"/>
              </a:rPr>
              <a:t>// time .cpp</a:t>
            </a:r>
            <a:r>
              <a:rPr lang="en-US" altLang="zh-CN" sz="1800">
                <a:solidFill>
                  <a:srgbClr val="CC0000"/>
                </a:solidFill>
                <a:ea typeface="宋体" panose="02010600030101010101" pitchFamily="2" charset="-122"/>
              </a:rPr>
              <a:t> 	              /</a:t>
            </a:r>
            <a:r>
              <a:rPr lang="en-US" altLang="zh-CN" sz="1800">
                <a:solidFill>
                  <a:srgbClr val="990000"/>
                </a:solidFill>
                <a:ea typeface="宋体" panose="02010600030101010101" pitchFamily="2" charset="-122"/>
              </a:rPr>
              <a:t>/ client.cpp</a:t>
            </a:r>
            <a:endParaRPr lang="en-US" altLang="zh-CN" sz="2000">
              <a:solidFill>
                <a:srgbClr val="990000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				 // </a:t>
            </a:r>
            <a:r>
              <a:rPr lang="en-US" altLang="zh-CN" sz="1600">
                <a:solidFill>
                  <a:srgbClr val="990000"/>
                </a:solidFill>
                <a:ea typeface="宋体" panose="02010600030101010101" pitchFamily="2" charset="-122"/>
              </a:rPr>
              <a:t>IMPLEMENTATION FILE         </a:t>
            </a:r>
            <a:r>
              <a:rPr lang="en-US" altLang="zh-CN" sz="1800">
                <a:solidFill>
                  <a:srgbClr val="990000"/>
                </a:solidFill>
                <a:ea typeface="宋体" panose="02010600030101010101" pitchFamily="2" charset="-122"/>
              </a:rPr>
              <a:t>// </a:t>
            </a:r>
            <a:r>
              <a:rPr lang="en-US" altLang="zh-CN" sz="1600">
                <a:solidFill>
                  <a:srgbClr val="990000"/>
                </a:solidFill>
                <a:ea typeface="宋体" panose="02010600030101010101" pitchFamily="2" charset="-122"/>
              </a:rPr>
              <a:t>Appointment program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class Time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{</a:t>
            </a:r>
            <a:r>
              <a:rPr lang="en-US" altLang="zh-CN" sz="1600">
                <a:ea typeface="宋体" panose="02010600030101010101" pitchFamily="2" charset="-122"/>
              </a:rPr>
              <a:t>			</a:t>
            </a:r>
            <a:r>
              <a:rPr lang="en-US" altLang="zh-CN" sz="1800">
                <a:ea typeface="宋体" panose="02010600030101010101" pitchFamily="2" charset="-122"/>
              </a:rPr>
              <a:t>	 #include “time.h”         #include “time.h”</a:t>
            </a:r>
            <a:r>
              <a:rPr lang="en-US" altLang="zh-CN" sz="1600"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	public: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200">
                <a:latin typeface="Arial Black" panose="020B0A04020102020204" pitchFamily="34" charset="0"/>
                <a:ea typeface="宋体" panose="02010600030101010101" pitchFamily="2" charset="-122"/>
              </a:rPr>
              <a:t>	 .  .  .</a:t>
            </a:r>
            <a:r>
              <a:rPr lang="en-US" altLang="zh-CN" sz="1800">
                <a:ea typeface="宋体" panose="02010600030101010101" pitchFamily="2" charset="-122"/>
              </a:rPr>
              <a:t> 				</a:t>
            </a:r>
            <a:r>
              <a:rPr lang="en-US" altLang="zh-CN" sz="1200">
                <a:latin typeface="Arial Black" panose="020B0A04020102020204" pitchFamily="34" charset="0"/>
                <a:ea typeface="宋体" panose="02010600030101010101" pitchFamily="2" charset="-122"/>
              </a:rPr>
              <a:t>.  .  .</a:t>
            </a:r>
            <a:r>
              <a:rPr lang="en-US" altLang="zh-CN" sz="1800">
                <a:ea typeface="宋体" panose="02010600030101010101" pitchFamily="2" charset="-122"/>
              </a:rPr>
              <a:t>		        int   main (void)	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					       	       	        {</a:t>
            </a:r>
            <a:r>
              <a:rPr lang="en-US" altLang="zh-CN" sz="1200">
                <a:latin typeface="Arial Black" panose="020B0A04020102020204" pitchFamily="34" charset="0"/>
                <a:ea typeface="宋体" panose="02010600030101010101" pitchFamily="2" charset="-122"/>
              </a:rPr>
              <a:t> 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 	private: 						 </a:t>
            </a:r>
            <a:r>
              <a:rPr lang="en-US" altLang="zh-CN" sz="1200">
                <a:latin typeface="Arial Black" panose="020B0A04020102020204" pitchFamily="34" charset="0"/>
                <a:ea typeface="宋体" panose="02010600030101010101" pitchFamily="2" charset="-122"/>
              </a:rPr>
              <a:t>.  .  . 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200">
                <a:latin typeface="Arial Black" panose="020B0A04020102020204" pitchFamily="34" charset="0"/>
                <a:ea typeface="宋体" panose="02010600030101010101" pitchFamily="2" charset="-122"/>
              </a:rPr>
              <a:t>       .  .  .</a:t>
            </a:r>
            <a:r>
              <a:rPr lang="en-US" altLang="zh-CN" sz="1800">
                <a:ea typeface="宋体" panose="02010600030101010101" pitchFamily="2" charset="-122"/>
              </a:rPr>
              <a:t>						        }		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};</a:t>
            </a:r>
            <a:r>
              <a:rPr lang="en-US" altLang="zh-CN" sz="1600">
                <a:ea typeface="宋体" panose="02010600030101010101" pitchFamily="2" charset="-122"/>
              </a:rPr>
              <a:t> 		</a:t>
            </a:r>
            <a:r>
              <a:rPr lang="en-US" altLang="zh-CN" sz="1800">
                <a:ea typeface="宋体" panose="02010600030101010101" pitchFamily="2" charset="-122"/>
              </a:rPr>
              <a:t>			       	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ea typeface="宋体" panose="02010600030101010101" pitchFamily="2" charset="-122"/>
              </a:rPr>
              <a:t>#endif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5C9C569-007E-4C08-FF8F-F709CC75B568}"/>
              </a:ext>
            </a:extLst>
          </p:cNvPr>
          <p:cNvSpPr txBox="1">
            <a:spLocks/>
          </p:cNvSpPr>
          <p:nvPr/>
        </p:nvSpPr>
        <p:spPr>
          <a:xfrm>
            <a:off x="1142998" y="457200"/>
            <a:ext cx="8882511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</a:rPr>
              <a:t>Example: Using Preprocessor Directive  #</a:t>
            </a:r>
            <a:r>
              <a:rPr lang="en-US" altLang="zh-CN" sz="2800" dirty="0" err="1">
                <a:ea typeface="宋体" panose="02010600030101010101" pitchFamily="2" charset="-122"/>
              </a:rPr>
              <a:t>ifndef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20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05476" name="Rectangle 3"/>
          <p:cNvSpPr>
            <a:spLocks noGrp="1" noChangeArrowheads="1"/>
          </p:cNvSpPr>
          <p:nvPr>
            <p:ph idx="1"/>
          </p:nvPr>
        </p:nvSpPr>
        <p:spPr>
          <a:xfrm>
            <a:off x="231775" y="1355725"/>
            <a:ext cx="8602663" cy="4718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class constructor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is a member function whose purpose is to initialize the private data members of a class object 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The name of a constructor is always the name of the class, and there is no return type for the constructor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A class may have several constructors with different parameter lists  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A constructor with no parameters is the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default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constructor </a:t>
            </a: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A constructor is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implicitly invoked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when a class object is declared--if there are parameters, their values are listed in parentheses in the declaration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66E3F36-5FB7-AA5A-208A-BCABA3C4D3F0}"/>
              </a:ext>
            </a:extLst>
          </p:cNvPr>
          <p:cNvSpPr txBox="1">
            <a:spLocks/>
          </p:cNvSpPr>
          <p:nvPr/>
        </p:nvSpPr>
        <p:spPr>
          <a:xfrm>
            <a:off x="1142999" y="457200"/>
            <a:ext cx="86106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Class Constructors 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21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14690" name="Rectangle 2"/>
          <p:cNvSpPr/>
          <p:nvPr/>
        </p:nvSpPr>
        <p:spPr>
          <a:xfrm>
            <a:off x="228600" y="1524000"/>
            <a:ext cx="8396288" cy="5257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691" name="Rectangle 3"/>
          <p:cNvSpPr>
            <a:spLocks noGrp="1"/>
          </p:cNvSpPr>
          <p:nvPr>
            <p:ph type="title"/>
          </p:nvPr>
        </p:nvSpPr>
        <p:spPr>
          <a:xfrm>
            <a:off x="0" y="561975"/>
            <a:ext cx="9144000" cy="990600"/>
          </a:xfrm>
          <a:ln/>
        </p:spPr>
        <p:txBody>
          <a:bodyPr vert="horz" wrap="square" lIns="91440" tIns="45720" rIns="91440" bIns="45720" anchor="ctr" anchorCtr="0"/>
          <a:lstStyle/>
          <a:p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Specification of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Time </a:t>
            </a:r>
            <a:r>
              <a:rPr lang="en-US" altLang="zh-CN">
                <a:ea typeface="宋体" panose="02010600030101010101" pitchFamily="2" charset="-122"/>
              </a:rPr>
              <a:t>Class Constructors </a:t>
            </a:r>
          </a:p>
        </p:txBody>
      </p:sp>
      <p:sp>
        <p:nvSpPr>
          <p:cNvPr id="114692" name="Rectangle 4"/>
          <p:cNvSpPr>
            <a:spLocks noGrp="1"/>
          </p:cNvSpPr>
          <p:nvPr>
            <p:ph idx="1"/>
          </p:nvPr>
        </p:nvSpPr>
        <p:spPr>
          <a:xfrm>
            <a:off x="228600" y="1577975"/>
            <a:ext cx="8396288" cy="512762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class  Time	</a:t>
            </a: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Time.h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{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public : 	</a:t>
            </a: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 7 function members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	  void Set(int hours, int minutes, int seconds);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	  void Increment();</a:t>
            </a: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	  void Write()  const;</a:t>
            </a: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	  bool Equal(Time otherTime)  const;        </a:t>
            </a: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	  bool LessThan(Time otherTime)  const;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1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chemeClr val="accent2"/>
                </a:solidFill>
                <a:latin typeface="Courier" charset="0"/>
                <a:ea typeface="宋体" panose="02010600030101010101" pitchFamily="2" charset="-122"/>
              </a:rPr>
              <a:t>    </a:t>
            </a: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Parameterized constructor</a:t>
            </a:r>
            <a:endParaRPr lang="en-US" altLang="zh-CN" sz="2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Time (int initHrs, int initMins, int initSecs);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</a:t>
            </a: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Default constructor</a:t>
            </a: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</a:t>
            </a:r>
            <a:endParaRPr lang="en-US" altLang="zh-CN" sz="10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Time();</a:t>
            </a:r>
            <a:r>
              <a:rPr lang="en-US" altLang="zh-CN" sz="2000">
                <a:solidFill>
                  <a:schemeClr val="accent2"/>
                </a:solidFill>
                <a:latin typeface="Courier" charset="0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solidFill>
                  <a:schemeClr val="accent2"/>
                </a:solidFill>
                <a:latin typeface="Courier" charset="0"/>
                <a:ea typeface="宋体" panose="02010600030101010101" pitchFamily="2" charset="-122"/>
              </a:rPr>
              <a:t>	  //~Time();				</a:t>
            </a:r>
            <a:endParaRPr lang="en-US" altLang="zh-CN" sz="8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private :	</a:t>
            </a: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 3 data members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	  int hrs;           </a:t>
            </a: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int mins;          </a:t>
            </a: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	  int secs;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};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0BA2B05-4ADE-D079-7A17-88CBAF279B0C}"/>
              </a:ext>
            </a:extLst>
          </p:cNvPr>
          <p:cNvSpPr txBox="1">
            <a:spLocks/>
          </p:cNvSpPr>
          <p:nvPr/>
        </p:nvSpPr>
        <p:spPr>
          <a:xfrm>
            <a:off x="1142999" y="457200"/>
            <a:ext cx="86106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Class Constructors 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16738" name="Rectangle 2"/>
          <p:cNvSpPr/>
          <p:nvPr/>
        </p:nvSpPr>
        <p:spPr>
          <a:xfrm>
            <a:off x="354013" y="1508125"/>
            <a:ext cx="8610600" cy="5029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40" name="Rectangle 4"/>
          <p:cNvSpPr>
            <a:spLocks noGrp="1"/>
          </p:cNvSpPr>
          <p:nvPr>
            <p:ph idx="1"/>
          </p:nvPr>
        </p:nvSpPr>
        <p:spPr>
          <a:xfrm>
            <a:off x="555625" y="1958975"/>
            <a:ext cx="8207375" cy="451802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Font typeface="Monotype Sorts" pitchFamily="2" charset="2"/>
              <a:buNone/>
            </a:pP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Time::Time ()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Default  Constructor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Postcondition:  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	 hrs == 0 &amp;&amp; mins == 0 &amp;&amp;  secs == 0</a:t>
            </a:r>
            <a:endParaRPr lang="en-US" altLang="zh-CN" sz="2400">
              <a:latin typeface="Courier" charset="0"/>
              <a:ea typeface="宋体" panose="02010600030101010101" pitchFamily="2" charset="-122"/>
            </a:endParaRPr>
          </a:p>
          <a:p>
            <a:pPr>
              <a:buFont typeface="Monotype Sorts" pitchFamily="2" charset="2"/>
              <a:buNone/>
            </a:pP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{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    hrs  = 0;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    mins = 0;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    secs = 0;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6741" name="Rectangle 5"/>
          <p:cNvSpPr/>
          <p:nvPr/>
        </p:nvSpPr>
        <p:spPr>
          <a:xfrm>
            <a:off x="609600" y="2514600"/>
            <a:ext cx="784860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A1243A2-4193-C08E-F4D8-BAC661434B76}"/>
              </a:ext>
            </a:extLst>
          </p:cNvPr>
          <p:cNvSpPr txBox="1">
            <a:spLocks/>
          </p:cNvSpPr>
          <p:nvPr/>
        </p:nvSpPr>
        <p:spPr>
          <a:xfrm>
            <a:off x="1142999" y="457200"/>
            <a:ext cx="86106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dirty="0">
                <a:ea typeface="宋体" panose="02010600030101010101" pitchFamily="2" charset="-122"/>
              </a:rPr>
              <a:t>Implementation of Time Default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18786" name="Rectangle 2"/>
          <p:cNvSpPr/>
          <p:nvPr/>
        </p:nvSpPr>
        <p:spPr>
          <a:xfrm>
            <a:off x="228600" y="1600200"/>
            <a:ext cx="8396288" cy="5029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8788" name="Rectangle 4"/>
          <p:cNvSpPr>
            <a:spLocks noGrp="1"/>
          </p:cNvSpPr>
          <p:nvPr>
            <p:ph idx="1"/>
          </p:nvPr>
        </p:nvSpPr>
        <p:spPr>
          <a:xfrm>
            <a:off x="555625" y="1730375"/>
            <a:ext cx="8207375" cy="4783138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Time::Time( /* in */   int   initHrs,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		     /* in */   int   initMins,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		     /* in */   int   initSecs)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 Constructor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 Precondition: 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     0 &lt;= initHrs &lt;= 23 &amp;&amp; 0 &lt;= initMins &lt;= 59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     0 &lt;= initSecs &lt;= 59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 Postcondition: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		  hrs == initHrs &amp;&amp; mins == initMins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  &amp;&amp; secs == initSecs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  hrs  =  initHrs;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  mins =  initMins;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  secs =  initSecs;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8789" name="Rectangle 5"/>
          <p:cNvSpPr/>
          <p:nvPr/>
        </p:nvSpPr>
        <p:spPr>
          <a:xfrm>
            <a:off x="609600" y="2514600"/>
            <a:ext cx="784860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71CFB06-B240-3DCB-6BED-363D83C197A4}"/>
              </a:ext>
            </a:extLst>
          </p:cNvPr>
          <p:cNvSpPr txBox="1">
            <a:spLocks/>
          </p:cNvSpPr>
          <p:nvPr/>
        </p:nvSpPr>
        <p:spPr>
          <a:xfrm>
            <a:off x="1142999" y="457200"/>
            <a:ext cx="86106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Parameterized Constructor 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20834" name="Rectangle 2"/>
          <p:cNvSpPr/>
          <p:nvPr/>
        </p:nvSpPr>
        <p:spPr>
          <a:xfrm>
            <a:off x="387350" y="1689100"/>
            <a:ext cx="8756650" cy="1511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36" name="Rectangle 4"/>
          <p:cNvSpPr>
            <a:spLocks noGrp="1"/>
          </p:cNvSpPr>
          <p:nvPr>
            <p:ph idx="1"/>
          </p:nvPr>
        </p:nvSpPr>
        <p:spPr>
          <a:xfrm>
            <a:off x="304800" y="1700213"/>
            <a:ext cx="8534400" cy="1271587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Time departureTime;  </a:t>
            </a:r>
            <a:r>
              <a:rPr lang="en-US" altLang="zh-CN" sz="18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Default constructor invoked	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1800">
              <a:solidFill>
                <a:srgbClr val="CC0000"/>
              </a:solidFill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 Time movieTime (19, 30, 0);</a:t>
            </a:r>
            <a:r>
              <a:rPr lang="en-US" altLang="zh-CN" sz="18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Parameterized constructor</a:t>
            </a:r>
            <a:r>
              <a:rPr lang="en-US" altLang="zh-CN" sz="1800">
                <a:latin typeface="Courier" charset="0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		    departureTime			    movieTime</a:t>
            </a:r>
            <a:endParaRPr lang="en-US" altLang="zh-CN" sz="2000">
              <a:solidFill>
                <a:srgbClr val="CC0000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2000" i="1">
              <a:solidFill>
                <a:srgbClr val="CC0000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sz="2000" i="1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120837" name="Oval 5"/>
          <p:cNvSpPr/>
          <p:nvPr/>
        </p:nvSpPr>
        <p:spPr>
          <a:xfrm>
            <a:off x="938213" y="3808413"/>
            <a:ext cx="2824162" cy="2824162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38" name="Oval 6"/>
          <p:cNvSpPr/>
          <p:nvPr/>
        </p:nvSpPr>
        <p:spPr>
          <a:xfrm>
            <a:off x="442913" y="4230688"/>
            <a:ext cx="1316037" cy="288925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39" name="Oval 7"/>
          <p:cNvSpPr/>
          <p:nvPr/>
        </p:nvSpPr>
        <p:spPr>
          <a:xfrm>
            <a:off x="442913" y="5075238"/>
            <a:ext cx="1316037" cy="290512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40" name="Oval 8"/>
          <p:cNvSpPr/>
          <p:nvPr/>
        </p:nvSpPr>
        <p:spPr>
          <a:xfrm>
            <a:off x="442913" y="5557838"/>
            <a:ext cx="1316037" cy="288925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41" name="Oval 9"/>
          <p:cNvSpPr/>
          <p:nvPr/>
        </p:nvSpPr>
        <p:spPr>
          <a:xfrm>
            <a:off x="442913" y="5981700"/>
            <a:ext cx="1316037" cy="287338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42" name="Oval 10"/>
          <p:cNvSpPr/>
          <p:nvPr/>
        </p:nvSpPr>
        <p:spPr>
          <a:xfrm>
            <a:off x="442913" y="4652963"/>
            <a:ext cx="1316037" cy="287337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43" name="Rectangle 11"/>
          <p:cNvSpPr/>
          <p:nvPr/>
        </p:nvSpPr>
        <p:spPr>
          <a:xfrm>
            <a:off x="2073275" y="4594225"/>
            <a:ext cx="1133475" cy="1555750"/>
          </a:xfrm>
          <a:prstGeom prst="rect">
            <a:avLst/>
          </a:prstGeom>
          <a:solidFill>
            <a:srgbClr val="FFFF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44" name="Rectangle 12"/>
          <p:cNvSpPr/>
          <p:nvPr/>
        </p:nvSpPr>
        <p:spPr>
          <a:xfrm>
            <a:off x="2054225" y="4568825"/>
            <a:ext cx="1089025" cy="1468438"/>
          </a:xfrm>
          <a:prstGeom prst="rect">
            <a:avLst/>
          </a:prstGeom>
          <a:noFill/>
          <a:ln w="9525">
            <a:noFill/>
          </a:ln>
        </p:spPr>
        <p:txBody>
          <a:bodyPr wrap="none" lIns="73025" tIns="34925" rIns="73025" bIns="34925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4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Private data:</a:t>
            </a:r>
          </a:p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endParaRPr lang="en-US" altLang="zh-CN" sz="800" b="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4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hrs</a:t>
            </a:r>
          </a:p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endParaRPr lang="en-US" altLang="zh-CN" sz="1400" b="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4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mins</a:t>
            </a:r>
          </a:p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endParaRPr lang="en-US" altLang="zh-CN" sz="1400" b="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4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secs</a:t>
            </a:r>
          </a:p>
        </p:txBody>
      </p:sp>
      <p:sp>
        <p:nvSpPr>
          <p:cNvPr id="120845" name="Rectangle 13"/>
          <p:cNvSpPr/>
          <p:nvPr/>
        </p:nvSpPr>
        <p:spPr>
          <a:xfrm>
            <a:off x="785813" y="4249738"/>
            <a:ext cx="388937" cy="298450"/>
          </a:xfrm>
          <a:prstGeom prst="rect">
            <a:avLst/>
          </a:prstGeom>
          <a:noFill/>
          <a:ln w="9525">
            <a:noFill/>
          </a:ln>
        </p:spPr>
        <p:txBody>
          <a:bodyPr wrap="none" lIns="73025" tIns="34925" rIns="73025" bIns="34925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5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Set</a:t>
            </a:r>
          </a:p>
        </p:txBody>
      </p:sp>
      <p:sp>
        <p:nvSpPr>
          <p:cNvPr id="120846" name="Rectangle 14"/>
          <p:cNvSpPr/>
          <p:nvPr/>
        </p:nvSpPr>
        <p:spPr>
          <a:xfrm>
            <a:off x="544513" y="4672013"/>
            <a:ext cx="960437" cy="298450"/>
          </a:xfrm>
          <a:prstGeom prst="rect">
            <a:avLst/>
          </a:prstGeom>
          <a:noFill/>
          <a:ln w="9525">
            <a:noFill/>
          </a:ln>
        </p:spPr>
        <p:txBody>
          <a:bodyPr wrap="none" lIns="73025" tIns="34925" rIns="73025" bIns="34925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5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Increment</a:t>
            </a:r>
          </a:p>
        </p:txBody>
      </p:sp>
      <p:sp>
        <p:nvSpPr>
          <p:cNvPr id="120847" name="Rectangle 15"/>
          <p:cNvSpPr/>
          <p:nvPr/>
        </p:nvSpPr>
        <p:spPr>
          <a:xfrm>
            <a:off x="727075" y="5092700"/>
            <a:ext cx="579438" cy="298450"/>
          </a:xfrm>
          <a:prstGeom prst="rect">
            <a:avLst/>
          </a:prstGeom>
          <a:noFill/>
          <a:ln w="9525">
            <a:noFill/>
          </a:ln>
        </p:spPr>
        <p:txBody>
          <a:bodyPr wrap="none" lIns="73025" tIns="34925" rIns="73025" bIns="34925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5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120848" name="Rectangle 16"/>
          <p:cNvSpPr/>
          <p:nvPr/>
        </p:nvSpPr>
        <p:spPr>
          <a:xfrm>
            <a:off x="604838" y="5576888"/>
            <a:ext cx="919162" cy="298450"/>
          </a:xfrm>
          <a:prstGeom prst="rect">
            <a:avLst/>
          </a:prstGeom>
          <a:noFill/>
          <a:ln w="9525">
            <a:noFill/>
          </a:ln>
        </p:spPr>
        <p:txBody>
          <a:bodyPr wrap="none" lIns="73025" tIns="34925" rIns="73025" bIns="34925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5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LessThan</a:t>
            </a:r>
          </a:p>
        </p:txBody>
      </p:sp>
      <p:sp>
        <p:nvSpPr>
          <p:cNvPr id="120849" name="Rectangle 17"/>
          <p:cNvSpPr/>
          <p:nvPr/>
        </p:nvSpPr>
        <p:spPr>
          <a:xfrm>
            <a:off x="785813" y="6000750"/>
            <a:ext cx="622300" cy="298450"/>
          </a:xfrm>
          <a:prstGeom prst="rect">
            <a:avLst/>
          </a:prstGeom>
          <a:noFill/>
          <a:ln w="9525">
            <a:noFill/>
          </a:ln>
        </p:spPr>
        <p:txBody>
          <a:bodyPr wrap="none" lIns="73025" tIns="34925" rIns="73025" bIns="34925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5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Equal</a:t>
            </a:r>
          </a:p>
        </p:txBody>
      </p:sp>
      <p:sp>
        <p:nvSpPr>
          <p:cNvPr id="120850" name="Rectangle 18"/>
          <p:cNvSpPr/>
          <p:nvPr/>
        </p:nvSpPr>
        <p:spPr>
          <a:xfrm>
            <a:off x="2555875" y="4895850"/>
            <a:ext cx="530225" cy="288925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51" name="Rectangle 19"/>
          <p:cNvSpPr/>
          <p:nvPr/>
        </p:nvSpPr>
        <p:spPr>
          <a:xfrm>
            <a:off x="2555875" y="5316538"/>
            <a:ext cx="530225" cy="288925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52" name="Rectangle 20"/>
          <p:cNvSpPr/>
          <p:nvPr/>
        </p:nvSpPr>
        <p:spPr>
          <a:xfrm>
            <a:off x="2555875" y="5740400"/>
            <a:ext cx="530225" cy="288925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53" name="Rectangle 21"/>
          <p:cNvSpPr/>
          <p:nvPr/>
        </p:nvSpPr>
        <p:spPr>
          <a:xfrm>
            <a:off x="2651125" y="4824413"/>
            <a:ext cx="314325" cy="12938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900" b="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900" b="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20854" name="Oval 22"/>
          <p:cNvSpPr/>
          <p:nvPr/>
        </p:nvSpPr>
        <p:spPr>
          <a:xfrm>
            <a:off x="5268913" y="3884613"/>
            <a:ext cx="2824162" cy="2824162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55" name="Oval 23"/>
          <p:cNvSpPr/>
          <p:nvPr/>
        </p:nvSpPr>
        <p:spPr>
          <a:xfrm>
            <a:off x="4786313" y="4306888"/>
            <a:ext cx="1316037" cy="288925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56" name="Oval 24"/>
          <p:cNvSpPr/>
          <p:nvPr/>
        </p:nvSpPr>
        <p:spPr>
          <a:xfrm>
            <a:off x="4786313" y="5151438"/>
            <a:ext cx="1316037" cy="290512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57" name="Oval 25"/>
          <p:cNvSpPr/>
          <p:nvPr/>
        </p:nvSpPr>
        <p:spPr>
          <a:xfrm>
            <a:off x="4786313" y="5634038"/>
            <a:ext cx="1316037" cy="288925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58" name="Oval 26"/>
          <p:cNvSpPr/>
          <p:nvPr/>
        </p:nvSpPr>
        <p:spPr>
          <a:xfrm>
            <a:off x="4786313" y="6057900"/>
            <a:ext cx="1316037" cy="287338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59" name="Oval 27"/>
          <p:cNvSpPr/>
          <p:nvPr/>
        </p:nvSpPr>
        <p:spPr>
          <a:xfrm>
            <a:off x="4786313" y="4729163"/>
            <a:ext cx="1316037" cy="287337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60" name="Rectangle 28"/>
          <p:cNvSpPr/>
          <p:nvPr/>
        </p:nvSpPr>
        <p:spPr>
          <a:xfrm>
            <a:off x="6416675" y="4670425"/>
            <a:ext cx="1133475" cy="1555750"/>
          </a:xfrm>
          <a:prstGeom prst="rect">
            <a:avLst/>
          </a:prstGeom>
          <a:solidFill>
            <a:srgbClr val="FFFF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61" name="Rectangle 29"/>
          <p:cNvSpPr/>
          <p:nvPr/>
        </p:nvSpPr>
        <p:spPr>
          <a:xfrm>
            <a:off x="6397625" y="4645025"/>
            <a:ext cx="1089025" cy="1468438"/>
          </a:xfrm>
          <a:prstGeom prst="rect">
            <a:avLst/>
          </a:prstGeom>
          <a:noFill/>
          <a:ln w="9525">
            <a:noFill/>
          </a:ln>
        </p:spPr>
        <p:txBody>
          <a:bodyPr wrap="none" lIns="73025" tIns="34925" rIns="73025" bIns="34925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4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Private data:</a:t>
            </a:r>
          </a:p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endParaRPr lang="en-US" altLang="zh-CN" sz="800" b="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4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hrs</a:t>
            </a:r>
          </a:p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endParaRPr lang="en-US" altLang="zh-CN" sz="1400" b="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4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mins</a:t>
            </a:r>
          </a:p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endParaRPr lang="en-US" altLang="zh-CN" sz="1400" b="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4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secs</a:t>
            </a:r>
          </a:p>
        </p:txBody>
      </p:sp>
      <p:sp>
        <p:nvSpPr>
          <p:cNvPr id="120862" name="Rectangle 30"/>
          <p:cNvSpPr/>
          <p:nvPr/>
        </p:nvSpPr>
        <p:spPr>
          <a:xfrm>
            <a:off x="5129213" y="4325938"/>
            <a:ext cx="388937" cy="298450"/>
          </a:xfrm>
          <a:prstGeom prst="rect">
            <a:avLst/>
          </a:prstGeom>
          <a:noFill/>
          <a:ln w="9525">
            <a:noFill/>
          </a:ln>
        </p:spPr>
        <p:txBody>
          <a:bodyPr wrap="none" lIns="73025" tIns="34925" rIns="73025" bIns="34925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5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Set</a:t>
            </a:r>
          </a:p>
        </p:txBody>
      </p:sp>
      <p:sp>
        <p:nvSpPr>
          <p:cNvPr id="120863" name="Rectangle 31"/>
          <p:cNvSpPr/>
          <p:nvPr/>
        </p:nvSpPr>
        <p:spPr>
          <a:xfrm>
            <a:off x="4887913" y="4748213"/>
            <a:ext cx="960437" cy="298450"/>
          </a:xfrm>
          <a:prstGeom prst="rect">
            <a:avLst/>
          </a:prstGeom>
          <a:noFill/>
          <a:ln w="9525">
            <a:noFill/>
          </a:ln>
        </p:spPr>
        <p:txBody>
          <a:bodyPr wrap="none" lIns="73025" tIns="34925" rIns="73025" bIns="34925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5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Increment</a:t>
            </a:r>
          </a:p>
        </p:txBody>
      </p:sp>
      <p:sp>
        <p:nvSpPr>
          <p:cNvPr id="120864" name="Rectangle 32"/>
          <p:cNvSpPr/>
          <p:nvPr/>
        </p:nvSpPr>
        <p:spPr>
          <a:xfrm>
            <a:off x="5070475" y="5168900"/>
            <a:ext cx="579438" cy="298450"/>
          </a:xfrm>
          <a:prstGeom prst="rect">
            <a:avLst/>
          </a:prstGeom>
          <a:noFill/>
          <a:ln w="9525">
            <a:noFill/>
          </a:ln>
        </p:spPr>
        <p:txBody>
          <a:bodyPr wrap="none" lIns="73025" tIns="34925" rIns="73025" bIns="34925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5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120865" name="Rectangle 33"/>
          <p:cNvSpPr/>
          <p:nvPr/>
        </p:nvSpPr>
        <p:spPr>
          <a:xfrm>
            <a:off x="4948238" y="5653088"/>
            <a:ext cx="919162" cy="298450"/>
          </a:xfrm>
          <a:prstGeom prst="rect">
            <a:avLst/>
          </a:prstGeom>
          <a:noFill/>
          <a:ln w="9525">
            <a:noFill/>
          </a:ln>
        </p:spPr>
        <p:txBody>
          <a:bodyPr wrap="none" lIns="73025" tIns="34925" rIns="73025" bIns="34925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5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LessThan</a:t>
            </a:r>
          </a:p>
        </p:txBody>
      </p:sp>
      <p:sp>
        <p:nvSpPr>
          <p:cNvPr id="120866" name="Rectangle 34"/>
          <p:cNvSpPr/>
          <p:nvPr/>
        </p:nvSpPr>
        <p:spPr>
          <a:xfrm>
            <a:off x="5129213" y="6076950"/>
            <a:ext cx="622300" cy="298450"/>
          </a:xfrm>
          <a:prstGeom prst="rect">
            <a:avLst/>
          </a:prstGeom>
          <a:noFill/>
          <a:ln w="9525">
            <a:noFill/>
          </a:ln>
        </p:spPr>
        <p:txBody>
          <a:bodyPr wrap="none" lIns="73025" tIns="34925" rIns="73025" bIns="34925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defTabSz="576580">
              <a:spcBef>
                <a:spcPct val="0"/>
              </a:spcBef>
              <a:buClrTx/>
              <a:buFontTx/>
              <a:buNone/>
            </a:pPr>
            <a:r>
              <a:rPr lang="en-US" altLang="zh-CN" sz="15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Equal</a:t>
            </a:r>
          </a:p>
        </p:txBody>
      </p:sp>
      <p:sp>
        <p:nvSpPr>
          <p:cNvPr id="120867" name="Rectangle 35"/>
          <p:cNvSpPr/>
          <p:nvPr/>
        </p:nvSpPr>
        <p:spPr>
          <a:xfrm>
            <a:off x="6899275" y="4972050"/>
            <a:ext cx="530225" cy="288925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68" name="Rectangle 36"/>
          <p:cNvSpPr/>
          <p:nvPr/>
        </p:nvSpPr>
        <p:spPr>
          <a:xfrm>
            <a:off x="6899275" y="5392738"/>
            <a:ext cx="530225" cy="288925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69" name="Rectangle 37"/>
          <p:cNvSpPr/>
          <p:nvPr/>
        </p:nvSpPr>
        <p:spPr>
          <a:xfrm>
            <a:off x="6899275" y="5816600"/>
            <a:ext cx="530225" cy="288925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70" name="Rectangle 38"/>
          <p:cNvSpPr/>
          <p:nvPr/>
        </p:nvSpPr>
        <p:spPr>
          <a:xfrm>
            <a:off x="6918325" y="4900613"/>
            <a:ext cx="442913" cy="12938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19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900" b="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30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900" b="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0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DC3EFC2-94CC-CB5E-2626-A0E1C614352C}"/>
              </a:ext>
            </a:extLst>
          </p:cNvPr>
          <p:cNvSpPr txBox="1">
            <a:spLocks/>
          </p:cNvSpPr>
          <p:nvPr/>
        </p:nvSpPr>
        <p:spPr>
          <a:xfrm>
            <a:off x="1142999" y="457200"/>
            <a:ext cx="86106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ea typeface="宋体" panose="02010600030101010101" pitchFamily="2" charset="-122"/>
              </a:rPr>
              <a:t>Automatic invocation of constructors occurs</a:t>
            </a:r>
            <a:r>
              <a:rPr lang="en-US" altLang="zh-CN" sz="3200" i="1" dirty="0">
                <a:ea typeface="宋体" panose="02010600030101010101" pitchFamily="2" charset="-122"/>
              </a:rPr>
              <a:t> 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25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22883" name="矩形 2"/>
          <p:cNvSpPr/>
          <p:nvPr/>
        </p:nvSpPr>
        <p:spPr>
          <a:xfrm>
            <a:off x="228600" y="1219200"/>
            <a:ext cx="8686800" cy="5170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Print a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Point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Class</a:t>
            </a:r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要求编写一个类，来代表二维坐标系上的点。 </a:t>
            </a:r>
            <a:b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要求实现函数：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打印该点坐标 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求两点之间距离 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返回一个点对象，为该点相对于原点的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(0,0)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的对称点  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4. 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判断点是否在给定圆内。</a:t>
            </a: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Input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第一行输入两个整数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x,y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代表点的坐标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x,y)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。 </a:t>
            </a:r>
            <a:b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第二行输入一个正整数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case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代表测试数据的组数。 </a:t>
            </a:r>
            <a:b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对于每一组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case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第一行输入一个数，代表要调用哪个函数，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1 2 3 4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对应题干函数。 </a:t>
            </a:r>
            <a:b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，无后续输入 </a:t>
            </a:r>
            <a:b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，输入两个整数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p, q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代表另一个点的坐标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p,q)  </a:t>
            </a:r>
            <a:b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，无后续输入 </a:t>
            </a:r>
            <a:b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，输入两个整数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p, q, r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(p,q)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代表圆心坐标，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代表圆的半径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点在圆上不算做在圆内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Output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，打印该点坐标，用空格隔开 </a:t>
            </a:r>
            <a:b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，打印两点间距离（误差不超过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10^-5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） </a:t>
            </a:r>
            <a:b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，打印结果点坐标，用空格隔开</a:t>
            </a:r>
            <a:b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，，若点在圆内输出“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Yes”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否则输出“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No”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39039887-248D-A3B2-A3F0-8B525C43F1F5}"/>
              </a:ext>
            </a:extLst>
          </p:cNvPr>
          <p:cNvSpPr txBox="1">
            <a:spLocks/>
          </p:cNvSpPr>
          <p:nvPr/>
        </p:nvSpPr>
        <p:spPr>
          <a:xfrm>
            <a:off x="1142999" y="457200"/>
            <a:ext cx="86106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Exercise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/>
              <a:t>Exercise</a:t>
            </a:r>
            <a:endParaRPr lang="zh-CN" altLang="en-US"/>
          </a:p>
        </p:txBody>
      </p:sp>
      <p:sp>
        <p:nvSpPr>
          <p:cNvPr id="123906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26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23907" name="矩形 4"/>
          <p:cNvSpPr/>
          <p:nvPr/>
        </p:nvSpPr>
        <p:spPr>
          <a:xfrm>
            <a:off x="266700" y="1143000"/>
            <a:ext cx="4572000" cy="3446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Constraints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输入的数均不超过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1000 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Sample Input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1 1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0 1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0 0 3</a:t>
            </a:r>
            <a:endParaRPr lang="zh-CN" altLang="en-US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908" name="矩形 5"/>
          <p:cNvSpPr/>
          <p:nvPr/>
        </p:nvSpPr>
        <p:spPr>
          <a:xfrm>
            <a:off x="266700" y="4465638"/>
            <a:ext cx="4572000" cy="1508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Sample Output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1 1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-1 -1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Yes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en-US" altLang="zh-CN"/>
              <a:t>Exercise</a:t>
            </a:r>
            <a:endParaRPr lang="zh-CN" altLang="en-US"/>
          </a:p>
        </p:txBody>
      </p:sp>
      <p:sp>
        <p:nvSpPr>
          <p:cNvPr id="143362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27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3363" name="矩形 4"/>
          <p:cNvSpPr/>
          <p:nvPr/>
        </p:nvSpPr>
        <p:spPr>
          <a:xfrm>
            <a:off x="266700" y="1143000"/>
            <a:ext cx="4572000" cy="3446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Constraints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输入的数均不超过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1000 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Sample Input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1 1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0 1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0 0 3</a:t>
            </a:r>
            <a:endParaRPr lang="zh-CN" altLang="en-US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64" name="矩形 5"/>
          <p:cNvSpPr/>
          <p:nvPr/>
        </p:nvSpPr>
        <p:spPr>
          <a:xfrm>
            <a:off x="266700" y="4465638"/>
            <a:ext cx="4572000" cy="1508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Sample Output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1 1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-1 -1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Yes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65" name="文本框 1"/>
          <p:cNvSpPr txBox="1"/>
          <p:nvPr/>
        </p:nvSpPr>
        <p:spPr>
          <a:xfrm>
            <a:off x="3573463" y="1277938"/>
            <a:ext cx="4800600" cy="4894262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class Point{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private: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double x, y;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public: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Point(double xx=0, double yy=0){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    x=xx; 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    y=yy;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}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void print(){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    cout&lt;&lt;x&lt;&lt;" "&lt;&lt;y&lt;&lt;endl;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}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double distance(Point&amp; b){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    return sqrt((x-b.x)*(x-b.x)+(y-b.y)*(y-b.y));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}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Point syn(){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    return Point(-x,-y);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}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bool circle(double p,double q,double r){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    Point pt1(x,y),pt2(p,q);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    if (pt1.distance(pt2)&lt;r) return true;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    else return false;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    }</a:t>
            </a:r>
          </a:p>
          <a:p>
            <a:pPr>
              <a:buNone/>
            </a:pPr>
            <a:r>
              <a:rPr lang="" altLang="zh-CN" sz="1200">
                <a:latin typeface="Consolas" panose="020B0609020204030204" pitchFamily="49" charset="0"/>
              </a:rPr>
              <a:t>}pt;</a:t>
            </a:r>
          </a:p>
          <a:p>
            <a:pPr>
              <a:buNone/>
            </a:pPr>
            <a:endParaRPr lang="zh-CN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en-US" altLang="zh-CN"/>
              <a:t>Exercise</a:t>
            </a:r>
            <a:endParaRPr lang="zh-CN" altLang="en-US"/>
          </a:p>
        </p:txBody>
      </p:sp>
      <p:sp>
        <p:nvSpPr>
          <p:cNvPr id="144386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28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4387" name="矩形 2"/>
          <p:cNvSpPr/>
          <p:nvPr/>
        </p:nvSpPr>
        <p:spPr>
          <a:xfrm>
            <a:off x="228600" y="1219200"/>
            <a:ext cx="8686800" cy="4894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Print a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Circle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Class</a:t>
            </a:r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要求编写一个类，来代表二维坐标系上的圆。</a:t>
            </a:r>
            <a:b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要求实现函数：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打印圆心坐标 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求圆的面积 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求圆的周长  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4. 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判断两圆是否相切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包括内切和外切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Input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第一行输入三个整数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x,y,r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代表圆心的坐标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x,y)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半径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第二行输入一个正整数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case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代表测试数据的组数。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对于每一组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case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第一行输入一个数，代表要调用哪个函数，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1 2 3 4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对应题干函数。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，无后续输入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，无后续输入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，无后续输入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，输入两个整数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p, q, r1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(p,q)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代表第二个圆圆心坐标，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r1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代表第二个圆半径</a:t>
            </a: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Output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，打印圆心坐标，用空格隔开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，打印圆的面积，误差不超过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10^-5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，打印圆的周长，误差不超过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10^-5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对于函数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，，若点在两圆相切输出“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Yes”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否则输出“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No”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en-US" altLang="zh-CN"/>
              <a:t>Exercise</a:t>
            </a:r>
            <a:endParaRPr lang="zh-CN" altLang="en-US"/>
          </a:p>
        </p:txBody>
      </p:sp>
      <p:sp>
        <p:nvSpPr>
          <p:cNvPr id="145410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29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5411" name="矩形 4"/>
          <p:cNvSpPr/>
          <p:nvPr/>
        </p:nvSpPr>
        <p:spPr>
          <a:xfrm>
            <a:off x="266700" y="1143000"/>
            <a:ext cx="4572000" cy="3170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Constraints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输入的数均不超过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1000 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Sample Input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0 0 1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2 0 1</a:t>
            </a:r>
            <a:endParaRPr lang="zh-CN" altLang="en-US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5412" name="矩形 5"/>
          <p:cNvSpPr/>
          <p:nvPr/>
        </p:nvSpPr>
        <p:spPr>
          <a:xfrm>
            <a:off x="266700" y="4465638"/>
            <a:ext cx="4572000" cy="1508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Sample Output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0 0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3.14159265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6.2831853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Yes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en-US" altLang="zh-CN"/>
              <a:t>Exercise</a:t>
            </a:r>
            <a:endParaRPr lang="zh-CN" altLang="en-US"/>
          </a:p>
        </p:txBody>
      </p:sp>
      <p:sp>
        <p:nvSpPr>
          <p:cNvPr id="146434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30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6435" name="矩形 2"/>
          <p:cNvSpPr/>
          <p:nvPr/>
        </p:nvSpPr>
        <p:spPr>
          <a:xfrm>
            <a:off x="228600" y="1219200"/>
            <a:ext cx="8686800" cy="3786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Print a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MyString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Class</a:t>
            </a:r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该问题需要实现一个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MyString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类。需要包含以下成员函数。 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MyString(const char*) 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将字符串构建为一个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MyString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实例 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MyString.length()  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返回字符串的长度 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MyString.find(const char* find_str) 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查询实例中是否含有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find_str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如果含有，则返回首位置长度，不含则返回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-1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Input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第一行包含一个只有小写字母的字符串，表示需要将这个字符串构建为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MyString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实例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第二行包含一个整数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表示询问次数 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之后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行，如果输入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，则返回字符串的长度。 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如果输入</a:t>
            </a: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2 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str</a:t>
            </a:r>
            <a:r>
              <a:rPr lang="zh-CN" altLang="" sz="1800" b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则返回在实例中查询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str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的结果。其中</a:t>
            </a: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str</a:t>
            </a: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为只包含小写字母的字符串。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Output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</a:rPr>
              <a:t>对于每个询问，输出询问结果，结果占一行。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en-US" altLang="zh-CN"/>
              <a:t>Exercise</a:t>
            </a:r>
            <a:endParaRPr lang="zh-CN" altLang="en-US"/>
          </a:p>
        </p:txBody>
      </p:sp>
      <p:sp>
        <p:nvSpPr>
          <p:cNvPr id="147458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31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47459" name="矩形 4"/>
          <p:cNvSpPr/>
          <p:nvPr/>
        </p:nvSpPr>
        <p:spPr>
          <a:xfrm>
            <a:off x="266700" y="1143000"/>
            <a:ext cx="4572000" cy="2862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Constraints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输入的字符串长度均不超过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10000 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Sample Input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hellomystring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2 hello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2 hollw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2 my</a:t>
            </a:r>
            <a:endParaRPr lang="zh-CN" altLang="en-US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7460" name="矩形 5"/>
          <p:cNvSpPr/>
          <p:nvPr/>
        </p:nvSpPr>
        <p:spPr>
          <a:xfrm>
            <a:off x="266700" y="4465638"/>
            <a:ext cx="4572000" cy="1508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Sample Output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-1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addf623-44ff-4d28-b91f-b4e20d1b4bed"/>
  <p:tag name="COMMONDATA" val="eyJoZGlkIjoiZjQ2N2Q5MDA2ODkwZTA2YmZkMmJiZDQ5ZDg0NTJjZjgifQ=="/>
</p:tagLst>
</file>

<file path=ppt/theme/theme1.xml><?xml version="1.0" encoding="utf-8"?>
<a:theme xmlns:a="http://schemas.openxmlformats.org/drawingml/2006/main" name="主题1">
  <a:themeElements>
    <a:clrScheme name="117TGp_report_diagram_v2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117TGp_report_diagram_v2">
      <a:majorFont>
        <a:latin typeface="Times New Roman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 fontAlgn="base">
          <a:defRPr sz="1200" b="0" i="0" u="none" strike="noStrike" dirty="0"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117TGp_report_diagram_v2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2734</Words>
  <Application>Microsoft Macintosh PowerPoint</Application>
  <PresentationFormat>全屏显示(4:3)</PresentationFormat>
  <Paragraphs>511</Paragraphs>
  <Slides>31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  <vt:variant>
        <vt:lpstr>自定义放映</vt:lpstr>
      </vt:variant>
      <vt:variant>
        <vt:i4>1</vt:i4>
      </vt:variant>
    </vt:vector>
  </HeadingPairs>
  <TitlesOfParts>
    <vt:vector size="49" baseType="lpstr">
      <vt:lpstr>黑体</vt:lpstr>
      <vt:lpstr>KaiTi</vt:lpstr>
      <vt:lpstr>楷体_GB2312</vt:lpstr>
      <vt:lpstr>宋体</vt:lpstr>
      <vt:lpstr>微软雅黑</vt:lpstr>
      <vt:lpstr>Arial</vt:lpstr>
      <vt:lpstr>Arial Black</vt:lpstr>
      <vt:lpstr>Arial Rounded MT Bold</vt:lpstr>
      <vt:lpstr>Consolas</vt:lpstr>
      <vt:lpstr>Courier</vt:lpstr>
      <vt:lpstr>Courier New</vt:lpstr>
      <vt:lpstr>Lucida Sans Unicode</vt:lpstr>
      <vt:lpstr>Monotype Sorts</vt:lpstr>
      <vt:lpstr>Times New Roman</vt:lpstr>
      <vt:lpstr>Verdana</vt:lpstr>
      <vt:lpstr>Wingdings</vt:lpstr>
      <vt:lpstr>主题1</vt:lpstr>
      <vt:lpstr>程序设计原理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Specification of Time Class Constructors </vt:lpstr>
      <vt:lpstr>PowerPoint 演示文稿</vt:lpstr>
      <vt:lpstr>PowerPoint 演示文稿</vt:lpstr>
      <vt:lpstr>PowerPoint 演示文稿</vt:lpstr>
      <vt:lpstr>PowerPoint 演示文稿</vt:lpstr>
      <vt:lpstr>Exercise</vt:lpstr>
      <vt:lpstr>Exercise</vt:lpstr>
      <vt:lpstr>Exercise</vt:lpstr>
      <vt:lpstr>Exercise</vt:lpstr>
      <vt:lpstr>Exercise</vt:lpstr>
      <vt:lpstr>Exercise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Methods</dc:title>
  <dc:creator>Y. Daniel Liang</dc:creator>
  <cp:lastModifiedBy>一隆 范</cp:lastModifiedBy>
  <cp:revision>428</cp:revision>
  <dcterms:created xsi:type="dcterms:W3CDTF">1995-06-10T17:31:50Z</dcterms:created>
  <dcterms:modified xsi:type="dcterms:W3CDTF">2024-09-16T17:34:31Z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4A38E43AE89040F1A98938C1D6CFE439</vt:lpwstr>
  </property>
  <property fmtid="{D5CDD505-2E9C-101B-9397-08002B2CF9AE}" pid="3" name="KSOProductBuildVer">
    <vt:lpwstr>2052-11.1.0.12598</vt:lpwstr>
  </property>
</Properties>
</file>