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17"/>
  </p:notesMasterIdLst>
  <p:sldIdLst>
    <p:sldId id="687" r:id="rId2"/>
    <p:sldId id="677" r:id="rId3"/>
    <p:sldId id="684" r:id="rId4"/>
    <p:sldId id="685" r:id="rId5"/>
    <p:sldId id="708" r:id="rId6"/>
    <p:sldId id="709" r:id="rId7"/>
    <p:sldId id="686" r:id="rId8"/>
    <p:sldId id="679" r:id="rId9"/>
    <p:sldId id="681" r:id="rId10"/>
    <p:sldId id="682" r:id="rId11"/>
    <p:sldId id="683" r:id="rId12"/>
    <p:sldId id="578" r:id="rId13"/>
    <p:sldId id="579" r:id="rId14"/>
    <p:sldId id="582" r:id="rId15"/>
    <p:sldId id="583" r:id="rId16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60" autoAdjust="0"/>
    <p:restoredTop sz="90929"/>
  </p:normalViewPr>
  <p:slideViewPr>
    <p:cSldViewPr>
      <p:cViewPr varScale="1">
        <p:scale>
          <a:sx n="90" d="100"/>
          <a:sy n="90" d="100"/>
        </p:scale>
        <p:origin x="858" y="36"/>
      </p:cViewPr>
      <p:guideLst>
        <p:guide orient="horz" pos="864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>
            <a:extLst>
              <a:ext uri="{FF2B5EF4-FFF2-40B4-BE49-F238E27FC236}">
                <a16:creationId xmlns:a16="http://schemas.microsoft.com/office/drawing/2014/main" id="{187CF51D-761C-C088-A782-98E0956F0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0" name="备注占位符 2">
            <a:extLst>
              <a:ext uri="{FF2B5EF4-FFF2-40B4-BE49-F238E27FC236}">
                <a16:creationId xmlns:a16="http://schemas.microsoft.com/office/drawing/2014/main" id="{B2333F22-3780-6A35-1A7E-F6169A8DA0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http://www.tju.edu.cn/yx/images/badge.gif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9">
            <a:extLst>
              <a:ext uri="{FF2B5EF4-FFF2-40B4-BE49-F238E27FC236}">
                <a16:creationId xmlns:a16="http://schemas.microsoft.com/office/drawing/2014/main" id="{77B3D5EA-2B94-C5C7-F089-FB02A3D62365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3" name="Rectangle 18">
              <a:extLst>
                <a:ext uri="{FF2B5EF4-FFF2-40B4-BE49-F238E27FC236}">
                  <a16:creationId xmlns:a16="http://schemas.microsoft.com/office/drawing/2014/main" id="{7C149A8D-77AC-1417-453D-02DCF9A6B47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4" name="Rectangle 28">
              <a:extLst>
                <a:ext uri="{FF2B5EF4-FFF2-40B4-BE49-F238E27FC236}">
                  <a16:creationId xmlns:a16="http://schemas.microsoft.com/office/drawing/2014/main" id="{BC73555B-080A-1037-5B94-ED756730E43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5" name="Rectangle 17">
            <a:extLst>
              <a:ext uri="{FF2B5EF4-FFF2-40B4-BE49-F238E27FC236}">
                <a16:creationId xmlns:a16="http://schemas.microsoft.com/office/drawing/2014/main" id="{07C03893-0979-60AC-4A2F-B00C84D8EC2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0C7977DE-6C67-2BAA-62D8-4BEA53507E1B}"/>
              </a:ext>
            </a:extLst>
          </p:cNvPr>
          <p:cNvSpPr>
            <a:spLocks noChangeArrowheads="1"/>
          </p:cNvSpPr>
          <p:nvPr/>
        </p:nvSpPr>
        <p:spPr bwMode="gray">
          <a:xfrm>
            <a:off x="573088" y="2520950"/>
            <a:ext cx="576262" cy="64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20">
            <a:extLst>
              <a:ext uri="{FF2B5EF4-FFF2-40B4-BE49-F238E27FC236}">
                <a16:creationId xmlns:a16="http://schemas.microsoft.com/office/drawing/2014/main" id="{CDAE65D7-E1BE-EA01-42B0-62E9178E4B4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16088" y="628650"/>
            <a:ext cx="566737" cy="63658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2CDC3180-1023-D340-6400-ADC6EF185F2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78063" y="0"/>
            <a:ext cx="585787" cy="635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66D1A1CB-16D7-A386-9C4D-BCED064E95D3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81238" y="628650"/>
            <a:ext cx="585787" cy="63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BC208620-E4D4-849C-AF4C-DE55F23ED62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Rectangle 24">
            <a:extLst>
              <a:ext uri="{FF2B5EF4-FFF2-40B4-BE49-F238E27FC236}">
                <a16:creationId xmlns:a16="http://schemas.microsoft.com/office/drawing/2014/main" id="{8C22C3E4-FAE5-37D7-D202-02643405CD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16088" y="1263650"/>
            <a:ext cx="566737" cy="62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Rectangle 25">
            <a:extLst>
              <a:ext uri="{FF2B5EF4-FFF2-40B4-BE49-F238E27FC236}">
                <a16:creationId xmlns:a16="http://schemas.microsoft.com/office/drawing/2014/main" id="{F79D69B6-12FE-964B-A2DB-E775AECD04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573088" y="1885950"/>
            <a:ext cx="576262" cy="64452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Rectangle 26">
            <a:extLst>
              <a:ext uri="{FF2B5EF4-FFF2-40B4-BE49-F238E27FC236}">
                <a16:creationId xmlns:a16="http://schemas.microsoft.com/office/drawing/2014/main" id="{485E483A-976C-A5A4-E6E1-691C6A3BD4B7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1413" y="1885950"/>
            <a:ext cx="576262" cy="64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687637E5-8053-D2CE-B1BA-E3067613072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528888"/>
            <a:ext cx="574675" cy="633412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pic>
        <p:nvPicPr>
          <p:cNvPr id="15" name="Picture 30" descr="http://www.tju.edu.cn/yx/images/badge.gif">
            <a:extLst>
              <a:ext uri="{FF2B5EF4-FFF2-40B4-BE49-F238E27FC236}">
                <a16:creationId xmlns:a16="http://schemas.microsoft.com/office/drawing/2014/main" id="{5793F179-263D-233B-AEB0-E03DEA012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2163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4400" i="1">
                <a:latin typeface="Verdana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614727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7A3208-4997-C673-7397-5C1C6EBCBC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39113" y="0"/>
            <a:ext cx="1004887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defRPr/>
            </a:pP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字符数组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11189F3-2319-3BFA-2A03-0A4D2BA9DB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C59500-4286-DF4D-B101-A4D01E8500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808969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5F75978-A8F3-1A94-C40F-350F54EBBD4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B3BDBD-DCC7-444E-9EB0-FAC0A263F9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072738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2CCC7E0-4C04-B608-6830-4C6DBFAE20F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D03882-EF98-D843-9CB0-1DB3C1860D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565856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DAC9DF-7A60-B311-42CF-66EEB7F1A08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85980-7D78-C04B-8101-CBE8DA220A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369406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D86F985-3842-90E9-F33B-92BDFDF1D8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AC0A6E-ADBF-F043-ACE8-F99D36D7C1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967394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8D0C227-F898-BB93-1585-B11E552F62A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619A8-D030-5647-A40F-19ABE5B918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287999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CCF1AA-E8EC-B631-0180-DAC1DEC525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41ECD-40EA-A44F-AC55-73AE0EF248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442299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0A6045-7A7D-DF13-284E-50C5D1AC6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F019EF-9D99-1F4B-8F67-F5451C6A5C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6127A6-AE00-D5AB-2086-998A56449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3" y="6165850"/>
            <a:ext cx="7380287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670548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323F4C-DFD4-11D7-6108-07A040332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33AF8-6DAD-1048-985D-F576E6A350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2EFD62-D579-969B-9F48-894444FE9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3" y="6165850"/>
            <a:ext cx="7380287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25464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457200"/>
            <a:ext cx="2057400" cy="5916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457200"/>
            <a:ext cx="6019800" cy="5916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9087CE-B37E-C36F-6F76-5C93B5F099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0FBD1-4169-EF45-979B-C1608AF534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CB8FBD-92CF-156A-728F-948C31253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3" y="6165850"/>
            <a:ext cx="7380287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714748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457200"/>
            <a:ext cx="8229600" cy="5916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4F14F3-89CC-91FD-3A49-D23802931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20C0B8-0136-EC49-957A-DAD52466E6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84EAFB-C4D4-4D3C-54DA-255AE12FE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3" y="6165850"/>
            <a:ext cx="7380287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2747540"/>
      </p:ext>
    </p:extLst>
  </p:cSld>
  <p:clrMapOvr>
    <a:masterClrMapping/>
  </p:clrMapOvr>
  <p:transition>
    <p:fade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625"/>
            <a:ext cx="8493125" cy="68897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95400"/>
            <a:ext cx="4151313" cy="4876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3" y="1295400"/>
            <a:ext cx="4151312" cy="4876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215A7-E982-5134-3DCC-CEC96F2B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B8CE0-4E54-8AA5-D6BF-C86D18FB4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Liang, Introduction to C++ Programming, (c) 2007 Pearson Education, Inc. All rights reserved. 013225445X</a:t>
            </a:r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70E37-26C8-5DA8-E6FF-E37494858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13151-9C4D-704A-9DA1-490522E2FB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666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http://www.tju.edu.cn/yx/images/badge.gif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>
            <a:extLst>
              <a:ext uri="{FF2B5EF4-FFF2-40B4-BE49-F238E27FC236}">
                <a16:creationId xmlns:a16="http://schemas.microsoft.com/office/drawing/2014/main" id="{9CB35C6B-08B0-2A11-109B-3C82F688BA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5638" y="360363"/>
            <a:ext cx="8497887" cy="719137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C89F28-1AB4-6F7F-6F93-AB1642363E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125538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0A57D68-FD6B-20B3-5283-61D9A7A139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Lucida Sans Unicode" panose="020B0602030504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E7BAE58-DA3F-0A48-A898-E3E8857422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3C755135-5CD1-47BA-6952-65E64BBCEE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143000" y="457200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Rectangle 24">
            <a:extLst>
              <a:ext uri="{FF2B5EF4-FFF2-40B4-BE49-F238E27FC236}">
                <a16:creationId xmlns:a16="http://schemas.microsoft.com/office/drawing/2014/main" id="{2213E4FD-989B-7393-3A3D-DA2400C67E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Rectangle 25">
            <a:extLst>
              <a:ext uri="{FF2B5EF4-FFF2-40B4-BE49-F238E27FC236}">
                <a16:creationId xmlns:a16="http://schemas.microsoft.com/office/drawing/2014/main" id="{B1BB921E-1F2F-EDBC-C42F-B7ADE35807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613" y="357188"/>
            <a:ext cx="328612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2" name="Rectangle 26">
            <a:extLst>
              <a:ext uri="{FF2B5EF4-FFF2-40B4-BE49-F238E27FC236}">
                <a16:creationId xmlns:a16="http://schemas.microsoft.com/office/drawing/2014/main" id="{D2E50E35-37F0-403E-AA46-983FA14DC0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3" name="Rectangle 28">
            <a:extLst>
              <a:ext uri="{FF2B5EF4-FFF2-40B4-BE49-F238E27FC236}">
                <a16:creationId xmlns:a16="http://schemas.microsoft.com/office/drawing/2014/main" id="{F18975E2-5EF1-393C-A8BF-0DE2A0FF7BA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4" name="Rectangle 29">
            <a:extLst>
              <a:ext uri="{FF2B5EF4-FFF2-40B4-BE49-F238E27FC236}">
                <a16:creationId xmlns:a16="http://schemas.microsoft.com/office/drawing/2014/main" id="{10773627-6D55-EC33-EB55-1556F1D9F72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613" y="719138"/>
            <a:ext cx="328612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pic>
        <p:nvPicPr>
          <p:cNvPr id="1035" name="Picture 31" descr="http://www.tju.edu.cn/yx/images/badge.gif">
            <a:extLst>
              <a:ext uri="{FF2B5EF4-FFF2-40B4-BE49-F238E27FC236}">
                <a16:creationId xmlns:a16="http://schemas.microsoft.com/office/drawing/2014/main" id="{5BE993C8-20EC-85A9-3323-9C1CD96A4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r:link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2163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3" r:id="rId1"/>
    <p:sldLayoutId id="2147484174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5" r:id="rId9"/>
    <p:sldLayoutId id="2147484176" r:id="rId10"/>
    <p:sldLayoutId id="2147484177" r:id="rId11"/>
    <p:sldLayoutId id="2147484178" r:id="rId12"/>
    <p:sldLayoutId id="2147484179" r:id="rId13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Font typeface="Wingdings" pitchFamily="2" charset="2"/>
        <a:buChar char="Ø"/>
        <a:defRPr sz="2800" b="1">
          <a:solidFill>
            <a:srgbClr val="000099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l"/>
        <a:defRPr sz="2800" b="1">
          <a:solidFill>
            <a:srgbClr val="000099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Char char="•"/>
        <a:defRPr sz="2400" b="1">
          <a:solidFill>
            <a:srgbClr val="000099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99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  <a:cs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03216393-501C-A2C6-7AB2-6543DF87396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2209800"/>
            <a:ext cx="8229600" cy="1066800"/>
          </a:xfrm>
        </p:spPr>
        <p:txBody>
          <a:bodyPr/>
          <a:lstStyle/>
          <a:p>
            <a:r>
              <a:rPr lang="zh-CN" altLang="en-US" sz="4800"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程序设计原理</a:t>
            </a:r>
          </a:p>
        </p:txBody>
      </p:sp>
      <p:sp>
        <p:nvSpPr>
          <p:cNvPr id="16386" name="文本框 1">
            <a:extLst>
              <a:ext uri="{FF2B5EF4-FFF2-40B4-BE49-F238E27FC236}">
                <a16:creationId xmlns:a16="http://schemas.microsoft.com/office/drawing/2014/main" id="{6F98BC3E-4587-1D05-593E-40F9894CF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75" y="3198813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字符数组</a:t>
            </a:r>
            <a:endParaRPr lang="en-US" altLang="zh-CN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7" name="矩形 1">
            <a:extLst>
              <a:ext uri="{FF2B5EF4-FFF2-40B4-BE49-F238E27FC236}">
                <a16:creationId xmlns:a16="http://schemas.microsoft.com/office/drawing/2014/main" id="{45CF4408-B53D-65EE-50A1-EAA1135C1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267200"/>
            <a:ext cx="3657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任课教师： 喻  梅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于瑞国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王建荣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李雪威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赵满坤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Rectangle 3">
            <a:extLst>
              <a:ext uri="{FF2B5EF4-FFF2-40B4-BE49-F238E27FC236}">
                <a16:creationId xmlns:a16="http://schemas.microsoft.com/office/drawing/2014/main" id="{209892C9-E8E2-393A-2505-7D41E71D12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7663" y="1508125"/>
            <a:ext cx="8526462" cy="4570413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      Strings are used often in programming. You have used string literals. A string is a sequence of characters. There are two ways to process strings in C++. One way is to process strings using the string </a:t>
            </a:r>
            <a:r>
              <a:rPr lang="en-US" altLang="zh-CN" b="0" dirty="0" err="1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class.</a:t>
            </a:r>
            <a:r>
              <a:rPr lang="en-US" altLang="zh-CN" b="0" dirty="0" err="1">
                <a:solidFill>
                  <a:schemeClr val="tx1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  <a:cs typeface="+mn-cs"/>
              </a:rPr>
              <a:t>The</a:t>
            </a:r>
            <a:r>
              <a:rPr lang="en-US" altLang="zh-CN" b="0" dirty="0">
                <a:solidFill>
                  <a:schemeClr val="tx1"/>
                </a:solidFill>
                <a:latin typeface="华光楷体_CNKI" panose="02000500000000000000" pitchFamily="2" charset="-122"/>
                <a:ea typeface="华光楷体_CNKI" panose="02000500000000000000" pitchFamily="2" charset="-122"/>
                <a:cs typeface="+mn-cs"/>
              </a:rPr>
              <a:t> other way is to treat strings as arrays of characters. This is known as pointer-based strings or C-strings. </a:t>
            </a:r>
          </a:p>
        </p:txBody>
      </p:sp>
      <p:sp>
        <p:nvSpPr>
          <p:cNvPr id="18434" name="灯片编号占位符 4">
            <a:extLst>
              <a:ext uri="{FF2B5EF4-FFF2-40B4-BE49-F238E27FC236}">
                <a16:creationId xmlns:a16="http://schemas.microsoft.com/office/drawing/2014/main" id="{62ED495C-264C-D506-EB92-5EEF2BB75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DFFBCF-AF5A-5D4A-A9D6-D5F2F4872439}" type="slidenum">
              <a:rPr lang="en-US" altLang="zh-CN" sz="1600" b="0" smtClean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7DAE9EE-06D9-53F8-8A95-A44447E32623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 err="1">
                <a:ea typeface="宋体" panose="02010600030101010101" pitchFamily="2" charset="-122"/>
              </a:rPr>
              <a:t>CStrings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3">
            <a:extLst>
              <a:ext uri="{FF2B5EF4-FFF2-40B4-BE49-F238E27FC236}">
                <a16:creationId xmlns:a16="http://schemas.microsoft.com/office/drawing/2014/main" id="{FEDC5BD4-CC5A-3CBF-DA1D-1B541C52D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Two ways to declare C-string</a:t>
            </a:r>
          </a:p>
          <a:p>
            <a:pPr marL="457200" lvl="1" indent="0" eaLnBrk="1" hangingPunct="1">
              <a:buFont typeface="Wingdings" pitchFamily="2" charset="2"/>
              <a:buNone/>
              <a:defRPr/>
            </a:pPr>
            <a:r>
              <a:rPr lang="en-US" altLang="zh-CN"/>
              <a:t>Using an array variable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CC0099"/>
                </a:solidFill>
              </a:rPr>
              <a:t>char city[7] =  "Dallas";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CC0099"/>
                </a:solidFill>
              </a:rPr>
              <a:t>char city[] =  {'D', 'a', 'l', 'l', 'a', 's', '\0' };</a:t>
            </a:r>
            <a:endParaRPr lang="en-US" altLang="zh-CN" i="1" dirty="0">
              <a:solidFill>
                <a:srgbClr val="CC0099"/>
              </a:solidFill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CC0099"/>
                </a:solidFill>
              </a:rPr>
              <a:t>char city[] =  "Dallas";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CC0099"/>
                </a:solidFill>
              </a:rPr>
              <a:t>cout</a:t>
            </a:r>
            <a:r>
              <a:rPr lang="en-US" altLang="zh-CN" dirty="0">
                <a:solidFill>
                  <a:srgbClr val="CC0099"/>
                </a:solidFill>
              </a:rPr>
              <a:t> &lt;&lt; city;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endParaRPr lang="en-US" altLang="zh-CN" dirty="0">
              <a:solidFill>
                <a:srgbClr val="CC0099"/>
              </a:solidFill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endParaRPr lang="en-US" altLang="zh-CN" dirty="0">
              <a:solidFill>
                <a:srgbClr val="CC0099"/>
              </a:solidFill>
            </a:endParaRPr>
          </a:p>
          <a:p>
            <a:pPr lvl="1" eaLnBrk="1" hangingPunct="1">
              <a:defRPr/>
            </a:pPr>
            <a:endParaRPr lang="en-US" altLang="zh-CN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28CC79F-D253-28C9-DA4D-934377207777}"/>
              </a:ext>
            </a:extLst>
          </p:cNvPr>
          <p:cNvGrpSpPr>
            <a:grpSpLocks/>
          </p:cNvGrpSpPr>
          <p:nvPr/>
        </p:nvGrpSpPr>
        <p:grpSpPr bwMode="auto">
          <a:xfrm>
            <a:off x="577850" y="4464050"/>
            <a:ext cx="7567613" cy="511175"/>
            <a:chOff x="339" y="2346"/>
            <a:chExt cx="5251" cy="438"/>
          </a:xfrm>
        </p:grpSpPr>
        <p:pic>
          <p:nvPicPr>
            <p:cNvPr id="19468" name="Picture 5">
              <a:extLst>
                <a:ext uri="{FF2B5EF4-FFF2-40B4-BE49-F238E27FC236}">
                  <a16:creationId xmlns:a16="http://schemas.microsoft.com/office/drawing/2014/main" id="{B70EDAFE-9231-57F2-C132-730F67DE25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" y="2346"/>
              <a:ext cx="4476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9" name="Picture 6">
              <a:extLst>
                <a:ext uri="{FF2B5EF4-FFF2-40B4-BE49-F238E27FC236}">
                  <a16:creationId xmlns:a16="http://schemas.microsoft.com/office/drawing/2014/main" id="{AAA47659-DF7D-8D04-52AB-2C469B7D2B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4" y="2349"/>
              <a:ext cx="816" cy="410"/>
            </a:xfrm>
            <a:prstGeom prst="rect">
              <a:avLst/>
            </a:prstGeom>
            <a:noFill/>
            <a:ln w="38100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3841D22C-5094-B767-3DAA-AE3CFBBFD4ED}"/>
              </a:ext>
            </a:extLst>
          </p:cNvPr>
          <p:cNvGrpSpPr>
            <a:grpSpLocks/>
          </p:cNvGrpSpPr>
          <p:nvPr/>
        </p:nvGrpSpPr>
        <p:grpSpPr bwMode="auto">
          <a:xfrm>
            <a:off x="577850" y="4964113"/>
            <a:ext cx="7527925" cy="307975"/>
            <a:chOff x="122" y="2393"/>
            <a:chExt cx="5009" cy="323"/>
          </a:xfrm>
        </p:grpSpPr>
        <p:pic>
          <p:nvPicPr>
            <p:cNvPr id="19466" name="Picture 8">
              <a:extLst>
                <a:ext uri="{FF2B5EF4-FFF2-40B4-BE49-F238E27FC236}">
                  <a16:creationId xmlns:a16="http://schemas.microsoft.com/office/drawing/2014/main" id="{E65839CC-093B-4367-87F2-43B4CF2FA0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" y="2402"/>
              <a:ext cx="3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7" name="Picture 9">
              <a:extLst>
                <a:ext uri="{FF2B5EF4-FFF2-40B4-BE49-F238E27FC236}">
                  <a16:creationId xmlns:a16="http://schemas.microsoft.com/office/drawing/2014/main" id="{85731B7F-4A01-299A-ECC3-AA059C6AAE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4" y="2393"/>
              <a:ext cx="1307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18A112D5-2E35-1D63-BC13-0FA0BBB67479}"/>
              </a:ext>
            </a:extLst>
          </p:cNvPr>
          <p:cNvGrpSpPr>
            <a:grpSpLocks/>
          </p:cNvGrpSpPr>
          <p:nvPr/>
        </p:nvGrpSpPr>
        <p:grpSpPr bwMode="auto">
          <a:xfrm>
            <a:off x="8080375" y="3775075"/>
            <a:ext cx="692150" cy="460375"/>
            <a:chOff x="3582" y="3660"/>
            <a:chExt cx="701" cy="660"/>
          </a:xfrm>
        </p:grpSpPr>
        <p:sp>
          <p:nvSpPr>
            <p:cNvPr id="19464" name="Line 11">
              <a:extLst>
                <a:ext uri="{FF2B5EF4-FFF2-40B4-BE49-F238E27FC236}">
                  <a16:creationId xmlns:a16="http://schemas.microsoft.com/office/drawing/2014/main" id="{0AAC6EF9-BFDE-82DB-53AC-75E4626BE4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82" y="3684"/>
              <a:ext cx="677" cy="636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5" name="Line 12">
              <a:extLst>
                <a:ext uri="{FF2B5EF4-FFF2-40B4-BE49-F238E27FC236}">
                  <a16:creationId xmlns:a16="http://schemas.microsoft.com/office/drawing/2014/main" id="{7E9FA160-2983-CF5A-CD94-AA07A00F0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5" y="3660"/>
              <a:ext cx="508" cy="660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4669" name="Rectangle 13">
            <a:extLst>
              <a:ext uri="{FF2B5EF4-FFF2-40B4-BE49-F238E27FC236}">
                <a16:creationId xmlns:a16="http://schemas.microsoft.com/office/drawing/2014/main" id="{CE87BD5A-0812-D685-5840-8E73B68B9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263" y="3808413"/>
            <a:ext cx="3694112" cy="4572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7A997A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char city[7]; city= "Dallas";</a:t>
            </a:r>
          </a:p>
        </p:txBody>
      </p:sp>
      <p:sp>
        <p:nvSpPr>
          <p:cNvPr id="19462" name="灯片编号占位符 3">
            <a:extLst>
              <a:ext uri="{FF2B5EF4-FFF2-40B4-BE49-F238E27FC236}">
                <a16:creationId xmlns:a16="http://schemas.microsoft.com/office/drawing/2014/main" id="{044CECFC-4D68-DFFC-E636-92FFE355DF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E4C32E-51A6-FC4E-AB0B-212139A3C8FB}" type="slidenum">
              <a:rPr lang="en-US" altLang="zh-CN" sz="1600" b="0" smtClean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5C75C3-3D1E-B05D-0927-6BFE4499189D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Initializing Character Arrays 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54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6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3">
            <a:extLst>
              <a:ext uri="{FF2B5EF4-FFF2-40B4-BE49-F238E27FC236}">
                <a16:creationId xmlns:a16="http://schemas.microsoft.com/office/drawing/2014/main" id="{BAD67702-250B-BAEB-4861-5BED412D56C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1963" y="1277938"/>
            <a:ext cx="8070850" cy="4876800"/>
          </a:xfrm>
        </p:spPr>
        <p:txBody>
          <a:bodyPr/>
          <a:lstStyle/>
          <a:p>
            <a:pPr eaLnBrk="1" hangingPunct="1"/>
            <a:r>
              <a:rPr lang="en-US" altLang="zh-CN" dirty="0"/>
              <a:t>Declare a string variable using a pointer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CC0099"/>
                </a:solidFill>
              </a:rPr>
              <a:t>const char *</a:t>
            </a:r>
            <a:r>
              <a:rPr lang="en-US" altLang="zh-CN" dirty="0" err="1">
                <a:solidFill>
                  <a:srgbClr val="CC0099"/>
                </a:solidFill>
              </a:rPr>
              <a:t>pCity</a:t>
            </a:r>
            <a:r>
              <a:rPr lang="en-US" altLang="zh-CN" dirty="0">
                <a:solidFill>
                  <a:srgbClr val="CC0099"/>
                </a:solidFill>
              </a:rPr>
              <a:t> = "Dallas";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 err="1">
                <a:solidFill>
                  <a:srgbClr val="CC0099"/>
                </a:solidFill>
              </a:rPr>
              <a:t>cout</a:t>
            </a:r>
            <a:r>
              <a:rPr lang="en-US" altLang="zh-CN" dirty="0">
                <a:solidFill>
                  <a:srgbClr val="CC0099"/>
                </a:solidFill>
              </a:rPr>
              <a:t>&lt;&lt;</a:t>
            </a:r>
            <a:r>
              <a:rPr lang="en-US" altLang="zh-CN" dirty="0" err="1">
                <a:solidFill>
                  <a:srgbClr val="CC0099"/>
                </a:solidFill>
              </a:rPr>
              <a:t>pCity</a:t>
            </a:r>
            <a:r>
              <a:rPr lang="en-US" altLang="zh-CN" dirty="0">
                <a:solidFill>
                  <a:srgbClr val="CC0099"/>
                </a:solidFill>
              </a:rPr>
              <a:t>;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A5A3CC2E-2D30-BA24-D17E-DC1D9FD29854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3455988"/>
            <a:ext cx="7567613" cy="511175"/>
            <a:chOff x="339" y="2346"/>
            <a:chExt cx="5251" cy="438"/>
          </a:xfrm>
        </p:grpSpPr>
        <p:pic>
          <p:nvPicPr>
            <p:cNvPr id="20496" name="Picture 8">
              <a:extLst>
                <a:ext uri="{FF2B5EF4-FFF2-40B4-BE49-F238E27FC236}">
                  <a16:creationId xmlns:a16="http://schemas.microsoft.com/office/drawing/2014/main" id="{A7DF587C-56EF-1D87-FED6-26B444FD8B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" y="2346"/>
              <a:ext cx="4476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97" name="Picture 9">
              <a:extLst>
                <a:ext uri="{FF2B5EF4-FFF2-40B4-BE49-F238E27FC236}">
                  <a16:creationId xmlns:a16="http://schemas.microsoft.com/office/drawing/2014/main" id="{A1251A1A-DB05-D96F-02D2-6B3E8DA12A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4" y="2349"/>
              <a:ext cx="816" cy="410"/>
            </a:xfrm>
            <a:prstGeom prst="rect">
              <a:avLst/>
            </a:prstGeom>
            <a:noFill/>
            <a:ln w="38100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id="{AC4AD35E-8CA2-6D5E-E428-1D7E21E2F8CB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4081463"/>
            <a:ext cx="7527925" cy="307975"/>
            <a:chOff x="122" y="2393"/>
            <a:chExt cx="5009" cy="323"/>
          </a:xfrm>
        </p:grpSpPr>
        <p:pic>
          <p:nvPicPr>
            <p:cNvPr id="20494" name="Picture 11">
              <a:extLst>
                <a:ext uri="{FF2B5EF4-FFF2-40B4-BE49-F238E27FC236}">
                  <a16:creationId xmlns:a16="http://schemas.microsoft.com/office/drawing/2014/main" id="{56C131D4-47CF-A3F4-15EA-A50E36C017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" y="2402"/>
              <a:ext cx="3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95" name="Picture 12">
              <a:extLst>
                <a:ext uri="{FF2B5EF4-FFF2-40B4-BE49-F238E27FC236}">
                  <a16:creationId xmlns:a16="http://schemas.microsoft.com/office/drawing/2014/main" id="{4B51ACC3-8F45-8504-60E5-5EFB1AC797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4" y="2393"/>
              <a:ext cx="1307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455744" name="Group 64">
            <a:extLst>
              <a:ext uri="{FF2B5EF4-FFF2-40B4-BE49-F238E27FC236}">
                <a16:creationId xmlns:a16="http://schemas.microsoft.com/office/drawing/2014/main" id="{4F3B31C4-B842-C5D4-3C10-1ED8211E5B5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1963" y="2930525"/>
          <a:ext cx="7643812" cy="382588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0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*(pcity)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*(pcity+1)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*(pcity+2)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*(pcity+3)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*(pcity+4)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*(pcity+5)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*(pcity+6)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92" name="灯片编号占位符 3">
            <a:extLst>
              <a:ext uri="{FF2B5EF4-FFF2-40B4-BE49-F238E27FC236}">
                <a16:creationId xmlns:a16="http://schemas.microsoft.com/office/drawing/2014/main" id="{B00A9161-73C0-577E-35C9-1CD9A904B97A}"/>
              </a:ext>
            </a:extLst>
          </p:cNvPr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513F7E0-2550-754B-A3D9-AA54DE8DE8AC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E352EC4-F2B2-CC0D-32F6-A3491D099915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/>
              <a:t>C-string using Pointer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55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灯片编号占位符 4">
            <a:extLst>
              <a:ext uri="{FF2B5EF4-FFF2-40B4-BE49-F238E27FC236}">
                <a16:creationId xmlns:a16="http://schemas.microsoft.com/office/drawing/2014/main" id="{143A51B0-74B1-646A-C0C3-7D681C0F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7F175C84-972B-674C-86CF-C708D64D43DA}" type="slidenum">
              <a:rPr lang="zh-CN" altLang="en-US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5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1988" name="Text Box 2">
            <a:extLst>
              <a:ext uri="{FF2B5EF4-FFF2-40B4-BE49-F238E27FC236}">
                <a16:creationId xmlns:a16="http://schemas.microsoft.com/office/drawing/2014/main" id="{9767FA3A-B935-AD81-4D40-4DD25F248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715" y="1219993"/>
            <a:ext cx="7086600" cy="3970318"/>
          </a:xfrm>
          <a:prstGeom prst="rect">
            <a:avLst/>
          </a:prstGeom>
          <a:solidFill>
            <a:srgbClr val="DDDDDD"/>
          </a:solidFill>
          <a:ln w="63500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#include &lt;iostream&gt;</a:t>
            </a:r>
          </a:p>
          <a:p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using namespace std;</a:t>
            </a:r>
          </a:p>
          <a:p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int main()</a:t>
            </a:r>
          </a:p>
          <a:p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{ char str1[ ]="character array";</a:t>
            </a:r>
          </a:p>
          <a:p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const char *</a:t>
            </a:r>
            <a:r>
              <a:rPr kumimoji="1" lang="en-US" altLang="zh-CN" sz="2800" b="1" dirty="0" err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ps</a:t>
            </a:r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="character point";</a:t>
            </a:r>
          </a:p>
          <a:p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</a:t>
            </a:r>
            <a:r>
              <a:rPr kumimoji="1" lang="en-US" altLang="zh-CN" sz="2800" b="1" dirty="0" err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cout</a:t>
            </a:r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&lt;&lt;str1&lt;&lt;</a:t>
            </a:r>
            <a:r>
              <a:rPr kumimoji="1" lang="en-US" altLang="zh-CN" sz="2800" b="1" dirty="0" err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endl</a:t>
            </a:r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;</a:t>
            </a:r>
          </a:p>
          <a:p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</a:t>
            </a:r>
            <a:r>
              <a:rPr kumimoji="1" lang="en-US" altLang="zh-CN" sz="2800" b="1" dirty="0" err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cout</a:t>
            </a:r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&lt;&lt;</a:t>
            </a:r>
            <a:r>
              <a:rPr kumimoji="1" lang="en-US" altLang="zh-CN" sz="2800" b="1" dirty="0" err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ps</a:t>
            </a:r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&lt;&lt;</a:t>
            </a:r>
            <a:r>
              <a:rPr kumimoji="1" lang="en-US" altLang="zh-CN" sz="2800" b="1" dirty="0" err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endl</a:t>
            </a:r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;</a:t>
            </a:r>
          </a:p>
          <a:p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return 0;</a:t>
            </a:r>
          </a:p>
          <a:p>
            <a:r>
              <a:rPr kumimoji="1" lang="en-US" altLang="zh-CN" sz="2800" b="1" dirty="0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74F46EB-42A0-C7E6-A2E6-179387B15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370" y="5381194"/>
            <a:ext cx="3081337" cy="1316468"/>
          </a:xfrm>
          <a:prstGeom prst="rect">
            <a:avLst/>
          </a:prstGeom>
          <a:noFill/>
          <a:ln w="28575">
            <a:solidFill>
              <a:srgbClr val="FF99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buClr>
                <a:srgbClr val="00007D"/>
              </a:buClr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</a:rPr>
              <a:t>character array</a:t>
            </a:r>
          </a:p>
          <a:p>
            <a:pPr eaLnBrk="1" fontAlgn="auto" hangingPunct="1">
              <a:spcAft>
                <a:spcPts val="0"/>
              </a:spcAft>
              <a:buClr>
                <a:srgbClr val="00007D"/>
              </a:buClr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</a:rPr>
              <a:t>character point</a:t>
            </a:r>
            <a:r>
              <a:rPr lang="en-US" altLang="zh-CN" b="1" kern="0" dirty="0">
                <a:solidFill>
                  <a:srgbClr val="000000"/>
                </a:solidFill>
                <a:sym typeface="Wingdings 2" panose="05020102010507070707" pitchFamily="18" charset="2"/>
              </a:rPr>
              <a:t>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1350F5D-0B3F-0F03-9150-5C4EFF5C6756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/>
              <a:t>Example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灯片编号占位符 3">
            <a:extLst>
              <a:ext uri="{FF2B5EF4-FFF2-40B4-BE49-F238E27FC236}">
                <a16:creationId xmlns:a16="http://schemas.microsoft.com/office/drawing/2014/main" id="{D7A93870-6A6E-5AF5-B26F-05A78FFE8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BB060DF1-C0DB-684F-A6F3-B54E361724E6}" type="slidenum">
              <a:rPr lang="en-US" altLang="zh-CN" sz="1600">
                <a:latin typeface="Lucida Sans Unicode" panose="020B0602030504020204" pitchFamily="34" charset="0"/>
                <a:ea typeface="宋体" panose="02010600030101010101" pitchFamily="2" charset="-122"/>
              </a:rPr>
              <a:pPr/>
              <a:t>6</a:t>
            </a:fld>
            <a:endParaRPr lang="en-US" altLang="zh-CN" sz="160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3012" name="Text Box 3">
            <a:extLst>
              <a:ext uri="{FF2B5EF4-FFF2-40B4-BE49-F238E27FC236}">
                <a16:creationId xmlns:a16="http://schemas.microsoft.com/office/drawing/2014/main" id="{FE2F816A-C324-BC3A-D7CB-70B85AB83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1585913"/>
            <a:ext cx="5562600" cy="5078412"/>
          </a:xfrm>
          <a:prstGeom prst="rect">
            <a:avLst/>
          </a:prstGeom>
          <a:solidFill>
            <a:srgbClr val="DDDDDD"/>
          </a:solidFill>
          <a:ln w="63500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#include &lt;iostream&gt;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using namespace std;  		         </a:t>
            </a:r>
            <a:endParaRPr kumimoji="1" lang="zh-CN" altLang="en-US" sz="1800" b="1">
              <a:solidFill>
                <a:srgbClr val="00007D"/>
              </a:solidFill>
              <a:latin typeface="CommercialScript BT"/>
              <a:ea typeface="宋体" panose="02010600030101010101" pitchFamily="2" charset="-122"/>
            </a:endParaRP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int main()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{ char  s1[20]="abcde",*ps1;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char  s2[ ]="xyzf";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int i=0;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ps1=s1;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while (*ps1) ps1++; </a:t>
            </a:r>
            <a:r>
              <a:rPr kumimoji="1" lang="en-US" altLang="zh-CN" sz="1800" b="1">
                <a:solidFill>
                  <a:srgbClr val="339933"/>
                </a:solidFill>
                <a:latin typeface="CommercialScript BT"/>
                <a:ea typeface="宋体" panose="02010600030101010101" pitchFamily="2" charset="-122"/>
              </a:rPr>
              <a:t>//</a:t>
            </a:r>
            <a:r>
              <a:rPr kumimoji="1" lang="zh-CN" altLang="en-US" sz="1800" b="1">
                <a:solidFill>
                  <a:srgbClr val="339933"/>
                </a:solidFill>
                <a:latin typeface="CommercialScript BT"/>
                <a:ea typeface="宋体" panose="02010600030101010101" pitchFamily="2" charset="-122"/>
              </a:rPr>
              <a:t>寻找</a:t>
            </a:r>
            <a:r>
              <a:rPr kumimoji="1" lang="en-US" altLang="zh-CN" sz="1800" b="1">
                <a:solidFill>
                  <a:srgbClr val="339933"/>
                </a:solidFill>
                <a:latin typeface="CommercialScript BT"/>
                <a:ea typeface="宋体" panose="02010600030101010101" pitchFamily="2" charset="-122"/>
              </a:rPr>
              <a:t>s1</a:t>
            </a:r>
            <a:r>
              <a:rPr kumimoji="1" lang="zh-CN" altLang="en-US" sz="1800" b="1">
                <a:solidFill>
                  <a:srgbClr val="339933"/>
                </a:solidFill>
                <a:latin typeface="CommercialScript BT"/>
                <a:ea typeface="宋体" panose="02010600030101010101" pitchFamily="2" charset="-122"/>
              </a:rPr>
              <a:t>字符串的结束位置</a:t>
            </a:r>
          </a:p>
          <a:p>
            <a:r>
              <a:rPr kumimoji="1" lang="zh-CN" altLang="en-US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</a:t>
            </a:r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int j=0;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while(*(s2+j)){ </a:t>
            </a:r>
            <a:r>
              <a:rPr kumimoji="1" lang="en-US" altLang="zh-CN" sz="1800" b="1">
                <a:solidFill>
                  <a:srgbClr val="339933"/>
                </a:solidFill>
                <a:latin typeface="CommercialScript BT"/>
                <a:ea typeface="宋体" panose="02010600030101010101" pitchFamily="2" charset="-122"/>
              </a:rPr>
              <a:t>//</a:t>
            </a:r>
            <a:r>
              <a:rPr kumimoji="1" lang="zh-CN" altLang="en-US" sz="1800" b="1">
                <a:solidFill>
                  <a:srgbClr val="339933"/>
                </a:solidFill>
                <a:latin typeface="CommercialScript BT"/>
                <a:ea typeface="宋体" panose="02010600030101010101" pitchFamily="2" charset="-122"/>
              </a:rPr>
              <a:t>将</a:t>
            </a:r>
            <a:r>
              <a:rPr kumimoji="1" lang="en-US" altLang="zh-CN" sz="1800" b="1">
                <a:solidFill>
                  <a:srgbClr val="339933"/>
                </a:solidFill>
                <a:latin typeface="CommercialScript BT"/>
                <a:ea typeface="宋体" panose="02010600030101010101" pitchFamily="2" charset="-122"/>
              </a:rPr>
              <a:t>s2</a:t>
            </a:r>
            <a:r>
              <a:rPr kumimoji="1" lang="zh-CN" altLang="en-US" sz="1800" b="1">
                <a:solidFill>
                  <a:srgbClr val="339933"/>
                </a:solidFill>
                <a:latin typeface="CommercialScript BT"/>
                <a:ea typeface="宋体" panose="02010600030101010101" pitchFamily="2" charset="-122"/>
              </a:rPr>
              <a:t>字符串逐个复制到</a:t>
            </a:r>
            <a:r>
              <a:rPr kumimoji="1" lang="en-US" altLang="zh-CN" sz="1800" b="1">
                <a:solidFill>
                  <a:srgbClr val="339933"/>
                </a:solidFill>
                <a:latin typeface="CommercialScript BT"/>
                <a:ea typeface="宋体" panose="02010600030101010101" pitchFamily="2" charset="-122"/>
              </a:rPr>
              <a:t>s1</a:t>
            </a:r>
            <a:r>
              <a:rPr kumimoji="1" lang="zh-CN" altLang="en-US" sz="1800" b="1">
                <a:solidFill>
                  <a:srgbClr val="339933"/>
                </a:solidFill>
                <a:latin typeface="CommercialScript BT"/>
                <a:ea typeface="宋体" panose="02010600030101010101" pitchFamily="2" charset="-122"/>
              </a:rPr>
              <a:t>后</a:t>
            </a:r>
          </a:p>
          <a:p>
            <a:r>
              <a:rPr kumimoji="1" lang="zh-CN" altLang="en-US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    *</a:t>
            </a:r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ps1=*(s2+j); 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    ps1++; 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    j++;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} 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*ps1='\0';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cout&lt;&lt;s1&lt;&lt;endl;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  return 0;</a:t>
            </a:r>
          </a:p>
          <a:p>
            <a:r>
              <a:rPr kumimoji="1" lang="en-US" altLang="zh-CN" sz="1800" b="1">
                <a:solidFill>
                  <a:srgbClr val="00007D"/>
                </a:solidFill>
                <a:latin typeface="CommercialScript BT"/>
                <a:ea typeface="宋体" panose="02010600030101010101" pitchFamily="2" charset="-122"/>
              </a:rPr>
              <a:t>}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97B1FFA-1065-E993-A601-12B799A9B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075" y="1738313"/>
            <a:ext cx="2376488" cy="1439862"/>
          </a:xfrm>
          <a:prstGeom prst="rect">
            <a:avLst/>
          </a:prstGeom>
          <a:noFill/>
          <a:ln w="28575">
            <a:solidFill>
              <a:srgbClr val="FF99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b="1">
                <a:solidFill>
                  <a:srgbClr val="9999FF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程序执行结果：</a:t>
            </a:r>
            <a:endParaRPr lang="zh-CN" altLang="en-US" b="1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sym typeface="Wingdings 2" pitchFamily="2" charset="2"/>
            </a:endParaRPr>
          </a:p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abcdexyzf</a:t>
            </a:r>
            <a:r>
              <a:rPr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 2" pitchFamily="2" charset="2"/>
              </a:rPr>
              <a:t>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F74A04A-5B72-A06A-6645-72B1AFFAA400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/>
              <a:t>Example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5" name="Rectangle 3">
            <a:extLst>
              <a:ext uri="{FF2B5EF4-FFF2-40B4-BE49-F238E27FC236}">
                <a16:creationId xmlns:a16="http://schemas.microsoft.com/office/drawing/2014/main" id="{09179DB8-7690-23B0-B1E9-CBA5B6C139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6513" y="1087438"/>
            <a:ext cx="9101138" cy="4876800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Using “</a:t>
            </a:r>
            <a:r>
              <a:rPr lang="en-US" altLang="zh-CN" sz="2400" dirty="0" err="1"/>
              <a:t>cin</a:t>
            </a:r>
            <a:r>
              <a:rPr lang="en-US" altLang="zh-CN" sz="2400" dirty="0"/>
              <a:t>”: input stops at the first whitespace (space, tab, newline). It cannot read strings containing spaces.</a:t>
            </a:r>
          </a:p>
          <a:p>
            <a:pPr marL="0" indent="0" eaLnBrk="1" hangingPunct="1">
              <a:buNone/>
            </a:pPr>
            <a:r>
              <a:rPr lang="en-US" altLang="zh-CN" sz="2400" dirty="0">
                <a:solidFill>
                  <a:srgbClr val="CC0099"/>
                </a:solidFill>
              </a:rPr>
              <a:t>     char city[10];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400" dirty="0" err="1">
                <a:solidFill>
                  <a:srgbClr val="CC0099"/>
                </a:solidFill>
              </a:rPr>
              <a:t>cin</a:t>
            </a:r>
            <a:r>
              <a:rPr lang="en-US" altLang="zh-CN" sz="2400" dirty="0">
                <a:solidFill>
                  <a:srgbClr val="CC0099"/>
                </a:solidFill>
              </a:rPr>
              <a:t> &gt;&gt;city; 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CN" sz="2400" dirty="0">
              <a:solidFill>
                <a:srgbClr val="CC0099"/>
              </a:solidFill>
            </a:endParaRPr>
          </a:p>
          <a:p>
            <a:pPr eaLnBrk="1" hangingPunct="1"/>
            <a:r>
              <a:rPr lang="en-US" altLang="zh-CN" sz="2400" dirty="0"/>
              <a:t>Using “</a:t>
            </a:r>
            <a:r>
              <a:rPr lang="en-US" altLang="zh-CN" sz="2400" dirty="0" err="1"/>
              <a:t>getline</a:t>
            </a:r>
            <a:r>
              <a:rPr lang="en-US" altLang="zh-CN" sz="2400" dirty="0"/>
              <a:t>” : can read any character.</a:t>
            </a:r>
          </a:p>
          <a:p>
            <a:pPr lvl="1" eaLnBrk="1" hangingPunct="1"/>
            <a:r>
              <a:rPr lang="en-US" altLang="zh-CN" sz="2400" dirty="0"/>
              <a:t>a function defined in iostream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 err="1"/>
              <a:t>cin.getline</a:t>
            </a:r>
            <a:r>
              <a:rPr lang="en-US" altLang="zh-CN" sz="2400" dirty="0"/>
              <a:t>(char array[], int size, char </a:t>
            </a:r>
            <a:r>
              <a:rPr lang="en-US" altLang="zh-CN" sz="2400" dirty="0" err="1"/>
              <a:t>delimitChar</a:t>
            </a:r>
            <a:r>
              <a:rPr lang="en-US" altLang="zh-CN" sz="2400" dirty="0"/>
              <a:t>)</a:t>
            </a:r>
          </a:p>
        </p:txBody>
      </p:sp>
      <p:sp>
        <p:nvSpPr>
          <p:cNvPr id="458756" name="Rectangle 4">
            <a:extLst>
              <a:ext uri="{FF2B5EF4-FFF2-40B4-BE49-F238E27FC236}">
                <a16:creationId xmlns:a16="http://schemas.microsoft.com/office/drawing/2014/main" id="{416AB00F-8B9F-F33D-03F5-59FBBF3FC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1971675"/>
            <a:ext cx="1692275" cy="8223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7A997A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rgbClr val="CC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char *city2;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 err="1">
                <a:solidFill>
                  <a:srgbClr val="CC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cin</a:t>
            </a:r>
            <a:r>
              <a:rPr lang="en-US" altLang="zh-CN" sz="2400" b="0" dirty="0">
                <a:solidFill>
                  <a:srgbClr val="CC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&gt;&gt;city2;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EE2627BF-FFB1-3637-F0FD-FDAC52BC4A7E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163763"/>
            <a:ext cx="692150" cy="460375"/>
            <a:chOff x="3582" y="3660"/>
            <a:chExt cx="701" cy="660"/>
          </a:xfrm>
        </p:grpSpPr>
        <p:sp>
          <p:nvSpPr>
            <p:cNvPr id="21515" name="Line 6">
              <a:extLst>
                <a:ext uri="{FF2B5EF4-FFF2-40B4-BE49-F238E27FC236}">
                  <a16:creationId xmlns:a16="http://schemas.microsoft.com/office/drawing/2014/main" id="{8E4A1BF3-3B32-ABDA-3A21-6D76C1B0B2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82" y="3684"/>
              <a:ext cx="677" cy="636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6" name="Line 7">
              <a:extLst>
                <a:ext uri="{FF2B5EF4-FFF2-40B4-BE49-F238E27FC236}">
                  <a16:creationId xmlns:a16="http://schemas.microsoft.com/office/drawing/2014/main" id="{F610E19C-AEA7-56F7-39F7-05C90F0CBB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5" y="3660"/>
              <a:ext cx="508" cy="660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8760" name="AutoShape 8">
            <a:extLst>
              <a:ext uri="{FF2B5EF4-FFF2-40B4-BE49-F238E27FC236}">
                <a16:creationId xmlns:a16="http://schemas.microsoft.com/office/drawing/2014/main" id="{AA12EA59-D3BC-CF9E-FD11-B8CA89B20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084388"/>
            <a:ext cx="3343275" cy="844550"/>
          </a:xfrm>
          <a:prstGeom prst="wedgeRoundRectCallout">
            <a:avLst>
              <a:gd name="adj1" fmla="val -59856"/>
              <a:gd name="adj2" fmla="val -7894"/>
              <a:gd name="adj3" fmla="val 16667"/>
            </a:avLst>
          </a:prstGeom>
          <a:solidFill>
            <a:srgbClr val="CCFFCC"/>
          </a:solidFill>
          <a:ln>
            <a:noFill/>
          </a:ln>
          <a:effectLst>
            <a:prstShdw prst="shdw17" dist="17961" dir="2700000">
              <a:srgbClr val="7A997A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 memory is allocated to store the content of city2.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5A13DB1-13C3-4F13-881F-967222731B67}"/>
              </a:ext>
            </a:extLst>
          </p:cNvPr>
          <p:cNvGrpSpPr/>
          <p:nvPr/>
        </p:nvGrpSpPr>
        <p:grpSpPr>
          <a:xfrm>
            <a:off x="3995925" y="4966295"/>
            <a:ext cx="2076450" cy="536575"/>
            <a:chOff x="4225925" y="4699000"/>
            <a:chExt cx="2076450" cy="536575"/>
          </a:xfrm>
        </p:grpSpPr>
        <p:sp>
          <p:nvSpPr>
            <p:cNvPr id="458762" name="AutoShape 10">
              <a:extLst>
                <a:ext uri="{FF2B5EF4-FFF2-40B4-BE49-F238E27FC236}">
                  <a16:creationId xmlns:a16="http://schemas.microsoft.com/office/drawing/2014/main" id="{4A47D6AB-DE00-4ED9-3D86-5744E9216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4699000"/>
              <a:ext cx="2036763" cy="493713"/>
            </a:xfrm>
            <a:prstGeom prst="wedgeRoundRectCallout">
              <a:avLst>
                <a:gd name="adj1" fmla="val 57481"/>
                <a:gd name="adj2" fmla="val -163185"/>
                <a:gd name="adj3" fmla="val 16667"/>
              </a:avLst>
            </a:prstGeom>
            <a:solidFill>
              <a:srgbClr val="CCFFCC"/>
            </a:solidFill>
            <a:ln>
              <a:noFill/>
            </a:ln>
            <a:effectLst>
              <a:prstShdw prst="shdw17" dist="17961" dir="2700000">
                <a:srgbClr val="7A997A">
                  <a:alpha val="74997"/>
                </a:srgbClr>
              </a:prstShdw>
            </a:effectLst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0033CC"/>
                </a:buClr>
                <a:buFont typeface="Wingdings" pitchFamily="2" charset="2"/>
                <a:buChar char="Ø"/>
                <a:defRPr sz="28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l"/>
                <a:defRPr sz="28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33CC"/>
                </a:buClr>
                <a:buChar char="•"/>
                <a:defRPr sz="24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zh-CN" sz="1800" b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8763" name="AutoShape 11">
              <a:extLst>
                <a:ext uri="{FF2B5EF4-FFF2-40B4-BE49-F238E27FC236}">
                  <a16:creationId xmlns:a16="http://schemas.microsoft.com/office/drawing/2014/main" id="{67D7AE9B-0F14-FB9E-D463-5AFCB96E9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5613" y="4699000"/>
              <a:ext cx="2036762" cy="536575"/>
            </a:xfrm>
            <a:prstGeom prst="wedgeRoundRectCallout">
              <a:avLst>
                <a:gd name="adj1" fmla="val -17889"/>
                <a:gd name="adj2" fmla="val -147931"/>
                <a:gd name="adj3" fmla="val 16667"/>
              </a:avLst>
            </a:prstGeom>
            <a:solidFill>
              <a:srgbClr val="CCFFCC"/>
            </a:solidFill>
            <a:ln>
              <a:noFill/>
            </a:ln>
            <a:effectLst>
              <a:prstShdw prst="shdw17" dist="17961" dir="2700000">
                <a:srgbClr val="7A997A">
                  <a:alpha val="74997"/>
                </a:srgbClr>
              </a:prstShdw>
            </a:effectLst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0033CC"/>
                </a:buClr>
                <a:buFont typeface="Wingdings" pitchFamily="2" charset="2"/>
                <a:buChar char="Ø"/>
                <a:defRPr sz="28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l"/>
                <a:defRPr sz="28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33CC"/>
                </a:buClr>
                <a:buChar char="•"/>
                <a:defRPr sz="24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Where to stop?</a:t>
              </a:r>
            </a:p>
          </p:txBody>
        </p:sp>
      </p:grpSp>
      <p:sp>
        <p:nvSpPr>
          <p:cNvPr id="458764" name="AutoShape 12">
            <a:extLst>
              <a:ext uri="{FF2B5EF4-FFF2-40B4-BE49-F238E27FC236}">
                <a16:creationId xmlns:a16="http://schemas.microsoft.com/office/drawing/2014/main" id="{B8031C47-3F3F-0F29-CCBF-CDFF44359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4888445"/>
            <a:ext cx="3840163" cy="806450"/>
          </a:xfrm>
          <a:prstGeom prst="wedgeRoundRectCallout">
            <a:avLst>
              <a:gd name="adj1" fmla="val 27801"/>
              <a:gd name="adj2" fmla="val -91338"/>
              <a:gd name="adj3" fmla="val 16667"/>
            </a:avLst>
          </a:prstGeom>
          <a:solidFill>
            <a:srgbClr val="CCFFCC"/>
          </a:solidFill>
          <a:ln>
            <a:noFill/>
          </a:ln>
          <a:effectLst>
            <a:prstShdw prst="shdw17" dist="17961" dir="2700000">
              <a:srgbClr val="7A997A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Where to store?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last character is reserved for </a:t>
            </a:r>
            <a:r>
              <a:rPr lang="en-US" altLang="zh-CN" sz="1600" b="0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'\0'</a:t>
            </a:r>
            <a:r>
              <a:rPr lang="en-US" altLang="zh-CN" sz="16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en-US" altLang="zh-CN" sz="2400" b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58765" name="AutoShape 13">
            <a:extLst>
              <a:ext uri="{FF2B5EF4-FFF2-40B4-BE49-F238E27FC236}">
                <a16:creationId xmlns:a16="http://schemas.microsoft.com/office/drawing/2014/main" id="{A2C65C75-5590-DCC1-6BF2-5A552D55A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854005"/>
            <a:ext cx="3916363" cy="685800"/>
          </a:xfrm>
          <a:prstGeom prst="wedgeRoundRectCallout">
            <a:avLst>
              <a:gd name="adj1" fmla="val 29083"/>
              <a:gd name="adj2" fmla="val -240509"/>
              <a:gd name="adj3" fmla="val 16667"/>
            </a:avLst>
          </a:prstGeom>
          <a:solidFill>
            <a:srgbClr val="CCFFCC"/>
          </a:solidFill>
          <a:ln>
            <a:noFill/>
          </a:ln>
          <a:effectLst>
            <a:prstShdw prst="shdw17" dist="17961" dir="2700000">
              <a:srgbClr val="7A997A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delimitChar is read but not stored.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Default delimitChar is ‘\n’.</a:t>
            </a:r>
            <a:endParaRPr lang="en-US" altLang="zh-CN" sz="16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3" name="灯片编号占位符 3">
            <a:extLst>
              <a:ext uri="{FF2B5EF4-FFF2-40B4-BE49-F238E27FC236}">
                <a16:creationId xmlns:a16="http://schemas.microsoft.com/office/drawing/2014/main" id="{7736DE21-558E-DB8D-8256-6511A9EF5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3CC727-DCCE-174B-ACAF-348A831D45CC}" type="slidenum">
              <a:rPr lang="en-US" altLang="zh-CN" sz="1600" b="0" smtClean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B04363-EEE4-B6E1-A99C-FA2D2DE4DE58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/>
              <a:t>Reading Strings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56" grpId="0"/>
      <p:bldP spid="458760" grpId="0" animBg="1"/>
      <p:bldP spid="458764" grpId="0" animBg="1"/>
      <p:bldP spid="45876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1" name="Rectangle 3">
            <a:extLst>
              <a:ext uri="{FF2B5EF4-FFF2-40B4-BE49-F238E27FC236}">
                <a16:creationId xmlns:a16="http://schemas.microsoft.com/office/drawing/2014/main" id="{42B6B761-6E16-60FA-D9F8-4186BF7F21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607425" cy="4627563"/>
          </a:xfrm>
        </p:spPr>
        <p:txBody>
          <a:bodyPr/>
          <a:lstStyle/>
          <a:p>
            <a:pPr marL="0" indent="0" eaLnBrk="1" hangingPunct="1">
              <a:buFont typeface="Monotype Sort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To output a C-Strings is simple. Suppose s is an array for C-Strings. To display it to the console:</a:t>
            </a:r>
          </a:p>
          <a:p>
            <a:pPr marL="0" indent="0" eaLnBrk="1" hangingPunct="1">
              <a:buFont typeface="Monotype Sorts" pitchFamily="2" charset="2"/>
              <a:buNone/>
              <a:defRPr/>
            </a:pPr>
            <a:br>
              <a:rPr lang="en-US" altLang="zh-CN" b="0" dirty="0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</a:br>
            <a:r>
              <a:rPr lang="en-US" altLang="zh-CN" b="0" dirty="0" err="1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cout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 &lt;&lt; s;</a:t>
            </a:r>
          </a:p>
          <a:p>
            <a:pPr marL="0" indent="0" eaLnBrk="1" hangingPunct="1">
              <a:buFont typeface="Monotype Sorts" pitchFamily="2" charset="2"/>
              <a:buNone/>
              <a:defRPr/>
            </a:pPr>
            <a:endParaRPr lang="en-US" altLang="zh-CN" b="0" dirty="0">
              <a:solidFill>
                <a:schemeClr val="tx1"/>
              </a:solidFill>
              <a:latin typeface="+mj-lt"/>
              <a:ea typeface="宋体" charset="-122"/>
              <a:cs typeface="+mn-cs"/>
            </a:endParaRPr>
          </a:p>
          <a:p>
            <a:pPr marL="0" indent="0" eaLnBrk="1" hangingPunct="1">
              <a:buFont typeface="Monotype Sort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You can read a string from the keyboard using the </a:t>
            </a:r>
            <a:r>
              <a:rPr lang="en-US" altLang="zh-CN" b="0" u="sng" dirty="0" err="1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cin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 object. For example, see the following code:</a:t>
            </a:r>
            <a:endParaRPr lang="en-US" altLang="zh-CN" b="0" i="1" dirty="0">
              <a:solidFill>
                <a:schemeClr val="tx1"/>
              </a:solidFill>
              <a:latin typeface="+mj-lt"/>
              <a:ea typeface="宋体" charset="-122"/>
              <a:cs typeface="+mn-cs"/>
            </a:endParaRPr>
          </a:p>
          <a:p>
            <a:pPr marL="0" indent="0" eaLnBrk="1" hangingPunct="1">
              <a:buFont typeface="Monotype Sorts" pitchFamily="2" charset="2"/>
              <a:buNone/>
              <a:defRPr/>
            </a:pPr>
            <a:endParaRPr lang="en-US" altLang="zh-CN" b="0" i="1" dirty="0">
              <a:solidFill>
                <a:schemeClr val="tx1"/>
              </a:solidFill>
              <a:latin typeface="+mj-lt"/>
              <a:ea typeface="宋体" charset="-122"/>
              <a:cs typeface="+mn-cs"/>
            </a:endParaRPr>
          </a:p>
          <a:p>
            <a:pPr marL="0" indent="0" eaLnBrk="1" hangingPunct="1">
              <a:buFont typeface="Monotype Sorts" pitchFamily="2" charset="2"/>
              <a:buNone/>
              <a:defRPr/>
            </a:pPr>
            <a:r>
              <a:rPr lang="en-US" altLang="zh-CN" b="0" u="sng" dirty="0" err="1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cout</a:t>
            </a:r>
            <a:r>
              <a:rPr lang="en-US" altLang="zh-CN" b="0" u="sng" dirty="0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 &lt;&lt; "Enter a city: ";</a:t>
            </a:r>
          </a:p>
          <a:p>
            <a:pPr marL="0" indent="0" eaLnBrk="1" hangingPunct="1">
              <a:buFont typeface="Monotype Sorts" pitchFamily="2" charset="2"/>
              <a:buNone/>
              <a:defRPr/>
            </a:pPr>
            <a:r>
              <a:rPr lang="en-US" altLang="zh-CN" b="0" u="sng" dirty="0" err="1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cin</a:t>
            </a:r>
            <a:r>
              <a:rPr lang="en-US" altLang="zh-CN" b="0" u="sng" dirty="0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 &gt;&gt; city; // read to array city</a:t>
            </a:r>
          </a:p>
          <a:p>
            <a:pPr marL="0" indent="0" eaLnBrk="1" hangingPunct="1">
              <a:buFont typeface="Monotype Sorts" pitchFamily="2" charset="2"/>
              <a:buNone/>
              <a:defRPr/>
            </a:pPr>
            <a:r>
              <a:rPr lang="en-US" altLang="zh-CN" b="0" u="sng" dirty="0" err="1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cout</a:t>
            </a:r>
            <a:r>
              <a:rPr lang="en-US" altLang="zh-CN" b="0" u="sng" dirty="0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 &lt;&lt; "You entered " &lt;&lt; city &lt;&lt; </a:t>
            </a:r>
            <a:r>
              <a:rPr lang="en-US" altLang="zh-CN" b="0" u="sng" dirty="0" err="1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endl</a:t>
            </a:r>
            <a:r>
              <a:rPr lang="en-US" altLang="zh-CN" b="0" u="sng" dirty="0">
                <a:solidFill>
                  <a:schemeClr val="tx1"/>
                </a:solidFill>
                <a:latin typeface="+mj-lt"/>
                <a:ea typeface="宋体" charset="-122"/>
                <a:cs typeface="+mn-cs"/>
              </a:rPr>
              <a:t>;</a:t>
            </a:r>
          </a:p>
        </p:txBody>
      </p:sp>
      <p:sp>
        <p:nvSpPr>
          <p:cNvPr id="22530" name="灯片编号占位符 4">
            <a:extLst>
              <a:ext uri="{FF2B5EF4-FFF2-40B4-BE49-F238E27FC236}">
                <a16:creationId xmlns:a16="http://schemas.microsoft.com/office/drawing/2014/main" id="{C28C0F5E-0FF1-CB26-7C39-B904416C95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29F3CC-7A18-014C-9BF4-A0C45AAAE233}" type="slidenum">
              <a:rPr lang="en-US" altLang="zh-CN" sz="1600" b="0" smtClean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91A3BC7-9D93-4205-FDD2-C417FFC04903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Input and Output of C-Strings 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4">
            <a:extLst>
              <a:ext uri="{FF2B5EF4-FFF2-40B4-BE49-F238E27FC236}">
                <a16:creationId xmlns:a16="http://schemas.microsoft.com/office/drawing/2014/main" id="{E00B1AED-2768-73FD-97BF-A316053F5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9006943-362A-D94A-820E-7A1133913F88}" type="slidenum">
              <a:rPr lang="en-US" altLang="zh-CN" sz="1600" b="0" smtClean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3554" name="Rectangle 6">
            <a:extLst>
              <a:ext uri="{FF2B5EF4-FFF2-40B4-BE49-F238E27FC236}">
                <a16:creationId xmlns:a16="http://schemas.microsoft.com/office/drawing/2014/main" id="{CFCEA2DE-FAC4-C7E0-6735-2A12CB1BE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0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3555" name="Object 5">
            <a:extLst>
              <a:ext uri="{FF2B5EF4-FFF2-40B4-BE49-F238E27FC236}">
                <a16:creationId xmlns:a16="http://schemas.microsoft.com/office/drawing/2014/main" id="{1509952C-BEB1-E863-81FD-D4ADAB54B4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163638"/>
          <a:ext cx="6951663" cy="578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Picture" r:id="rId3" imgW="5118100" imgH="4241800" progId="Word.Picture.8">
                  <p:embed/>
                </p:oleObj>
              </mc:Choice>
              <mc:Fallback>
                <p:oleObj name="Picture" r:id="rId3" imgW="5118100" imgH="4241800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163638"/>
                        <a:ext cx="6951663" cy="57800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C2673A35-E3D6-CD72-2050-75519EB8A694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Character Test Functions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4">
            <a:extLst>
              <a:ext uri="{FF2B5EF4-FFF2-40B4-BE49-F238E27FC236}">
                <a16:creationId xmlns:a16="http://schemas.microsoft.com/office/drawing/2014/main" id="{ADC1FA12-03F5-10E8-3581-099A863962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B8BE36-AC32-4646-B1CF-DEDC2E2EF67F}" type="slidenum">
              <a:rPr lang="en-US" altLang="zh-CN" sz="1600" b="0" smtClean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B253835B-4337-A7D1-C8A5-492F39699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0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79" name="Rectangle 6">
            <a:extLst>
              <a:ext uri="{FF2B5EF4-FFF2-40B4-BE49-F238E27FC236}">
                <a16:creationId xmlns:a16="http://schemas.microsoft.com/office/drawing/2014/main" id="{C8140F9D-95D8-79AF-4ECB-99FA76C78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7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4580" name="Object 5">
            <a:extLst>
              <a:ext uri="{FF2B5EF4-FFF2-40B4-BE49-F238E27FC236}">
                <a16:creationId xmlns:a16="http://schemas.microsoft.com/office/drawing/2014/main" id="{7FF72EAD-78A6-AE60-5647-F19875F05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875" y="1624013"/>
          <a:ext cx="8524875" cy="245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Picture" r:id="rId3" imgW="5245100" imgH="1511300" progId="Word.Picture.8">
                  <p:embed/>
                </p:oleObj>
              </mc:Choice>
              <mc:Fallback>
                <p:oleObj name="Picture" r:id="rId3" imgW="5245100" imgH="1511300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" y="1624013"/>
                        <a:ext cx="8524875" cy="24558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E7FF8404-96C5-9745-E94C-1CE18658B6CD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Case Conversion Functions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4">
            <a:extLst>
              <a:ext uri="{FF2B5EF4-FFF2-40B4-BE49-F238E27FC236}">
                <a16:creationId xmlns:a16="http://schemas.microsoft.com/office/drawing/2014/main" id="{B779C7A0-3B3F-95E7-1D47-5220D9519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53F3BD-E664-514B-9BC0-442D2A5BF3F8}" type="slidenum">
              <a:rPr lang="en-US" altLang="zh-CN" sz="1600" b="0" smtClean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5602" name="Rectangle 6">
            <a:extLst>
              <a:ext uri="{FF2B5EF4-FFF2-40B4-BE49-F238E27FC236}">
                <a16:creationId xmlns:a16="http://schemas.microsoft.com/office/drawing/2014/main" id="{E29A6B29-035A-0CCC-8C14-13BA5B9D9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5603" name="Object 5">
            <a:extLst>
              <a:ext uri="{FF2B5EF4-FFF2-40B4-BE49-F238E27FC236}">
                <a16:creationId xmlns:a16="http://schemas.microsoft.com/office/drawing/2014/main" id="{A41855AB-51DF-FAFB-B090-F62279204A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1513" y="1135063"/>
          <a:ext cx="5260975" cy="573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Picture" r:id="rId3" imgW="5283200" imgH="5740400" progId="Word.Picture.8">
                  <p:embed/>
                </p:oleObj>
              </mc:Choice>
              <mc:Fallback>
                <p:oleObj name="Picture" r:id="rId3" imgW="5283200" imgH="5740400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1135063"/>
                        <a:ext cx="5260975" cy="573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84BDAA1C-2A90-7E00-892B-445B543CE641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String Functions 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3">
            <a:extLst>
              <a:ext uri="{FF2B5EF4-FFF2-40B4-BE49-F238E27FC236}">
                <a16:creationId xmlns:a16="http://schemas.microsoft.com/office/drawing/2014/main" id="{7B91DEB9-6CE0-C12E-B5E4-21D48042DE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67C175-B431-9648-993D-2816F29E0C3A}" type="slidenum">
              <a:rPr lang="en-US" altLang="zh-CN" sz="1600" b="0" smtClean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6626" name="矩形 4">
            <a:extLst>
              <a:ext uri="{FF2B5EF4-FFF2-40B4-BE49-F238E27FC236}">
                <a16:creationId xmlns:a16="http://schemas.microsoft.com/office/drawing/2014/main" id="{3C6584D7-30F7-0F45-6E45-48DA431B1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8" y="1547813"/>
            <a:ext cx="8277225" cy="403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Shuffle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Your task is to shuffle a deck of n cards, each of which is marked by a alphabetical letter.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 single shuffle action takes out h cards from the bottom of the deck and moves them to the top of the deck.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deck of cards is represented by a string as follows.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abcdeefab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The first character and the last character correspond to the card located at the bottom of the deck and the card on the top of the deck respectively.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 shuffle with h = 4 to the above deck, moves the first 4 characters "</a:t>
            </a:r>
            <a:r>
              <a:rPr lang="en-US" altLang="zh-CN" sz="16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to the end of the remaining characters "</a:t>
            </a:r>
            <a:r>
              <a:rPr lang="en-US" altLang="zh-CN" sz="16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eefab</a:t>
            </a: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and generates the following deck: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eefababcd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repeat such shuffle </a:t>
            </a:r>
            <a:r>
              <a:rPr lang="en-US" altLang="zh-CN" sz="16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operations.Write</a:t>
            </a: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program which reads a deck (a string) and a sequence of h, and prints the final state (a string).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D0E9EE2-F42B-B0E0-6AE3-4347E2B2E8E5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/>
              <a:t>Exercise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3">
            <a:extLst>
              <a:ext uri="{FF2B5EF4-FFF2-40B4-BE49-F238E27FC236}">
                <a16:creationId xmlns:a16="http://schemas.microsoft.com/office/drawing/2014/main" id="{F9DE6C8E-57A2-CE00-8D15-8C2A17300D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95F68E1-AE1A-4C4E-80EE-F10AC9617147}" type="slidenum">
              <a:rPr lang="en-US" altLang="zh-CN" sz="1600" b="0" smtClean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7650" name="矩形 4">
            <a:extLst>
              <a:ext uri="{FF2B5EF4-FFF2-40B4-BE49-F238E27FC236}">
                <a16:creationId xmlns:a16="http://schemas.microsoft.com/office/drawing/2014/main" id="{831AD945-6776-DF55-D331-F16B80361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1239838"/>
            <a:ext cx="3763963" cy="510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The input consists of multiple datasets. Each dataset is given in the following format: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string which represents a deck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shuffle m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hm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6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input ends with a single character '-' for the string.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6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The length of the string ≤ 200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1 ≤ m ≤ 100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1 ≤ hi &lt; The length of the string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The number of datasets ≤ 10</a:t>
            </a:r>
          </a:p>
        </p:txBody>
      </p:sp>
      <p:sp>
        <p:nvSpPr>
          <p:cNvPr id="27651" name="矩形 3">
            <a:extLst>
              <a:ext uri="{FF2B5EF4-FFF2-40B4-BE49-F238E27FC236}">
                <a16:creationId xmlns:a16="http://schemas.microsoft.com/office/drawing/2014/main" id="{FE1B1B28-6A14-0368-D749-1D0943DE1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4025" y="1212850"/>
            <a:ext cx="457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Output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    For each dataset, print a string which represents the final state in a line.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Sample Input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aabc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vwxyz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-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Sample Output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aabc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xyzvw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5185FC2-8885-1929-5670-5C4809E3F57C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/>
              <a:t>Exercise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3">
            <a:extLst>
              <a:ext uri="{FF2B5EF4-FFF2-40B4-BE49-F238E27FC236}">
                <a16:creationId xmlns:a16="http://schemas.microsoft.com/office/drawing/2014/main" id="{D141193D-348A-08D4-178F-DD528AEE18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B5C7C8-33FD-894B-B13D-971854F87642}" type="slidenum">
              <a:rPr lang="en-US" altLang="zh-CN" sz="1600" b="0" smtClean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8674" name="矩形 4">
            <a:extLst>
              <a:ext uri="{FF2B5EF4-FFF2-40B4-BE49-F238E27FC236}">
                <a16:creationId xmlns:a16="http://schemas.microsoft.com/office/drawing/2014/main" id="{F059AE70-5770-0157-BF9C-AD32F3E39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1547813"/>
            <a:ext cx="7874000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which performs a sequence of commands to a given string str. The command is one of: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 a b: print from the a-th character to the b-th character of str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reverse a b: reverse from the a-th character to the b-th character of str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replace a b p: replace from the a-th character to the b-th character of str with p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indices of str  start with 0.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first line, a string str  is given. Str  consists of lowercase letters. In the second line, the number of commands q is given. In the next q lines, each command is given in the above mentioned format.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print command, print a string in a line.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A1A9E0A-9A52-9166-B69A-63EBDB4AD4B4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/>
              <a:t>Exercise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3">
            <a:extLst>
              <a:ext uri="{FF2B5EF4-FFF2-40B4-BE49-F238E27FC236}">
                <a16:creationId xmlns:a16="http://schemas.microsoft.com/office/drawing/2014/main" id="{6B593262-5B53-2606-7505-8A86EF138A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C69542-4BA0-7E4B-8E10-B6AF1C3AC16A}" type="slidenum">
              <a:rPr lang="en-US" altLang="zh-CN" sz="1600" b="0" smtClean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9698" name="矩形 4">
            <a:extLst>
              <a:ext uri="{FF2B5EF4-FFF2-40B4-BE49-F238E27FC236}">
                <a16:creationId xmlns:a16="http://schemas.microsoft.com/office/drawing/2014/main" id="{895DCDE0-DB21-0A4C-0AA6-0DF6E38CE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3" y="1123950"/>
            <a:ext cx="7874000" cy="535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1≤length of str≤1000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1≤q≤100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0≤a≤b&lt;length of str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for replace command, b−a+1=length of p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Input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1 3 xyz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 0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1 4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xaze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99" name="矩形 4">
            <a:extLst>
              <a:ext uri="{FF2B5EF4-FFF2-40B4-BE49-F238E27FC236}">
                <a16:creationId xmlns:a16="http://schemas.microsoft.com/office/drawing/2014/main" id="{C679EDB5-2602-28BF-A1B1-C7EA64D61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0" y="2968625"/>
            <a:ext cx="368617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Sample Input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xyz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print 0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replace 0 2 abc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print 0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Sample Output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xyz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abc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954CFFE-67A4-708B-5989-CF7DA3E461EF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dirty="0"/>
              <a:t>Exercise</a:t>
            </a:r>
            <a:endParaRPr lang="en-US" altLang="zh-CN" kern="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主题1">
  <a:themeElements>
    <a:clrScheme name="117TGp_report_diagram_v2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117TGp_report_diagram_v2">
      <a:majorFont>
        <a:latin typeface="Times New Roman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17TGp_report_diagram_v2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8261</TotalTime>
  <Words>1102</Words>
  <Application>Microsoft Office PowerPoint</Application>
  <PresentationFormat>全屏显示(4:3)</PresentationFormat>
  <Paragraphs>195</Paragraphs>
  <Slides>15</Slides>
  <Notes>1</Notes>
  <HiddenSlides>0</HiddenSlides>
  <MMClips>0</MMClips>
  <ScaleCrop>false</ScaleCrop>
  <HeadingPairs>
    <vt:vector size="10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  <vt:variant>
        <vt:lpstr>自定义放映</vt:lpstr>
      </vt:variant>
      <vt:variant>
        <vt:i4>1</vt:i4>
      </vt:variant>
    </vt:vector>
  </HeadingPairs>
  <TitlesOfParts>
    <vt:vector size="30" baseType="lpstr">
      <vt:lpstr>CommercialScript BT</vt:lpstr>
      <vt:lpstr>Monotype Sorts</vt:lpstr>
      <vt:lpstr>黑体</vt:lpstr>
      <vt:lpstr>华光楷体_CNKI</vt:lpstr>
      <vt:lpstr>KaiTi</vt:lpstr>
      <vt:lpstr>楷体_GB2312</vt:lpstr>
      <vt:lpstr>微软雅黑</vt:lpstr>
      <vt:lpstr>Arial</vt:lpstr>
      <vt:lpstr>Lucida Sans Unicode</vt:lpstr>
      <vt:lpstr>Times New Roman</vt:lpstr>
      <vt:lpstr>Verdana</vt:lpstr>
      <vt:lpstr>Wingdings</vt:lpstr>
      <vt:lpstr>主题1</vt:lpstr>
      <vt:lpstr>Picture</vt:lpstr>
      <vt:lpstr>程序设计原理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Methods</dc:title>
  <dc:creator>Y. Daniel Liang</dc:creator>
  <cp:lastModifiedBy>建荣 王</cp:lastModifiedBy>
  <cp:revision>342</cp:revision>
  <dcterms:created xsi:type="dcterms:W3CDTF">1995-06-10T17:31:50Z</dcterms:created>
  <dcterms:modified xsi:type="dcterms:W3CDTF">2025-11-13T13:08:02Z</dcterms:modified>
</cp:coreProperties>
</file>