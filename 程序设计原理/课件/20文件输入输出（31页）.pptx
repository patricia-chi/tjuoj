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33"/>
  </p:notesMasterIdLst>
  <p:handoutMasterIdLst>
    <p:handoutMasterId r:id="rId34"/>
  </p:handoutMasterIdLst>
  <p:sldIdLst>
    <p:sldId id="687" r:id="rId2"/>
    <p:sldId id="520" r:id="rId3"/>
    <p:sldId id="499" r:id="rId4"/>
    <p:sldId id="650" r:id="rId5"/>
    <p:sldId id="630" r:id="rId6"/>
    <p:sldId id="591" r:id="rId7"/>
    <p:sldId id="632" r:id="rId8"/>
    <p:sldId id="633" r:id="rId9"/>
    <p:sldId id="634" r:id="rId10"/>
    <p:sldId id="635" r:id="rId11"/>
    <p:sldId id="636" r:id="rId12"/>
    <p:sldId id="688" r:id="rId13"/>
    <p:sldId id="637" r:id="rId14"/>
    <p:sldId id="631" r:id="rId15"/>
    <p:sldId id="689" r:id="rId16"/>
    <p:sldId id="639" r:id="rId17"/>
    <p:sldId id="640" r:id="rId18"/>
    <p:sldId id="690" r:id="rId19"/>
    <p:sldId id="641" r:id="rId20"/>
    <p:sldId id="691" r:id="rId21"/>
    <p:sldId id="642" r:id="rId22"/>
    <p:sldId id="692" r:id="rId23"/>
    <p:sldId id="647" r:id="rId24"/>
    <p:sldId id="648" r:id="rId25"/>
    <p:sldId id="702" r:id="rId26"/>
    <p:sldId id="643" r:id="rId27"/>
    <p:sldId id="644" r:id="rId28"/>
    <p:sldId id="638" r:id="rId29"/>
    <p:sldId id="693" r:id="rId30"/>
    <p:sldId id="699" r:id="rId31"/>
    <p:sldId id="703" r:id="rId3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5pPr>
    <a:lvl6pPr marL="2286000" algn="l" defTabSz="914400" rtl="0" eaLnBrk="1" latinLnBrk="0" hangingPunct="1">
      <a:defRPr sz="2400" kern="1200">
        <a:solidFill>
          <a:schemeClr val="tx1"/>
        </a:solidFill>
        <a:latin typeface="Times New Roman" panose="02020603050405020304" pitchFamily="18" charset="0"/>
        <a:ea typeface="楷体_GB2312"/>
        <a:cs typeface="楷体_GB2312"/>
      </a:defRPr>
    </a:lvl6pPr>
    <a:lvl7pPr marL="2743200" algn="l" defTabSz="914400" rtl="0" eaLnBrk="1" latinLnBrk="0" hangingPunct="1">
      <a:defRPr sz="2400" kern="1200">
        <a:solidFill>
          <a:schemeClr val="tx1"/>
        </a:solidFill>
        <a:latin typeface="Times New Roman" panose="02020603050405020304" pitchFamily="18" charset="0"/>
        <a:ea typeface="楷体_GB2312"/>
        <a:cs typeface="楷体_GB2312"/>
      </a:defRPr>
    </a:lvl7pPr>
    <a:lvl8pPr marL="3200400" algn="l" defTabSz="914400" rtl="0" eaLnBrk="1" latinLnBrk="0" hangingPunct="1">
      <a:defRPr sz="2400" kern="1200">
        <a:solidFill>
          <a:schemeClr val="tx1"/>
        </a:solidFill>
        <a:latin typeface="Times New Roman" panose="02020603050405020304" pitchFamily="18" charset="0"/>
        <a:ea typeface="楷体_GB2312"/>
        <a:cs typeface="楷体_GB2312"/>
      </a:defRPr>
    </a:lvl8pPr>
    <a:lvl9pPr marL="3657600" algn="l" defTabSz="914400" rtl="0" eaLnBrk="1" latinLnBrk="0" hangingPunct="1">
      <a:defRPr sz="2400" kern="1200">
        <a:solidFill>
          <a:schemeClr val="tx1"/>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zm"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41" autoAdjust="0"/>
    <p:restoredTop sz="94721" autoAdjust="0"/>
  </p:normalViewPr>
  <p:slideViewPr>
    <p:cSldViewPr>
      <p:cViewPr varScale="1">
        <p:scale>
          <a:sx n="101" d="100"/>
          <a:sy n="101" d="100"/>
        </p:scale>
        <p:origin x="208" y="1640"/>
      </p:cViewPr>
      <p:guideLst>
        <p:guide orient="horz" pos="57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40" d="100"/>
          <a:sy n="40" d="100"/>
        </p:scale>
        <p:origin x="-1404" y="-78"/>
      </p:cViewPr>
      <p:guideLst>
        <p:guide orient="horz" pos="2160"/>
        <p:guide pos="2880"/>
      </p:guideLst>
    </p:cSldViewPr>
  </p:notes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57DB44D-5DAD-F609-F26B-E449A8150DC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i="1">
                <a:ea typeface="+mn-ea"/>
                <a:cs typeface="+mn-cs"/>
              </a:defRPr>
            </a:lvl1pPr>
          </a:lstStyle>
          <a:p>
            <a:pPr>
              <a:defRPr/>
            </a:pPr>
            <a:endParaRPr lang="en-US" altLang="zh-CN"/>
          </a:p>
        </p:txBody>
      </p:sp>
      <p:sp>
        <p:nvSpPr>
          <p:cNvPr id="2051" name="Rectangle 3">
            <a:extLst>
              <a:ext uri="{FF2B5EF4-FFF2-40B4-BE49-F238E27FC236}">
                <a16:creationId xmlns:a16="http://schemas.microsoft.com/office/drawing/2014/main" id="{7ADB9268-2698-3A69-4ED4-C14253B97DE7}"/>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i="1">
                <a:ea typeface="+mn-ea"/>
                <a:cs typeface="+mn-cs"/>
              </a:defRPr>
            </a:lvl1pPr>
          </a:lstStyle>
          <a:p>
            <a:pPr>
              <a:defRPr/>
            </a:pPr>
            <a:endParaRPr lang="en-US" altLang="zh-CN"/>
          </a:p>
        </p:txBody>
      </p:sp>
      <p:sp>
        <p:nvSpPr>
          <p:cNvPr id="7172" name="Rectangle 4">
            <a:extLst>
              <a:ext uri="{FF2B5EF4-FFF2-40B4-BE49-F238E27FC236}">
                <a16:creationId xmlns:a16="http://schemas.microsoft.com/office/drawing/2014/main" id="{1E46C3A4-687A-A1DC-DB61-77EEF30E9495}"/>
              </a:ext>
            </a:extLst>
          </p:cNvPr>
          <p:cNvSpPr>
            <a:spLocks noGrp="1" noRot="1" noChangeAspect="1" noChangeArrowheads="1" noTextEdit="1"/>
          </p:cNvSpPr>
          <p:nvPr>
            <p:ph type="sldImg" idx="2"/>
          </p:nvPr>
        </p:nvSpPr>
        <p:spPr bwMode="auto">
          <a:xfrm>
            <a:off x="1150938" y="692150"/>
            <a:ext cx="4556125"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A11C65FD-648C-D6A7-D40A-15A9728108F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a:extLst>
              <a:ext uri="{FF2B5EF4-FFF2-40B4-BE49-F238E27FC236}">
                <a16:creationId xmlns:a16="http://schemas.microsoft.com/office/drawing/2014/main" id="{D5650307-FE79-6970-9CF6-8337EA2DE38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i="1">
                <a:ea typeface="+mn-ea"/>
                <a:cs typeface="+mn-cs"/>
              </a:defRPr>
            </a:lvl1pPr>
          </a:lstStyle>
          <a:p>
            <a:pPr>
              <a:defRPr/>
            </a:pPr>
            <a:endParaRPr lang="en-US" altLang="zh-CN"/>
          </a:p>
        </p:txBody>
      </p:sp>
      <p:sp>
        <p:nvSpPr>
          <p:cNvPr id="2055" name="Rectangle 7">
            <a:extLst>
              <a:ext uri="{FF2B5EF4-FFF2-40B4-BE49-F238E27FC236}">
                <a16:creationId xmlns:a16="http://schemas.microsoft.com/office/drawing/2014/main" id="{670250A9-5843-35D7-FD27-4C6C6654591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i="1">
                <a:ea typeface="宋体" panose="02010600030101010101" pitchFamily="2" charset="-122"/>
              </a:defRPr>
            </a:lvl1pPr>
          </a:lstStyle>
          <a:p>
            <a:pPr>
              <a:defRPr/>
            </a:pPr>
            <a:fld id="{EA6C6A85-26AB-BE42-B747-419457B20FA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0B1DF848-005C-C9ED-3C24-13633C78C277}"/>
              </a:ext>
            </a:extLst>
          </p:cNvPr>
          <p:cNvSpPr>
            <a:spLocks noGrp="1" noRot="1" noChangeAspect="1" noChangeArrowheads="1" noTextEdit="1"/>
          </p:cNvSpPr>
          <p:nvPr>
            <p:ph type="sldImg"/>
          </p:nvPr>
        </p:nvSpPr>
        <p:spPr>
          <a:xfrm>
            <a:off x="1371600" y="1143000"/>
            <a:ext cx="4114800" cy="3086100"/>
          </a:xfrm>
          <a:noFill/>
          <a:ln/>
        </p:spPr>
      </p:sp>
      <p:sp>
        <p:nvSpPr>
          <p:cNvPr id="9219" name="备注占位符 2">
            <a:extLst>
              <a:ext uri="{FF2B5EF4-FFF2-40B4-BE49-F238E27FC236}">
                <a16:creationId xmlns:a16="http://schemas.microsoft.com/office/drawing/2014/main" id="{EE178620-D02C-BCE3-753F-0EAE5664EC9C}"/>
              </a:ext>
            </a:extLst>
          </p:cNvPr>
          <p:cNvSpPr>
            <a:spLocks noGrp="1"/>
          </p:cNvSpPr>
          <p:nvPr>
            <p:ph type="body" idx="1"/>
          </p:nvPr>
        </p:nvSpPr>
        <p:spPr>
          <a:xfrm>
            <a:off x="685800" y="4400550"/>
            <a:ext cx="5486400" cy="3600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tju.edu.cn/yx/images/badge.gif"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9">
            <a:extLst>
              <a:ext uri="{FF2B5EF4-FFF2-40B4-BE49-F238E27FC236}">
                <a16:creationId xmlns:a16="http://schemas.microsoft.com/office/drawing/2014/main" id="{FB922881-0D33-823D-AF90-3A0D45A1DF3E}"/>
              </a:ext>
            </a:extLst>
          </p:cNvPr>
          <p:cNvGrpSpPr>
            <a:grpSpLocks/>
          </p:cNvGrpSpPr>
          <p:nvPr/>
        </p:nvGrpSpPr>
        <p:grpSpPr bwMode="auto">
          <a:xfrm>
            <a:off x="1143000" y="628650"/>
            <a:ext cx="8012113" cy="2571750"/>
            <a:chOff x="720" y="396"/>
            <a:chExt cx="5047" cy="1620"/>
          </a:xfrm>
        </p:grpSpPr>
        <p:sp>
          <p:nvSpPr>
            <p:cNvPr id="3" name="Rectangle 18">
              <a:extLst>
                <a:ext uri="{FF2B5EF4-FFF2-40B4-BE49-F238E27FC236}">
                  <a16:creationId xmlns:a16="http://schemas.microsoft.com/office/drawing/2014/main" id="{41433B60-D1F7-D2E8-1F47-CCE08137A8BE}"/>
                </a:ext>
              </a:extLst>
            </p:cNvPr>
            <p:cNvSpPr>
              <a:spLocks noChangeArrowheads="1"/>
            </p:cNvSpPr>
            <p:nvPr userDrawn="1"/>
          </p:nvSpPr>
          <p:spPr bwMode="gray">
            <a:xfrm>
              <a:off x="1081" y="396"/>
              <a:ext cx="4686" cy="1596"/>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4" name="Rectangle 28">
              <a:extLst>
                <a:ext uri="{FF2B5EF4-FFF2-40B4-BE49-F238E27FC236}">
                  <a16:creationId xmlns:a16="http://schemas.microsoft.com/office/drawing/2014/main" id="{F831CA6C-BE03-C309-4A43-91E268158859}"/>
                </a:ext>
              </a:extLst>
            </p:cNvPr>
            <p:cNvSpPr>
              <a:spLocks noChangeArrowheads="1"/>
            </p:cNvSpPr>
            <p:nvPr userDrawn="1"/>
          </p:nvSpPr>
          <p:spPr bwMode="gray">
            <a:xfrm>
              <a:off x="720" y="1440"/>
              <a:ext cx="576" cy="576"/>
            </a:xfrm>
            <a:prstGeom prst="rect">
              <a:avLst/>
            </a:prstGeom>
            <a:solidFill>
              <a:schemeClr val="fo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grpSp>
      <p:sp>
        <p:nvSpPr>
          <p:cNvPr id="5" name="Rectangle 17">
            <a:extLst>
              <a:ext uri="{FF2B5EF4-FFF2-40B4-BE49-F238E27FC236}">
                <a16:creationId xmlns:a16="http://schemas.microsoft.com/office/drawing/2014/main" id="{1EDC86A1-7CE2-3EDC-0BF9-19BE6D104AF0}"/>
              </a:ext>
            </a:extLst>
          </p:cNvPr>
          <p:cNvSpPr>
            <a:spLocks noChangeArrowheads="1"/>
          </p:cNvSpPr>
          <p:nvPr/>
        </p:nvSpPr>
        <p:spPr bwMode="gray">
          <a:xfrm>
            <a:off x="1130300" y="3141663"/>
            <a:ext cx="8013700" cy="574675"/>
          </a:xfrm>
          <a:prstGeom prst="rect">
            <a:avLst/>
          </a:prstGeom>
          <a:solidFill>
            <a:schemeClr val="tx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6" name="Rectangle 19">
            <a:extLst>
              <a:ext uri="{FF2B5EF4-FFF2-40B4-BE49-F238E27FC236}">
                <a16:creationId xmlns:a16="http://schemas.microsoft.com/office/drawing/2014/main" id="{EBA6EEAA-D7CD-E3CB-62F4-A7D2E64CBCD3}"/>
              </a:ext>
            </a:extLst>
          </p:cNvPr>
          <p:cNvSpPr>
            <a:spLocks noChangeArrowheads="1"/>
          </p:cNvSpPr>
          <p:nvPr/>
        </p:nvSpPr>
        <p:spPr bwMode="gray">
          <a:xfrm>
            <a:off x="573088" y="2520950"/>
            <a:ext cx="576262" cy="64135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7" name="Rectangle 20">
            <a:extLst>
              <a:ext uri="{FF2B5EF4-FFF2-40B4-BE49-F238E27FC236}">
                <a16:creationId xmlns:a16="http://schemas.microsoft.com/office/drawing/2014/main" id="{4D0315AE-CD57-6E71-3458-481260ABCA91}"/>
              </a:ext>
            </a:extLst>
          </p:cNvPr>
          <p:cNvSpPr>
            <a:spLocks noChangeArrowheads="1"/>
          </p:cNvSpPr>
          <p:nvPr/>
        </p:nvSpPr>
        <p:spPr bwMode="gray">
          <a:xfrm>
            <a:off x="1716088" y="628650"/>
            <a:ext cx="566737" cy="636588"/>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8" name="Rectangle 21">
            <a:extLst>
              <a:ext uri="{FF2B5EF4-FFF2-40B4-BE49-F238E27FC236}">
                <a16:creationId xmlns:a16="http://schemas.microsoft.com/office/drawing/2014/main" id="{035BEFD5-2ED6-B7ED-C2AB-CA1AAABA28B9}"/>
              </a:ext>
            </a:extLst>
          </p:cNvPr>
          <p:cNvSpPr>
            <a:spLocks noChangeArrowheads="1"/>
          </p:cNvSpPr>
          <p:nvPr/>
        </p:nvSpPr>
        <p:spPr bwMode="gray">
          <a:xfrm>
            <a:off x="2278063" y="0"/>
            <a:ext cx="585787" cy="635000"/>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9" name="Rectangle 22">
            <a:extLst>
              <a:ext uri="{FF2B5EF4-FFF2-40B4-BE49-F238E27FC236}">
                <a16:creationId xmlns:a16="http://schemas.microsoft.com/office/drawing/2014/main" id="{26907ED9-B052-E285-2E09-D502F9F4378E}"/>
              </a:ext>
            </a:extLst>
          </p:cNvPr>
          <p:cNvSpPr>
            <a:spLocks noChangeArrowheads="1"/>
          </p:cNvSpPr>
          <p:nvPr/>
        </p:nvSpPr>
        <p:spPr bwMode="gray">
          <a:xfrm>
            <a:off x="2281238" y="628650"/>
            <a:ext cx="585787" cy="6318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 name="Rectangle 23">
            <a:extLst>
              <a:ext uri="{FF2B5EF4-FFF2-40B4-BE49-F238E27FC236}">
                <a16:creationId xmlns:a16="http://schemas.microsoft.com/office/drawing/2014/main" id="{671B476E-B928-0146-18F4-EC3804752350}"/>
              </a:ext>
            </a:extLst>
          </p:cNvPr>
          <p:cNvSpPr>
            <a:spLocks noChangeArrowheads="1"/>
          </p:cNvSpPr>
          <p:nvPr/>
        </p:nvSpPr>
        <p:spPr bwMode="gray">
          <a:xfrm>
            <a:off x="1141413" y="1262063"/>
            <a:ext cx="574675" cy="62547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1" name="Rectangle 24">
            <a:extLst>
              <a:ext uri="{FF2B5EF4-FFF2-40B4-BE49-F238E27FC236}">
                <a16:creationId xmlns:a16="http://schemas.microsoft.com/office/drawing/2014/main" id="{E9E4C91B-8C28-01E8-1EE2-F853291A044A}"/>
              </a:ext>
            </a:extLst>
          </p:cNvPr>
          <p:cNvSpPr>
            <a:spLocks noChangeArrowheads="1"/>
          </p:cNvSpPr>
          <p:nvPr/>
        </p:nvSpPr>
        <p:spPr bwMode="gray">
          <a:xfrm>
            <a:off x="1716088" y="1263650"/>
            <a:ext cx="566737" cy="62230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2" name="Rectangle 25">
            <a:extLst>
              <a:ext uri="{FF2B5EF4-FFF2-40B4-BE49-F238E27FC236}">
                <a16:creationId xmlns:a16="http://schemas.microsoft.com/office/drawing/2014/main" id="{FB1C5D8F-1813-D671-517A-533E52490FEB}"/>
              </a:ext>
            </a:extLst>
          </p:cNvPr>
          <p:cNvSpPr>
            <a:spLocks noChangeArrowheads="1"/>
          </p:cNvSpPr>
          <p:nvPr/>
        </p:nvSpPr>
        <p:spPr bwMode="gray">
          <a:xfrm>
            <a:off x="573088" y="1885950"/>
            <a:ext cx="576262" cy="64452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3" name="Rectangle 26">
            <a:extLst>
              <a:ext uri="{FF2B5EF4-FFF2-40B4-BE49-F238E27FC236}">
                <a16:creationId xmlns:a16="http://schemas.microsoft.com/office/drawing/2014/main" id="{7F65E337-10D6-052C-3EEE-58266DFB1E56}"/>
              </a:ext>
            </a:extLst>
          </p:cNvPr>
          <p:cNvSpPr>
            <a:spLocks noChangeArrowheads="1"/>
          </p:cNvSpPr>
          <p:nvPr/>
        </p:nvSpPr>
        <p:spPr bwMode="gray">
          <a:xfrm>
            <a:off x="1141413" y="1885950"/>
            <a:ext cx="576262" cy="6445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4" name="Rectangle 27">
            <a:extLst>
              <a:ext uri="{FF2B5EF4-FFF2-40B4-BE49-F238E27FC236}">
                <a16:creationId xmlns:a16="http://schemas.microsoft.com/office/drawing/2014/main" id="{437DA14B-2F60-C2D5-988F-1B698BC1C74C}"/>
              </a:ext>
            </a:extLst>
          </p:cNvPr>
          <p:cNvSpPr>
            <a:spLocks noChangeArrowheads="1"/>
          </p:cNvSpPr>
          <p:nvPr/>
        </p:nvSpPr>
        <p:spPr bwMode="gray">
          <a:xfrm>
            <a:off x="0" y="2528888"/>
            <a:ext cx="574675" cy="633412"/>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pic>
        <p:nvPicPr>
          <p:cNvPr id="15" name="Picture 30" descr="http://www.tju.edu.cn/yx/images/badge.gif">
            <a:extLst>
              <a:ext uri="{FF2B5EF4-FFF2-40B4-BE49-F238E27FC236}">
                <a16:creationId xmlns:a16="http://schemas.microsoft.com/office/drawing/2014/main" id="{199D3C00-7D24-C85C-F82F-E962970A2FB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bwMode="gray">
          <a:xfrm>
            <a:off x="1752600" y="1800225"/>
            <a:ext cx="6629400" cy="1012825"/>
          </a:xfrm>
        </p:spPr>
        <p:txBody>
          <a:bodyPr/>
          <a:lstStyle>
            <a:lvl1pPr algn="ctr">
              <a:defRPr sz="4400" i="1">
                <a:latin typeface="Verdana" pitchFamily="34" charset="0"/>
              </a:defRPr>
            </a:lvl1pPr>
          </a:lstStyle>
          <a:p>
            <a:r>
              <a:rPr lang="zh-CN" altLang="en-US"/>
              <a:t>单击此处编辑母版标题样式</a:t>
            </a:r>
            <a:endParaRPr lang="en-US" altLang="zh-CN"/>
          </a:p>
        </p:txBody>
      </p:sp>
      <p:sp>
        <p:nvSpPr>
          <p:cNvPr id="3075" name="Rectangle 3"/>
          <p:cNvSpPr>
            <a:spLocks noGrp="1" noChangeArrowheads="1"/>
          </p:cNvSpPr>
          <p:nvPr>
            <p:ph type="subTitle" idx="1"/>
          </p:nvPr>
        </p:nvSpPr>
        <p:spPr bwMode="gray">
          <a:xfrm>
            <a:off x="1600200" y="3276600"/>
            <a:ext cx="6324600" cy="381000"/>
          </a:xfrm>
        </p:spPr>
        <p:txBody>
          <a:bodyPr/>
          <a:lstStyle>
            <a:lvl1pPr marL="0" indent="0" algn="ctr">
              <a:buFont typeface="Wingdings" pitchFamily="2" charset="2"/>
              <a:buNone/>
              <a:defRPr sz="1800" b="0">
                <a:solidFill>
                  <a:schemeClr val="bg1"/>
                </a:solidFill>
              </a:defRPr>
            </a:lvl1pPr>
          </a:lstStyle>
          <a:p>
            <a:r>
              <a:rPr lang="zh-CN" altLang="en-US"/>
              <a:t>单击此处编辑母版副标题样式</a:t>
            </a:r>
            <a:endParaRPr lang="en-US" altLang="zh-CN"/>
          </a:p>
        </p:txBody>
      </p:sp>
    </p:spTree>
    <p:extLst>
      <p:ext uri="{BB962C8B-B14F-4D97-AF65-F5344CB8AC3E}">
        <p14:creationId xmlns:p14="http://schemas.microsoft.com/office/powerpoint/2010/main" val="390552325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336911A2-A4D7-EB34-DB48-704AB8358E91}"/>
              </a:ext>
            </a:extLst>
          </p:cNvPr>
          <p:cNvSpPr>
            <a:spLocks noGrp="1" noChangeArrowheads="1"/>
          </p:cNvSpPr>
          <p:nvPr>
            <p:ph type="sldNum" sz="quarter" idx="10"/>
          </p:nvPr>
        </p:nvSpPr>
        <p:spPr>
          <a:ln/>
        </p:spPr>
        <p:txBody>
          <a:bodyPr/>
          <a:lstStyle>
            <a:lvl1pPr>
              <a:defRPr/>
            </a:lvl1pPr>
          </a:lstStyle>
          <a:p>
            <a:pPr>
              <a:defRPr/>
            </a:pPr>
            <a:fld id="{D1849875-7F9C-0D4F-8234-4704E58FCB70}" type="slidenum">
              <a:rPr lang="en-US" altLang="zh-CN"/>
              <a:pPr>
                <a:defRPr/>
              </a:pPr>
              <a:t>‹#›</a:t>
            </a:fld>
            <a:endParaRPr lang="en-US" altLang="zh-CN"/>
          </a:p>
        </p:txBody>
      </p:sp>
      <p:sp>
        <p:nvSpPr>
          <p:cNvPr id="5" name="文本框 4">
            <a:extLst>
              <a:ext uri="{FF2B5EF4-FFF2-40B4-BE49-F238E27FC236}">
                <a16:creationId xmlns:a16="http://schemas.microsoft.com/office/drawing/2014/main" id="{44A5CFE5-285E-D520-C7D3-5C04F309DD2F}"/>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325750821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99575F8C-8F45-B1F7-E910-4E223C89795C}"/>
              </a:ext>
            </a:extLst>
          </p:cNvPr>
          <p:cNvSpPr>
            <a:spLocks noGrp="1" noChangeArrowheads="1"/>
          </p:cNvSpPr>
          <p:nvPr>
            <p:ph type="sldNum" sz="quarter" idx="10"/>
          </p:nvPr>
        </p:nvSpPr>
        <p:spPr>
          <a:ln/>
        </p:spPr>
        <p:txBody>
          <a:bodyPr/>
          <a:lstStyle>
            <a:lvl1pPr>
              <a:defRPr/>
            </a:lvl1pPr>
          </a:lstStyle>
          <a:p>
            <a:pPr>
              <a:defRPr/>
            </a:pPr>
            <a:fld id="{DA5266C3-9A15-9A43-9250-672FCA01AA13}" type="slidenum">
              <a:rPr lang="en-US" altLang="zh-CN"/>
              <a:pPr>
                <a:defRPr/>
              </a:pPr>
              <a:t>‹#›</a:t>
            </a:fld>
            <a:endParaRPr lang="en-US" altLang="zh-CN"/>
          </a:p>
        </p:txBody>
      </p:sp>
      <p:sp>
        <p:nvSpPr>
          <p:cNvPr id="5" name="文本框 4">
            <a:extLst>
              <a:ext uri="{FF2B5EF4-FFF2-40B4-BE49-F238E27FC236}">
                <a16:creationId xmlns:a16="http://schemas.microsoft.com/office/drawing/2014/main" id="{08AFEDA0-9E99-E2F5-DE80-341CF645B902}"/>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396289298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86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5F869F5-F300-135E-E0EE-F1FC7FB61007}"/>
              </a:ext>
            </a:extLst>
          </p:cNvPr>
          <p:cNvSpPr>
            <a:spLocks noGrp="1" noChangeArrowheads="1"/>
          </p:cNvSpPr>
          <p:nvPr>
            <p:ph type="sldNum" sz="quarter" idx="10"/>
          </p:nvPr>
        </p:nvSpPr>
        <p:spPr>
          <a:ln/>
        </p:spPr>
        <p:txBody>
          <a:bodyPr/>
          <a:lstStyle>
            <a:lvl1pPr>
              <a:defRPr/>
            </a:lvl1pPr>
          </a:lstStyle>
          <a:p>
            <a:pPr>
              <a:defRPr/>
            </a:pPr>
            <a:fld id="{15013B96-E68D-B94E-AD91-4A364A4BF85C}" type="slidenum">
              <a:rPr lang="en-US" altLang="zh-CN"/>
              <a:pPr>
                <a:defRPr/>
              </a:pPr>
              <a:t>‹#›</a:t>
            </a:fld>
            <a:endParaRPr lang="en-US" altLang="zh-CN"/>
          </a:p>
        </p:txBody>
      </p:sp>
      <p:sp>
        <p:nvSpPr>
          <p:cNvPr id="6" name="文本框 5">
            <a:extLst>
              <a:ext uri="{FF2B5EF4-FFF2-40B4-BE49-F238E27FC236}">
                <a16:creationId xmlns:a16="http://schemas.microsoft.com/office/drawing/2014/main" id="{DCDC3B0A-5DF1-91A3-B8F9-CE9C96800DF7}"/>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213224285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47FFDE3C-D05E-6601-1AB7-0B3B5AA8AD10}"/>
              </a:ext>
            </a:extLst>
          </p:cNvPr>
          <p:cNvSpPr>
            <a:spLocks noGrp="1" noChangeArrowheads="1"/>
          </p:cNvSpPr>
          <p:nvPr>
            <p:ph type="sldNum" sz="quarter" idx="10"/>
          </p:nvPr>
        </p:nvSpPr>
        <p:spPr>
          <a:ln/>
        </p:spPr>
        <p:txBody>
          <a:bodyPr/>
          <a:lstStyle>
            <a:lvl1pPr>
              <a:defRPr/>
            </a:lvl1pPr>
          </a:lstStyle>
          <a:p>
            <a:pPr>
              <a:defRPr/>
            </a:pPr>
            <a:fld id="{90C8EFDD-421D-E644-8020-1D867CAB26E1}" type="slidenum">
              <a:rPr lang="en-US" altLang="zh-CN"/>
              <a:pPr>
                <a:defRPr/>
              </a:pPr>
              <a:t>‹#›</a:t>
            </a:fld>
            <a:endParaRPr lang="en-US" altLang="zh-CN"/>
          </a:p>
        </p:txBody>
      </p:sp>
      <p:sp>
        <p:nvSpPr>
          <p:cNvPr id="8" name="文本框 7">
            <a:extLst>
              <a:ext uri="{FF2B5EF4-FFF2-40B4-BE49-F238E27FC236}">
                <a16:creationId xmlns:a16="http://schemas.microsoft.com/office/drawing/2014/main" id="{ECBA1657-CC1A-B79C-997D-216D575B9160}"/>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9510812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85221404-CC6A-65B8-D1F9-EFB9675FC34B}"/>
              </a:ext>
            </a:extLst>
          </p:cNvPr>
          <p:cNvSpPr>
            <a:spLocks noGrp="1" noChangeArrowheads="1"/>
          </p:cNvSpPr>
          <p:nvPr>
            <p:ph type="sldNum" sz="quarter" idx="10"/>
          </p:nvPr>
        </p:nvSpPr>
        <p:spPr>
          <a:ln/>
        </p:spPr>
        <p:txBody>
          <a:bodyPr/>
          <a:lstStyle>
            <a:lvl1pPr>
              <a:defRPr/>
            </a:lvl1pPr>
          </a:lstStyle>
          <a:p>
            <a:pPr>
              <a:defRPr/>
            </a:pPr>
            <a:fld id="{0F89D2CF-D583-3E43-96EE-D7B07B25EF36}" type="slidenum">
              <a:rPr lang="en-US" altLang="zh-CN"/>
              <a:pPr>
                <a:defRPr/>
              </a:pPr>
              <a:t>‹#›</a:t>
            </a:fld>
            <a:endParaRPr lang="en-US" altLang="zh-CN"/>
          </a:p>
        </p:txBody>
      </p:sp>
      <p:sp>
        <p:nvSpPr>
          <p:cNvPr id="4" name="文本框 3">
            <a:extLst>
              <a:ext uri="{FF2B5EF4-FFF2-40B4-BE49-F238E27FC236}">
                <a16:creationId xmlns:a16="http://schemas.microsoft.com/office/drawing/2014/main" id="{1054819D-1669-B92A-5BB2-594798DAAF94}"/>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310772529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184036C-3B3C-A0C0-D96B-DBB535C249E9}"/>
              </a:ext>
            </a:extLst>
          </p:cNvPr>
          <p:cNvSpPr>
            <a:spLocks noGrp="1" noChangeArrowheads="1"/>
          </p:cNvSpPr>
          <p:nvPr>
            <p:ph type="sldNum" sz="quarter" idx="10"/>
          </p:nvPr>
        </p:nvSpPr>
        <p:spPr>
          <a:ln/>
        </p:spPr>
        <p:txBody>
          <a:bodyPr/>
          <a:lstStyle>
            <a:lvl1pPr>
              <a:defRPr/>
            </a:lvl1pPr>
          </a:lstStyle>
          <a:p>
            <a:pPr>
              <a:defRPr/>
            </a:pPr>
            <a:fld id="{84515409-21D7-1342-A5EB-BA13154E83A4}" type="slidenum">
              <a:rPr lang="en-US" altLang="zh-CN"/>
              <a:pPr>
                <a:defRPr/>
              </a:pPr>
              <a:t>‹#›</a:t>
            </a:fld>
            <a:endParaRPr lang="en-US" altLang="zh-CN"/>
          </a:p>
        </p:txBody>
      </p:sp>
      <p:sp>
        <p:nvSpPr>
          <p:cNvPr id="3" name="文本框 2">
            <a:extLst>
              <a:ext uri="{FF2B5EF4-FFF2-40B4-BE49-F238E27FC236}">
                <a16:creationId xmlns:a16="http://schemas.microsoft.com/office/drawing/2014/main" id="{C49D7031-7102-7EDF-74F3-1CC5273F1291}"/>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32249037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1420DED2-BDE6-6500-6F5F-2CCADDB04E48}"/>
              </a:ext>
            </a:extLst>
          </p:cNvPr>
          <p:cNvSpPr>
            <a:spLocks noGrp="1" noChangeArrowheads="1"/>
          </p:cNvSpPr>
          <p:nvPr>
            <p:ph type="sldNum" sz="quarter" idx="10"/>
          </p:nvPr>
        </p:nvSpPr>
        <p:spPr>
          <a:ln/>
        </p:spPr>
        <p:txBody>
          <a:bodyPr/>
          <a:lstStyle>
            <a:lvl1pPr>
              <a:defRPr/>
            </a:lvl1pPr>
          </a:lstStyle>
          <a:p>
            <a:pPr>
              <a:defRPr/>
            </a:pPr>
            <a:fld id="{AAB3FE81-A4C6-9342-9110-0FDFCCB5224B}" type="slidenum">
              <a:rPr lang="en-US" altLang="zh-CN"/>
              <a:pPr>
                <a:defRPr/>
              </a:pPr>
              <a:t>‹#›</a:t>
            </a:fld>
            <a:endParaRPr lang="en-US" altLang="zh-CN"/>
          </a:p>
        </p:txBody>
      </p:sp>
      <p:sp>
        <p:nvSpPr>
          <p:cNvPr id="6" name="文本框 5">
            <a:extLst>
              <a:ext uri="{FF2B5EF4-FFF2-40B4-BE49-F238E27FC236}">
                <a16:creationId xmlns:a16="http://schemas.microsoft.com/office/drawing/2014/main" id="{E511A193-CE9A-C7AF-0E0E-D8A74C82B065}"/>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117537271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a:extLst>
              <a:ext uri="{FF2B5EF4-FFF2-40B4-BE49-F238E27FC236}">
                <a16:creationId xmlns:a16="http://schemas.microsoft.com/office/drawing/2014/main" id="{BC30B08E-11CF-DA4D-379E-5D5CF6BD46EE}"/>
              </a:ext>
            </a:extLst>
          </p:cNvPr>
          <p:cNvSpPr>
            <a:spLocks noGrp="1"/>
          </p:cNvSpPr>
          <p:nvPr>
            <p:ph type="sldNum" sz="quarter" idx="10"/>
          </p:nvPr>
        </p:nvSpPr>
        <p:spPr/>
        <p:txBody>
          <a:bodyPr/>
          <a:lstStyle>
            <a:lvl1pPr>
              <a:defRPr/>
            </a:lvl1pPr>
          </a:lstStyle>
          <a:p>
            <a:pPr>
              <a:defRPr/>
            </a:pPr>
            <a:fld id="{8A159093-49C9-4F47-8D51-E2DAC149CEAA}" type="slidenum">
              <a:rPr lang="en-US" altLang="zh-CN"/>
              <a:pPr>
                <a:defRPr/>
              </a:pPr>
              <a:t>‹#›</a:t>
            </a:fld>
            <a:endParaRPr lang="en-US" altLang="zh-CN"/>
          </a:p>
        </p:txBody>
      </p:sp>
      <p:sp>
        <p:nvSpPr>
          <p:cNvPr id="6" name="页脚占位符 5">
            <a:extLst>
              <a:ext uri="{FF2B5EF4-FFF2-40B4-BE49-F238E27FC236}">
                <a16:creationId xmlns:a16="http://schemas.microsoft.com/office/drawing/2014/main" id="{3793CEEB-E84B-ECF3-E22A-8306FC4A60C4}"/>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3F8B7ADE-893C-6E15-9C68-A34448B32DA0}"/>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136269026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a:extLst>
              <a:ext uri="{FF2B5EF4-FFF2-40B4-BE49-F238E27FC236}">
                <a16:creationId xmlns:a16="http://schemas.microsoft.com/office/drawing/2014/main" id="{9E06BB75-3D1D-5A95-97F7-AF5DA64F2A28}"/>
              </a:ext>
            </a:extLst>
          </p:cNvPr>
          <p:cNvSpPr>
            <a:spLocks noGrp="1"/>
          </p:cNvSpPr>
          <p:nvPr>
            <p:ph type="sldNum" sz="quarter" idx="10"/>
          </p:nvPr>
        </p:nvSpPr>
        <p:spPr/>
        <p:txBody>
          <a:bodyPr/>
          <a:lstStyle>
            <a:lvl1pPr>
              <a:defRPr/>
            </a:lvl1pPr>
          </a:lstStyle>
          <a:p>
            <a:pPr>
              <a:defRPr/>
            </a:pPr>
            <a:fld id="{370F12FC-358A-6040-97B8-404064478D79}" type="slidenum">
              <a:rPr lang="en-US" altLang="zh-CN"/>
              <a:pPr>
                <a:defRPr/>
              </a:pPr>
              <a:t>‹#›</a:t>
            </a:fld>
            <a:endParaRPr lang="en-US" altLang="zh-CN"/>
          </a:p>
        </p:txBody>
      </p:sp>
      <p:sp>
        <p:nvSpPr>
          <p:cNvPr id="5" name="页脚占位符 4">
            <a:extLst>
              <a:ext uri="{FF2B5EF4-FFF2-40B4-BE49-F238E27FC236}">
                <a16:creationId xmlns:a16="http://schemas.microsoft.com/office/drawing/2014/main" id="{8A2E94BA-9F77-5BBF-C511-806C9B87F70B}"/>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 name="文本框 5">
            <a:extLst>
              <a:ext uri="{FF2B5EF4-FFF2-40B4-BE49-F238E27FC236}">
                <a16:creationId xmlns:a16="http://schemas.microsoft.com/office/drawing/2014/main" id="{C4C71B61-0BAE-4FF4-956D-FA4050470922}"/>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5812293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7488" y="457200"/>
            <a:ext cx="2057400" cy="59166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457200"/>
            <a:ext cx="6019800" cy="59166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a:extLst>
              <a:ext uri="{FF2B5EF4-FFF2-40B4-BE49-F238E27FC236}">
                <a16:creationId xmlns:a16="http://schemas.microsoft.com/office/drawing/2014/main" id="{6CD0D385-13A6-49D9-F89F-97D8B8810707}"/>
              </a:ext>
            </a:extLst>
          </p:cNvPr>
          <p:cNvSpPr>
            <a:spLocks noGrp="1"/>
          </p:cNvSpPr>
          <p:nvPr>
            <p:ph type="sldNum" sz="quarter" idx="10"/>
          </p:nvPr>
        </p:nvSpPr>
        <p:spPr/>
        <p:txBody>
          <a:bodyPr/>
          <a:lstStyle>
            <a:lvl1pPr>
              <a:defRPr/>
            </a:lvl1pPr>
          </a:lstStyle>
          <a:p>
            <a:pPr>
              <a:defRPr/>
            </a:pPr>
            <a:fld id="{8D5CCE7D-1316-0046-9742-E7C7F33FBBFD}" type="slidenum">
              <a:rPr lang="en-US" altLang="zh-CN"/>
              <a:pPr>
                <a:defRPr/>
              </a:pPr>
              <a:t>‹#›</a:t>
            </a:fld>
            <a:endParaRPr lang="en-US" altLang="zh-CN"/>
          </a:p>
        </p:txBody>
      </p:sp>
      <p:sp>
        <p:nvSpPr>
          <p:cNvPr id="5" name="页脚占位符 4">
            <a:extLst>
              <a:ext uri="{FF2B5EF4-FFF2-40B4-BE49-F238E27FC236}">
                <a16:creationId xmlns:a16="http://schemas.microsoft.com/office/drawing/2014/main" id="{9F246CDB-7003-D313-8687-AD5D3CDACD54}"/>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 name="文本框 5">
            <a:extLst>
              <a:ext uri="{FF2B5EF4-FFF2-40B4-BE49-F238E27FC236}">
                <a16:creationId xmlns:a16="http://schemas.microsoft.com/office/drawing/2014/main" id="{BA6D0453-FF1B-7AF7-566E-4746A7AEFD1F}"/>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2294331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95288" y="457200"/>
            <a:ext cx="8229600" cy="59166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a:extLst>
              <a:ext uri="{FF2B5EF4-FFF2-40B4-BE49-F238E27FC236}">
                <a16:creationId xmlns:a16="http://schemas.microsoft.com/office/drawing/2014/main" id="{9FC45F80-2FA3-3051-E3B7-647D62CEA792}"/>
              </a:ext>
            </a:extLst>
          </p:cNvPr>
          <p:cNvSpPr>
            <a:spLocks noGrp="1"/>
          </p:cNvSpPr>
          <p:nvPr>
            <p:ph type="sldNum" sz="quarter" idx="10"/>
          </p:nvPr>
        </p:nvSpPr>
        <p:spPr/>
        <p:txBody>
          <a:bodyPr/>
          <a:lstStyle>
            <a:lvl1pPr>
              <a:defRPr/>
            </a:lvl1pPr>
          </a:lstStyle>
          <a:p>
            <a:pPr>
              <a:defRPr/>
            </a:pPr>
            <a:fld id="{A29D0427-18D7-724F-9A0E-21BCD700E2C8}" type="slidenum">
              <a:rPr lang="en-US" altLang="zh-CN"/>
              <a:pPr>
                <a:defRPr/>
              </a:pPr>
              <a:t>‹#›</a:t>
            </a:fld>
            <a:endParaRPr lang="en-US" altLang="zh-CN"/>
          </a:p>
        </p:txBody>
      </p:sp>
      <p:sp>
        <p:nvSpPr>
          <p:cNvPr id="4" name="页脚占位符 3">
            <a:extLst>
              <a:ext uri="{FF2B5EF4-FFF2-40B4-BE49-F238E27FC236}">
                <a16:creationId xmlns:a16="http://schemas.microsoft.com/office/drawing/2014/main" id="{0AE66DDF-BE43-F11E-4E6C-1DEA356CC408}"/>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3144ED7-EFD1-7465-4281-31B8C49D2E44}"/>
              </a:ext>
            </a:extLst>
          </p:cNvPr>
          <p:cNvSpPr txBox="1">
            <a:spLocks noChangeArrowheads="1"/>
          </p:cNvSpPr>
          <p:nvPr userDrawn="1"/>
        </p:nvSpPr>
        <p:spPr bwMode="auto">
          <a:xfrm>
            <a:off x="7728229" y="0"/>
            <a:ext cx="1415772"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文件输入输出</a:t>
            </a:r>
          </a:p>
        </p:txBody>
      </p:sp>
    </p:spTree>
    <p:extLst>
      <p:ext uri="{BB962C8B-B14F-4D97-AF65-F5344CB8AC3E}">
        <p14:creationId xmlns:p14="http://schemas.microsoft.com/office/powerpoint/2010/main" val="3064366659"/>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http://www.tju.edu.cn/yx/images/badge.gif"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a:extLst>
              <a:ext uri="{FF2B5EF4-FFF2-40B4-BE49-F238E27FC236}">
                <a16:creationId xmlns:a16="http://schemas.microsoft.com/office/drawing/2014/main" id="{27F7661F-EC02-04D2-BA26-D3635B50911F}"/>
              </a:ext>
            </a:extLst>
          </p:cNvPr>
          <p:cNvSpPr>
            <a:spLocks noChangeArrowheads="1"/>
          </p:cNvSpPr>
          <p:nvPr/>
        </p:nvSpPr>
        <p:spPr bwMode="gray">
          <a:xfrm>
            <a:off x="655638" y="360363"/>
            <a:ext cx="8497887" cy="719137"/>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27" name="Rectangle 3">
            <a:extLst>
              <a:ext uri="{FF2B5EF4-FFF2-40B4-BE49-F238E27FC236}">
                <a16:creationId xmlns:a16="http://schemas.microsoft.com/office/drawing/2014/main" id="{582F0AC8-9A6C-1CE2-A3F7-4A9F75BB4715}"/>
              </a:ext>
            </a:extLst>
          </p:cNvPr>
          <p:cNvSpPr>
            <a:spLocks noGrp="1" noChangeArrowheads="1"/>
          </p:cNvSpPr>
          <p:nvPr>
            <p:ph type="body" idx="1"/>
          </p:nvPr>
        </p:nvSpPr>
        <p:spPr bwMode="auto">
          <a:xfrm>
            <a:off x="395288" y="1125538"/>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a:extLst>
              <a:ext uri="{FF2B5EF4-FFF2-40B4-BE49-F238E27FC236}">
                <a16:creationId xmlns:a16="http://schemas.microsoft.com/office/drawing/2014/main" id="{F86E9915-1CB4-F63D-C017-D55344C08C90}"/>
              </a:ext>
            </a:extLst>
          </p:cNvPr>
          <p:cNvSpPr>
            <a:spLocks noGrp="1" noChangeArrowheads="1"/>
          </p:cNvSpPr>
          <p:nvPr>
            <p:ph type="sldNum" sz="quarter" idx="4"/>
          </p:nvPr>
        </p:nvSpPr>
        <p:spPr bwMode="auto">
          <a:xfrm>
            <a:off x="0" y="6537325"/>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a:latin typeface="Lucida Sans Unicode" panose="020B0602030504020204" pitchFamily="34" charset="0"/>
                <a:ea typeface="宋体" panose="02010600030101010101" pitchFamily="2" charset="-122"/>
              </a:defRPr>
            </a:lvl1pPr>
          </a:lstStyle>
          <a:p>
            <a:pPr>
              <a:defRPr/>
            </a:pPr>
            <a:fld id="{BD5E562A-56FA-F442-A14F-196D6BF0AE64}" type="slidenum">
              <a:rPr lang="en-US" altLang="zh-CN"/>
              <a:pPr>
                <a:defRPr/>
              </a:pPr>
              <a:t>‹#›</a:t>
            </a:fld>
            <a:endParaRPr lang="en-US" altLang="zh-CN"/>
          </a:p>
        </p:txBody>
      </p:sp>
      <p:sp>
        <p:nvSpPr>
          <p:cNvPr id="1029" name="Rectangle 2">
            <a:extLst>
              <a:ext uri="{FF2B5EF4-FFF2-40B4-BE49-F238E27FC236}">
                <a16:creationId xmlns:a16="http://schemas.microsoft.com/office/drawing/2014/main" id="{D678DA8A-B618-2E88-B974-C01F3E3056EC}"/>
              </a:ext>
            </a:extLst>
          </p:cNvPr>
          <p:cNvSpPr>
            <a:spLocks noGrp="1" noChangeArrowheads="1"/>
          </p:cNvSpPr>
          <p:nvPr>
            <p:ph type="title"/>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Rectangle 24">
            <a:extLst>
              <a:ext uri="{FF2B5EF4-FFF2-40B4-BE49-F238E27FC236}">
                <a16:creationId xmlns:a16="http://schemas.microsoft.com/office/drawing/2014/main" id="{8DD27A84-A7F6-56A2-C858-9B42F303C879}"/>
              </a:ext>
            </a:extLst>
          </p:cNvPr>
          <p:cNvSpPr>
            <a:spLocks noChangeArrowheads="1"/>
          </p:cNvSpPr>
          <p:nvPr/>
        </p:nvSpPr>
        <p:spPr bwMode="gray">
          <a:xfrm>
            <a:off x="0" y="719138"/>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1" name="Rectangle 25">
            <a:extLst>
              <a:ext uri="{FF2B5EF4-FFF2-40B4-BE49-F238E27FC236}">
                <a16:creationId xmlns:a16="http://schemas.microsoft.com/office/drawing/2014/main" id="{FF87C3E9-A31B-DEBA-E45A-0FD82B9424C5}"/>
              </a:ext>
            </a:extLst>
          </p:cNvPr>
          <p:cNvSpPr>
            <a:spLocks noChangeArrowheads="1"/>
          </p:cNvSpPr>
          <p:nvPr/>
        </p:nvSpPr>
        <p:spPr bwMode="gray">
          <a:xfrm>
            <a:off x="328613" y="357188"/>
            <a:ext cx="328612"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2" name="Rectangle 26">
            <a:extLst>
              <a:ext uri="{FF2B5EF4-FFF2-40B4-BE49-F238E27FC236}">
                <a16:creationId xmlns:a16="http://schemas.microsoft.com/office/drawing/2014/main" id="{E0711102-BB8C-D3C1-AE58-F454EE3E89AE}"/>
              </a:ext>
            </a:extLst>
          </p:cNvPr>
          <p:cNvSpPr>
            <a:spLocks noChangeArrowheads="1"/>
          </p:cNvSpPr>
          <p:nvPr/>
        </p:nvSpPr>
        <p:spPr bwMode="gray">
          <a:xfrm>
            <a:off x="657225" y="0"/>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3" name="Rectangle 28">
            <a:extLst>
              <a:ext uri="{FF2B5EF4-FFF2-40B4-BE49-F238E27FC236}">
                <a16:creationId xmlns:a16="http://schemas.microsoft.com/office/drawing/2014/main" id="{9D27E7C7-9855-3E65-CA9C-5BFD2BD8B667}"/>
              </a:ext>
            </a:extLst>
          </p:cNvPr>
          <p:cNvSpPr>
            <a:spLocks noChangeArrowheads="1"/>
          </p:cNvSpPr>
          <p:nvPr/>
        </p:nvSpPr>
        <p:spPr bwMode="gray">
          <a:xfrm>
            <a:off x="657225" y="361950"/>
            <a:ext cx="328613"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4" name="Rectangle 29">
            <a:extLst>
              <a:ext uri="{FF2B5EF4-FFF2-40B4-BE49-F238E27FC236}">
                <a16:creationId xmlns:a16="http://schemas.microsoft.com/office/drawing/2014/main" id="{C22B3804-69D5-54D4-F4A7-A5258F61AA9A}"/>
              </a:ext>
            </a:extLst>
          </p:cNvPr>
          <p:cNvSpPr>
            <a:spLocks noChangeArrowheads="1"/>
          </p:cNvSpPr>
          <p:nvPr/>
        </p:nvSpPr>
        <p:spPr bwMode="gray">
          <a:xfrm>
            <a:off x="328613" y="719138"/>
            <a:ext cx="328612"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pic>
        <p:nvPicPr>
          <p:cNvPr id="1035" name="Picture 31" descr="http://www.tju.edu.cn/yx/images/badge.gif">
            <a:extLst>
              <a:ext uri="{FF2B5EF4-FFF2-40B4-BE49-F238E27FC236}">
                <a16:creationId xmlns:a16="http://schemas.microsoft.com/office/drawing/2014/main" id="{EC446C5C-7ACA-B562-9781-E264B6F58D47}"/>
              </a:ext>
            </a:extLst>
          </p:cNvPr>
          <p:cNvPicPr>
            <a:picLocks noChangeAspect="1" noChangeArrowheads="1"/>
          </p:cNvPicPr>
          <p:nvPr/>
        </p:nvPicPr>
        <p:blipFill>
          <a:blip r:embed="rId14" r:link="rId15">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3" r:id="rId1"/>
    <p:sldLayoutId id="2147483916" r:id="rId2"/>
    <p:sldLayoutId id="2147483917" r:id="rId3"/>
    <p:sldLayoutId id="2147483918" r:id="rId4"/>
    <p:sldLayoutId id="2147483919" r:id="rId5"/>
    <p:sldLayoutId id="2147483920" r:id="rId6"/>
    <p:sldLayoutId id="2147483921" r:id="rId7"/>
    <p:sldLayoutId id="2147483922" r:id="rId8"/>
    <p:sldLayoutId id="2147483924" r:id="rId9"/>
    <p:sldLayoutId id="2147483925" r:id="rId10"/>
    <p:sldLayoutId id="2147483926" r:id="rId11"/>
    <p:sldLayoutId id="2147483927" r:id="rId12"/>
  </p:sldLayoutIdLst>
  <p:transition>
    <p:fade/>
  </p:transition>
  <p:hf hdr="0" ftr="0" dt="0"/>
  <p:txStyles>
    <p:title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rgbClr val="0033CC"/>
        </a:buClr>
        <a:buFont typeface="Wingdings" pitchFamily="2" charset="2"/>
        <a:buChar char="Ø"/>
        <a:defRPr sz="2800" b="1">
          <a:solidFill>
            <a:srgbClr val="000099"/>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l"/>
        <a:defRPr sz="2800" b="1">
          <a:solidFill>
            <a:srgbClr val="000099"/>
          </a:solidFill>
          <a:latin typeface="+mn-lt"/>
          <a:ea typeface="+mn-ea"/>
          <a:cs typeface="楷体_GB2312"/>
        </a:defRPr>
      </a:lvl2pPr>
      <a:lvl3pPr marL="1143000" indent="-228600" algn="l" rtl="0" eaLnBrk="0" fontAlgn="base" hangingPunct="0">
        <a:spcBef>
          <a:spcPct val="20000"/>
        </a:spcBef>
        <a:spcAft>
          <a:spcPct val="0"/>
        </a:spcAft>
        <a:buClr>
          <a:srgbClr val="0033CC"/>
        </a:buClr>
        <a:buChar char="•"/>
        <a:defRPr sz="2400" b="1">
          <a:solidFill>
            <a:srgbClr val="000099"/>
          </a:solidFill>
          <a:latin typeface="+mn-lt"/>
          <a:ea typeface="+mn-ea"/>
          <a:cs typeface="楷体_GB2312"/>
        </a:defRPr>
      </a:lvl3pPr>
      <a:lvl4pPr marL="1600200" indent="-228600" algn="l" rtl="0" eaLnBrk="0" fontAlgn="base" hangingPunct="0">
        <a:spcBef>
          <a:spcPct val="20000"/>
        </a:spcBef>
        <a:spcAft>
          <a:spcPct val="0"/>
        </a:spcAft>
        <a:buChar char="–"/>
        <a:defRPr sz="2000" b="1">
          <a:solidFill>
            <a:srgbClr val="000099"/>
          </a:solidFill>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0099"/>
          </a:solidFill>
          <a:latin typeface="+mn-lt"/>
          <a:ea typeface="+mn-ea"/>
          <a:cs typeface="楷体_GB2312"/>
        </a:defRPr>
      </a:lvl5pPr>
      <a:lvl6pPr marL="2514600" indent="-228600" algn="l" rtl="0" eaLnBrk="1" fontAlgn="base" hangingPunct="1">
        <a:spcBef>
          <a:spcPct val="20000"/>
        </a:spcBef>
        <a:spcAft>
          <a:spcPct val="0"/>
        </a:spcAft>
        <a:buChar char="»"/>
        <a:defRPr sz="2000" b="1">
          <a:solidFill>
            <a:srgbClr val="000099"/>
          </a:solidFill>
          <a:latin typeface="+mn-lt"/>
          <a:ea typeface="+mn-ea"/>
        </a:defRPr>
      </a:lvl6pPr>
      <a:lvl7pPr marL="2971800" indent="-228600" algn="l" rtl="0" eaLnBrk="1" fontAlgn="base" hangingPunct="1">
        <a:spcBef>
          <a:spcPct val="20000"/>
        </a:spcBef>
        <a:spcAft>
          <a:spcPct val="0"/>
        </a:spcAft>
        <a:buChar char="»"/>
        <a:defRPr sz="2000" b="1">
          <a:solidFill>
            <a:srgbClr val="000099"/>
          </a:solidFill>
          <a:latin typeface="+mn-lt"/>
          <a:ea typeface="+mn-ea"/>
        </a:defRPr>
      </a:lvl7pPr>
      <a:lvl8pPr marL="3429000" indent="-228600" algn="l" rtl="0" eaLnBrk="1" fontAlgn="base" hangingPunct="1">
        <a:spcBef>
          <a:spcPct val="20000"/>
        </a:spcBef>
        <a:spcAft>
          <a:spcPct val="0"/>
        </a:spcAft>
        <a:buChar char="»"/>
        <a:defRPr sz="2000" b="1">
          <a:solidFill>
            <a:srgbClr val="000099"/>
          </a:solidFill>
          <a:latin typeface="+mn-lt"/>
          <a:ea typeface="+mn-ea"/>
        </a:defRPr>
      </a:lvl8pPr>
      <a:lvl9pPr marL="3886200" indent="-228600" algn="l" rtl="0" eaLnBrk="1" fontAlgn="base" hangingPunct="1">
        <a:spcBef>
          <a:spcPct val="20000"/>
        </a:spcBef>
        <a:spcAft>
          <a:spcPct val="0"/>
        </a:spcAft>
        <a:buChar char="»"/>
        <a:defRPr sz="2000" b="1">
          <a:solidFill>
            <a:srgbClr val="000099"/>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D42A7FB8-6693-928F-0565-1A56660E9D13}"/>
              </a:ext>
            </a:extLst>
          </p:cNvPr>
          <p:cNvSpPr>
            <a:spLocks noGrp="1" noChangeArrowheads="1"/>
          </p:cNvSpPr>
          <p:nvPr>
            <p:ph type="ctrTitle"/>
          </p:nvPr>
        </p:nvSpPr>
        <p:spPr>
          <a:xfrm>
            <a:off x="609600" y="2209800"/>
            <a:ext cx="8229600" cy="1066800"/>
          </a:xfrm>
        </p:spPr>
        <p:txBody>
          <a:bodyPr/>
          <a:lstStyle/>
          <a:p>
            <a:r>
              <a:rPr lang="zh-CN" altLang="en-US" sz="4800">
                <a:latin typeface="微软雅黑" panose="020B0503020204020204" pitchFamily="34" charset="-122"/>
                <a:ea typeface="微软雅黑" panose="020B0503020204020204" pitchFamily="34" charset="-122"/>
              </a:rPr>
              <a:t>程序设计原理</a:t>
            </a:r>
          </a:p>
        </p:txBody>
      </p:sp>
      <p:sp>
        <p:nvSpPr>
          <p:cNvPr id="7172" name="文本框 1">
            <a:extLst>
              <a:ext uri="{FF2B5EF4-FFF2-40B4-BE49-F238E27FC236}">
                <a16:creationId xmlns:a16="http://schemas.microsoft.com/office/drawing/2014/main" id="{CB54883C-3F1A-8A7D-211C-E4AE0B450D8A}"/>
              </a:ext>
            </a:extLst>
          </p:cNvPr>
          <p:cNvSpPr txBox="1">
            <a:spLocks noChangeArrowheads="1"/>
          </p:cNvSpPr>
          <p:nvPr/>
        </p:nvSpPr>
        <p:spPr bwMode="auto">
          <a:xfrm>
            <a:off x="3689505" y="3198813"/>
            <a:ext cx="2069797" cy="461665"/>
          </a:xfrm>
          <a:prstGeom prst="rect">
            <a:avLst/>
          </a:prstGeom>
          <a:noFill/>
          <a:ln>
            <a:noFill/>
          </a:ln>
        </p:spPr>
        <p:txBody>
          <a:bodyPr wrap="none">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a:spcBef>
                <a:spcPct val="0"/>
              </a:spcBef>
              <a:buClrTx/>
              <a:buFontTx/>
              <a:buNone/>
              <a:defRPr/>
            </a:pPr>
            <a:r>
              <a:rPr lang="zh-CN" altLang="en-US" sz="2400" kern="0" dirty="0">
                <a:solidFill>
                  <a:schemeClr val="bg1"/>
                </a:solidFill>
                <a:latin typeface="Microsoft YaHei" panose="020B0503020204020204" pitchFamily="34" charset="-122"/>
                <a:ea typeface="Microsoft YaHei" panose="020B0503020204020204" pitchFamily="34" charset="-122"/>
              </a:rPr>
              <a:t>文件输入输出</a:t>
            </a:r>
            <a:endParaRPr lang="en-US" altLang="zh-CN" sz="2400" dirty="0">
              <a:solidFill>
                <a:schemeClr val="bg1"/>
              </a:solidFill>
              <a:latin typeface="Microsoft YaHei" panose="020B0503020204020204" pitchFamily="34" charset="-122"/>
              <a:ea typeface="Microsoft YaHei" panose="020B0503020204020204" pitchFamily="34" charset="-122"/>
            </a:endParaRPr>
          </a:p>
        </p:txBody>
      </p:sp>
      <p:sp>
        <p:nvSpPr>
          <p:cNvPr id="2" name="矩形 1">
            <a:extLst>
              <a:ext uri="{FF2B5EF4-FFF2-40B4-BE49-F238E27FC236}">
                <a16:creationId xmlns:a16="http://schemas.microsoft.com/office/drawing/2014/main" id="{F185525F-53FB-721D-C1A1-AF99EB15EB38}"/>
              </a:ext>
            </a:extLst>
          </p:cNvPr>
          <p:cNvSpPr>
            <a:spLocks noChangeArrowheads="1"/>
          </p:cNvSpPr>
          <p:nvPr/>
        </p:nvSpPr>
        <p:spPr bwMode="auto">
          <a:xfrm>
            <a:off x="2895600" y="4267200"/>
            <a:ext cx="365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panose="02010609030101010101" pitchFamily="49" charset="-122"/>
                <a:ea typeface="楷体_GB2312" panose="02010609030101010101" pitchFamily="49" charset="-122"/>
              </a:defRPr>
            </a:lvl1pPr>
            <a:lvl2pPr marL="742950" indent="-285750">
              <a:spcBef>
                <a:spcPct val="20000"/>
              </a:spcBef>
              <a:buClr>
                <a:schemeClr val="accent1"/>
              </a:buClr>
              <a:buFont typeface="Wingdings" pitchFamily="2" charset="2"/>
              <a:buChar char="l"/>
              <a:defRPr sz="2800" b="1">
                <a:solidFill>
                  <a:srgbClr val="000099"/>
                </a:solidFill>
                <a:latin typeface="楷体_GB2312" panose="02010609030101010101" pitchFamily="49" charset="-122"/>
                <a:ea typeface="楷体_GB2312" panose="02010609030101010101" pitchFamily="49" charset="-122"/>
              </a:defRPr>
            </a:lvl2pPr>
            <a:lvl3pPr marL="1143000" indent="-228600">
              <a:spcBef>
                <a:spcPct val="20000"/>
              </a:spcBef>
              <a:buClr>
                <a:srgbClr val="0033CC"/>
              </a:buClr>
              <a:buChar char="•"/>
              <a:defRPr sz="2400" b="1">
                <a:solidFill>
                  <a:srgbClr val="000099"/>
                </a:solidFill>
                <a:latin typeface="楷体_GB2312" panose="02010609030101010101" pitchFamily="49" charset="-122"/>
                <a:ea typeface="楷体_GB2312" panose="02010609030101010101" pitchFamily="49" charset="-122"/>
              </a:defRPr>
            </a:lvl3pPr>
            <a:lvl4pPr marL="16002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4pPr>
            <a:lvl5pPr marL="20574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5pPr>
            <a:lvl6pPr marL="25146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6pPr>
            <a:lvl7pPr marL="29718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7pPr>
            <a:lvl8pPr marL="34290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8pPr>
            <a:lvl9pPr marL="38862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9pPr>
          </a:lstStyle>
          <a:p>
            <a:pPr>
              <a:spcBef>
                <a:spcPct val="0"/>
              </a:spcBef>
              <a:buClrTx/>
              <a:buFontTx/>
              <a:buNone/>
            </a:pPr>
            <a:r>
              <a:rPr lang="zh-CN" altLang="en-US" sz="2400" dirty="0">
                <a:solidFill>
                  <a:schemeClr val="tx1"/>
                </a:solidFill>
                <a:latin typeface="KaiTi" panose="02010609060101010101" pitchFamily="49" charset="-122"/>
                <a:ea typeface="KaiTi" panose="02010609060101010101" pitchFamily="49" charset="-122"/>
              </a:rPr>
              <a:t>任课教师： 喻  梅</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于瑞国</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王建荣</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李雪威</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赵满坤</a:t>
            </a:r>
            <a:endParaRPr lang="en-US" altLang="zh-CN" sz="2400" dirty="0">
              <a:solidFill>
                <a:schemeClr val="tx1"/>
              </a:solidFill>
              <a:latin typeface="KaiTi" panose="02010609060101010101" pitchFamily="49" charset="-122"/>
              <a:ea typeface="KaiTi" panose="02010609060101010101" pitchFamily="49"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a:extLst>
              <a:ext uri="{FF2B5EF4-FFF2-40B4-BE49-F238E27FC236}">
                <a16:creationId xmlns:a16="http://schemas.microsoft.com/office/drawing/2014/main" id="{AEC6B0F5-33F7-E38E-8FDC-C90A7F915138}"/>
              </a:ext>
            </a:extLst>
          </p:cNvPr>
          <p:cNvSpPr>
            <a:spLocks noGrp="1" noChangeArrowheads="1"/>
          </p:cNvSpPr>
          <p:nvPr>
            <p:ph idx="1"/>
          </p:nvPr>
        </p:nvSpPr>
        <p:spPr>
          <a:xfrm>
            <a:off x="250825" y="1277938"/>
            <a:ext cx="8642350" cy="5051425"/>
          </a:xfrm>
        </p:spPr>
        <p:txBody>
          <a:bodyPr/>
          <a:lstStyle/>
          <a:p>
            <a:pPr eaLnBrk="1" hangingPunct="1">
              <a:lnSpc>
                <a:spcPct val="80000"/>
              </a:lnSpc>
              <a:defRPr/>
            </a:pPr>
            <a:r>
              <a:rPr lang="en-US" altLang="zh-CN" sz="2000" dirty="0">
                <a:solidFill>
                  <a:schemeClr val="tx1"/>
                </a:solidFill>
                <a:latin typeface="+mj-lt"/>
                <a:ea typeface="宋体" charset="-122"/>
              </a:rPr>
              <a:t>To use </a:t>
            </a:r>
            <a:r>
              <a:rPr lang="en-US" altLang="zh-CN" sz="2000" u="sng" dirty="0" err="1">
                <a:solidFill>
                  <a:schemeClr val="tx1"/>
                </a:solidFill>
                <a:latin typeface="+mj-lt"/>
                <a:ea typeface="宋体" charset="-122"/>
              </a:rPr>
              <a:t>ofstream</a:t>
            </a:r>
            <a:r>
              <a:rPr lang="en-US" altLang="zh-CN" sz="2000" dirty="0">
                <a:solidFill>
                  <a:schemeClr val="tx1"/>
                </a:solidFill>
                <a:latin typeface="+mj-lt"/>
                <a:ea typeface="宋体" charset="-122"/>
              </a:rPr>
              <a:t> for output and </a:t>
            </a:r>
            <a:r>
              <a:rPr lang="en-US" altLang="zh-CN" sz="2000" u="sng" dirty="0" err="1">
                <a:solidFill>
                  <a:schemeClr val="tx1"/>
                </a:solidFill>
                <a:latin typeface="+mj-lt"/>
                <a:ea typeface="宋体" charset="-122"/>
              </a:rPr>
              <a:t>ifstream</a:t>
            </a:r>
            <a:r>
              <a:rPr lang="en-US" altLang="zh-CN" sz="2000" dirty="0">
                <a:solidFill>
                  <a:schemeClr val="tx1"/>
                </a:solidFill>
                <a:latin typeface="+mj-lt"/>
                <a:ea typeface="宋体" charset="-122"/>
              </a:rPr>
              <a:t> for input .</a:t>
            </a:r>
          </a:p>
          <a:p>
            <a:pPr eaLnBrk="1" hangingPunct="1">
              <a:lnSpc>
                <a:spcPct val="80000"/>
              </a:lnSpc>
              <a:defRPr/>
            </a:pPr>
            <a:r>
              <a:rPr lang="en-US" altLang="zh-CN" sz="2000" dirty="0">
                <a:solidFill>
                  <a:schemeClr val="tx1"/>
                </a:solidFill>
                <a:latin typeface="+mj-lt"/>
                <a:ea typeface="宋体" charset="-122"/>
              </a:rPr>
              <a:t>To test whether a file exists .</a:t>
            </a:r>
          </a:p>
          <a:p>
            <a:pPr eaLnBrk="1" hangingPunct="1">
              <a:lnSpc>
                <a:spcPct val="80000"/>
              </a:lnSpc>
              <a:defRPr/>
            </a:pPr>
            <a:r>
              <a:rPr lang="en-US" altLang="zh-CN" sz="2000" dirty="0">
                <a:solidFill>
                  <a:schemeClr val="tx1"/>
                </a:solidFill>
                <a:latin typeface="+mj-lt"/>
                <a:ea typeface="宋体" charset="-122"/>
              </a:rPr>
              <a:t>To test the end of a file .</a:t>
            </a:r>
          </a:p>
          <a:p>
            <a:pPr eaLnBrk="1" hangingPunct="1">
              <a:lnSpc>
                <a:spcPct val="80000"/>
              </a:lnSpc>
              <a:defRPr/>
            </a:pPr>
            <a:r>
              <a:rPr lang="en-US" altLang="zh-CN" sz="2000" dirty="0">
                <a:solidFill>
                  <a:schemeClr val="tx1"/>
                </a:solidFill>
                <a:latin typeface="+mj-lt"/>
                <a:ea typeface="宋体" charset="-122"/>
              </a:rPr>
              <a:t>To write data in a desired format .</a:t>
            </a:r>
          </a:p>
          <a:p>
            <a:pPr eaLnBrk="1" hangingPunct="1">
              <a:lnSpc>
                <a:spcPct val="80000"/>
              </a:lnSpc>
              <a:defRPr/>
            </a:pPr>
            <a:r>
              <a:rPr lang="en-US" altLang="zh-CN" sz="2000" dirty="0">
                <a:solidFill>
                  <a:schemeClr val="tx1"/>
                </a:solidFill>
                <a:latin typeface="+mj-lt"/>
                <a:ea typeface="宋体" charset="-122"/>
              </a:rPr>
              <a:t>To read and write data using the </a:t>
            </a:r>
            <a:r>
              <a:rPr lang="en-US" altLang="zh-CN" sz="2000" u="sng" dirty="0" err="1">
                <a:solidFill>
                  <a:schemeClr val="tx1"/>
                </a:solidFill>
                <a:latin typeface="+mj-lt"/>
                <a:ea typeface="宋体" charset="-122"/>
              </a:rPr>
              <a:t>getline</a:t>
            </a:r>
            <a:r>
              <a:rPr lang="en-US" altLang="zh-CN" sz="2000" dirty="0">
                <a:solidFill>
                  <a:schemeClr val="tx1"/>
                </a:solidFill>
                <a:latin typeface="+mj-lt"/>
                <a:ea typeface="宋体" charset="-122"/>
              </a:rPr>
              <a:t>, </a:t>
            </a:r>
            <a:r>
              <a:rPr lang="en-US" altLang="zh-CN" sz="2000" u="sng" dirty="0">
                <a:solidFill>
                  <a:schemeClr val="tx1"/>
                </a:solidFill>
                <a:latin typeface="+mj-lt"/>
                <a:ea typeface="宋体" charset="-122"/>
              </a:rPr>
              <a:t>get</a:t>
            </a:r>
            <a:r>
              <a:rPr lang="en-US" altLang="zh-CN" sz="2000" dirty="0">
                <a:solidFill>
                  <a:schemeClr val="tx1"/>
                </a:solidFill>
                <a:latin typeface="+mj-lt"/>
                <a:ea typeface="宋体" charset="-122"/>
              </a:rPr>
              <a:t>, and </a:t>
            </a:r>
            <a:r>
              <a:rPr lang="en-US" altLang="zh-CN" sz="2000" u="sng" dirty="0">
                <a:solidFill>
                  <a:schemeClr val="tx1"/>
                </a:solidFill>
                <a:latin typeface="+mj-lt"/>
                <a:ea typeface="宋体" charset="-122"/>
              </a:rPr>
              <a:t>put</a:t>
            </a:r>
            <a:r>
              <a:rPr lang="en-US" altLang="zh-CN" sz="2000" dirty="0">
                <a:solidFill>
                  <a:schemeClr val="tx1"/>
                </a:solidFill>
                <a:latin typeface="+mj-lt"/>
                <a:ea typeface="宋体" charset="-122"/>
              </a:rPr>
              <a:t> functions .</a:t>
            </a:r>
          </a:p>
          <a:p>
            <a:pPr eaLnBrk="1" hangingPunct="1">
              <a:lnSpc>
                <a:spcPct val="80000"/>
              </a:lnSpc>
              <a:defRPr/>
            </a:pPr>
            <a:r>
              <a:rPr lang="en-US" altLang="zh-CN" sz="2000" dirty="0">
                <a:solidFill>
                  <a:schemeClr val="tx1"/>
                </a:solidFill>
                <a:latin typeface="+mj-lt"/>
                <a:ea typeface="宋体" charset="-122"/>
              </a:rPr>
              <a:t>To use an </a:t>
            </a:r>
            <a:r>
              <a:rPr lang="en-US" altLang="zh-CN" sz="2000" u="sng" dirty="0" err="1">
                <a:solidFill>
                  <a:schemeClr val="tx1"/>
                </a:solidFill>
                <a:latin typeface="+mj-lt"/>
                <a:ea typeface="宋体" charset="-122"/>
              </a:rPr>
              <a:t>fstream</a:t>
            </a:r>
            <a:r>
              <a:rPr lang="en-US" altLang="zh-CN" sz="2000" dirty="0">
                <a:solidFill>
                  <a:schemeClr val="tx1"/>
                </a:solidFill>
                <a:latin typeface="+mj-lt"/>
                <a:ea typeface="宋体" charset="-122"/>
              </a:rPr>
              <a:t> object to read and write data .</a:t>
            </a:r>
          </a:p>
          <a:p>
            <a:pPr eaLnBrk="1" hangingPunct="1">
              <a:lnSpc>
                <a:spcPct val="80000"/>
              </a:lnSpc>
              <a:defRPr/>
            </a:pPr>
            <a:r>
              <a:rPr lang="en-US" altLang="zh-CN" sz="2000" dirty="0">
                <a:solidFill>
                  <a:schemeClr val="tx1"/>
                </a:solidFill>
                <a:latin typeface="+mj-lt"/>
                <a:ea typeface="宋体" charset="-122"/>
              </a:rPr>
              <a:t>To open a file with specified modes .</a:t>
            </a:r>
          </a:p>
          <a:p>
            <a:pPr eaLnBrk="1" hangingPunct="1">
              <a:lnSpc>
                <a:spcPct val="80000"/>
              </a:lnSpc>
              <a:defRPr/>
            </a:pPr>
            <a:r>
              <a:rPr lang="en-US" altLang="zh-CN" sz="2000" dirty="0">
                <a:solidFill>
                  <a:schemeClr val="tx1"/>
                </a:solidFill>
                <a:latin typeface="+mj-lt"/>
                <a:ea typeface="宋体" charset="-122"/>
              </a:rPr>
              <a:t>To use the </a:t>
            </a:r>
            <a:r>
              <a:rPr lang="en-US" altLang="zh-CN" sz="2000" u="sng" dirty="0" err="1">
                <a:solidFill>
                  <a:schemeClr val="tx1"/>
                </a:solidFill>
                <a:latin typeface="+mj-lt"/>
                <a:ea typeface="宋体" charset="-122"/>
              </a:rPr>
              <a:t>eof</a:t>
            </a:r>
            <a:r>
              <a:rPr lang="en-US" altLang="zh-CN" sz="2000" u="sng" dirty="0">
                <a:solidFill>
                  <a:schemeClr val="tx1"/>
                </a:solidFill>
                <a:latin typeface="+mj-lt"/>
                <a:ea typeface="宋体" charset="-122"/>
              </a:rPr>
              <a:t>()</a:t>
            </a:r>
            <a:r>
              <a:rPr lang="en-US" altLang="zh-CN" sz="2000" dirty="0">
                <a:solidFill>
                  <a:schemeClr val="tx1"/>
                </a:solidFill>
                <a:latin typeface="+mj-lt"/>
                <a:ea typeface="宋体" charset="-122"/>
              </a:rPr>
              <a:t>, </a:t>
            </a:r>
            <a:r>
              <a:rPr lang="en-US" altLang="zh-CN" sz="2000" u="sng" dirty="0">
                <a:solidFill>
                  <a:schemeClr val="tx1"/>
                </a:solidFill>
                <a:latin typeface="+mj-lt"/>
                <a:ea typeface="宋体" charset="-122"/>
              </a:rPr>
              <a:t>fail()</a:t>
            </a:r>
            <a:r>
              <a:rPr lang="en-US" altLang="zh-CN" sz="2000" dirty="0">
                <a:solidFill>
                  <a:schemeClr val="tx1"/>
                </a:solidFill>
                <a:latin typeface="+mj-lt"/>
                <a:ea typeface="宋体" charset="-122"/>
              </a:rPr>
              <a:t>, </a:t>
            </a:r>
            <a:r>
              <a:rPr lang="en-US" altLang="zh-CN" sz="2000" u="sng" dirty="0">
                <a:solidFill>
                  <a:schemeClr val="tx1"/>
                </a:solidFill>
                <a:latin typeface="+mj-lt"/>
                <a:ea typeface="宋体" charset="-122"/>
              </a:rPr>
              <a:t>bad()</a:t>
            </a:r>
            <a:r>
              <a:rPr lang="en-US" altLang="zh-CN" sz="2000" dirty="0">
                <a:solidFill>
                  <a:schemeClr val="tx1"/>
                </a:solidFill>
                <a:latin typeface="+mj-lt"/>
                <a:ea typeface="宋体" charset="-122"/>
              </a:rPr>
              <a:t>, and </a:t>
            </a:r>
            <a:r>
              <a:rPr lang="en-US" altLang="zh-CN" sz="2000" u="sng" dirty="0">
                <a:solidFill>
                  <a:schemeClr val="tx1"/>
                </a:solidFill>
                <a:latin typeface="+mj-lt"/>
                <a:ea typeface="宋体" charset="-122"/>
              </a:rPr>
              <a:t>good()</a:t>
            </a:r>
            <a:r>
              <a:rPr lang="en-US" altLang="zh-CN" sz="2000" dirty="0">
                <a:solidFill>
                  <a:schemeClr val="tx1"/>
                </a:solidFill>
                <a:latin typeface="+mj-lt"/>
                <a:ea typeface="宋体" charset="-122"/>
              </a:rPr>
              <a:t> functions to test stream states .</a:t>
            </a:r>
          </a:p>
        </p:txBody>
      </p:sp>
      <p:sp>
        <p:nvSpPr>
          <p:cNvPr id="10243" name="灯片编号占位符 4">
            <a:extLst>
              <a:ext uri="{FF2B5EF4-FFF2-40B4-BE49-F238E27FC236}">
                <a16:creationId xmlns:a16="http://schemas.microsoft.com/office/drawing/2014/main" id="{D390E999-CF67-D0EF-6FB6-CB0E3D67E973}"/>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EEBBA11-846B-EE4A-96A3-07E2CC4EDCF7}"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0244" name="标题 2">
            <a:extLst>
              <a:ext uri="{FF2B5EF4-FFF2-40B4-BE49-F238E27FC236}">
                <a16:creationId xmlns:a16="http://schemas.microsoft.com/office/drawing/2014/main" id="{85832DA1-0F80-DD31-7868-7A439420C6E0}"/>
              </a:ext>
            </a:extLst>
          </p:cNvPr>
          <p:cNvSpPr>
            <a:spLocks noGrp="1" noChangeArrowheads="1"/>
          </p:cNvSpPr>
          <p:nvPr>
            <p:ph type="title"/>
          </p:nvPr>
        </p:nvSpPr>
        <p:spPr/>
        <p:txBody>
          <a:bodyPr/>
          <a:lstStyle/>
          <a:p>
            <a:r>
              <a:rPr lang="en-US" altLang="zh-CN" dirty="0">
                <a:ea typeface="宋体" panose="02010600030101010101" pitchFamily="2" charset="-122"/>
              </a:rPr>
              <a:t>Objectives</a:t>
            </a:r>
            <a:endParaRPr kumimoji="1" lang="zh-CN" alt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C61E634-95AD-5136-80D4-F9232A99D1D7}"/>
              </a:ext>
            </a:extLst>
          </p:cNvPr>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11267" name="Text Box 12">
            <a:extLst>
              <a:ext uri="{FF2B5EF4-FFF2-40B4-BE49-F238E27FC236}">
                <a16:creationId xmlns:a16="http://schemas.microsoft.com/office/drawing/2014/main" id="{540205E5-6EA3-5973-F06D-E9237D2B36CE}"/>
              </a:ext>
            </a:extLst>
          </p:cNvPr>
          <p:cNvSpPr txBox="1">
            <a:spLocks noChangeArrowheads="1"/>
          </p:cNvSpPr>
          <p:nvPr/>
        </p:nvSpPr>
        <p:spPr bwMode="auto">
          <a:xfrm>
            <a:off x="193675" y="1433513"/>
            <a:ext cx="875665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 typeface="Wingdings" pitchFamily="2" charset="2"/>
              <a:buNone/>
            </a:pPr>
            <a:r>
              <a:rPr lang="en-US" altLang="zh-CN" sz="3200" b="0">
                <a:solidFill>
                  <a:schemeClr val="tx1"/>
                </a:solidFill>
                <a:latin typeface="Times New Roman" panose="02020603050405020304" pitchFamily="18" charset="0"/>
                <a:ea typeface="宋体" panose="02010600030101010101" pitchFamily="2" charset="-122"/>
              </a:rPr>
              <a:t>The </a:t>
            </a:r>
            <a:r>
              <a:rPr lang="en-US" altLang="zh-CN" sz="3200" b="0" u="sng">
                <a:solidFill>
                  <a:schemeClr val="tx1"/>
                </a:solidFill>
                <a:latin typeface="Times New Roman" panose="02020603050405020304" pitchFamily="18" charset="0"/>
                <a:ea typeface="宋体" panose="02010600030101010101" pitchFamily="2" charset="-122"/>
              </a:rPr>
              <a:t>ofstream</a:t>
            </a:r>
            <a:r>
              <a:rPr lang="en-US" altLang="zh-CN" sz="3200" b="0">
                <a:solidFill>
                  <a:schemeClr val="tx1"/>
                </a:solidFill>
                <a:latin typeface="Times New Roman" panose="02020603050405020304" pitchFamily="18" charset="0"/>
                <a:ea typeface="宋体" panose="02010600030101010101" pitchFamily="2" charset="-122"/>
              </a:rPr>
              <a:t> class can be used to write primitive data type values, arrays, strings, and objects to a text file. TextFileOutput.cpp demonstrates how to write data. The program creates an instance of </a:t>
            </a:r>
            <a:r>
              <a:rPr lang="en-US" altLang="zh-CN" sz="3200" b="0" u="sng">
                <a:solidFill>
                  <a:schemeClr val="tx1"/>
                </a:solidFill>
                <a:latin typeface="Times New Roman" panose="02020603050405020304" pitchFamily="18" charset="0"/>
                <a:ea typeface="宋体" panose="02010600030101010101" pitchFamily="2" charset="-122"/>
              </a:rPr>
              <a:t>ofstream</a:t>
            </a:r>
            <a:r>
              <a:rPr lang="en-US" altLang="zh-CN" sz="3200" b="0">
                <a:solidFill>
                  <a:schemeClr val="tx1"/>
                </a:solidFill>
                <a:latin typeface="Times New Roman" panose="02020603050405020304" pitchFamily="18" charset="0"/>
                <a:ea typeface="宋体" panose="02010600030101010101" pitchFamily="2" charset="-122"/>
              </a:rPr>
              <a:t> and writes two lines to the file “scores.txt”. Each line consists of first name (a string), middle name initial (a character), last name (a string), and score (an integer).</a:t>
            </a:r>
          </a:p>
        </p:txBody>
      </p:sp>
      <p:sp>
        <p:nvSpPr>
          <p:cNvPr id="11268" name="灯片编号占位符 4">
            <a:extLst>
              <a:ext uri="{FF2B5EF4-FFF2-40B4-BE49-F238E27FC236}">
                <a16:creationId xmlns:a16="http://schemas.microsoft.com/office/drawing/2014/main" id="{D076682A-C503-A3BF-9E3F-A3CE6402F5A9}"/>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86414AA9-A709-584B-9EBA-46B7918E516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1269" name="标题 4">
            <a:extLst>
              <a:ext uri="{FF2B5EF4-FFF2-40B4-BE49-F238E27FC236}">
                <a16:creationId xmlns:a16="http://schemas.microsoft.com/office/drawing/2014/main" id="{6EA05AA6-00CB-B04D-40DA-AF4D64E00A74}"/>
              </a:ext>
            </a:extLst>
          </p:cNvPr>
          <p:cNvSpPr>
            <a:spLocks noGrp="1" noChangeArrowheads="1"/>
          </p:cNvSpPr>
          <p:nvPr>
            <p:ph type="title"/>
          </p:nvPr>
        </p:nvSpPr>
        <p:spPr/>
        <p:txBody>
          <a:bodyPr/>
          <a:lstStyle/>
          <a:p>
            <a:r>
              <a:rPr lang="en-US" altLang="zh-CN" dirty="0">
                <a:ea typeface="宋体" panose="02010600030101010101" pitchFamily="2" charset="-122"/>
              </a:rPr>
              <a:t>Writing Data to a File</a:t>
            </a:r>
            <a:endParaRPr kumimoji="1" lang="zh-CN" alt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图片 2">
            <a:extLst>
              <a:ext uri="{FF2B5EF4-FFF2-40B4-BE49-F238E27FC236}">
                <a16:creationId xmlns:a16="http://schemas.microsoft.com/office/drawing/2014/main" id="{DA0B8771-A871-D909-4B7B-0744ADD62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277938"/>
            <a:ext cx="6299200" cy="518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7">
            <a:extLst>
              <a:ext uri="{FF2B5EF4-FFF2-40B4-BE49-F238E27FC236}">
                <a16:creationId xmlns:a16="http://schemas.microsoft.com/office/drawing/2014/main" id="{680396FA-ACDD-461A-6C7A-C01113A0CC54}"/>
              </a:ext>
            </a:extLst>
          </p:cNvPr>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12292" name="灯片编号占位符 4">
            <a:extLst>
              <a:ext uri="{FF2B5EF4-FFF2-40B4-BE49-F238E27FC236}">
                <a16:creationId xmlns:a16="http://schemas.microsoft.com/office/drawing/2014/main" id="{43F03E7B-CD52-A963-60D0-7B694CF1C4C5}"/>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C42BB631-E3A6-A14F-94D2-E636190B299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4</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2293" name="标题 4">
            <a:extLst>
              <a:ext uri="{FF2B5EF4-FFF2-40B4-BE49-F238E27FC236}">
                <a16:creationId xmlns:a16="http://schemas.microsoft.com/office/drawing/2014/main" id="{05524E1A-D0AC-0B06-B3E7-7CB6A1D29BD4}"/>
              </a:ext>
            </a:extLst>
          </p:cNvPr>
          <p:cNvSpPr>
            <a:spLocks noGrp="1" noChangeArrowheads="1"/>
          </p:cNvSpPr>
          <p:nvPr>
            <p:ph type="title"/>
          </p:nvPr>
        </p:nvSpPr>
        <p:spPr/>
        <p:txBody>
          <a:bodyPr/>
          <a:lstStyle/>
          <a:p>
            <a:r>
              <a:rPr lang="en-US" altLang="zh-CN" dirty="0">
                <a:ea typeface="宋体" panose="02010600030101010101" pitchFamily="2" charset="-122"/>
              </a:rPr>
              <a:t>Writing Data to a File</a:t>
            </a:r>
            <a:endParaRPr kumimoji="1" lang="zh-CN" alt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55449C8B-5ADD-D98B-F8A1-E5862AE65271}"/>
              </a:ext>
            </a:extLst>
          </p:cNvPr>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13315" name="Rectangle 8">
            <a:extLst>
              <a:ext uri="{FF2B5EF4-FFF2-40B4-BE49-F238E27FC236}">
                <a16:creationId xmlns:a16="http://schemas.microsoft.com/office/drawing/2014/main" id="{D4792A99-1A12-FE4E-AEF3-EE4326D28CF4}"/>
              </a:ext>
            </a:extLst>
          </p:cNvPr>
          <p:cNvSpPr>
            <a:spLocks noChangeArrowheads="1"/>
          </p:cNvSpPr>
          <p:nvPr/>
        </p:nvSpPr>
        <p:spPr bwMode="auto">
          <a:xfrm>
            <a:off x="0" y="267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13316" name="Object 7">
            <a:extLst>
              <a:ext uri="{FF2B5EF4-FFF2-40B4-BE49-F238E27FC236}">
                <a16:creationId xmlns:a16="http://schemas.microsoft.com/office/drawing/2014/main" id="{F8036488-3E8C-A484-91E1-DC67098BDF81}"/>
              </a:ext>
            </a:extLst>
          </p:cNvPr>
          <p:cNvGraphicFramePr>
            <a:graphicFrameLocks noChangeAspect="1"/>
          </p:cNvGraphicFramePr>
          <p:nvPr/>
        </p:nvGraphicFramePr>
        <p:xfrm>
          <a:off x="250825" y="1547813"/>
          <a:ext cx="8642350" cy="3130550"/>
        </p:xfrm>
        <a:graphic>
          <a:graphicData uri="http://schemas.openxmlformats.org/presentationml/2006/ole">
            <mc:AlternateContent xmlns:mc="http://schemas.openxmlformats.org/markup-compatibility/2006">
              <mc:Choice xmlns:v="urn:schemas-microsoft-com:vml" Requires="v">
                <p:oleObj name="Picture" r:id="rId2" imgW="12458700" imgH="4508500" progId="Word.Picture.8">
                  <p:embed/>
                </p:oleObj>
              </mc:Choice>
              <mc:Fallback>
                <p:oleObj name="Picture" r:id="rId2" imgW="12458700" imgH="4508500" progId="Word.Picture.8">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547813"/>
                        <a:ext cx="8642350" cy="3130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7" name="灯片编号占位符 4">
            <a:extLst>
              <a:ext uri="{FF2B5EF4-FFF2-40B4-BE49-F238E27FC236}">
                <a16:creationId xmlns:a16="http://schemas.microsoft.com/office/drawing/2014/main" id="{2FDAE9A0-FEBC-170F-3A82-89DDC3BCF5A1}"/>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14EC9DB0-83DF-CF47-A52D-F5D7AC6310EF}"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5</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3318" name="标题 2">
            <a:extLst>
              <a:ext uri="{FF2B5EF4-FFF2-40B4-BE49-F238E27FC236}">
                <a16:creationId xmlns:a16="http://schemas.microsoft.com/office/drawing/2014/main" id="{1601A610-8A81-A4A6-4C4E-4A0A5F68D9A3}"/>
              </a:ext>
            </a:extLst>
          </p:cNvPr>
          <p:cNvSpPr>
            <a:spLocks noGrp="1" noChangeArrowheads="1"/>
          </p:cNvSpPr>
          <p:nvPr>
            <p:ph type="title"/>
          </p:nvPr>
        </p:nvSpPr>
        <p:spPr/>
        <p:txBody>
          <a:bodyPr/>
          <a:lstStyle/>
          <a:p>
            <a:r>
              <a:rPr lang="en-US" altLang="zh-CN">
                <a:ea typeface="宋体" panose="02010600030101010101" pitchFamily="2" charset="-122"/>
              </a:rPr>
              <a:t>Writing Data to a File</a:t>
            </a:r>
            <a:endParaRPr kumimoji="1" lang="zh-CN"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9" name="Rectangle 3">
            <a:extLst>
              <a:ext uri="{FF2B5EF4-FFF2-40B4-BE49-F238E27FC236}">
                <a16:creationId xmlns:a16="http://schemas.microsoft.com/office/drawing/2014/main" id="{8A7F5AA2-CBD6-C796-660A-E44A9036420D}"/>
              </a:ext>
            </a:extLst>
          </p:cNvPr>
          <p:cNvSpPr>
            <a:spLocks noGrp="1" noChangeArrowheads="1"/>
          </p:cNvSpPr>
          <p:nvPr>
            <p:ph idx="1"/>
          </p:nvPr>
        </p:nvSpPr>
        <p:spPr>
          <a:xfrm>
            <a:off x="269875" y="1277938"/>
            <a:ext cx="8534400" cy="4110037"/>
          </a:xfrm>
        </p:spPr>
        <p:txBody>
          <a:bodyPr/>
          <a:lstStyle/>
          <a:p>
            <a:pPr marL="0" indent="0" eaLnBrk="1" hangingPunct="1">
              <a:buFont typeface="Monotype Sorts" pitchFamily="2" charset="2"/>
              <a:buNone/>
              <a:defRPr/>
            </a:pPr>
            <a:r>
              <a:rPr lang="en-US" altLang="zh-CN" sz="3600" b="0" dirty="0">
                <a:solidFill>
                  <a:schemeClr val="tx1"/>
                </a:solidFill>
                <a:latin typeface="+mj-lt"/>
                <a:ea typeface="宋体" charset="-122"/>
              </a:rPr>
              <a:t>The </a:t>
            </a:r>
            <a:r>
              <a:rPr lang="en-US" altLang="zh-CN" sz="3600" b="0" u="sng" dirty="0">
                <a:solidFill>
                  <a:schemeClr val="tx1"/>
                </a:solidFill>
                <a:latin typeface="+mj-lt"/>
                <a:ea typeface="宋体" charset="-122"/>
              </a:rPr>
              <a:t>close()</a:t>
            </a:r>
            <a:r>
              <a:rPr lang="en-US" altLang="zh-CN" sz="3600" b="0" dirty="0">
                <a:solidFill>
                  <a:schemeClr val="tx1"/>
                </a:solidFill>
                <a:latin typeface="+mj-lt"/>
                <a:ea typeface="宋体" charset="-122"/>
              </a:rPr>
              <a:t> function (line 18) must be used to close the stream for the object. If this function is not invoked, the data may not be saved properly in the file.</a:t>
            </a:r>
          </a:p>
        </p:txBody>
      </p:sp>
      <p:sp>
        <p:nvSpPr>
          <p:cNvPr id="14339" name="灯片编号占位符 4">
            <a:extLst>
              <a:ext uri="{FF2B5EF4-FFF2-40B4-BE49-F238E27FC236}">
                <a16:creationId xmlns:a16="http://schemas.microsoft.com/office/drawing/2014/main" id="{F891A5F0-912B-E40E-B3ED-AAA75286F62F}"/>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507F3500-E6DC-3341-80FA-5ABFF987191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6</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4340" name="标题 2">
            <a:extLst>
              <a:ext uri="{FF2B5EF4-FFF2-40B4-BE49-F238E27FC236}">
                <a16:creationId xmlns:a16="http://schemas.microsoft.com/office/drawing/2014/main" id="{DA796CE6-E6EC-947C-8174-411A808B0752}"/>
              </a:ext>
            </a:extLst>
          </p:cNvPr>
          <p:cNvSpPr>
            <a:spLocks noGrp="1" noChangeArrowheads="1"/>
          </p:cNvSpPr>
          <p:nvPr>
            <p:ph type="title"/>
          </p:nvPr>
        </p:nvSpPr>
        <p:spPr/>
        <p:txBody>
          <a:bodyPr/>
          <a:lstStyle/>
          <a:p>
            <a:r>
              <a:rPr lang="en-US" altLang="zh-CN" dirty="0">
                <a:ea typeface="宋体" panose="02010600030101010101" pitchFamily="2" charset="-122"/>
              </a:rPr>
              <a:t>Close File </a:t>
            </a:r>
            <a:endParaRPr kumimoji="1" lang="zh-CN" altLang="en-US"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1" name="Rectangle 3">
            <a:extLst>
              <a:ext uri="{FF2B5EF4-FFF2-40B4-BE49-F238E27FC236}">
                <a16:creationId xmlns:a16="http://schemas.microsoft.com/office/drawing/2014/main" id="{1F290B85-0627-6884-8235-0FC39D859059}"/>
              </a:ext>
            </a:extLst>
          </p:cNvPr>
          <p:cNvSpPr>
            <a:spLocks noGrp="1" noChangeArrowheads="1"/>
          </p:cNvSpPr>
          <p:nvPr>
            <p:ph idx="1"/>
          </p:nvPr>
        </p:nvSpPr>
        <p:spPr>
          <a:xfrm>
            <a:off x="269875" y="1277938"/>
            <a:ext cx="8534400" cy="1152525"/>
          </a:xfrm>
        </p:spPr>
        <p:txBody>
          <a:bodyPr/>
          <a:lstStyle/>
          <a:p>
            <a:pPr marL="0" indent="0" eaLnBrk="1" hangingPunct="1">
              <a:buFont typeface="Monotype Sorts" pitchFamily="2" charset="2"/>
              <a:buNone/>
              <a:defRPr/>
            </a:pPr>
            <a:r>
              <a:rPr lang="en-US" altLang="zh-CN" b="0" dirty="0">
                <a:solidFill>
                  <a:schemeClr val="tx1"/>
                </a:solidFill>
                <a:latin typeface="+mj-lt"/>
                <a:ea typeface="宋体" charset="-122"/>
              </a:rPr>
              <a:t>If a file already exists, the contents of the file will be destroyed without warning.</a:t>
            </a:r>
          </a:p>
        </p:txBody>
      </p:sp>
      <p:sp>
        <p:nvSpPr>
          <p:cNvPr id="15363" name="灯片编号占位符 4">
            <a:extLst>
              <a:ext uri="{FF2B5EF4-FFF2-40B4-BE49-F238E27FC236}">
                <a16:creationId xmlns:a16="http://schemas.microsoft.com/office/drawing/2014/main" id="{47959B31-3928-C4EE-4552-7A440F1735A3}"/>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7253663F-2C5B-834F-B55F-74C1EC7E9E8C}"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7</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5364" name="标题 2">
            <a:extLst>
              <a:ext uri="{FF2B5EF4-FFF2-40B4-BE49-F238E27FC236}">
                <a16:creationId xmlns:a16="http://schemas.microsoft.com/office/drawing/2014/main" id="{2B872B0D-7CBA-2574-6E73-D85631DD95B8}"/>
              </a:ext>
            </a:extLst>
          </p:cNvPr>
          <p:cNvSpPr>
            <a:spLocks noGrp="1" noChangeArrowheads="1"/>
          </p:cNvSpPr>
          <p:nvPr>
            <p:ph type="title"/>
          </p:nvPr>
        </p:nvSpPr>
        <p:spPr/>
        <p:txBody>
          <a:bodyPr/>
          <a:lstStyle/>
          <a:p>
            <a:r>
              <a:rPr lang="en-US" altLang="zh-CN" dirty="0">
                <a:ea typeface="宋体" panose="02010600030101010101" pitchFamily="2" charset="-122"/>
              </a:rPr>
              <a:t>File Exists? </a:t>
            </a:r>
            <a:endParaRPr kumimoji="1" lang="zh-CN"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5" name="Rectangle 3">
            <a:extLst>
              <a:ext uri="{FF2B5EF4-FFF2-40B4-BE49-F238E27FC236}">
                <a16:creationId xmlns:a16="http://schemas.microsoft.com/office/drawing/2014/main" id="{E767A059-285D-4D30-7099-4308032D8062}"/>
              </a:ext>
            </a:extLst>
          </p:cNvPr>
          <p:cNvSpPr>
            <a:spLocks noGrp="1" noChangeArrowheads="1"/>
          </p:cNvSpPr>
          <p:nvPr>
            <p:ph idx="1"/>
          </p:nvPr>
        </p:nvSpPr>
        <p:spPr>
          <a:xfrm>
            <a:off x="269875" y="1277938"/>
            <a:ext cx="8534400" cy="495458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Every file is placed in a directory in the file system. An </a:t>
            </a:r>
            <a:r>
              <a:rPr lang="en-US" altLang="zh-CN" b="0" i="1" dirty="0">
                <a:solidFill>
                  <a:schemeClr val="tx1"/>
                </a:solidFill>
                <a:latin typeface="+mj-lt"/>
                <a:ea typeface="宋体" charset="-122"/>
              </a:rPr>
              <a:t>absolute file</a:t>
            </a:r>
            <a:r>
              <a:rPr lang="en-US" altLang="zh-CN" b="0" dirty="0">
                <a:solidFill>
                  <a:schemeClr val="tx1"/>
                </a:solidFill>
                <a:latin typeface="+mj-lt"/>
                <a:ea typeface="宋体" charset="-122"/>
              </a:rPr>
              <a:t> name contains a file name with its complete path and drive letter. For example, c:\example\scores.txt is the absolute file name for the file scroes.txt on the Windows operating system. Here c:\example is referred to as the </a:t>
            </a:r>
            <a:r>
              <a:rPr lang="en-US" altLang="zh-CN" b="0" i="1" dirty="0">
                <a:solidFill>
                  <a:schemeClr val="tx1"/>
                </a:solidFill>
                <a:latin typeface="+mj-lt"/>
                <a:ea typeface="宋体" charset="-122"/>
              </a:rPr>
              <a:t>directory path</a:t>
            </a:r>
            <a:r>
              <a:rPr lang="en-US" altLang="zh-CN" b="0" dirty="0">
                <a:solidFill>
                  <a:schemeClr val="tx1"/>
                </a:solidFill>
                <a:latin typeface="+mj-lt"/>
                <a:ea typeface="宋体" charset="-122"/>
              </a:rPr>
              <a:t> for the file. Absolute file names are machine-dependent. On Unix, the absolute file name may be /home/</a:t>
            </a:r>
            <a:r>
              <a:rPr lang="en-US" altLang="zh-CN" b="0" dirty="0" err="1">
                <a:solidFill>
                  <a:schemeClr val="tx1"/>
                </a:solidFill>
                <a:latin typeface="+mj-lt"/>
                <a:ea typeface="宋体" charset="-122"/>
              </a:rPr>
              <a:t>liang</a:t>
            </a:r>
            <a:r>
              <a:rPr lang="en-US" altLang="zh-CN" b="0" dirty="0">
                <a:solidFill>
                  <a:schemeClr val="tx1"/>
                </a:solidFill>
                <a:latin typeface="+mj-lt"/>
                <a:ea typeface="宋体" charset="-122"/>
              </a:rPr>
              <a:t>/example/scores.txt, where /home/</a:t>
            </a:r>
            <a:r>
              <a:rPr lang="en-US" altLang="zh-CN" b="0" dirty="0" err="1">
                <a:solidFill>
                  <a:schemeClr val="tx1"/>
                </a:solidFill>
                <a:latin typeface="+mj-lt"/>
                <a:ea typeface="宋体" charset="-122"/>
              </a:rPr>
              <a:t>liang</a:t>
            </a:r>
            <a:r>
              <a:rPr lang="en-US" altLang="zh-CN" b="0" dirty="0">
                <a:solidFill>
                  <a:schemeClr val="tx1"/>
                </a:solidFill>
                <a:latin typeface="+mj-lt"/>
                <a:ea typeface="宋体" charset="-122"/>
              </a:rPr>
              <a:t>/example is the directory path for the file scores.txt.</a:t>
            </a:r>
          </a:p>
        </p:txBody>
      </p:sp>
      <p:sp>
        <p:nvSpPr>
          <p:cNvPr id="16387" name="灯片编号占位符 4">
            <a:extLst>
              <a:ext uri="{FF2B5EF4-FFF2-40B4-BE49-F238E27FC236}">
                <a16:creationId xmlns:a16="http://schemas.microsoft.com/office/drawing/2014/main" id="{FCFFA530-0269-2DB4-7DF4-86B4873CE3CF}"/>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9E04055-E928-344E-837B-45B2D29B5A3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8</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 name="标题 2">
            <a:extLst>
              <a:ext uri="{FF2B5EF4-FFF2-40B4-BE49-F238E27FC236}">
                <a16:creationId xmlns:a16="http://schemas.microsoft.com/office/drawing/2014/main" id="{6BF589D7-120A-53E2-8BE3-1C487CF33C0B}"/>
              </a:ext>
            </a:extLst>
          </p:cNvPr>
          <p:cNvSpPr txBox="1">
            <a:spLocks/>
          </p:cNvSpPr>
          <p:nvPr/>
        </p:nvSpPr>
        <p:spPr bwMode="white">
          <a:xfrm>
            <a:off x="1143000" y="457200"/>
            <a:ext cx="7391400" cy="487363"/>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ea typeface="宋体" panose="02010600030101010101" pitchFamily="2" charset="-122"/>
              </a:rPr>
              <a:t>Absolute Filename </a:t>
            </a:r>
            <a:endParaRPr kumimoji="1" lang="zh-CN" altLang="en-US" kern="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9" name="Rectangle 3">
            <a:extLst>
              <a:ext uri="{FF2B5EF4-FFF2-40B4-BE49-F238E27FC236}">
                <a16:creationId xmlns:a16="http://schemas.microsoft.com/office/drawing/2014/main" id="{E5A08314-BF27-8401-D614-DE5BB06DC43A}"/>
              </a:ext>
            </a:extLst>
          </p:cNvPr>
          <p:cNvSpPr>
            <a:spLocks noGrp="1" noChangeArrowheads="1"/>
          </p:cNvSpPr>
          <p:nvPr>
            <p:ph idx="1"/>
          </p:nvPr>
        </p:nvSpPr>
        <p:spPr>
          <a:xfrm>
            <a:off x="269875" y="1277938"/>
            <a:ext cx="8534400" cy="4954587"/>
          </a:xfrm>
        </p:spPr>
        <p:txBody>
          <a:bodyPr/>
          <a:lstStyle/>
          <a:p>
            <a:pPr marL="0" indent="0" eaLnBrk="1" hangingPunct="1">
              <a:buFont typeface="Monotype Sorts" pitchFamily="2" charset="2"/>
              <a:buNone/>
              <a:defRPr/>
            </a:pPr>
            <a:r>
              <a:rPr lang="en-US" altLang="zh-CN" b="0" dirty="0">
                <a:solidFill>
                  <a:schemeClr val="tx1"/>
                </a:solidFill>
                <a:latin typeface="+mj-lt"/>
                <a:ea typeface="宋体" charset="-122"/>
              </a:rPr>
              <a:t>The directory separator for Windows is a backslash (</a:t>
            </a:r>
            <a:r>
              <a:rPr lang="en-US" altLang="zh-CN" b="0" u="sng" dirty="0">
                <a:solidFill>
                  <a:schemeClr val="tx1"/>
                </a:solidFill>
                <a:latin typeface="+mj-lt"/>
                <a:ea typeface="宋体" charset="-122"/>
              </a:rPr>
              <a:t>\</a:t>
            </a:r>
            <a:r>
              <a:rPr lang="en-US" altLang="zh-CN" b="0" dirty="0">
                <a:solidFill>
                  <a:schemeClr val="tx1"/>
                </a:solidFill>
                <a:latin typeface="+mj-lt"/>
                <a:ea typeface="宋体" charset="-122"/>
              </a:rPr>
              <a:t>). The backslash is a special character in C++ and should be written as </a:t>
            </a:r>
            <a:r>
              <a:rPr lang="en-US" altLang="zh-CN" b="0" u="sng" dirty="0">
                <a:solidFill>
                  <a:schemeClr val="tx1"/>
                </a:solidFill>
                <a:latin typeface="+mj-lt"/>
                <a:ea typeface="宋体" charset="-122"/>
              </a:rPr>
              <a:t>\\</a:t>
            </a:r>
            <a:r>
              <a:rPr lang="en-US" altLang="zh-CN" b="0" dirty="0">
                <a:solidFill>
                  <a:schemeClr val="tx1"/>
                </a:solidFill>
                <a:latin typeface="+mj-lt"/>
                <a:ea typeface="宋体" charset="-122"/>
              </a:rPr>
              <a:t> in a string literal (see Table 2.4). For example,</a:t>
            </a:r>
          </a:p>
          <a:p>
            <a:pPr marL="0" indent="0" eaLnBrk="1" hangingPunct="1">
              <a:buFont typeface="Monotype Sorts" pitchFamily="2" charset="2"/>
              <a:buNone/>
              <a:defRPr/>
            </a:pPr>
            <a:endParaRPr lang="en-US" altLang="zh-CN" b="0" u="sng" dirty="0">
              <a:solidFill>
                <a:schemeClr val="tx1"/>
              </a:solidFill>
              <a:latin typeface="+mj-lt"/>
              <a:ea typeface="宋体" charset="-122"/>
            </a:endParaRPr>
          </a:p>
          <a:p>
            <a:pPr marL="0" indent="0" eaLnBrk="1" hangingPunct="1">
              <a:buFont typeface="Monotype Sorts" pitchFamily="2" charset="2"/>
              <a:buNone/>
              <a:defRPr/>
            </a:pPr>
            <a:r>
              <a:rPr lang="en-US" altLang="zh-CN" b="0" u="sng" dirty="0" err="1">
                <a:solidFill>
                  <a:schemeClr val="tx1"/>
                </a:solidFill>
                <a:latin typeface="+mj-lt"/>
                <a:ea typeface="宋体" charset="-122"/>
              </a:rPr>
              <a:t>output.open</a:t>
            </a:r>
            <a:r>
              <a:rPr lang="en-US" altLang="zh-CN" b="0" u="sng" dirty="0">
                <a:solidFill>
                  <a:schemeClr val="tx1"/>
                </a:solidFill>
                <a:latin typeface="+mj-lt"/>
                <a:ea typeface="宋体" charset="-122"/>
              </a:rPr>
              <a:t>("c:\\example\\scores.txt");</a:t>
            </a:r>
            <a:r>
              <a:rPr lang="en-US" altLang="zh-CN" b="0" dirty="0">
                <a:solidFill>
                  <a:schemeClr val="tx1"/>
                </a:solidFill>
                <a:latin typeface="+mj-lt"/>
                <a:ea typeface="宋体" charset="-122"/>
              </a:rPr>
              <a:t> </a:t>
            </a:r>
          </a:p>
        </p:txBody>
      </p:sp>
      <p:sp>
        <p:nvSpPr>
          <p:cNvPr id="17411" name="灯片编号占位符 4">
            <a:extLst>
              <a:ext uri="{FF2B5EF4-FFF2-40B4-BE49-F238E27FC236}">
                <a16:creationId xmlns:a16="http://schemas.microsoft.com/office/drawing/2014/main" id="{F0F9F9E2-21D5-B243-020C-B87A49B83D97}"/>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A25FF7AA-2B97-4044-9B60-5DC101CC6A3E}"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9</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7412" name="标题 2">
            <a:extLst>
              <a:ext uri="{FF2B5EF4-FFF2-40B4-BE49-F238E27FC236}">
                <a16:creationId xmlns:a16="http://schemas.microsoft.com/office/drawing/2014/main" id="{87948650-76D4-D020-1E5E-D8975CAB2B45}"/>
              </a:ext>
            </a:extLst>
          </p:cNvPr>
          <p:cNvSpPr txBox="1">
            <a:spLocks/>
          </p:cNvSpPr>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r>
              <a:rPr lang="en-US" altLang="zh-CN" sz="3600" dirty="0">
                <a:solidFill>
                  <a:schemeClr val="bg1"/>
                </a:solidFill>
                <a:latin typeface="Times New Roman" panose="02020603050405020304" pitchFamily="18" charset="0"/>
                <a:ea typeface="宋体" panose="02010600030101010101" pitchFamily="2" charset="-122"/>
              </a:rPr>
              <a:t> \ in file names </a:t>
            </a:r>
            <a:endParaRPr lang="zh-CN" altLang="en-US" sz="3600" dirty="0">
              <a:solidFill>
                <a:schemeClr val="bg1"/>
              </a:solidFill>
              <a:latin typeface="Times New Roman" panose="02020603050405020304" pitchFamily="18"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3" name="Rectangle 3">
            <a:extLst>
              <a:ext uri="{FF2B5EF4-FFF2-40B4-BE49-F238E27FC236}">
                <a16:creationId xmlns:a16="http://schemas.microsoft.com/office/drawing/2014/main" id="{9DE2F0A2-4880-6859-E032-6D76BAC4B48A}"/>
              </a:ext>
            </a:extLst>
          </p:cNvPr>
          <p:cNvSpPr>
            <a:spLocks noGrp="1" noChangeArrowheads="1"/>
          </p:cNvSpPr>
          <p:nvPr>
            <p:ph idx="1"/>
          </p:nvPr>
        </p:nvSpPr>
        <p:spPr>
          <a:xfrm>
            <a:off x="269875" y="1277938"/>
            <a:ext cx="8534400" cy="495458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Absolute file name is platform dependent. It is better to use relative file name without drive letters. The directory of the relative filename can be specified in the IDE (</a:t>
            </a:r>
            <a:r>
              <a:rPr lang="en-US" altLang="zh-CN" b="0" dirty="0">
                <a:solidFill>
                  <a:schemeClr val="tx1"/>
                </a:solidFill>
                <a:latin typeface="+mj-lt"/>
              </a:rPr>
              <a:t>Integrated Development Environment</a:t>
            </a:r>
            <a:r>
              <a:rPr lang="en-US" altLang="zh-CN" b="0" dirty="0"/>
              <a:t>)</a:t>
            </a:r>
            <a:r>
              <a:rPr lang="en-US" altLang="zh-CN" b="0" dirty="0">
                <a:solidFill>
                  <a:schemeClr val="tx1"/>
                </a:solidFill>
                <a:latin typeface="+mj-lt"/>
                <a:ea typeface="宋体" charset="-122"/>
              </a:rPr>
              <a:t> if you use an IDE to run C++. For example, the default directory for data files is \windows\</a:t>
            </a:r>
            <a:r>
              <a:rPr lang="en-US" altLang="zh-CN" b="0" dirty="0" err="1">
                <a:solidFill>
                  <a:schemeClr val="tx1"/>
                </a:solidFill>
                <a:latin typeface="+mj-lt"/>
                <a:ea typeface="宋体" charset="-122"/>
              </a:rPr>
              <a:t>Debug_Build</a:t>
            </a:r>
            <a:r>
              <a:rPr lang="en-US" altLang="zh-CN" b="0" dirty="0">
                <a:solidFill>
                  <a:schemeClr val="tx1"/>
                </a:solidFill>
                <a:latin typeface="+mj-lt"/>
                <a:ea typeface="宋体" charset="-122"/>
              </a:rPr>
              <a:t> for Borland C++Builder.</a:t>
            </a:r>
          </a:p>
        </p:txBody>
      </p:sp>
      <p:sp>
        <p:nvSpPr>
          <p:cNvPr id="18435" name="灯片编号占位符 4">
            <a:extLst>
              <a:ext uri="{FF2B5EF4-FFF2-40B4-BE49-F238E27FC236}">
                <a16:creationId xmlns:a16="http://schemas.microsoft.com/office/drawing/2014/main" id="{32475216-C682-1EB6-B8D6-29CFB4033440}"/>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110FE353-1D2E-C34D-AC70-7608DCAFE151}"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8436" name="标题 2">
            <a:extLst>
              <a:ext uri="{FF2B5EF4-FFF2-40B4-BE49-F238E27FC236}">
                <a16:creationId xmlns:a16="http://schemas.microsoft.com/office/drawing/2014/main" id="{201F5709-3A3C-87BB-9D26-AAE0861A642D}"/>
              </a:ext>
            </a:extLst>
          </p:cNvPr>
          <p:cNvSpPr txBox="1">
            <a:spLocks/>
          </p:cNvSpPr>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r>
              <a:rPr lang="en-US" altLang="zh-CN" sz="3600" dirty="0">
                <a:solidFill>
                  <a:schemeClr val="bg1"/>
                </a:solidFill>
                <a:latin typeface="Times New Roman" panose="02020603050405020304" pitchFamily="18" charset="0"/>
                <a:ea typeface="宋体" panose="02010600030101010101" pitchFamily="2" charset="-122"/>
              </a:rPr>
              <a:t>Relative Filename </a:t>
            </a:r>
            <a:endParaRPr lang="zh-CN" altLang="en-US" sz="3600" dirty="0">
              <a:solidFill>
                <a:schemeClr val="bg1"/>
              </a:solidFill>
              <a:latin typeface="Times New Roman" panose="02020603050405020304" pitchFamily="18"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7" name="Rectangle 3">
            <a:extLst>
              <a:ext uri="{FF2B5EF4-FFF2-40B4-BE49-F238E27FC236}">
                <a16:creationId xmlns:a16="http://schemas.microsoft.com/office/drawing/2014/main" id="{54C91EBF-EA19-096D-AC25-E60190CF46D5}"/>
              </a:ext>
            </a:extLst>
          </p:cNvPr>
          <p:cNvSpPr>
            <a:spLocks noGrp="1" noChangeArrowheads="1"/>
          </p:cNvSpPr>
          <p:nvPr>
            <p:ph idx="1"/>
          </p:nvPr>
        </p:nvSpPr>
        <p:spPr>
          <a:xfrm>
            <a:off x="269875" y="1277938"/>
            <a:ext cx="8534400" cy="495458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The </a:t>
            </a:r>
            <a:r>
              <a:rPr lang="en-US" altLang="zh-CN" b="0" u="sng" dirty="0" err="1">
                <a:solidFill>
                  <a:schemeClr val="tx1"/>
                </a:solidFill>
                <a:latin typeface="+mj-lt"/>
                <a:ea typeface="宋体" charset="-122"/>
              </a:rPr>
              <a:t>ifstream</a:t>
            </a:r>
            <a:r>
              <a:rPr lang="en-US" altLang="zh-CN" b="0" dirty="0">
                <a:solidFill>
                  <a:schemeClr val="tx1"/>
                </a:solidFill>
                <a:latin typeface="+mj-lt"/>
                <a:ea typeface="宋体" charset="-122"/>
              </a:rPr>
              <a:t> class can be used to read data from a text file. TextFilein.cpp demonstrates how to read data. The program creates an instance of </a:t>
            </a:r>
            <a:r>
              <a:rPr lang="en-US" altLang="zh-CN" b="0" u="sng" dirty="0" err="1">
                <a:solidFill>
                  <a:schemeClr val="tx1"/>
                </a:solidFill>
                <a:latin typeface="+mj-lt"/>
                <a:ea typeface="宋体" charset="-122"/>
              </a:rPr>
              <a:t>ifstream</a:t>
            </a:r>
            <a:r>
              <a:rPr lang="en-US" altLang="zh-CN" b="0" dirty="0">
                <a:solidFill>
                  <a:schemeClr val="tx1"/>
                </a:solidFill>
                <a:latin typeface="+mj-lt"/>
                <a:ea typeface="宋体" charset="-122"/>
              </a:rPr>
              <a:t> and reads data from the file scores.txt. scores.txt was created in the preceding example.</a:t>
            </a:r>
          </a:p>
        </p:txBody>
      </p:sp>
      <p:sp>
        <p:nvSpPr>
          <p:cNvPr id="19459" name="灯片编号占位符 4">
            <a:extLst>
              <a:ext uri="{FF2B5EF4-FFF2-40B4-BE49-F238E27FC236}">
                <a16:creationId xmlns:a16="http://schemas.microsoft.com/office/drawing/2014/main" id="{D415A96B-6510-E989-0C3B-3BF5AD3B6765}"/>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F0F33045-EAA3-5B42-B54A-F5A17EA24B67}"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11</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9460" name="标题 2">
            <a:extLst>
              <a:ext uri="{FF2B5EF4-FFF2-40B4-BE49-F238E27FC236}">
                <a16:creationId xmlns:a16="http://schemas.microsoft.com/office/drawing/2014/main" id="{D31C22AC-A871-7F78-84DF-4F1FB46B7011}"/>
              </a:ext>
            </a:extLst>
          </p:cNvPr>
          <p:cNvSpPr txBox="1">
            <a:spLocks/>
          </p:cNvSpPr>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r>
              <a:rPr lang="en-US" altLang="zh-CN" sz="3600">
                <a:solidFill>
                  <a:schemeClr val="bg1"/>
                </a:solidFill>
                <a:latin typeface="Times New Roman" panose="02020603050405020304" pitchFamily="18" charset="0"/>
                <a:ea typeface="宋体" panose="02010600030101010101" pitchFamily="2" charset="-122"/>
              </a:rPr>
              <a:t>Reading Data from a File </a:t>
            </a:r>
            <a:endParaRPr lang="zh-CN" altLang="en-US" sz="3600">
              <a:solidFill>
                <a:schemeClr val="bg1"/>
              </a:solidFill>
              <a:latin typeface="Times New Roman" panose="02020603050405020304" pitchFamily="18" charset="0"/>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图片 3">
            <a:extLst>
              <a:ext uri="{FF2B5EF4-FFF2-40B4-BE49-F238E27FC236}">
                <a16:creationId xmlns:a16="http://schemas.microsoft.com/office/drawing/2014/main" id="{3ED75E32-FC11-4137-D576-1C2E89528B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50" y="1141413"/>
            <a:ext cx="5938838" cy="548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灯片编号占位符 4">
            <a:extLst>
              <a:ext uri="{FF2B5EF4-FFF2-40B4-BE49-F238E27FC236}">
                <a16:creationId xmlns:a16="http://schemas.microsoft.com/office/drawing/2014/main" id="{29FFAC16-AD9E-44DF-AF7F-BBB6059EC378}"/>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56B97B55-2655-4147-8EED-3E9A1549EA27}"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0484" name="标题 2">
            <a:extLst>
              <a:ext uri="{FF2B5EF4-FFF2-40B4-BE49-F238E27FC236}">
                <a16:creationId xmlns:a16="http://schemas.microsoft.com/office/drawing/2014/main" id="{15F8DEC6-C838-77C5-801B-674A761EC8F8}"/>
              </a:ext>
            </a:extLst>
          </p:cNvPr>
          <p:cNvSpPr>
            <a:spLocks noGrp="1" noChangeArrowheads="1"/>
          </p:cNvSpPr>
          <p:nvPr>
            <p:ph type="title"/>
          </p:nvPr>
        </p:nvSpPr>
        <p:spPr/>
        <p:txBody>
          <a:bodyPr/>
          <a:lstStyle/>
          <a:p>
            <a:r>
              <a:rPr lang="en-US" altLang="zh-CN">
                <a:ea typeface="宋体" panose="02010600030101010101" pitchFamily="2" charset="-122"/>
              </a:rPr>
              <a:t>Reading Data from a File </a:t>
            </a:r>
            <a:endParaRPr lang="zh-CN" alt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3">
            <a:extLst>
              <a:ext uri="{FF2B5EF4-FFF2-40B4-BE49-F238E27FC236}">
                <a16:creationId xmlns:a16="http://schemas.microsoft.com/office/drawing/2014/main" id="{999B237A-6158-D21B-48EB-A64CB88CC19D}"/>
              </a:ext>
            </a:extLst>
          </p:cNvPr>
          <p:cNvSpPr>
            <a:spLocks noGrp="1" noChangeArrowheads="1"/>
          </p:cNvSpPr>
          <p:nvPr>
            <p:ph idx="1"/>
          </p:nvPr>
        </p:nvSpPr>
        <p:spPr>
          <a:xfrm>
            <a:off x="269875" y="1277938"/>
            <a:ext cx="8534400" cy="495458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If the file does not exist, your program will run and produce incorrect results. Can your program check whether a file exists? Yes. You can invoke the </a:t>
            </a:r>
            <a:r>
              <a:rPr lang="en-US" altLang="zh-CN" b="0" u="sng" dirty="0">
                <a:solidFill>
                  <a:schemeClr val="tx1"/>
                </a:solidFill>
                <a:latin typeface="+mj-lt"/>
                <a:ea typeface="宋体" charset="-122"/>
              </a:rPr>
              <a:t>fail()</a:t>
            </a:r>
            <a:r>
              <a:rPr lang="en-US" altLang="zh-CN" b="0" dirty="0">
                <a:solidFill>
                  <a:schemeClr val="tx1"/>
                </a:solidFill>
                <a:latin typeface="+mj-lt"/>
                <a:ea typeface="宋体" charset="-122"/>
              </a:rPr>
              <a:t>  function immediately after invoking the </a:t>
            </a:r>
            <a:r>
              <a:rPr lang="en-US" altLang="zh-CN" b="0" u="sng" dirty="0">
                <a:solidFill>
                  <a:schemeClr val="tx1"/>
                </a:solidFill>
                <a:latin typeface="+mj-lt"/>
                <a:ea typeface="宋体" charset="-122"/>
              </a:rPr>
              <a:t>open</a:t>
            </a:r>
            <a:r>
              <a:rPr lang="en-US" altLang="zh-CN" b="0" dirty="0">
                <a:solidFill>
                  <a:schemeClr val="tx1"/>
                </a:solidFill>
                <a:latin typeface="+mj-lt"/>
                <a:ea typeface="宋体" charset="-122"/>
              </a:rPr>
              <a:t> function. If </a:t>
            </a:r>
            <a:r>
              <a:rPr lang="en-US" altLang="zh-CN" b="0" u="sng" dirty="0">
                <a:solidFill>
                  <a:schemeClr val="tx1"/>
                </a:solidFill>
                <a:latin typeface="+mj-lt"/>
                <a:ea typeface="宋体" charset="-122"/>
              </a:rPr>
              <a:t>fail()</a:t>
            </a:r>
            <a:r>
              <a:rPr lang="en-US" altLang="zh-CN" b="0" dirty="0">
                <a:solidFill>
                  <a:schemeClr val="tx1"/>
                </a:solidFill>
                <a:latin typeface="+mj-lt"/>
                <a:ea typeface="宋体" charset="-122"/>
              </a:rPr>
              <a:t> returns </a:t>
            </a:r>
            <a:r>
              <a:rPr lang="en-US" altLang="zh-CN" b="0" u="sng" dirty="0">
                <a:solidFill>
                  <a:schemeClr val="tx1"/>
                </a:solidFill>
                <a:latin typeface="+mj-lt"/>
                <a:ea typeface="宋体" charset="-122"/>
              </a:rPr>
              <a:t>true</a:t>
            </a:r>
            <a:r>
              <a:rPr lang="en-US" altLang="zh-CN" b="0" dirty="0">
                <a:solidFill>
                  <a:schemeClr val="tx1"/>
                </a:solidFill>
                <a:latin typeface="+mj-lt"/>
                <a:ea typeface="宋体" charset="-122"/>
              </a:rPr>
              <a:t>, it would indicate that the file does not exist.</a:t>
            </a:r>
          </a:p>
        </p:txBody>
      </p:sp>
      <p:sp>
        <p:nvSpPr>
          <p:cNvPr id="21507" name="灯片编号占位符 4">
            <a:extLst>
              <a:ext uri="{FF2B5EF4-FFF2-40B4-BE49-F238E27FC236}">
                <a16:creationId xmlns:a16="http://schemas.microsoft.com/office/drawing/2014/main" id="{A49A0AE9-6A88-4D02-F34C-77B7C1BC1C6B}"/>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17712319-51A0-7644-BEC7-B3047BDA06E5}"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标题 2">
            <a:extLst>
              <a:ext uri="{FF2B5EF4-FFF2-40B4-BE49-F238E27FC236}">
                <a16:creationId xmlns:a16="http://schemas.microsoft.com/office/drawing/2014/main" id="{FCC41D23-B584-77DA-CC85-1CFF1C2D167F}"/>
              </a:ext>
            </a:extLst>
          </p:cNvPr>
          <p:cNvSpPr txBox="1">
            <a:spLocks/>
          </p:cNvSpPr>
          <p:nvPr/>
        </p:nvSpPr>
        <p:spPr bwMode="white">
          <a:xfrm>
            <a:off x="1143000" y="457200"/>
            <a:ext cx="7391400" cy="487363"/>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ea typeface="宋体" panose="02010600030101010101" pitchFamily="2" charset="-122"/>
              </a:rPr>
              <a:t>Testing File Existence </a:t>
            </a:r>
            <a:endParaRPr lang="zh-CN" altLang="en-US" kern="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7" name="Rectangle 3">
            <a:extLst>
              <a:ext uri="{FF2B5EF4-FFF2-40B4-BE49-F238E27FC236}">
                <a16:creationId xmlns:a16="http://schemas.microsoft.com/office/drawing/2014/main" id="{3E0E509F-E9B8-F2AD-B499-0809CADD9EC5}"/>
              </a:ext>
            </a:extLst>
          </p:cNvPr>
          <p:cNvSpPr>
            <a:spLocks noGrp="1" noChangeArrowheads="1"/>
          </p:cNvSpPr>
          <p:nvPr>
            <p:ph idx="1"/>
          </p:nvPr>
        </p:nvSpPr>
        <p:spPr>
          <a:xfrm>
            <a:off x="269875" y="1277938"/>
            <a:ext cx="8534400" cy="4110037"/>
          </a:xfrm>
        </p:spPr>
        <p:txBody>
          <a:bodyPr/>
          <a:lstStyle/>
          <a:p>
            <a:pPr marL="0" indent="0" algn="just" eaLnBrk="1" hangingPunct="1">
              <a:buFont typeface="Monotype Sorts" pitchFamily="2" charset="2"/>
              <a:buNone/>
              <a:defRPr/>
            </a:pPr>
            <a:r>
              <a:rPr lang="en-US" altLang="zh-CN" sz="3600" b="0" dirty="0">
                <a:solidFill>
                  <a:schemeClr val="tx1"/>
                </a:solidFill>
                <a:latin typeface="+mj-lt"/>
                <a:ea typeface="宋体" charset="-122"/>
              </a:rPr>
              <a:t>TextFilein.cpp reads two lines from the data file. If you don’t know how many lines are in the file and want to read them all, how do you know the end of file? You can invoke the </a:t>
            </a:r>
            <a:r>
              <a:rPr lang="en-US" altLang="zh-CN" sz="3600" b="0" u="sng" dirty="0" err="1">
                <a:solidFill>
                  <a:schemeClr val="tx1"/>
                </a:solidFill>
                <a:latin typeface="+mj-lt"/>
                <a:ea typeface="宋体" charset="-122"/>
              </a:rPr>
              <a:t>eof</a:t>
            </a:r>
            <a:r>
              <a:rPr lang="en-US" altLang="zh-CN" sz="3600" b="0" u="sng" dirty="0">
                <a:solidFill>
                  <a:schemeClr val="tx1"/>
                </a:solidFill>
                <a:latin typeface="+mj-lt"/>
                <a:ea typeface="宋体" charset="-122"/>
              </a:rPr>
              <a:t>()</a:t>
            </a:r>
            <a:r>
              <a:rPr lang="en-US" altLang="zh-CN" sz="3600" b="0" dirty="0">
                <a:solidFill>
                  <a:schemeClr val="tx1"/>
                </a:solidFill>
                <a:latin typeface="+mj-lt"/>
                <a:ea typeface="宋体" charset="-122"/>
              </a:rPr>
              <a:t> function on the input object to detect it. TestEndOfFile.cpp revises TextFilein.cpp to read all lines from the file scores.txt.</a:t>
            </a:r>
          </a:p>
        </p:txBody>
      </p:sp>
      <p:sp>
        <p:nvSpPr>
          <p:cNvPr id="22531" name="灯片编号占位符 4">
            <a:extLst>
              <a:ext uri="{FF2B5EF4-FFF2-40B4-BE49-F238E27FC236}">
                <a16:creationId xmlns:a16="http://schemas.microsoft.com/office/drawing/2014/main" id="{31D45D41-5760-DE97-6F2E-1C2D88149898}"/>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424E08B-430A-D147-A063-EF7B1AFF018E}"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14</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2532" name="标题 2">
            <a:extLst>
              <a:ext uri="{FF2B5EF4-FFF2-40B4-BE49-F238E27FC236}">
                <a16:creationId xmlns:a16="http://schemas.microsoft.com/office/drawing/2014/main" id="{5AD9C8C3-DB1F-EDB8-3293-E208CEE8BFF1}"/>
              </a:ext>
            </a:extLst>
          </p:cNvPr>
          <p:cNvSpPr>
            <a:spLocks noGrp="1" noChangeArrowheads="1"/>
          </p:cNvSpPr>
          <p:nvPr>
            <p:ph type="title"/>
          </p:nvPr>
        </p:nvSpPr>
        <p:spPr/>
        <p:txBody>
          <a:bodyPr/>
          <a:lstStyle/>
          <a:p>
            <a:r>
              <a:rPr lang="en-US" altLang="zh-CN">
                <a:ea typeface="宋体" panose="02010600030101010101" pitchFamily="2" charset="-122"/>
              </a:rPr>
              <a:t>Testing End of File</a:t>
            </a:r>
            <a:endParaRPr kumimoji="1" lang="zh-CN" alt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3">
            <a:extLst>
              <a:ext uri="{FF2B5EF4-FFF2-40B4-BE49-F238E27FC236}">
                <a16:creationId xmlns:a16="http://schemas.microsoft.com/office/drawing/2014/main" id="{7F52FC88-83CE-654E-0FB2-EB4CF74BD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50" y="1239838"/>
            <a:ext cx="5697538"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灯片编号占位符 4">
            <a:extLst>
              <a:ext uri="{FF2B5EF4-FFF2-40B4-BE49-F238E27FC236}">
                <a16:creationId xmlns:a16="http://schemas.microsoft.com/office/drawing/2014/main" id="{70D12D89-D940-CF70-DFDD-D1E981CEF9B3}"/>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976306D-0215-304F-9191-8CE9F5BFCC4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15</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3556" name="标题 2">
            <a:extLst>
              <a:ext uri="{FF2B5EF4-FFF2-40B4-BE49-F238E27FC236}">
                <a16:creationId xmlns:a16="http://schemas.microsoft.com/office/drawing/2014/main" id="{0A5AEF7E-5D87-6927-7E6E-875D5A2E946F}"/>
              </a:ext>
            </a:extLst>
          </p:cNvPr>
          <p:cNvSpPr>
            <a:spLocks noGrp="1" noChangeArrowheads="1"/>
          </p:cNvSpPr>
          <p:nvPr>
            <p:ph type="title"/>
          </p:nvPr>
        </p:nvSpPr>
        <p:spPr/>
        <p:txBody>
          <a:bodyPr/>
          <a:lstStyle/>
          <a:p>
            <a:r>
              <a:rPr lang="en-US" altLang="zh-CN">
                <a:ea typeface="宋体" panose="02010600030101010101" pitchFamily="2" charset="-122"/>
              </a:rPr>
              <a:t>Testing End of File</a:t>
            </a:r>
            <a:endParaRPr kumimoji="1" lang="zh-CN" alt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3">
            <a:extLst>
              <a:ext uri="{FF2B5EF4-FFF2-40B4-BE49-F238E27FC236}">
                <a16:creationId xmlns:a16="http://schemas.microsoft.com/office/drawing/2014/main" id="{98891C46-BFA7-3A31-9526-165D824E36E1}"/>
              </a:ext>
            </a:extLst>
          </p:cNvPr>
          <p:cNvSpPr>
            <a:spLocks noGrp="1" noChangeArrowheads="1"/>
          </p:cNvSpPr>
          <p:nvPr>
            <p:ph idx="1"/>
          </p:nvPr>
        </p:nvSpPr>
        <p:spPr>
          <a:xfrm>
            <a:off x="269875" y="1277938"/>
            <a:ext cx="8534400" cy="411003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To read data correctly, you need to know exactly how data is stored. For example, the program in TestEndOfFile.cpp would not work if the score is a </a:t>
            </a:r>
            <a:r>
              <a:rPr lang="en-US" altLang="zh-CN" b="0" u="sng" dirty="0">
                <a:solidFill>
                  <a:schemeClr val="tx1"/>
                </a:solidFill>
                <a:latin typeface="+mj-lt"/>
                <a:ea typeface="宋体" charset="-122"/>
              </a:rPr>
              <a:t>double</a:t>
            </a:r>
            <a:r>
              <a:rPr lang="en-US" altLang="zh-CN" b="0" dirty="0">
                <a:solidFill>
                  <a:schemeClr val="tx1"/>
                </a:solidFill>
                <a:latin typeface="+mj-lt"/>
                <a:ea typeface="宋体" charset="-122"/>
              </a:rPr>
              <a:t> value with a decimal point.</a:t>
            </a:r>
          </a:p>
        </p:txBody>
      </p:sp>
      <p:sp>
        <p:nvSpPr>
          <p:cNvPr id="24579" name="灯片编号占位符 4">
            <a:extLst>
              <a:ext uri="{FF2B5EF4-FFF2-40B4-BE49-F238E27FC236}">
                <a16:creationId xmlns:a16="http://schemas.microsoft.com/office/drawing/2014/main" id="{2CD0EEC5-D0C5-A463-7052-423A3A8D28A6}"/>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B6A9BB9D-802A-A549-AE8A-2930BCC84265}"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16</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4580" name="标题 2">
            <a:extLst>
              <a:ext uri="{FF2B5EF4-FFF2-40B4-BE49-F238E27FC236}">
                <a16:creationId xmlns:a16="http://schemas.microsoft.com/office/drawing/2014/main" id="{44CE19B6-FAB7-99D3-4B97-7AC0E3728202}"/>
              </a:ext>
            </a:extLst>
          </p:cNvPr>
          <p:cNvSpPr>
            <a:spLocks noGrp="1" noChangeArrowheads="1"/>
          </p:cNvSpPr>
          <p:nvPr>
            <p:ph type="title"/>
          </p:nvPr>
        </p:nvSpPr>
        <p:spPr/>
        <p:txBody>
          <a:bodyPr/>
          <a:lstStyle/>
          <a:p>
            <a:r>
              <a:rPr lang="en-US" altLang="zh-CN" dirty="0">
                <a:ea typeface="宋体" panose="02010600030101010101" pitchFamily="2" charset="-122"/>
              </a:rPr>
              <a:t>Know Data Format </a:t>
            </a:r>
            <a:endParaRPr kumimoji="1" lang="zh-CN" altLang="en-US"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3" name="Rectangle 3">
            <a:extLst>
              <a:ext uri="{FF2B5EF4-FFF2-40B4-BE49-F238E27FC236}">
                <a16:creationId xmlns:a16="http://schemas.microsoft.com/office/drawing/2014/main" id="{4A3F4AC9-F9DE-C59D-1444-D27B48449A56}"/>
              </a:ext>
            </a:extLst>
          </p:cNvPr>
          <p:cNvSpPr>
            <a:spLocks noGrp="1" noChangeArrowheads="1"/>
          </p:cNvSpPr>
          <p:nvPr>
            <p:ph idx="1"/>
          </p:nvPr>
        </p:nvSpPr>
        <p:spPr>
          <a:xfrm>
            <a:off x="269875" y="1277938"/>
            <a:ext cx="8534400" cy="4110037"/>
          </a:xfrm>
        </p:spPr>
        <p:txBody>
          <a:bodyPr/>
          <a:lstStyle/>
          <a:p>
            <a:pPr marL="0" indent="0" eaLnBrk="1" hangingPunct="1">
              <a:buFont typeface="Monotype Sorts" pitchFamily="2" charset="2"/>
              <a:buNone/>
              <a:defRPr/>
            </a:pPr>
            <a:r>
              <a:rPr lang="en-US" altLang="zh-CN" b="0" dirty="0">
                <a:solidFill>
                  <a:schemeClr val="tx1"/>
                </a:solidFill>
                <a:latin typeface="+mj-lt"/>
                <a:ea typeface="宋体" charset="-122"/>
              </a:rPr>
              <a:t>You have used the stream manipulators to format output to the console in §3.11, “Formatting Output.” You can use the same stream manipulator to format output to a file. WriteFormatData.cpp gives an example that formats the student records to the file named formattedscores.txt.</a:t>
            </a:r>
          </a:p>
        </p:txBody>
      </p:sp>
      <p:sp>
        <p:nvSpPr>
          <p:cNvPr id="25603" name="灯片编号占位符 4">
            <a:extLst>
              <a:ext uri="{FF2B5EF4-FFF2-40B4-BE49-F238E27FC236}">
                <a16:creationId xmlns:a16="http://schemas.microsoft.com/office/drawing/2014/main" id="{E4DE4ED7-3064-771B-E42E-AB5F4EFB5A16}"/>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0D16BDE7-2ECF-844D-9D66-2D4E7AEC57D7}"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17</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5604" name="标题 3">
            <a:extLst>
              <a:ext uri="{FF2B5EF4-FFF2-40B4-BE49-F238E27FC236}">
                <a16:creationId xmlns:a16="http://schemas.microsoft.com/office/drawing/2014/main" id="{419937A1-5A1B-5100-46EA-33379C327229}"/>
              </a:ext>
            </a:extLst>
          </p:cNvPr>
          <p:cNvSpPr>
            <a:spLocks noGrp="1" noChangeArrowheads="1"/>
          </p:cNvSpPr>
          <p:nvPr>
            <p:ph type="title"/>
          </p:nvPr>
        </p:nvSpPr>
        <p:spPr/>
        <p:txBody>
          <a:bodyPr/>
          <a:lstStyle/>
          <a:p>
            <a:r>
              <a:rPr lang="en-US" altLang="zh-CN">
                <a:ea typeface="宋体" panose="02010600030101010101" pitchFamily="2" charset="-122"/>
              </a:rPr>
              <a:t>Formatting Output </a:t>
            </a:r>
            <a:endParaRPr kumimoji="1" lang="zh-CN" altLang="en-US"/>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3">
            <a:extLst>
              <a:ext uri="{FF2B5EF4-FFF2-40B4-BE49-F238E27FC236}">
                <a16:creationId xmlns:a16="http://schemas.microsoft.com/office/drawing/2014/main" id="{59CD67C4-045B-ECCF-9FAF-984AD4D06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1216025"/>
            <a:ext cx="7265987" cy="485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灯片编号占位符 4">
            <a:extLst>
              <a:ext uri="{FF2B5EF4-FFF2-40B4-BE49-F238E27FC236}">
                <a16:creationId xmlns:a16="http://schemas.microsoft.com/office/drawing/2014/main" id="{A56EB618-9961-4A9A-6C33-904CC4165B6B}"/>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17873D6A-EF28-E94D-B542-06FAF3C90932}"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18</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6628" name="标题 5">
            <a:extLst>
              <a:ext uri="{FF2B5EF4-FFF2-40B4-BE49-F238E27FC236}">
                <a16:creationId xmlns:a16="http://schemas.microsoft.com/office/drawing/2014/main" id="{46A16173-6083-F2FA-B8D6-784851B8CC97}"/>
              </a:ext>
            </a:extLst>
          </p:cNvPr>
          <p:cNvSpPr>
            <a:spLocks noGrp="1" noChangeArrowheads="1"/>
          </p:cNvSpPr>
          <p:nvPr>
            <p:ph type="title"/>
          </p:nvPr>
        </p:nvSpPr>
        <p:spPr/>
        <p:txBody>
          <a:bodyPr/>
          <a:lstStyle/>
          <a:p>
            <a:r>
              <a:rPr lang="en-US" altLang="zh-CN">
                <a:ea typeface="宋体" panose="02010600030101010101" pitchFamily="2" charset="-122"/>
              </a:rPr>
              <a:t>Formatting Output </a:t>
            </a:r>
            <a:endParaRPr kumimoji="1" lang="zh-CN" alt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7" name="Rectangle 3">
            <a:extLst>
              <a:ext uri="{FF2B5EF4-FFF2-40B4-BE49-F238E27FC236}">
                <a16:creationId xmlns:a16="http://schemas.microsoft.com/office/drawing/2014/main" id="{782A679A-675A-D7D0-9F6E-0225696FF8B2}"/>
              </a:ext>
            </a:extLst>
          </p:cNvPr>
          <p:cNvSpPr>
            <a:spLocks noGrp="1" noChangeArrowheads="1"/>
          </p:cNvSpPr>
          <p:nvPr>
            <p:ph idx="1"/>
          </p:nvPr>
        </p:nvSpPr>
        <p:spPr>
          <a:xfrm>
            <a:off x="269875" y="1277938"/>
            <a:ext cx="8534400" cy="4110037"/>
          </a:xfrm>
        </p:spPr>
        <p:txBody>
          <a:bodyPr/>
          <a:lstStyle/>
          <a:p>
            <a:pPr marL="0" indent="0" eaLnBrk="1" hangingPunct="1">
              <a:buFont typeface="Monotype Sorts" pitchFamily="2" charset="2"/>
              <a:buNone/>
              <a:defRPr/>
            </a:pPr>
            <a:r>
              <a:rPr lang="en-US" altLang="zh-CN" b="0" dirty="0">
                <a:solidFill>
                  <a:schemeClr val="tx1"/>
                </a:solidFill>
                <a:latin typeface="+mj-lt"/>
                <a:ea typeface="宋体" charset="-122"/>
              </a:rPr>
              <a:t>There is a problem to read data using the stream extraction operator (</a:t>
            </a:r>
            <a:r>
              <a:rPr lang="en-US" altLang="zh-CN" b="0" u="sng" dirty="0">
                <a:solidFill>
                  <a:schemeClr val="tx1"/>
                </a:solidFill>
                <a:latin typeface="+mj-lt"/>
                <a:ea typeface="宋体" charset="-122"/>
              </a:rPr>
              <a:t>&gt;&gt;</a:t>
            </a:r>
            <a:r>
              <a:rPr lang="en-US" altLang="zh-CN" b="0" dirty="0">
                <a:solidFill>
                  <a:schemeClr val="tx1"/>
                </a:solidFill>
                <a:latin typeface="+mj-lt"/>
                <a:ea typeface="宋体" charset="-122"/>
              </a:rPr>
              <a:t>). Data are delimited by whitespace(space, TAB, Enter). What happens if the </a:t>
            </a:r>
            <a:r>
              <a:rPr lang="en-US" altLang="zh-CN" b="0" dirty="0" err="1">
                <a:solidFill>
                  <a:schemeClr val="tx1"/>
                </a:solidFill>
                <a:latin typeface="+mj-lt"/>
                <a:ea typeface="宋体" charset="-122"/>
              </a:rPr>
              <a:t>whitepace</a:t>
            </a:r>
            <a:r>
              <a:rPr lang="en-US" altLang="zh-CN" b="0" dirty="0">
                <a:solidFill>
                  <a:schemeClr val="tx1"/>
                </a:solidFill>
                <a:latin typeface="+mj-lt"/>
                <a:ea typeface="宋体" charset="-122"/>
              </a:rPr>
              <a:t> characters are part of a string? In §7.9.3, “Reading Strings,” you learned how to use the </a:t>
            </a:r>
            <a:r>
              <a:rPr lang="en-US" altLang="zh-CN" b="0" u="sng" dirty="0" err="1">
                <a:solidFill>
                  <a:schemeClr val="tx1"/>
                </a:solidFill>
                <a:latin typeface="+mj-lt"/>
                <a:ea typeface="宋体" charset="-122"/>
              </a:rPr>
              <a:t>getline</a:t>
            </a:r>
            <a:r>
              <a:rPr lang="en-US" altLang="zh-CN" b="0" dirty="0">
                <a:solidFill>
                  <a:schemeClr val="tx1"/>
                </a:solidFill>
                <a:latin typeface="+mj-lt"/>
                <a:ea typeface="宋体" charset="-122"/>
              </a:rPr>
              <a:t> function to read a string with whitespace. You can use the same function to read strings from a file. Recall that the syntax for the </a:t>
            </a:r>
            <a:r>
              <a:rPr lang="en-US" altLang="zh-CN" b="0" u="sng" dirty="0" err="1">
                <a:solidFill>
                  <a:schemeClr val="tx1"/>
                </a:solidFill>
                <a:latin typeface="+mj-lt"/>
                <a:ea typeface="宋体" charset="-122"/>
              </a:rPr>
              <a:t>getline</a:t>
            </a:r>
            <a:r>
              <a:rPr lang="en-US" altLang="zh-CN" b="0" dirty="0">
                <a:solidFill>
                  <a:schemeClr val="tx1"/>
                </a:solidFill>
                <a:latin typeface="+mj-lt"/>
                <a:ea typeface="宋体" charset="-122"/>
              </a:rPr>
              <a:t> function is</a:t>
            </a:r>
            <a:endParaRPr lang="en-US" altLang="zh-CN" b="0" i="1" dirty="0">
              <a:solidFill>
                <a:schemeClr val="tx1"/>
              </a:solidFill>
              <a:latin typeface="+mj-lt"/>
              <a:ea typeface="宋体" charset="-122"/>
            </a:endParaRPr>
          </a:p>
          <a:p>
            <a:pPr marL="0" indent="0" eaLnBrk="1" hangingPunct="1">
              <a:buFont typeface="Monotype Sorts" pitchFamily="2" charset="2"/>
              <a:buNone/>
              <a:defRPr/>
            </a:pPr>
            <a:endParaRPr lang="en-US" altLang="zh-CN" b="0" i="1" dirty="0">
              <a:solidFill>
                <a:schemeClr val="tx1"/>
              </a:solidFill>
              <a:latin typeface="+mj-lt"/>
              <a:ea typeface="宋体" charset="-122"/>
            </a:endParaRPr>
          </a:p>
          <a:p>
            <a:pPr marL="0" indent="0" eaLnBrk="1" hangingPunct="1">
              <a:buFont typeface="Monotype Sorts" pitchFamily="2" charset="2"/>
              <a:buNone/>
              <a:defRPr/>
            </a:pPr>
            <a:r>
              <a:rPr lang="en-US" altLang="zh-CN" b="0" u="sng" dirty="0" err="1">
                <a:solidFill>
                  <a:schemeClr val="tx1"/>
                </a:solidFill>
                <a:latin typeface="+mj-lt"/>
                <a:ea typeface="宋体" charset="-122"/>
              </a:rPr>
              <a:t>getline</a:t>
            </a:r>
            <a:r>
              <a:rPr lang="en-US" altLang="zh-CN" b="0" u="sng" dirty="0">
                <a:solidFill>
                  <a:schemeClr val="tx1"/>
                </a:solidFill>
                <a:latin typeface="+mj-lt"/>
                <a:ea typeface="宋体" charset="-122"/>
              </a:rPr>
              <a:t>(char array[], </a:t>
            </a:r>
            <a:r>
              <a:rPr lang="en-US" altLang="zh-CN" b="0" u="sng" dirty="0" err="1">
                <a:solidFill>
                  <a:schemeClr val="tx1"/>
                </a:solidFill>
                <a:latin typeface="+mj-lt"/>
                <a:ea typeface="宋体" charset="-122"/>
              </a:rPr>
              <a:t>int</a:t>
            </a:r>
            <a:r>
              <a:rPr lang="en-US" altLang="zh-CN" b="0" u="sng" dirty="0">
                <a:solidFill>
                  <a:schemeClr val="tx1"/>
                </a:solidFill>
                <a:latin typeface="+mj-lt"/>
                <a:ea typeface="宋体" charset="-122"/>
              </a:rPr>
              <a:t> size, char </a:t>
            </a:r>
            <a:r>
              <a:rPr lang="en-US" altLang="zh-CN" b="0" u="sng" dirty="0" err="1">
                <a:solidFill>
                  <a:schemeClr val="tx1"/>
                </a:solidFill>
                <a:latin typeface="+mj-lt"/>
                <a:ea typeface="宋体" charset="-122"/>
              </a:rPr>
              <a:t>delimitChar</a:t>
            </a:r>
            <a:r>
              <a:rPr lang="en-US" altLang="zh-CN" b="0" u="sng" dirty="0">
                <a:solidFill>
                  <a:schemeClr val="tx1"/>
                </a:solidFill>
                <a:latin typeface="+mj-lt"/>
                <a:ea typeface="宋体" charset="-122"/>
              </a:rPr>
              <a:t>)</a:t>
            </a:r>
          </a:p>
        </p:txBody>
      </p:sp>
      <p:sp>
        <p:nvSpPr>
          <p:cNvPr id="27651" name="灯片编号占位符 4">
            <a:extLst>
              <a:ext uri="{FF2B5EF4-FFF2-40B4-BE49-F238E27FC236}">
                <a16:creationId xmlns:a16="http://schemas.microsoft.com/office/drawing/2014/main" id="{D09D301B-1C27-E397-3A3D-7200AB86897B}"/>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64DEA043-77F7-D648-AACD-7A214B958B85}"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19</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7652" name="标题 3">
            <a:extLst>
              <a:ext uri="{FF2B5EF4-FFF2-40B4-BE49-F238E27FC236}">
                <a16:creationId xmlns:a16="http://schemas.microsoft.com/office/drawing/2014/main" id="{07C98451-CE8C-8BBB-50C4-D002DD6388B1}"/>
              </a:ext>
            </a:extLst>
          </p:cNvPr>
          <p:cNvSpPr>
            <a:spLocks noGrp="1" noChangeArrowheads="1"/>
          </p:cNvSpPr>
          <p:nvPr>
            <p:ph type="title"/>
          </p:nvPr>
        </p:nvSpPr>
        <p:spPr/>
        <p:txBody>
          <a:bodyPr/>
          <a:lstStyle/>
          <a:p>
            <a:r>
              <a:rPr lang="en-US" altLang="zh-CN" dirty="0" err="1">
                <a:ea typeface="宋体" panose="02010600030101010101" pitchFamily="2" charset="-122"/>
              </a:rPr>
              <a:t>getline</a:t>
            </a:r>
            <a:r>
              <a:rPr lang="en-US" altLang="zh-CN" dirty="0">
                <a:ea typeface="宋体" panose="02010600030101010101" pitchFamily="2" charset="-122"/>
              </a:rPr>
              <a:t>, get and put </a:t>
            </a:r>
            <a:endParaRPr kumimoji="1" lang="zh-CN" altLang="en-US"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3">
            <a:extLst>
              <a:ext uri="{FF2B5EF4-FFF2-40B4-BE49-F238E27FC236}">
                <a16:creationId xmlns:a16="http://schemas.microsoft.com/office/drawing/2014/main" id="{84743713-ED23-77E0-9751-BAA25AA93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265238"/>
            <a:ext cx="5535613"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灯片编号占位符 4">
            <a:extLst>
              <a:ext uri="{FF2B5EF4-FFF2-40B4-BE49-F238E27FC236}">
                <a16:creationId xmlns:a16="http://schemas.microsoft.com/office/drawing/2014/main" id="{4FC7B964-4904-9D10-1E20-DFDB37129FD0}"/>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8F2EFEC6-B5E8-4546-85B4-D424B0DDAFCD}"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8676" name="标题 4">
            <a:extLst>
              <a:ext uri="{FF2B5EF4-FFF2-40B4-BE49-F238E27FC236}">
                <a16:creationId xmlns:a16="http://schemas.microsoft.com/office/drawing/2014/main" id="{B0A44EF0-20F8-EC8C-E6CA-E5A6EE96DDA1}"/>
              </a:ext>
            </a:extLst>
          </p:cNvPr>
          <p:cNvSpPr>
            <a:spLocks noGrp="1" noChangeArrowheads="1"/>
          </p:cNvSpPr>
          <p:nvPr>
            <p:ph type="title"/>
          </p:nvPr>
        </p:nvSpPr>
        <p:spPr/>
        <p:txBody>
          <a:bodyPr/>
          <a:lstStyle/>
          <a:p>
            <a:r>
              <a:rPr lang="en-US" altLang="zh-CN" dirty="0" err="1">
                <a:ea typeface="宋体" panose="02010600030101010101" pitchFamily="2" charset="-122"/>
              </a:rPr>
              <a:t>getline</a:t>
            </a:r>
            <a:r>
              <a:rPr lang="en-US" altLang="zh-CN" dirty="0">
                <a:ea typeface="宋体" panose="02010600030101010101" pitchFamily="2" charset="-122"/>
              </a:rPr>
              <a:t>, get and put </a:t>
            </a:r>
            <a:endParaRPr kumimoji="1" lang="zh-CN" altLang="en-US"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3">
            <a:extLst>
              <a:ext uri="{FF2B5EF4-FFF2-40B4-BE49-F238E27FC236}">
                <a16:creationId xmlns:a16="http://schemas.microsoft.com/office/drawing/2014/main" id="{E104A170-96F9-AFB2-05D0-7DD65D9AD72C}"/>
              </a:ext>
            </a:extLst>
          </p:cNvPr>
          <p:cNvSpPr>
            <a:spLocks noGrp="1" noChangeArrowheads="1"/>
          </p:cNvSpPr>
          <p:nvPr>
            <p:ph idx="1"/>
          </p:nvPr>
        </p:nvSpPr>
        <p:spPr>
          <a:xfrm>
            <a:off x="269875" y="1277938"/>
            <a:ext cx="8534400" cy="4110037"/>
          </a:xfrm>
        </p:spPr>
        <p:txBody>
          <a:bodyPr/>
          <a:lstStyle/>
          <a:p>
            <a:pPr marL="0" indent="0" algn="just" eaLnBrk="1" hangingPunct="1">
              <a:buFont typeface="Monotype Sorts" pitchFamily="2" charset="2"/>
              <a:buNone/>
              <a:defRPr/>
            </a:pPr>
            <a:r>
              <a:rPr lang="en-US" altLang="zh-CN" b="0" dirty="0">
                <a:solidFill>
                  <a:schemeClr val="tx1"/>
                </a:solidFill>
                <a:latin typeface="+mj-lt"/>
                <a:ea typeface="宋体" charset="-122"/>
              </a:rPr>
              <a:t>Two other useful functions are </a:t>
            </a:r>
            <a:r>
              <a:rPr lang="en-US" altLang="zh-CN" b="0" u="sng" dirty="0">
                <a:solidFill>
                  <a:schemeClr val="tx1"/>
                </a:solidFill>
                <a:latin typeface="+mj-lt"/>
                <a:ea typeface="宋体" charset="-122"/>
              </a:rPr>
              <a:t>get</a:t>
            </a:r>
            <a:r>
              <a:rPr lang="en-US" altLang="zh-CN" b="0" dirty="0">
                <a:solidFill>
                  <a:schemeClr val="tx1"/>
                </a:solidFill>
                <a:latin typeface="+mj-lt"/>
                <a:ea typeface="宋体" charset="-122"/>
              </a:rPr>
              <a:t> and </a:t>
            </a:r>
            <a:r>
              <a:rPr lang="en-US" altLang="zh-CN" b="0" u="sng" dirty="0">
                <a:solidFill>
                  <a:schemeClr val="tx1"/>
                </a:solidFill>
                <a:latin typeface="+mj-lt"/>
                <a:ea typeface="宋体" charset="-122"/>
              </a:rPr>
              <a:t>put</a:t>
            </a:r>
            <a:r>
              <a:rPr lang="en-US" altLang="zh-CN" b="0" dirty="0">
                <a:solidFill>
                  <a:schemeClr val="tx1"/>
                </a:solidFill>
                <a:latin typeface="+mj-lt"/>
                <a:ea typeface="宋体" charset="-122"/>
              </a:rPr>
              <a:t>. You can invoke the get function on an input object to read a character and invoke the </a:t>
            </a:r>
            <a:r>
              <a:rPr lang="en-US" altLang="zh-CN" b="0" u="sng" dirty="0">
                <a:solidFill>
                  <a:schemeClr val="tx1"/>
                </a:solidFill>
                <a:latin typeface="+mj-lt"/>
                <a:ea typeface="宋体" charset="-122"/>
              </a:rPr>
              <a:t>put</a:t>
            </a:r>
            <a:r>
              <a:rPr lang="en-US" altLang="zh-CN" b="0" dirty="0">
                <a:solidFill>
                  <a:schemeClr val="tx1"/>
                </a:solidFill>
                <a:latin typeface="+mj-lt"/>
                <a:ea typeface="宋体" charset="-122"/>
              </a:rPr>
              <a:t> function on an output object to write a character. </a:t>
            </a:r>
          </a:p>
        </p:txBody>
      </p:sp>
      <p:sp>
        <p:nvSpPr>
          <p:cNvPr id="29699" name="灯片编号占位符 4">
            <a:extLst>
              <a:ext uri="{FF2B5EF4-FFF2-40B4-BE49-F238E27FC236}">
                <a16:creationId xmlns:a16="http://schemas.microsoft.com/office/drawing/2014/main" id="{FED2C64A-BEA7-3F9C-2FF3-E95486F9ABCE}"/>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13290D08-2544-634B-BEEC-343B0413D91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21</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29700" name="标题 2">
            <a:extLst>
              <a:ext uri="{FF2B5EF4-FFF2-40B4-BE49-F238E27FC236}">
                <a16:creationId xmlns:a16="http://schemas.microsoft.com/office/drawing/2014/main" id="{169C29D9-B8EF-6C03-E7F6-E732F1BB879E}"/>
              </a:ext>
            </a:extLst>
          </p:cNvPr>
          <p:cNvSpPr>
            <a:spLocks noGrp="1" noChangeArrowheads="1"/>
          </p:cNvSpPr>
          <p:nvPr>
            <p:ph type="title"/>
          </p:nvPr>
        </p:nvSpPr>
        <p:spPr/>
        <p:txBody>
          <a:bodyPr/>
          <a:lstStyle/>
          <a:p>
            <a:r>
              <a:rPr lang="en-US" altLang="zh-CN" dirty="0" err="1">
                <a:ea typeface="宋体" panose="02010600030101010101" pitchFamily="2" charset="-122"/>
              </a:rPr>
              <a:t>getline</a:t>
            </a:r>
            <a:r>
              <a:rPr lang="en-US" altLang="zh-CN" dirty="0">
                <a:ea typeface="宋体" panose="02010600030101010101" pitchFamily="2" charset="-122"/>
              </a:rPr>
              <a:t>, get and put </a:t>
            </a:r>
            <a:endParaRPr kumimoji="1" lang="zh-CN" altLang="en-US"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图片 3">
            <a:extLst>
              <a:ext uri="{FF2B5EF4-FFF2-40B4-BE49-F238E27FC236}">
                <a16:creationId xmlns:a16="http://schemas.microsoft.com/office/drawing/2014/main" id="{E07C2A49-20CB-F5A7-BE3B-0082DD99D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198563"/>
            <a:ext cx="5392738"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灯片编号占位符 4">
            <a:extLst>
              <a:ext uri="{FF2B5EF4-FFF2-40B4-BE49-F238E27FC236}">
                <a16:creationId xmlns:a16="http://schemas.microsoft.com/office/drawing/2014/main" id="{3DFBBB02-E8DB-2CA3-7502-CE36FAB4BDCB}"/>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9FFD6206-6CEE-934C-88AA-A2E9CE4A9E49}"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0724" name="标题 4">
            <a:extLst>
              <a:ext uri="{FF2B5EF4-FFF2-40B4-BE49-F238E27FC236}">
                <a16:creationId xmlns:a16="http://schemas.microsoft.com/office/drawing/2014/main" id="{C48D6645-B9C2-E0C2-6DC6-7E832D04FB6C}"/>
              </a:ext>
            </a:extLst>
          </p:cNvPr>
          <p:cNvSpPr>
            <a:spLocks noGrp="1" noChangeArrowheads="1"/>
          </p:cNvSpPr>
          <p:nvPr>
            <p:ph type="title"/>
          </p:nvPr>
        </p:nvSpPr>
        <p:spPr/>
        <p:txBody>
          <a:bodyPr/>
          <a:lstStyle/>
          <a:p>
            <a:r>
              <a:rPr lang="en-US" altLang="zh-CN" dirty="0" err="1">
                <a:ea typeface="宋体" panose="02010600030101010101" pitchFamily="2" charset="-122"/>
              </a:rPr>
              <a:t>getline</a:t>
            </a:r>
            <a:r>
              <a:rPr lang="en-US" altLang="zh-CN" dirty="0">
                <a:ea typeface="宋体" panose="02010600030101010101" pitchFamily="2" charset="-122"/>
              </a:rPr>
              <a:t>, get and put </a:t>
            </a:r>
            <a:endParaRPr kumimoji="1" lang="zh-CN" altLang="en-US"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内容占位符 2">
            <a:extLst>
              <a:ext uri="{FF2B5EF4-FFF2-40B4-BE49-F238E27FC236}">
                <a16:creationId xmlns:a16="http://schemas.microsoft.com/office/drawing/2014/main" id="{05C10150-DC9A-1238-DC87-39E2AD91D185}"/>
              </a:ext>
            </a:extLst>
          </p:cNvPr>
          <p:cNvSpPr>
            <a:spLocks noGrp="1" noChangeArrowheads="1"/>
          </p:cNvSpPr>
          <p:nvPr>
            <p:ph idx="1"/>
          </p:nvPr>
        </p:nvSpPr>
        <p:spPr/>
        <p:txBody>
          <a:bodyPr/>
          <a:lstStyle/>
          <a:p>
            <a:pPr marL="0" indent="0" algn="just">
              <a:lnSpc>
                <a:spcPct val="90000"/>
              </a:lnSpc>
              <a:buSzPct val="125000"/>
              <a:buFont typeface="Wingdings" pitchFamily="2" charset="2"/>
              <a:buNone/>
              <a:defRPr/>
            </a:pPr>
            <a:r>
              <a:rPr lang="en-US" altLang="zh-CN" b="0" dirty="0" err="1">
                <a:solidFill>
                  <a:schemeClr val="tx1"/>
                </a:solidFill>
                <a:latin typeface="+mj-lt"/>
              </a:rPr>
              <a:t>getline</a:t>
            </a:r>
            <a:r>
              <a:rPr lang="en-US" altLang="zh-CN" b="0" dirty="0">
                <a:solidFill>
                  <a:schemeClr val="tx1"/>
                </a:solidFill>
                <a:latin typeface="+mj-lt"/>
              </a:rPr>
              <a:t> </a:t>
            </a:r>
            <a:r>
              <a:rPr lang="en-US" altLang="zh-CN" b="0" dirty="0">
                <a:solidFill>
                  <a:srgbClr val="CC0000"/>
                </a:solidFill>
                <a:latin typeface="+mj-lt"/>
                <a:ea typeface="宋体" panose="02010600030101010101" pitchFamily="2" charset="-122"/>
              </a:rPr>
              <a:t>does not skip leading whitespace characters </a:t>
            </a:r>
            <a:r>
              <a:rPr lang="en-US" altLang="zh-CN" b="0" dirty="0">
                <a:solidFill>
                  <a:schemeClr val="tx1"/>
                </a:solidFill>
                <a:latin typeface="+mj-lt"/>
              </a:rPr>
              <a:t>such as blanks and newlines </a:t>
            </a:r>
          </a:p>
          <a:p>
            <a:pPr marL="0" indent="0" algn="just">
              <a:lnSpc>
                <a:spcPct val="90000"/>
              </a:lnSpc>
              <a:buSzPct val="125000"/>
              <a:buFont typeface="Wingdings" pitchFamily="2" charset="2"/>
              <a:buNone/>
              <a:defRPr/>
            </a:pPr>
            <a:endParaRPr lang="en-US" altLang="zh-CN" b="0" dirty="0">
              <a:solidFill>
                <a:schemeClr val="tx1"/>
              </a:solidFill>
              <a:latin typeface="+mj-lt"/>
            </a:endParaRPr>
          </a:p>
          <a:p>
            <a:pPr marL="0" indent="0" algn="just">
              <a:lnSpc>
                <a:spcPct val="90000"/>
              </a:lnSpc>
              <a:buSzPct val="125000"/>
              <a:buFont typeface="Wingdings" pitchFamily="2" charset="2"/>
              <a:buNone/>
              <a:defRPr/>
            </a:pPr>
            <a:r>
              <a:rPr lang="en-US" altLang="zh-CN" b="0" dirty="0" err="1">
                <a:solidFill>
                  <a:schemeClr val="tx1"/>
                </a:solidFill>
                <a:latin typeface="+mj-lt"/>
              </a:rPr>
              <a:t>getline</a:t>
            </a:r>
            <a:r>
              <a:rPr lang="en-US" altLang="zh-CN" b="0" dirty="0">
                <a:solidFill>
                  <a:schemeClr val="tx1"/>
                </a:solidFill>
                <a:latin typeface="+mj-lt"/>
              </a:rPr>
              <a:t> reads successive characters (including blanks) into the string, and stops when it reaches the newline character ‘\n’ </a:t>
            </a:r>
          </a:p>
          <a:p>
            <a:pPr marL="0" indent="0" algn="just">
              <a:lnSpc>
                <a:spcPct val="90000"/>
              </a:lnSpc>
              <a:buSzPct val="125000"/>
              <a:buFont typeface="Wingdings" pitchFamily="2" charset="2"/>
              <a:buNone/>
              <a:defRPr/>
            </a:pPr>
            <a:endParaRPr lang="en-US" altLang="zh-CN" b="0" dirty="0">
              <a:solidFill>
                <a:schemeClr val="tx1"/>
              </a:solidFill>
              <a:latin typeface="+mj-lt"/>
            </a:endParaRPr>
          </a:p>
          <a:p>
            <a:pPr marL="0" indent="0" algn="just">
              <a:lnSpc>
                <a:spcPct val="90000"/>
              </a:lnSpc>
              <a:buSzPct val="125000"/>
              <a:buFont typeface="Wingdings" pitchFamily="2" charset="2"/>
              <a:buNone/>
              <a:defRPr/>
            </a:pPr>
            <a:r>
              <a:rPr lang="en-US" altLang="zh-CN" b="0" dirty="0">
                <a:solidFill>
                  <a:schemeClr val="tx1"/>
                </a:solidFill>
                <a:latin typeface="+mj-lt"/>
              </a:rPr>
              <a:t>the newline is consumed by </a:t>
            </a:r>
            <a:r>
              <a:rPr lang="en-US" altLang="zh-CN" b="0" dirty="0" err="1">
                <a:solidFill>
                  <a:schemeClr val="tx1"/>
                </a:solidFill>
                <a:latin typeface="+mj-lt"/>
              </a:rPr>
              <a:t>getline</a:t>
            </a:r>
            <a:r>
              <a:rPr lang="en-US" altLang="zh-CN" b="0" dirty="0">
                <a:solidFill>
                  <a:schemeClr val="tx1"/>
                </a:solidFill>
                <a:latin typeface="+mj-lt"/>
              </a:rPr>
              <a:t>,  but is not stored into the string variable  </a:t>
            </a:r>
          </a:p>
          <a:p>
            <a:pPr marL="0" indent="0" algn="just">
              <a:buFont typeface="Wingdings" pitchFamily="2" charset="2"/>
              <a:buNone/>
              <a:defRPr/>
            </a:pPr>
            <a:endParaRPr lang="zh-CN" altLang="en-US" b="0" dirty="0">
              <a:solidFill>
                <a:schemeClr val="tx1"/>
              </a:solidFill>
              <a:latin typeface="+mj-lt"/>
            </a:endParaRPr>
          </a:p>
        </p:txBody>
      </p:sp>
      <p:sp>
        <p:nvSpPr>
          <p:cNvPr id="31747" name="灯片编号占位符 4">
            <a:extLst>
              <a:ext uri="{FF2B5EF4-FFF2-40B4-BE49-F238E27FC236}">
                <a16:creationId xmlns:a16="http://schemas.microsoft.com/office/drawing/2014/main" id="{7B01504A-C1D4-4B19-05DE-FEB5E05BA61D}"/>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AC03AFF1-1E25-5543-BA70-5EA2464B07F1}"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1748" name="标题 2">
            <a:extLst>
              <a:ext uri="{FF2B5EF4-FFF2-40B4-BE49-F238E27FC236}">
                <a16:creationId xmlns:a16="http://schemas.microsoft.com/office/drawing/2014/main" id="{07C5EB8E-CCD2-B201-706D-832425742A5D}"/>
              </a:ext>
            </a:extLst>
          </p:cNvPr>
          <p:cNvSpPr>
            <a:spLocks noGrp="1" noChangeArrowheads="1"/>
          </p:cNvSpPr>
          <p:nvPr>
            <p:ph type="title"/>
          </p:nvPr>
        </p:nvSpPr>
        <p:spPr/>
        <p:txBody>
          <a:bodyPr/>
          <a:lstStyle/>
          <a:p>
            <a:r>
              <a:rPr lang="en-US" altLang="zh-CN" dirty="0" err="1"/>
              <a:t>getline</a:t>
            </a:r>
            <a:r>
              <a:rPr lang="en-US" altLang="zh-CN" dirty="0"/>
              <a:t>()</a:t>
            </a:r>
            <a:endParaRPr kumimoji="1" lang="zh-CN" altLang="en-US"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内容占位符 2">
            <a:extLst>
              <a:ext uri="{FF2B5EF4-FFF2-40B4-BE49-F238E27FC236}">
                <a16:creationId xmlns:a16="http://schemas.microsoft.com/office/drawing/2014/main" id="{7D950E73-EA17-1EE7-B126-4E680F282079}"/>
              </a:ext>
            </a:extLst>
          </p:cNvPr>
          <p:cNvSpPr>
            <a:spLocks noGrp="1" noChangeArrowheads="1"/>
          </p:cNvSpPr>
          <p:nvPr>
            <p:ph idx="1"/>
          </p:nvPr>
        </p:nvSpPr>
        <p:spPr/>
        <p:txBody>
          <a:bodyPr/>
          <a:lstStyle/>
          <a:p>
            <a:pPr marL="0" indent="0" algn="just">
              <a:buFont typeface="Wingdings" pitchFamily="2" charset="2"/>
              <a:buNone/>
              <a:defRPr/>
            </a:pPr>
            <a:r>
              <a:rPr lang="en-US" altLang="zh-CN" b="0" dirty="0">
                <a:solidFill>
                  <a:schemeClr val="tx1"/>
                </a:solidFill>
                <a:latin typeface="+mj-lt"/>
                <a:ea typeface="宋体" panose="02010600030101010101" pitchFamily="2" charset="-122"/>
              </a:rPr>
              <a:t>get </a:t>
            </a:r>
            <a:r>
              <a:rPr lang="en-US" altLang="zh-CN" b="0" dirty="0">
                <a:solidFill>
                  <a:srgbClr val="CC0000"/>
                </a:solidFill>
                <a:latin typeface="+mj-lt"/>
                <a:ea typeface="宋体" panose="02010600030101010101" pitchFamily="2" charset="-122"/>
              </a:rPr>
              <a:t>does not skip leading whitespace</a:t>
            </a:r>
            <a:r>
              <a:rPr lang="en-US" altLang="zh-CN" b="0" dirty="0">
                <a:solidFill>
                  <a:schemeClr val="bg1"/>
                </a:solidFill>
                <a:latin typeface="+mj-lt"/>
                <a:ea typeface="宋体" panose="02010600030101010101" pitchFamily="2" charset="-122"/>
              </a:rPr>
              <a:t> </a:t>
            </a:r>
            <a:r>
              <a:rPr lang="en-US" altLang="zh-CN" b="0" dirty="0">
                <a:solidFill>
                  <a:schemeClr val="tx1"/>
                </a:solidFill>
                <a:latin typeface="+mj-lt"/>
                <a:ea typeface="宋体" panose="02010600030101010101" pitchFamily="2" charset="-122"/>
              </a:rPr>
              <a:t>characters such as blanks and newlines </a:t>
            </a:r>
          </a:p>
          <a:p>
            <a:pPr marL="0" indent="0" algn="just">
              <a:buFont typeface="Wingdings" pitchFamily="2" charset="2"/>
              <a:buNone/>
              <a:defRPr/>
            </a:pPr>
            <a:endParaRPr lang="en-US" altLang="zh-CN" sz="1600" b="0" dirty="0">
              <a:solidFill>
                <a:schemeClr val="tx1"/>
              </a:solidFill>
              <a:latin typeface="+mj-lt"/>
              <a:ea typeface="宋体" panose="02010600030101010101" pitchFamily="2" charset="-122"/>
            </a:endParaRPr>
          </a:p>
          <a:p>
            <a:pPr marL="0" indent="0" algn="just">
              <a:buFont typeface="Wingdings" pitchFamily="2" charset="2"/>
              <a:buNone/>
              <a:defRPr/>
            </a:pPr>
            <a:r>
              <a:rPr lang="en-US" altLang="zh-CN" b="0" dirty="0">
                <a:solidFill>
                  <a:schemeClr val="tx1"/>
                </a:solidFill>
                <a:latin typeface="+mj-lt"/>
                <a:ea typeface="宋体" panose="02010600030101010101" pitchFamily="2" charset="-122"/>
              </a:rPr>
              <a:t>get reads successive characters (including blanks) into the array, and</a:t>
            </a:r>
            <a:r>
              <a:rPr lang="en-US" altLang="zh-CN" b="0" dirty="0">
                <a:latin typeface="+mj-lt"/>
                <a:ea typeface="宋体" panose="02010600030101010101" pitchFamily="2" charset="-122"/>
              </a:rPr>
              <a:t> </a:t>
            </a:r>
            <a:r>
              <a:rPr lang="en-US" altLang="zh-CN" b="0" dirty="0">
                <a:solidFill>
                  <a:srgbClr val="CC0000"/>
                </a:solidFill>
                <a:latin typeface="+mj-lt"/>
                <a:ea typeface="宋体" panose="02010600030101010101" pitchFamily="2" charset="-122"/>
              </a:rPr>
              <a:t>stops when it either has read count characters, or it reaches the newline character ‘\n’, whichever comes first </a:t>
            </a:r>
            <a:endParaRPr lang="en-US" altLang="zh-CN" sz="1800" b="0" dirty="0">
              <a:solidFill>
                <a:srgbClr val="CC0000"/>
              </a:solidFill>
              <a:latin typeface="+mj-lt"/>
              <a:ea typeface="宋体" panose="02010600030101010101" pitchFamily="2" charset="-122"/>
            </a:endParaRPr>
          </a:p>
          <a:p>
            <a:pPr marL="0" indent="0" algn="just">
              <a:buFont typeface="Wingdings" pitchFamily="2" charset="2"/>
              <a:buNone/>
              <a:defRPr/>
            </a:pPr>
            <a:r>
              <a:rPr lang="en-US" altLang="zh-CN" b="0" dirty="0">
                <a:solidFill>
                  <a:schemeClr val="tx1"/>
                </a:solidFill>
                <a:latin typeface="+mj-lt"/>
                <a:ea typeface="宋体" panose="02010600030101010101" pitchFamily="2" charset="-122"/>
              </a:rPr>
              <a:t>get</a:t>
            </a:r>
            <a:r>
              <a:rPr lang="en-US" altLang="zh-CN" b="0" dirty="0">
                <a:latin typeface="+mj-lt"/>
                <a:ea typeface="宋体" panose="02010600030101010101" pitchFamily="2" charset="-122"/>
              </a:rPr>
              <a:t> </a:t>
            </a:r>
            <a:r>
              <a:rPr lang="en-US" altLang="zh-CN" b="0" dirty="0">
                <a:solidFill>
                  <a:srgbClr val="CC0000"/>
                </a:solidFill>
                <a:latin typeface="+mj-lt"/>
                <a:ea typeface="宋体" panose="02010600030101010101" pitchFamily="2" charset="-122"/>
              </a:rPr>
              <a:t>appends the null character</a:t>
            </a:r>
            <a:r>
              <a:rPr lang="en-US" altLang="zh-CN" b="0" dirty="0">
                <a:solidFill>
                  <a:schemeClr val="bg1"/>
                </a:solidFill>
                <a:latin typeface="+mj-lt"/>
                <a:ea typeface="宋体" panose="02010600030101010101" pitchFamily="2" charset="-122"/>
              </a:rPr>
              <a:t> </a:t>
            </a:r>
            <a:r>
              <a:rPr lang="en-US" altLang="zh-CN" b="0" dirty="0">
                <a:solidFill>
                  <a:schemeClr val="tx1"/>
                </a:solidFill>
                <a:latin typeface="+mj-lt"/>
                <a:ea typeface="宋体" panose="02010600030101010101" pitchFamily="2" charset="-122"/>
              </a:rPr>
              <a:t>to </a:t>
            </a:r>
            <a:r>
              <a:rPr lang="en-US" altLang="zh-CN" b="0" dirty="0" err="1">
                <a:solidFill>
                  <a:schemeClr val="tx1"/>
                </a:solidFill>
                <a:latin typeface="+mj-lt"/>
                <a:ea typeface="宋体" panose="02010600030101010101" pitchFamily="2" charset="-122"/>
              </a:rPr>
              <a:t>str</a:t>
            </a:r>
            <a:r>
              <a:rPr lang="en-US" altLang="zh-CN" b="0" dirty="0">
                <a:solidFill>
                  <a:schemeClr val="tx1"/>
                </a:solidFill>
                <a:latin typeface="+mj-lt"/>
                <a:ea typeface="宋体" panose="02010600030101010101" pitchFamily="2" charset="-122"/>
              </a:rPr>
              <a:t> </a:t>
            </a:r>
          </a:p>
          <a:p>
            <a:pPr marL="0" indent="0" algn="just">
              <a:buFont typeface="Wingdings" pitchFamily="2" charset="2"/>
              <a:buNone/>
              <a:defRPr/>
            </a:pPr>
            <a:endParaRPr lang="en-US" altLang="zh-CN" sz="1800" b="0" dirty="0">
              <a:solidFill>
                <a:schemeClr val="tx1"/>
              </a:solidFill>
              <a:latin typeface="+mj-lt"/>
              <a:ea typeface="宋体" panose="02010600030101010101" pitchFamily="2" charset="-122"/>
            </a:endParaRPr>
          </a:p>
          <a:p>
            <a:pPr marL="0" indent="0" algn="just">
              <a:buFont typeface="Wingdings" pitchFamily="2" charset="2"/>
              <a:buNone/>
              <a:defRPr/>
            </a:pPr>
            <a:r>
              <a:rPr lang="en-US" altLang="zh-CN" b="0" dirty="0">
                <a:solidFill>
                  <a:schemeClr val="tx1"/>
                </a:solidFill>
                <a:latin typeface="+mj-lt"/>
                <a:ea typeface="宋体" panose="02010600030101010101" pitchFamily="2" charset="-122"/>
              </a:rPr>
              <a:t>if it is reached,</a:t>
            </a:r>
            <a:r>
              <a:rPr lang="en-US" altLang="zh-CN" b="0" dirty="0">
                <a:solidFill>
                  <a:srgbClr val="CC0000"/>
                </a:solidFill>
                <a:latin typeface="+mj-lt"/>
                <a:ea typeface="宋体" panose="02010600030101010101" pitchFamily="2" charset="-122"/>
              </a:rPr>
              <a:t> newline is not consumed</a:t>
            </a:r>
            <a:r>
              <a:rPr lang="en-US" altLang="zh-CN" b="0" dirty="0">
                <a:solidFill>
                  <a:schemeClr val="bg1"/>
                </a:solidFill>
                <a:latin typeface="+mj-lt"/>
                <a:ea typeface="宋体" panose="02010600030101010101" pitchFamily="2" charset="-122"/>
              </a:rPr>
              <a:t> </a:t>
            </a:r>
            <a:r>
              <a:rPr lang="en-US" altLang="zh-CN" b="0" dirty="0">
                <a:solidFill>
                  <a:schemeClr val="tx1"/>
                </a:solidFill>
                <a:latin typeface="+mj-lt"/>
                <a:ea typeface="宋体" panose="02010600030101010101" pitchFamily="2" charset="-122"/>
              </a:rPr>
              <a:t>by get,  but remains waiting in the input stream </a:t>
            </a:r>
            <a:endParaRPr lang="en-US" altLang="zh-CN" sz="3200" b="0" dirty="0">
              <a:solidFill>
                <a:schemeClr val="tx1"/>
              </a:solidFill>
              <a:latin typeface="+mj-lt"/>
              <a:ea typeface="宋体" panose="02010600030101010101" pitchFamily="2" charset="-122"/>
            </a:endParaRPr>
          </a:p>
          <a:p>
            <a:pPr marL="0" indent="0" algn="just">
              <a:buFont typeface="Wingdings" pitchFamily="2" charset="2"/>
              <a:buNone/>
              <a:defRPr/>
            </a:pPr>
            <a:endParaRPr lang="zh-CN" altLang="en-US" b="0" dirty="0">
              <a:latin typeface="+mj-lt"/>
            </a:endParaRPr>
          </a:p>
        </p:txBody>
      </p:sp>
      <p:sp>
        <p:nvSpPr>
          <p:cNvPr id="32771" name="灯片编号占位符 4">
            <a:extLst>
              <a:ext uri="{FF2B5EF4-FFF2-40B4-BE49-F238E27FC236}">
                <a16:creationId xmlns:a16="http://schemas.microsoft.com/office/drawing/2014/main" id="{AAC9B2E3-25DD-49DE-0130-7F2C8D060249}"/>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006D4685-EB7D-2346-9BBA-719CE6D38AA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24</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2772" name="标题 2">
            <a:extLst>
              <a:ext uri="{FF2B5EF4-FFF2-40B4-BE49-F238E27FC236}">
                <a16:creationId xmlns:a16="http://schemas.microsoft.com/office/drawing/2014/main" id="{6F09BA9D-1D68-2016-07E7-AE08ACA6F29B}"/>
              </a:ext>
            </a:extLst>
          </p:cNvPr>
          <p:cNvSpPr>
            <a:spLocks noGrp="1" noChangeArrowheads="1"/>
          </p:cNvSpPr>
          <p:nvPr>
            <p:ph type="title"/>
          </p:nvPr>
        </p:nvSpPr>
        <p:spPr/>
        <p:txBody>
          <a:bodyPr/>
          <a:lstStyle/>
          <a:p>
            <a:r>
              <a:rPr lang="en-US" altLang="zh-CN" dirty="0"/>
              <a:t>get()</a:t>
            </a:r>
            <a:endParaRPr kumimoji="1" lang="zh-CN" altLang="en-US"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a:extLst>
              <a:ext uri="{FF2B5EF4-FFF2-40B4-BE49-F238E27FC236}">
                <a16:creationId xmlns:a16="http://schemas.microsoft.com/office/drawing/2014/main" id="{6A096432-7D24-36C0-5342-6E63CCDB1D7A}"/>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B34FAFB-F45A-0744-97F6-764162562C30}"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25</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3795" name="标题 2">
            <a:extLst>
              <a:ext uri="{FF2B5EF4-FFF2-40B4-BE49-F238E27FC236}">
                <a16:creationId xmlns:a16="http://schemas.microsoft.com/office/drawing/2014/main" id="{50B48A49-9C15-247B-A29A-EEF10487BF7E}"/>
              </a:ext>
            </a:extLst>
          </p:cNvPr>
          <p:cNvSpPr>
            <a:spLocks noGrp="1" noChangeArrowheads="1"/>
          </p:cNvSpPr>
          <p:nvPr>
            <p:ph type="title"/>
          </p:nvPr>
        </p:nvSpPr>
        <p:spPr/>
        <p:txBody>
          <a:bodyPr/>
          <a:lstStyle/>
          <a:p>
            <a:r>
              <a:rPr lang="en-US" altLang="zh-CN" dirty="0" err="1">
                <a:ea typeface="宋体" panose="02010600030101010101" pitchFamily="2" charset="-122"/>
              </a:rPr>
              <a:t>getline</a:t>
            </a:r>
            <a:r>
              <a:rPr lang="en-US" altLang="zh-CN" dirty="0">
                <a:ea typeface="宋体" panose="02010600030101010101" pitchFamily="2" charset="-122"/>
              </a:rPr>
              <a:t>, get and put </a:t>
            </a:r>
            <a:endParaRPr kumimoji="1" lang="zh-CN" altLang="en-US" dirty="0"/>
          </a:p>
        </p:txBody>
      </p:sp>
      <p:pic>
        <p:nvPicPr>
          <p:cNvPr id="33796" name="图片 4">
            <a:extLst>
              <a:ext uri="{FF2B5EF4-FFF2-40B4-BE49-F238E27FC236}">
                <a16:creationId xmlns:a16="http://schemas.microsoft.com/office/drawing/2014/main" id="{9656403D-74DB-D6A8-2E7A-EADED53CF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1604963"/>
            <a:ext cx="5626100"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图片 7">
            <a:extLst>
              <a:ext uri="{FF2B5EF4-FFF2-40B4-BE49-F238E27FC236}">
                <a16:creationId xmlns:a16="http://schemas.microsoft.com/office/drawing/2014/main" id="{A8B3F4E6-2539-D54A-5A56-C8699D97BD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1166813"/>
            <a:ext cx="3225800"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图片 9">
            <a:extLst>
              <a:ext uri="{FF2B5EF4-FFF2-40B4-BE49-F238E27FC236}">
                <a16:creationId xmlns:a16="http://schemas.microsoft.com/office/drawing/2014/main" id="{D7A68100-A081-CF1C-A238-23AB2F1988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3263" y="4414838"/>
            <a:ext cx="3281362"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a:extLst>
              <a:ext uri="{FF2B5EF4-FFF2-40B4-BE49-F238E27FC236}">
                <a16:creationId xmlns:a16="http://schemas.microsoft.com/office/drawing/2014/main" id="{F9A0692A-A943-1F80-54F3-F6E9A52D30D7}"/>
              </a:ext>
            </a:extLst>
          </p:cNvPr>
          <p:cNvSpPr>
            <a:spLocks noGrp="1" noChangeArrowheads="1"/>
          </p:cNvSpPr>
          <p:nvPr>
            <p:ph idx="1"/>
          </p:nvPr>
        </p:nvSpPr>
        <p:spPr>
          <a:xfrm>
            <a:off x="269875" y="1277938"/>
            <a:ext cx="8534400" cy="4110037"/>
          </a:xfrm>
        </p:spPr>
        <p:txBody>
          <a:bodyPr/>
          <a:lstStyle/>
          <a:p>
            <a:pPr marL="0" indent="0" algn="just" eaLnBrk="1" hangingPunct="1">
              <a:lnSpc>
                <a:spcPct val="90000"/>
              </a:lnSpc>
              <a:buFont typeface="Monotype Sorts" pitchFamily="2" charset="2"/>
              <a:buNone/>
              <a:defRPr/>
            </a:pPr>
            <a:r>
              <a:rPr lang="en-US" altLang="zh-CN" b="0" dirty="0">
                <a:solidFill>
                  <a:schemeClr val="tx1"/>
                </a:solidFill>
                <a:latin typeface="+mj-lt"/>
                <a:ea typeface="宋体" charset="-122"/>
              </a:rPr>
              <a:t>In the preceding sections, you used the </a:t>
            </a:r>
            <a:r>
              <a:rPr lang="en-US" altLang="zh-CN" b="0" u="sng" dirty="0" err="1">
                <a:solidFill>
                  <a:schemeClr val="tx1"/>
                </a:solidFill>
                <a:latin typeface="+mj-lt"/>
                <a:ea typeface="宋体" charset="-122"/>
              </a:rPr>
              <a:t>ofstream</a:t>
            </a:r>
            <a:r>
              <a:rPr lang="en-US" altLang="zh-CN" b="0" dirty="0">
                <a:solidFill>
                  <a:schemeClr val="tx1"/>
                </a:solidFill>
                <a:latin typeface="+mj-lt"/>
                <a:ea typeface="宋体" charset="-122"/>
              </a:rPr>
              <a:t> to write data and the </a:t>
            </a:r>
            <a:r>
              <a:rPr lang="en-US" altLang="zh-CN" b="0" u="sng" dirty="0" err="1">
                <a:solidFill>
                  <a:schemeClr val="tx1"/>
                </a:solidFill>
                <a:latin typeface="+mj-lt"/>
                <a:ea typeface="宋体" charset="-122"/>
              </a:rPr>
              <a:t>ifstream</a:t>
            </a:r>
            <a:r>
              <a:rPr lang="en-US" altLang="zh-CN" b="0" dirty="0">
                <a:solidFill>
                  <a:schemeClr val="tx1"/>
                </a:solidFill>
                <a:latin typeface="+mj-lt"/>
                <a:ea typeface="宋体" charset="-122"/>
              </a:rPr>
              <a:t> to read data. Alternatively, you can also use the </a:t>
            </a:r>
            <a:r>
              <a:rPr lang="en-US" altLang="zh-CN" b="0" u="sng" dirty="0" err="1">
                <a:solidFill>
                  <a:schemeClr val="tx1"/>
                </a:solidFill>
                <a:latin typeface="+mj-lt"/>
                <a:ea typeface="宋体" charset="-122"/>
              </a:rPr>
              <a:t>fstream</a:t>
            </a:r>
            <a:r>
              <a:rPr lang="en-US" altLang="zh-CN" b="0" dirty="0">
                <a:solidFill>
                  <a:schemeClr val="tx1"/>
                </a:solidFill>
                <a:latin typeface="+mj-lt"/>
                <a:ea typeface="宋体" charset="-122"/>
              </a:rPr>
              <a:t> class to create an input stream or output stream. It is convenient to use </a:t>
            </a:r>
            <a:r>
              <a:rPr lang="en-US" altLang="zh-CN" b="0" u="sng" dirty="0" err="1">
                <a:solidFill>
                  <a:schemeClr val="tx1"/>
                </a:solidFill>
                <a:latin typeface="+mj-lt"/>
                <a:ea typeface="宋体" charset="-122"/>
              </a:rPr>
              <a:t>fstream</a:t>
            </a:r>
            <a:r>
              <a:rPr lang="en-US" altLang="zh-CN" b="0" dirty="0">
                <a:solidFill>
                  <a:schemeClr val="tx1"/>
                </a:solidFill>
                <a:latin typeface="+mj-lt"/>
                <a:ea typeface="宋体" charset="-122"/>
              </a:rPr>
              <a:t> if your program needs to use the same stream object for both input and output. To open an </a:t>
            </a:r>
            <a:r>
              <a:rPr lang="en-US" altLang="zh-CN" b="0" u="sng" dirty="0" err="1">
                <a:solidFill>
                  <a:schemeClr val="tx1"/>
                </a:solidFill>
                <a:latin typeface="+mj-lt"/>
                <a:ea typeface="宋体" charset="-122"/>
              </a:rPr>
              <a:t>fstream</a:t>
            </a:r>
            <a:r>
              <a:rPr lang="en-US" altLang="zh-CN" b="0" dirty="0">
                <a:solidFill>
                  <a:schemeClr val="tx1"/>
                </a:solidFill>
                <a:latin typeface="+mj-lt"/>
                <a:ea typeface="宋体" charset="-122"/>
              </a:rPr>
              <a:t> file, you have to specify a file mode to tell C++ how the file will be used. The file modes are listed in Table 12.1.</a:t>
            </a:r>
          </a:p>
        </p:txBody>
      </p:sp>
      <p:sp>
        <p:nvSpPr>
          <p:cNvPr id="34819" name="灯片编号占位符 4">
            <a:extLst>
              <a:ext uri="{FF2B5EF4-FFF2-40B4-BE49-F238E27FC236}">
                <a16:creationId xmlns:a16="http://schemas.microsoft.com/office/drawing/2014/main" id="{A1487498-94A7-34CE-46E6-AC79A4DA0629}"/>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7789E18D-826D-E54C-B12D-DC9BD9886348}"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26</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4820" name="标题 2">
            <a:extLst>
              <a:ext uri="{FF2B5EF4-FFF2-40B4-BE49-F238E27FC236}">
                <a16:creationId xmlns:a16="http://schemas.microsoft.com/office/drawing/2014/main" id="{7FDE80F9-06C6-1332-39E7-8525D5AAE816}"/>
              </a:ext>
            </a:extLst>
          </p:cNvPr>
          <p:cNvSpPr>
            <a:spLocks noGrp="1" noChangeArrowheads="1"/>
          </p:cNvSpPr>
          <p:nvPr>
            <p:ph type="title"/>
          </p:nvPr>
        </p:nvSpPr>
        <p:spPr/>
        <p:txBody>
          <a:bodyPr/>
          <a:lstStyle/>
          <a:p>
            <a:r>
              <a:rPr lang="en-US" altLang="zh-CN" dirty="0" err="1">
                <a:ea typeface="宋体" panose="02010600030101010101" pitchFamily="2" charset="-122"/>
              </a:rPr>
              <a:t>fstream</a:t>
            </a:r>
            <a:r>
              <a:rPr lang="en-US" altLang="zh-CN" dirty="0">
                <a:ea typeface="宋体" panose="02010600030101010101" pitchFamily="2" charset="-122"/>
              </a:rPr>
              <a:t> and File Open Modes </a:t>
            </a:r>
            <a:endParaRPr kumimoji="1" lang="zh-CN" altLang="en-US"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C214B8D1-2C94-4768-F1BD-E167510201A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35843" name="Object 5">
            <a:extLst>
              <a:ext uri="{FF2B5EF4-FFF2-40B4-BE49-F238E27FC236}">
                <a16:creationId xmlns:a16="http://schemas.microsoft.com/office/drawing/2014/main" id="{CB3AD4D8-2A95-11B5-8778-8E9D41BFF3F4}"/>
              </a:ext>
            </a:extLst>
          </p:cNvPr>
          <p:cNvGraphicFramePr>
            <a:graphicFrameLocks noChangeAspect="1"/>
          </p:cNvGraphicFramePr>
          <p:nvPr/>
        </p:nvGraphicFramePr>
        <p:xfrm>
          <a:off x="155575" y="1123950"/>
          <a:ext cx="8796338" cy="3190875"/>
        </p:xfrm>
        <a:graphic>
          <a:graphicData uri="http://schemas.openxmlformats.org/presentationml/2006/ole">
            <mc:AlternateContent xmlns:mc="http://schemas.openxmlformats.org/markup-compatibility/2006">
              <mc:Choice xmlns:v="urn:schemas-microsoft-com:vml" Requires="v">
                <p:oleObj name="Picture" r:id="rId2" imgW="4953000" imgH="1790700" progId="Word.Picture.8">
                  <p:embed/>
                </p:oleObj>
              </mc:Choice>
              <mc:Fallback>
                <p:oleObj name="Picture" r:id="rId2" imgW="4953000" imgH="1790700"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123950"/>
                        <a:ext cx="8796338" cy="3190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灯片编号占位符 4">
            <a:extLst>
              <a:ext uri="{FF2B5EF4-FFF2-40B4-BE49-F238E27FC236}">
                <a16:creationId xmlns:a16="http://schemas.microsoft.com/office/drawing/2014/main" id="{48000F7B-FAB3-C41C-1A48-84A08549B603}"/>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6B82E801-6FF2-034F-B37B-129DCCE4B720}"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27</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5845" name="标题 2">
            <a:extLst>
              <a:ext uri="{FF2B5EF4-FFF2-40B4-BE49-F238E27FC236}">
                <a16:creationId xmlns:a16="http://schemas.microsoft.com/office/drawing/2014/main" id="{677B34ED-FB00-0440-DE81-8721850E4F3F}"/>
              </a:ext>
            </a:extLst>
          </p:cNvPr>
          <p:cNvSpPr>
            <a:spLocks noGrp="1" noChangeArrowheads="1"/>
          </p:cNvSpPr>
          <p:nvPr>
            <p:ph type="title"/>
          </p:nvPr>
        </p:nvSpPr>
        <p:spPr/>
        <p:txBody>
          <a:bodyPr/>
          <a:lstStyle/>
          <a:p>
            <a:r>
              <a:rPr lang="en-US" altLang="zh-CN">
                <a:ea typeface="宋体" panose="02010600030101010101" pitchFamily="2" charset="-122"/>
              </a:rPr>
              <a:t>File Open Modes </a:t>
            </a:r>
            <a:endParaRPr kumimoji="1" lang="zh-CN" altLang="en-US"/>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5" name="Rectangle 3">
            <a:extLst>
              <a:ext uri="{FF2B5EF4-FFF2-40B4-BE49-F238E27FC236}">
                <a16:creationId xmlns:a16="http://schemas.microsoft.com/office/drawing/2014/main" id="{ED440C9D-8945-CA84-1893-AE8EFC04E499}"/>
              </a:ext>
            </a:extLst>
          </p:cNvPr>
          <p:cNvSpPr>
            <a:spLocks noGrp="1" noChangeArrowheads="1"/>
          </p:cNvSpPr>
          <p:nvPr>
            <p:ph idx="1"/>
          </p:nvPr>
        </p:nvSpPr>
        <p:spPr>
          <a:xfrm>
            <a:off x="269875" y="1277938"/>
            <a:ext cx="8534400" cy="4110037"/>
          </a:xfrm>
        </p:spPr>
        <p:txBody>
          <a:bodyPr/>
          <a:lstStyle/>
          <a:p>
            <a:pPr marL="0" indent="0" eaLnBrk="1" hangingPunct="1">
              <a:buFont typeface="Monotype Sorts" pitchFamily="2" charset="2"/>
              <a:buNone/>
              <a:defRPr/>
            </a:pPr>
            <a:r>
              <a:rPr lang="en-US" altLang="zh-CN" b="0" dirty="0">
                <a:solidFill>
                  <a:schemeClr val="tx1"/>
                </a:solidFill>
                <a:latin typeface="+mj-lt"/>
                <a:ea typeface="宋体" charset="-122"/>
              </a:rPr>
              <a:t>Several modes can be combined together using the </a:t>
            </a:r>
            <a:r>
              <a:rPr lang="en-US" altLang="zh-CN" b="0" u="sng" dirty="0">
                <a:solidFill>
                  <a:schemeClr val="tx1"/>
                </a:solidFill>
                <a:latin typeface="+mj-lt"/>
                <a:ea typeface="宋体" charset="-122"/>
              </a:rPr>
              <a:t>|</a:t>
            </a:r>
            <a:r>
              <a:rPr lang="en-US" altLang="zh-CN" b="0" dirty="0">
                <a:solidFill>
                  <a:schemeClr val="tx1"/>
                </a:solidFill>
                <a:latin typeface="+mj-lt"/>
                <a:ea typeface="宋体" charset="-122"/>
              </a:rPr>
              <a:t> operator. This is a bitwise inclusive OR operator. See function in a derived class is called </a:t>
            </a:r>
            <a:r>
              <a:rPr lang="en-US" altLang="zh-CN" b="0" i="1" dirty="0">
                <a:solidFill>
                  <a:schemeClr val="tx1"/>
                </a:solidFill>
                <a:latin typeface="+mj-lt"/>
                <a:ea typeface="宋体" charset="-122"/>
              </a:rPr>
              <a:t>overriding a function</a:t>
            </a:r>
            <a:r>
              <a:rPr lang="en-US" altLang="zh-CN" b="0" dirty="0">
                <a:solidFill>
                  <a:schemeClr val="tx1"/>
                </a:solidFill>
                <a:latin typeface="+mj-lt"/>
                <a:ea typeface="宋体" charset="-122"/>
              </a:rPr>
              <a:t>.</a:t>
            </a:r>
          </a:p>
          <a:p>
            <a:pPr marL="0" indent="0" eaLnBrk="1" hangingPunct="1">
              <a:buFont typeface="Monotype Sorts" pitchFamily="2" charset="2"/>
              <a:buNone/>
              <a:defRPr/>
            </a:pPr>
            <a:r>
              <a:rPr lang="en-US" altLang="zh-CN" b="0" dirty="0">
                <a:solidFill>
                  <a:schemeClr val="tx1"/>
                </a:solidFill>
                <a:latin typeface="+mj-lt"/>
                <a:ea typeface="宋体" charset="-122"/>
              </a:rPr>
              <a:t>Appendix D, “Bit Operations,” for more details. For example, to open an output file named city.txt for appending data, you can use the following statement:</a:t>
            </a:r>
          </a:p>
          <a:p>
            <a:pPr marL="0" indent="0" eaLnBrk="1" hangingPunct="1">
              <a:buFont typeface="Monotype Sorts" pitchFamily="2" charset="2"/>
              <a:buNone/>
              <a:defRPr/>
            </a:pPr>
            <a:endParaRPr lang="en-US" altLang="zh-CN" b="0" u="sng" dirty="0">
              <a:solidFill>
                <a:schemeClr val="tx1"/>
              </a:solidFill>
              <a:latin typeface="+mj-lt"/>
              <a:ea typeface="宋体" charset="-122"/>
            </a:endParaRPr>
          </a:p>
          <a:p>
            <a:pPr marL="0" indent="0" eaLnBrk="1" hangingPunct="1">
              <a:buFont typeface="Monotype Sorts" pitchFamily="2" charset="2"/>
              <a:buNone/>
              <a:defRPr/>
            </a:pPr>
            <a:r>
              <a:rPr lang="en-US" altLang="zh-CN" b="0" u="sng" dirty="0" err="1">
                <a:solidFill>
                  <a:schemeClr val="tx1"/>
                </a:solidFill>
                <a:latin typeface="+mj-lt"/>
                <a:ea typeface="宋体" charset="-122"/>
              </a:rPr>
              <a:t>stream.open</a:t>
            </a:r>
            <a:r>
              <a:rPr lang="en-US" altLang="zh-CN" b="0" u="sng" dirty="0">
                <a:solidFill>
                  <a:schemeClr val="tx1"/>
                </a:solidFill>
                <a:latin typeface="+mj-lt"/>
                <a:ea typeface="宋体" charset="-122"/>
              </a:rPr>
              <a:t>("city.txt", </a:t>
            </a:r>
            <a:r>
              <a:rPr lang="en-US" altLang="zh-CN" b="0" u="sng" dirty="0" err="1">
                <a:solidFill>
                  <a:schemeClr val="tx1"/>
                </a:solidFill>
                <a:latin typeface="+mj-lt"/>
                <a:ea typeface="宋体" charset="-122"/>
              </a:rPr>
              <a:t>ios</a:t>
            </a:r>
            <a:r>
              <a:rPr lang="en-US" altLang="zh-CN" b="0" u="sng" dirty="0">
                <a:solidFill>
                  <a:schemeClr val="tx1"/>
                </a:solidFill>
                <a:latin typeface="+mj-lt"/>
                <a:ea typeface="宋体" charset="-122"/>
              </a:rPr>
              <a:t>::out | </a:t>
            </a:r>
            <a:r>
              <a:rPr lang="en-US" altLang="zh-CN" b="0" u="sng" dirty="0" err="1">
                <a:solidFill>
                  <a:schemeClr val="tx1"/>
                </a:solidFill>
                <a:latin typeface="+mj-lt"/>
                <a:ea typeface="宋体" charset="-122"/>
              </a:rPr>
              <a:t>ios</a:t>
            </a:r>
            <a:r>
              <a:rPr lang="en-US" altLang="zh-CN" b="0" u="sng" dirty="0">
                <a:solidFill>
                  <a:schemeClr val="tx1"/>
                </a:solidFill>
                <a:latin typeface="+mj-lt"/>
                <a:ea typeface="宋体" charset="-122"/>
              </a:rPr>
              <a:t>::app);</a:t>
            </a:r>
          </a:p>
        </p:txBody>
      </p:sp>
      <p:sp>
        <p:nvSpPr>
          <p:cNvPr id="36867" name="灯片编号占位符 4">
            <a:extLst>
              <a:ext uri="{FF2B5EF4-FFF2-40B4-BE49-F238E27FC236}">
                <a16:creationId xmlns:a16="http://schemas.microsoft.com/office/drawing/2014/main" id="{5AEFA49E-99E5-3D83-D3CC-2E6BA79931D7}"/>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9D933906-C9E6-7642-A71F-7C67870C0822}"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28</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6868" name="标题 2">
            <a:extLst>
              <a:ext uri="{FF2B5EF4-FFF2-40B4-BE49-F238E27FC236}">
                <a16:creationId xmlns:a16="http://schemas.microsoft.com/office/drawing/2014/main" id="{A9DD74E5-7AE2-B0F2-A90E-5CCD59781935}"/>
              </a:ext>
            </a:extLst>
          </p:cNvPr>
          <p:cNvSpPr>
            <a:spLocks noGrp="1" noChangeArrowheads="1"/>
          </p:cNvSpPr>
          <p:nvPr>
            <p:ph type="title"/>
          </p:nvPr>
        </p:nvSpPr>
        <p:spPr/>
        <p:txBody>
          <a:bodyPr/>
          <a:lstStyle/>
          <a:p>
            <a:r>
              <a:rPr lang="en-US" altLang="zh-CN">
                <a:ea typeface="宋体" panose="02010600030101010101" pitchFamily="2" charset="-122"/>
              </a:rPr>
              <a:t>Combining Modes </a:t>
            </a:r>
            <a:endParaRPr kumimoji="1" lang="zh-CN" altLang="en-US"/>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4">
            <a:extLst>
              <a:ext uri="{FF2B5EF4-FFF2-40B4-BE49-F238E27FC236}">
                <a16:creationId xmlns:a16="http://schemas.microsoft.com/office/drawing/2014/main" id="{6F85E2A6-A94D-5F12-A76B-16434A768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1173163"/>
            <a:ext cx="6529387"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灯片编号占位符 4">
            <a:extLst>
              <a:ext uri="{FF2B5EF4-FFF2-40B4-BE49-F238E27FC236}">
                <a16:creationId xmlns:a16="http://schemas.microsoft.com/office/drawing/2014/main" id="{72748EAB-85B4-E76B-06F8-4B4B7EC8E4DB}"/>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F94F07F2-5374-724E-85B4-AA1F6A652D0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29</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7892" name="标题 2">
            <a:extLst>
              <a:ext uri="{FF2B5EF4-FFF2-40B4-BE49-F238E27FC236}">
                <a16:creationId xmlns:a16="http://schemas.microsoft.com/office/drawing/2014/main" id="{13ED8AAB-5E06-95A7-3CCF-9D6880DF5E9A}"/>
              </a:ext>
            </a:extLst>
          </p:cNvPr>
          <p:cNvSpPr>
            <a:spLocks noGrp="1" noChangeArrowheads="1"/>
          </p:cNvSpPr>
          <p:nvPr>
            <p:ph type="title"/>
          </p:nvPr>
        </p:nvSpPr>
        <p:spPr/>
        <p:txBody>
          <a:bodyPr/>
          <a:lstStyle/>
          <a:p>
            <a:r>
              <a:rPr lang="en-US" altLang="zh-CN">
                <a:ea typeface="宋体" panose="02010600030101010101" pitchFamily="2" charset="-122"/>
              </a:rPr>
              <a:t>Combining Modes </a:t>
            </a:r>
            <a:endParaRPr kumimoji="1" lang="zh-CN" altLang="en-US"/>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5AAA7F46-74D4-8590-7758-980D6C2EF429}"/>
              </a:ext>
            </a:extLst>
          </p:cNvPr>
          <p:cNvSpPr>
            <a:spLocks noChangeArrowheads="1"/>
          </p:cNvSpPr>
          <p:nvPr/>
        </p:nvSpPr>
        <p:spPr bwMode="auto">
          <a:xfrm>
            <a:off x="0" y="2457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8915" name="灯片编号占位符 4">
            <a:extLst>
              <a:ext uri="{FF2B5EF4-FFF2-40B4-BE49-F238E27FC236}">
                <a16:creationId xmlns:a16="http://schemas.microsoft.com/office/drawing/2014/main" id="{67F9019D-C811-6B92-72F6-437A9AB18F17}"/>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F0354826-FE27-9841-9D90-6A096CFAB839}"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30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38916" name="标题 2">
            <a:extLst>
              <a:ext uri="{FF2B5EF4-FFF2-40B4-BE49-F238E27FC236}">
                <a16:creationId xmlns:a16="http://schemas.microsoft.com/office/drawing/2014/main" id="{7361DAA8-4C18-E0A0-00A5-990A437CA77D}"/>
              </a:ext>
            </a:extLst>
          </p:cNvPr>
          <p:cNvSpPr>
            <a:spLocks noGrp="1" noChangeArrowheads="1"/>
          </p:cNvSpPr>
          <p:nvPr>
            <p:ph type="title"/>
          </p:nvPr>
        </p:nvSpPr>
        <p:spPr/>
        <p:txBody>
          <a:bodyPr/>
          <a:lstStyle/>
          <a:p>
            <a:r>
              <a:rPr lang="en-US" altLang="zh-CN" dirty="0">
                <a:ea typeface="宋体" panose="02010600030101010101" pitchFamily="2" charset="-122"/>
              </a:rPr>
              <a:t>Exercise</a:t>
            </a:r>
            <a:endParaRPr kumimoji="1" lang="zh-CN" altLang="en-US" dirty="0"/>
          </a:p>
        </p:txBody>
      </p:sp>
      <p:pic>
        <p:nvPicPr>
          <p:cNvPr id="3" name="图片 2">
            <a:extLst>
              <a:ext uri="{FF2B5EF4-FFF2-40B4-BE49-F238E27FC236}">
                <a16:creationId xmlns:a16="http://schemas.microsoft.com/office/drawing/2014/main" id="{F79554D7-AFCD-0DA5-FA95-F119D7CD7B5D}"/>
              </a:ext>
            </a:extLst>
          </p:cNvPr>
          <p:cNvPicPr>
            <a:picLocks noChangeAspect="1"/>
          </p:cNvPicPr>
          <p:nvPr/>
        </p:nvPicPr>
        <p:blipFill>
          <a:blip r:embed="rId2"/>
          <a:stretch>
            <a:fillRect/>
          </a:stretch>
        </p:blipFill>
        <p:spPr>
          <a:xfrm>
            <a:off x="1474137" y="1122552"/>
            <a:ext cx="6195726" cy="5742861"/>
          </a:xfrm>
          <a:prstGeom prst="rect">
            <a:avLst/>
          </a:prstGeom>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2CA9AED-FFCF-F87C-FEF2-BF37D5566B93}"/>
              </a:ext>
            </a:extLst>
          </p:cNvPr>
          <p:cNvSpPr>
            <a:spLocks noGrp="1"/>
          </p:cNvSpPr>
          <p:nvPr>
            <p:ph type="sldNum" sz="quarter" idx="10"/>
          </p:nvPr>
        </p:nvSpPr>
        <p:spPr/>
        <p:txBody>
          <a:bodyPr/>
          <a:lstStyle/>
          <a:p>
            <a:pPr>
              <a:defRPr/>
            </a:pPr>
            <a:fld id="{D1849875-7F9C-0D4F-8234-4704E58FCB70}" type="slidenum">
              <a:rPr lang="en-US" altLang="zh-CN" smtClean="0"/>
              <a:pPr>
                <a:defRPr/>
              </a:pPr>
              <a:t>31</a:t>
            </a:fld>
            <a:endParaRPr lang="en-US" altLang="zh-CN"/>
          </a:p>
        </p:txBody>
      </p:sp>
      <p:pic>
        <p:nvPicPr>
          <p:cNvPr id="5" name="图片 4">
            <a:extLst>
              <a:ext uri="{FF2B5EF4-FFF2-40B4-BE49-F238E27FC236}">
                <a16:creationId xmlns:a16="http://schemas.microsoft.com/office/drawing/2014/main" id="{8DF03D51-A55E-4DF9-F9F3-471214096CE6}"/>
              </a:ext>
            </a:extLst>
          </p:cNvPr>
          <p:cNvPicPr>
            <a:picLocks noChangeAspect="1"/>
          </p:cNvPicPr>
          <p:nvPr/>
        </p:nvPicPr>
        <p:blipFill>
          <a:blip r:embed="rId2"/>
          <a:stretch>
            <a:fillRect/>
          </a:stretch>
        </p:blipFill>
        <p:spPr>
          <a:xfrm>
            <a:off x="685800" y="1311924"/>
            <a:ext cx="7772400" cy="5088876"/>
          </a:xfrm>
          <a:prstGeom prst="rect">
            <a:avLst/>
          </a:prstGeom>
        </p:spPr>
      </p:pic>
      <p:sp>
        <p:nvSpPr>
          <p:cNvPr id="6" name="标题 2">
            <a:extLst>
              <a:ext uri="{FF2B5EF4-FFF2-40B4-BE49-F238E27FC236}">
                <a16:creationId xmlns:a16="http://schemas.microsoft.com/office/drawing/2014/main" id="{21D96C07-4D09-168A-1F68-F0C93D5985CE}"/>
              </a:ext>
            </a:extLst>
          </p:cNvPr>
          <p:cNvSpPr>
            <a:spLocks noGrp="1" noChangeArrowheads="1"/>
          </p:cNvSpPr>
          <p:nvPr>
            <p:ph type="title"/>
          </p:nvPr>
        </p:nvSpPr>
        <p:spPr>
          <a:xfrm>
            <a:off x="1143000" y="457200"/>
            <a:ext cx="7391400" cy="487363"/>
          </a:xfrm>
        </p:spPr>
        <p:txBody>
          <a:bodyPr/>
          <a:lstStyle/>
          <a:p>
            <a:r>
              <a:rPr lang="en-US" altLang="zh-CN" dirty="0">
                <a:ea typeface="宋体" panose="02010600030101010101" pitchFamily="2" charset="-122"/>
              </a:rPr>
              <a:t>Exercise</a:t>
            </a:r>
            <a:endParaRPr kumimoji="1" lang="zh-CN" altLang="en-US" dirty="0"/>
          </a:p>
        </p:txBody>
      </p:sp>
    </p:spTree>
    <p:extLst>
      <p:ext uri="{BB962C8B-B14F-4D97-AF65-F5344CB8AC3E}">
        <p14:creationId xmlns:p14="http://schemas.microsoft.com/office/powerpoint/2010/main" val="242580827"/>
      </p:ext>
    </p:extLst>
  </p:cSld>
  <p:clrMapOvr>
    <a:masterClrMapping/>
  </p:clrMapOvr>
  <p:transition>
    <p:fade/>
  </p:transition>
</p:sld>
</file>

<file path=ppt/theme/theme1.xml><?xml version="1.0" encoding="utf-8"?>
<a:theme xmlns:a="http://schemas.openxmlformats.org/drawingml/2006/main" name="主题1">
  <a:themeElements>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fontScheme name="117TGp_report_diagram_v2">
      <a:majorFont>
        <a:latin typeface="Times New Roman"/>
        <a:ea typeface="楷体_GB2312"/>
        <a:cs typeface=""/>
      </a:majorFont>
      <a:minorFont>
        <a:latin typeface="楷体_GB2312"/>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clrMap bg1="lt1" tx1="dk1" bg2="lt2" tx2="dk2" accent1="accent1" accent2="accent2" accent3="accent3" accent4="accent4" accent5="accent5" accent6="accent6" hlink="hlink" folHlink="folHlink"/>
    </a:extraClrScheme>
    <a:extraClrScheme>
      <a:clrScheme name="117TGp_report_diagram_v2 2">
        <a:dk1>
          <a:srgbClr val="000000"/>
        </a:dk1>
        <a:lt1>
          <a:srgbClr val="FFFFFF"/>
        </a:lt1>
        <a:dk2>
          <a:srgbClr val="094332"/>
        </a:dk2>
        <a:lt2>
          <a:srgbClr val="B2B2B2"/>
        </a:lt2>
        <a:accent1>
          <a:srgbClr val="0D6531"/>
        </a:accent1>
        <a:accent2>
          <a:srgbClr val="39AF6E"/>
        </a:accent2>
        <a:accent3>
          <a:srgbClr val="FFFFFF"/>
        </a:accent3>
        <a:accent4>
          <a:srgbClr val="000000"/>
        </a:accent4>
        <a:accent5>
          <a:srgbClr val="AAB8AD"/>
        </a:accent5>
        <a:accent6>
          <a:srgbClr val="339E63"/>
        </a:accent6>
        <a:hlink>
          <a:srgbClr val="93E1A0"/>
        </a:hlink>
        <a:folHlink>
          <a:srgbClr val="1D834B"/>
        </a:folHlink>
      </a:clrScheme>
      <a:clrMap bg1="lt1" tx1="dk1" bg2="lt2" tx2="dk2" accent1="accent1" accent2="accent2" accent3="accent3" accent4="accent4" accent5="accent5" accent6="accent6" hlink="hlink" folHlink="folHlink"/>
    </a:extraClrScheme>
    <a:extraClrScheme>
      <a:clrScheme name="117TGp_report_diagram_v2 3">
        <a:dk1>
          <a:srgbClr val="000000"/>
        </a:dk1>
        <a:lt1>
          <a:srgbClr val="FFFFFF"/>
        </a:lt1>
        <a:dk2>
          <a:srgbClr val="275CA3"/>
        </a:dk2>
        <a:lt2>
          <a:srgbClr val="C0C0C0"/>
        </a:lt2>
        <a:accent1>
          <a:srgbClr val="529EBC"/>
        </a:accent1>
        <a:accent2>
          <a:srgbClr val="55BEE3"/>
        </a:accent2>
        <a:accent3>
          <a:srgbClr val="FFFFFF"/>
        </a:accent3>
        <a:accent4>
          <a:srgbClr val="000000"/>
        </a:accent4>
        <a:accent5>
          <a:srgbClr val="B3CCDA"/>
        </a:accent5>
        <a:accent6>
          <a:srgbClr val="4CACCE"/>
        </a:accent6>
        <a:hlink>
          <a:srgbClr val="9FD4F1"/>
        </a:hlink>
        <a:folHlink>
          <a:srgbClr val="0099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23279</TotalTime>
  <Words>1306</Words>
  <Application>Microsoft Macintosh PowerPoint</Application>
  <PresentationFormat>全屏显示(4:3)</PresentationFormat>
  <Paragraphs>108</Paragraphs>
  <Slides>31</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4" baseType="lpstr">
      <vt:lpstr>黑体</vt:lpstr>
      <vt:lpstr>KaiTi</vt:lpstr>
      <vt:lpstr>楷体_GB2312</vt:lpstr>
      <vt:lpstr>宋体</vt:lpstr>
      <vt:lpstr>Microsoft YaHei</vt:lpstr>
      <vt:lpstr>Microsoft YaHei</vt:lpstr>
      <vt:lpstr>Lucida Sans Unicode</vt:lpstr>
      <vt:lpstr>Monotype Sorts</vt:lpstr>
      <vt:lpstr>Times New Roman</vt:lpstr>
      <vt:lpstr>Verdana</vt:lpstr>
      <vt:lpstr>Wingdings</vt:lpstr>
      <vt:lpstr>主题1</vt:lpstr>
      <vt:lpstr>Picture</vt:lpstr>
      <vt:lpstr>程序设计原理</vt:lpstr>
      <vt:lpstr>Objectives</vt:lpstr>
      <vt:lpstr>Writing Data to a File</vt:lpstr>
      <vt:lpstr>Writing Data to a File</vt:lpstr>
      <vt:lpstr>Writing Data to a File</vt:lpstr>
      <vt:lpstr>Close File </vt:lpstr>
      <vt:lpstr>File Exists? </vt:lpstr>
      <vt:lpstr>PowerPoint 演示文稿</vt:lpstr>
      <vt:lpstr>PowerPoint 演示文稿</vt:lpstr>
      <vt:lpstr>PowerPoint 演示文稿</vt:lpstr>
      <vt:lpstr>PowerPoint 演示文稿</vt:lpstr>
      <vt:lpstr>Reading Data from a File </vt:lpstr>
      <vt:lpstr>PowerPoint 演示文稿</vt:lpstr>
      <vt:lpstr>Testing End of File</vt:lpstr>
      <vt:lpstr>Testing End of File</vt:lpstr>
      <vt:lpstr>Know Data Format </vt:lpstr>
      <vt:lpstr>Formatting Output </vt:lpstr>
      <vt:lpstr>Formatting Output </vt:lpstr>
      <vt:lpstr>getline, get and put </vt:lpstr>
      <vt:lpstr>getline, get and put </vt:lpstr>
      <vt:lpstr>getline, get and put </vt:lpstr>
      <vt:lpstr>getline, get and put </vt:lpstr>
      <vt:lpstr>getline()</vt:lpstr>
      <vt:lpstr>get()</vt:lpstr>
      <vt:lpstr>getline, get and put </vt:lpstr>
      <vt:lpstr>fstream and File Open Modes </vt:lpstr>
      <vt:lpstr>File Open Modes </vt:lpstr>
      <vt:lpstr>Combining Modes </vt:lpstr>
      <vt:lpstr>Combining Modes </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Objects and Classes</dc:title>
  <dc:creator>Y. Daniel Liang</dc:creator>
  <cp:lastModifiedBy>一隆 范</cp:lastModifiedBy>
  <cp:revision>279</cp:revision>
  <dcterms:created xsi:type="dcterms:W3CDTF">1995-06-10T17:31:50Z</dcterms:created>
  <dcterms:modified xsi:type="dcterms:W3CDTF">2024-09-16T17:56:52Z</dcterms:modified>
</cp:coreProperties>
</file>