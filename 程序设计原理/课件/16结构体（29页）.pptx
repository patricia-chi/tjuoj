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39" r:id="rId3"/>
    <p:sldId id="1745" r:id="rId5"/>
    <p:sldId id="2429" r:id="rId6"/>
    <p:sldId id="2425" r:id="rId7"/>
    <p:sldId id="2427" r:id="rId8"/>
    <p:sldId id="2428" r:id="rId9"/>
    <p:sldId id="2430" r:id="rId10"/>
    <p:sldId id="687" r:id="rId11"/>
    <p:sldId id="662" r:id="rId12"/>
    <p:sldId id="688" r:id="rId13"/>
    <p:sldId id="656" r:id="rId14"/>
    <p:sldId id="689" r:id="rId15"/>
    <p:sldId id="691" r:id="rId16"/>
    <p:sldId id="692" r:id="rId17"/>
    <p:sldId id="690" r:id="rId18"/>
    <p:sldId id="693" r:id="rId19"/>
    <p:sldId id="694" r:id="rId20"/>
    <p:sldId id="696" r:id="rId21"/>
    <p:sldId id="697" r:id="rId22"/>
    <p:sldId id="698" r:id="rId23"/>
    <p:sldId id="699" r:id="rId24"/>
    <p:sldId id="700" r:id="rId25"/>
    <p:sldId id="2431" r:id="rId26"/>
    <p:sldId id="701" r:id="rId27"/>
    <p:sldId id="702" r:id="rId28"/>
    <p:sldId id="703" r:id="rId29"/>
    <p:sldId id="704" r:id="rId30"/>
    <p:sldId id="2433" r:id="rId31"/>
    <p:sldId id="2432" r:id="rId32"/>
  </p:sldIdLst>
  <p:sldSz cx="9144000" cy="6858000" type="screen4x3"/>
  <p:notesSz cx="6858000" cy="9144000"/>
  <p:custShowLst>
    <p:custShow name="Custom Show 1" id="0">
      <p:sldLst/>
    </p:custShow>
  </p:custShowLst>
  <p:custDataLst>
    <p:tags r:id="rId3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37" userDrawn="1">
          <p15:clr>
            <a:srgbClr val="A4A3A4"/>
          </p15:clr>
        </p15:guide>
        <p15:guide id="2" pos="6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08"/>
    <p:restoredTop sz="90929"/>
  </p:normalViewPr>
  <p:slideViewPr>
    <p:cSldViewPr showGuides="1">
      <p:cViewPr varScale="1">
        <p:scale>
          <a:sx n="113" d="100"/>
          <a:sy n="113" d="100"/>
        </p:scale>
        <p:origin x="1158" y="102"/>
      </p:cViewPr>
      <p:guideLst>
        <p:guide orient="horz" pos="837"/>
        <p:guide pos="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19458" name="Rectangle 102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9459" name="Rectangle 1027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47106" name="Rectangle 102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7107" name="Rectangle 1027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8343782" y="0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5" name="文本框 4"/>
          <p:cNvSpPr txBox="1">
            <a:spLocks noChangeArrowheads="1"/>
          </p:cNvSpPr>
          <p:nvPr userDrawn="1"/>
        </p:nvSpPr>
        <p:spPr bwMode="auto">
          <a:xfrm>
            <a:off x="8343782" y="0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8343782" y="0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8351521" y="0"/>
            <a:ext cx="792480" cy="33718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9886315" y="6350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base"/>
            <a:endParaRPr lang="zh-CN" altLang="en-US" sz="1200" b="0" i="0" u="none" strike="noStrike" dirty="0"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结构体和类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NULL" TargetMode="Externa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  <a:endParaRPr lang="zh-CN" altLang="en-US" sz="4800"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16387" name="文本框 1"/>
          <p:cNvSpPr txBox="1"/>
          <p:nvPr/>
        </p:nvSpPr>
        <p:spPr>
          <a:xfrm>
            <a:off x="4170402" y="3198813"/>
            <a:ext cx="1107996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结构体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任课教师： 喻  梅</a:t>
            </a:r>
            <a:endParaRPr lang="en-US" altLang="zh-CN" sz="24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于瑞国</a:t>
            </a:r>
            <a:endParaRPr lang="en-US" altLang="zh-CN" sz="24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王建荣</a:t>
            </a:r>
            <a:endParaRPr lang="en-US" altLang="zh-CN" sz="24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李雪威</a:t>
            </a:r>
            <a:endParaRPr lang="en-US" altLang="zh-CN" sz="24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赵满坤</a:t>
            </a:r>
            <a:endParaRPr lang="en-US" altLang="zh-CN" sz="24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78614" y="1330005"/>
            <a:ext cx="8948365" cy="5209800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2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欧几里得算法（辗转相除法）</a:t>
            </a: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递归求最大公约数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0" y="1431940"/>
            <a:ext cx="8763360" cy="4197989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问题：假设你有一个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5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升的容器（容器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）和一个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升的容器（容器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）（以及充足的水源），如何精确地取出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4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升水来？</a:t>
            </a:r>
            <a:endParaRPr lang="en-US" altLang="zh-CN" sz="18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装满水，倒入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将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装满，再将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的水全部倒出，继续将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的水倒入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空以后再将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接满，继续倒入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B……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不断将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接满水倒入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满了就将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的水倒出，直至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中剩的水等于要求的水量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接满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次水，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倒出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次水，最后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中剩的水为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5*2-3*2=4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容器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容量为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，容器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容量为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，需要取出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升水</a:t>
            </a:r>
            <a:endParaRPr lang="en-US" altLang="zh-CN" sz="18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求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ax+by=c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的整数解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扩展欧几里得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-74930" y="1316990"/>
            <a:ext cx="9044940" cy="5107940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求不定方程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ax+by=c 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的整数解</a:t>
            </a:r>
            <a:endParaRPr lang="en-US" altLang="zh-CN" sz="18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裴蜀定理：对任何整数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、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和它们的最大公约数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，关于未知数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的线性不定方程（称为裴蜀等式）：若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a,b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是整数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且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gcd(a,b)=d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，那么对于任意的整数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x,y,ax+by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都一定是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的倍数，特别地，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一定存在整数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x,y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，使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成立。</a:t>
            </a:r>
            <a:endParaRPr lang="en-US" altLang="zh-CN" sz="1800" b="1" kern="100" noProof="1">
              <a:solidFill>
                <a:srgbClr val="FF0000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ax+by=c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有整数解的充分必要条件是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d=gcd(a,b)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能整除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endParaRPr lang="en-US" altLang="zh-CN" sz="18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ax+by=c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有整数解，设为（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x1,y1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则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ax1+by1=c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，由于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的公约数，所以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也能整除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能整除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，设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k=c/d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zh-CN" altLang="en-US" sz="15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由于</a:t>
            </a:r>
            <a:r>
              <a:rPr lang="en-US" altLang="zh-CN" sz="15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5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有解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，设解为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(x1,y1)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，则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ax1+by1=d,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两边同时乘以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k,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则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akx1+bky1=c,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由于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kx1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ky1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都是整数，即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ax+by=c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存在一组整数解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(kx1,ky1)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。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扩展欧几里得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117020" y="1330005"/>
            <a:ext cx="8763360" cy="4197989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证明：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一定存在整数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x,y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，使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 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成立（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d=gcd(a,b)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endParaRPr lang="en-US" altLang="zh-CN" sz="1800" b="1" kern="100" noProof="1">
              <a:solidFill>
                <a:srgbClr val="FF0000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欧几里得求最大公约数的过程为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(a,b)(b,a%b)……(d,0)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的过程</a:t>
            </a:r>
            <a:endParaRPr lang="en-US" altLang="zh-CN" sz="18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当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a=d,b=0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时，即对于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(d,0)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这组数，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d*x+0*y=d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存在整数解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x=1,y=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任意整数，使得</a:t>
            </a:r>
            <a:r>
              <a:rPr lang="en-US" altLang="zh-CN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成立。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如果能证明下面这个命题成立，那么就可以推导出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有整数解</a:t>
            </a:r>
            <a:endParaRPr lang="en-US" altLang="zh-CN" sz="1800" b="1" kern="100" noProof="1">
              <a:solidFill>
                <a:srgbClr val="FF0000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证明：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如果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bx+(a%b)y=d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有整数解，那么</a:t>
            </a:r>
            <a:r>
              <a:rPr lang="en-US" altLang="zh-CN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8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有整数解</a:t>
            </a:r>
            <a:endParaRPr lang="en-US" altLang="zh-CN" sz="1800" b="1" kern="100" noProof="1">
              <a:solidFill>
                <a:srgbClr val="FF0000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设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(x1,y1)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bx+(a%b)y=d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的整数解，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a%b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可表示为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a-q*b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，其中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q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为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a/b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的下取整值，代入得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bx1+(a-qb)y1=d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，转换得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ay1+b(x1-qy1)=d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，由于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y1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(x1-qy1)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都是整数，所以</a:t>
            </a:r>
            <a:r>
              <a:rPr lang="en-US" altLang="zh-CN" sz="15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(y1,x1-qy1)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的一组整数解，即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有整数解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lvl="1" indent="0" algn="just">
              <a:lnSpc>
                <a:spcPct val="200000"/>
              </a:lnSpc>
              <a:buNone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扩展欧几里得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119849" y="1740416"/>
            <a:ext cx="8763360" cy="4197989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代码实现</a:t>
            </a: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(y1,x1-qy1)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是 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ax+by=d 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的一组整数解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递归过程中令</a:t>
            </a:r>
            <a:r>
              <a:rPr lang="en-US" altLang="zh-CN" sz="1500" b="1" kern="100" noProof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x=y1,y=x1-qy1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其中</a:t>
            </a:r>
            <a:r>
              <a:rPr lang="en-US" altLang="zh-CN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q=a/b</a:t>
            </a:r>
            <a:r>
              <a:rPr lang="zh-CN" altLang="en-US" sz="1500" b="1" kern="100" noProof="1">
                <a:solidFill>
                  <a:srgbClr val="014B88"/>
                </a:solidFill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的下取整值</a:t>
            </a:r>
            <a:endParaRPr lang="en-US" altLang="zh-CN" sz="1500" b="1" kern="100" noProof="1">
              <a:solidFill>
                <a:srgbClr val="014B88"/>
              </a:solidFill>
              <a:latin typeface="+mj-lt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4455" y="1941766"/>
            <a:ext cx="3305582" cy="73667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60" y="3839410"/>
            <a:ext cx="2943636" cy="14932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23527"/>
            <a:ext cx="2872188" cy="1814766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扩展欧几里得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251100" y="1097551"/>
            <a:ext cx="8763360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扩展欧几里得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-62138" y="1765543"/>
            <a:ext cx="5455451" cy="4197989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容器</a:t>
            </a:r>
            <a:r>
              <a:rPr lang="en-US" altLang="zh-CN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容量为</a:t>
            </a:r>
            <a:r>
              <a:rPr lang="en-US" altLang="zh-CN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，容器</a:t>
            </a:r>
            <a:r>
              <a:rPr lang="en-US" altLang="zh-CN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容量为</a:t>
            </a:r>
            <a:r>
              <a:rPr lang="en-US" altLang="zh-CN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，需要取出</a:t>
            </a:r>
            <a:r>
              <a:rPr lang="en-US" altLang="zh-CN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zh-CN" altLang="en-US" sz="18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升水</a:t>
            </a: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求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ax+by=c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的整数解</a:t>
            </a: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需要是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最大公约数的倍数且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c&lt;=max(a,b)</a:t>
            </a: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最少接水倒水次数？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|x|+|y|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最小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接水次数最小</a:t>
            </a: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若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a&gt;b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，求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x&gt;0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的最小的解；否则，求</a:t>
            </a: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y&gt;0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的最小的解</a:t>
            </a: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ax+by=c</a:t>
            </a:r>
            <a:r>
              <a:rPr lang="zh-CN" altLang="en-US" sz="150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的通解？</a:t>
            </a: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若</a:t>
            </a:r>
            <a:r>
              <a:rPr lang="en-US" altLang="zh-CN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x0</a:t>
            </a:r>
            <a:r>
              <a:rPr lang="zh-CN" altLang="en-US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y0</a:t>
            </a:r>
            <a:r>
              <a:rPr lang="zh-CN" altLang="en-US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为其一组特解</a:t>
            </a: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则其通解为</a:t>
            </a:r>
            <a:r>
              <a:rPr lang="en-US" altLang="zh-CN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x = x0-(b/d)t,y = y0+(a/d)t</a:t>
            </a:r>
            <a:r>
              <a:rPr lang="zh-CN" altLang="en-US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zh-CN" altLang="en-US" sz="1350" b="1" kern="100" noProof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为任意整数</a:t>
            </a: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8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135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500" b="1" kern="100" noProof="1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268" y="2300584"/>
            <a:ext cx="3612192" cy="3077653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kern="0" dirty="0">
                <a:ea typeface="宋体" panose="02010600030101010101" pitchFamily="2" charset="-122"/>
              </a:rPr>
              <a:t>扩展欧几里得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1588" y="265113"/>
            <a:ext cx="0" cy="0"/>
          </a:xfrm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8434" name="Oval 1026"/>
          <p:cNvSpPr/>
          <p:nvPr/>
        </p:nvSpPr>
        <p:spPr>
          <a:xfrm>
            <a:off x="5640388" y="2551113"/>
            <a:ext cx="3429000" cy="2286000"/>
          </a:xfrm>
          <a:prstGeom prst="ellipse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1027"/>
          <p:cNvSpPr>
            <a:spLocks noChangeArrowheads="1"/>
          </p:cNvSpPr>
          <p:nvPr/>
        </p:nvSpPr>
        <p:spPr bwMode="auto">
          <a:xfrm>
            <a:off x="765175" y="817563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C++  Data Types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6" name="Line 1028"/>
          <p:cNvSpPr/>
          <p:nvPr/>
        </p:nvSpPr>
        <p:spPr>
          <a:xfrm flipH="1">
            <a:off x="2384425" y="1789113"/>
            <a:ext cx="1046163" cy="952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7" name="Line 1029"/>
          <p:cNvSpPr/>
          <p:nvPr/>
        </p:nvSpPr>
        <p:spPr>
          <a:xfrm>
            <a:off x="4859338" y="1712913"/>
            <a:ext cx="1220787" cy="3657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8" name="Line 1030"/>
          <p:cNvSpPr/>
          <p:nvPr/>
        </p:nvSpPr>
        <p:spPr>
          <a:xfrm>
            <a:off x="6135688" y="1731963"/>
            <a:ext cx="1303337" cy="1028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9" name="Rectangle 1031"/>
          <p:cNvSpPr/>
          <p:nvPr/>
        </p:nvSpPr>
        <p:spPr>
          <a:xfrm>
            <a:off x="6691313" y="2649538"/>
            <a:ext cx="16922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structured</a:t>
            </a:r>
            <a:endParaRPr lang="en-US" altLang="zh-CN" sz="2400" b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0" name="Rectangle 1032"/>
          <p:cNvSpPr/>
          <p:nvPr/>
        </p:nvSpPr>
        <p:spPr>
          <a:xfrm>
            <a:off x="5672138" y="3686175"/>
            <a:ext cx="346551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array  </a:t>
            </a:r>
            <a:r>
              <a:rPr lang="en-US" altLang="zh-CN" sz="2400" b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struct</a:t>
            </a:r>
            <a:r>
              <a:rPr lang="en-US" altLang="zh-CN" sz="2400" b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union   class</a:t>
            </a:r>
            <a:endParaRPr lang="en-US" altLang="zh-CN" sz="24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441" name="Group 1033"/>
          <p:cNvGrpSpPr/>
          <p:nvPr/>
        </p:nvGrpSpPr>
        <p:grpSpPr>
          <a:xfrm>
            <a:off x="6334125" y="3065463"/>
            <a:ext cx="2362200" cy="704850"/>
            <a:chOff x="3917" y="1980"/>
            <a:chExt cx="1488" cy="444"/>
          </a:xfrm>
        </p:grpSpPr>
        <p:sp>
          <p:nvSpPr>
            <p:cNvPr id="18466" name="Line 1034"/>
            <p:cNvSpPr/>
            <p:nvPr/>
          </p:nvSpPr>
          <p:spPr>
            <a:xfrm>
              <a:off x="4973" y="1980"/>
              <a:ext cx="432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7" name="Line 1035"/>
            <p:cNvSpPr/>
            <p:nvPr/>
          </p:nvSpPr>
          <p:spPr>
            <a:xfrm>
              <a:off x="4829" y="1980"/>
              <a:ext cx="96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8" name="Line 1036"/>
            <p:cNvSpPr/>
            <p:nvPr/>
          </p:nvSpPr>
          <p:spPr>
            <a:xfrm flipH="1">
              <a:off x="4409" y="1980"/>
              <a:ext cx="228" cy="4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9" name="Line 1037"/>
            <p:cNvSpPr/>
            <p:nvPr/>
          </p:nvSpPr>
          <p:spPr>
            <a:xfrm flipH="1">
              <a:off x="3917" y="1980"/>
              <a:ext cx="432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8442" name="Group 1038"/>
          <p:cNvGrpSpPr/>
          <p:nvPr/>
        </p:nvGrpSpPr>
        <p:grpSpPr>
          <a:xfrm>
            <a:off x="5321300" y="5316538"/>
            <a:ext cx="2466975" cy="1281112"/>
            <a:chOff x="3351" y="3398"/>
            <a:chExt cx="1554" cy="807"/>
          </a:xfrm>
        </p:grpSpPr>
        <p:sp>
          <p:nvSpPr>
            <p:cNvPr id="18462" name="Rectangle 1039"/>
            <p:cNvSpPr/>
            <p:nvPr/>
          </p:nvSpPr>
          <p:spPr>
            <a:xfrm>
              <a:off x="3591" y="3398"/>
              <a:ext cx="9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address</a:t>
              </a:r>
              <a:endPara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63" name="Line 1040"/>
            <p:cNvSpPr/>
            <p:nvPr/>
          </p:nvSpPr>
          <p:spPr>
            <a:xfrm flipH="1">
              <a:off x="3553" y="3648"/>
              <a:ext cx="288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4" name="Line 1041"/>
            <p:cNvSpPr/>
            <p:nvPr/>
          </p:nvSpPr>
          <p:spPr>
            <a:xfrm>
              <a:off x="4177" y="3648"/>
              <a:ext cx="336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5" name="Rectangle 1042"/>
            <p:cNvSpPr/>
            <p:nvPr/>
          </p:nvSpPr>
          <p:spPr>
            <a:xfrm>
              <a:off x="3351" y="3955"/>
              <a:ext cx="15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pointer    reference</a:t>
              </a:r>
              <a:endPara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43" name="Rectangle 1043"/>
          <p:cNvSpPr/>
          <p:nvPr/>
        </p:nvSpPr>
        <p:spPr>
          <a:xfrm>
            <a:off x="1739900" y="2649538"/>
            <a:ext cx="1149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simple</a:t>
            </a:r>
            <a:endParaRPr lang="en-US" altLang="zh-CN" sz="2400" b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4" name="Line 1044"/>
          <p:cNvSpPr/>
          <p:nvPr/>
        </p:nvSpPr>
        <p:spPr>
          <a:xfrm flipH="1">
            <a:off x="1222375" y="3046413"/>
            <a:ext cx="762000" cy="685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5" name="Line 1045"/>
          <p:cNvSpPr/>
          <p:nvPr/>
        </p:nvSpPr>
        <p:spPr>
          <a:xfrm>
            <a:off x="2593975" y="3046413"/>
            <a:ext cx="1447800" cy="685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6" name="Rectangle 1046"/>
          <p:cNvSpPr/>
          <p:nvPr/>
        </p:nvSpPr>
        <p:spPr>
          <a:xfrm>
            <a:off x="673100" y="3686175"/>
            <a:ext cx="26860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integral            enum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7" name="Rectangle 1047"/>
          <p:cNvSpPr/>
          <p:nvPr/>
        </p:nvSpPr>
        <p:spPr>
          <a:xfrm>
            <a:off x="3175" y="4600575"/>
            <a:ext cx="336708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en-US" altLang="zh-CN" sz="2400" b="0">
                <a:solidFill>
                  <a:srgbClr val="99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short   int  long  bool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8" name="Line 1048"/>
          <p:cNvSpPr/>
          <p:nvPr/>
        </p:nvSpPr>
        <p:spPr>
          <a:xfrm flipH="1">
            <a:off x="612775" y="4037013"/>
            <a:ext cx="3810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9" name="Line 1049"/>
          <p:cNvSpPr/>
          <p:nvPr/>
        </p:nvSpPr>
        <p:spPr>
          <a:xfrm flipH="1">
            <a:off x="1069975" y="4037013"/>
            <a:ext cx="762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50" name="Line 1050"/>
          <p:cNvSpPr/>
          <p:nvPr/>
        </p:nvSpPr>
        <p:spPr>
          <a:xfrm>
            <a:off x="1374775" y="4037013"/>
            <a:ext cx="3048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51" name="Line 1051"/>
          <p:cNvSpPr/>
          <p:nvPr/>
        </p:nvSpPr>
        <p:spPr>
          <a:xfrm>
            <a:off x="1603375" y="4037013"/>
            <a:ext cx="6858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452" name="Group 1052"/>
          <p:cNvGrpSpPr/>
          <p:nvPr/>
        </p:nvGrpSpPr>
        <p:grpSpPr>
          <a:xfrm>
            <a:off x="2406650" y="3686175"/>
            <a:ext cx="3341688" cy="2168525"/>
            <a:chOff x="1467" y="2371"/>
            <a:chExt cx="2105" cy="1366"/>
          </a:xfrm>
        </p:grpSpPr>
        <p:sp>
          <p:nvSpPr>
            <p:cNvPr id="18457" name="Rectangle 1053"/>
            <p:cNvSpPr/>
            <p:nvPr/>
          </p:nvSpPr>
          <p:spPr>
            <a:xfrm>
              <a:off x="2343" y="2371"/>
              <a:ext cx="69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floating</a:t>
              </a:r>
              <a:endParaRPr lang="en-US" altLang="zh-CN" sz="2400" b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8" name="Rectangle 1054"/>
            <p:cNvSpPr/>
            <p:nvPr/>
          </p:nvSpPr>
          <p:spPr>
            <a:xfrm>
              <a:off x="1467" y="3487"/>
              <a:ext cx="21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float  double   long double</a:t>
              </a:r>
              <a:endPara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9" name="Line 1055"/>
            <p:cNvSpPr/>
            <p:nvPr/>
          </p:nvSpPr>
          <p:spPr>
            <a:xfrm flipH="1">
              <a:off x="1777" y="2592"/>
              <a:ext cx="960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0" name="Line 1056"/>
            <p:cNvSpPr/>
            <p:nvPr/>
          </p:nvSpPr>
          <p:spPr>
            <a:xfrm>
              <a:off x="2833" y="2592"/>
              <a:ext cx="96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1" name="Line 1057"/>
            <p:cNvSpPr/>
            <p:nvPr/>
          </p:nvSpPr>
          <p:spPr>
            <a:xfrm flipH="1">
              <a:off x="2209" y="2592"/>
              <a:ext cx="576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8453" name="Line 1058"/>
          <p:cNvSpPr/>
          <p:nvPr/>
        </p:nvSpPr>
        <p:spPr>
          <a:xfrm>
            <a:off x="1755775" y="4037013"/>
            <a:ext cx="121920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54" name="Line 1059"/>
          <p:cNvSpPr/>
          <p:nvPr/>
        </p:nvSpPr>
        <p:spPr>
          <a:xfrm>
            <a:off x="2268538" y="3046413"/>
            <a:ext cx="495300" cy="7429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5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Structured Data Type </a:t>
            </a:r>
            <a:endParaRPr lang="zh-CN" altLang="en-US" dirty="0"/>
          </a:p>
        </p:txBody>
      </p:sp>
      <p:sp>
        <p:nvSpPr>
          <p:cNvPr id="18456" name="灯片编号占位符 3"/>
          <p:cNvSpPr txBox="1"/>
          <p:nvPr/>
        </p:nvSpPr>
        <p:spPr>
          <a:xfrm>
            <a:off x="8624888" y="6532563"/>
            <a:ext cx="5111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Structured Data Type </a:t>
            </a:r>
            <a:endParaRPr lang="zh-CN" altLang="en-US" dirty="0"/>
          </a:p>
        </p:txBody>
      </p:sp>
      <p:sp>
        <p:nvSpPr>
          <p:cNvPr id="2048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Rectangle 2051"/>
          <p:cNvSpPr txBox="1">
            <a:spLocks noChangeArrowheads="1"/>
          </p:cNvSpPr>
          <p:nvPr/>
        </p:nvSpPr>
        <p:spPr bwMode="auto">
          <a:xfrm>
            <a:off x="546100" y="1739900"/>
            <a:ext cx="7988300" cy="4030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A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structured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data type is a type in which each value is a collection of component items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The entire collection has a single name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Each component can be accessed individually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Used to bundle together related data of various types for convenient access under the same identifier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	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楷体_GB2312"/>
              </a:rPr>
              <a:t>For example . . .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Structured Data Type </a:t>
            </a:r>
            <a:endParaRPr lang="zh-CN" altLang="en-US" dirty="0"/>
          </a:p>
        </p:txBody>
      </p:sp>
      <p:sp>
        <p:nvSpPr>
          <p:cNvPr id="21506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3119438" y="2662238"/>
            <a:ext cx="1587500" cy="364490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Rectangle 3"/>
          <p:cNvSpPr/>
          <p:nvPr/>
        </p:nvSpPr>
        <p:spPr>
          <a:xfrm>
            <a:off x="3119438" y="2128838"/>
            <a:ext cx="1949450" cy="2593975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white">
          <a:xfrm>
            <a:off x="539750" y="833438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楷体_GB2312"/>
              </a:rPr>
              <a:t>thisAnimal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1510" name="Rectangle 7"/>
          <p:cNvSpPr/>
          <p:nvPr/>
        </p:nvSpPr>
        <p:spPr>
          <a:xfrm>
            <a:off x="3711575" y="1724025"/>
            <a:ext cx="763588" cy="4016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5000 </a:t>
            </a:r>
            <a:endParaRPr lang="en-US" altLang="zh-CN" sz="2000" b="0">
              <a:solidFill>
                <a:srgbClr val="99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1" name="Line 14"/>
          <p:cNvSpPr/>
          <p:nvPr/>
        </p:nvSpPr>
        <p:spPr>
          <a:xfrm>
            <a:off x="3113088" y="265588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512" name="Rectangle 16"/>
          <p:cNvSpPr/>
          <p:nvPr/>
        </p:nvSpPr>
        <p:spPr>
          <a:xfrm>
            <a:off x="1882775" y="2305050"/>
            <a:ext cx="4949825" cy="384619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.id                    2037581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.name            “giant panda”    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.genus           “Ailuropoda”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.species        “melanoleuca”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.country        “China”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.age                 18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.weight            234.6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.health            “Good”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3" name="Line 21"/>
          <p:cNvSpPr/>
          <p:nvPr/>
        </p:nvSpPr>
        <p:spPr>
          <a:xfrm>
            <a:off x="3113088" y="524668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514" name="Line 30"/>
          <p:cNvSpPr/>
          <p:nvPr/>
        </p:nvSpPr>
        <p:spPr>
          <a:xfrm>
            <a:off x="3113088" y="578008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515" name="Group 37"/>
          <p:cNvGrpSpPr/>
          <p:nvPr/>
        </p:nvGrpSpPr>
        <p:grpSpPr>
          <a:xfrm>
            <a:off x="3113088" y="2655888"/>
            <a:ext cx="1966912" cy="2057400"/>
            <a:chOff x="1392" y="1632"/>
            <a:chExt cx="3792" cy="1296"/>
          </a:xfrm>
        </p:grpSpPr>
        <p:sp>
          <p:nvSpPr>
            <p:cNvPr id="21516" name="Line 17"/>
            <p:cNvSpPr/>
            <p:nvPr/>
          </p:nvSpPr>
          <p:spPr>
            <a:xfrm>
              <a:off x="1392" y="1920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17" name="Line 18"/>
            <p:cNvSpPr/>
            <p:nvPr/>
          </p:nvSpPr>
          <p:spPr>
            <a:xfrm>
              <a:off x="1392" y="2256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18" name="Line 19"/>
            <p:cNvSpPr/>
            <p:nvPr/>
          </p:nvSpPr>
          <p:spPr>
            <a:xfrm>
              <a:off x="1392" y="2592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19" name="Line 20"/>
            <p:cNvSpPr/>
            <p:nvPr/>
          </p:nvSpPr>
          <p:spPr>
            <a:xfrm>
              <a:off x="1392" y="2928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20" name="Line 22"/>
            <p:cNvSpPr/>
            <p:nvPr/>
          </p:nvSpPr>
          <p:spPr>
            <a:xfrm>
              <a:off x="2400" y="1632"/>
              <a:ext cx="278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836920" y="2583815"/>
            <a:ext cx="2697480" cy="27330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26"/>
          <p:cNvSpPr/>
          <p:nvPr/>
        </p:nvSpPr>
        <p:spPr>
          <a:xfrm>
            <a:off x="3765550" y="2579688"/>
            <a:ext cx="1587500" cy="364490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0" name="Rectangle 1027"/>
          <p:cNvSpPr/>
          <p:nvPr/>
        </p:nvSpPr>
        <p:spPr>
          <a:xfrm>
            <a:off x="3765550" y="2046288"/>
            <a:ext cx="1949450" cy="2593975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Line 1031"/>
          <p:cNvSpPr/>
          <p:nvPr/>
        </p:nvSpPr>
        <p:spPr>
          <a:xfrm>
            <a:off x="3759200" y="257333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532" name="Line 1033"/>
          <p:cNvSpPr/>
          <p:nvPr/>
        </p:nvSpPr>
        <p:spPr>
          <a:xfrm>
            <a:off x="3759200" y="516413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533" name="Line 1034"/>
          <p:cNvSpPr/>
          <p:nvPr/>
        </p:nvSpPr>
        <p:spPr>
          <a:xfrm>
            <a:off x="3759200" y="569753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534" name="Group 1035"/>
          <p:cNvGrpSpPr/>
          <p:nvPr/>
        </p:nvGrpSpPr>
        <p:grpSpPr>
          <a:xfrm>
            <a:off x="3759200" y="2573338"/>
            <a:ext cx="1966913" cy="2057400"/>
            <a:chOff x="1392" y="1632"/>
            <a:chExt cx="3792" cy="1296"/>
          </a:xfrm>
        </p:grpSpPr>
        <p:sp>
          <p:nvSpPr>
            <p:cNvPr id="22540" name="Line 1036"/>
            <p:cNvSpPr/>
            <p:nvPr/>
          </p:nvSpPr>
          <p:spPr>
            <a:xfrm>
              <a:off x="1392" y="1920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41" name="Line 1037"/>
            <p:cNvSpPr/>
            <p:nvPr/>
          </p:nvSpPr>
          <p:spPr>
            <a:xfrm>
              <a:off x="1392" y="2256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42" name="Line 1038"/>
            <p:cNvSpPr/>
            <p:nvPr/>
          </p:nvSpPr>
          <p:spPr>
            <a:xfrm>
              <a:off x="1392" y="2592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43" name="Line 1039"/>
            <p:cNvSpPr/>
            <p:nvPr/>
          </p:nvSpPr>
          <p:spPr>
            <a:xfrm>
              <a:off x="1392" y="2928"/>
              <a:ext cx="379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44" name="Line 1040"/>
            <p:cNvSpPr/>
            <p:nvPr/>
          </p:nvSpPr>
          <p:spPr>
            <a:xfrm>
              <a:off x="2400" y="1632"/>
              <a:ext cx="278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253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Structured Data Type </a:t>
            </a:r>
            <a:endParaRPr lang="zh-CN" altLang="en-US" dirty="0"/>
          </a:p>
        </p:txBody>
      </p:sp>
      <p:sp>
        <p:nvSpPr>
          <p:cNvPr id="22536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Rectangle 1028"/>
          <p:cNvSpPr txBox="1"/>
          <p:nvPr/>
        </p:nvSpPr>
        <p:spPr>
          <a:xfrm>
            <a:off x="385763" y="989013"/>
            <a:ext cx="8229600" cy="7572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440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anotherAnimal</a:t>
            </a:r>
            <a:r>
              <a:rPr lang="en-US" altLang="zh-CN" sz="4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4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8" name="Rectangle 1030"/>
          <p:cNvSpPr/>
          <p:nvPr/>
        </p:nvSpPr>
        <p:spPr>
          <a:xfrm>
            <a:off x="3871913" y="1673225"/>
            <a:ext cx="819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6000</a:t>
            </a:r>
            <a:r>
              <a:rPr lang="en-US" altLang="zh-CN" sz="2000">
                <a:solidFill>
                  <a:srgbClr val="99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>
              <a:solidFill>
                <a:srgbClr val="99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9" name="Rectangle 1032"/>
          <p:cNvSpPr/>
          <p:nvPr/>
        </p:nvSpPr>
        <p:spPr>
          <a:xfrm>
            <a:off x="2252663" y="2179638"/>
            <a:ext cx="5159375" cy="4064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.id                    5281003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.name            “llama”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.genus           “Lama”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.species        “peruana”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.country        “Peru”</a:t>
            </a: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.age                 7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.weight            278.5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.health            “Excellent”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7560" y="2353310"/>
            <a:ext cx="3017520" cy="31546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/>
          </p:cNvSpPr>
          <p:nvPr>
            <p:ph idx="1"/>
          </p:nvPr>
        </p:nvSpPr>
        <p:spPr>
          <a:xfrm>
            <a:off x="539750" y="1258888"/>
            <a:ext cx="8108950" cy="5278437"/>
          </a:xfrm>
          <a:ln w="28575"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struct  AnimalType</a:t>
            </a:r>
            <a:r>
              <a:rPr lang="en-US" altLang="zh-CN" sz="2000" i="1">
                <a:solidFill>
                  <a:schemeClr val="folHlink"/>
                </a:solidFill>
                <a:latin typeface="Courier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Declares a  struct data type</a:t>
            </a:r>
            <a:endParaRPr lang="en-US" altLang="zh-CN" sz="2000">
              <a:solidFill>
                <a:srgbClr val="99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{</a:t>
            </a:r>
            <a:r>
              <a:rPr lang="en-US" altLang="zh-CN" sz="2000">
                <a:solidFill>
                  <a:schemeClr val="tx2"/>
                </a:solidFill>
                <a:latin typeface="Courier" charset="0"/>
                <a:ea typeface="宋体" panose="02010600030101010101" pitchFamily="2" charset="-122"/>
              </a:rPr>
              <a:t>				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does not allocate memory</a:t>
            </a:r>
            <a:endParaRPr lang="en-US" altLang="zh-CN" sz="2000">
              <a:solidFill>
                <a:srgbClr val="99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long     id;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string   name;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string   genus;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string   species;        		 </a:t>
            </a:r>
            <a:r>
              <a:rPr lang="en-US" altLang="zh-CN" sz="2000">
                <a:solidFill>
                  <a:srgbClr val="0000CC"/>
                </a:solidFill>
                <a:ea typeface="宋体" panose="02010600030101010101" pitchFamily="2" charset="-122"/>
              </a:rPr>
              <a:t>struct members</a:t>
            </a: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string   country;                                   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int      age;           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float    weight;          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string   health;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};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Declare  variables of AnimalType</a:t>
            </a:r>
            <a:endParaRPr lang="en-US" altLang="zh-CN" sz="2000">
              <a:solidFill>
                <a:srgbClr val="99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AnimalType thisAnimal;	 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AnimalType anotherAnimal;</a:t>
            </a:r>
            <a:r>
              <a:rPr lang="en-US" altLang="zh-CN" sz="2000" i="1">
                <a:solidFill>
                  <a:schemeClr val="folHlink"/>
                </a:solidFill>
                <a:latin typeface="Courier" charset="0"/>
                <a:ea typeface="宋体" panose="02010600030101010101" pitchFamily="2" charset="-122"/>
              </a:rPr>
              <a:t>     </a:t>
            </a:r>
            <a:endParaRPr lang="en-US" altLang="zh-CN" sz="2000" i="1">
              <a:solidFill>
                <a:schemeClr val="folHlink"/>
              </a:solidFill>
              <a:latin typeface="Courier" charset="0"/>
              <a:ea typeface="宋体" panose="02010600030101010101" pitchFamily="2" charset="-122"/>
            </a:endParaRPr>
          </a:p>
        </p:txBody>
      </p:sp>
      <p:sp>
        <p:nvSpPr>
          <p:cNvPr id="23554" name="Line 14"/>
          <p:cNvSpPr/>
          <p:nvPr/>
        </p:nvSpPr>
        <p:spPr>
          <a:xfrm>
            <a:off x="3359150" y="2338388"/>
            <a:ext cx="2603500" cy="863600"/>
          </a:xfrm>
          <a:prstGeom prst="line">
            <a:avLst/>
          </a:prstGeom>
          <a:ln w="28575" cap="flat" cmpd="sng">
            <a:solidFill>
              <a:srgbClr val="0000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55" name="Line 15"/>
          <p:cNvSpPr/>
          <p:nvPr/>
        </p:nvSpPr>
        <p:spPr>
          <a:xfrm flipV="1">
            <a:off x="3917950" y="3240088"/>
            <a:ext cx="2057400" cy="1143000"/>
          </a:xfrm>
          <a:prstGeom prst="line">
            <a:avLst/>
          </a:prstGeom>
          <a:ln w="28575" cap="flat" cmpd="sng">
            <a:solidFill>
              <a:srgbClr val="0000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56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Struct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AnimalType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385763" y="1700213"/>
            <a:ext cx="8372475" cy="4456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declaration names a type and names the members of the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It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does not allocate memory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for any variables  of that type!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You still need to declare your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variables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Struct Type Declaration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423863" y="1393825"/>
            <a:ext cx="8450263" cy="5030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Scope of a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Times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If the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type declaration precedes all functions, it will be visible throughout the rest of the file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Times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If it is placed within a function, only that function can use it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It is common to place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type declarations in a (.h) header file and #include that file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It is possible for members of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different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types to have the same identifiers; also a non-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variable may have the same identifier as a structure member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2999" y="457200"/>
            <a:ext cx="8152815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More about struct type declarations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Rectangle 3"/>
          <p:cNvSpPr/>
          <p:nvPr/>
        </p:nvSpPr>
        <p:spPr>
          <a:xfrm>
            <a:off x="842963" y="1924050"/>
            <a:ext cx="7110412" cy="172561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/>
          <p:nvPr/>
        </p:nvSpPr>
        <p:spPr>
          <a:xfrm>
            <a:off x="855663" y="4506913"/>
            <a:ext cx="7118350" cy="181927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1" name="Rectangle 5"/>
          <p:cNvSpPr>
            <a:spLocks noGrp="1"/>
          </p:cNvSpPr>
          <p:nvPr>
            <p:ph idx="1"/>
          </p:nvPr>
        </p:nvSpPr>
        <p:spPr>
          <a:xfrm>
            <a:off x="512763" y="1471613"/>
            <a:ext cx="7488237" cy="496093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>
                <a:solidFill>
                  <a:srgbClr val="990000"/>
                </a:solidFill>
                <a:ea typeface="宋体" panose="02010600030101010101" pitchFamily="2" charset="-122"/>
              </a:rPr>
              <a:t>SYNTAX</a:t>
            </a:r>
            <a:endParaRPr lang="en-US" altLang="zh-CN">
              <a:solidFill>
                <a:srgbClr val="99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 </a:t>
            </a:r>
            <a:endParaRPr lang="en-US" altLang="zh-CN" sz="16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struct  TypeName	      </a:t>
            </a:r>
            <a:r>
              <a:rPr lang="en-US" altLang="zh-CN" sz="2000">
                <a:solidFill>
                  <a:srgbClr val="990000"/>
                </a:solidFill>
                <a:ea typeface="宋体" panose="02010600030101010101" pitchFamily="2" charset="-122"/>
              </a:rPr>
              <a:t>// Does not  allocate memory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{				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     MemberList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};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MemberList   </a:t>
            </a:r>
            <a:r>
              <a:rPr lang="en-US" altLang="zh-CN">
                <a:solidFill>
                  <a:srgbClr val="990000"/>
                </a:solidFill>
                <a:ea typeface="宋体" panose="02010600030101010101" pitchFamily="2" charset="-122"/>
              </a:rPr>
              <a:t>SYNTAX</a:t>
            </a:r>
            <a:endParaRPr lang="en-US" altLang="zh-CN">
              <a:solidFill>
                <a:srgbClr val="99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solidFill>
                <a:srgbClr val="99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 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DataType   MemberName;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DataType   MemberName;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400">
                <a:latin typeface="Arial Black" panose="020B0A04020102020204" pitchFamily="34" charset="0"/>
                <a:ea typeface="宋体" panose="02010600030101010101" pitchFamily="2" charset="-122"/>
              </a:rPr>
              <a:t>          .  </a:t>
            </a:r>
            <a:endParaRPr lang="en-US" altLang="zh-CN" sz="1400">
              <a:latin typeface="Arial Black" panose="020B0A0402010202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400">
                <a:latin typeface="Arial Black" panose="020B0A04020102020204" pitchFamily="34" charset="0"/>
                <a:ea typeface="宋体" panose="02010600030101010101" pitchFamily="2" charset="-122"/>
              </a:rPr>
              <a:t>          .</a:t>
            </a:r>
            <a:endParaRPr lang="en-US" altLang="zh-CN" sz="1400">
              <a:latin typeface="Arial Black" panose="020B0A0402010202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400">
                <a:latin typeface="Arial Black" panose="020B0A04020102020204" pitchFamily="34" charset="0"/>
                <a:ea typeface="宋体" panose="02010600030101010101" pitchFamily="2" charset="-122"/>
              </a:rPr>
              <a:t>          .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Struct Type Declaration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1662113"/>
            <a:ext cx="8278813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Dot (period) is the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member selection operator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After the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type declaration, the various members can be used in your program only when they are preceded by a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variable name and a dot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EXAMPLES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thisAnimal.weight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anotherAnimal.country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Accessing struct Members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3794" name="Rectangle 5"/>
          <p:cNvSpPr/>
          <p:nvPr/>
        </p:nvSpPr>
        <p:spPr>
          <a:xfrm>
            <a:off x="155575" y="1443038"/>
            <a:ext cx="8907463" cy="474503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269875" y="1593850"/>
            <a:ext cx="8755063" cy="4737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type of the member determines the allowable operations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thisAnimal.age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=  18;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thisAnimal.id   =  2037581;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cin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&gt;&gt;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thisAnimal.weight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getline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cin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thisAnimal.species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thisAnimal.name = “giant panda”;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thisAnimal.genus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[0] =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toupper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thisAnimal.genus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[0]);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thisAnimal.age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++;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Operations on struct Members</a:t>
            </a:r>
            <a:r>
              <a:rPr lang="en-US" altLang="zh-CN" sz="3600" dirty="0">
                <a:solidFill>
                  <a:srgbClr val="990000"/>
                </a:solidFill>
                <a:ea typeface="宋体" panose="02010600030101010101" pitchFamily="2" charset="-122"/>
              </a:rPr>
              <a:t> 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309563" y="1816100"/>
            <a:ext cx="8559800" cy="4781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Operations valid on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type variables are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Assignment to another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variable of the same type 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Pass as an argument  (by value or by reference)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Return as value of a function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I/O, arithmetic, and comparisons of entire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variables are NOT ALLOWED!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Aggregate struct Operations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7890" name="Rectangle 4"/>
          <p:cNvSpPr/>
          <p:nvPr/>
        </p:nvSpPr>
        <p:spPr>
          <a:xfrm>
            <a:off x="155575" y="1547813"/>
            <a:ext cx="8907463" cy="4165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231775" y="2162175"/>
            <a:ext cx="9045575" cy="3121025"/>
          </a:xfrm>
        </p:spPr>
        <p:txBody>
          <a:bodyPr vert="horz" wrap="square" lIns="91440" tIns="45720" rIns="91440" bIns="45720" anchor="t" anchorCtr="0"/>
          <a:lstStyle/>
          <a:p>
            <a:pPr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anotherAnimal = thisAnimal;  	   </a:t>
            </a:r>
            <a:r>
              <a:rPr lang="en-US" altLang="zh-CN" sz="2000">
                <a:solidFill>
                  <a:srgbClr val="99003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Assignment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WriteOut(thisAnimal); 		   </a:t>
            </a:r>
            <a:r>
              <a:rPr lang="en-US" altLang="zh-CN" sz="2000">
                <a:solidFill>
                  <a:srgbClr val="99003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Value parameter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ChangeWeightAndAge(thisAnimal);  </a:t>
            </a:r>
            <a:r>
              <a:rPr lang="en-US" altLang="zh-CN" sz="2000">
                <a:solidFill>
                  <a:srgbClr val="99003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Reference parameter</a:t>
            </a: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thisAnimal = GetAnimalData();    </a:t>
            </a:r>
            <a:r>
              <a:rPr lang="en-US" altLang="zh-CN" sz="2000">
                <a:solidFill>
                  <a:srgbClr val="99003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Function return value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Aggregate struct Operations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9938" name="Rectangle 2"/>
          <p:cNvSpPr>
            <a:spLocks noGrp="1"/>
          </p:cNvSpPr>
          <p:nvPr>
            <p:ph idx="1"/>
          </p:nvPr>
        </p:nvSpPr>
        <p:spPr>
          <a:xfrm>
            <a:off x="155575" y="1047750"/>
            <a:ext cx="8988425" cy="6284913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void  WriteOut( /*  in  */  AnimalType   thisAnimal)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Prints out values of all members of thisAnimal</a:t>
            </a:r>
            <a:endParaRPr lang="en-US" altLang="zh-CN" sz="2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Precondition: all members of thisAnimal are assigned</a:t>
            </a:r>
            <a:endParaRPr lang="en-US" altLang="zh-CN" sz="2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Postcondition:all members have been written out</a:t>
            </a:r>
            <a:endParaRPr lang="en-US" altLang="zh-CN" sz="2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cout &lt;&lt; “ID # “ &lt;&lt; thisAnimal.id 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    &lt;&lt; thisAnimal.name  &lt;&lt; endl;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cout &lt;&lt; thisAnimal.genus &lt;&lt; thisAnimal.species 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    &lt;&lt; endl;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cout &lt;&lt; thisAnimal.country &lt;&lt; endl;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cout &lt;&lt; thisAnimal.age &lt;&lt; “ years “ &lt;&lt; endl;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cout &lt;&lt; thisAnimal.weight &lt;&lt; “ lbs. “ &lt;&lt; endl;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cout &lt;&lt; “General health : “&lt;&lt;thisAnimal.health&lt;&lt;endl; 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	</a:t>
            </a: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Aggregate struct Operations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1986" name="Rectangle 3"/>
          <p:cNvSpPr/>
          <p:nvPr/>
        </p:nvSpPr>
        <p:spPr>
          <a:xfrm>
            <a:off x="209550" y="2178050"/>
            <a:ext cx="8720138" cy="362426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396875" y="2474913"/>
            <a:ext cx="8077200" cy="3290887"/>
          </a:xfrm>
        </p:spPr>
        <p:txBody>
          <a:bodyPr vert="horz" wrap="square" lIns="91440" tIns="45720" rIns="91440" bIns="45720" anchor="t" anchorCtr="0"/>
          <a:lstStyle/>
          <a:p>
            <a:pPr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void ChangeAge(/* inout */ AnimalType&amp; thisAnimal)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1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Adds 1 to age</a:t>
            </a:r>
            <a:endParaRPr lang="en-US" altLang="zh-CN" sz="24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Precondition: thisAnimal.age is assigned  </a:t>
            </a:r>
            <a:endParaRPr lang="en-US" altLang="zh-CN" sz="2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Postcondition:thisAnimal.age == </a:t>
            </a:r>
            <a:endParaRPr lang="en-US" altLang="zh-CN" sz="2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  thisAnimal.age@entry + 1</a:t>
            </a:r>
            <a:endParaRPr lang="en-US" altLang="zh-CN" sz="2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altLang="zh-CN" sz="10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  <a:r>
              <a:rPr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endParaRPr lang="en-US" altLang="zh-CN" sz="1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thisAnimal.age++;</a:t>
            </a:r>
            <a:endParaRPr lang="en-US" altLang="zh-CN" sz="2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altLang="zh-CN" sz="10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</a:t>
            </a:r>
            <a:r>
              <a:rPr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		</a:t>
            </a:r>
            <a:endParaRPr lang="en-US" altLang="zh-CN" sz="2400">
              <a:latin typeface="Courier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Passing a struct Type by Reference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4034" name="Rectangle 3"/>
          <p:cNvSpPr/>
          <p:nvPr/>
        </p:nvSpPr>
        <p:spPr>
          <a:xfrm>
            <a:off x="193675" y="1201738"/>
            <a:ext cx="8431213" cy="565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idx="1"/>
          </p:nvPr>
        </p:nvSpPr>
        <p:spPr>
          <a:xfrm>
            <a:off x="269875" y="1285875"/>
            <a:ext cx="8759825" cy="6205538"/>
          </a:xfrm>
        </p:spPr>
        <p:txBody>
          <a:bodyPr vert="horz" wrap="square" lIns="91440" tIns="45720" rIns="91440" bIns="45720" anchor="t" anchorCtr="0"/>
          <a:lstStyle/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AnimalType GetAnimalData ()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endParaRPr lang="en-US" altLang="zh-CN" sz="1800">
              <a:solidFill>
                <a:srgbClr val="0099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Obtains all information about an animal from keyboard</a:t>
            </a:r>
            <a:endParaRPr lang="en-US" altLang="zh-CN" sz="18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Postcondition:</a:t>
            </a:r>
            <a:endParaRPr lang="en-US" altLang="zh-CN" sz="18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  Return value == AnimalType members entered at kbd</a:t>
            </a:r>
            <a:endParaRPr lang="en-US" altLang="zh-CN" sz="18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AnimalType  thisAnimal; 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char response; 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do  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{	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// Have user enter members until they are correct</a:t>
            </a:r>
            <a:endParaRPr lang="en-US" altLang="zh-CN" sz="18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	.</a:t>
            </a:r>
            <a:endParaRPr lang="en-US" altLang="zh-CN" sz="12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12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	.</a:t>
            </a:r>
            <a:endParaRPr lang="en-US" altLang="zh-CN" sz="12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zh-CN" sz="12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	.</a:t>
            </a:r>
            <a:endParaRPr lang="en-US" altLang="zh-CN" sz="12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}  while (response != ‘Y’);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return  thisAnimal;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		</a:t>
            </a:r>
            <a:endParaRPr lang="en-US" altLang="zh-CN" sz="18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Return a struct Type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扩展欧几里得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15" y="2468875"/>
            <a:ext cx="3808563" cy="3512752"/>
          </a:xfrm>
          <a:prstGeom prst="rect">
            <a:avLst/>
          </a:prstGeom>
        </p:spPr>
      </p:pic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77880" y="1208342"/>
            <a:ext cx="8295480" cy="768052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定义一个结构体，包括需要返回的三个元素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x,y,d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，将结构体类型作为函数的返回值类型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xfrm>
            <a:off x="654050" y="1624013"/>
            <a:ext cx="7758113" cy="4837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type of a struct member can be another struct type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This is called nested or hierarchical structures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Hierarchical structures are very useful when there is much detailed information in each record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For example . . 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Hierarchical Structures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654050" y="1585913"/>
            <a:ext cx="8027988" cy="4454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Information about each machine in a shop contains: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an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idNumber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,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a written description,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the purchase date,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the cost,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and a history (including failure rate, number of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days down, and date of last service)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struct </a:t>
            </a:r>
            <a:r>
              <a:rPr lang="en-US" altLang="zh-CN" dirty="0" err="1">
                <a:ea typeface="宋体" panose="02010600030101010101" pitchFamily="2" charset="-122"/>
              </a:rPr>
              <a:t>MachineRec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0178" name="Rectangle 3"/>
          <p:cNvSpPr/>
          <p:nvPr/>
        </p:nvSpPr>
        <p:spPr>
          <a:xfrm>
            <a:off x="196850" y="1085850"/>
            <a:ext cx="8428038" cy="565943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idx="1"/>
          </p:nvPr>
        </p:nvSpPr>
        <p:spPr>
          <a:xfrm>
            <a:off x="339725" y="1087438"/>
            <a:ext cx="8172450" cy="565785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struct  DateType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	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int    month;         	</a:t>
            </a:r>
            <a:r>
              <a:rPr lang="en-US" altLang="zh-CN" sz="16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 Assume 1 . . 12</a:t>
            </a:r>
            <a:endParaRPr lang="en-US" altLang="zh-CN" sz="16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int    day;		</a:t>
            </a:r>
            <a:r>
              <a:rPr lang="en-US" altLang="zh-CN" sz="16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 Assume  1 . . 31</a:t>
            </a:r>
            <a:endParaRPr lang="en-US" altLang="zh-CN" sz="16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int    year; 		</a:t>
            </a:r>
            <a:r>
              <a:rPr lang="en-US" altLang="zh-CN" sz="16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 Assume 1900 . . 2050</a:t>
            </a:r>
            <a:endParaRPr lang="en-US" altLang="zh-CN" sz="16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struct  StatisticsType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	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float  failRate;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DateType	lastServiced;	</a:t>
            </a:r>
            <a:r>
              <a:rPr lang="en-US" altLang="zh-CN" sz="16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 DateType is a struct type</a:t>
            </a:r>
            <a:endParaRPr lang="en-US" altLang="zh-CN" sz="16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int downDays;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struct MachineRec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	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int idNumber;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string description;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StatisticsType  history; </a:t>
            </a:r>
            <a:r>
              <a:rPr lang="en-US" altLang="zh-CN" sz="1600">
                <a:solidFill>
                  <a:srgbClr val="99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// StatisticsType is a struct</a:t>
            </a:r>
            <a:endParaRPr lang="en-US" altLang="zh-CN" sz="1600">
              <a:solidFill>
                <a:srgbClr val="99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DateType	 purchaseDate; 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float cost;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};</a:t>
            </a:r>
            <a:endParaRPr lang="en-US" altLang="zh-CN" sz="160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MachineRec  machine; </a:t>
            </a:r>
            <a:endParaRPr lang="en-US" altLang="zh-CN" sz="1600">
              <a:solidFill>
                <a:srgbClr val="CC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struct </a:t>
            </a:r>
            <a:r>
              <a:rPr lang="en-US" altLang="zh-CN" dirty="0" err="1">
                <a:ea typeface="宋体" panose="02010600030101010101" pitchFamily="2" charset="-122"/>
              </a:rPr>
              <a:t>MachineRec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685800" y="1905000"/>
            <a:ext cx="7467600" cy="4191000"/>
          </a:xfrm>
        </p:spPr>
        <p:txBody>
          <a:bodyPr vert="horz" wrap="square" lIns="91440" tIns="45720" rIns="91440" bIns="45720" anchor="t" anchorCtr="0"/>
          <a:lstStyle/>
          <a:p>
            <a:pPr>
              <a:buFont typeface="Monotype Sorts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2228" name="Rectangle 4"/>
          <p:cNvSpPr/>
          <p:nvPr/>
        </p:nvSpPr>
        <p:spPr>
          <a:xfrm>
            <a:off x="88900" y="1993900"/>
            <a:ext cx="819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7000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29" name="Rectangle 5"/>
          <p:cNvSpPr/>
          <p:nvPr/>
        </p:nvSpPr>
        <p:spPr>
          <a:xfrm>
            <a:off x="212725" y="30781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0" name="Rectangle 6"/>
          <p:cNvSpPr/>
          <p:nvPr/>
        </p:nvSpPr>
        <p:spPr>
          <a:xfrm>
            <a:off x="228600" y="36115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1" name="Rectangle 7"/>
          <p:cNvSpPr/>
          <p:nvPr/>
        </p:nvSpPr>
        <p:spPr>
          <a:xfrm>
            <a:off x="0" y="42211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2" name="Rectangle 8"/>
          <p:cNvSpPr/>
          <p:nvPr/>
        </p:nvSpPr>
        <p:spPr>
          <a:xfrm>
            <a:off x="76200" y="47545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3" name="Rectangle 9"/>
          <p:cNvSpPr/>
          <p:nvPr/>
        </p:nvSpPr>
        <p:spPr>
          <a:xfrm>
            <a:off x="76200" y="52879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4" name="Rectangle 10"/>
          <p:cNvSpPr/>
          <p:nvPr/>
        </p:nvSpPr>
        <p:spPr>
          <a:xfrm>
            <a:off x="76200" y="26209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5" name="Rectangle 11"/>
          <p:cNvSpPr/>
          <p:nvPr/>
        </p:nvSpPr>
        <p:spPr>
          <a:xfrm>
            <a:off x="73025" y="2538413"/>
            <a:ext cx="8942388" cy="148907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6" name="Rectangle 12"/>
          <p:cNvSpPr/>
          <p:nvPr/>
        </p:nvSpPr>
        <p:spPr>
          <a:xfrm>
            <a:off x="0" y="4479925"/>
            <a:ext cx="8775700" cy="3683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.idNumber  .description                            . history                                   .purchaseDate      .cost</a:t>
            </a: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37" name="Rectangle 13"/>
          <p:cNvSpPr/>
          <p:nvPr/>
        </p:nvSpPr>
        <p:spPr>
          <a:xfrm>
            <a:off x="6181725" y="3509963"/>
            <a:ext cx="1914525" cy="3365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.month .day  .year</a:t>
            </a:r>
            <a:endParaRPr lang="en-US" altLang="zh-CN" sz="16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38" name="Line 14"/>
          <p:cNvSpPr/>
          <p:nvPr/>
        </p:nvSpPr>
        <p:spPr>
          <a:xfrm>
            <a:off x="6604000" y="2787650"/>
            <a:ext cx="0" cy="4222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239" name="Group 18"/>
          <p:cNvGrpSpPr/>
          <p:nvPr/>
        </p:nvGrpSpPr>
        <p:grpSpPr>
          <a:xfrm>
            <a:off x="6391275" y="2770188"/>
            <a:ext cx="1635125" cy="457200"/>
            <a:chOff x="4026" y="1745"/>
            <a:chExt cx="1030" cy="288"/>
          </a:xfrm>
        </p:grpSpPr>
        <p:sp>
          <p:nvSpPr>
            <p:cNvPr id="52257" name="Rectangle 15"/>
            <p:cNvSpPr/>
            <p:nvPr/>
          </p:nvSpPr>
          <p:spPr>
            <a:xfrm>
              <a:off x="4026" y="1749"/>
              <a:ext cx="1030" cy="269"/>
            </a:xfrm>
            <a:prstGeom prst="rect">
              <a:avLst/>
            </a:prstGeom>
            <a:solidFill>
              <a:srgbClr val="FFFF99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8" name="Line 16"/>
            <p:cNvSpPr/>
            <p:nvPr/>
          </p:nvSpPr>
          <p:spPr>
            <a:xfrm>
              <a:off x="4657" y="1756"/>
              <a:ext cx="0" cy="26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259" name="Line 17"/>
            <p:cNvSpPr/>
            <p:nvPr/>
          </p:nvSpPr>
          <p:spPr>
            <a:xfrm>
              <a:off x="4322" y="1745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2240" name="Rectangle 19"/>
          <p:cNvSpPr/>
          <p:nvPr/>
        </p:nvSpPr>
        <p:spPr>
          <a:xfrm>
            <a:off x="-112712" y="2776538"/>
            <a:ext cx="9340850" cy="4619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5719 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“DRILLING…”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                                     3    21  1995   8000.0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41" name="Rectangle 20"/>
          <p:cNvSpPr/>
          <p:nvPr/>
        </p:nvSpPr>
        <p:spPr>
          <a:xfrm>
            <a:off x="2746375" y="2703513"/>
            <a:ext cx="3430588" cy="811212"/>
          </a:xfrm>
          <a:prstGeom prst="rect">
            <a:avLst/>
          </a:prstGeom>
          <a:solidFill>
            <a:srgbClr val="FFFF66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2" name="Line 21"/>
          <p:cNvSpPr/>
          <p:nvPr/>
        </p:nvSpPr>
        <p:spPr>
          <a:xfrm>
            <a:off x="5340350" y="2676525"/>
            <a:ext cx="0" cy="8429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43" name="Line 22"/>
          <p:cNvSpPr/>
          <p:nvPr/>
        </p:nvSpPr>
        <p:spPr>
          <a:xfrm>
            <a:off x="3454400" y="2716213"/>
            <a:ext cx="0" cy="823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44" name="Rectangle 23"/>
          <p:cNvSpPr/>
          <p:nvPr/>
        </p:nvSpPr>
        <p:spPr>
          <a:xfrm>
            <a:off x="2227263" y="3557588"/>
            <a:ext cx="40195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.failrate    .lastServiced    .downdays</a:t>
            </a:r>
            <a:endParaRPr lang="en-US" altLang="zh-CN" sz="16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2245" name="Group 27"/>
          <p:cNvGrpSpPr/>
          <p:nvPr/>
        </p:nvGrpSpPr>
        <p:grpSpPr>
          <a:xfrm>
            <a:off x="3576638" y="2811463"/>
            <a:ext cx="1635125" cy="457200"/>
            <a:chOff x="2253" y="1771"/>
            <a:chExt cx="1030" cy="288"/>
          </a:xfrm>
        </p:grpSpPr>
        <p:sp>
          <p:nvSpPr>
            <p:cNvPr id="52254" name="Rectangle 24"/>
            <p:cNvSpPr/>
            <p:nvPr/>
          </p:nvSpPr>
          <p:spPr>
            <a:xfrm>
              <a:off x="2253" y="1775"/>
              <a:ext cx="1030" cy="269"/>
            </a:xfrm>
            <a:prstGeom prst="rect">
              <a:avLst/>
            </a:prstGeom>
            <a:solidFill>
              <a:srgbClr val="FFFF99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5" name="Line 25"/>
            <p:cNvSpPr/>
            <p:nvPr/>
          </p:nvSpPr>
          <p:spPr>
            <a:xfrm>
              <a:off x="2884" y="1782"/>
              <a:ext cx="0" cy="26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256" name="Line 26"/>
            <p:cNvSpPr/>
            <p:nvPr/>
          </p:nvSpPr>
          <p:spPr>
            <a:xfrm>
              <a:off x="2549" y="1771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2246" name="Rectangle 28"/>
          <p:cNvSpPr/>
          <p:nvPr/>
        </p:nvSpPr>
        <p:spPr>
          <a:xfrm>
            <a:off x="2576513" y="2814638"/>
            <a:ext cx="3232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.02      1     25  2025     4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47" name="Rectangle 29"/>
          <p:cNvSpPr/>
          <p:nvPr/>
        </p:nvSpPr>
        <p:spPr>
          <a:xfrm>
            <a:off x="3405188" y="3222625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.month .day.year</a:t>
            </a:r>
            <a:endParaRPr lang="en-US" altLang="zh-CN" sz="16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48" name="Line 30"/>
          <p:cNvSpPr/>
          <p:nvPr/>
        </p:nvSpPr>
        <p:spPr>
          <a:xfrm>
            <a:off x="927100" y="2532063"/>
            <a:ext cx="0" cy="1501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49" name="Line 31"/>
          <p:cNvSpPr/>
          <p:nvPr/>
        </p:nvSpPr>
        <p:spPr>
          <a:xfrm>
            <a:off x="8142288" y="2532063"/>
            <a:ext cx="0" cy="1501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50" name="Line 32"/>
          <p:cNvSpPr/>
          <p:nvPr/>
        </p:nvSpPr>
        <p:spPr>
          <a:xfrm>
            <a:off x="6275388" y="2513013"/>
            <a:ext cx="0" cy="15208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51" name="Line 33"/>
          <p:cNvSpPr/>
          <p:nvPr/>
        </p:nvSpPr>
        <p:spPr>
          <a:xfrm>
            <a:off x="2576513" y="2532063"/>
            <a:ext cx="0" cy="14827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52" name="Line 34"/>
          <p:cNvSpPr/>
          <p:nvPr/>
        </p:nvSpPr>
        <p:spPr>
          <a:xfrm>
            <a:off x="4938713" y="3190875"/>
            <a:ext cx="238125" cy="2692400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2253" name="Rectangle 35"/>
          <p:cNvSpPr/>
          <p:nvPr/>
        </p:nvSpPr>
        <p:spPr>
          <a:xfrm>
            <a:off x="652463" y="5911850"/>
            <a:ext cx="6264910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machine.history.lastServiced.year</a:t>
            </a: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has value 2025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struct type variable machine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143000" y="457200"/>
            <a:ext cx="2197100" cy="487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en-US" altLang="zh-CN" kern="0" dirty="0"/>
              <a:t>Exercise</a:t>
            </a:r>
            <a:endParaRPr lang="en-US" altLang="zh-CN" kern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80" y="1470025"/>
            <a:ext cx="8499475" cy="41306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143000" y="457200"/>
            <a:ext cx="2197100" cy="487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en-US" altLang="zh-CN" kern="0" dirty="0"/>
              <a:t>Exercise</a:t>
            </a:r>
            <a:endParaRPr lang="en-US" altLang="zh-CN" kern="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1546860"/>
            <a:ext cx="7639050" cy="3498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PP_MARK_KEY" val="caddf623-44ff-4d28-b91f-b4e20d1b4bed"/>
  <p:tag name="COMMONDATA" val="eyJoZGlkIjoiZjQ2N2Q5MDA2ODkwZTA2YmZkMmJiZDQ5ZDg0NTJjZjgifQ=="/>
</p:tagLst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7232</Words>
  <Application>WPS 演示</Application>
  <PresentationFormat>全屏显示(4:3)</PresentationFormat>
  <Paragraphs>464</Paragraphs>
  <Slides>29</Slides>
  <Notes>17</Notes>
  <HiddenSlides>1</HiddenSlides>
  <MMClips>0</MMClips>
  <ScaleCrop>false</ScaleCrop>
  <HeadingPairs>
    <vt:vector size="8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  <vt:variant>
        <vt:lpstr>自定义放映</vt:lpstr>
      </vt:variant>
      <vt:variant>
        <vt:i4>1</vt:i4>
      </vt:variant>
    </vt:vector>
  </HeadingPairs>
  <TitlesOfParts>
    <vt:vector size="62" baseType="lpstr">
      <vt:lpstr>Arial</vt:lpstr>
      <vt:lpstr>宋体</vt:lpstr>
      <vt:lpstr>Wingdings</vt:lpstr>
      <vt:lpstr>Times New Roman</vt:lpstr>
      <vt:lpstr>楷体_GB2312</vt:lpstr>
      <vt:lpstr>新宋体</vt:lpstr>
      <vt:lpstr>Consolas</vt:lpstr>
      <vt:lpstr>楷体_GB2312</vt:lpstr>
      <vt:lpstr>Lucida Sans Unicode</vt:lpstr>
      <vt:lpstr>Verdana</vt:lpstr>
      <vt:lpstr>微软雅黑</vt:lpstr>
      <vt:lpstr>黑体</vt:lpstr>
      <vt:lpstr>楷体</vt:lpstr>
      <vt:lpstr>仿宋_GB2312</vt:lpstr>
      <vt:lpstr>仿宋</vt:lpstr>
      <vt:lpstr>Monotype Sorts</vt:lpstr>
      <vt:lpstr>Wingdings</vt:lpstr>
      <vt:lpstr>Courier New</vt:lpstr>
      <vt:lpstr>Arial Unicode MS</vt:lpstr>
      <vt:lpstr>Courier</vt:lpstr>
      <vt:lpstr>Times</vt:lpstr>
      <vt:lpstr>Arial Black</vt:lpstr>
      <vt:lpstr>Toots Regular</vt:lpstr>
      <vt:lpstr>Corbel</vt:lpstr>
      <vt:lpstr>Therese</vt:lpstr>
      <vt:lpstr>楷体_GB2312</vt:lpstr>
      <vt:lpstr>Arial</vt:lpstr>
      <vt:lpstr>-apple-system</vt:lpstr>
      <vt:lpstr>KaTeX_Math</vt:lpstr>
      <vt:lpstr>katex_main</vt:lpstr>
      <vt:lpstr>Segoe Print</vt:lpstr>
      <vt:lpstr>主题1</vt:lpstr>
      <vt:lpstr>程序设计原理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Structured Data Type </vt:lpstr>
      <vt:lpstr>Structured Data Type </vt:lpstr>
      <vt:lpstr>Structured Data Type </vt:lpstr>
      <vt:lpstr>Structured Data Type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扩展欧几里得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赵满坤</cp:lastModifiedBy>
  <cp:revision>438</cp:revision>
  <dcterms:created xsi:type="dcterms:W3CDTF">1995-06-10T17:31:00Z</dcterms:created>
  <dcterms:modified xsi:type="dcterms:W3CDTF">2025-12-04T13:06:11Z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BE536C443B424938A3467C3418607C14_13</vt:lpwstr>
  </property>
  <property fmtid="{D5CDD505-2E9C-101B-9397-08002B2CF9AE}" pid="3" name="KSOProductBuildVer">
    <vt:lpwstr>2052-12.1.0.23542</vt:lpwstr>
  </property>
</Properties>
</file>