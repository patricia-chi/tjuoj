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16"/>
  </p:notesMasterIdLst>
  <p:sldIdLst>
    <p:sldId id="702" r:id="rId2"/>
    <p:sldId id="687" r:id="rId3"/>
    <p:sldId id="688" r:id="rId4"/>
    <p:sldId id="671" r:id="rId5"/>
    <p:sldId id="672" r:id="rId6"/>
    <p:sldId id="673" r:id="rId7"/>
    <p:sldId id="710" r:id="rId8"/>
    <p:sldId id="674" r:id="rId9"/>
    <p:sldId id="675" r:id="rId10"/>
    <p:sldId id="699" r:id="rId11"/>
    <p:sldId id="700" r:id="rId12"/>
    <p:sldId id="703" r:id="rId13"/>
    <p:sldId id="704" r:id="rId14"/>
    <p:sldId id="705" r:id="rId15"/>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楷体_GB2312" pitchFamily="49"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楷体_GB2312" pitchFamily="49"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楷体_GB2312" pitchFamily="49"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楷体_GB2312" pitchFamily="49"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楷体_GB2312" pitchFamily="49"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楷体_GB2312" pitchFamily="49"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楷体_GB2312" pitchFamily="49"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楷体_GB2312" pitchFamily="49"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99" autoAdjust="0"/>
    <p:restoredTop sz="66266" autoAdjust="0"/>
  </p:normalViewPr>
  <p:slideViewPr>
    <p:cSldViewPr>
      <p:cViewPr varScale="1">
        <p:scale>
          <a:sx n="48" d="100"/>
          <a:sy n="48" d="100"/>
        </p:scale>
        <p:origin x="1548" y="40"/>
      </p:cViewPr>
      <p:guideLst>
        <p:guide orient="horz" pos="864"/>
        <p:guide pos="576"/>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p:cViewPr varScale="1">
        <p:scale>
          <a:sx n="40" d="100"/>
          <a:sy n="40" d="100"/>
        </p:scale>
        <p:origin x="-1488" y="-96"/>
      </p:cViewPr>
      <p:guideLst>
        <p:guide orient="horz" pos="2880"/>
        <p:guide pos="2160"/>
      </p:guideLst>
    </p:cSldViewPr>
  </p:notesViewPr>
  <p:gridSpacing cx="38405" cy="384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4A35C214-CA34-ED0B-D664-8898C4B57DD6}"/>
              </a:ext>
            </a:extLst>
          </p:cNvPr>
          <p:cNvSpPr>
            <a:spLocks noGrp="1" noRot="1" noChangeAspect="1"/>
          </p:cNvSpPr>
          <p:nvPr>
            <p:ph type="sldImg"/>
          </p:nvPr>
        </p:nvSpPr>
        <p:spPr bwMode="auto">
          <a:xfrm>
            <a:off x="1371600" y="1143000"/>
            <a:ext cx="4114800" cy="30861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备注占位符 2">
            <a:extLst>
              <a:ext uri="{FF2B5EF4-FFF2-40B4-BE49-F238E27FC236}">
                <a16:creationId xmlns:a16="http://schemas.microsoft.com/office/drawing/2014/main" id="{12326D8E-740B-274D-153D-C8F8D118837F}"/>
              </a:ext>
            </a:extLst>
          </p:cNvPr>
          <p:cNvSpPr>
            <a:spLocks noGrp="1"/>
          </p:cNvSpPr>
          <p:nvPr>
            <p:ph type="body" idx="1"/>
          </p:nvPr>
        </p:nvSpPr>
        <p:spPr bwMode="auto">
          <a:xfrm>
            <a:off x="685800" y="4400550"/>
            <a:ext cx="5486400" cy="3600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a:extLst>
              <a:ext uri="{FF2B5EF4-FFF2-40B4-BE49-F238E27FC236}">
                <a16:creationId xmlns:a16="http://schemas.microsoft.com/office/drawing/2014/main" id="{120E742D-61F2-3228-27C5-7281ED45F47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5421933C-059E-EF47-A912-C2E4C7D27DE3}" type="slidenum">
              <a:rPr lang="en-US" altLang="zh-CN"/>
              <a:pPr/>
              <a:t>2</a:t>
            </a:fld>
            <a:endParaRPr lang="en-US" altLang="zh-CN"/>
          </a:p>
        </p:txBody>
      </p:sp>
      <p:sp>
        <p:nvSpPr>
          <p:cNvPr id="64515" name="Rectangle 2">
            <a:extLst>
              <a:ext uri="{FF2B5EF4-FFF2-40B4-BE49-F238E27FC236}">
                <a16:creationId xmlns:a16="http://schemas.microsoft.com/office/drawing/2014/main" id="{13A5A4BB-EE34-7BB2-DC92-C1D8C80F13B9}"/>
              </a:ext>
            </a:extLst>
          </p:cNvPr>
          <p:cNvSpPr>
            <a:spLocks noGrp="1" noRot="1" noChangeAspect="1" noChangeArrowheads="1" noTextEdit="1"/>
          </p:cNvSpPr>
          <p:nvPr>
            <p:ph type="sldImg"/>
          </p:nvPr>
        </p:nvSpPr>
        <p:spPr bwMode="auto">
          <a:xfrm>
            <a:off x="1198563" y="704850"/>
            <a:ext cx="4638675" cy="34782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4516" name="Rectangle 3">
            <a:extLst>
              <a:ext uri="{FF2B5EF4-FFF2-40B4-BE49-F238E27FC236}">
                <a16:creationId xmlns:a16="http://schemas.microsoft.com/office/drawing/2014/main" id="{F380BCC0-AE66-F5CB-93F1-4FB9501224A2}"/>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空型指针是一种特殊类型的指针。在</a:t>
            </a:r>
            <a:r>
              <a:rPr lang="en-US" altLang="zh-CN" dirty="0"/>
              <a:t>C++</a:t>
            </a:r>
            <a:r>
              <a:rPr lang="zh-CN" altLang="en-US" dirty="0"/>
              <a:t>中，</a:t>
            </a:r>
            <a:r>
              <a:rPr lang="en-US" altLang="zh-CN" dirty="0"/>
              <a:t>void </a:t>
            </a:r>
            <a:r>
              <a:rPr lang="zh-CN" altLang="en-US" dirty="0"/>
              <a:t>表示缺少类型，因此 </a:t>
            </a:r>
            <a:r>
              <a:rPr lang="en-US" altLang="zh-CN" dirty="0"/>
              <a:t>void </a:t>
            </a:r>
            <a:r>
              <a:rPr lang="zh-CN" altLang="en-US" dirty="0"/>
              <a:t>指针是指向没有类型的值的指针（因此也是不确定的长度和不确定的取消引用属性）。</a:t>
            </a:r>
            <a:endParaRPr lang="en-US" altLang="zh-CN" dirty="0"/>
          </a:p>
          <a:p>
            <a:r>
              <a:rPr lang="zh-CN" altLang="en-US" dirty="0"/>
              <a:t>这允许 </a:t>
            </a:r>
            <a:r>
              <a:rPr lang="en-US" altLang="zh-CN" dirty="0"/>
              <a:t>void </a:t>
            </a:r>
            <a:r>
              <a:rPr lang="zh-CN" altLang="en-US" dirty="0"/>
              <a:t>指针指向任何数据类型，从整数值或浮点数到字符串。</a:t>
            </a:r>
            <a:endParaRPr lang="en-US" altLang="zh-CN" dirty="0"/>
          </a:p>
          <a:p>
            <a:endParaRPr lang="en-US" altLang="zh-CN" dirty="0"/>
          </a:p>
          <a:p>
            <a:r>
              <a:rPr lang="zh-CN" altLang="en-US" dirty="0"/>
              <a:t>但是作为交换，它们有很大的局限性：它们指向的数据不能直接取消引用（这是合乎逻辑的，因为我们没有要取消引用的类型），因此，在取消引用之前，我们始终必须将 </a:t>
            </a:r>
            <a:r>
              <a:rPr lang="en-US" altLang="zh-CN" dirty="0"/>
              <a:t>void </a:t>
            </a:r>
            <a:r>
              <a:rPr lang="zh-CN" altLang="en-US" dirty="0"/>
              <a:t>指针中的地址强制转换为指向具体数据类型的其他指针类型。</a:t>
            </a:r>
          </a:p>
          <a:p>
            <a:endParaRPr lang="zh-CN" altLang="en-US" dirty="0"/>
          </a:p>
          <a:p>
            <a:endParaRPr lang="zh-CN" altLang="en-US" dirty="0"/>
          </a:p>
          <a:p>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5">
            <a:extLst>
              <a:ext uri="{FF2B5EF4-FFF2-40B4-BE49-F238E27FC236}">
                <a16:creationId xmlns:a16="http://schemas.microsoft.com/office/drawing/2014/main" id="{C9B8161B-DF3E-2B89-240B-55262026E00C}"/>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151AD733-350E-2747-94F1-14FA2CF23370}" type="slidenum">
              <a:rPr lang="en-US" altLang="zh-CN"/>
              <a:pPr/>
              <a:t>3</a:t>
            </a:fld>
            <a:endParaRPr lang="en-US" altLang="zh-CN"/>
          </a:p>
        </p:txBody>
      </p:sp>
      <p:sp>
        <p:nvSpPr>
          <p:cNvPr id="65539" name="Rectangle 2">
            <a:extLst>
              <a:ext uri="{FF2B5EF4-FFF2-40B4-BE49-F238E27FC236}">
                <a16:creationId xmlns:a16="http://schemas.microsoft.com/office/drawing/2014/main" id="{A67803E7-7488-37E7-3A1A-B28B993A547A}"/>
              </a:ext>
            </a:extLst>
          </p:cNvPr>
          <p:cNvSpPr>
            <a:spLocks noGrp="1" noRot="1" noChangeAspect="1" noChangeArrowheads="1" noTextEdit="1"/>
          </p:cNvSpPr>
          <p:nvPr>
            <p:ph type="sldImg"/>
          </p:nvPr>
        </p:nvSpPr>
        <p:spPr bwMode="auto">
          <a:xfrm>
            <a:off x="1198563" y="704850"/>
            <a:ext cx="4638675" cy="34782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5540" name="Rectangle 3">
            <a:extLst>
              <a:ext uri="{FF2B5EF4-FFF2-40B4-BE49-F238E27FC236}">
                <a16:creationId xmlns:a16="http://schemas.microsoft.com/office/drawing/2014/main" id="{9441309B-A761-D71D-2721-80B69FD6ED9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备注占位符 2"/>
          <p:cNvSpPr>
            <a:spLocks noGrp="1"/>
          </p:cNvSpPr>
          <p:nvPr>
            <p:ph type="body" idx="1"/>
          </p:nvPr>
        </p:nvSpPr>
        <p:spPr>
          <a:xfrm>
            <a:off x="685800" y="4400550"/>
            <a:ext cx="5486400" cy="3600450"/>
          </a:xfrm>
          <a:prstGeom prst="rect">
            <a:avLst/>
          </a:prstGeom>
        </p:spPr>
        <p:txBody>
          <a:bodyPr/>
          <a:lstStyle/>
          <a:p>
            <a:endParaRPr kumimoji="1" lang="zh-CN" altLang="en-US" dirty="0"/>
          </a:p>
        </p:txBody>
      </p:sp>
    </p:spTree>
    <p:extLst>
      <p:ext uri="{BB962C8B-B14F-4D97-AF65-F5344CB8AC3E}">
        <p14:creationId xmlns:p14="http://schemas.microsoft.com/office/powerpoint/2010/main" val="47153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dirty="0"/>
          </a:p>
        </p:txBody>
      </p:sp>
    </p:spTree>
    <p:extLst>
      <p:ext uri="{BB962C8B-B14F-4D97-AF65-F5344CB8AC3E}">
        <p14:creationId xmlns:p14="http://schemas.microsoft.com/office/powerpoint/2010/main" val="30050282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tju.edu.cn/yx/images/badge.gif" TargetMode="Externa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9">
            <a:extLst>
              <a:ext uri="{FF2B5EF4-FFF2-40B4-BE49-F238E27FC236}">
                <a16:creationId xmlns:a16="http://schemas.microsoft.com/office/drawing/2014/main" id="{A44DF93D-33F5-40E5-B2B2-DB371CFE6CCF}"/>
              </a:ext>
            </a:extLst>
          </p:cNvPr>
          <p:cNvGrpSpPr>
            <a:grpSpLocks/>
          </p:cNvGrpSpPr>
          <p:nvPr/>
        </p:nvGrpSpPr>
        <p:grpSpPr bwMode="auto">
          <a:xfrm>
            <a:off x="1143000" y="628650"/>
            <a:ext cx="8012113" cy="2571750"/>
            <a:chOff x="720" y="396"/>
            <a:chExt cx="5047" cy="1620"/>
          </a:xfrm>
        </p:grpSpPr>
        <p:sp>
          <p:nvSpPr>
            <p:cNvPr id="3" name="Rectangle 18">
              <a:extLst>
                <a:ext uri="{FF2B5EF4-FFF2-40B4-BE49-F238E27FC236}">
                  <a16:creationId xmlns:a16="http://schemas.microsoft.com/office/drawing/2014/main" id="{0E5F3E98-9A91-AFA8-8F13-BF252058BBF2}"/>
                </a:ext>
              </a:extLst>
            </p:cNvPr>
            <p:cNvSpPr>
              <a:spLocks noChangeArrowheads="1"/>
            </p:cNvSpPr>
            <p:nvPr userDrawn="1"/>
          </p:nvSpPr>
          <p:spPr bwMode="gray">
            <a:xfrm>
              <a:off x="1081" y="396"/>
              <a:ext cx="4686" cy="1596"/>
            </a:xfrm>
            <a:prstGeom prst="rect">
              <a:avLst/>
            </a:prstGeom>
            <a:solidFill>
              <a:schemeClr val="fo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4" name="Rectangle 28">
              <a:extLst>
                <a:ext uri="{FF2B5EF4-FFF2-40B4-BE49-F238E27FC236}">
                  <a16:creationId xmlns:a16="http://schemas.microsoft.com/office/drawing/2014/main" id="{A29FD4BF-2410-247B-1162-8B48DC9122B5}"/>
                </a:ext>
              </a:extLst>
            </p:cNvPr>
            <p:cNvSpPr>
              <a:spLocks noChangeArrowheads="1"/>
            </p:cNvSpPr>
            <p:nvPr userDrawn="1"/>
          </p:nvSpPr>
          <p:spPr bwMode="gray">
            <a:xfrm>
              <a:off x="720" y="1440"/>
              <a:ext cx="576" cy="576"/>
            </a:xfrm>
            <a:prstGeom prst="rect">
              <a:avLst/>
            </a:prstGeom>
            <a:solidFill>
              <a:schemeClr val="folHlink"/>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grpSp>
      <p:sp>
        <p:nvSpPr>
          <p:cNvPr id="5" name="Rectangle 17">
            <a:extLst>
              <a:ext uri="{FF2B5EF4-FFF2-40B4-BE49-F238E27FC236}">
                <a16:creationId xmlns:a16="http://schemas.microsoft.com/office/drawing/2014/main" id="{15A68F40-9601-E05A-A561-928C059AB4D5}"/>
              </a:ext>
            </a:extLst>
          </p:cNvPr>
          <p:cNvSpPr>
            <a:spLocks noChangeArrowheads="1"/>
          </p:cNvSpPr>
          <p:nvPr/>
        </p:nvSpPr>
        <p:spPr bwMode="gray">
          <a:xfrm>
            <a:off x="1130300" y="3141663"/>
            <a:ext cx="8013700" cy="574675"/>
          </a:xfrm>
          <a:prstGeom prst="rect">
            <a:avLst/>
          </a:prstGeom>
          <a:solidFill>
            <a:schemeClr val="tx2"/>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6" name="Rectangle 19">
            <a:extLst>
              <a:ext uri="{FF2B5EF4-FFF2-40B4-BE49-F238E27FC236}">
                <a16:creationId xmlns:a16="http://schemas.microsoft.com/office/drawing/2014/main" id="{2A48A222-8ED6-F249-FA7F-120093BC6DBF}"/>
              </a:ext>
            </a:extLst>
          </p:cNvPr>
          <p:cNvSpPr>
            <a:spLocks noChangeArrowheads="1"/>
          </p:cNvSpPr>
          <p:nvPr/>
        </p:nvSpPr>
        <p:spPr bwMode="gray">
          <a:xfrm>
            <a:off x="573088" y="2520950"/>
            <a:ext cx="576262" cy="641350"/>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7" name="Rectangle 20">
            <a:extLst>
              <a:ext uri="{FF2B5EF4-FFF2-40B4-BE49-F238E27FC236}">
                <a16:creationId xmlns:a16="http://schemas.microsoft.com/office/drawing/2014/main" id="{0F919C43-D2D0-A3C9-059E-BF0E0AF05275}"/>
              </a:ext>
            </a:extLst>
          </p:cNvPr>
          <p:cNvSpPr>
            <a:spLocks noChangeArrowheads="1"/>
          </p:cNvSpPr>
          <p:nvPr/>
        </p:nvSpPr>
        <p:spPr bwMode="gray">
          <a:xfrm>
            <a:off x="1716088" y="628650"/>
            <a:ext cx="566737" cy="636588"/>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8" name="Rectangle 21">
            <a:extLst>
              <a:ext uri="{FF2B5EF4-FFF2-40B4-BE49-F238E27FC236}">
                <a16:creationId xmlns:a16="http://schemas.microsoft.com/office/drawing/2014/main" id="{7A815979-94F3-02AE-8FEE-38E526D6E3FC}"/>
              </a:ext>
            </a:extLst>
          </p:cNvPr>
          <p:cNvSpPr>
            <a:spLocks noChangeArrowheads="1"/>
          </p:cNvSpPr>
          <p:nvPr/>
        </p:nvSpPr>
        <p:spPr bwMode="gray">
          <a:xfrm>
            <a:off x="2278063" y="0"/>
            <a:ext cx="585787" cy="635000"/>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9" name="Rectangle 22">
            <a:extLst>
              <a:ext uri="{FF2B5EF4-FFF2-40B4-BE49-F238E27FC236}">
                <a16:creationId xmlns:a16="http://schemas.microsoft.com/office/drawing/2014/main" id="{BC87BF8A-78FD-5871-8981-F355109042BD}"/>
              </a:ext>
            </a:extLst>
          </p:cNvPr>
          <p:cNvSpPr>
            <a:spLocks noChangeArrowheads="1"/>
          </p:cNvSpPr>
          <p:nvPr/>
        </p:nvSpPr>
        <p:spPr bwMode="gray">
          <a:xfrm>
            <a:off x="2281238" y="628650"/>
            <a:ext cx="585787" cy="631825"/>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 name="Rectangle 23">
            <a:extLst>
              <a:ext uri="{FF2B5EF4-FFF2-40B4-BE49-F238E27FC236}">
                <a16:creationId xmlns:a16="http://schemas.microsoft.com/office/drawing/2014/main" id="{75673D8C-AC3E-BA71-9596-46E9CAF2F896}"/>
              </a:ext>
            </a:extLst>
          </p:cNvPr>
          <p:cNvSpPr>
            <a:spLocks noChangeArrowheads="1"/>
          </p:cNvSpPr>
          <p:nvPr/>
        </p:nvSpPr>
        <p:spPr bwMode="gray">
          <a:xfrm>
            <a:off x="1141413" y="1262063"/>
            <a:ext cx="574675" cy="625475"/>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1" name="Rectangle 24">
            <a:extLst>
              <a:ext uri="{FF2B5EF4-FFF2-40B4-BE49-F238E27FC236}">
                <a16:creationId xmlns:a16="http://schemas.microsoft.com/office/drawing/2014/main" id="{68FFF737-FC77-8835-9AB6-AC781D497690}"/>
              </a:ext>
            </a:extLst>
          </p:cNvPr>
          <p:cNvSpPr>
            <a:spLocks noChangeArrowheads="1"/>
          </p:cNvSpPr>
          <p:nvPr/>
        </p:nvSpPr>
        <p:spPr bwMode="gray">
          <a:xfrm>
            <a:off x="1716088" y="1263650"/>
            <a:ext cx="566737" cy="622300"/>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2" name="Rectangle 25">
            <a:extLst>
              <a:ext uri="{FF2B5EF4-FFF2-40B4-BE49-F238E27FC236}">
                <a16:creationId xmlns:a16="http://schemas.microsoft.com/office/drawing/2014/main" id="{E28E4BF2-E36A-022F-67DD-3E2A71E08110}"/>
              </a:ext>
            </a:extLst>
          </p:cNvPr>
          <p:cNvSpPr>
            <a:spLocks noChangeArrowheads="1"/>
          </p:cNvSpPr>
          <p:nvPr/>
        </p:nvSpPr>
        <p:spPr bwMode="gray">
          <a:xfrm>
            <a:off x="573088" y="1885950"/>
            <a:ext cx="576262" cy="644525"/>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3" name="Rectangle 26">
            <a:extLst>
              <a:ext uri="{FF2B5EF4-FFF2-40B4-BE49-F238E27FC236}">
                <a16:creationId xmlns:a16="http://schemas.microsoft.com/office/drawing/2014/main" id="{1C5FCCE7-488B-076B-0F22-B8AF37536225}"/>
              </a:ext>
            </a:extLst>
          </p:cNvPr>
          <p:cNvSpPr>
            <a:spLocks noChangeArrowheads="1"/>
          </p:cNvSpPr>
          <p:nvPr/>
        </p:nvSpPr>
        <p:spPr bwMode="gray">
          <a:xfrm>
            <a:off x="1141413" y="1885950"/>
            <a:ext cx="576262" cy="644525"/>
          </a:xfrm>
          <a:prstGeom prst="rect">
            <a:avLst/>
          </a:prstGeom>
          <a:solidFill>
            <a:schemeClr val="accent2"/>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4" name="Rectangle 27">
            <a:extLst>
              <a:ext uri="{FF2B5EF4-FFF2-40B4-BE49-F238E27FC236}">
                <a16:creationId xmlns:a16="http://schemas.microsoft.com/office/drawing/2014/main" id="{A8A073DB-01BB-6A35-E23F-2F44A6A3C455}"/>
              </a:ext>
            </a:extLst>
          </p:cNvPr>
          <p:cNvSpPr>
            <a:spLocks noChangeArrowheads="1"/>
          </p:cNvSpPr>
          <p:nvPr/>
        </p:nvSpPr>
        <p:spPr bwMode="gray">
          <a:xfrm>
            <a:off x="0" y="2528888"/>
            <a:ext cx="574675" cy="633412"/>
          </a:xfrm>
          <a:prstGeom prst="rect">
            <a:avLst/>
          </a:prstGeom>
          <a:solidFill>
            <a:schemeClr va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pic>
        <p:nvPicPr>
          <p:cNvPr id="15" name="Picture 30" descr="http://www.tju.edu.cn/yx/images/badge.gif">
            <a:extLst>
              <a:ext uri="{FF2B5EF4-FFF2-40B4-BE49-F238E27FC236}">
                <a16:creationId xmlns:a16="http://schemas.microsoft.com/office/drawing/2014/main" id="{7FEF8254-28A9-73ED-43AE-B8D2C8C917EE}"/>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0" y="0"/>
            <a:ext cx="7921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bwMode="gray">
          <a:xfrm>
            <a:off x="1752600" y="1800225"/>
            <a:ext cx="6629400" cy="1012825"/>
          </a:xfrm>
        </p:spPr>
        <p:txBody>
          <a:bodyPr/>
          <a:lstStyle>
            <a:lvl1pPr algn="ctr">
              <a:defRPr sz="4400" i="1">
                <a:latin typeface="Verdana" pitchFamily="34" charset="0"/>
              </a:defRPr>
            </a:lvl1pPr>
          </a:lstStyle>
          <a:p>
            <a:r>
              <a:rPr lang="zh-CN" altLang="en-US"/>
              <a:t>单击此处编辑母版标题样式</a:t>
            </a:r>
            <a:endParaRPr lang="en-US" altLang="zh-CN"/>
          </a:p>
        </p:txBody>
      </p:sp>
      <p:sp>
        <p:nvSpPr>
          <p:cNvPr id="3075" name="Rectangle 3"/>
          <p:cNvSpPr>
            <a:spLocks noGrp="1" noChangeArrowheads="1"/>
          </p:cNvSpPr>
          <p:nvPr>
            <p:ph type="subTitle" idx="1"/>
          </p:nvPr>
        </p:nvSpPr>
        <p:spPr bwMode="gray">
          <a:xfrm>
            <a:off x="1600200" y="3276600"/>
            <a:ext cx="6324600" cy="381000"/>
          </a:xfrm>
        </p:spPr>
        <p:txBody>
          <a:bodyPr/>
          <a:lstStyle>
            <a:lvl1pPr marL="0" indent="0" algn="ctr">
              <a:buFont typeface="Wingdings" pitchFamily="2" charset="2"/>
              <a:buNone/>
              <a:defRPr sz="1800" b="0">
                <a:solidFill>
                  <a:schemeClr val="bg1"/>
                </a:solidFill>
              </a:defRPr>
            </a:lvl1pPr>
          </a:lstStyle>
          <a:p>
            <a:r>
              <a:rPr lang="zh-CN" altLang="en-US"/>
              <a:t>单击此处编辑母版副标题样式</a:t>
            </a:r>
            <a:endParaRPr lang="en-US" altLang="zh-CN"/>
          </a:p>
        </p:txBody>
      </p:sp>
    </p:spTree>
    <p:extLst>
      <p:ext uri="{BB962C8B-B14F-4D97-AF65-F5344CB8AC3E}">
        <p14:creationId xmlns:p14="http://schemas.microsoft.com/office/powerpoint/2010/main" val="427442878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17D92C2-444C-3A0A-81DF-A8591A5A0D66}"/>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FD9641F2-CDF5-8F0C-AE40-59F88AE615C4}"/>
              </a:ext>
            </a:extLst>
          </p:cNvPr>
          <p:cNvSpPr>
            <a:spLocks noGrp="1" noChangeArrowheads="1"/>
          </p:cNvSpPr>
          <p:nvPr>
            <p:ph type="sldNum" sz="quarter" idx="10"/>
          </p:nvPr>
        </p:nvSpPr>
        <p:spPr/>
        <p:txBody>
          <a:bodyPr/>
          <a:lstStyle>
            <a:lvl1pPr>
              <a:defRPr/>
            </a:lvl1pPr>
          </a:lstStyle>
          <a:p>
            <a:fld id="{DB5AB315-7D15-B243-BEC3-4830B2B601CC}" type="slidenum">
              <a:rPr lang="en-US" altLang="zh-CN"/>
              <a:pPr/>
              <a:t>‹#›</a:t>
            </a:fld>
            <a:endParaRPr lang="en-US" altLang="zh-CN"/>
          </a:p>
        </p:txBody>
      </p:sp>
    </p:spTree>
    <p:extLst>
      <p:ext uri="{BB962C8B-B14F-4D97-AF65-F5344CB8AC3E}">
        <p14:creationId xmlns:p14="http://schemas.microsoft.com/office/powerpoint/2010/main" val="133737817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46E9E4D-927B-EE08-23FE-7EA01B358DFA}"/>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AD9D9F8-47D2-18CD-16EA-50F4800188F5}"/>
              </a:ext>
            </a:extLst>
          </p:cNvPr>
          <p:cNvSpPr>
            <a:spLocks noGrp="1" noChangeArrowheads="1"/>
          </p:cNvSpPr>
          <p:nvPr>
            <p:ph type="sldNum" sz="quarter" idx="10"/>
          </p:nvPr>
        </p:nvSpPr>
        <p:spPr/>
        <p:txBody>
          <a:bodyPr/>
          <a:lstStyle>
            <a:lvl1pPr>
              <a:defRPr/>
            </a:lvl1pPr>
          </a:lstStyle>
          <a:p>
            <a:fld id="{617E30A4-23AE-8242-ABA9-1A2382A5CD29}" type="slidenum">
              <a:rPr lang="en-US" altLang="zh-CN"/>
              <a:pPr/>
              <a:t>‹#›</a:t>
            </a:fld>
            <a:endParaRPr lang="en-US" altLang="zh-CN"/>
          </a:p>
        </p:txBody>
      </p:sp>
    </p:spTree>
    <p:extLst>
      <p:ext uri="{BB962C8B-B14F-4D97-AF65-F5344CB8AC3E}">
        <p14:creationId xmlns:p14="http://schemas.microsoft.com/office/powerpoint/2010/main" val="16294059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D89A6B4-C231-50B0-3E2A-184015C65F1E}"/>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95288" y="1125538"/>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586288" y="1125538"/>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a:extLst>
              <a:ext uri="{FF2B5EF4-FFF2-40B4-BE49-F238E27FC236}">
                <a16:creationId xmlns:a16="http://schemas.microsoft.com/office/drawing/2014/main" id="{174C7A21-7701-C06E-2D48-3054A2195CD7}"/>
              </a:ext>
            </a:extLst>
          </p:cNvPr>
          <p:cNvSpPr>
            <a:spLocks noGrp="1" noChangeArrowheads="1"/>
          </p:cNvSpPr>
          <p:nvPr>
            <p:ph type="sldNum" sz="quarter" idx="10"/>
          </p:nvPr>
        </p:nvSpPr>
        <p:spPr/>
        <p:txBody>
          <a:bodyPr/>
          <a:lstStyle>
            <a:lvl1pPr>
              <a:defRPr/>
            </a:lvl1pPr>
          </a:lstStyle>
          <a:p>
            <a:fld id="{AAAE7B2D-08AC-1F46-8787-3988AF1D92B8}" type="slidenum">
              <a:rPr lang="en-US" altLang="zh-CN"/>
              <a:pPr/>
              <a:t>‹#›</a:t>
            </a:fld>
            <a:endParaRPr lang="en-US" altLang="zh-CN"/>
          </a:p>
        </p:txBody>
      </p:sp>
    </p:spTree>
    <p:extLst>
      <p:ext uri="{BB962C8B-B14F-4D97-AF65-F5344CB8AC3E}">
        <p14:creationId xmlns:p14="http://schemas.microsoft.com/office/powerpoint/2010/main" val="97296008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E1582B51-B47F-CF1B-759C-76861604FAA8}"/>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Rectangle 6">
            <a:extLst>
              <a:ext uri="{FF2B5EF4-FFF2-40B4-BE49-F238E27FC236}">
                <a16:creationId xmlns:a16="http://schemas.microsoft.com/office/drawing/2014/main" id="{EB9FF3C2-747A-AA77-A9B5-4280F66AEE66}"/>
              </a:ext>
            </a:extLst>
          </p:cNvPr>
          <p:cNvSpPr>
            <a:spLocks noGrp="1" noChangeArrowheads="1"/>
          </p:cNvSpPr>
          <p:nvPr>
            <p:ph type="sldNum" sz="quarter" idx="10"/>
          </p:nvPr>
        </p:nvSpPr>
        <p:spPr/>
        <p:txBody>
          <a:bodyPr/>
          <a:lstStyle>
            <a:lvl1pPr>
              <a:defRPr/>
            </a:lvl1pPr>
          </a:lstStyle>
          <a:p>
            <a:fld id="{E652A132-2956-0E48-A619-8CBD431B6CE2}" type="slidenum">
              <a:rPr lang="en-US" altLang="zh-CN"/>
              <a:pPr/>
              <a:t>‹#›</a:t>
            </a:fld>
            <a:endParaRPr lang="en-US" altLang="zh-CN"/>
          </a:p>
        </p:txBody>
      </p:sp>
    </p:spTree>
    <p:extLst>
      <p:ext uri="{BB962C8B-B14F-4D97-AF65-F5344CB8AC3E}">
        <p14:creationId xmlns:p14="http://schemas.microsoft.com/office/powerpoint/2010/main" val="377649213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0BAAFF2-301D-5D10-3E09-813D8D4FC04E}"/>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4" name="Rectangle 6">
            <a:extLst>
              <a:ext uri="{FF2B5EF4-FFF2-40B4-BE49-F238E27FC236}">
                <a16:creationId xmlns:a16="http://schemas.microsoft.com/office/drawing/2014/main" id="{58C29754-86CF-C6C8-8B78-F6A544FC7573}"/>
              </a:ext>
            </a:extLst>
          </p:cNvPr>
          <p:cNvSpPr>
            <a:spLocks noGrp="1" noChangeArrowheads="1"/>
          </p:cNvSpPr>
          <p:nvPr>
            <p:ph type="sldNum" sz="quarter" idx="10"/>
          </p:nvPr>
        </p:nvSpPr>
        <p:spPr/>
        <p:txBody>
          <a:bodyPr/>
          <a:lstStyle>
            <a:lvl1pPr>
              <a:defRPr/>
            </a:lvl1pPr>
          </a:lstStyle>
          <a:p>
            <a:fld id="{723237F0-34C2-0648-8FAA-95AC2B036657}" type="slidenum">
              <a:rPr lang="en-US" altLang="zh-CN"/>
              <a:pPr/>
              <a:t>‹#›</a:t>
            </a:fld>
            <a:endParaRPr lang="en-US" altLang="zh-CN"/>
          </a:p>
        </p:txBody>
      </p:sp>
    </p:spTree>
    <p:extLst>
      <p:ext uri="{BB962C8B-B14F-4D97-AF65-F5344CB8AC3E}">
        <p14:creationId xmlns:p14="http://schemas.microsoft.com/office/powerpoint/2010/main" val="23116922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2362E70-1CAC-52E4-093E-3CB16091AA0C}"/>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3" name="Rectangle 6">
            <a:extLst>
              <a:ext uri="{FF2B5EF4-FFF2-40B4-BE49-F238E27FC236}">
                <a16:creationId xmlns:a16="http://schemas.microsoft.com/office/drawing/2014/main" id="{063BDEFB-08AA-B75D-E8E8-C047B87D4B7B}"/>
              </a:ext>
            </a:extLst>
          </p:cNvPr>
          <p:cNvSpPr>
            <a:spLocks noGrp="1" noChangeArrowheads="1"/>
          </p:cNvSpPr>
          <p:nvPr>
            <p:ph type="sldNum" sz="quarter" idx="10"/>
          </p:nvPr>
        </p:nvSpPr>
        <p:spPr/>
        <p:txBody>
          <a:bodyPr/>
          <a:lstStyle>
            <a:lvl1pPr>
              <a:defRPr/>
            </a:lvl1pPr>
          </a:lstStyle>
          <a:p>
            <a:fld id="{67B54F8B-3089-B74A-B6E7-03D34CABF445}" type="slidenum">
              <a:rPr lang="en-US" altLang="zh-CN"/>
              <a:pPr/>
              <a:t>‹#›</a:t>
            </a:fld>
            <a:endParaRPr lang="en-US" altLang="zh-CN"/>
          </a:p>
        </p:txBody>
      </p:sp>
    </p:spTree>
    <p:extLst>
      <p:ext uri="{BB962C8B-B14F-4D97-AF65-F5344CB8AC3E}">
        <p14:creationId xmlns:p14="http://schemas.microsoft.com/office/powerpoint/2010/main" val="387150662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185228A-D372-9FF3-061B-F09F141A453E}"/>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Rectangle 6">
            <a:extLst>
              <a:ext uri="{FF2B5EF4-FFF2-40B4-BE49-F238E27FC236}">
                <a16:creationId xmlns:a16="http://schemas.microsoft.com/office/drawing/2014/main" id="{681BBAFF-26CD-ADAB-D191-0AEBF4D428EF}"/>
              </a:ext>
            </a:extLst>
          </p:cNvPr>
          <p:cNvSpPr>
            <a:spLocks noGrp="1" noChangeArrowheads="1"/>
          </p:cNvSpPr>
          <p:nvPr>
            <p:ph type="sldNum" sz="quarter" idx="10"/>
          </p:nvPr>
        </p:nvSpPr>
        <p:spPr/>
        <p:txBody>
          <a:bodyPr/>
          <a:lstStyle>
            <a:lvl1pPr>
              <a:defRPr/>
            </a:lvl1pPr>
          </a:lstStyle>
          <a:p>
            <a:fld id="{2F556213-A81F-E94B-8F5B-5845E81BCFA5}" type="slidenum">
              <a:rPr lang="en-US" altLang="zh-CN"/>
              <a:pPr/>
              <a:t>‹#›</a:t>
            </a:fld>
            <a:endParaRPr lang="en-US" altLang="zh-CN"/>
          </a:p>
        </p:txBody>
      </p:sp>
    </p:spTree>
    <p:extLst>
      <p:ext uri="{BB962C8B-B14F-4D97-AF65-F5344CB8AC3E}">
        <p14:creationId xmlns:p14="http://schemas.microsoft.com/office/powerpoint/2010/main" val="106338292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31B3B0F-9262-EA16-493B-5343BFB1636C}"/>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4">
            <a:extLst>
              <a:ext uri="{FF2B5EF4-FFF2-40B4-BE49-F238E27FC236}">
                <a16:creationId xmlns:a16="http://schemas.microsoft.com/office/drawing/2014/main" id="{F5BFDD4A-4DE2-15DA-19A1-A559224BEB6D}"/>
              </a:ext>
            </a:extLst>
          </p:cNvPr>
          <p:cNvSpPr>
            <a:spLocks noGrp="1"/>
          </p:cNvSpPr>
          <p:nvPr>
            <p:ph type="sldNum" sz="quarter" idx="10"/>
          </p:nvPr>
        </p:nvSpPr>
        <p:spPr/>
        <p:txBody>
          <a:bodyPr/>
          <a:lstStyle>
            <a:lvl1pPr>
              <a:defRPr/>
            </a:lvl1pPr>
          </a:lstStyle>
          <a:p>
            <a:fld id="{52C3EFA3-C92D-034B-80C2-AE8D66B217CF}" type="slidenum">
              <a:rPr lang="en-US" altLang="zh-CN"/>
              <a:pPr/>
              <a:t>‹#›</a:t>
            </a:fld>
            <a:endParaRPr lang="en-US" altLang="zh-CN"/>
          </a:p>
        </p:txBody>
      </p:sp>
      <p:sp>
        <p:nvSpPr>
          <p:cNvPr id="7" name="页脚占位符 5">
            <a:extLst>
              <a:ext uri="{FF2B5EF4-FFF2-40B4-BE49-F238E27FC236}">
                <a16:creationId xmlns:a16="http://schemas.microsoft.com/office/drawing/2014/main" id="{7AB4B362-12A9-84B1-11E9-8975D5C154BE}"/>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5763432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72EF984-00BB-23F4-96A9-48EF6C570F20}"/>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3">
            <a:extLst>
              <a:ext uri="{FF2B5EF4-FFF2-40B4-BE49-F238E27FC236}">
                <a16:creationId xmlns:a16="http://schemas.microsoft.com/office/drawing/2014/main" id="{5FC082C5-4FB9-5496-9AA0-6787C1A06604}"/>
              </a:ext>
            </a:extLst>
          </p:cNvPr>
          <p:cNvSpPr>
            <a:spLocks noGrp="1"/>
          </p:cNvSpPr>
          <p:nvPr>
            <p:ph type="sldNum" sz="quarter" idx="10"/>
          </p:nvPr>
        </p:nvSpPr>
        <p:spPr/>
        <p:txBody>
          <a:bodyPr/>
          <a:lstStyle>
            <a:lvl1pPr>
              <a:defRPr/>
            </a:lvl1pPr>
          </a:lstStyle>
          <a:p>
            <a:fld id="{05EA32A4-85B9-954D-A026-E1DF2DBE2A96}" type="slidenum">
              <a:rPr lang="en-US" altLang="zh-CN"/>
              <a:pPr/>
              <a:t>‹#›</a:t>
            </a:fld>
            <a:endParaRPr lang="en-US" altLang="zh-CN"/>
          </a:p>
        </p:txBody>
      </p:sp>
      <p:sp>
        <p:nvSpPr>
          <p:cNvPr id="6" name="页脚占位符 4">
            <a:extLst>
              <a:ext uri="{FF2B5EF4-FFF2-40B4-BE49-F238E27FC236}">
                <a16:creationId xmlns:a16="http://schemas.microsoft.com/office/drawing/2014/main" id="{E0A49ABD-E567-7508-9DBB-2C1220ADA7EA}"/>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3153206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38799BB-BEBD-C81D-EC83-5AAC284374BE}"/>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竖排标题 1"/>
          <p:cNvSpPr>
            <a:spLocks noGrp="1"/>
          </p:cNvSpPr>
          <p:nvPr>
            <p:ph type="title" orient="vert"/>
          </p:nvPr>
        </p:nvSpPr>
        <p:spPr>
          <a:xfrm>
            <a:off x="6567488" y="457200"/>
            <a:ext cx="2057400" cy="59166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95288" y="457200"/>
            <a:ext cx="6019800" cy="59166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3">
            <a:extLst>
              <a:ext uri="{FF2B5EF4-FFF2-40B4-BE49-F238E27FC236}">
                <a16:creationId xmlns:a16="http://schemas.microsoft.com/office/drawing/2014/main" id="{8F53E06D-37DC-47FB-7747-D802DB533A90}"/>
              </a:ext>
            </a:extLst>
          </p:cNvPr>
          <p:cNvSpPr>
            <a:spLocks noGrp="1"/>
          </p:cNvSpPr>
          <p:nvPr>
            <p:ph type="sldNum" sz="quarter" idx="10"/>
          </p:nvPr>
        </p:nvSpPr>
        <p:spPr/>
        <p:txBody>
          <a:bodyPr/>
          <a:lstStyle>
            <a:lvl1pPr>
              <a:defRPr/>
            </a:lvl1pPr>
          </a:lstStyle>
          <a:p>
            <a:fld id="{3F16E4D8-C380-8748-83B8-B11AC26083AD}" type="slidenum">
              <a:rPr lang="en-US" altLang="zh-CN"/>
              <a:pPr/>
              <a:t>‹#›</a:t>
            </a:fld>
            <a:endParaRPr lang="en-US" altLang="zh-CN"/>
          </a:p>
        </p:txBody>
      </p:sp>
      <p:sp>
        <p:nvSpPr>
          <p:cNvPr id="6" name="页脚占位符 4">
            <a:extLst>
              <a:ext uri="{FF2B5EF4-FFF2-40B4-BE49-F238E27FC236}">
                <a16:creationId xmlns:a16="http://schemas.microsoft.com/office/drawing/2014/main" id="{0FA76F49-2D8A-986A-F3EA-8518FD9FE9CD}"/>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08903085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07B05D9-0BF7-A5BC-A653-837A0DC806D7}"/>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内容占位符 1"/>
          <p:cNvSpPr>
            <a:spLocks noGrp="1"/>
          </p:cNvSpPr>
          <p:nvPr>
            <p:ph/>
          </p:nvPr>
        </p:nvSpPr>
        <p:spPr>
          <a:xfrm>
            <a:off x="395288" y="457200"/>
            <a:ext cx="8229600" cy="59166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灯片编号占位符 2">
            <a:extLst>
              <a:ext uri="{FF2B5EF4-FFF2-40B4-BE49-F238E27FC236}">
                <a16:creationId xmlns:a16="http://schemas.microsoft.com/office/drawing/2014/main" id="{B5BEDB8D-07CA-2C79-EBF6-2AED20EBEC8D}"/>
              </a:ext>
            </a:extLst>
          </p:cNvPr>
          <p:cNvSpPr>
            <a:spLocks noGrp="1"/>
          </p:cNvSpPr>
          <p:nvPr>
            <p:ph type="sldNum" sz="quarter" idx="10"/>
          </p:nvPr>
        </p:nvSpPr>
        <p:spPr/>
        <p:txBody>
          <a:bodyPr/>
          <a:lstStyle>
            <a:lvl1pPr>
              <a:defRPr/>
            </a:lvl1pPr>
          </a:lstStyle>
          <a:p>
            <a:fld id="{AB317E14-C460-5E4F-BEF4-468749BD84D6}" type="slidenum">
              <a:rPr lang="en-US" altLang="zh-CN"/>
              <a:pPr/>
              <a:t>‹#›</a:t>
            </a:fld>
            <a:endParaRPr lang="en-US" altLang="zh-CN"/>
          </a:p>
        </p:txBody>
      </p:sp>
      <p:sp>
        <p:nvSpPr>
          <p:cNvPr id="5" name="页脚占位符 3">
            <a:extLst>
              <a:ext uri="{FF2B5EF4-FFF2-40B4-BE49-F238E27FC236}">
                <a16:creationId xmlns:a16="http://schemas.microsoft.com/office/drawing/2014/main" id="{5F3AC3E0-5CFE-A82C-E9F9-E3FC71C3BD1C}"/>
              </a:ext>
            </a:extLst>
          </p:cNvPr>
          <p:cNvSpPr>
            <a:spLocks noGrp="1"/>
          </p:cNvSpPr>
          <p:nvPr>
            <p:ph type="ftr" sz="quarter" idx="11"/>
          </p:nvPr>
        </p:nvSpPr>
        <p:spPr>
          <a:xfrm>
            <a:off x="684213" y="6165850"/>
            <a:ext cx="7380287" cy="320675"/>
          </a:xfrm>
          <a:prstGeom prst="rect">
            <a:avLst/>
          </a:prstGeom>
        </p:spPr>
        <p:txBody>
          <a:bodyPr vert="horz" wrap="square" lIns="91440" tIns="45720" rIns="91440" bIns="45720" numCol="1" anchor="t" anchorCtr="0" compatLnSpc="1">
            <a:prstTxWarp prst="textNoShape">
              <a:avLst/>
            </a:prstTxWarp>
          </a:bodyPr>
          <a:lstStyle>
            <a:lvl1pPr>
              <a:defRPr/>
            </a:lvl1pPr>
          </a:lstStyle>
          <a:p>
            <a:r>
              <a:rPr lang="en-US" altLang="zh-CN"/>
              <a:t> </a:t>
            </a:r>
            <a:r>
              <a:rPr lang="zh-CN" altLang="en-US"/>
              <a:t> </a:t>
            </a:r>
            <a:r>
              <a:rPr lang="zh-CN" altLang="en-US">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rPr>
              <a:t>坐标测量与定位</a:t>
            </a:r>
            <a:endParaRPr lang="en-US" altLang="zh-CN">
              <a:solidFill>
                <a:schemeClr val="folHlink"/>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235395081"/>
      </p:ext>
    </p:extLst>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0498BFE-0B9A-80C3-F3D5-D1A296F2B1B0}"/>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Title 1"/>
          <p:cNvSpPr>
            <a:spLocks noGrp="1"/>
          </p:cNvSpPr>
          <p:nvPr>
            <p:ph type="title"/>
          </p:nvPr>
        </p:nvSpPr>
        <p:spPr>
          <a:xfrm>
            <a:off x="457200" y="301625"/>
            <a:ext cx="8493125" cy="688975"/>
          </a:xfrm>
        </p:spPr>
        <p:txBody>
          <a:bodyPr/>
          <a:lstStyle/>
          <a:p>
            <a:r>
              <a:rPr lang="en-US" altLang="zh-CN"/>
              <a:t>Click to edit Master title style</a:t>
            </a:r>
            <a:endParaRPr lang="zh-CN" altLang="en-US"/>
          </a:p>
        </p:txBody>
      </p:sp>
      <p:sp>
        <p:nvSpPr>
          <p:cNvPr id="3" name="Table Placeholder 2"/>
          <p:cNvSpPr>
            <a:spLocks noGrp="1"/>
          </p:cNvSpPr>
          <p:nvPr>
            <p:ph type="tbl" idx="1"/>
          </p:nvPr>
        </p:nvSpPr>
        <p:spPr>
          <a:xfrm>
            <a:off x="457200" y="1295400"/>
            <a:ext cx="8455025" cy="4876800"/>
          </a:xfrm>
        </p:spPr>
        <p:txBody>
          <a:bodyPr/>
          <a:lstStyle/>
          <a:p>
            <a:pPr lvl="0"/>
            <a:endParaRPr lang="zh-CN" altLang="en-US" noProof="0"/>
          </a:p>
        </p:txBody>
      </p:sp>
      <p:sp>
        <p:nvSpPr>
          <p:cNvPr id="5" name="Date Placeholder 3">
            <a:extLst>
              <a:ext uri="{FF2B5EF4-FFF2-40B4-BE49-F238E27FC236}">
                <a16:creationId xmlns:a16="http://schemas.microsoft.com/office/drawing/2014/main" id="{380EE7B5-EB38-C5A3-A8F1-C35E78D75ADB}"/>
              </a:ext>
            </a:extLst>
          </p:cNvPr>
          <p:cNvSpPr>
            <a:spLocks noGrp="1"/>
          </p:cNvSpPr>
          <p:nvPr>
            <p:ph type="dt" sz="half" idx="10"/>
          </p:nvPr>
        </p:nvSpPr>
        <p:spPr>
          <a:xfrm>
            <a:off x="0" y="0"/>
            <a:ext cx="0" cy="0"/>
          </a:xfrm>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1B9EBE6F-A61E-91A0-3F2B-9D4F2D212342}"/>
              </a:ext>
            </a:extLst>
          </p:cNvPr>
          <p:cNvSpPr>
            <a:spLocks noGrp="1"/>
          </p:cNvSpPr>
          <p:nvPr>
            <p:ph type="ftr" sz="quarter" idx="11"/>
          </p:nvPr>
        </p:nvSpPr>
        <p:spPr>
          <a:xfrm>
            <a:off x="0" y="0"/>
            <a:ext cx="0" cy="0"/>
          </a:xfrm>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34379BE2-32A0-64D6-5F8D-862A31C351FA}"/>
              </a:ext>
            </a:extLst>
          </p:cNvPr>
          <p:cNvSpPr>
            <a:spLocks noGrp="1"/>
          </p:cNvSpPr>
          <p:nvPr>
            <p:ph type="sldNum" sz="quarter" idx="12"/>
          </p:nvPr>
        </p:nvSpPr>
        <p:spPr/>
        <p:txBody>
          <a:bodyPr/>
          <a:lstStyle>
            <a:lvl1pPr>
              <a:defRPr/>
            </a:lvl1pPr>
          </a:lstStyle>
          <a:p>
            <a:fld id="{F9180A38-18C0-8C43-BFCF-917230FF467D}" type="slidenum">
              <a:rPr lang="en-US" altLang="zh-CN"/>
              <a:pPr/>
              <a:t>‹#›</a:t>
            </a:fld>
            <a:endParaRPr lang="en-US" altLang="zh-CN"/>
          </a:p>
        </p:txBody>
      </p:sp>
    </p:spTree>
    <p:extLst>
      <p:ext uri="{BB962C8B-B14F-4D97-AF65-F5344CB8AC3E}">
        <p14:creationId xmlns:p14="http://schemas.microsoft.com/office/powerpoint/2010/main" val="3081281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2BD3E518-CA58-152C-77A9-BCCFCC223DD2}"/>
              </a:ext>
            </a:extLst>
          </p:cNvPr>
          <p:cNvSpPr txBox="1">
            <a:spLocks noChangeArrowheads="1"/>
          </p:cNvSpPr>
          <p:nvPr userDrawn="1"/>
        </p:nvSpPr>
        <p:spPr bwMode="auto">
          <a:xfrm>
            <a:off x="8428740" y="-4763"/>
            <a:ext cx="715260" cy="338554"/>
          </a:xfrm>
          <a:prstGeom prst="rect">
            <a:avLst/>
          </a:prstGeom>
          <a:noFill/>
          <a:ln>
            <a:noFill/>
          </a:ln>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kumimoji="1" lang="zh-CN" altLang="en-US" sz="1600" dirty="0">
                <a:latin typeface="微软雅黑" panose="020B0503020204020204" pitchFamily="34" charset="-122"/>
                <a:ea typeface="微软雅黑" panose="020B0503020204020204" pitchFamily="34" charset="-122"/>
              </a:rPr>
              <a:t>指针</a:t>
            </a:r>
            <a:r>
              <a:rPr kumimoji="1" lang="en-US" altLang="zh-CN" sz="1600" dirty="0">
                <a:latin typeface="微软雅黑" panose="020B0503020204020204" pitchFamily="34" charset="-122"/>
                <a:ea typeface="微软雅黑" panose="020B0503020204020204" pitchFamily="34" charset="-122"/>
              </a:rPr>
              <a:t>2</a:t>
            </a:r>
            <a:endParaRPr kumimoji="1" lang="zh-CN" altLang="en-US" sz="16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xfrm>
            <a:off x="1371600" y="19050"/>
            <a:ext cx="7696200" cy="12954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524000"/>
            <a:ext cx="4148138" cy="45720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57738" y="1524000"/>
            <a:ext cx="4148137" cy="2209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57738" y="3886200"/>
            <a:ext cx="4148137" cy="2209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页脚占位符 5">
            <a:extLst>
              <a:ext uri="{FF2B5EF4-FFF2-40B4-BE49-F238E27FC236}">
                <a16:creationId xmlns:a16="http://schemas.microsoft.com/office/drawing/2014/main" id="{7873548B-4A9B-D62B-D05A-6C97D77C67CB}"/>
              </a:ext>
            </a:extLst>
          </p:cNvPr>
          <p:cNvSpPr>
            <a:spLocks noGrp="1"/>
          </p:cNvSpPr>
          <p:nvPr>
            <p:ph type="ftr" sz="quarter" idx="10"/>
          </p:nvPr>
        </p:nvSpPr>
        <p:spPr>
          <a:xfrm>
            <a:off x="228600" y="6400800"/>
            <a:ext cx="7569200" cy="457200"/>
          </a:xfrm>
        </p:spPr>
        <p:txBody>
          <a:bodyPr/>
          <a:lstStyle>
            <a:lvl1pPr>
              <a:defRPr/>
            </a:lvl1pPr>
          </a:lstStyle>
          <a:p>
            <a:pPr>
              <a:defRPr/>
            </a:pPr>
            <a:r>
              <a:rPr lang="en-US" altLang="zh-CN"/>
              <a:t>Copyright © 2003 Pearson Education, Inc.</a:t>
            </a:r>
            <a:endParaRPr lang="en-CA" altLang="en-US"/>
          </a:p>
        </p:txBody>
      </p:sp>
      <p:sp>
        <p:nvSpPr>
          <p:cNvPr id="8" name="灯片编号占位符 6">
            <a:extLst>
              <a:ext uri="{FF2B5EF4-FFF2-40B4-BE49-F238E27FC236}">
                <a16:creationId xmlns:a16="http://schemas.microsoft.com/office/drawing/2014/main" id="{9B18CE1E-0AFA-2658-8913-4B8B2B9BA2D9}"/>
              </a:ext>
            </a:extLst>
          </p:cNvPr>
          <p:cNvSpPr>
            <a:spLocks noGrp="1"/>
          </p:cNvSpPr>
          <p:nvPr>
            <p:ph type="sldNum" sz="quarter" idx="11"/>
          </p:nvPr>
        </p:nvSpPr>
        <p:spPr>
          <a:xfrm>
            <a:off x="7050088" y="6400800"/>
            <a:ext cx="1905000" cy="457200"/>
          </a:xfrm>
        </p:spPr>
        <p:txBody>
          <a:bodyPr/>
          <a:lstStyle>
            <a:lvl1pPr>
              <a:defRPr/>
            </a:lvl1pPr>
          </a:lstStyle>
          <a:p>
            <a:r>
              <a:rPr lang="en-US" altLang="zh-CN"/>
              <a:t>Slide </a:t>
            </a:r>
            <a:fld id="{28B261DB-D891-7E49-88A3-028532660DFB}" type="slidenum">
              <a:rPr lang="en-US" altLang="zh-CN"/>
              <a:pPr/>
              <a:t>‹#›</a:t>
            </a:fld>
            <a:endParaRPr lang="en-CA" altLang="en-US"/>
          </a:p>
        </p:txBody>
      </p:sp>
    </p:spTree>
    <p:extLst>
      <p:ext uri="{BB962C8B-B14F-4D97-AF65-F5344CB8AC3E}">
        <p14:creationId xmlns:p14="http://schemas.microsoft.com/office/powerpoint/2010/main" val="18392640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http://www.tju.edu.cn/yx/images/badge.gif" TargetMode="Externa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a:extLst>
              <a:ext uri="{FF2B5EF4-FFF2-40B4-BE49-F238E27FC236}">
                <a16:creationId xmlns:a16="http://schemas.microsoft.com/office/drawing/2014/main" id="{CA654625-B784-385E-E5F5-7919DBB70DB5}"/>
              </a:ext>
            </a:extLst>
          </p:cNvPr>
          <p:cNvSpPr>
            <a:spLocks noChangeArrowheads="1"/>
          </p:cNvSpPr>
          <p:nvPr/>
        </p:nvSpPr>
        <p:spPr bwMode="gray">
          <a:xfrm>
            <a:off x="655638" y="360363"/>
            <a:ext cx="8497887" cy="719137"/>
          </a:xfrm>
          <a:prstGeom prst="rect">
            <a:avLst/>
          </a:prstGeom>
          <a:solidFill>
            <a:schemeClr val="folHlink"/>
          </a:solidFill>
          <a:ln>
            <a:noFill/>
          </a:ln>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27" name="Rectangle 3">
            <a:extLst>
              <a:ext uri="{FF2B5EF4-FFF2-40B4-BE49-F238E27FC236}">
                <a16:creationId xmlns:a16="http://schemas.microsoft.com/office/drawing/2014/main" id="{4B82F725-D415-7712-F36A-A82B7B447649}"/>
              </a:ext>
            </a:extLst>
          </p:cNvPr>
          <p:cNvSpPr>
            <a:spLocks noGrp="1" noChangeArrowheads="1"/>
          </p:cNvSpPr>
          <p:nvPr>
            <p:ph type="body" idx="1"/>
          </p:nvPr>
        </p:nvSpPr>
        <p:spPr bwMode="auto">
          <a:xfrm>
            <a:off x="395288" y="1125538"/>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30" name="Rectangle 6">
            <a:extLst>
              <a:ext uri="{FF2B5EF4-FFF2-40B4-BE49-F238E27FC236}">
                <a16:creationId xmlns:a16="http://schemas.microsoft.com/office/drawing/2014/main" id="{AE89DAFD-210E-D3F7-A207-B841B716A686}"/>
              </a:ext>
            </a:extLst>
          </p:cNvPr>
          <p:cNvSpPr>
            <a:spLocks noGrp="1" noChangeArrowheads="1"/>
          </p:cNvSpPr>
          <p:nvPr>
            <p:ph type="sldNum" sz="quarter" idx="4"/>
          </p:nvPr>
        </p:nvSpPr>
        <p:spPr bwMode="auto">
          <a:xfrm>
            <a:off x="8624888" y="6537325"/>
            <a:ext cx="528637"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600">
                <a:latin typeface="Lucida Sans Unicode" panose="020B0602030504020204" pitchFamily="34" charset="0"/>
                <a:ea typeface="宋体" panose="02010600030101010101" pitchFamily="2" charset="-122"/>
              </a:defRPr>
            </a:lvl1pPr>
          </a:lstStyle>
          <a:p>
            <a:fld id="{310158CC-D635-7144-B0AF-039FF95AFCE1}" type="slidenum">
              <a:rPr lang="en-US" altLang="zh-CN"/>
              <a:pPr/>
              <a:t>‹#›</a:t>
            </a:fld>
            <a:endParaRPr lang="en-US" altLang="zh-CN"/>
          </a:p>
        </p:txBody>
      </p:sp>
      <p:sp>
        <p:nvSpPr>
          <p:cNvPr id="1029" name="Rectangle 2">
            <a:extLst>
              <a:ext uri="{FF2B5EF4-FFF2-40B4-BE49-F238E27FC236}">
                <a16:creationId xmlns:a16="http://schemas.microsoft.com/office/drawing/2014/main" id="{A5FB134A-1F3B-CEC3-4AA0-CF1A258EE916}"/>
              </a:ext>
            </a:extLst>
          </p:cNvPr>
          <p:cNvSpPr>
            <a:spLocks noGrp="1" noChangeArrowheads="1"/>
          </p:cNvSpPr>
          <p:nvPr>
            <p:ph type="title"/>
          </p:nvPr>
        </p:nvSpPr>
        <p:spPr bwMode="white">
          <a:xfrm>
            <a:off x="1143000" y="457200"/>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Rectangle 24">
            <a:extLst>
              <a:ext uri="{FF2B5EF4-FFF2-40B4-BE49-F238E27FC236}">
                <a16:creationId xmlns:a16="http://schemas.microsoft.com/office/drawing/2014/main" id="{C6BEC51C-CDAA-E588-5276-25ADBCF2A848}"/>
              </a:ext>
            </a:extLst>
          </p:cNvPr>
          <p:cNvSpPr>
            <a:spLocks noChangeArrowheads="1"/>
          </p:cNvSpPr>
          <p:nvPr/>
        </p:nvSpPr>
        <p:spPr bwMode="gray">
          <a:xfrm>
            <a:off x="0" y="719138"/>
            <a:ext cx="328613"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1" name="Rectangle 25">
            <a:extLst>
              <a:ext uri="{FF2B5EF4-FFF2-40B4-BE49-F238E27FC236}">
                <a16:creationId xmlns:a16="http://schemas.microsoft.com/office/drawing/2014/main" id="{5E95EB71-3538-3F2D-A0FA-C925B3B801CF}"/>
              </a:ext>
            </a:extLst>
          </p:cNvPr>
          <p:cNvSpPr>
            <a:spLocks noChangeArrowheads="1"/>
          </p:cNvSpPr>
          <p:nvPr/>
        </p:nvSpPr>
        <p:spPr bwMode="gray">
          <a:xfrm>
            <a:off x="328613" y="357188"/>
            <a:ext cx="328612"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2" name="Rectangle 26">
            <a:extLst>
              <a:ext uri="{FF2B5EF4-FFF2-40B4-BE49-F238E27FC236}">
                <a16:creationId xmlns:a16="http://schemas.microsoft.com/office/drawing/2014/main" id="{44BC82E8-45E6-ED54-0E1C-4CA59E243313}"/>
              </a:ext>
            </a:extLst>
          </p:cNvPr>
          <p:cNvSpPr>
            <a:spLocks noChangeArrowheads="1"/>
          </p:cNvSpPr>
          <p:nvPr/>
        </p:nvSpPr>
        <p:spPr bwMode="gray">
          <a:xfrm>
            <a:off x="657225" y="0"/>
            <a:ext cx="328613" cy="361950"/>
          </a:xfrm>
          <a:prstGeom prst="rect">
            <a:avLst/>
          </a:prstGeom>
          <a:solidFill>
            <a:schemeClr val="hlink"/>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3" name="Rectangle 28">
            <a:extLst>
              <a:ext uri="{FF2B5EF4-FFF2-40B4-BE49-F238E27FC236}">
                <a16:creationId xmlns:a16="http://schemas.microsoft.com/office/drawing/2014/main" id="{45DC6F7C-F393-004F-9A1D-C757E47B80E9}"/>
              </a:ext>
            </a:extLst>
          </p:cNvPr>
          <p:cNvSpPr>
            <a:spLocks noChangeArrowheads="1"/>
          </p:cNvSpPr>
          <p:nvPr/>
        </p:nvSpPr>
        <p:spPr bwMode="gray">
          <a:xfrm>
            <a:off x="657225" y="361950"/>
            <a:ext cx="328613" cy="361950"/>
          </a:xfrm>
          <a:prstGeom prst="rect">
            <a:avLst/>
          </a:prstGeom>
          <a:solidFill>
            <a:schemeClr val="accent2"/>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sp>
        <p:nvSpPr>
          <p:cNvPr id="1034" name="Rectangle 29">
            <a:extLst>
              <a:ext uri="{FF2B5EF4-FFF2-40B4-BE49-F238E27FC236}">
                <a16:creationId xmlns:a16="http://schemas.microsoft.com/office/drawing/2014/main" id="{DFD71DE5-18F2-3FDC-768A-7B8DCEBB3489}"/>
              </a:ext>
            </a:extLst>
          </p:cNvPr>
          <p:cNvSpPr>
            <a:spLocks noChangeArrowheads="1"/>
          </p:cNvSpPr>
          <p:nvPr/>
        </p:nvSpPr>
        <p:spPr bwMode="gray">
          <a:xfrm>
            <a:off x="328613" y="719138"/>
            <a:ext cx="328612" cy="361950"/>
          </a:xfrm>
          <a:prstGeom prst="rect">
            <a:avLst/>
          </a:prstGeom>
          <a:solidFill>
            <a:schemeClr val="accent2"/>
          </a:solidFill>
          <a:ln>
            <a:noFill/>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defRPr/>
            </a:pPr>
            <a:endParaRPr lang="zh-CN" altLang="en-US"/>
          </a:p>
        </p:txBody>
      </p:sp>
      <p:pic>
        <p:nvPicPr>
          <p:cNvPr id="1035" name="Picture 31" descr="http://www.tju.edu.cn/yx/images/badge.gif">
            <a:extLst>
              <a:ext uri="{FF2B5EF4-FFF2-40B4-BE49-F238E27FC236}">
                <a16:creationId xmlns:a16="http://schemas.microsoft.com/office/drawing/2014/main" id="{BB351DB4-95D1-1066-6332-9A0ADF8A7C11}"/>
              </a:ext>
            </a:extLst>
          </p:cNvPr>
          <p:cNvPicPr>
            <a:picLocks noChangeAspect="1" noChangeArrowheads="1"/>
          </p:cNvPicPr>
          <p:nvPr/>
        </p:nvPicPr>
        <p:blipFill>
          <a:blip r:embed="rId16" r:link="rId17">
            <a:extLst>
              <a:ext uri="{28A0092B-C50C-407E-A947-70E740481C1C}">
                <a14:useLocalDpi xmlns:a14="http://schemas.microsoft.com/office/drawing/2010/main" val="0"/>
              </a:ext>
            </a:extLst>
          </a:blip>
          <a:srcRect/>
          <a:stretch>
            <a:fillRect/>
          </a:stretch>
        </p:blipFill>
        <p:spPr bwMode="auto">
          <a:xfrm>
            <a:off x="0" y="0"/>
            <a:ext cx="792163"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50" r:id="rId1"/>
    <p:sldLayoutId id="2147484451" r:id="rId2"/>
    <p:sldLayoutId id="2147484452" r:id="rId3"/>
    <p:sldLayoutId id="2147484453" r:id="rId4"/>
    <p:sldLayoutId id="2147484454" r:id="rId5"/>
    <p:sldLayoutId id="2147484455" r:id="rId6"/>
    <p:sldLayoutId id="2147484456" r:id="rId7"/>
    <p:sldLayoutId id="2147484457" r:id="rId8"/>
    <p:sldLayoutId id="2147484458" r:id="rId9"/>
    <p:sldLayoutId id="2147484459" r:id="rId10"/>
    <p:sldLayoutId id="2147484460" r:id="rId11"/>
    <p:sldLayoutId id="2147484461" r:id="rId12"/>
    <p:sldLayoutId id="2147484463" r:id="rId13"/>
    <p:sldLayoutId id="2147484464" r:id="rId14"/>
  </p:sldLayoutIdLst>
  <p:transition>
    <p:fade/>
  </p:transition>
  <p:hf hdr="0" ftr="0" dt="0"/>
  <p:txStyles>
    <p:title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p:titleStyle>
    <p:bodyStyle>
      <a:lvl1pPr marL="342900" indent="-342900" algn="l" rtl="0" eaLnBrk="0" fontAlgn="base" hangingPunct="0">
        <a:spcBef>
          <a:spcPct val="20000"/>
        </a:spcBef>
        <a:spcAft>
          <a:spcPct val="0"/>
        </a:spcAft>
        <a:buClr>
          <a:srgbClr val="0033CC"/>
        </a:buClr>
        <a:buFont typeface="Wingdings" pitchFamily="2" charset="2"/>
        <a:buChar char="Ø"/>
        <a:defRPr sz="2800" b="1">
          <a:solidFill>
            <a:srgbClr val="000099"/>
          </a:solidFill>
          <a:latin typeface="+mn-lt"/>
          <a:ea typeface="+mn-ea"/>
          <a:cs typeface="楷体_GB2312"/>
        </a:defRPr>
      </a:lvl1pPr>
      <a:lvl2pPr marL="742950" indent="-285750" algn="l" rtl="0" eaLnBrk="0" fontAlgn="base" hangingPunct="0">
        <a:spcBef>
          <a:spcPct val="20000"/>
        </a:spcBef>
        <a:spcAft>
          <a:spcPct val="0"/>
        </a:spcAft>
        <a:buClr>
          <a:schemeClr val="accent1"/>
        </a:buClr>
        <a:buFont typeface="Wingdings" pitchFamily="2" charset="2"/>
        <a:buChar char="l"/>
        <a:defRPr sz="2800" b="1">
          <a:solidFill>
            <a:srgbClr val="000099"/>
          </a:solidFill>
          <a:latin typeface="+mn-lt"/>
          <a:ea typeface="+mn-ea"/>
          <a:cs typeface="楷体_GB2312"/>
        </a:defRPr>
      </a:lvl2pPr>
      <a:lvl3pPr marL="1143000" indent="-228600" algn="l" rtl="0" eaLnBrk="0" fontAlgn="base" hangingPunct="0">
        <a:spcBef>
          <a:spcPct val="20000"/>
        </a:spcBef>
        <a:spcAft>
          <a:spcPct val="0"/>
        </a:spcAft>
        <a:buClr>
          <a:srgbClr val="0033CC"/>
        </a:buClr>
        <a:buChar char="•"/>
        <a:defRPr sz="2400" b="1">
          <a:solidFill>
            <a:srgbClr val="000099"/>
          </a:solidFill>
          <a:latin typeface="+mn-lt"/>
          <a:ea typeface="+mn-ea"/>
          <a:cs typeface="楷体_GB2312"/>
        </a:defRPr>
      </a:lvl3pPr>
      <a:lvl4pPr marL="1600200" indent="-228600" algn="l" rtl="0" eaLnBrk="0" fontAlgn="base" hangingPunct="0">
        <a:spcBef>
          <a:spcPct val="20000"/>
        </a:spcBef>
        <a:spcAft>
          <a:spcPct val="0"/>
        </a:spcAft>
        <a:buChar char="–"/>
        <a:defRPr sz="2000" b="1">
          <a:solidFill>
            <a:srgbClr val="000099"/>
          </a:solidFill>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0099"/>
          </a:solidFill>
          <a:latin typeface="+mn-lt"/>
          <a:ea typeface="+mn-ea"/>
          <a:cs typeface="楷体_GB2312"/>
        </a:defRPr>
      </a:lvl5pPr>
      <a:lvl6pPr marL="2514600" indent="-228600" algn="l" rtl="0" eaLnBrk="1" fontAlgn="base" hangingPunct="1">
        <a:spcBef>
          <a:spcPct val="20000"/>
        </a:spcBef>
        <a:spcAft>
          <a:spcPct val="0"/>
        </a:spcAft>
        <a:buChar char="»"/>
        <a:defRPr sz="2000" b="1">
          <a:solidFill>
            <a:srgbClr val="000099"/>
          </a:solidFill>
          <a:latin typeface="+mn-lt"/>
          <a:ea typeface="+mn-ea"/>
        </a:defRPr>
      </a:lvl6pPr>
      <a:lvl7pPr marL="2971800" indent="-228600" algn="l" rtl="0" eaLnBrk="1" fontAlgn="base" hangingPunct="1">
        <a:spcBef>
          <a:spcPct val="20000"/>
        </a:spcBef>
        <a:spcAft>
          <a:spcPct val="0"/>
        </a:spcAft>
        <a:buChar char="»"/>
        <a:defRPr sz="2000" b="1">
          <a:solidFill>
            <a:srgbClr val="000099"/>
          </a:solidFill>
          <a:latin typeface="+mn-lt"/>
          <a:ea typeface="+mn-ea"/>
        </a:defRPr>
      </a:lvl7pPr>
      <a:lvl8pPr marL="3429000" indent="-228600" algn="l" rtl="0" eaLnBrk="1" fontAlgn="base" hangingPunct="1">
        <a:spcBef>
          <a:spcPct val="20000"/>
        </a:spcBef>
        <a:spcAft>
          <a:spcPct val="0"/>
        </a:spcAft>
        <a:buChar char="»"/>
        <a:defRPr sz="2000" b="1">
          <a:solidFill>
            <a:srgbClr val="000099"/>
          </a:solidFill>
          <a:latin typeface="+mn-lt"/>
          <a:ea typeface="+mn-ea"/>
        </a:defRPr>
      </a:lvl8pPr>
      <a:lvl9pPr marL="3886200" indent="-228600" algn="l" rtl="0" eaLnBrk="1" fontAlgn="base" hangingPunct="1">
        <a:spcBef>
          <a:spcPct val="20000"/>
        </a:spcBef>
        <a:spcAft>
          <a:spcPct val="0"/>
        </a:spcAft>
        <a:buChar char="»"/>
        <a:defRPr sz="2000" b="1">
          <a:solidFill>
            <a:srgbClr val="000099"/>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B0A0E785-BC84-0BDB-6041-379BE44756E5}"/>
              </a:ext>
            </a:extLst>
          </p:cNvPr>
          <p:cNvSpPr>
            <a:spLocks noGrp="1" noChangeArrowheads="1"/>
          </p:cNvSpPr>
          <p:nvPr>
            <p:ph type="ctrTitle"/>
          </p:nvPr>
        </p:nvSpPr>
        <p:spPr>
          <a:xfrm>
            <a:off x="609600" y="2209800"/>
            <a:ext cx="8229600" cy="1066800"/>
          </a:xfrm>
        </p:spPr>
        <p:txBody>
          <a:bodyPr/>
          <a:lstStyle/>
          <a:p>
            <a:r>
              <a:rPr lang="zh-CN" altLang="en-US" sz="4800">
                <a:latin typeface="微软雅黑" panose="020B0503020204020204" pitchFamily="34" charset="-122"/>
                <a:ea typeface="微软雅黑" panose="020B0503020204020204" pitchFamily="34" charset="-122"/>
              </a:rPr>
              <a:t>程序设计原理</a:t>
            </a:r>
          </a:p>
        </p:txBody>
      </p:sp>
      <p:sp>
        <p:nvSpPr>
          <p:cNvPr id="17412" name="文本框 1">
            <a:extLst>
              <a:ext uri="{FF2B5EF4-FFF2-40B4-BE49-F238E27FC236}">
                <a16:creationId xmlns:a16="http://schemas.microsoft.com/office/drawing/2014/main" id="{C909C8EA-9722-95A0-4478-B9B3F4110DC8}"/>
              </a:ext>
            </a:extLst>
          </p:cNvPr>
          <p:cNvSpPr txBox="1">
            <a:spLocks noChangeArrowheads="1"/>
          </p:cNvSpPr>
          <p:nvPr/>
        </p:nvSpPr>
        <p:spPr bwMode="auto">
          <a:xfrm>
            <a:off x="4229716" y="3198813"/>
            <a:ext cx="9893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ctr"/>
            <a:r>
              <a:rPr lang="zh-CN" altLang="en-US" b="1" dirty="0">
                <a:solidFill>
                  <a:schemeClr val="bg1"/>
                </a:solidFill>
                <a:latin typeface="微软雅黑" panose="020B0503020204020204" pitchFamily="34" charset="-122"/>
                <a:ea typeface="微软雅黑" panose="020B0503020204020204" pitchFamily="34" charset="-122"/>
              </a:rPr>
              <a:t>指针</a:t>
            </a:r>
            <a:r>
              <a:rPr lang="en-US" altLang="zh-CN" b="1" dirty="0">
                <a:solidFill>
                  <a:schemeClr val="bg1"/>
                </a:solidFill>
                <a:latin typeface="微软雅黑" panose="020B0503020204020204" pitchFamily="34" charset="-122"/>
                <a:ea typeface="微软雅黑" panose="020B0503020204020204" pitchFamily="34" charset="-122"/>
              </a:rPr>
              <a:t>2</a:t>
            </a:r>
          </a:p>
        </p:txBody>
      </p:sp>
      <p:sp>
        <p:nvSpPr>
          <p:cNvPr id="2" name="矩形 1">
            <a:extLst>
              <a:ext uri="{FF2B5EF4-FFF2-40B4-BE49-F238E27FC236}">
                <a16:creationId xmlns:a16="http://schemas.microsoft.com/office/drawing/2014/main" id="{305AC87A-ED5C-8ADC-57A9-052C5940DF7C}"/>
              </a:ext>
            </a:extLst>
          </p:cNvPr>
          <p:cNvSpPr>
            <a:spLocks noChangeArrowheads="1"/>
          </p:cNvSpPr>
          <p:nvPr/>
        </p:nvSpPr>
        <p:spPr bwMode="auto">
          <a:xfrm>
            <a:off x="2895600" y="4267200"/>
            <a:ext cx="3657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33CC"/>
              </a:buClr>
              <a:buFont typeface="Wingdings" pitchFamily="2" charset="2"/>
              <a:buChar char="Ø"/>
              <a:defRPr sz="2800" b="1">
                <a:solidFill>
                  <a:srgbClr val="000099"/>
                </a:solidFill>
                <a:latin typeface="楷体_GB2312" panose="02010609030101010101" pitchFamily="49" charset="-122"/>
                <a:ea typeface="楷体_GB2312" panose="02010609030101010101" pitchFamily="49" charset="-122"/>
              </a:defRPr>
            </a:lvl1pPr>
            <a:lvl2pPr marL="742950" indent="-285750">
              <a:spcBef>
                <a:spcPct val="20000"/>
              </a:spcBef>
              <a:buClr>
                <a:schemeClr val="accent1"/>
              </a:buClr>
              <a:buFont typeface="Wingdings" pitchFamily="2" charset="2"/>
              <a:buChar char="l"/>
              <a:defRPr sz="2800" b="1">
                <a:solidFill>
                  <a:srgbClr val="000099"/>
                </a:solidFill>
                <a:latin typeface="楷体_GB2312" panose="02010609030101010101" pitchFamily="49" charset="-122"/>
                <a:ea typeface="楷体_GB2312" panose="02010609030101010101" pitchFamily="49" charset="-122"/>
              </a:defRPr>
            </a:lvl2pPr>
            <a:lvl3pPr marL="1143000" indent="-228600">
              <a:spcBef>
                <a:spcPct val="20000"/>
              </a:spcBef>
              <a:buClr>
                <a:srgbClr val="0033CC"/>
              </a:buClr>
              <a:buChar char="•"/>
              <a:defRPr sz="2400" b="1">
                <a:solidFill>
                  <a:srgbClr val="000099"/>
                </a:solidFill>
                <a:latin typeface="楷体_GB2312" panose="02010609030101010101" pitchFamily="49" charset="-122"/>
                <a:ea typeface="楷体_GB2312" panose="02010609030101010101" pitchFamily="49" charset="-122"/>
              </a:defRPr>
            </a:lvl3pPr>
            <a:lvl4pPr marL="1600200" indent="-228600">
              <a:spcBef>
                <a:spcPct val="20000"/>
              </a:spcBef>
              <a:buChar char="–"/>
              <a:defRPr sz="2000" b="1">
                <a:solidFill>
                  <a:srgbClr val="000099"/>
                </a:solidFill>
                <a:latin typeface="楷体_GB2312" panose="02010609030101010101" pitchFamily="49" charset="-122"/>
                <a:ea typeface="楷体_GB2312" panose="02010609030101010101" pitchFamily="49" charset="-122"/>
              </a:defRPr>
            </a:lvl4pPr>
            <a:lvl5pPr marL="2057400" indent="-228600">
              <a:spcBef>
                <a:spcPct val="20000"/>
              </a:spcBef>
              <a:buChar char="»"/>
              <a:defRPr sz="2000" b="1">
                <a:solidFill>
                  <a:srgbClr val="000099"/>
                </a:solidFill>
                <a:latin typeface="楷体_GB2312" panose="02010609030101010101" pitchFamily="49" charset="-122"/>
                <a:ea typeface="楷体_GB2312" panose="02010609030101010101" pitchFamily="49" charset="-122"/>
              </a:defRPr>
            </a:lvl5pPr>
            <a:lvl6pPr marL="25146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6pPr>
            <a:lvl7pPr marL="29718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7pPr>
            <a:lvl8pPr marL="34290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8pPr>
            <a:lvl9pPr marL="3886200" indent="-228600" eaLnBrk="0" fontAlgn="base" hangingPunct="0">
              <a:spcBef>
                <a:spcPct val="20000"/>
              </a:spcBef>
              <a:spcAft>
                <a:spcPct val="0"/>
              </a:spcAft>
              <a:buChar char="»"/>
              <a:defRPr sz="2000" b="1">
                <a:solidFill>
                  <a:srgbClr val="000099"/>
                </a:solidFill>
                <a:latin typeface="楷体_GB2312" panose="02010609030101010101" pitchFamily="49" charset="-122"/>
                <a:ea typeface="楷体_GB2312" panose="02010609030101010101" pitchFamily="49" charset="-122"/>
              </a:defRPr>
            </a:lvl9pPr>
          </a:lstStyle>
          <a:p>
            <a:pPr>
              <a:spcBef>
                <a:spcPct val="0"/>
              </a:spcBef>
              <a:buClrTx/>
              <a:buFontTx/>
              <a:buNone/>
            </a:pPr>
            <a:r>
              <a:rPr lang="zh-CN" altLang="en-US" sz="2400">
                <a:solidFill>
                  <a:schemeClr val="tx1"/>
                </a:solidFill>
                <a:latin typeface="KaiTi" panose="02010609060101010101" pitchFamily="49" charset="-122"/>
                <a:ea typeface="KaiTi" panose="02010609060101010101" pitchFamily="49" charset="-122"/>
              </a:rPr>
              <a:t>任课教师： 喻  梅</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于瑞国</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王建荣</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李雪威</a:t>
            </a:r>
            <a:endParaRPr lang="en-US" altLang="zh-CN" sz="2400" dirty="0">
              <a:solidFill>
                <a:schemeClr val="tx1"/>
              </a:solidFill>
              <a:latin typeface="KaiTi" panose="02010609060101010101" pitchFamily="49" charset="-122"/>
              <a:ea typeface="KaiTi" panose="02010609060101010101" pitchFamily="49" charset="-122"/>
            </a:endParaRPr>
          </a:p>
          <a:p>
            <a:pPr>
              <a:spcBef>
                <a:spcPct val="0"/>
              </a:spcBef>
              <a:buClrTx/>
              <a:buFontTx/>
              <a:buNone/>
            </a:pPr>
            <a:r>
              <a:rPr lang="en-US" altLang="zh-CN" sz="2400" dirty="0">
                <a:solidFill>
                  <a:schemeClr val="tx1"/>
                </a:solidFill>
                <a:latin typeface="KaiTi" panose="02010609060101010101" pitchFamily="49" charset="-122"/>
                <a:ea typeface="KaiTi" panose="02010609060101010101" pitchFamily="49" charset="-122"/>
              </a:rPr>
              <a:t>	</a:t>
            </a:r>
            <a:r>
              <a:rPr lang="zh-CN" altLang="en-US" sz="2400" dirty="0">
                <a:solidFill>
                  <a:schemeClr val="tx1"/>
                </a:solidFill>
                <a:latin typeface="KaiTi" panose="02010609060101010101" pitchFamily="49" charset="-122"/>
                <a:ea typeface="KaiTi" panose="02010609060101010101" pitchFamily="49" charset="-122"/>
              </a:rPr>
              <a:t>     赵满坤</a:t>
            </a:r>
            <a:endParaRPr lang="en-US" altLang="zh-CN" sz="2400" dirty="0">
              <a:solidFill>
                <a:schemeClr val="tx1"/>
              </a:solidFill>
              <a:latin typeface="KaiTi" panose="02010609060101010101" pitchFamily="49" charset="-122"/>
              <a:ea typeface="KaiTi" panose="02010609060101010101" pitchFamily="49" charset="-122"/>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5" name="Rectangle 3">
            <a:extLst>
              <a:ext uri="{FF2B5EF4-FFF2-40B4-BE49-F238E27FC236}">
                <a16:creationId xmlns:a16="http://schemas.microsoft.com/office/drawing/2014/main" id="{3DA14572-18A9-A1F6-37CD-750154011ECF}"/>
              </a:ext>
            </a:extLst>
          </p:cNvPr>
          <p:cNvSpPr>
            <a:spLocks noGrp="1" noChangeArrowheads="1"/>
          </p:cNvSpPr>
          <p:nvPr>
            <p:ph type="body" idx="1"/>
          </p:nvPr>
        </p:nvSpPr>
        <p:spPr>
          <a:xfrm>
            <a:off x="347663" y="1585913"/>
            <a:ext cx="8526462" cy="4992687"/>
          </a:xfrm>
        </p:spPr>
        <p:txBody>
          <a:bodyPr/>
          <a:lstStyle/>
          <a:p>
            <a:pPr>
              <a:lnSpc>
                <a:spcPct val="80000"/>
              </a:lnSpc>
              <a:defRPr/>
            </a:pPr>
            <a:r>
              <a:rPr lang="en-US" altLang="zh-CN" sz="2400" dirty="0">
                <a:latin typeface="+mj-lt"/>
                <a:ea typeface="宋体" panose="02010600030101010101" pitchFamily="2" charset="-122"/>
              </a:rPr>
              <a:t>The void type of pointer is a special type of pointer. In C++, void represents the absence of type, so void pointers are pointers that point to a value that has no type (and thus also an undetermined length and undetermined dereference properties).</a:t>
            </a:r>
          </a:p>
          <a:p>
            <a:pPr>
              <a:lnSpc>
                <a:spcPct val="80000"/>
              </a:lnSpc>
              <a:defRPr/>
            </a:pPr>
            <a:r>
              <a:rPr lang="en-US" altLang="zh-CN" sz="2400" dirty="0">
                <a:latin typeface="+mj-lt"/>
                <a:ea typeface="宋体" panose="02010600030101010101" pitchFamily="2" charset="-122"/>
              </a:rPr>
              <a:t>This allows void pointers to point to any data type, from an integer value or a float to a string of characters. </a:t>
            </a:r>
          </a:p>
          <a:p>
            <a:pPr>
              <a:lnSpc>
                <a:spcPct val="80000"/>
              </a:lnSpc>
              <a:defRPr/>
            </a:pPr>
            <a:r>
              <a:rPr lang="en-US" altLang="zh-CN" sz="2400" dirty="0">
                <a:latin typeface="+mj-lt"/>
                <a:ea typeface="宋体" panose="02010600030101010101" pitchFamily="2" charset="-122"/>
              </a:rPr>
              <a:t>But in exchange they have a great limitation: the data pointed by them cannot be directly dereferenced (which is logical, since we have no type to dereference to), and for that reason we will always have to cast the address in the void pointer to some other pointer type that points to a concrete data type before dereferencing it.</a:t>
            </a:r>
          </a:p>
        </p:txBody>
      </p:sp>
      <p:sp>
        <p:nvSpPr>
          <p:cNvPr id="31748" name="灯片编号占位符 3">
            <a:extLst>
              <a:ext uri="{FF2B5EF4-FFF2-40B4-BE49-F238E27FC236}">
                <a16:creationId xmlns:a16="http://schemas.microsoft.com/office/drawing/2014/main" id="{0B1D6234-9A32-FEC2-BEEE-E54B4291877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FD4A0209-F302-CD48-A482-FA1F416FABBF}" type="slidenum">
              <a:rPr lang="en-US" altLang="zh-CN" sz="1600">
                <a:latin typeface="Lucida Sans Unicode" panose="020B0602030504020204" pitchFamily="34" charset="0"/>
                <a:ea typeface="宋体" panose="02010600030101010101" pitchFamily="2" charset="-122"/>
              </a:rPr>
              <a:pPr/>
              <a:t>2</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665AC91D-6CD3-3513-E58F-199E170BA955}"/>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sz="3600" dirty="0">
                <a:ea typeface="宋体" panose="02010600030101010101" pitchFamily="2" charset="-122"/>
              </a:rPr>
              <a:t>Void Pointers</a:t>
            </a:r>
            <a:endParaRPr lang="zh-CN" altLang="en-US" kern="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矩形 2">
            <a:extLst>
              <a:ext uri="{FF2B5EF4-FFF2-40B4-BE49-F238E27FC236}">
                <a16:creationId xmlns:a16="http://schemas.microsoft.com/office/drawing/2014/main" id="{4AA8C744-E752-E12C-DD85-D67CE61C5E47}"/>
              </a:ext>
            </a:extLst>
          </p:cNvPr>
          <p:cNvSpPr>
            <a:spLocks noChangeArrowheads="1"/>
          </p:cNvSpPr>
          <p:nvPr/>
        </p:nvSpPr>
        <p:spPr bwMode="auto">
          <a:xfrm>
            <a:off x="501650" y="1239838"/>
            <a:ext cx="8102600" cy="536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#include &lt;iostream&gt;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using namespace std;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void increase (void* data, int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psize</a:t>
            </a:r>
            <a:r>
              <a:rPr lang="en-US" altLang="zh-CN" sz="2000" dirty="0">
                <a:latin typeface="Courier New" panose="02070309020205020404" pitchFamily="49" charset="0"/>
                <a:ea typeface="宋体" panose="02010600030101010101" pitchFamily="2" charset="-122"/>
                <a:cs typeface="Courier New" panose="02070309020205020404" pitchFamily="49" charset="0"/>
              </a:rPr>
              <a:t>) {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if (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psize</a:t>
            </a:r>
            <a:r>
              <a:rPr lang="en-US" altLang="zh-CN" sz="2000" dirty="0">
                <a:latin typeface="Courier New" panose="02070309020205020404" pitchFamily="49" charset="0"/>
                <a:ea typeface="宋体" panose="02010600030101010101" pitchFamily="2" charset="-122"/>
                <a:cs typeface="Courier New" panose="02070309020205020404" pitchFamily="49" charset="0"/>
              </a:rPr>
              <a:t> ==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sizeof</a:t>
            </a:r>
            <a:r>
              <a:rPr lang="en-US" altLang="zh-CN" sz="2000" dirty="0">
                <a:latin typeface="Courier New" panose="02070309020205020404" pitchFamily="49" charset="0"/>
                <a:ea typeface="宋体" panose="02010600030101010101" pitchFamily="2" charset="-122"/>
                <a:cs typeface="Courier New" panose="02070309020205020404" pitchFamily="49" charset="0"/>
              </a:rPr>
              <a:t>(char) ) {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char*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pchar</a:t>
            </a:r>
            <a:r>
              <a:rPr lang="en-US" altLang="zh-CN" sz="2000" dirty="0">
                <a:latin typeface="Courier New" panose="02070309020205020404" pitchFamily="49" charset="0"/>
                <a:ea typeface="宋体" panose="02010600030101010101" pitchFamily="2" charset="-122"/>
                <a:cs typeface="Courier New" panose="02070309020205020404" pitchFamily="49" charset="0"/>
              </a:rPr>
              <a:t>;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pchar</a:t>
            </a:r>
            <a:r>
              <a:rPr lang="en-US" altLang="zh-CN" sz="2000" dirty="0">
                <a:latin typeface="Courier New" panose="02070309020205020404" pitchFamily="49" charset="0"/>
                <a:ea typeface="宋体" panose="02010600030101010101" pitchFamily="2" charset="-122"/>
                <a:cs typeface="Courier New" panose="02070309020205020404" pitchFamily="49" charset="0"/>
              </a:rPr>
              <a:t>=(char*)data;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pchar</a:t>
            </a:r>
            <a:r>
              <a:rPr lang="en-US" altLang="zh-CN" sz="2000" dirty="0">
                <a:latin typeface="Courier New" panose="02070309020205020404" pitchFamily="49" charset="0"/>
                <a:ea typeface="宋体" panose="02010600030101010101" pitchFamily="2" charset="-122"/>
                <a:cs typeface="Courier New" panose="02070309020205020404" pitchFamily="49" charset="0"/>
              </a:rPr>
              <a:t>);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else if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psize</a:t>
            </a:r>
            <a:r>
              <a:rPr lang="en-US" altLang="zh-CN" sz="2000" dirty="0">
                <a:latin typeface="Courier New" panose="02070309020205020404" pitchFamily="49" charset="0"/>
                <a:ea typeface="宋体" panose="02010600030101010101" pitchFamily="2" charset="-122"/>
                <a:cs typeface="Courier New" panose="02070309020205020404" pitchFamily="49" charset="0"/>
              </a:rPr>
              <a:t> ==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sizeof</a:t>
            </a:r>
            <a:r>
              <a:rPr lang="en-US" altLang="zh-CN" sz="2000" dirty="0">
                <a:latin typeface="Courier New" panose="02070309020205020404" pitchFamily="49" charset="0"/>
                <a:ea typeface="宋体" panose="02010600030101010101" pitchFamily="2" charset="-122"/>
                <a:cs typeface="Courier New" panose="02070309020205020404" pitchFamily="49" charset="0"/>
              </a:rPr>
              <a:t>(int) ) {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int* pint;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pint=(int*)data;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++(*pint);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int main () {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char a = 'x';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int b = 1602;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increase (&amp;</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a,sizeof</a:t>
            </a:r>
            <a:r>
              <a:rPr lang="en-US" altLang="zh-CN" sz="2000" dirty="0">
                <a:latin typeface="Courier New" panose="02070309020205020404" pitchFamily="49" charset="0"/>
                <a:ea typeface="宋体" panose="02010600030101010101" pitchFamily="2" charset="-122"/>
                <a:cs typeface="Courier New" panose="02070309020205020404" pitchFamily="49" charset="0"/>
              </a:rPr>
              <a:t>(a)); increase (&amp;</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b,sizeof</a:t>
            </a:r>
            <a:r>
              <a:rPr lang="en-US" altLang="zh-CN" sz="2000" dirty="0">
                <a:latin typeface="Courier New" panose="02070309020205020404" pitchFamily="49" charset="0"/>
                <a:ea typeface="宋体" panose="02010600030101010101" pitchFamily="2" charset="-122"/>
                <a:cs typeface="Courier New" panose="02070309020205020404" pitchFamily="49" charset="0"/>
              </a:rPr>
              <a:t>(b)); </a:t>
            </a:r>
          </a:p>
          <a:p>
            <a:pPr>
              <a:lnSpc>
                <a:spcPct val="80000"/>
              </a:lnSpc>
              <a:buFont typeface="Monotype Sorts" pitchFamily="2" charset="2"/>
              <a:buNone/>
            </a:pPr>
            <a:r>
              <a:rPr lang="en-US" altLang="zh-CN" sz="2000" dirty="0" err="1">
                <a:latin typeface="Courier New" panose="02070309020205020404" pitchFamily="49" charset="0"/>
                <a:ea typeface="宋体" panose="02010600030101010101" pitchFamily="2" charset="-122"/>
                <a:cs typeface="Courier New" panose="02070309020205020404" pitchFamily="49" charset="0"/>
              </a:rPr>
              <a:t>cout</a:t>
            </a:r>
            <a:r>
              <a:rPr lang="en-US" altLang="zh-CN" sz="2000" dirty="0">
                <a:latin typeface="Courier New" panose="02070309020205020404" pitchFamily="49" charset="0"/>
                <a:ea typeface="宋体" panose="02010600030101010101" pitchFamily="2" charset="-122"/>
                <a:cs typeface="Courier New" panose="02070309020205020404" pitchFamily="49" charset="0"/>
              </a:rPr>
              <a:t> &lt;&lt; a &lt;&lt; ", " &lt;&lt; b &lt;&lt; </a:t>
            </a:r>
            <a:r>
              <a:rPr lang="en-US" altLang="zh-CN" sz="2000" dirty="0" err="1">
                <a:latin typeface="Courier New" panose="02070309020205020404" pitchFamily="49" charset="0"/>
                <a:ea typeface="宋体" panose="02010600030101010101" pitchFamily="2" charset="-122"/>
                <a:cs typeface="Courier New" panose="02070309020205020404" pitchFamily="49" charset="0"/>
              </a:rPr>
              <a:t>endl</a:t>
            </a:r>
            <a:r>
              <a:rPr lang="en-US" altLang="zh-CN" sz="2000" dirty="0">
                <a:latin typeface="Courier New" panose="02070309020205020404" pitchFamily="49" charset="0"/>
                <a:ea typeface="宋体" panose="02010600030101010101" pitchFamily="2" charset="-122"/>
                <a:cs typeface="Courier New" panose="02070309020205020404" pitchFamily="49" charset="0"/>
              </a:rPr>
              <a:t>;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return 0; </a:t>
            </a:r>
          </a:p>
          <a:p>
            <a:pPr>
              <a:lnSpc>
                <a:spcPct val="80000"/>
              </a:lnSpc>
              <a:buFont typeface="Monotype Sorts" pitchFamily="2" charset="2"/>
              <a:buNone/>
            </a:pPr>
            <a:r>
              <a:rPr lang="en-US" altLang="zh-CN" sz="2000" dirty="0">
                <a:latin typeface="Courier New" panose="02070309020205020404" pitchFamily="49" charset="0"/>
                <a:ea typeface="宋体" panose="02010600030101010101" pitchFamily="2" charset="-122"/>
                <a:cs typeface="Courier New" panose="02070309020205020404" pitchFamily="49" charset="0"/>
              </a:rPr>
              <a:t>} </a:t>
            </a:r>
          </a:p>
        </p:txBody>
      </p:sp>
      <p:sp>
        <p:nvSpPr>
          <p:cNvPr id="32772" name="灯片编号占位符 3">
            <a:extLst>
              <a:ext uri="{FF2B5EF4-FFF2-40B4-BE49-F238E27FC236}">
                <a16:creationId xmlns:a16="http://schemas.microsoft.com/office/drawing/2014/main" id="{77425B5C-94C9-4CA9-3414-227E063B2B2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3174B4C1-3366-0045-9EB0-2C4E7C8CE0A2}" type="slidenum">
              <a:rPr lang="en-US" altLang="zh-CN" sz="1600">
                <a:latin typeface="Lucida Sans Unicode" panose="020B0602030504020204" pitchFamily="34" charset="0"/>
                <a:ea typeface="宋体" panose="02010600030101010101" pitchFamily="2" charset="-122"/>
              </a:rPr>
              <a:pPr/>
              <a:t>3</a:t>
            </a:fld>
            <a:endParaRPr lang="en-US" altLang="zh-CN" sz="1600">
              <a:latin typeface="Lucida Sans Unicode" panose="020B0602030504020204" pitchFamily="34" charset="0"/>
              <a:ea typeface="宋体" panose="02010600030101010101" pitchFamily="2" charset="-122"/>
            </a:endParaRPr>
          </a:p>
        </p:txBody>
      </p:sp>
      <p:sp>
        <p:nvSpPr>
          <p:cNvPr id="3" name="标题 1">
            <a:extLst>
              <a:ext uri="{FF2B5EF4-FFF2-40B4-BE49-F238E27FC236}">
                <a16:creationId xmlns:a16="http://schemas.microsoft.com/office/drawing/2014/main" id="{729BAA90-1D9C-1110-8C07-40B81B817D55}"/>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sz="3600" dirty="0">
                <a:ea typeface="宋体" panose="02010600030101010101" pitchFamily="2" charset="-122"/>
              </a:rPr>
              <a:t>Void Pointers</a:t>
            </a:r>
            <a:endParaRPr lang="zh-CN" altLang="en-US" kern="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a:extLst>
              <a:ext uri="{FF2B5EF4-FFF2-40B4-BE49-F238E27FC236}">
                <a16:creationId xmlns:a16="http://schemas.microsoft.com/office/drawing/2014/main" id="{C2866767-0AE5-D34C-5B47-300208773050}"/>
              </a:ext>
            </a:extLst>
          </p:cNvPr>
          <p:cNvSpPr>
            <a:spLocks noGrp="1" noChangeArrowheads="1"/>
          </p:cNvSpPr>
          <p:nvPr>
            <p:ph type="body" idx="1"/>
          </p:nvPr>
        </p:nvSpPr>
        <p:spPr>
          <a:xfrm>
            <a:off x="461963" y="1277938"/>
            <a:ext cx="8488362" cy="3187700"/>
          </a:xfrm>
        </p:spPr>
        <p:txBody>
          <a:bodyPr/>
          <a:lstStyle/>
          <a:p>
            <a:pPr eaLnBrk="1" hangingPunct="1"/>
            <a:r>
              <a:rPr lang="en-US" altLang="zh-CN"/>
              <a:t>Pointer as parameter</a:t>
            </a:r>
          </a:p>
          <a:p>
            <a:pPr lvl="1" eaLnBrk="1" hangingPunct="1"/>
            <a:r>
              <a:rPr lang="en-US" altLang="zh-CN"/>
              <a:t>The address stored in the pointer is passed to the function</a:t>
            </a:r>
          </a:p>
          <a:p>
            <a:pPr lvl="1" eaLnBrk="1" hangingPunct="1"/>
            <a:r>
              <a:rPr lang="en-US" altLang="zh-CN"/>
              <a:t>A kind of pass-by-reference</a:t>
            </a:r>
          </a:p>
          <a:p>
            <a:pPr lvl="1" eaLnBrk="1" hangingPunct="1"/>
            <a:endParaRPr lang="en-US" altLang="zh-CN"/>
          </a:p>
        </p:txBody>
      </p:sp>
      <p:sp>
        <p:nvSpPr>
          <p:cNvPr id="445446" name="Rectangle 6">
            <a:extLst>
              <a:ext uri="{FF2B5EF4-FFF2-40B4-BE49-F238E27FC236}">
                <a16:creationId xmlns:a16="http://schemas.microsoft.com/office/drawing/2014/main" id="{2C4B7186-7AEF-61E5-1E2B-EBBF2F338654}"/>
              </a:ext>
            </a:extLst>
          </p:cNvPr>
          <p:cNvSpPr>
            <a:spLocks noChangeArrowheads="1"/>
          </p:cNvSpPr>
          <p:nvPr/>
        </p:nvSpPr>
        <p:spPr bwMode="auto">
          <a:xfrm>
            <a:off x="4648200" y="3927475"/>
            <a:ext cx="3810000" cy="2130425"/>
          </a:xfrm>
          <a:prstGeom prst="rect">
            <a:avLst/>
          </a:prstGeom>
          <a:solidFill>
            <a:schemeClr val="bg1"/>
          </a:solidFill>
          <a:ln w="9525">
            <a:solidFill>
              <a:schemeClr val="tx1"/>
            </a:solidFill>
            <a:miter lim="800000"/>
            <a:headEnd/>
            <a:tailEnd/>
          </a:ln>
        </p:spPr>
        <p:txBody>
          <a:bodyPr wrap="none"/>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eaLnBrk="1" hangingPunct="1"/>
            <a:r>
              <a:rPr lang="en-US" altLang="zh-CN" sz="2000">
                <a:latin typeface="Arial" panose="020B0604020202020204" pitchFamily="34" charset="0"/>
                <a:ea typeface="宋体" panose="02010600030101010101" pitchFamily="2" charset="-122"/>
              </a:rPr>
              <a:t>void swap(int *p1, int *p2)</a:t>
            </a:r>
          </a:p>
          <a:p>
            <a:pPr eaLnBrk="1" hangingPunct="1"/>
            <a:r>
              <a:rPr lang="en-US" altLang="zh-CN" sz="2000">
                <a:latin typeface="Arial" panose="020B0604020202020204" pitchFamily="34" charset="0"/>
                <a:ea typeface="宋体" panose="02010600030101010101" pitchFamily="2" charset="-122"/>
              </a:rPr>
              <a:t>{	int *temp;	</a:t>
            </a:r>
          </a:p>
          <a:p>
            <a:pPr eaLnBrk="1" hangingPunct="1"/>
            <a:r>
              <a:rPr lang="en-US" altLang="zh-CN" sz="2000">
                <a:solidFill>
                  <a:srgbClr val="FF0000"/>
                </a:solidFill>
                <a:latin typeface="Arial" panose="020B0604020202020204" pitchFamily="34" charset="0"/>
                <a:ea typeface="宋体" panose="02010600030101010101" pitchFamily="2" charset="-122"/>
              </a:rPr>
              <a:t>	temp = p1;</a:t>
            </a:r>
          </a:p>
          <a:p>
            <a:pPr eaLnBrk="1" hangingPunct="1"/>
            <a:r>
              <a:rPr lang="en-US" altLang="zh-CN" sz="2000">
                <a:solidFill>
                  <a:srgbClr val="FF0000"/>
                </a:solidFill>
                <a:latin typeface="Arial" panose="020B0604020202020204" pitchFamily="34" charset="0"/>
                <a:ea typeface="宋体" panose="02010600030101010101" pitchFamily="2" charset="-122"/>
              </a:rPr>
              <a:t>	p1 = p2;	</a:t>
            </a:r>
          </a:p>
          <a:p>
            <a:pPr eaLnBrk="1" hangingPunct="1"/>
            <a:r>
              <a:rPr lang="en-US" altLang="zh-CN" sz="2000">
                <a:solidFill>
                  <a:srgbClr val="FF0000"/>
                </a:solidFill>
                <a:latin typeface="Arial" panose="020B0604020202020204" pitchFamily="34" charset="0"/>
                <a:ea typeface="宋体" panose="02010600030101010101" pitchFamily="2" charset="-122"/>
              </a:rPr>
              <a:t>	p2 = temp;</a:t>
            </a:r>
            <a:r>
              <a:rPr lang="en-US" altLang="zh-CN" sz="2000">
                <a:latin typeface="Arial" panose="020B0604020202020204" pitchFamily="34" charset="0"/>
                <a:ea typeface="宋体" panose="02010600030101010101" pitchFamily="2" charset="-122"/>
              </a:rPr>
              <a:t>	</a:t>
            </a:r>
          </a:p>
          <a:p>
            <a:pPr eaLnBrk="1" hangingPunct="1"/>
            <a:r>
              <a:rPr lang="en-US" altLang="zh-CN" sz="2000">
                <a:latin typeface="Arial" panose="020B0604020202020204" pitchFamily="34" charset="0"/>
                <a:ea typeface="宋体" panose="02010600030101010101" pitchFamily="2" charset="-122"/>
              </a:rPr>
              <a:t>}</a:t>
            </a:r>
          </a:p>
        </p:txBody>
      </p:sp>
      <p:sp>
        <p:nvSpPr>
          <p:cNvPr id="445447" name="Rectangle 7">
            <a:extLst>
              <a:ext uri="{FF2B5EF4-FFF2-40B4-BE49-F238E27FC236}">
                <a16:creationId xmlns:a16="http://schemas.microsoft.com/office/drawing/2014/main" id="{EB7FD6D0-2042-C030-9D48-9C0FFA7ABFA3}"/>
              </a:ext>
            </a:extLst>
          </p:cNvPr>
          <p:cNvSpPr>
            <a:spLocks noChangeArrowheads="1"/>
          </p:cNvSpPr>
          <p:nvPr/>
        </p:nvSpPr>
        <p:spPr bwMode="auto">
          <a:xfrm>
            <a:off x="693738" y="3927475"/>
            <a:ext cx="3810000" cy="2130425"/>
          </a:xfrm>
          <a:prstGeom prst="rect">
            <a:avLst/>
          </a:prstGeom>
          <a:solidFill>
            <a:schemeClr val="bg1"/>
          </a:solidFill>
          <a:ln w="9525">
            <a:solidFill>
              <a:schemeClr val="tx1"/>
            </a:solidFill>
            <a:miter lim="800000"/>
            <a:headEnd/>
            <a:tailEnd/>
          </a:ln>
        </p:spPr>
        <p:txBody>
          <a:bodyPr wrap="none"/>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2000">
                <a:latin typeface="Arial" panose="020B0604020202020204" pitchFamily="34" charset="0"/>
                <a:ea typeface="宋体" panose="02010600030101010101" pitchFamily="2" charset="-122"/>
              </a:rPr>
              <a:t>void swap(int *p1, int *p2)</a:t>
            </a:r>
          </a:p>
          <a:p>
            <a:r>
              <a:rPr lang="en-US" altLang="zh-CN" sz="2000">
                <a:latin typeface="Arial" panose="020B0604020202020204" pitchFamily="34" charset="0"/>
                <a:ea typeface="宋体" panose="02010600030101010101" pitchFamily="2" charset="-122"/>
              </a:rPr>
              <a:t>{	int temp;	</a:t>
            </a:r>
          </a:p>
          <a:p>
            <a:r>
              <a:rPr lang="en-US" altLang="zh-CN" sz="2000">
                <a:latin typeface="Arial" panose="020B0604020202020204" pitchFamily="34" charset="0"/>
                <a:ea typeface="宋体" panose="02010600030101010101" pitchFamily="2" charset="-122"/>
              </a:rPr>
              <a:t>	temp = *p1;</a:t>
            </a:r>
          </a:p>
          <a:p>
            <a:r>
              <a:rPr lang="en-US" altLang="zh-CN" sz="2000">
                <a:latin typeface="Arial" panose="020B0604020202020204" pitchFamily="34" charset="0"/>
                <a:ea typeface="宋体" panose="02010600030101010101" pitchFamily="2" charset="-122"/>
              </a:rPr>
              <a:t>	*p1 	= *p2;	</a:t>
            </a:r>
          </a:p>
          <a:p>
            <a:r>
              <a:rPr lang="en-US" altLang="zh-CN" sz="2000">
                <a:latin typeface="Arial" panose="020B0604020202020204" pitchFamily="34" charset="0"/>
                <a:ea typeface="宋体" panose="02010600030101010101" pitchFamily="2" charset="-122"/>
              </a:rPr>
              <a:t>	*p2 	= temp;	</a:t>
            </a:r>
          </a:p>
          <a:p>
            <a:r>
              <a:rPr lang="en-US" altLang="zh-CN" sz="2000">
                <a:latin typeface="Arial" panose="020B0604020202020204" pitchFamily="34" charset="0"/>
                <a:ea typeface="宋体" panose="02010600030101010101" pitchFamily="2" charset="-122"/>
              </a:rPr>
              <a:t>}	</a:t>
            </a:r>
            <a:endParaRPr lang="zh-CN" altLang="en-US" sz="2000">
              <a:latin typeface="Arial" panose="020B0604020202020204" pitchFamily="34" charset="0"/>
              <a:ea typeface="宋体" panose="02010600030101010101" pitchFamily="2" charset="-122"/>
            </a:endParaRPr>
          </a:p>
        </p:txBody>
      </p:sp>
      <p:sp>
        <p:nvSpPr>
          <p:cNvPr id="49158" name="灯片编号占位符 3">
            <a:extLst>
              <a:ext uri="{FF2B5EF4-FFF2-40B4-BE49-F238E27FC236}">
                <a16:creationId xmlns:a16="http://schemas.microsoft.com/office/drawing/2014/main" id="{04210FB4-A428-69C6-EF52-9383CE8E470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8984B412-747A-B649-BC43-BD1CAD6138BA}" type="slidenum">
              <a:rPr lang="en-US" altLang="zh-CN" sz="1600">
                <a:latin typeface="Lucida Sans Unicode" panose="020B0602030504020204" pitchFamily="34" charset="0"/>
                <a:ea typeface="宋体" panose="02010600030101010101" pitchFamily="2" charset="-122"/>
              </a:rPr>
              <a:pPr/>
              <a:t>4</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B03330F2-529F-6E42-C6F1-ADA372D81C99}"/>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dirty="0"/>
              <a:t>Pointer in Function</a:t>
            </a:r>
            <a:endParaRPr lang="zh-CN" altLang="en-US"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45447"/>
                                        </p:tgtEl>
                                        <p:attrNameLst>
                                          <p:attrName>style.visibility</p:attrName>
                                        </p:attrNameLst>
                                      </p:cBhvr>
                                      <p:to>
                                        <p:strVal val="visible"/>
                                      </p:to>
                                    </p:set>
                                    <p:animEffect transition="in" filter="checkerboard(across)">
                                      <p:cBhvr>
                                        <p:cTn id="7" dur="500"/>
                                        <p:tgtEl>
                                          <p:spTgt spid="4454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45446"/>
                                        </p:tgtEl>
                                        <p:attrNameLst>
                                          <p:attrName>style.visibility</p:attrName>
                                        </p:attrNameLst>
                                      </p:cBhvr>
                                      <p:to>
                                        <p:strVal val="visible"/>
                                      </p:to>
                                    </p:set>
                                    <p:animEffect transition="in" filter="checkerboard(across)">
                                      <p:cBhvr>
                                        <p:cTn id="12" dur="500"/>
                                        <p:tgtEl>
                                          <p:spTgt spid="445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6" grpId="0" animBg="1"/>
      <p:bldP spid="4454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4" name="Rectangle 4">
            <a:extLst>
              <a:ext uri="{FF2B5EF4-FFF2-40B4-BE49-F238E27FC236}">
                <a16:creationId xmlns:a16="http://schemas.microsoft.com/office/drawing/2014/main" id="{69D37530-34BE-76D1-C0EC-CFDE9510CEB7}"/>
              </a:ext>
            </a:extLst>
          </p:cNvPr>
          <p:cNvSpPr>
            <a:spLocks noChangeArrowheads="1"/>
          </p:cNvSpPr>
          <p:nvPr/>
        </p:nvSpPr>
        <p:spPr bwMode="auto">
          <a:xfrm>
            <a:off x="4284663" y="4824413"/>
            <a:ext cx="2016125" cy="457200"/>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lang="en-US" altLang="zh-CN">
                <a:solidFill>
                  <a:srgbClr val="FF3300"/>
                </a:solidFill>
                <a:latin typeface="Arial" panose="020B0604020202020204" pitchFamily="34" charset="0"/>
                <a:ea typeface="宋体" panose="02010600030101010101" pitchFamily="2" charset="-122"/>
              </a:rPr>
              <a:t>b, 0028F814</a:t>
            </a:r>
          </a:p>
        </p:txBody>
      </p:sp>
      <p:sp>
        <p:nvSpPr>
          <p:cNvPr id="312325" name="Rectangle 5">
            <a:extLst>
              <a:ext uri="{FF2B5EF4-FFF2-40B4-BE49-F238E27FC236}">
                <a16:creationId xmlns:a16="http://schemas.microsoft.com/office/drawing/2014/main" id="{4778043B-5A37-600C-84D1-D155B0C39E78}"/>
              </a:ext>
            </a:extLst>
          </p:cNvPr>
          <p:cNvSpPr>
            <a:spLocks noChangeArrowheads="1"/>
          </p:cNvSpPr>
          <p:nvPr/>
        </p:nvSpPr>
        <p:spPr bwMode="auto">
          <a:xfrm>
            <a:off x="395288" y="4616450"/>
            <a:ext cx="3168650" cy="1938338"/>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altLang="zh-CN" sz="2000">
                <a:solidFill>
                  <a:srgbClr val="000000"/>
                </a:solidFill>
              </a:rPr>
              <a:t>main(){</a:t>
            </a:r>
          </a:p>
          <a:p>
            <a:pPr>
              <a:defRPr/>
            </a:pPr>
            <a:r>
              <a:rPr lang="en-US" altLang="zh-CN" sz="2000">
                <a:solidFill>
                  <a:srgbClr val="000000"/>
                </a:solidFill>
              </a:rPr>
              <a:t>   int *pt1, *pt2;</a:t>
            </a:r>
          </a:p>
          <a:p>
            <a:pPr>
              <a:defRPr/>
            </a:pPr>
            <a:r>
              <a:rPr lang="en-US" altLang="zh-CN" sz="2000">
                <a:solidFill>
                  <a:srgbClr val="000000"/>
                </a:solidFill>
              </a:rPr>
              <a:t>   …</a:t>
            </a:r>
          </a:p>
          <a:p>
            <a:pPr>
              <a:defRPr/>
            </a:pPr>
            <a:r>
              <a:rPr lang="en-US" altLang="zh-CN" sz="2000">
                <a:solidFill>
                  <a:srgbClr val="000000"/>
                </a:solidFill>
              </a:rPr>
              <a:t>   myswap(pt1, pt2);</a:t>
            </a:r>
          </a:p>
          <a:p>
            <a:pPr>
              <a:defRPr/>
            </a:pPr>
            <a:r>
              <a:rPr lang="en-US" altLang="zh-CN" sz="2000">
                <a:solidFill>
                  <a:srgbClr val="000000"/>
                </a:solidFill>
              </a:rPr>
              <a:t>   …</a:t>
            </a:r>
          </a:p>
          <a:p>
            <a:pPr>
              <a:defRPr/>
            </a:pPr>
            <a:r>
              <a:rPr lang="en-US" altLang="zh-CN" sz="2000">
                <a:solidFill>
                  <a:srgbClr val="000000"/>
                </a:solidFill>
              </a:rPr>
              <a:t>}</a:t>
            </a:r>
          </a:p>
        </p:txBody>
      </p:sp>
      <p:graphicFrame>
        <p:nvGraphicFramePr>
          <p:cNvPr id="312411" name="Group 91">
            <a:extLst>
              <a:ext uri="{FF2B5EF4-FFF2-40B4-BE49-F238E27FC236}">
                <a16:creationId xmlns:a16="http://schemas.microsoft.com/office/drawing/2014/main" id="{E744BB92-3757-36BF-73E7-7A8B973C860E}"/>
              </a:ext>
            </a:extLst>
          </p:cNvPr>
          <p:cNvGraphicFramePr>
            <a:graphicFrameLocks noGrp="1"/>
          </p:cNvGraphicFramePr>
          <p:nvPr>
            <p:ph idx="1"/>
          </p:nvPr>
        </p:nvGraphicFramePr>
        <p:xfrm>
          <a:off x="6372225" y="765175"/>
          <a:ext cx="1655763" cy="5965825"/>
        </p:xfrm>
        <a:graphic>
          <a:graphicData uri="http://schemas.openxmlformats.org/drawingml/2006/table">
            <a:tbl>
              <a:tblPr/>
              <a:tblGrid>
                <a:gridCol w="1655763">
                  <a:extLst>
                    <a:ext uri="{9D8B030D-6E8A-4147-A177-3AD203B41FA5}">
                      <a16:colId xmlns:a16="http://schemas.microsoft.com/office/drawing/2014/main" val="20000"/>
                    </a:ext>
                  </a:extLst>
                </a:gridCol>
              </a:tblGrid>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zh-CN" altLang="zh-CN" sz="2400" b="0" i="0" u="none" strike="noStrike" cap="none" normalizeH="0" baseline="0">
                        <a:ln>
                          <a:noFill/>
                        </a:ln>
                        <a:solidFill>
                          <a:schemeClr val="tx1"/>
                        </a:solidFill>
                        <a:effectLst/>
                        <a:latin typeface="Arial" charset="0"/>
                        <a:ea typeface="宋体" pitchFamily="2" charset="-122"/>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9425">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rgbClr val="008000"/>
                          </a:solidFill>
                          <a:effectLst/>
                          <a:latin typeface="Arial" charset="0"/>
                          <a:ea typeface="宋体" pitchFamily="2" charset="-122"/>
                        </a:rPr>
                        <a:t>0028F814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rgbClr val="FF3399"/>
                          </a:solidFill>
                          <a:effectLst/>
                          <a:latin typeface="Arial" charset="0"/>
                          <a:ea typeface="宋体" pitchFamily="2" charset="-122"/>
                        </a:rPr>
                        <a:t>0028F820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rgbClr val="008000"/>
                          </a:solidFill>
                          <a:effectLst/>
                          <a:latin typeface="Arial" charset="0"/>
                          <a:ea typeface="宋体" pitchFamily="2" charset="-122"/>
                        </a:rPr>
                        <a:t>0028F814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rgbClr val="FF3399"/>
                          </a:solidFill>
                          <a:effectLst/>
                          <a:latin typeface="Arial" charset="0"/>
                          <a:ea typeface="宋体" pitchFamily="2" charset="-122"/>
                        </a:rPr>
                        <a:t>0028F820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rgbClr val="008000"/>
                          </a:solidFill>
                          <a:effectLst/>
                          <a:latin typeface="Arial" charset="0"/>
                          <a:ea typeface="宋体" pitchFamily="2" charset="-122"/>
                        </a:rPr>
                        <a:t>8</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rgbClr val="FF3399"/>
                          </a:solidFill>
                          <a:effectLst/>
                          <a:latin typeface="Arial" charset="0"/>
                          <a:ea typeface="宋体"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3850">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altLang="zh-CN" sz="2400" b="0" i="0" u="none" strike="noStrike" cap="none" normalizeH="0" baseline="0">
                          <a:ln>
                            <a:noFill/>
                          </a:ln>
                          <a:solidFill>
                            <a:schemeClr val="tx1"/>
                          </a:solidFill>
                          <a:effectLst/>
                          <a:latin typeface="Arial" charset="0"/>
                          <a:ea typeface="宋体" pitchFamily="2" charset="-122"/>
                        </a:rPr>
                        <a: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312347" name="Rectangle 27">
            <a:extLst>
              <a:ext uri="{FF2B5EF4-FFF2-40B4-BE49-F238E27FC236}">
                <a16:creationId xmlns:a16="http://schemas.microsoft.com/office/drawing/2014/main" id="{4DA2089B-24BB-0BE6-04DF-587B3FA0E472}"/>
              </a:ext>
            </a:extLst>
          </p:cNvPr>
          <p:cNvSpPr>
            <a:spLocks noChangeArrowheads="1"/>
          </p:cNvSpPr>
          <p:nvPr/>
        </p:nvSpPr>
        <p:spPr bwMode="auto">
          <a:xfrm>
            <a:off x="4284663" y="5761038"/>
            <a:ext cx="2016125" cy="457200"/>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lang="en-US" altLang="zh-CN">
                <a:solidFill>
                  <a:srgbClr val="FF3300"/>
                </a:solidFill>
                <a:latin typeface="Arial" panose="020B0604020202020204" pitchFamily="34" charset="0"/>
                <a:ea typeface="宋体" panose="02010600030101010101" pitchFamily="2" charset="-122"/>
              </a:rPr>
              <a:t>a, 0028F820</a:t>
            </a:r>
          </a:p>
        </p:txBody>
      </p:sp>
      <p:sp>
        <p:nvSpPr>
          <p:cNvPr id="312364" name="Rectangle 44">
            <a:extLst>
              <a:ext uri="{FF2B5EF4-FFF2-40B4-BE49-F238E27FC236}">
                <a16:creationId xmlns:a16="http://schemas.microsoft.com/office/drawing/2014/main" id="{3A75FF4B-3B23-86DE-843A-73CEA36FD95E}"/>
              </a:ext>
            </a:extLst>
          </p:cNvPr>
          <p:cNvSpPr>
            <a:spLocks noChangeArrowheads="1"/>
          </p:cNvSpPr>
          <p:nvPr/>
        </p:nvSpPr>
        <p:spPr bwMode="auto">
          <a:xfrm>
            <a:off x="4140200" y="3960813"/>
            <a:ext cx="2160588" cy="457200"/>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lang="en-US" altLang="zh-CN">
                <a:solidFill>
                  <a:srgbClr val="FF0000"/>
                </a:solidFill>
                <a:latin typeface="Arial" panose="020B0604020202020204" pitchFamily="34" charset="0"/>
                <a:ea typeface="宋体" panose="02010600030101010101" pitchFamily="2" charset="-122"/>
              </a:rPr>
              <a:t>pt1, 0028F808</a:t>
            </a:r>
          </a:p>
        </p:txBody>
      </p:sp>
      <p:sp>
        <p:nvSpPr>
          <p:cNvPr id="312365" name="Rectangle 45">
            <a:extLst>
              <a:ext uri="{FF2B5EF4-FFF2-40B4-BE49-F238E27FC236}">
                <a16:creationId xmlns:a16="http://schemas.microsoft.com/office/drawing/2014/main" id="{112A2C9D-29E3-C1D3-60DE-E3C7B009EBDE}"/>
              </a:ext>
            </a:extLst>
          </p:cNvPr>
          <p:cNvSpPr>
            <a:spLocks noChangeArrowheads="1"/>
          </p:cNvSpPr>
          <p:nvPr/>
        </p:nvSpPr>
        <p:spPr bwMode="auto">
          <a:xfrm>
            <a:off x="3995738" y="3024188"/>
            <a:ext cx="2305050" cy="457200"/>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lang="en-US" altLang="zh-CN">
                <a:solidFill>
                  <a:srgbClr val="FF0000"/>
                </a:solidFill>
                <a:latin typeface="Arial" panose="020B0604020202020204" pitchFamily="34" charset="0"/>
                <a:ea typeface="宋体" panose="02010600030101010101" pitchFamily="2" charset="-122"/>
              </a:rPr>
              <a:t>pt2, 0028F7EC</a:t>
            </a:r>
          </a:p>
        </p:txBody>
      </p:sp>
      <p:sp>
        <p:nvSpPr>
          <p:cNvPr id="312371" name="Freeform 51">
            <a:extLst>
              <a:ext uri="{FF2B5EF4-FFF2-40B4-BE49-F238E27FC236}">
                <a16:creationId xmlns:a16="http://schemas.microsoft.com/office/drawing/2014/main" id="{CA43E1B0-0914-9D18-067B-1350C3578071}"/>
              </a:ext>
            </a:extLst>
          </p:cNvPr>
          <p:cNvSpPr>
            <a:spLocks/>
          </p:cNvSpPr>
          <p:nvPr/>
        </p:nvSpPr>
        <p:spPr bwMode="auto">
          <a:xfrm>
            <a:off x="7956550" y="2997200"/>
            <a:ext cx="731838" cy="2314575"/>
          </a:xfrm>
          <a:custGeom>
            <a:avLst/>
            <a:gdLst>
              <a:gd name="T0" fmla="*/ 2147483647 w 461"/>
              <a:gd name="T1" fmla="*/ 2147483647 h 1458"/>
              <a:gd name="T2" fmla="*/ 2147483647 w 461"/>
              <a:gd name="T3" fmla="*/ 2147483647 h 1458"/>
              <a:gd name="T4" fmla="*/ 2147483647 w 461"/>
              <a:gd name="T5" fmla="*/ 2147483647 h 1458"/>
              <a:gd name="T6" fmla="*/ 0 w 461"/>
              <a:gd name="T7" fmla="*/ 2147483647 h 1458"/>
              <a:gd name="T8" fmla="*/ 0 60000 65536"/>
              <a:gd name="T9" fmla="*/ 0 60000 65536"/>
              <a:gd name="T10" fmla="*/ 0 60000 65536"/>
              <a:gd name="T11" fmla="*/ 0 60000 65536"/>
              <a:gd name="T12" fmla="*/ 0 w 461"/>
              <a:gd name="T13" fmla="*/ 0 h 1458"/>
              <a:gd name="T14" fmla="*/ 461 w 461"/>
              <a:gd name="T15" fmla="*/ 1458 h 1458"/>
            </a:gdLst>
            <a:ahLst/>
            <a:cxnLst>
              <a:cxn ang="T8">
                <a:pos x="T0" y="T1"/>
              </a:cxn>
              <a:cxn ang="T9">
                <a:pos x="T2" y="T3"/>
              </a:cxn>
              <a:cxn ang="T10">
                <a:pos x="T4" y="T5"/>
              </a:cxn>
              <a:cxn ang="T11">
                <a:pos x="T6" y="T7"/>
              </a:cxn>
            </a:cxnLst>
            <a:rect l="T12" t="T13" r="T14" b="T15"/>
            <a:pathLst>
              <a:path w="461" h="1458">
                <a:moveTo>
                  <a:pt x="46" y="181"/>
                </a:moveTo>
                <a:cubicBezTo>
                  <a:pt x="200" y="90"/>
                  <a:pt x="355" y="0"/>
                  <a:pt x="408" y="181"/>
                </a:cubicBezTo>
                <a:cubicBezTo>
                  <a:pt x="461" y="362"/>
                  <a:pt x="431" y="1080"/>
                  <a:pt x="363" y="1269"/>
                </a:cubicBezTo>
                <a:cubicBezTo>
                  <a:pt x="295" y="1458"/>
                  <a:pt x="60" y="1307"/>
                  <a:pt x="0" y="1315"/>
                </a:cubicBezTo>
              </a:path>
            </a:pathLst>
          </a:custGeom>
          <a:noFill/>
          <a:ln w="57150">
            <a:solidFill>
              <a:srgbClr val="00FF00"/>
            </a:solidFill>
            <a:round/>
            <a:headEnd/>
            <a:tailEnd type="arrow" w="med" len="med"/>
          </a:ln>
          <a:effectLst>
            <a:prstShdw prst="shdw17" dist="17961" dir="2700000">
              <a:srgbClr val="009900"/>
            </a:prst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12372" name="Freeform 52">
            <a:extLst>
              <a:ext uri="{FF2B5EF4-FFF2-40B4-BE49-F238E27FC236}">
                <a16:creationId xmlns:a16="http://schemas.microsoft.com/office/drawing/2014/main" id="{DEBAC7FE-0D72-711B-067B-5009528725E0}"/>
              </a:ext>
            </a:extLst>
          </p:cNvPr>
          <p:cNvSpPr>
            <a:spLocks/>
          </p:cNvSpPr>
          <p:nvPr/>
        </p:nvSpPr>
        <p:spPr bwMode="auto">
          <a:xfrm>
            <a:off x="7956550" y="3889375"/>
            <a:ext cx="731838" cy="2314575"/>
          </a:xfrm>
          <a:custGeom>
            <a:avLst/>
            <a:gdLst>
              <a:gd name="T0" fmla="*/ 2147483647 w 461"/>
              <a:gd name="T1" fmla="*/ 2147483647 h 1458"/>
              <a:gd name="T2" fmla="*/ 2147483647 w 461"/>
              <a:gd name="T3" fmla="*/ 2147483647 h 1458"/>
              <a:gd name="T4" fmla="*/ 2147483647 w 461"/>
              <a:gd name="T5" fmla="*/ 2147483647 h 1458"/>
              <a:gd name="T6" fmla="*/ 0 w 461"/>
              <a:gd name="T7" fmla="*/ 2147483647 h 1458"/>
              <a:gd name="T8" fmla="*/ 0 60000 65536"/>
              <a:gd name="T9" fmla="*/ 0 60000 65536"/>
              <a:gd name="T10" fmla="*/ 0 60000 65536"/>
              <a:gd name="T11" fmla="*/ 0 60000 65536"/>
              <a:gd name="T12" fmla="*/ 0 w 461"/>
              <a:gd name="T13" fmla="*/ 0 h 1458"/>
              <a:gd name="T14" fmla="*/ 461 w 461"/>
              <a:gd name="T15" fmla="*/ 1458 h 1458"/>
            </a:gdLst>
            <a:ahLst/>
            <a:cxnLst>
              <a:cxn ang="T8">
                <a:pos x="T0" y="T1"/>
              </a:cxn>
              <a:cxn ang="T9">
                <a:pos x="T2" y="T3"/>
              </a:cxn>
              <a:cxn ang="T10">
                <a:pos x="T4" y="T5"/>
              </a:cxn>
              <a:cxn ang="T11">
                <a:pos x="T6" y="T7"/>
              </a:cxn>
            </a:cxnLst>
            <a:rect l="T12" t="T13" r="T14" b="T15"/>
            <a:pathLst>
              <a:path w="461" h="1458">
                <a:moveTo>
                  <a:pt x="46" y="181"/>
                </a:moveTo>
                <a:cubicBezTo>
                  <a:pt x="200" y="90"/>
                  <a:pt x="355" y="0"/>
                  <a:pt x="408" y="181"/>
                </a:cubicBezTo>
                <a:cubicBezTo>
                  <a:pt x="461" y="362"/>
                  <a:pt x="431" y="1080"/>
                  <a:pt x="363" y="1269"/>
                </a:cubicBezTo>
                <a:cubicBezTo>
                  <a:pt x="295" y="1458"/>
                  <a:pt x="60" y="1307"/>
                  <a:pt x="0" y="1315"/>
                </a:cubicBezTo>
              </a:path>
            </a:pathLst>
          </a:custGeom>
          <a:noFill/>
          <a:ln w="57150">
            <a:solidFill>
              <a:srgbClr val="FF3399"/>
            </a:solidFill>
            <a:round/>
            <a:headEnd/>
            <a:tailEnd type="arrow" w="med" len="med"/>
          </a:ln>
          <a:effectLst>
            <a:prstShdw prst="shdw17" dist="17961" dir="2700000">
              <a:srgbClr val="991F5C"/>
            </a:prst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12380" name="Rectangle 60">
            <a:extLst>
              <a:ext uri="{FF2B5EF4-FFF2-40B4-BE49-F238E27FC236}">
                <a16:creationId xmlns:a16="http://schemas.microsoft.com/office/drawing/2014/main" id="{8736FD6C-6919-2397-A886-C0DDC4A29B72}"/>
              </a:ext>
            </a:extLst>
          </p:cNvPr>
          <p:cNvSpPr>
            <a:spLocks noChangeArrowheads="1"/>
          </p:cNvSpPr>
          <p:nvPr/>
        </p:nvSpPr>
        <p:spPr bwMode="auto">
          <a:xfrm>
            <a:off x="323850" y="2349500"/>
            <a:ext cx="3671888" cy="1938338"/>
          </a:xfrm>
          <a:prstGeom prst="rect">
            <a:avLst/>
          </a:prstGeom>
          <a:ln>
            <a:headEnd/>
            <a:tailEnd/>
          </a:ln>
        </p:spPr>
        <p:style>
          <a:lnRef idx="2">
            <a:schemeClr val="dk1"/>
          </a:lnRef>
          <a:fillRef idx="1">
            <a:schemeClr val="lt1"/>
          </a:fillRef>
          <a:effectRef idx="0">
            <a:schemeClr val="dk1"/>
          </a:effectRef>
          <a:fontRef idx="minor">
            <a:schemeClr val="dk1"/>
          </a:fontRef>
        </p:style>
        <p:txBody>
          <a:bodyPr>
            <a:spAutoFit/>
          </a:bodyPr>
          <a:lstStyle/>
          <a:p>
            <a:pPr>
              <a:defRPr/>
            </a:pPr>
            <a:r>
              <a:rPr lang="en-US" altLang="zh-CN" sz="2000" dirty="0">
                <a:solidFill>
                  <a:srgbClr val="0000FF"/>
                </a:solidFill>
              </a:rPr>
              <a:t>void </a:t>
            </a:r>
            <a:r>
              <a:rPr lang="en-US" altLang="zh-CN" sz="2000" dirty="0" err="1">
                <a:solidFill>
                  <a:srgbClr val="0000FF"/>
                </a:solidFill>
              </a:rPr>
              <a:t>myswap</a:t>
            </a:r>
            <a:r>
              <a:rPr lang="en-US" altLang="zh-CN" sz="2000" dirty="0">
                <a:solidFill>
                  <a:srgbClr val="0000FF"/>
                </a:solidFill>
              </a:rPr>
              <a:t>(</a:t>
            </a:r>
            <a:r>
              <a:rPr lang="en-US" altLang="zh-CN" sz="2000" dirty="0" err="1">
                <a:solidFill>
                  <a:srgbClr val="0000FF"/>
                </a:solidFill>
              </a:rPr>
              <a:t>int</a:t>
            </a:r>
            <a:r>
              <a:rPr lang="en-US" altLang="zh-CN" sz="2000" dirty="0">
                <a:solidFill>
                  <a:srgbClr val="0000FF"/>
                </a:solidFill>
              </a:rPr>
              <a:t> *p1, </a:t>
            </a:r>
            <a:r>
              <a:rPr lang="en-US" altLang="zh-CN" sz="2000" dirty="0" err="1">
                <a:solidFill>
                  <a:srgbClr val="0000FF"/>
                </a:solidFill>
              </a:rPr>
              <a:t>int</a:t>
            </a:r>
            <a:r>
              <a:rPr lang="en-US" altLang="zh-CN" sz="2000" dirty="0">
                <a:solidFill>
                  <a:srgbClr val="0000FF"/>
                </a:solidFill>
              </a:rPr>
              <a:t> *p2){</a:t>
            </a:r>
          </a:p>
          <a:p>
            <a:pPr eaLnBrk="1" hangingPunct="1">
              <a:defRPr/>
            </a:pPr>
            <a:r>
              <a:rPr lang="en-US" altLang="zh-CN" sz="2000" dirty="0">
                <a:solidFill>
                  <a:schemeClr val="tx1"/>
                </a:solidFill>
              </a:rPr>
              <a:t>	</a:t>
            </a:r>
            <a:r>
              <a:rPr lang="en-US" altLang="zh-CN" sz="2000" dirty="0" err="1">
                <a:solidFill>
                  <a:schemeClr val="tx1"/>
                </a:solidFill>
              </a:rPr>
              <a:t>int</a:t>
            </a:r>
            <a:r>
              <a:rPr lang="en-US" altLang="zh-CN" sz="2000" dirty="0">
                <a:solidFill>
                  <a:schemeClr val="tx1"/>
                </a:solidFill>
              </a:rPr>
              <a:t> *temp;	</a:t>
            </a:r>
          </a:p>
          <a:p>
            <a:pPr eaLnBrk="1" hangingPunct="1">
              <a:defRPr/>
            </a:pPr>
            <a:r>
              <a:rPr lang="en-US" altLang="zh-CN" sz="2000" dirty="0">
                <a:solidFill>
                  <a:srgbClr val="FF0000"/>
                </a:solidFill>
              </a:rPr>
              <a:t>	temp = p1;</a:t>
            </a:r>
          </a:p>
          <a:p>
            <a:pPr eaLnBrk="1" hangingPunct="1">
              <a:defRPr/>
            </a:pPr>
            <a:r>
              <a:rPr lang="en-US" altLang="zh-CN" sz="2000" dirty="0">
                <a:solidFill>
                  <a:srgbClr val="FF0000"/>
                </a:solidFill>
              </a:rPr>
              <a:t>	p1 = p2;	</a:t>
            </a:r>
          </a:p>
          <a:p>
            <a:pPr eaLnBrk="1" hangingPunct="1">
              <a:defRPr/>
            </a:pPr>
            <a:r>
              <a:rPr lang="en-US" altLang="zh-CN" sz="2000" dirty="0">
                <a:solidFill>
                  <a:srgbClr val="FF0000"/>
                </a:solidFill>
              </a:rPr>
              <a:t>	p2 = temp;</a:t>
            </a:r>
            <a:r>
              <a:rPr lang="en-US" altLang="zh-CN" sz="2000" dirty="0">
                <a:solidFill>
                  <a:schemeClr val="tx1"/>
                </a:solidFill>
              </a:rPr>
              <a:t>	</a:t>
            </a:r>
          </a:p>
          <a:p>
            <a:pPr>
              <a:defRPr/>
            </a:pPr>
            <a:r>
              <a:rPr lang="en-US" altLang="zh-CN" sz="2000" dirty="0">
                <a:solidFill>
                  <a:srgbClr val="0000FF"/>
                </a:solidFill>
              </a:rPr>
              <a:t>}</a:t>
            </a:r>
          </a:p>
        </p:txBody>
      </p:sp>
      <p:sp>
        <p:nvSpPr>
          <p:cNvPr id="312381" name="Rectangle 61">
            <a:extLst>
              <a:ext uri="{FF2B5EF4-FFF2-40B4-BE49-F238E27FC236}">
                <a16:creationId xmlns:a16="http://schemas.microsoft.com/office/drawing/2014/main" id="{0476DE3D-3CBA-7B13-9762-EE1491816D8B}"/>
              </a:ext>
            </a:extLst>
          </p:cNvPr>
          <p:cNvSpPr>
            <a:spLocks noChangeArrowheads="1"/>
          </p:cNvSpPr>
          <p:nvPr/>
        </p:nvSpPr>
        <p:spPr bwMode="auto">
          <a:xfrm>
            <a:off x="4140200" y="2133600"/>
            <a:ext cx="2160588" cy="457200"/>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lang="en-US" altLang="zh-CN">
                <a:solidFill>
                  <a:srgbClr val="0000FF"/>
                </a:solidFill>
                <a:latin typeface="Arial" panose="020B0604020202020204" pitchFamily="34" charset="0"/>
                <a:ea typeface="宋体" panose="02010600030101010101" pitchFamily="2" charset="-122"/>
              </a:rPr>
              <a:t>p1, 0028F51D</a:t>
            </a:r>
          </a:p>
        </p:txBody>
      </p:sp>
      <p:sp>
        <p:nvSpPr>
          <p:cNvPr id="312382" name="Rectangle 62">
            <a:extLst>
              <a:ext uri="{FF2B5EF4-FFF2-40B4-BE49-F238E27FC236}">
                <a16:creationId xmlns:a16="http://schemas.microsoft.com/office/drawing/2014/main" id="{F0462EA0-5E81-A41C-736F-3236C640AB30}"/>
              </a:ext>
            </a:extLst>
          </p:cNvPr>
          <p:cNvSpPr>
            <a:spLocks noChangeArrowheads="1"/>
          </p:cNvSpPr>
          <p:nvPr/>
        </p:nvSpPr>
        <p:spPr bwMode="auto">
          <a:xfrm>
            <a:off x="3995738" y="1196975"/>
            <a:ext cx="2305050" cy="457200"/>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r>
              <a:rPr lang="en-US" altLang="zh-CN">
                <a:solidFill>
                  <a:srgbClr val="0000FF"/>
                </a:solidFill>
                <a:latin typeface="Arial" panose="020B0604020202020204" pitchFamily="34" charset="0"/>
                <a:ea typeface="宋体" panose="02010600030101010101" pitchFamily="2" charset="-122"/>
              </a:rPr>
              <a:t>p2, 0028F711</a:t>
            </a:r>
          </a:p>
        </p:txBody>
      </p:sp>
      <p:sp>
        <p:nvSpPr>
          <p:cNvPr id="50218" name="Rectangle 76">
            <a:extLst>
              <a:ext uri="{FF2B5EF4-FFF2-40B4-BE49-F238E27FC236}">
                <a16:creationId xmlns:a16="http://schemas.microsoft.com/office/drawing/2014/main" id="{A5FB1430-38A5-F001-9D34-5EC9659055C9}"/>
              </a:ext>
            </a:extLst>
          </p:cNvPr>
          <p:cNvSpPr>
            <a:spLocks noChangeArrowheads="1"/>
          </p:cNvSpPr>
          <p:nvPr/>
        </p:nvSpPr>
        <p:spPr bwMode="auto">
          <a:xfrm>
            <a:off x="3689350" y="6237288"/>
            <a:ext cx="2106613" cy="708025"/>
          </a:xfrm>
          <a:prstGeom prst="rect">
            <a:avLst/>
          </a:prstGeom>
          <a:noFill/>
          <a:ln>
            <a:noFill/>
          </a:ln>
          <a:effectLst>
            <a:prstShdw prst="shdw17" dist="17961" dir="2700000">
              <a:srgbClr val="7A997A">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2000" b="1">
                <a:solidFill>
                  <a:srgbClr val="008000"/>
                </a:solidFill>
                <a:latin typeface="Arial" panose="020B0604020202020204" pitchFamily="34" charset="0"/>
                <a:ea typeface="宋体" panose="02010600030101010101" pitchFamily="2" charset="-122"/>
              </a:rPr>
              <a:t>BottomofStack</a:t>
            </a:r>
            <a:r>
              <a:rPr lang="zh-CN" altLang="en-US" sz="2000" b="1">
                <a:solidFill>
                  <a:srgbClr val="008000"/>
                </a:solidFill>
                <a:latin typeface="Arial" panose="020B0604020202020204" pitchFamily="34" charset="0"/>
                <a:ea typeface="宋体" panose="02010600030101010101" pitchFamily="2" charset="-122"/>
              </a:rPr>
              <a:t>栈底</a:t>
            </a:r>
          </a:p>
        </p:txBody>
      </p:sp>
      <p:sp>
        <p:nvSpPr>
          <p:cNvPr id="50219" name="AutoShape 78">
            <a:extLst>
              <a:ext uri="{FF2B5EF4-FFF2-40B4-BE49-F238E27FC236}">
                <a16:creationId xmlns:a16="http://schemas.microsoft.com/office/drawing/2014/main" id="{6707C2F0-F9F9-C334-897A-12338DC62E8B}"/>
              </a:ext>
            </a:extLst>
          </p:cNvPr>
          <p:cNvSpPr>
            <a:spLocks noChangeArrowheads="1"/>
          </p:cNvSpPr>
          <p:nvPr/>
        </p:nvSpPr>
        <p:spPr bwMode="auto">
          <a:xfrm>
            <a:off x="5868988" y="6381750"/>
            <a:ext cx="431800" cy="142875"/>
          </a:xfrm>
          <a:prstGeom prst="rightArrow">
            <a:avLst>
              <a:gd name="adj1" fmla="val 50000"/>
              <a:gd name="adj2" fmla="val 75556"/>
            </a:avLst>
          </a:prstGeom>
          <a:solidFill>
            <a:srgbClr val="FF3399"/>
          </a:solidFill>
          <a:ln w="19050">
            <a:solidFill>
              <a:srgbClr val="FF3399"/>
            </a:solidFill>
            <a:miter lim="800000"/>
            <a:headEnd/>
            <a:tailEnd/>
          </a:ln>
          <a:effectLst>
            <a:prstShdw prst="shdw17" dist="17961" dir="2700000">
              <a:srgbClr val="991F5C">
                <a:alpha val="74997"/>
              </a:srgbClr>
            </a:prstShdw>
          </a:effec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1" name="Freeform 81">
            <a:extLst>
              <a:ext uri="{FF2B5EF4-FFF2-40B4-BE49-F238E27FC236}">
                <a16:creationId xmlns:a16="http://schemas.microsoft.com/office/drawing/2014/main" id="{3693B4F2-A8C3-BEB2-ACE4-F3F6A6A2D840}"/>
              </a:ext>
            </a:extLst>
          </p:cNvPr>
          <p:cNvSpPr>
            <a:spLocks/>
          </p:cNvSpPr>
          <p:nvPr/>
        </p:nvSpPr>
        <p:spPr bwMode="auto">
          <a:xfrm>
            <a:off x="7885113" y="765175"/>
            <a:ext cx="1008062" cy="4837113"/>
          </a:xfrm>
          <a:custGeom>
            <a:avLst/>
            <a:gdLst>
              <a:gd name="T0" fmla="*/ 2147483647 w 265"/>
              <a:gd name="T1" fmla="*/ 2147483647 h 3047"/>
              <a:gd name="T2" fmla="*/ 2147483647 w 265"/>
              <a:gd name="T3" fmla="*/ 2147483647 h 3047"/>
              <a:gd name="T4" fmla="*/ 2147483647 w 265"/>
              <a:gd name="T5" fmla="*/ 2147483647 h 3047"/>
              <a:gd name="T6" fmla="*/ 0 w 265"/>
              <a:gd name="T7" fmla="*/ 2147483647 h 3047"/>
              <a:gd name="T8" fmla="*/ 0 60000 65536"/>
              <a:gd name="T9" fmla="*/ 0 60000 65536"/>
              <a:gd name="T10" fmla="*/ 0 60000 65536"/>
              <a:gd name="T11" fmla="*/ 0 60000 65536"/>
              <a:gd name="T12" fmla="*/ 0 w 265"/>
              <a:gd name="T13" fmla="*/ 0 h 3047"/>
              <a:gd name="T14" fmla="*/ 265 w 265"/>
              <a:gd name="T15" fmla="*/ 3047 h 3047"/>
            </a:gdLst>
            <a:ahLst/>
            <a:cxnLst>
              <a:cxn ang="T8">
                <a:pos x="T0" y="T1"/>
              </a:cxn>
              <a:cxn ang="T9">
                <a:pos x="T2" y="T3"/>
              </a:cxn>
              <a:cxn ang="T10">
                <a:pos x="T4" y="T5"/>
              </a:cxn>
              <a:cxn ang="T11">
                <a:pos x="T6" y="T7"/>
              </a:cxn>
            </a:cxnLst>
            <a:rect l="T12" t="T13" r="T14" b="T15"/>
            <a:pathLst>
              <a:path w="265" h="3047">
                <a:moveTo>
                  <a:pt x="46" y="378"/>
                </a:moveTo>
                <a:cubicBezTo>
                  <a:pt x="121" y="189"/>
                  <a:pt x="197" y="0"/>
                  <a:pt x="227" y="378"/>
                </a:cubicBezTo>
                <a:cubicBezTo>
                  <a:pt x="257" y="756"/>
                  <a:pt x="265" y="2245"/>
                  <a:pt x="227" y="2646"/>
                </a:cubicBezTo>
                <a:cubicBezTo>
                  <a:pt x="189" y="3047"/>
                  <a:pt x="38" y="2759"/>
                  <a:pt x="0" y="2782"/>
                </a:cubicBezTo>
              </a:path>
            </a:pathLst>
          </a:custGeom>
          <a:noFill/>
          <a:ln w="38100">
            <a:solidFill>
              <a:srgbClr val="00FF00"/>
            </a:solidFill>
            <a:prstDash val="dash"/>
            <a:round/>
            <a:headEnd/>
            <a:tailEnd type="arrow" w="med" len="med"/>
          </a:ln>
          <a:effectLst>
            <a:prstShdw prst="shdw17" dist="17961" dir="2700000">
              <a:srgbClr val="009900"/>
            </a:prst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12402" name="Freeform 82">
            <a:extLst>
              <a:ext uri="{FF2B5EF4-FFF2-40B4-BE49-F238E27FC236}">
                <a16:creationId xmlns:a16="http://schemas.microsoft.com/office/drawing/2014/main" id="{48BECEC1-62BD-BF3E-0538-433C7859C576}"/>
              </a:ext>
            </a:extLst>
          </p:cNvPr>
          <p:cNvSpPr>
            <a:spLocks/>
          </p:cNvSpPr>
          <p:nvPr/>
        </p:nvSpPr>
        <p:spPr bwMode="auto">
          <a:xfrm>
            <a:off x="7885113" y="1700213"/>
            <a:ext cx="1008062" cy="4837112"/>
          </a:xfrm>
          <a:custGeom>
            <a:avLst/>
            <a:gdLst>
              <a:gd name="T0" fmla="*/ 2147483647 w 265"/>
              <a:gd name="T1" fmla="*/ 2147483647 h 3047"/>
              <a:gd name="T2" fmla="*/ 2147483647 w 265"/>
              <a:gd name="T3" fmla="*/ 2147483647 h 3047"/>
              <a:gd name="T4" fmla="*/ 2147483647 w 265"/>
              <a:gd name="T5" fmla="*/ 2147483647 h 3047"/>
              <a:gd name="T6" fmla="*/ 0 w 265"/>
              <a:gd name="T7" fmla="*/ 2147483647 h 3047"/>
              <a:gd name="T8" fmla="*/ 0 60000 65536"/>
              <a:gd name="T9" fmla="*/ 0 60000 65536"/>
              <a:gd name="T10" fmla="*/ 0 60000 65536"/>
              <a:gd name="T11" fmla="*/ 0 60000 65536"/>
              <a:gd name="T12" fmla="*/ 0 w 265"/>
              <a:gd name="T13" fmla="*/ 0 h 3047"/>
              <a:gd name="T14" fmla="*/ 265 w 265"/>
              <a:gd name="T15" fmla="*/ 3047 h 3047"/>
            </a:gdLst>
            <a:ahLst/>
            <a:cxnLst>
              <a:cxn ang="T8">
                <a:pos x="T0" y="T1"/>
              </a:cxn>
              <a:cxn ang="T9">
                <a:pos x="T2" y="T3"/>
              </a:cxn>
              <a:cxn ang="T10">
                <a:pos x="T4" y="T5"/>
              </a:cxn>
              <a:cxn ang="T11">
                <a:pos x="T6" y="T7"/>
              </a:cxn>
            </a:cxnLst>
            <a:rect l="T12" t="T13" r="T14" b="T15"/>
            <a:pathLst>
              <a:path w="265" h="3047">
                <a:moveTo>
                  <a:pt x="46" y="378"/>
                </a:moveTo>
                <a:cubicBezTo>
                  <a:pt x="121" y="189"/>
                  <a:pt x="197" y="0"/>
                  <a:pt x="227" y="378"/>
                </a:cubicBezTo>
                <a:cubicBezTo>
                  <a:pt x="257" y="756"/>
                  <a:pt x="265" y="2245"/>
                  <a:pt x="227" y="2646"/>
                </a:cubicBezTo>
                <a:cubicBezTo>
                  <a:pt x="189" y="3047"/>
                  <a:pt x="38" y="2759"/>
                  <a:pt x="0" y="2782"/>
                </a:cubicBezTo>
              </a:path>
            </a:pathLst>
          </a:custGeom>
          <a:noFill/>
          <a:ln w="38100">
            <a:solidFill>
              <a:srgbClr val="FF3399"/>
            </a:solidFill>
            <a:prstDash val="dash"/>
            <a:round/>
            <a:headEnd/>
            <a:tailEnd type="arrow" w="med" len="med"/>
          </a:ln>
          <a:effectLst>
            <a:prstShdw prst="shdw17" dist="17961" dir="2700000">
              <a:srgbClr val="991F5C"/>
            </a:prst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12403" name="Rectangle 83">
            <a:extLst>
              <a:ext uri="{FF2B5EF4-FFF2-40B4-BE49-F238E27FC236}">
                <a16:creationId xmlns:a16="http://schemas.microsoft.com/office/drawing/2014/main" id="{9C59ECAC-28A6-88F1-3B9E-A0EDC19D2D16}"/>
              </a:ext>
            </a:extLst>
          </p:cNvPr>
          <p:cNvSpPr>
            <a:spLocks noChangeArrowheads="1"/>
          </p:cNvSpPr>
          <p:nvPr/>
        </p:nvSpPr>
        <p:spPr bwMode="auto">
          <a:xfrm>
            <a:off x="6443663" y="4941888"/>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4" name="Rectangle 84">
            <a:extLst>
              <a:ext uri="{FF2B5EF4-FFF2-40B4-BE49-F238E27FC236}">
                <a16:creationId xmlns:a16="http://schemas.microsoft.com/office/drawing/2014/main" id="{B0D4ADB7-8826-2666-D3C7-FBF30900941C}"/>
              </a:ext>
            </a:extLst>
          </p:cNvPr>
          <p:cNvSpPr>
            <a:spLocks noChangeArrowheads="1"/>
          </p:cNvSpPr>
          <p:nvPr/>
        </p:nvSpPr>
        <p:spPr bwMode="auto">
          <a:xfrm>
            <a:off x="6443663" y="5876925"/>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5" name="Rectangle 85">
            <a:extLst>
              <a:ext uri="{FF2B5EF4-FFF2-40B4-BE49-F238E27FC236}">
                <a16:creationId xmlns:a16="http://schemas.microsoft.com/office/drawing/2014/main" id="{0682915C-F400-1EC9-6372-0383C857ED00}"/>
              </a:ext>
            </a:extLst>
          </p:cNvPr>
          <p:cNvSpPr>
            <a:spLocks noChangeArrowheads="1"/>
          </p:cNvSpPr>
          <p:nvPr/>
        </p:nvSpPr>
        <p:spPr bwMode="auto">
          <a:xfrm>
            <a:off x="6443663" y="4076700"/>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6" name="Rectangle 86">
            <a:extLst>
              <a:ext uri="{FF2B5EF4-FFF2-40B4-BE49-F238E27FC236}">
                <a16:creationId xmlns:a16="http://schemas.microsoft.com/office/drawing/2014/main" id="{9CC723BC-7D7F-4FD5-BFBB-67AAB91EDEA6}"/>
              </a:ext>
            </a:extLst>
          </p:cNvPr>
          <p:cNvSpPr>
            <a:spLocks noChangeArrowheads="1"/>
          </p:cNvSpPr>
          <p:nvPr/>
        </p:nvSpPr>
        <p:spPr bwMode="auto">
          <a:xfrm>
            <a:off x="6443663" y="3141663"/>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7" name="Rectangle 87">
            <a:extLst>
              <a:ext uri="{FF2B5EF4-FFF2-40B4-BE49-F238E27FC236}">
                <a16:creationId xmlns:a16="http://schemas.microsoft.com/office/drawing/2014/main" id="{E77A308A-C239-3A96-716B-4D99367D298D}"/>
              </a:ext>
            </a:extLst>
          </p:cNvPr>
          <p:cNvSpPr>
            <a:spLocks noChangeArrowheads="1"/>
          </p:cNvSpPr>
          <p:nvPr/>
        </p:nvSpPr>
        <p:spPr bwMode="auto">
          <a:xfrm>
            <a:off x="6443663" y="2276475"/>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8" name="Rectangle 88">
            <a:extLst>
              <a:ext uri="{FF2B5EF4-FFF2-40B4-BE49-F238E27FC236}">
                <a16:creationId xmlns:a16="http://schemas.microsoft.com/office/drawing/2014/main" id="{812668B2-1FC9-A0B4-DE10-769735960B6A}"/>
              </a:ext>
            </a:extLst>
          </p:cNvPr>
          <p:cNvSpPr>
            <a:spLocks noChangeArrowheads="1"/>
          </p:cNvSpPr>
          <p:nvPr/>
        </p:nvSpPr>
        <p:spPr bwMode="auto">
          <a:xfrm>
            <a:off x="6443663" y="1268413"/>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zh-CN">
              <a:solidFill>
                <a:srgbClr val="FF3300"/>
              </a:solidFill>
              <a:latin typeface="Arial" panose="020B0604020202020204" pitchFamily="34" charset="0"/>
              <a:ea typeface="宋体" panose="02010600030101010101" pitchFamily="2" charset="-122"/>
            </a:endParaRPr>
          </a:p>
        </p:txBody>
      </p:sp>
      <p:sp>
        <p:nvSpPr>
          <p:cNvPr id="312409" name="Rectangle 89">
            <a:extLst>
              <a:ext uri="{FF2B5EF4-FFF2-40B4-BE49-F238E27FC236}">
                <a16:creationId xmlns:a16="http://schemas.microsoft.com/office/drawing/2014/main" id="{36603588-0FE3-4E08-29E7-F35E5195C74C}"/>
              </a:ext>
            </a:extLst>
          </p:cNvPr>
          <p:cNvSpPr>
            <a:spLocks noChangeArrowheads="1"/>
          </p:cNvSpPr>
          <p:nvPr/>
        </p:nvSpPr>
        <p:spPr bwMode="auto">
          <a:xfrm>
            <a:off x="-82550" y="1185863"/>
            <a:ext cx="4341813" cy="863600"/>
          </a:xfrm>
          <a:prstGeom prst="rect">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zh-CN" altLang="en-US" sz="1800" b="1">
                <a:solidFill>
                  <a:srgbClr val="FF3300"/>
                </a:solidFill>
                <a:latin typeface="Arial" panose="020B0604020202020204" pitchFamily="34" charset="0"/>
                <a:ea typeface="宋体" panose="02010600030101010101" pitchFamily="2" charset="-122"/>
              </a:rPr>
              <a:t>对指针本身来讲，是“值传递”；</a:t>
            </a:r>
          </a:p>
          <a:p>
            <a:r>
              <a:rPr lang="zh-CN" altLang="en-US" sz="1800" b="1">
                <a:solidFill>
                  <a:srgbClr val="FF3300"/>
                </a:solidFill>
                <a:latin typeface="Arial" panose="020B0604020202020204" pitchFamily="34" charset="0"/>
                <a:ea typeface="宋体" panose="02010600030101010101" pitchFamily="2" charset="-122"/>
              </a:rPr>
              <a:t>对指针指向的目标来讲，是“引用传递”。</a:t>
            </a:r>
          </a:p>
        </p:txBody>
      </p:sp>
      <p:sp>
        <p:nvSpPr>
          <p:cNvPr id="312410" name="Rectangle 90">
            <a:extLst>
              <a:ext uri="{FF2B5EF4-FFF2-40B4-BE49-F238E27FC236}">
                <a16:creationId xmlns:a16="http://schemas.microsoft.com/office/drawing/2014/main" id="{51607AD4-8213-74CE-4E59-F93EA4A2AA7B}"/>
              </a:ext>
            </a:extLst>
          </p:cNvPr>
          <p:cNvSpPr>
            <a:spLocks noChangeArrowheads="1"/>
          </p:cNvSpPr>
          <p:nvPr/>
        </p:nvSpPr>
        <p:spPr bwMode="auto">
          <a:xfrm>
            <a:off x="6443663" y="2276475"/>
            <a:ext cx="1439862" cy="288925"/>
          </a:xfrm>
          <a:prstGeom prst="rect">
            <a:avLst/>
          </a:prstGeom>
          <a:solidFill>
            <a:schemeClr val="bg1"/>
          </a:solidFill>
          <a:ln w="19050">
            <a:solidFill>
              <a:schemeClr val="bg1"/>
            </a:solidFill>
            <a:miter lim="800000"/>
            <a:headEnd/>
            <a:tailEnd/>
          </a:ln>
          <a:effectLst>
            <a:prstShdw prst="shdw17" dist="17961" dir="2700000">
              <a:srgbClr val="999999"/>
            </a:prstShdw>
          </a:effec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solidFill>
                  <a:srgbClr val="008000"/>
                </a:solidFill>
                <a:latin typeface="Arial" panose="020B0604020202020204" pitchFamily="34" charset="0"/>
                <a:ea typeface="宋体" panose="02010600030101010101" pitchFamily="2" charset="-122"/>
              </a:rPr>
              <a:t>0028F814</a:t>
            </a:r>
          </a:p>
        </p:txBody>
      </p:sp>
      <p:sp>
        <p:nvSpPr>
          <p:cNvPr id="312413" name="Rectangle 93">
            <a:extLst>
              <a:ext uri="{FF2B5EF4-FFF2-40B4-BE49-F238E27FC236}">
                <a16:creationId xmlns:a16="http://schemas.microsoft.com/office/drawing/2014/main" id="{2F24CFF7-46C7-3DF8-83DA-1F6B6C6BAC6C}"/>
              </a:ext>
            </a:extLst>
          </p:cNvPr>
          <p:cNvSpPr>
            <a:spLocks noChangeArrowheads="1"/>
          </p:cNvSpPr>
          <p:nvPr/>
        </p:nvSpPr>
        <p:spPr bwMode="auto">
          <a:xfrm>
            <a:off x="6443663" y="1268413"/>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solidFill>
                  <a:srgbClr val="FF3399"/>
                </a:solidFill>
                <a:latin typeface="Arial" panose="020B0604020202020204" pitchFamily="34" charset="0"/>
                <a:ea typeface="宋体" panose="02010600030101010101" pitchFamily="2" charset="-122"/>
              </a:rPr>
              <a:t>0028F820</a:t>
            </a:r>
          </a:p>
        </p:txBody>
      </p:sp>
      <p:sp>
        <p:nvSpPr>
          <p:cNvPr id="50231" name="Rectangle 97">
            <a:extLst>
              <a:ext uri="{FF2B5EF4-FFF2-40B4-BE49-F238E27FC236}">
                <a16:creationId xmlns:a16="http://schemas.microsoft.com/office/drawing/2014/main" id="{0EF6FBC1-1C9F-F948-5FBC-1F072F78D137}"/>
              </a:ext>
            </a:extLst>
          </p:cNvPr>
          <p:cNvSpPr>
            <a:spLocks noChangeArrowheads="1"/>
          </p:cNvSpPr>
          <p:nvPr/>
        </p:nvSpPr>
        <p:spPr bwMode="auto">
          <a:xfrm>
            <a:off x="6443663" y="5876925"/>
            <a:ext cx="1439862" cy="288925"/>
          </a:xfrm>
          <a:prstGeom prst="rect">
            <a:avLst/>
          </a:prstGeom>
          <a:solidFill>
            <a:schemeClr val="bg1"/>
          </a:solidFill>
          <a:ln w="19050">
            <a:solidFill>
              <a:schemeClr val="bg1"/>
            </a:solidFill>
            <a:miter lim="800000"/>
            <a:headEnd/>
            <a:tailEnd/>
          </a:ln>
          <a:effectLst>
            <a:prstShdw prst="shdw17" dist="17961" dir="2700000">
              <a:srgbClr val="999999"/>
            </a:prstShdw>
          </a:effec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solidFill>
                  <a:srgbClr val="008000"/>
                </a:solidFill>
                <a:latin typeface="Arial" panose="020B0604020202020204" pitchFamily="34" charset="0"/>
                <a:ea typeface="宋体" panose="02010600030101010101" pitchFamily="2" charset="-122"/>
              </a:rPr>
              <a:t>8</a:t>
            </a:r>
          </a:p>
        </p:txBody>
      </p:sp>
      <p:sp>
        <p:nvSpPr>
          <p:cNvPr id="50232" name="Rectangle 98">
            <a:extLst>
              <a:ext uri="{FF2B5EF4-FFF2-40B4-BE49-F238E27FC236}">
                <a16:creationId xmlns:a16="http://schemas.microsoft.com/office/drawing/2014/main" id="{5E765561-88D5-CCA1-DFCD-F9D8526C8319}"/>
              </a:ext>
            </a:extLst>
          </p:cNvPr>
          <p:cNvSpPr>
            <a:spLocks noChangeArrowheads="1"/>
          </p:cNvSpPr>
          <p:nvPr/>
        </p:nvSpPr>
        <p:spPr bwMode="auto">
          <a:xfrm>
            <a:off x="6443663" y="4941888"/>
            <a:ext cx="1439862" cy="288925"/>
          </a:xfrm>
          <a:prstGeom prst="rect">
            <a:avLst/>
          </a:prstGeom>
          <a:solidFill>
            <a:schemeClr val="bg1"/>
          </a:solidFill>
          <a:ln>
            <a:noFill/>
          </a:ln>
          <a:effectLst>
            <a:prstShdw prst="shdw17" dist="17961" dir="2700000">
              <a:srgbClr val="999999"/>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solidFill>
                  <a:srgbClr val="FF3399"/>
                </a:solidFill>
                <a:latin typeface="Arial" panose="020B0604020202020204" pitchFamily="34" charset="0"/>
                <a:ea typeface="宋体" panose="02010600030101010101" pitchFamily="2" charset="-122"/>
              </a:rPr>
              <a:t>5</a:t>
            </a:r>
          </a:p>
        </p:txBody>
      </p:sp>
      <p:sp>
        <p:nvSpPr>
          <p:cNvPr id="312423" name="Line 103">
            <a:extLst>
              <a:ext uri="{FF2B5EF4-FFF2-40B4-BE49-F238E27FC236}">
                <a16:creationId xmlns:a16="http://schemas.microsoft.com/office/drawing/2014/main" id="{0AD1B4B5-31B2-89A1-3149-0663340562C8}"/>
              </a:ext>
            </a:extLst>
          </p:cNvPr>
          <p:cNvSpPr>
            <a:spLocks noChangeShapeType="1"/>
          </p:cNvSpPr>
          <p:nvPr/>
        </p:nvSpPr>
        <p:spPr bwMode="auto">
          <a:xfrm flipV="1">
            <a:off x="1922463" y="2636838"/>
            <a:ext cx="561975" cy="2981325"/>
          </a:xfrm>
          <a:prstGeom prst="line">
            <a:avLst/>
          </a:prstGeom>
          <a:noFill/>
          <a:ln w="19050">
            <a:solidFill>
              <a:srgbClr val="FF3399"/>
            </a:solidFill>
            <a:round/>
            <a:headEnd/>
            <a:tailEnd type="triangle" w="med" len="med"/>
          </a:ln>
          <a:effectLst>
            <a:prstShdw prst="shdw17" dist="17961" dir="2700000">
              <a:srgbClr val="991F5C">
                <a:alpha val="74997"/>
              </a:srgbClr>
            </a:prst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312424" name="Line 104">
            <a:extLst>
              <a:ext uri="{FF2B5EF4-FFF2-40B4-BE49-F238E27FC236}">
                <a16:creationId xmlns:a16="http://schemas.microsoft.com/office/drawing/2014/main" id="{82FECA7B-B97B-5201-D8E0-96444B768DEB}"/>
              </a:ext>
            </a:extLst>
          </p:cNvPr>
          <p:cNvSpPr>
            <a:spLocks noChangeShapeType="1"/>
          </p:cNvSpPr>
          <p:nvPr/>
        </p:nvSpPr>
        <p:spPr bwMode="auto">
          <a:xfrm flipV="1">
            <a:off x="2420938" y="2636838"/>
            <a:ext cx="855662" cy="2905125"/>
          </a:xfrm>
          <a:prstGeom prst="line">
            <a:avLst/>
          </a:prstGeom>
          <a:noFill/>
          <a:ln w="19050">
            <a:solidFill>
              <a:srgbClr val="00FF00"/>
            </a:solidFill>
            <a:round/>
            <a:headEnd/>
            <a:tailEnd type="triangle" w="med" len="med"/>
          </a:ln>
          <a:effectLst>
            <a:prstShdw prst="shdw17" dist="17961" dir="2700000">
              <a:srgbClr val="009900">
                <a:alpha val="74997"/>
              </a:srgbClr>
            </a:prstShdw>
          </a:effectLst>
          <a:extLst>
            <a:ext uri="{909E8E84-426E-40DD-AFC4-6F175D3DCCD1}">
              <a14:hiddenFill xmlns:a14="http://schemas.microsoft.com/office/drawing/2010/main">
                <a:noFill/>
              </a14:hiddenFill>
            </a:ext>
          </a:extLst>
        </p:spPr>
        <p:txBody>
          <a:bodyPr anchor="ctr"/>
          <a:lstStyle/>
          <a:p>
            <a:endParaRPr lang="zh-CN" altLang="en-US"/>
          </a:p>
        </p:txBody>
      </p:sp>
      <p:sp>
        <p:nvSpPr>
          <p:cNvPr id="312425" name="Freeform 105">
            <a:extLst>
              <a:ext uri="{FF2B5EF4-FFF2-40B4-BE49-F238E27FC236}">
                <a16:creationId xmlns:a16="http://schemas.microsoft.com/office/drawing/2014/main" id="{7C4F54B8-40AD-1749-A2BE-8F0283F28008}"/>
              </a:ext>
            </a:extLst>
          </p:cNvPr>
          <p:cNvSpPr>
            <a:spLocks/>
          </p:cNvSpPr>
          <p:nvPr/>
        </p:nvSpPr>
        <p:spPr bwMode="auto">
          <a:xfrm>
            <a:off x="7885113" y="765175"/>
            <a:ext cx="1008062" cy="5688013"/>
          </a:xfrm>
          <a:custGeom>
            <a:avLst/>
            <a:gdLst>
              <a:gd name="T0" fmla="*/ 2147483647 w 265"/>
              <a:gd name="T1" fmla="*/ 2147483647 h 3047"/>
              <a:gd name="T2" fmla="*/ 2147483647 w 265"/>
              <a:gd name="T3" fmla="*/ 2147483647 h 3047"/>
              <a:gd name="T4" fmla="*/ 2147483647 w 265"/>
              <a:gd name="T5" fmla="*/ 2147483647 h 3047"/>
              <a:gd name="T6" fmla="*/ 0 w 265"/>
              <a:gd name="T7" fmla="*/ 2147483647 h 3047"/>
              <a:gd name="T8" fmla="*/ 0 60000 65536"/>
              <a:gd name="T9" fmla="*/ 0 60000 65536"/>
              <a:gd name="T10" fmla="*/ 0 60000 65536"/>
              <a:gd name="T11" fmla="*/ 0 60000 65536"/>
              <a:gd name="T12" fmla="*/ 0 w 265"/>
              <a:gd name="T13" fmla="*/ 0 h 3047"/>
              <a:gd name="T14" fmla="*/ 265 w 265"/>
              <a:gd name="T15" fmla="*/ 3047 h 3047"/>
            </a:gdLst>
            <a:ahLst/>
            <a:cxnLst>
              <a:cxn ang="T8">
                <a:pos x="T0" y="T1"/>
              </a:cxn>
              <a:cxn ang="T9">
                <a:pos x="T2" y="T3"/>
              </a:cxn>
              <a:cxn ang="T10">
                <a:pos x="T4" y="T5"/>
              </a:cxn>
              <a:cxn ang="T11">
                <a:pos x="T6" y="T7"/>
              </a:cxn>
            </a:cxnLst>
            <a:rect l="T12" t="T13" r="T14" b="T15"/>
            <a:pathLst>
              <a:path w="265" h="3047">
                <a:moveTo>
                  <a:pt x="46" y="378"/>
                </a:moveTo>
                <a:cubicBezTo>
                  <a:pt x="121" y="189"/>
                  <a:pt x="197" y="0"/>
                  <a:pt x="227" y="378"/>
                </a:cubicBezTo>
                <a:cubicBezTo>
                  <a:pt x="257" y="756"/>
                  <a:pt x="265" y="2245"/>
                  <a:pt x="227" y="2646"/>
                </a:cubicBezTo>
                <a:cubicBezTo>
                  <a:pt x="189" y="3047"/>
                  <a:pt x="38" y="2759"/>
                  <a:pt x="0" y="2782"/>
                </a:cubicBezTo>
              </a:path>
            </a:pathLst>
          </a:custGeom>
          <a:noFill/>
          <a:ln w="38100">
            <a:solidFill>
              <a:srgbClr val="FF3399"/>
            </a:solidFill>
            <a:prstDash val="dash"/>
            <a:round/>
            <a:headEnd/>
            <a:tailEnd type="arrow" w="med" len="med"/>
          </a:ln>
          <a:effectLst>
            <a:prstShdw prst="shdw17" dist="17961" dir="2700000">
              <a:srgbClr val="991F5C"/>
            </a:prst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312426" name="Freeform 106">
            <a:extLst>
              <a:ext uri="{FF2B5EF4-FFF2-40B4-BE49-F238E27FC236}">
                <a16:creationId xmlns:a16="http://schemas.microsoft.com/office/drawing/2014/main" id="{2A2D4670-A4CB-6861-5EAF-25CF8E84A9A3}"/>
              </a:ext>
            </a:extLst>
          </p:cNvPr>
          <p:cNvSpPr>
            <a:spLocks/>
          </p:cNvSpPr>
          <p:nvPr/>
        </p:nvSpPr>
        <p:spPr bwMode="auto">
          <a:xfrm>
            <a:off x="7885113" y="1700213"/>
            <a:ext cx="1008062" cy="3744912"/>
          </a:xfrm>
          <a:custGeom>
            <a:avLst/>
            <a:gdLst>
              <a:gd name="T0" fmla="*/ 2147483647 w 265"/>
              <a:gd name="T1" fmla="*/ 2147483647 h 3047"/>
              <a:gd name="T2" fmla="*/ 2147483647 w 265"/>
              <a:gd name="T3" fmla="*/ 2147483647 h 3047"/>
              <a:gd name="T4" fmla="*/ 2147483647 w 265"/>
              <a:gd name="T5" fmla="*/ 2147483647 h 3047"/>
              <a:gd name="T6" fmla="*/ 0 w 265"/>
              <a:gd name="T7" fmla="*/ 2147483647 h 3047"/>
              <a:gd name="T8" fmla="*/ 0 60000 65536"/>
              <a:gd name="T9" fmla="*/ 0 60000 65536"/>
              <a:gd name="T10" fmla="*/ 0 60000 65536"/>
              <a:gd name="T11" fmla="*/ 0 60000 65536"/>
              <a:gd name="T12" fmla="*/ 0 w 265"/>
              <a:gd name="T13" fmla="*/ 0 h 3047"/>
              <a:gd name="T14" fmla="*/ 265 w 265"/>
              <a:gd name="T15" fmla="*/ 3047 h 3047"/>
            </a:gdLst>
            <a:ahLst/>
            <a:cxnLst>
              <a:cxn ang="T8">
                <a:pos x="T0" y="T1"/>
              </a:cxn>
              <a:cxn ang="T9">
                <a:pos x="T2" y="T3"/>
              </a:cxn>
              <a:cxn ang="T10">
                <a:pos x="T4" y="T5"/>
              </a:cxn>
              <a:cxn ang="T11">
                <a:pos x="T6" y="T7"/>
              </a:cxn>
            </a:cxnLst>
            <a:rect l="T12" t="T13" r="T14" b="T15"/>
            <a:pathLst>
              <a:path w="265" h="3047">
                <a:moveTo>
                  <a:pt x="46" y="378"/>
                </a:moveTo>
                <a:cubicBezTo>
                  <a:pt x="121" y="189"/>
                  <a:pt x="197" y="0"/>
                  <a:pt x="227" y="378"/>
                </a:cubicBezTo>
                <a:cubicBezTo>
                  <a:pt x="257" y="756"/>
                  <a:pt x="265" y="2245"/>
                  <a:pt x="227" y="2646"/>
                </a:cubicBezTo>
                <a:cubicBezTo>
                  <a:pt x="189" y="3047"/>
                  <a:pt x="38" y="2759"/>
                  <a:pt x="0" y="2782"/>
                </a:cubicBezTo>
              </a:path>
            </a:pathLst>
          </a:custGeom>
          <a:noFill/>
          <a:ln w="38100">
            <a:solidFill>
              <a:srgbClr val="00FF00"/>
            </a:solidFill>
            <a:prstDash val="dash"/>
            <a:round/>
            <a:headEnd/>
            <a:tailEnd type="arrow" w="med" len="med"/>
          </a:ln>
          <a:effectLst>
            <a:prstShdw prst="shdw17" dist="17961" dir="2700000">
              <a:srgbClr val="009900"/>
            </a:prst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50237" name="灯片编号占位符 3">
            <a:extLst>
              <a:ext uri="{FF2B5EF4-FFF2-40B4-BE49-F238E27FC236}">
                <a16:creationId xmlns:a16="http://schemas.microsoft.com/office/drawing/2014/main" id="{CE40E6A3-C65E-3C8D-5AC8-602A071CB4C7}"/>
              </a:ext>
            </a:extLst>
          </p:cNvPr>
          <p:cNvSpPr>
            <a:spLocks/>
          </p:cNvSpPr>
          <p:nvPr/>
        </p:nvSpPr>
        <p:spPr bwMode="auto">
          <a:xfrm>
            <a:off x="8624888" y="6537325"/>
            <a:ext cx="5286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fld id="{99D62A94-A2E7-4F46-9882-6025DE31B4AE}" type="slidenum">
              <a:rPr lang="en-US" altLang="zh-CN" sz="1600">
                <a:latin typeface="Lucida Sans Unicode" panose="020B0602030504020204" pitchFamily="34" charset="0"/>
                <a:ea typeface="宋体" panose="02010600030101010101" pitchFamily="2" charset="-122"/>
              </a:rPr>
              <a:pPr algn="r"/>
              <a:t>5</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022A9FEB-4A2C-A644-ADB2-802B79F5830F}"/>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dirty="0"/>
              <a:t>Pointer as parameter</a:t>
            </a:r>
            <a:endParaRPr lang="zh-CN" altLang="en-US"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12324"/>
                                        </p:tgtEl>
                                        <p:attrNameLst>
                                          <p:attrName>style.visibility</p:attrName>
                                        </p:attrNameLst>
                                      </p:cBhvr>
                                      <p:to>
                                        <p:strVal val="visible"/>
                                      </p:to>
                                    </p:set>
                                    <p:animEffect transition="in" filter="checkerboard(across)">
                                      <p:cBhvr>
                                        <p:cTn id="7" dur="500"/>
                                        <p:tgtEl>
                                          <p:spTgt spid="31232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312347"/>
                                        </p:tgtEl>
                                        <p:attrNameLst>
                                          <p:attrName>style.visibility</p:attrName>
                                        </p:attrNameLst>
                                      </p:cBhvr>
                                      <p:to>
                                        <p:strVal val="visible"/>
                                      </p:to>
                                    </p:set>
                                    <p:animEffect transition="in" filter="checkerboard(across)">
                                      <p:cBhvr>
                                        <p:cTn id="10" dur="500"/>
                                        <p:tgtEl>
                                          <p:spTgt spid="312347"/>
                                        </p:tgtEl>
                                      </p:cBhvr>
                                    </p:animEffect>
                                  </p:childTnLst>
                                </p:cTn>
                              </p:par>
                              <p:par>
                                <p:cTn id="11" presetID="5" presetClass="exit" presetSubtype="10" fill="hold" grpId="0" nodeType="withEffect">
                                  <p:stCondLst>
                                    <p:cond delay="0"/>
                                  </p:stCondLst>
                                  <p:childTnLst>
                                    <p:animEffect transition="out" filter="checkerboard(across)">
                                      <p:cBhvr>
                                        <p:cTn id="12" dur="500"/>
                                        <p:tgtEl>
                                          <p:spTgt spid="312403"/>
                                        </p:tgtEl>
                                      </p:cBhvr>
                                    </p:animEffect>
                                    <p:set>
                                      <p:cBhvr>
                                        <p:cTn id="13" dur="1" fill="hold">
                                          <p:stCondLst>
                                            <p:cond delay="499"/>
                                          </p:stCondLst>
                                        </p:cTn>
                                        <p:tgtEl>
                                          <p:spTgt spid="312403"/>
                                        </p:tgtEl>
                                        <p:attrNameLst>
                                          <p:attrName>style.visibility</p:attrName>
                                        </p:attrNameLst>
                                      </p:cBhvr>
                                      <p:to>
                                        <p:strVal val="hidden"/>
                                      </p:to>
                                    </p:set>
                                  </p:childTnLst>
                                </p:cTn>
                              </p:par>
                              <p:par>
                                <p:cTn id="14" presetID="5" presetClass="exit" presetSubtype="10" fill="hold" grpId="0" nodeType="withEffect">
                                  <p:stCondLst>
                                    <p:cond delay="0"/>
                                  </p:stCondLst>
                                  <p:childTnLst>
                                    <p:animEffect transition="out" filter="checkerboard(across)">
                                      <p:cBhvr>
                                        <p:cTn id="15" dur="500"/>
                                        <p:tgtEl>
                                          <p:spTgt spid="312404"/>
                                        </p:tgtEl>
                                      </p:cBhvr>
                                    </p:animEffect>
                                    <p:set>
                                      <p:cBhvr>
                                        <p:cTn id="16" dur="1" fill="hold">
                                          <p:stCondLst>
                                            <p:cond delay="499"/>
                                          </p:stCondLst>
                                        </p:cTn>
                                        <p:tgtEl>
                                          <p:spTgt spid="312404"/>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12364"/>
                                        </p:tgtEl>
                                        <p:attrNameLst>
                                          <p:attrName>style.visibility</p:attrName>
                                        </p:attrNameLst>
                                      </p:cBhvr>
                                      <p:to>
                                        <p:strVal val="visible"/>
                                      </p:to>
                                    </p:set>
                                    <p:animEffect transition="in" filter="checkerboard(across)">
                                      <p:cBhvr>
                                        <p:cTn id="21" dur="500"/>
                                        <p:tgtEl>
                                          <p:spTgt spid="31236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12365"/>
                                        </p:tgtEl>
                                        <p:attrNameLst>
                                          <p:attrName>style.visibility</p:attrName>
                                        </p:attrNameLst>
                                      </p:cBhvr>
                                      <p:to>
                                        <p:strVal val="visible"/>
                                      </p:to>
                                    </p:set>
                                    <p:animEffect transition="in" filter="checkerboard(across)">
                                      <p:cBhvr>
                                        <p:cTn id="24" dur="500"/>
                                        <p:tgtEl>
                                          <p:spTgt spid="312365"/>
                                        </p:tgtEl>
                                      </p:cBhvr>
                                    </p:animEffect>
                                  </p:childTnLst>
                                </p:cTn>
                              </p:par>
                              <p:par>
                                <p:cTn id="25" presetID="5" presetClass="exit" presetSubtype="10" fill="hold" grpId="0" nodeType="withEffect">
                                  <p:stCondLst>
                                    <p:cond delay="0"/>
                                  </p:stCondLst>
                                  <p:childTnLst>
                                    <p:animEffect transition="out" filter="checkerboard(across)">
                                      <p:cBhvr>
                                        <p:cTn id="26" dur="500"/>
                                        <p:tgtEl>
                                          <p:spTgt spid="312405"/>
                                        </p:tgtEl>
                                      </p:cBhvr>
                                    </p:animEffect>
                                    <p:set>
                                      <p:cBhvr>
                                        <p:cTn id="27" dur="1" fill="hold">
                                          <p:stCondLst>
                                            <p:cond delay="499"/>
                                          </p:stCondLst>
                                        </p:cTn>
                                        <p:tgtEl>
                                          <p:spTgt spid="312405"/>
                                        </p:tgtEl>
                                        <p:attrNameLst>
                                          <p:attrName>style.visibility</p:attrName>
                                        </p:attrNameLst>
                                      </p:cBhvr>
                                      <p:to>
                                        <p:strVal val="hidden"/>
                                      </p:to>
                                    </p:set>
                                  </p:childTnLst>
                                </p:cTn>
                              </p:par>
                              <p:par>
                                <p:cTn id="28" presetID="5" presetClass="exit" presetSubtype="10" fill="hold" grpId="0" nodeType="withEffect">
                                  <p:stCondLst>
                                    <p:cond delay="0"/>
                                  </p:stCondLst>
                                  <p:childTnLst>
                                    <p:animEffect transition="out" filter="checkerboard(across)">
                                      <p:cBhvr>
                                        <p:cTn id="29" dur="500"/>
                                        <p:tgtEl>
                                          <p:spTgt spid="312406"/>
                                        </p:tgtEl>
                                      </p:cBhvr>
                                    </p:animEffect>
                                    <p:set>
                                      <p:cBhvr>
                                        <p:cTn id="30" dur="1" fill="hold">
                                          <p:stCondLst>
                                            <p:cond delay="499"/>
                                          </p:stCondLst>
                                        </p:cTn>
                                        <p:tgtEl>
                                          <p:spTgt spid="312406"/>
                                        </p:tgtEl>
                                        <p:attrNameLst>
                                          <p:attrName>style.visibility</p:attrName>
                                        </p:attrNameLst>
                                      </p:cBhvr>
                                      <p:to>
                                        <p:strVal val="hidden"/>
                                      </p:to>
                                    </p:set>
                                  </p:childTnLst>
                                </p:cTn>
                              </p:par>
                              <p:par>
                                <p:cTn id="31" presetID="5" presetClass="entr" presetSubtype="10" fill="hold" nodeType="withEffect">
                                  <p:stCondLst>
                                    <p:cond delay="0"/>
                                  </p:stCondLst>
                                  <p:childTnLst>
                                    <p:set>
                                      <p:cBhvr>
                                        <p:cTn id="32" dur="1" fill="hold">
                                          <p:stCondLst>
                                            <p:cond delay="0"/>
                                          </p:stCondLst>
                                        </p:cTn>
                                        <p:tgtEl>
                                          <p:spTgt spid="312371"/>
                                        </p:tgtEl>
                                        <p:attrNameLst>
                                          <p:attrName>style.visibility</p:attrName>
                                        </p:attrNameLst>
                                      </p:cBhvr>
                                      <p:to>
                                        <p:strVal val="visible"/>
                                      </p:to>
                                    </p:set>
                                    <p:animEffect transition="in" filter="checkerboard(across)">
                                      <p:cBhvr>
                                        <p:cTn id="33" dur="500"/>
                                        <p:tgtEl>
                                          <p:spTgt spid="312371"/>
                                        </p:tgtEl>
                                      </p:cBhvr>
                                    </p:animEffect>
                                  </p:childTnLst>
                                </p:cTn>
                              </p:par>
                              <p:par>
                                <p:cTn id="34" presetID="5" presetClass="entr" presetSubtype="10" fill="hold" nodeType="withEffect">
                                  <p:stCondLst>
                                    <p:cond delay="0"/>
                                  </p:stCondLst>
                                  <p:childTnLst>
                                    <p:set>
                                      <p:cBhvr>
                                        <p:cTn id="35" dur="1" fill="hold">
                                          <p:stCondLst>
                                            <p:cond delay="0"/>
                                          </p:stCondLst>
                                        </p:cTn>
                                        <p:tgtEl>
                                          <p:spTgt spid="312372"/>
                                        </p:tgtEl>
                                        <p:attrNameLst>
                                          <p:attrName>style.visibility</p:attrName>
                                        </p:attrNameLst>
                                      </p:cBhvr>
                                      <p:to>
                                        <p:strVal val="visible"/>
                                      </p:to>
                                    </p:set>
                                    <p:animEffect transition="in" filter="checkerboard(across)">
                                      <p:cBhvr>
                                        <p:cTn id="36" dur="500"/>
                                        <p:tgtEl>
                                          <p:spTgt spid="31237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 presetClass="entr" presetSubtype="10" fill="hold" nodeType="clickEffect">
                                  <p:stCondLst>
                                    <p:cond delay="0"/>
                                  </p:stCondLst>
                                  <p:childTnLst>
                                    <p:set>
                                      <p:cBhvr>
                                        <p:cTn id="40" dur="1" fill="hold">
                                          <p:stCondLst>
                                            <p:cond delay="0"/>
                                          </p:stCondLst>
                                        </p:cTn>
                                        <p:tgtEl>
                                          <p:spTgt spid="312325">
                                            <p:txEl>
                                              <p:pRg st="3" end="3"/>
                                            </p:txEl>
                                          </p:spTgt>
                                        </p:tgtEl>
                                        <p:attrNameLst>
                                          <p:attrName>style.visibility</p:attrName>
                                        </p:attrNameLst>
                                      </p:cBhvr>
                                      <p:to>
                                        <p:strVal val="visible"/>
                                      </p:to>
                                    </p:set>
                                    <p:animEffect transition="in" filter="checkerboard(across)">
                                      <p:cBhvr>
                                        <p:cTn id="41" dur="500"/>
                                        <p:tgtEl>
                                          <p:spTgt spid="312325">
                                            <p:txEl>
                                              <p:pRg st="3" end="3"/>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nodeType="clickEffect">
                                  <p:stCondLst>
                                    <p:cond delay="0"/>
                                  </p:stCondLst>
                                  <p:childTnLst>
                                    <p:set>
                                      <p:cBhvr>
                                        <p:cTn id="45" dur="1" fill="hold">
                                          <p:stCondLst>
                                            <p:cond delay="0"/>
                                          </p:stCondLst>
                                        </p:cTn>
                                        <p:tgtEl>
                                          <p:spTgt spid="312423"/>
                                        </p:tgtEl>
                                        <p:attrNameLst>
                                          <p:attrName>style.visibility</p:attrName>
                                        </p:attrNameLst>
                                      </p:cBhvr>
                                      <p:to>
                                        <p:strVal val="visible"/>
                                      </p:to>
                                    </p:set>
                                    <p:animEffect transition="in" filter="checkerboard(across)">
                                      <p:cBhvr>
                                        <p:cTn id="46" dur="500"/>
                                        <p:tgtEl>
                                          <p:spTgt spid="312423"/>
                                        </p:tgtEl>
                                      </p:cBhvr>
                                    </p:animEffect>
                                  </p:childTnLst>
                                </p:cTn>
                              </p:par>
                              <p:par>
                                <p:cTn id="47" presetID="5" presetClass="entr" presetSubtype="10" fill="hold" nodeType="withEffect">
                                  <p:stCondLst>
                                    <p:cond delay="0"/>
                                  </p:stCondLst>
                                  <p:childTnLst>
                                    <p:set>
                                      <p:cBhvr>
                                        <p:cTn id="48" dur="1" fill="hold">
                                          <p:stCondLst>
                                            <p:cond delay="0"/>
                                          </p:stCondLst>
                                        </p:cTn>
                                        <p:tgtEl>
                                          <p:spTgt spid="312424"/>
                                        </p:tgtEl>
                                        <p:attrNameLst>
                                          <p:attrName>style.visibility</p:attrName>
                                        </p:attrNameLst>
                                      </p:cBhvr>
                                      <p:to>
                                        <p:strVal val="visible"/>
                                      </p:to>
                                    </p:set>
                                    <p:animEffect transition="in" filter="checkerboard(across)">
                                      <p:cBhvr>
                                        <p:cTn id="49" dur="500"/>
                                        <p:tgtEl>
                                          <p:spTgt spid="31242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 presetClass="entr" presetSubtype="10" fill="hold" grpId="0" nodeType="clickEffect">
                                  <p:stCondLst>
                                    <p:cond delay="0"/>
                                  </p:stCondLst>
                                  <p:childTnLst>
                                    <p:set>
                                      <p:cBhvr>
                                        <p:cTn id="53" dur="1" fill="hold">
                                          <p:stCondLst>
                                            <p:cond delay="0"/>
                                          </p:stCondLst>
                                        </p:cTn>
                                        <p:tgtEl>
                                          <p:spTgt spid="312380"/>
                                        </p:tgtEl>
                                        <p:attrNameLst>
                                          <p:attrName>style.visibility</p:attrName>
                                        </p:attrNameLst>
                                      </p:cBhvr>
                                      <p:to>
                                        <p:strVal val="visible"/>
                                      </p:to>
                                    </p:set>
                                    <p:animEffect transition="in" filter="checkerboard(across)">
                                      <p:cBhvr>
                                        <p:cTn id="54" dur="500"/>
                                        <p:tgtEl>
                                          <p:spTgt spid="312380"/>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312381"/>
                                        </p:tgtEl>
                                        <p:attrNameLst>
                                          <p:attrName>style.visibility</p:attrName>
                                        </p:attrNameLst>
                                      </p:cBhvr>
                                      <p:to>
                                        <p:strVal val="visible"/>
                                      </p:to>
                                    </p:set>
                                    <p:animEffect transition="in" filter="checkerboard(across)">
                                      <p:cBhvr>
                                        <p:cTn id="59" dur="500"/>
                                        <p:tgtEl>
                                          <p:spTgt spid="312381"/>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312382"/>
                                        </p:tgtEl>
                                        <p:attrNameLst>
                                          <p:attrName>style.visibility</p:attrName>
                                        </p:attrNameLst>
                                      </p:cBhvr>
                                      <p:to>
                                        <p:strVal val="visible"/>
                                      </p:to>
                                    </p:set>
                                    <p:animEffect transition="in" filter="checkerboard(across)">
                                      <p:cBhvr>
                                        <p:cTn id="62" dur="500"/>
                                        <p:tgtEl>
                                          <p:spTgt spid="31238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xit" presetSubtype="10" fill="hold" grpId="0" nodeType="clickEffect">
                                  <p:stCondLst>
                                    <p:cond delay="0"/>
                                  </p:stCondLst>
                                  <p:childTnLst>
                                    <p:animEffect transition="out" filter="checkerboard(across)">
                                      <p:cBhvr>
                                        <p:cTn id="66" dur="500"/>
                                        <p:tgtEl>
                                          <p:spTgt spid="312407"/>
                                        </p:tgtEl>
                                      </p:cBhvr>
                                    </p:animEffect>
                                    <p:set>
                                      <p:cBhvr>
                                        <p:cTn id="67" dur="1" fill="hold">
                                          <p:stCondLst>
                                            <p:cond delay="499"/>
                                          </p:stCondLst>
                                        </p:cTn>
                                        <p:tgtEl>
                                          <p:spTgt spid="312407"/>
                                        </p:tgtEl>
                                        <p:attrNameLst>
                                          <p:attrName>style.visibility</p:attrName>
                                        </p:attrNameLst>
                                      </p:cBhvr>
                                      <p:to>
                                        <p:strVal val="hidden"/>
                                      </p:to>
                                    </p:set>
                                  </p:childTnLst>
                                </p:cTn>
                              </p:par>
                              <p:par>
                                <p:cTn id="68" presetID="5" presetClass="exit" presetSubtype="10" fill="hold" grpId="0" nodeType="withEffect">
                                  <p:stCondLst>
                                    <p:cond delay="0"/>
                                  </p:stCondLst>
                                  <p:childTnLst>
                                    <p:animEffect transition="out" filter="checkerboard(across)">
                                      <p:cBhvr>
                                        <p:cTn id="69" dur="500"/>
                                        <p:tgtEl>
                                          <p:spTgt spid="312408"/>
                                        </p:tgtEl>
                                      </p:cBhvr>
                                    </p:animEffect>
                                    <p:set>
                                      <p:cBhvr>
                                        <p:cTn id="70" dur="1" fill="hold">
                                          <p:stCondLst>
                                            <p:cond delay="499"/>
                                          </p:stCondLst>
                                        </p:cTn>
                                        <p:tgtEl>
                                          <p:spTgt spid="312408"/>
                                        </p:tgtEl>
                                        <p:attrNameLst>
                                          <p:attrName>style.visibility</p:attrName>
                                        </p:attrNameLst>
                                      </p:cBhvr>
                                      <p:to>
                                        <p:strVal val="hidden"/>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5" presetClass="entr" presetSubtype="10" fill="hold" nodeType="clickEffect">
                                  <p:stCondLst>
                                    <p:cond delay="0"/>
                                  </p:stCondLst>
                                  <p:childTnLst>
                                    <p:set>
                                      <p:cBhvr>
                                        <p:cTn id="74" dur="1" fill="hold">
                                          <p:stCondLst>
                                            <p:cond delay="0"/>
                                          </p:stCondLst>
                                        </p:cTn>
                                        <p:tgtEl>
                                          <p:spTgt spid="312401"/>
                                        </p:tgtEl>
                                        <p:attrNameLst>
                                          <p:attrName>style.visibility</p:attrName>
                                        </p:attrNameLst>
                                      </p:cBhvr>
                                      <p:to>
                                        <p:strVal val="visible"/>
                                      </p:to>
                                    </p:set>
                                    <p:animEffect transition="in" filter="checkerboard(across)">
                                      <p:cBhvr>
                                        <p:cTn id="75" dur="500"/>
                                        <p:tgtEl>
                                          <p:spTgt spid="312401"/>
                                        </p:tgtEl>
                                      </p:cBhvr>
                                    </p:animEffect>
                                  </p:childTnLst>
                                </p:cTn>
                              </p:par>
                              <p:par>
                                <p:cTn id="76" presetID="5" presetClass="entr" presetSubtype="10" fill="hold" nodeType="withEffect">
                                  <p:stCondLst>
                                    <p:cond delay="0"/>
                                  </p:stCondLst>
                                  <p:childTnLst>
                                    <p:set>
                                      <p:cBhvr>
                                        <p:cTn id="77" dur="1" fill="hold">
                                          <p:stCondLst>
                                            <p:cond delay="0"/>
                                          </p:stCondLst>
                                        </p:cTn>
                                        <p:tgtEl>
                                          <p:spTgt spid="312402"/>
                                        </p:tgtEl>
                                        <p:attrNameLst>
                                          <p:attrName>style.visibility</p:attrName>
                                        </p:attrNameLst>
                                      </p:cBhvr>
                                      <p:to>
                                        <p:strVal val="visible"/>
                                      </p:to>
                                    </p:set>
                                    <p:animEffect transition="in" filter="checkerboard(across)">
                                      <p:cBhvr>
                                        <p:cTn id="78" dur="500"/>
                                        <p:tgtEl>
                                          <p:spTgt spid="31240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5" presetClass="entr" presetSubtype="10" fill="hold" grpId="0" nodeType="clickEffect">
                                  <p:stCondLst>
                                    <p:cond delay="0"/>
                                  </p:stCondLst>
                                  <p:childTnLst>
                                    <p:set>
                                      <p:cBhvr>
                                        <p:cTn id="82" dur="1" fill="hold">
                                          <p:stCondLst>
                                            <p:cond delay="0"/>
                                          </p:stCondLst>
                                        </p:cTn>
                                        <p:tgtEl>
                                          <p:spTgt spid="312409"/>
                                        </p:tgtEl>
                                        <p:attrNameLst>
                                          <p:attrName>style.visibility</p:attrName>
                                        </p:attrNameLst>
                                      </p:cBhvr>
                                      <p:to>
                                        <p:strVal val="visible"/>
                                      </p:to>
                                    </p:set>
                                    <p:animEffect transition="in" filter="checkerboard(across)">
                                      <p:cBhvr>
                                        <p:cTn id="83" dur="500"/>
                                        <p:tgtEl>
                                          <p:spTgt spid="31240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5" presetClass="entr" presetSubtype="10" fill="hold" grpId="0" nodeType="clickEffect">
                                  <p:stCondLst>
                                    <p:cond delay="0"/>
                                  </p:stCondLst>
                                  <p:childTnLst>
                                    <p:set>
                                      <p:cBhvr>
                                        <p:cTn id="87" dur="1" fill="hold">
                                          <p:stCondLst>
                                            <p:cond delay="0"/>
                                          </p:stCondLst>
                                        </p:cTn>
                                        <p:tgtEl>
                                          <p:spTgt spid="312410"/>
                                        </p:tgtEl>
                                        <p:attrNameLst>
                                          <p:attrName>style.visibility</p:attrName>
                                        </p:attrNameLst>
                                      </p:cBhvr>
                                      <p:to>
                                        <p:strVal val="visible"/>
                                      </p:to>
                                    </p:set>
                                    <p:animEffect transition="in" filter="checkerboard(across)">
                                      <p:cBhvr>
                                        <p:cTn id="88" dur="500"/>
                                        <p:tgtEl>
                                          <p:spTgt spid="312410"/>
                                        </p:tgtEl>
                                      </p:cBhvr>
                                    </p:animEffect>
                                  </p:childTnLst>
                                </p:cTn>
                              </p:par>
                              <p:par>
                                <p:cTn id="89" presetID="5" presetClass="entr" presetSubtype="10" fill="hold" grpId="0" nodeType="withEffect">
                                  <p:stCondLst>
                                    <p:cond delay="0"/>
                                  </p:stCondLst>
                                  <p:childTnLst>
                                    <p:set>
                                      <p:cBhvr>
                                        <p:cTn id="90" dur="1" fill="hold">
                                          <p:stCondLst>
                                            <p:cond delay="0"/>
                                          </p:stCondLst>
                                        </p:cTn>
                                        <p:tgtEl>
                                          <p:spTgt spid="312413"/>
                                        </p:tgtEl>
                                        <p:attrNameLst>
                                          <p:attrName>style.visibility</p:attrName>
                                        </p:attrNameLst>
                                      </p:cBhvr>
                                      <p:to>
                                        <p:strVal val="visible"/>
                                      </p:to>
                                    </p:set>
                                    <p:animEffect transition="in" filter="checkerboard(across)">
                                      <p:cBhvr>
                                        <p:cTn id="91" dur="500"/>
                                        <p:tgtEl>
                                          <p:spTgt spid="312413"/>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5" presetClass="exit" presetSubtype="10" fill="hold" nodeType="clickEffect">
                                  <p:stCondLst>
                                    <p:cond delay="0"/>
                                  </p:stCondLst>
                                  <p:childTnLst>
                                    <p:animEffect transition="out" filter="checkerboard(across)">
                                      <p:cBhvr>
                                        <p:cTn id="95" dur="500"/>
                                        <p:tgtEl>
                                          <p:spTgt spid="312401"/>
                                        </p:tgtEl>
                                      </p:cBhvr>
                                    </p:animEffect>
                                    <p:set>
                                      <p:cBhvr>
                                        <p:cTn id="96" dur="1" fill="hold">
                                          <p:stCondLst>
                                            <p:cond delay="499"/>
                                          </p:stCondLst>
                                        </p:cTn>
                                        <p:tgtEl>
                                          <p:spTgt spid="312401"/>
                                        </p:tgtEl>
                                        <p:attrNameLst>
                                          <p:attrName>style.visibility</p:attrName>
                                        </p:attrNameLst>
                                      </p:cBhvr>
                                      <p:to>
                                        <p:strVal val="hidden"/>
                                      </p:to>
                                    </p:set>
                                  </p:childTnLst>
                                </p:cTn>
                              </p:par>
                              <p:par>
                                <p:cTn id="97" presetID="5" presetClass="exit" presetSubtype="10" fill="hold" nodeType="withEffect">
                                  <p:stCondLst>
                                    <p:cond delay="0"/>
                                  </p:stCondLst>
                                  <p:childTnLst>
                                    <p:animEffect transition="out" filter="checkerboard(across)">
                                      <p:cBhvr>
                                        <p:cTn id="98" dur="500"/>
                                        <p:tgtEl>
                                          <p:spTgt spid="312402"/>
                                        </p:tgtEl>
                                      </p:cBhvr>
                                    </p:animEffect>
                                    <p:set>
                                      <p:cBhvr>
                                        <p:cTn id="99" dur="1" fill="hold">
                                          <p:stCondLst>
                                            <p:cond delay="499"/>
                                          </p:stCondLst>
                                        </p:cTn>
                                        <p:tgtEl>
                                          <p:spTgt spid="312402"/>
                                        </p:tgtEl>
                                        <p:attrNameLst>
                                          <p:attrName>style.visibility</p:attrName>
                                        </p:attrNameLst>
                                      </p:cBhvr>
                                      <p:to>
                                        <p:strVal val="hidden"/>
                                      </p:to>
                                    </p:set>
                                  </p:childTnLst>
                                </p:cTn>
                              </p:par>
                            </p:childTnLst>
                          </p:cTn>
                        </p:par>
                        <p:par>
                          <p:cTn id="100" fill="hold" nodeType="afterGroup">
                            <p:stCondLst>
                              <p:cond delay="500"/>
                            </p:stCondLst>
                            <p:childTnLst>
                              <p:par>
                                <p:cTn id="101" presetID="5" presetClass="entr" presetSubtype="10" fill="hold" nodeType="afterEffect">
                                  <p:stCondLst>
                                    <p:cond delay="0"/>
                                  </p:stCondLst>
                                  <p:childTnLst>
                                    <p:set>
                                      <p:cBhvr>
                                        <p:cTn id="102" dur="1" fill="hold">
                                          <p:stCondLst>
                                            <p:cond delay="0"/>
                                          </p:stCondLst>
                                        </p:cTn>
                                        <p:tgtEl>
                                          <p:spTgt spid="312425"/>
                                        </p:tgtEl>
                                        <p:attrNameLst>
                                          <p:attrName>style.visibility</p:attrName>
                                        </p:attrNameLst>
                                      </p:cBhvr>
                                      <p:to>
                                        <p:strVal val="visible"/>
                                      </p:to>
                                    </p:set>
                                    <p:animEffect transition="in" filter="checkerboard(across)">
                                      <p:cBhvr>
                                        <p:cTn id="103" dur="500"/>
                                        <p:tgtEl>
                                          <p:spTgt spid="312425"/>
                                        </p:tgtEl>
                                      </p:cBhvr>
                                    </p:animEffect>
                                  </p:childTnLst>
                                </p:cTn>
                              </p:par>
                            </p:childTnLst>
                          </p:cTn>
                        </p:par>
                        <p:par>
                          <p:cTn id="104" fill="hold" nodeType="afterGroup">
                            <p:stCondLst>
                              <p:cond delay="1000"/>
                            </p:stCondLst>
                            <p:childTnLst>
                              <p:par>
                                <p:cTn id="105" presetID="5" presetClass="entr" presetSubtype="10" fill="hold" nodeType="afterEffect">
                                  <p:stCondLst>
                                    <p:cond delay="0"/>
                                  </p:stCondLst>
                                  <p:childTnLst>
                                    <p:set>
                                      <p:cBhvr>
                                        <p:cTn id="106" dur="1" fill="hold">
                                          <p:stCondLst>
                                            <p:cond delay="0"/>
                                          </p:stCondLst>
                                        </p:cTn>
                                        <p:tgtEl>
                                          <p:spTgt spid="312426"/>
                                        </p:tgtEl>
                                        <p:attrNameLst>
                                          <p:attrName>style.visibility</p:attrName>
                                        </p:attrNameLst>
                                      </p:cBhvr>
                                      <p:to>
                                        <p:strVal val="visible"/>
                                      </p:to>
                                    </p:set>
                                    <p:animEffect transition="in" filter="checkerboard(across)">
                                      <p:cBhvr>
                                        <p:cTn id="107" dur="500"/>
                                        <p:tgtEl>
                                          <p:spTgt spid="312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4" grpId="0"/>
      <p:bldP spid="312347" grpId="0"/>
      <p:bldP spid="312364" grpId="0"/>
      <p:bldP spid="312365" grpId="0"/>
      <p:bldP spid="312380" grpId="0" animBg="1"/>
      <p:bldP spid="312381" grpId="0"/>
      <p:bldP spid="312382" grpId="0"/>
      <p:bldP spid="312403" grpId="0" animBg="1"/>
      <p:bldP spid="312404" grpId="0" animBg="1"/>
      <p:bldP spid="312405" grpId="0" animBg="1"/>
      <p:bldP spid="312406" grpId="0" animBg="1"/>
      <p:bldP spid="312407" grpId="0" animBg="1"/>
      <p:bldP spid="312408" grpId="0" animBg="1"/>
      <p:bldP spid="312409" grpId="0" animBg="1"/>
      <p:bldP spid="312410" grpId="0" animBg="1"/>
      <p:bldP spid="3124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a:extLst>
              <a:ext uri="{FF2B5EF4-FFF2-40B4-BE49-F238E27FC236}">
                <a16:creationId xmlns:a16="http://schemas.microsoft.com/office/drawing/2014/main" id="{13B870DD-069B-BB36-EF91-B39C3F7F3253}"/>
              </a:ext>
            </a:extLst>
          </p:cNvPr>
          <p:cNvSpPr>
            <a:spLocks noGrp="1" noChangeArrowheads="1"/>
          </p:cNvSpPr>
          <p:nvPr>
            <p:ph type="body" idx="1"/>
          </p:nvPr>
        </p:nvSpPr>
        <p:spPr>
          <a:xfrm>
            <a:off x="461963" y="1277938"/>
            <a:ext cx="8455025" cy="4876800"/>
          </a:xfrm>
        </p:spPr>
        <p:txBody>
          <a:bodyPr/>
          <a:lstStyle/>
          <a:p>
            <a:pPr eaLnBrk="1" hangingPunct="1"/>
            <a:r>
              <a:rPr lang="en-US" altLang="zh-CN"/>
              <a:t>The address stored in a pointer is returned</a:t>
            </a:r>
          </a:p>
          <a:p>
            <a:pPr eaLnBrk="1" hangingPunct="1"/>
            <a:endParaRPr lang="en-US" altLang="zh-CN"/>
          </a:p>
        </p:txBody>
      </p:sp>
      <p:sp>
        <p:nvSpPr>
          <p:cNvPr id="51204" name="Rectangle 4">
            <a:extLst>
              <a:ext uri="{FF2B5EF4-FFF2-40B4-BE49-F238E27FC236}">
                <a16:creationId xmlns:a16="http://schemas.microsoft.com/office/drawing/2014/main" id="{E5745E02-FD18-B25E-582E-1716C0D8882D}"/>
              </a:ext>
            </a:extLst>
          </p:cNvPr>
          <p:cNvSpPr>
            <a:spLocks noChangeArrowheads="1"/>
          </p:cNvSpPr>
          <p:nvPr/>
        </p:nvSpPr>
        <p:spPr bwMode="auto">
          <a:xfrm>
            <a:off x="461963" y="2084388"/>
            <a:ext cx="3187700" cy="2863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int </a:t>
            </a:r>
            <a:r>
              <a:rPr lang="en-US" altLang="zh-CN" sz="1800">
                <a:solidFill>
                  <a:srgbClr val="FF3300"/>
                </a:solidFill>
                <a:latin typeface="Arial" panose="020B0604020202020204" pitchFamily="34" charset="0"/>
                <a:ea typeface="宋体" panose="02010600030101010101" pitchFamily="2" charset="-122"/>
              </a:rPr>
              <a:t>max</a:t>
            </a:r>
            <a:r>
              <a:rPr lang="en-US" altLang="zh-CN" sz="1800">
                <a:latin typeface="Arial" panose="020B0604020202020204" pitchFamily="34" charset="0"/>
                <a:ea typeface="宋体" panose="02010600030101010101" pitchFamily="2" charset="-122"/>
              </a:rPr>
              <a:t>=0;</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int *getMax();</a:t>
            </a:r>
          </a:p>
          <a:p>
            <a:pPr eaLnBrk="1" hangingPunct="1">
              <a:lnSpc>
                <a:spcPct val="80000"/>
              </a:lnSpc>
              <a:spcBef>
                <a:spcPct val="20000"/>
              </a:spcBef>
              <a:buClr>
                <a:schemeClr val="tx2"/>
              </a:buClr>
              <a:buSzPct val="70000"/>
              <a:buFont typeface="Wingdings" pitchFamily="2" charset="2"/>
              <a:buNone/>
            </a:pPr>
            <a:endParaRPr lang="en-US" altLang="zh-CN" sz="1800">
              <a:latin typeface="Arial" panose="020B0604020202020204" pitchFamily="34" charset="0"/>
              <a:ea typeface="宋体" panose="02010600030101010101" pitchFamily="2" charset="-122"/>
            </a:endParaRP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void main(){</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int *p;</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p=getMax();</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cout&lt;&lt;"Max is "&lt;&lt;(*p);</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a:t>
            </a:r>
          </a:p>
        </p:txBody>
      </p:sp>
      <p:sp>
        <p:nvSpPr>
          <p:cNvPr id="51205" name="Rectangle 5">
            <a:extLst>
              <a:ext uri="{FF2B5EF4-FFF2-40B4-BE49-F238E27FC236}">
                <a16:creationId xmlns:a16="http://schemas.microsoft.com/office/drawing/2014/main" id="{3E068A93-55D7-1AE4-0010-154F8833B442}"/>
              </a:ext>
            </a:extLst>
          </p:cNvPr>
          <p:cNvSpPr>
            <a:spLocks noChangeArrowheads="1"/>
          </p:cNvSpPr>
          <p:nvPr/>
        </p:nvSpPr>
        <p:spPr bwMode="auto">
          <a:xfrm>
            <a:off x="3649663" y="2084388"/>
            <a:ext cx="4840287" cy="2863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int *getMax(){</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int tmp=max, i;</a:t>
            </a:r>
          </a:p>
          <a:p>
            <a:pPr eaLnBrk="1" hangingPunct="1">
              <a:lnSpc>
                <a:spcPct val="80000"/>
              </a:lnSpc>
              <a:spcBef>
                <a:spcPct val="20000"/>
              </a:spcBef>
              <a:buClr>
                <a:schemeClr val="tx2"/>
              </a:buClr>
              <a:buSzPct val="70000"/>
              <a:buFont typeface="Wingdings" pitchFamily="2" charset="2"/>
              <a:buNone/>
            </a:pPr>
            <a:endParaRPr lang="en-US" altLang="zh-CN" sz="1800">
              <a:latin typeface="Arial" panose="020B0604020202020204" pitchFamily="34" charset="0"/>
              <a:ea typeface="宋体" panose="02010600030101010101" pitchFamily="2" charset="-122"/>
            </a:endParaRP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for(i=0;i&lt;3;i++){</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cout&lt;&lt;"Please enter No. "&lt;&lt;i&lt;&lt;endl;</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cin&gt;&gt;tmp;</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if(tmp&gt;max) max=tmp;</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	return </a:t>
            </a:r>
            <a:r>
              <a:rPr lang="en-US" altLang="zh-CN" sz="1800">
                <a:solidFill>
                  <a:srgbClr val="FF3300"/>
                </a:solidFill>
                <a:latin typeface="Arial" panose="020B0604020202020204" pitchFamily="34" charset="0"/>
                <a:ea typeface="宋体" panose="02010600030101010101" pitchFamily="2" charset="-122"/>
              </a:rPr>
              <a:t>&amp;max</a:t>
            </a:r>
            <a:r>
              <a:rPr lang="en-US" altLang="zh-CN" sz="1800">
                <a:latin typeface="Arial" panose="020B0604020202020204" pitchFamily="34" charset="0"/>
                <a:ea typeface="宋体" panose="02010600030101010101" pitchFamily="2" charset="-122"/>
              </a:rPr>
              <a:t>;</a:t>
            </a:r>
          </a:p>
          <a:p>
            <a:pPr eaLnBrk="1" hangingPunct="1">
              <a:lnSpc>
                <a:spcPct val="80000"/>
              </a:lnSpc>
              <a:spcBef>
                <a:spcPct val="20000"/>
              </a:spcBef>
              <a:buClr>
                <a:schemeClr val="tx2"/>
              </a:buClr>
              <a:buSzPct val="70000"/>
              <a:buFont typeface="Wingdings" pitchFamily="2" charset="2"/>
              <a:buNone/>
            </a:pPr>
            <a:r>
              <a:rPr lang="en-US" altLang="zh-CN" sz="1800">
                <a:latin typeface="Arial" panose="020B0604020202020204" pitchFamily="34" charset="0"/>
                <a:ea typeface="宋体" panose="02010600030101010101" pitchFamily="2" charset="-122"/>
              </a:rPr>
              <a:t>}</a:t>
            </a:r>
          </a:p>
        </p:txBody>
      </p:sp>
      <p:sp>
        <p:nvSpPr>
          <p:cNvPr id="448518" name="Rectangle 6">
            <a:extLst>
              <a:ext uri="{FF2B5EF4-FFF2-40B4-BE49-F238E27FC236}">
                <a16:creationId xmlns:a16="http://schemas.microsoft.com/office/drawing/2014/main" id="{29214F7A-7E63-AE63-F1EF-7AD340C434FB}"/>
              </a:ext>
            </a:extLst>
          </p:cNvPr>
          <p:cNvSpPr>
            <a:spLocks noChangeArrowheads="1"/>
          </p:cNvSpPr>
          <p:nvPr/>
        </p:nvSpPr>
        <p:spPr bwMode="auto">
          <a:xfrm>
            <a:off x="1268413" y="5356225"/>
            <a:ext cx="6400800" cy="838200"/>
          </a:xfrm>
          <a:prstGeom prst="rect">
            <a:avLst/>
          </a:prstGeom>
          <a:solidFill>
            <a:srgbClr val="0000FF"/>
          </a:solidFill>
          <a:ln w="9525">
            <a:solidFill>
              <a:srgbClr val="0000FF"/>
            </a:solidFill>
            <a:miter lim="800000"/>
            <a:headEnd/>
            <a:tailEnd/>
          </a:ln>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eaLnBrk="1" hangingPunct="1"/>
            <a:r>
              <a:rPr lang="en-US" altLang="zh-CN">
                <a:solidFill>
                  <a:srgbClr val="FFFF00"/>
                </a:solidFill>
                <a:latin typeface="Tahoma" panose="020B0604030504040204" pitchFamily="34" charset="0"/>
                <a:ea typeface="宋体" panose="02010600030101010101" pitchFamily="2" charset="-122"/>
              </a:rPr>
              <a:t>Don</a:t>
            </a:r>
            <a:r>
              <a:rPr lang="en-US" altLang="zh-CN">
                <a:solidFill>
                  <a:srgbClr val="FFFF00"/>
                </a:solidFill>
                <a:latin typeface="Arial" panose="020B0604020202020204" pitchFamily="34" charset="0"/>
                <a:ea typeface="宋体" panose="02010600030101010101" pitchFamily="2" charset="-122"/>
              </a:rPr>
              <a:t>’</a:t>
            </a:r>
            <a:r>
              <a:rPr lang="en-US" altLang="zh-CN">
                <a:solidFill>
                  <a:srgbClr val="FFFF00"/>
                </a:solidFill>
                <a:latin typeface="Tahoma" panose="020B0604030504040204" pitchFamily="34" charset="0"/>
                <a:ea typeface="宋体" panose="02010600030101010101" pitchFamily="2" charset="-122"/>
              </a:rPr>
              <a:t>t return a local pointer!</a:t>
            </a:r>
          </a:p>
          <a:p>
            <a:pPr eaLnBrk="1" hangingPunct="1"/>
            <a:r>
              <a:rPr lang="en-US" altLang="zh-CN">
                <a:solidFill>
                  <a:srgbClr val="FFFF00"/>
                </a:solidFill>
                <a:latin typeface="Tahoma" panose="020B0604030504040204" pitchFamily="34" charset="0"/>
                <a:ea typeface="宋体" panose="02010600030101010101" pitchFamily="2" charset="-122"/>
              </a:rPr>
              <a:t>--it becomes invalid after the return!</a:t>
            </a:r>
          </a:p>
        </p:txBody>
      </p:sp>
      <p:sp>
        <p:nvSpPr>
          <p:cNvPr id="51207" name="灯片编号占位符 3">
            <a:extLst>
              <a:ext uri="{FF2B5EF4-FFF2-40B4-BE49-F238E27FC236}">
                <a16:creationId xmlns:a16="http://schemas.microsoft.com/office/drawing/2014/main" id="{2EB73570-9736-0FD0-86CB-513204361C9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1754AF63-BF82-F743-BF6E-BA81122F714B}" type="slidenum">
              <a:rPr lang="en-US" altLang="zh-CN" sz="1600">
                <a:latin typeface="Lucida Sans Unicode" panose="020B0602030504020204" pitchFamily="34" charset="0"/>
                <a:ea typeface="宋体" panose="02010600030101010101" pitchFamily="2" charset="-122"/>
              </a:rPr>
              <a:pPr/>
              <a:t>6</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AEBA25D2-353E-4DB9-43E1-540A27F01E37}"/>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dirty="0"/>
              <a:t>Pointer as Return Value</a:t>
            </a:r>
            <a:endParaRPr lang="zh-CN" altLang="en-US"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8518"/>
                                        </p:tgtEl>
                                        <p:attrNameLst>
                                          <p:attrName>style.visibility</p:attrName>
                                        </p:attrNameLst>
                                      </p:cBhvr>
                                      <p:to>
                                        <p:strVal val="visible"/>
                                      </p:to>
                                    </p:set>
                                    <p:animEffect transition="in" filter="blinds(horizontal)">
                                      <p:cBhvr>
                                        <p:cTn id="7" dur="500"/>
                                        <p:tgtEl>
                                          <p:spTgt spid="448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85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3">
            <a:extLst>
              <a:ext uri="{FF2B5EF4-FFF2-40B4-BE49-F238E27FC236}">
                <a16:creationId xmlns:a16="http://schemas.microsoft.com/office/drawing/2014/main" id="{98CA2B3C-DA2C-49BD-BD48-2D8C37E116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33CC"/>
              </a:buClr>
              <a:buFont typeface="Wingdings" panose="05000000000000000000" pitchFamily="2" charset="2"/>
              <a:buChar char="Ø"/>
              <a:defRPr sz="2800" b="1">
                <a:solidFill>
                  <a:srgbClr val="000099"/>
                </a:solidFill>
                <a:latin typeface="楷体_GB2312" pitchFamily="49" charset="-122"/>
                <a:ea typeface="楷体_GB2312" pitchFamily="49" charset="-122"/>
              </a:defRPr>
            </a:lvl1pPr>
            <a:lvl2pPr marL="742950" indent="-285750">
              <a:spcBef>
                <a:spcPct val="20000"/>
              </a:spcBef>
              <a:buClr>
                <a:schemeClr val="accent1"/>
              </a:buClr>
              <a:buFont typeface="Wingdings" panose="05000000000000000000" pitchFamily="2" charset="2"/>
              <a:buChar char="l"/>
              <a:defRPr sz="2800" b="1">
                <a:solidFill>
                  <a:srgbClr val="000099"/>
                </a:solidFill>
                <a:latin typeface="楷体_GB2312" pitchFamily="49" charset="-122"/>
                <a:ea typeface="楷体_GB2312" pitchFamily="49" charset="-122"/>
              </a:defRPr>
            </a:lvl2pPr>
            <a:lvl3pPr marL="1143000" indent="-228600">
              <a:spcBef>
                <a:spcPct val="20000"/>
              </a:spcBef>
              <a:buClr>
                <a:srgbClr val="0033CC"/>
              </a:buClr>
              <a:buChar char="•"/>
              <a:defRPr sz="2400" b="1">
                <a:solidFill>
                  <a:srgbClr val="000099"/>
                </a:solidFill>
                <a:latin typeface="楷体_GB2312" pitchFamily="49" charset="-122"/>
                <a:ea typeface="楷体_GB2312" pitchFamily="49" charset="-122"/>
              </a:defRPr>
            </a:lvl3pPr>
            <a:lvl4pPr marL="1600200" indent="-228600">
              <a:spcBef>
                <a:spcPct val="20000"/>
              </a:spcBef>
              <a:buChar char="–"/>
              <a:defRPr sz="2000" b="1">
                <a:solidFill>
                  <a:srgbClr val="000099"/>
                </a:solidFill>
                <a:latin typeface="楷体_GB2312" pitchFamily="49" charset="-122"/>
                <a:ea typeface="楷体_GB2312" pitchFamily="49" charset="-122"/>
              </a:defRPr>
            </a:lvl4pPr>
            <a:lvl5pPr marL="2057400" indent="-228600">
              <a:spcBef>
                <a:spcPct val="20000"/>
              </a:spcBef>
              <a:buChar char="»"/>
              <a:defRPr sz="2000" b="1">
                <a:solidFill>
                  <a:srgbClr val="000099"/>
                </a:solidFill>
                <a:latin typeface="楷体_GB2312" pitchFamily="49" charset="-122"/>
                <a:ea typeface="楷体_GB2312" pitchFamily="49" charset="-122"/>
              </a:defRPr>
            </a:lvl5pPr>
            <a:lvl6pPr marL="2514600" indent="-228600" eaLnBrk="0" fontAlgn="base" hangingPunct="0">
              <a:spcBef>
                <a:spcPct val="20000"/>
              </a:spcBef>
              <a:spcAft>
                <a:spcPct val="0"/>
              </a:spcAft>
              <a:buChar char="»"/>
              <a:defRPr sz="2000" b="1">
                <a:solidFill>
                  <a:srgbClr val="000099"/>
                </a:solidFill>
                <a:latin typeface="楷体_GB2312" pitchFamily="49" charset="-122"/>
                <a:ea typeface="楷体_GB2312" pitchFamily="49" charset="-122"/>
              </a:defRPr>
            </a:lvl6pPr>
            <a:lvl7pPr marL="2971800" indent="-228600" eaLnBrk="0" fontAlgn="base" hangingPunct="0">
              <a:spcBef>
                <a:spcPct val="20000"/>
              </a:spcBef>
              <a:spcAft>
                <a:spcPct val="0"/>
              </a:spcAft>
              <a:buChar char="»"/>
              <a:defRPr sz="2000" b="1">
                <a:solidFill>
                  <a:srgbClr val="000099"/>
                </a:solidFill>
                <a:latin typeface="楷体_GB2312" pitchFamily="49" charset="-122"/>
                <a:ea typeface="楷体_GB2312" pitchFamily="49" charset="-122"/>
              </a:defRPr>
            </a:lvl7pPr>
            <a:lvl8pPr marL="3429000" indent="-228600" eaLnBrk="0" fontAlgn="base" hangingPunct="0">
              <a:spcBef>
                <a:spcPct val="20000"/>
              </a:spcBef>
              <a:spcAft>
                <a:spcPct val="0"/>
              </a:spcAft>
              <a:buChar char="»"/>
              <a:defRPr sz="2000" b="1">
                <a:solidFill>
                  <a:srgbClr val="000099"/>
                </a:solidFill>
                <a:latin typeface="楷体_GB2312" pitchFamily="49" charset="-122"/>
                <a:ea typeface="楷体_GB2312" pitchFamily="49" charset="-122"/>
              </a:defRPr>
            </a:lvl8pPr>
            <a:lvl9pPr marL="3886200" indent="-228600" eaLnBrk="0" fontAlgn="base" hangingPunct="0">
              <a:spcBef>
                <a:spcPct val="20000"/>
              </a:spcBef>
              <a:spcAft>
                <a:spcPct val="0"/>
              </a:spcAft>
              <a:buChar char="»"/>
              <a:defRPr sz="2000" b="1">
                <a:solidFill>
                  <a:srgbClr val="000099"/>
                </a:solidFill>
                <a:latin typeface="楷体_GB2312" pitchFamily="49" charset="-122"/>
                <a:ea typeface="楷体_GB2312" pitchFamily="49" charset="-122"/>
              </a:defRPr>
            </a:lvl9pPr>
          </a:lstStyle>
          <a:p>
            <a:pPr>
              <a:spcBef>
                <a:spcPct val="0"/>
              </a:spcBef>
              <a:buClrTx/>
              <a:buFontTx/>
              <a:buNone/>
            </a:pPr>
            <a:fld id="{48C17615-6D1A-4ACD-9115-2684AD5F4677}" type="slidenum">
              <a:rPr lang="en-US" altLang="zh-CN" sz="1600" b="0" smtClean="0">
                <a:solidFill>
                  <a:schemeClr val="tx1"/>
                </a:solidFill>
                <a:latin typeface="Lucida Sans Unicode" panose="020B0602030504020204" pitchFamily="34" charset="0"/>
                <a:ea typeface="宋体" panose="02010600030101010101" pitchFamily="2" charset="-122"/>
              </a:rPr>
              <a:pPr>
                <a:spcBef>
                  <a:spcPct val="0"/>
                </a:spcBef>
                <a:buClrTx/>
                <a:buFontTx/>
                <a:buNone/>
              </a:pPr>
              <a:t>7</a:t>
            </a:fld>
            <a:endParaRPr lang="en-US" altLang="zh-CN" sz="1600" b="0">
              <a:solidFill>
                <a:schemeClr val="tx1"/>
              </a:solidFill>
              <a:latin typeface="Lucida Sans Unicode" panose="020B0602030504020204" pitchFamily="34" charset="0"/>
              <a:ea typeface="宋体" panose="02010600030101010101" pitchFamily="2" charset="-122"/>
            </a:endParaRPr>
          </a:p>
        </p:txBody>
      </p:sp>
      <p:sp>
        <p:nvSpPr>
          <p:cNvPr id="54275" name="文本框 7">
            <a:extLst>
              <a:ext uri="{FF2B5EF4-FFF2-40B4-BE49-F238E27FC236}">
                <a16:creationId xmlns:a16="http://schemas.microsoft.com/office/drawing/2014/main" id="{743F57E1-67FE-470C-8F42-662559C3468E}"/>
              </a:ext>
            </a:extLst>
          </p:cNvPr>
          <p:cNvSpPr txBox="1">
            <a:spLocks noChangeArrowheads="1"/>
          </p:cNvSpPr>
          <p:nvPr/>
        </p:nvSpPr>
        <p:spPr bwMode="auto">
          <a:xfrm>
            <a:off x="-74613" y="1060450"/>
            <a:ext cx="4722813" cy="6001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zh-CN" altLang="en-US" dirty="0"/>
              <a:t>double getAverage(int arr[], int size);</a:t>
            </a:r>
          </a:p>
          <a:p>
            <a:r>
              <a:rPr lang="zh-CN" altLang="en-US" dirty="0"/>
              <a:t>int main ()</a:t>
            </a:r>
          </a:p>
          <a:p>
            <a:r>
              <a:rPr lang="zh-CN" altLang="en-US" dirty="0"/>
              <a:t>{</a:t>
            </a:r>
          </a:p>
          <a:p>
            <a:r>
              <a:rPr lang="zh-CN" altLang="en-US" dirty="0"/>
              <a:t>   int balance[5] = {1000, 2, 3, 17, 50};</a:t>
            </a:r>
          </a:p>
          <a:p>
            <a:r>
              <a:rPr lang="zh-CN" altLang="en-US" dirty="0"/>
              <a:t>   double avg;</a:t>
            </a:r>
          </a:p>
          <a:p>
            <a:r>
              <a:rPr lang="zh-CN" altLang="en-US" dirty="0"/>
              <a:t>   cout &lt;&lt; balance &lt;&lt; endl;</a:t>
            </a:r>
          </a:p>
          <a:p>
            <a:r>
              <a:rPr lang="zh-CN" altLang="en-US" dirty="0"/>
              <a:t>   cout &lt;&lt; &amp;balance &lt;&lt; endl;</a:t>
            </a:r>
          </a:p>
          <a:p>
            <a:r>
              <a:rPr lang="zh-CN" altLang="en-US" dirty="0"/>
              <a:t>   cout &lt;&lt; &amp;balance[1]&lt;&lt; endl;</a:t>
            </a:r>
          </a:p>
          <a:p>
            <a:r>
              <a:rPr lang="zh-CN" altLang="en-US" dirty="0"/>
              <a:t>   avg = getAverage( balance, 5 ) ;</a:t>
            </a:r>
          </a:p>
          <a:p>
            <a:endParaRPr lang="zh-CN" altLang="en-US" dirty="0"/>
          </a:p>
          <a:p>
            <a:r>
              <a:rPr lang="zh-CN" altLang="en-US" dirty="0"/>
              <a:t>   cout &lt;&lt; "平均值是：" &lt;&lt; avg &lt;&lt; endl;</a:t>
            </a:r>
          </a:p>
          <a:p>
            <a:endParaRPr lang="zh-CN" altLang="en-US" dirty="0"/>
          </a:p>
          <a:p>
            <a:r>
              <a:rPr lang="zh-CN" altLang="en-US" dirty="0"/>
              <a:t>   return 0;</a:t>
            </a:r>
          </a:p>
          <a:p>
            <a:r>
              <a:rPr lang="zh-CN" altLang="en-US" dirty="0"/>
              <a:t>}</a:t>
            </a:r>
          </a:p>
        </p:txBody>
      </p:sp>
      <p:sp>
        <p:nvSpPr>
          <p:cNvPr id="54276" name="文本框 9">
            <a:extLst>
              <a:ext uri="{FF2B5EF4-FFF2-40B4-BE49-F238E27FC236}">
                <a16:creationId xmlns:a16="http://schemas.microsoft.com/office/drawing/2014/main" id="{09F31324-1FA2-46FA-97E9-BD35C31687A9}"/>
              </a:ext>
            </a:extLst>
          </p:cNvPr>
          <p:cNvSpPr txBox="1">
            <a:spLocks noChangeArrowheads="1"/>
          </p:cNvSpPr>
          <p:nvPr/>
        </p:nvSpPr>
        <p:spPr bwMode="auto">
          <a:xfrm>
            <a:off x="4868863" y="1047750"/>
            <a:ext cx="4284662"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dirty="0"/>
              <a:t>double </a:t>
            </a:r>
            <a:r>
              <a:rPr lang="en-US" altLang="zh-CN" dirty="0" err="1"/>
              <a:t>getAverage</a:t>
            </a:r>
            <a:r>
              <a:rPr lang="en-US" altLang="zh-CN" dirty="0"/>
              <a:t>(int </a:t>
            </a:r>
            <a:r>
              <a:rPr lang="en-US" altLang="zh-CN" dirty="0" err="1"/>
              <a:t>arr</a:t>
            </a:r>
            <a:r>
              <a:rPr lang="en-US" altLang="zh-CN" dirty="0"/>
              <a:t>[], int size){</a:t>
            </a:r>
          </a:p>
          <a:p>
            <a:r>
              <a:rPr lang="en-US" altLang="zh-CN" dirty="0"/>
              <a:t>  int    </a:t>
            </a:r>
            <a:r>
              <a:rPr lang="en-US" altLang="zh-CN" dirty="0" err="1"/>
              <a:t>i</a:t>
            </a:r>
            <a:r>
              <a:rPr lang="en-US" altLang="zh-CN" dirty="0"/>
              <a:t>, sum = 0;  double avg;</a:t>
            </a:r>
          </a:p>
          <a:p>
            <a:endParaRPr lang="en-US" altLang="zh-CN" dirty="0"/>
          </a:p>
          <a:p>
            <a:r>
              <a:rPr lang="en-US" altLang="zh-CN" dirty="0"/>
              <a:t>  for (</a:t>
            </a:r>
            <a:r>
              <a:rPr lang="en-US" altLang="zh-CN" dirty="0" err="1"/>
              <a:t>i</a:t>
            </a:r>
            <a:r>
              <a:rPr lang="en-US" altLang="zh-CN" dirty="0"/>
              <a:t> = 0; </a:t>
            </a:r>
            <a:r>
              <a:rPr lang="en-US" altLang="zh-CN" dirty="0" err="1"/>
              <a:t>i</a:t>
            </a:r>
            <a:r>
              <a:rPr lang="en-US" altLang="zh-CN" dirty="0"/>
              <a:t> &lt; size; ++</a:t>
            </a:r>
            <a:r>
              <a:rPr lang="en-US" altLang="zh-CN" dirty="0" err="1"/>
              <a:t>i</a:t>
            </a:r>
            <a:r>
              <a:rPr lang="en-US" altLang="zh-CN" dirty="0"/>
              <a:t>)  {</a:t>
            </a:r>
          </a:p>
          <a:p>
            <a:r>
              <a:rPr lang="en-US" altLang="zh-CN" dirty="0"/>
              <a:t>    sum += </a:t>
            </a:r>
            <a:r>
              <a:rPr lang="en-US" altLang="zh-CN" dirty="0" err="1"/>
              <a:t>arr</a:t>
            </a:r>
            <a:r>
              <a:rPr lang="en-US" altLang="zh-CN" dirty="0"/>
              <a:t>[</a:t>
            </a:r>
            <a:r>
              <a:rPr lang="en-US" altLang="zh-CN" dirty="0" err="1"/>
              <a:t>i</a:t>
            </a:r>
            <a:r>
              <a:rPr lang="en-US" altLang="zh-CN" dirty="0"/>
              <a:t>];    }</a:t>
            </a:r>
          </a:p>
          <a:p>
            <a:r>
              <a:rPr lang="en-US" altLang="zh-CN" dirty="0"/>
              <a:t>  avg = double(sum) / size;</a:t>
            </a:r>
          </a:p>
          <a:p>
            <a:endParaRPr lang="en-US" altLang="zh-CN" dirty="0"/>
          </a:p>
          <a:p>
            <a:r>
              <a:rPr lang="en-US" altLang="zh-CN" dirty="0"/>
              <a:t>  </a:t>
            </a:r>
            <a:r>
              <a:rPr lang="en-US" altLang="zh-CN" dirty="0" err="1"/>
              <a:t>cout</a:t>
            </a:r>
            <a:r>
              <a:rPr lang="en-US" altLang="zh-CN" dirty="0"/>
              <a:t> &lt;&lt; </a:t>
            </a:r>
            <a:r>
              <a:rPr lang="en-US" altLang="zh-CN" dirty="0" err="1"/>
              <a:t>arr</a:t>
            </a:r>
            <a:r>
              <a:rPr lang="en-US" altLang="zh-CN" dirty="0"/>
              <a:t> &lt;&lt; </a:t>
            </a:r>
            <a:r>
              <a:rPr lang="en-US" altLang="zh-CN" dirty="0" err="1"/>
              <a:t>endl</a:t>
            </a:r>
            <a:r>
              <a:rPr lang="en-US" altLang="zh-CN" dirty="0"/>
              <a:t>;</a:t>
            </a:r>
          </a:p>
          <a:p>
            <a:r>
              <a:rPr lang="en-US" altLang="zh-CN" dirty="0"/>
              <a:t>  </a:t>
            </a:r>
            <a:r>
              <a:rPr lang="en-US" altLang="zh-CN" dirty="0" err="1"/>
              <a:t>cout</a:t>
            </a:r>
            <a:r>
              <a:rPr lang="en-US" altLang="zh-CN" dirty="0"/>
              <a:t> &lt;&lt; &amp;</a:t>
            </a:r>
            <a:r>
              <a:rPr lang="en-US" altLang="zh-CN" dirty="0" err="1"/>
              <a:t>arr</a:t>
            </a:r>
            <a:r>
              <a:rPr lang="en-US" altLang="zh-CN" dirty="0"/>
              <a:t> &lt;&lt; </a:t>
            </a:r>
            <a:r>
              <a:rPr lang="en-US" altLang="zh-CN" dirty="0" err="1"/>
              <a:t>endl</a:t>
            </a:r>
            <a:r>
              <a:rPr lang="en-US" altLang="zh-CN" dirty="0"/>
              <a:t>;</a:t>
            </a:r>
          </a:p>
          <a:p>
            <a:r>
              <a:rPr lang="en-US" altLang="zh-CN" dirty="0"/>
              <a:t>  </a:t>
            </a:r>
            <a:r>
              <a:rPr lang="en-US" altLang="zh-CN" dirty="0" err="1"/>
              <a:t>cout</a:t>
            </a:r>
            <a:r>
              <a:rPr lang="en-US" altLang="zh-CN" dirty="0"/>
              <a:t> &lt;&lt; &amp;</a:t>
            </a:r>
            <a:r>
              <a:rPr lang="en-US" altLang="zh-CN" dirty="0" err="1"/>
              <a:t>arr</a:t>
            </a:r>
            <a:r>
              <a:rPr lang="en-US" altLang="zh-CN" dirty="0"/>
              <a:t>[0] &lt;&lt; </a:t>
            </a:r>
            <a:r>
              <a:rPr lang="en-US" altLang="zh-CN" dirty="0" err="1"/>
              <a:t>endl</a:t>
            </a:r>
            <a:r>
              <a:rPr lang="en-US" altLang="zh-CN" dirty="0"/>
              <a:t>;</a:t>
            </a:r>
          </a:p>
          <a:p>
            <a:r>
              <a:rPr lang="en-US" altLang="zh-CN" dirty="0"/>
              <a:t>  </a:t>
            </a:r>
            <a:r>
              <a:rPr lang="en-US" altLang="zh-CN" dirty="0" err="1"/>
              <a:t>cout</a:t>
            </a:r>
            <a:r>
              <a:rPr lang="en-US" altLang="zh-CN" dirty="0"/>
              <a:t> &lt;&lt; &amp;</a:t>
            </a:r>
            <a:r>
              <a:rPr lang="en-US" altLang="zh-CN" dirty="0" err="1"/>
              <a:t>arr</a:t>
            </a:r>
            <a:r>
              <a:rPr lang="en-US" altLang="zh-CN" dirty="0"/>
              <a:t>[1] &lt;&lt; </a:t>
            </a:r>
            <a:r>
              <a:rPr lang="en-US" altLang="zh-CN" dirty="0" err="1"/>
              <a:t>endl</a:t>
            </a:r>
            <a:r>
              <a:rPr lang="en-US" altLang="zh-CN" dirty="0"/>
              <a:t>;</a:t>
            </a:r>
          </a:p>
          <a:p>
            <a:endParaRPr lang="en-US" altLang="zh-CN" dirty="0"/>
          </a:p>
          <a:p>
            <a:r>
              <a:rPr lang="en-US" altLang="zh-CN" dirty="0"/>
              <a:t>  return avg;</a:t>
            </a:r>
          </a:p>
          <a:p>
            <a:r>
              <a:rPr lang="en-US" altLang="zh-CN" dirty="0"/>
              <a:t>}</a:t>
            </a:r>
            <a:endParaRPr lang="zh-CN" altLang="en-US" dirty="0"/>
          </a:p>
        </p:txBody>
      </p:sp>
      <p:sp>
        <p:nvSpPr>
          <p:cNvPr id="2" name="标题 1">
            <a:extLst>
              <a:ext uri="{FF2B5EF4-FFF2-40B4-BE49-F238E27FC236}">
                <a16:creationId xmlns:a16="http://schemas.microsoft.com/office/drawing/2014/main" id="{F74D6B87-231A-4C02-9289-B211FF605A39}"/>
              </a:ext>
            </a:extLst>
          </p:cNvPr>
          <p:cNvSpPr txBox="1">
            <a:spLocks noChangeArrowheads="1"/>
          </p:cNvSpPr>
          <p:nvPr/>
        </p:nvSpPr>
        <p:spPr bwMode="white">
          <a:xfrm>
            <a:off x="1000125" y="560388"/>
            <a:ext cx="7391400" cy="487362"/>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pPr>
              <a:defRPr/>
            </a:pPr>
            <a:r>
              <a:rPr lang="en-US" altLang="zh-CN" dirty="0">
                <a:ea typeface="宋体" panose="02010600030101010101" pitchFamily="2" charset="-122"/>
              </a:rPr>
              <a:t>Passing Arrays to Functions</a:t>
            </a:r>
            <a:endParaRPr lang="zh-CN" altLang="en-US" kern="0" dirty="0"/>
          </a:p>
        </p:txBody>
      </p:sp>
      <p:pic>
        <p:nvPicPr>
          <p:cNvPr id="5" name="图片 4">
            <a:extLst>
              <a:ext uri="{FF2B5EF4-FFF2-40B4-BE49-F238E27FC236}">
                <a16:creationId xmlns:a16="http://schemas.microsoft.com/office/drawing/2014/main" id="{457A98FE-BF6F-4E11-9E87-D6A8C70DEB8F}"/>
              </a:ext>
            </a:extLst>
          </p:cNvPr>
          <p:cNvPicPr>
            <a:picLocks noChangeAspect="1"/>
          </p:cNvPicPr>
          <p:nvPr/>
        </p:nvPicPr>
        <p:blipFill>
          <a:blip r:embed="rId2"/>
          <a:stretch>
            <a:fillRect/>
          </a:stretch>
        </p:blipFill>
        <p:spPr>
          <a:xfrm>
            <a:off x="4572000" y="1530448"/>
            <a:ext cx="3919030" cy="4267102"/>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5" name="Rectangle 3">
            <a:extLst>
              <a:ext uri="{FF2B5EF4-FFF2-40B4-BE49-F238E27FC236}">
                <a16:creationId xmlns:a16="http://schemas.microsoft.com/office/drawing/2014/main" id="{8D5597D5-0DEA-7265-10E8-93791C1A866A}"/>
              </a:ext>
            </a:extLst>
          </p:cNvPr>
          <p:cNvSpPr>
            <a:spLocks noGrp="1" noChangeArrowheads="1"/>
          </p:cNvSpPr>
          <p:nvPr>
            <p:ph type="body" idx="1"/>
          </p:nvPr>
        </p:nvSpPr>
        <p:spPr>
          <a:xfrm>
            <a:off x="79375" y="1355725"/>
            <a:ext cx="8985250" cy="4992688"/>
          </a:xfrm>
        </p:spPr>
        <p:txBody>
          <a:bodyPr/>
          <a:lstStyle/>
          <a:p>
            <a:pPr eaLnBrk="1" hangingPunct="1"/>
            <a:r>
              <a:rPr lang="en-US" altLang="zh-CN"/>
              <a:t>The method allowing programmers to allocate storage </a:t>
            </a:r>
          </a:p>
          <a:p>
            <a:pPr lvl="1" eaLnBrk="1" hangingPunct="1"/>
            <a:r>
              <a:rPr lang="en-US" altLang="zh-CN"/>
              <a:t>Dynamically (during the execution time) and </a:t>
            </a:r>
          </a:p>
          <a:p>
            <a:pPr lvl="1" eaLnBrk="1" hangingPunct="1"/>
            <a:r>
              <a:rPr lang="en-US" altLang="zh-CN"/>
              <a:t>“Manually” (using explicit statement)</a:t>
            </a:r>
          </a:p>
          <a:p>
            <a:pPr eaLnBrk="1" hangingPunct="1"/>
            <a:r>
              <a:rPr lang="en-US" altLang="zh-CN"/>
              <a:t>“new” operator: to allocate memory</a:t>
            </a:r>
          </a:p>
          <a:p>
            <a:pPr eaLnBrk="1" hangingPunct="1">
              <a:buFont typeface="Wingdings" pitchFamily="2" charset="2"/>
              <a:buNone/>
            </a:pPr>
            <a:r>
              <a:rPr lang="en-US" altLang="zh-CN">
                <a:solidFill>
                  <a:srgbClr val="CC0099"/>
                </a:solidFill>
              </a:rPr>
              <a:t>    int *pValue = </a:t>
            </a:r>
            <a:r>
              <a:rPr lang="en-US" altLang="zh-CN">
                <a:solidFill>
                  <a:srgbClr val="33CC33"/>
                </a:solidFill>
              </a:rPr>
              <a:t>new</a:t>
            </a:r>
            <a:r>
              <a:rPr lang="en-US" altLang="zh-CN">
                <a:solidFill>
                  <a:srgbClr val="CC0099"/>
                </a:solidFill>
              </a:rPr>
              <a:t> int;</a:t>
            </a:r>
          </a:p>
          <a:p>
            <a:pPr eaLnBrk="1" hangingPunct="1">
              <a:buFont typeface="Wingdings" pitchFamily="2" charset="2"/>
              <a:buNone/>
            </a:pPr>
            <a:r>
              <a:rPr lang="en-US" altLang="zh-CN">
                <a:solidFill>
                  <a:srgbClr val="CC0099"/>
                </a:solidFill>
              </a:rPr>
              <a:t>   </a:t>
            </a:r>
          </a:p>
          <a:p>
            <a:pPr eaLnBrk="1" hangingPunct="1">
              <a:buFont typeface="Wingdings" pitchFamily="2" charset="2"/>
              <a:buNone/>
            </a:pPr>
            <a:r>
              <a:rPr lang="en-US" altLang="zh-CN">
                <a:solidFill>
                  <a:srgbClr val="CC0099"/>
                </a:solidFill>
              </a:rPr>
              <a:t>    int *mylist = </a:t>
            </a:r>
            <a:r>
              <a:rPr lang="en-US" altLang="zh-CN">
                <a:solidFill>
                  <a:srgbClr val="33CC33"/>
                </a:solidFill>
              </a:rPr>
              <a:t>new</a:t>
            </a:r>
            <a:r>
              <a:rPr lang="en-US" altLang="zh-CN">
                <a:solidFill>
                  <a:srgbClr val="CC0099"/>
                </a:solidFill>
              </a:rPr>
              <a:t> int[10];</a:t>
            </a:r>
          </a:p>
        </p:txBody>
      </p:sp>
      <p:sp>
        <p:nvSpPr>
          <p:cNvPr id="463877" name="AutoShape 5">
            <a:extLst>
              <a:ext uri="{FF2B5EF4-FFF2-40B4-BE49-F238E27FC236}">
                <a16:creationId xmlns:a16="http://schemas.microsoft.com/office/drawing/2014/main" id="{F1E9017A-FD86-D2A1-EF8A-3411945C2798}"/>
              </a:ext>
            </a:extLst>
          </p:cNvPr>
          <p:cNvSpPr>
            <a:spLocks noChangeArrowheads="1"/>
          </p:cNvSpPr>
          <p:nvPr/>
        </p:nvSpPr>
        <p:spPr bwMode="auto">
          <a:xfrm>
            <a:off x="4768850" y="4119563"/>
            <a:ext cx="4378325" cy="806450"/>
          </a:xfrm>
          <a:prstGeom prst="wedgeRoundRectCallout">
            <a:avLst>
              <a:gd name="adj1" fmla="val -56963"/>
              <a:gd name="adj2" fmla="val -23227"/>
              <a:gd name="adj3" fmla="val 16667"/>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1800">
                <a:solidFill>
                  <a:srgbClr val="FF3300"/>
                </a:solidFill>
                <a:latin typeface="Arial" panose="020B0604020202020204" pitchFamily="34" charset="0"/>
                <a:ea typeface="宋体" panose="02010600030101010101" pitchFamily="2" charset="-122"/>
              </a:rPr>
              <a:t>Allocate memory for an int variable;</a:t>
            </a:r>
          </a:p>
          <a:p>
            <a:r>
              <a:rPr lang="en-US" altLang="zh-CN" sz="1800">
                <a:solidFill>
                  <a:srgbClr val="FF3300"/>
                </a:solidFill>
                <a:latin typeface="Arial" panose="020B0604020202020204" pitchFamily="34" charset="0"/>
                <a:ea typeface="宋体" panose="02010600030101010101" pitchFamily="2" charset="-122"/>
              </a:rPr>
              <a:t>The address is assigned to “pValue”. </a:t>
            </a:r>
          </a:p>
        </p:txBody>
      </p:sp>
      <p:sp>
        <p:nvSpPr>
          <p:cNvPr id="463878" name="AutoShape 6">
            <a:extLst>
              <a:ext uri="{FF2B5EF4-FFF2-40B4-BE49-F238E27FC236}">
                <a16:creationId xmlns:a16="http://schemas.microsoft.com/office/drawing/2014/main" id="{F41465A6-F196-C16B-409F-62F6230052AA}"/>
              </a:ext>
            </a:extLst>
          </p:cNvPr>
          <p:cNvSpPr>
            <a:spLocks noChangeArrowheads="1"/>
          </p:cNvSpPr>
          <p:nvPr/>
        </p:nvSpPr>
        <p:spPr bwMode="auto">
          <a:xfrm>
            <a:off x="3919538" y="5387975"/>
            <a:ext cx="4111625" cy="806450"/>
          </a:xfrm>
          <a:prstGeom prst="wedgeRoundRectCallout">
            <a:avLst>
              <a:gd name="adj1" fmla="val -58648"/>
              <a:gd name="adj2" fmla="val -46653"/>
              <a:gd name="adj3" fmla="val 16667"/>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1800">
                <a:solidFill>
                  <a:srgbClr val="FF3300"/>
                </a:solidFill>
                <a:latin typeface="Arial" panose="020B0604020202020204" pitchFamily="34" charset="0"/>
                <a:ea typeface="宋体" panose="02010600030101010101" pitchFamily="2" charset="-122"/>
              </a:rPr>
              <a:t>Allocate memory for an array of 10 int elements;</a:t>
            </a:r>
          </a:p>
          <a:p>
            <a:r>
              <a:rPr lang="en-US" altLang="zh-CN" sz="1800">
                <a:solidFill>
                  <a:srgbClr val="FF3300"/>
                </a:solidFill>
                <a:latin typeface="Arial" panose="020B0604020202020204" pitchFamily="34" charset="0"/>
                <a:ea typeface="宋体" panose="02010600030101010101" pitchFamily="2" charset="-122"/>
              </a:rPr>
              <a:t>The address is assigned to “mylist”.</a:t>
            </a:r>
          </a:p>
        </p:txBody>
      </p:sp>
      <p:sp>
        <p:nvSpPr>
          <p:cNvPr id="52230" name="灯片编号占位符 3">
            <a:extLst>
              <a:ext uri="{FF2B5EF4-FFF2-40B4-BE49-F238E27FC236}">
                <a16:creationId xmlns:a16="http://schemas.microsoft.com/office/drawing/2014/main" id="{F054F876-B795-CC61-BD06-9D6C8EEABF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0AEF7091-6B28-B141-B823-75C3EFC17FAD}" type="slidenum">
              <a:rPr lang="en-US" altLang="zh-CN" sz="1600">
                <a:latin typeface="Lucida Sans Unicode" panose="020B0602030504020204" pitchFamily="34" charset="0"/>
                <a:ea typeface="宋体" panose="02010600030101010101" pitchFamily="2" charset="-122"/>
              </a:rPr>
              <a:pPr/>
              <a:t>8</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2D9285EF-8733-FBA6-CCFE-1ADCE724F723}"/>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dirty="0"/>
              <a:t>Dynamic Memory Allocation</a:t>
            </a:r>
            <a:endParaRPr lang="zh-CN" altLang="en-US"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63875">
                                            <p:txEl>
                                              <p:pRg st="3" end="3"/>
                                            </p:txEl>
                                          </p:spTgt>
                                        </p:tgtEl>
                                        <p:attrNameLst>
                                          <p:attrName>style.visibility</p:attrName>
                                        </p:attrNameLst>
                                      </p:cBhvr>
                                      <p:to>
                                        <p:strVal val="visible"/>
                                      </p:to>
                                    </p:set>
                                    <p:animEffect transition="in" filter="checkerboard(across)">
                                      <p:cBhvr>
                                        <p:cTn id="7" dur="500"/>
                                        <p:tgtEl>
                                          <p:spTgt spid="463875">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63875">
                                            <p:txEl>
                                              <p:pRg st="4" end="4"/>
                                            </p:txEl>
                                          </p:spTgt>
                                        </p:tgtEl>
                                        <p:attrNameLst>
                                          <p:attrName>style.visibility</p:attrName>
                                        </p:attrNameLst>
                                      </p:cBhvr>
                                      <p:to>
                                        <p:strVal val="visible"/>
                                      </p:to>
                                    </p:set>
                                    <p:animEffect transition="in" filter="checkerboard(across)">
                                      <p:cBhvr>
                                        <p:cTn id="12" dur="500"/>
                                        <p:tgtEl>
                                          <p:spTgt spid="463875">
                                            <p:txEl>
                                              <p:pRg st="4" end="4"/>
                                            </p:txEl>
                                          </p:spTgt>
                                        </p:tgtEl>
                                      </p:cBhvr>
                                    </p:animEffect>
                                  </p:childTnLst>
                                </p:cTn>
                              </p:par>
                            </p:childTnLst>
                          </p:cTn>
                        </p:par>
                        <p:par>
                          <p:cTn id="13" fill="hold" nodeType="afterGroup">
                            <p:stCondLst>
                              <p:cond delay="500"/>
                            </p:stCondLst>
                            <p:childTnLst>
                              <p:par>
                                <p:cTn id="14" presetID="5" presetClass="entr" presetSubtype="10" fill="hold" grpId="0" nodeType="afterEffect">
                                  <p:stCondLst>
                                    <p:cond delay="0"/>
                                  </p:stCondLst>
                                  <p:childTnLst>
                                    <p:set>
                                      <p:cBhvr>
                                        <p:cTn id="15" dur="1" fill="hold">
                                          <p:stCondLst>
                                            <p:cond delay="0"/>
                                          </p:stCondLst>
                                        </p:cTn>
                                        <p:tgtEl>
                                          <p:spTgt spid="463877"/>
                                        </p:tgtEl>
                                        <p:attrNameLst>
                                          <p:attrName>style.visibility</p:attrName>
                                        </p:attrNameLst>
                                      </p:cBhvr>
                                      <p:to>
                                        <p:strVal val="visible"/>
                                      </p:to>
                                    </p:set>
                                    <p:animEffect transition="in" filter="checkerboard(across)">
                                      <p:cBhvr>
                                        <p:cTn id="16" dur="500"/>
                                        <p:tgtEl>
                                          <p:spTgt spid="46387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nodeType="clickEffect">
                                  <p:stCondLst>
                                    <p:cond delay="0"/>
                                  </p:stCondLst>
                                  <p:childTnLst>
                                    <p:set>
                                      <p:cBhvr>
                                        <p:cTn id="20" dur="1" fill="hold">
                                          <p:stCondLst>
                                            <p:cond delay="0"/>
                                          </p:stCondLst>
                                        </p:cTn>
                                        <p:tgtEl>
                                          <p:spTgt spid="463875">
                                            <p:txEl>
                                              <p:pRg st="6" end="6"/>
                                            </p:txEl>
                                          </p:spTgt>
                                        </p:tgtEl>
                                        <p:attrNameLst>
                                          <p:attrName>style.visibility</p:attrName>
                                        </p:attrNameLst>
                                      </p:cBhvr>
                                      <p:to>
                                        <p:strVal val="visible"/>
                                      </p:to>
                                    </p:set>
                                    <p:animEffect transition="in" filter="checkerboard(across)">
                                      <p:cBhvr>
                                        <p:cTn id="21" dur="500"/>
                                        <p:tgtEl>
                                          <p:spTgt spid="463875">
                                            <p:txEl>
                                              <p:pRg st="6" end="6"/>
                                            </p:txEl>
                                          </p:spTgt>
                                        </p:tgtEl>
                                      </p:cBhvr>
                                    </p:animEffect>
                                  </p:childTnLst>
                                </p:cTn>
                              </p:par>
                            </p:childTnLst>
                          </p:cTn>
                        </p:par>
                        <p:par>
                          <p:cTn id="22" fill="hold" nodeType="afterGroup">
                            <p:stCondLst>
                              <p:cond delay="500"/>
                            </p:stCondLst>
                            <p:childTnLst>
                              <p:par>
                                <p:cTn id="23" presetID="5" presetClass="entr" presetSubtype="10" fill="hold" grpId="0" nodeType="afterEffect">
                                  <p:stCondLst>
                                    <p:cond delay="0"/>
                                  </p:stCondLst>
                                  <p:childTnLst>
                                    <p:set>
                                      <p:cBhvr>
                                        <p:cTn id="24" dur="1" fill="hold">
                                          <p:stCondLst>
                                            <p:cond delay="0"/>
                                          </p:stCondLst>
                                        </p:cTn>
                                        <p:tgtEl>
                                          <p:spTgt spid="463878"/>
                                        </p:tgtEl>
                                        <p:attrNameLst>
                                          <p:attrName>style.visibility</p:attrName>
                                        </p:attrNameLst>
                                      </p:cBhvr>
                                      <p:to>
                                        <p:strVal val="visible"/>
                                      </p:to>
                                    </p:set>
                                    <p:animEffect transition="in" filter="checkerboard(across)">
                                      <p:cBhvr>
                                        <p:cTn id="25" dur="500"/>
                                        <p:tgtEl>
                                          <p:spTgt spid="463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3877" grpId="0" animBg="1"/>
      <p:bldP spid="46387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a:extLst>
              <a:ext uri="{FF2B5EF4-FFF2-40B4-BE49-F238E27FC236}">
                <a16:creationId xmlns:a16="http://schemas.microsoft.com/office/drawing/2014/main" id="{60C927C2-0AD7-A405-4A2B-48AF6FB0DF6F}"/>
              </a:ext>
            </a:extLst>
          </p:cNvPr>
          <p:cNvSpPr>
            <a:spLocks noGrp="1" noChangeArrowheads="1"/>
          </p:cNvSpPr>
          <p:nvPr>
            <p:ph type="body" idx="1"/>
          </p:nvPr>
        </p:nvSpPr>
        <p:spPr>
          <a:xfrm>
            <a:off x="-36513" y="1163638"/>
            <a:ext cx="9101138" cy="5260975"/>
          </a:xfrm>
        </p:spPr>
        <p:txBody>
          <a:bodyPr/>
          <a:lstStyle/>
          <a:p>
            <a:pPr eaLnBrk="1" hangingPunct="1">
              <a:lnSpc>
                <a:spcPct val="90000"/>
              </a:lnSpc>
              <a:defRPr/>
            </a:pPr>
            <a:r>
              <a:rPr lang="en-US" altLang="zh-CN" sz="2400" dirty="0"/>
              <a:t>The memory allocated by “new” remains available until you explicitly free it or </a:t>
            </a:r>
          </a:p>
          <a:p>
            <a:pPr marL="457200" lvl="1" indent="0" eaLnBrk="1" hangingPunct="1">
              <a:lnSpc>
                <a:spcPct val="90000"/>
              </a:lnSpc>
              <a:buFont typeface="Wingdings" pitchFamily="2" charset="2"/>
              <a:buNone/>
              <a:defRPr/>
            </a:pPr>
            <a:r>
              <a:rPr lang="en-US" altLang="zh-CN" sz="2400" dirty="0"/>
              <a:t>the program terminates.</a:t>
            </a:r>
          </a:p>
          <a:p>
            <a:pPr lvl="1" eaLnBrk="1" hangingPunct="1">
              <a:lnSpc>
                <a:spcPct val="90000"/>
              </a:lnSpc>
              <a:defRPr/>
            </a:pPr>
            <a:endParaRPr lang="en-US" altLang="zh-CN" sz="2400" dirty="0"/>
          </a:p>
          <a:p>
            <a:pPr eaLnBrk="1" hangingPunct="1">
              <a:lnSpc>
                <a:spcPct val="90000"/>
              </a:lnSpc>
              <a:defRPr/>
            </a:pPr>
            <a:r>
              <a:rPr lang="en-US" altLang="zh-CN" sz="2400" dirty="0"/>
              <a:t>“delete”: to free memory </a:t>
            </a:r>
            <a:r>
              <a:rPr lang="en-US" altLang="zh-CN" sz="2400" dirty="0">
                <a:solidFill>
                  <a:srgbClr val="FF0000"/>
                </a:solidFill>
              </a:rPr>
              <a:t>reserved by “new”.</a:t>
            </a:r>
          </a:p>
          <a:p>
            <a:pPr lvl="1" eaLnBrk="1" hangingPunct="1">
              <a:lnSpc>
                <a:spcPct val="90000"/>
              </a:lnSpc>
              <a:buFont typeface="Wingdings" pitchFamily="2" charset="2"/>
              <a:buNone/>
              <a:defRPr/>
            </a:pPr>
            <a:r>
              <a:rPr lang="en-US" altLang="zh-CN" sz="2400" dirty="0">
                <a:solidFill>
                  <a:srgbClr val="CC0099"/>
                </a:solidFill>
              </a:rPr>
              <a:t>delete </a:t>
            </a:r>
            <a:r>
              <a:rPr lang="en-US" altLang="zh-CN" sz="2400" dirty="0" err="1">
                <a:solidFill>
                  <a:srgbClr val="CC0099"/>
                </a:solidFill>
              </a:rPr>
              <a:t>pValue</a:t>
            </a:r>
            <a:r>
              <a:rPr lang="en-US" altLang="zh-CN" sz="2400" dirty="0">
                <a:solidFill>
                  <a:srgbClr val="CC0099"/>
                </a:solidFill>
              </a:rPr>
              <a:t>;</a:t>
            </a:r>
          </a:p>
          <a:p>
            <a:pPr lvl="1" eaLnBrk="1" hangingPunct="1">
              <a:lnSpc>
                <a:spcPct val="90000"/>
              </a:lnSpc>
              <a:buFont typeface="Wingdings" pitchFamily="2" charset="2"/>
              <a:buNone/>
              <a:defRPr/>
            </a:pPr>
            <a:r>
              <a:rPr lang="en-US" altLang="zh-CN" sz="2400" dirty="0">
                <a:solidFill>
                  <a:srgbClr val="CC0099"/>
                </a:solidFill>
              </a:rPr>
              <a:t>delete </a:t>
            </a:r>
            <a:r>
              <a:rPr lang="en-US" altLang="zh-CN" sz="2400" dirty="0">
                <a:solidFill>
                  <a:srgbClr val="33CC33"/>
                </a:solidFill>
              </a:rPr>
              <a:t>[]</a:t>
            </a:r>
            <a:r>
              <a:rPr lang="en-US" altLang="zh-CN" sz="2400" dirty="0">
                <a:solidFill>
                  <a:srgbClr val="CC0099"/>
                </a:solidFill>
              </a:rPr>
              <a:t> </a:t>
            </a:r>
            <a:r>
              <a:rPr lang="en-US" altLang="zh-CN" sz="2400" dirty="0" err="1">
                <a:solidFill>
                  <a:srgbClr val="CC0099"/>
                </a:solidFill>
              </a:rPr>
              <a:t>mylist</a:t>
            </a:r>
            <a:r>
              <a:rPr lang="en-US" altLang="zh-CN" sz="2400" dirty="0">
                <a:solidFill>
                  <a:srgbClr val="CC0099"/>
                </a:solidFill>
              </a:rPr>
              <a:t>;</a:t>
            </a:r>
          </a:p>
          <a:p>
            <a:pPr eaLnBrk="1" hangingPunct="1">
              <a:lnSpc>
                <a:spcPct val="90000"/>
              </a:lnSpc>
              <a:defRPr/>
            </a:pPr>
            <a:r>
              <a:rPr lang="en-US" altLang="zh-CN" sz="2400" dirty="0"/>
              <a:t>Memory leak</a:t>
            </a:r>
          </a:p>
          <a:p>
            <a:pPr marL="457200" lvl="1" indent="0" eaLnBrk="1" hangingPunct="1">
              <a:lnSpc>
                <a:spcPct val="90000"/>
              </a:lnSpc>
              <a:buFont typeface="Wingdings" pitchFamily="2" charset="2"/>
              <a:buNone/>
              <a:defRPr/>
            </a:pPr>
            <a:r>
              <a:rPr lang="en-US" altLang="zh-CN" sz="2400" dirty="0"/>
              <a:t>The memory space becomes inaccessible due to the loss of pointing</a:t>
            </a:r>
          </a:p>
          <a:p>
            <a:pPr lvl="1" eaLnBrk="1" hangingPunct="1">
              <a:lnSpc>
                <a:spcPct val="90000"/>
              </a:lnSpc>
              <a:buFont typeface="Wingdings" pitchFamily="2" charset="2"/>
              <a:buNone/>
              <a:defRPr/>
            </a:pPr>
            <a:r>
              <a:rPr lang="en-US" altLang="zh-CN" sz="2400" dirty="0" err="1">
                <a:solidFill>
                  <a:srgbClr val="CC0099"/>
                </a:solidFill>
              </a:rPr>
              <a:t>int</a:t>
            </a:r>
            <a:r>
              <a:rPr lang="en-US" altLang="zh-CN" sz="2400" dirty="0">
                <a:solidFill>
                  <a:srgbClr val="CC0099"/>
                </a:solidFill>
              </a:rPr>
              <a:t> *p = new </a:t>
            </a:r>
            <a:r>
              <a:rPr lang="en-US" altLang="zh-CN" sz="2400" dirty="0" err="1">
                <a:solidFill>
                  <a:srgbClr val="CC0099"/>
                </a:solidFill>
              </a:rPr>
              <a:t>int</a:t>
            </a:r>
            <a:r>
              <a:rPr lang="en-US" altLang="zh-CN" sz="2400" dirty="0">
                <a:solidFill>
                  <a:srgbClr val="CC0099"/>
                </a:solidFill>
              </a:rPr>
              <a:t>;</a:t>
            </a:r>
          </a:p>
          <a:p>
            <a:pPr lvl="1" eaLnBrk="1" hangingPunct="1">
              <a:lnSpc>
                <a:spcPct val="90000"/>
              </a:lnSpc>
              <a:buFont typeface="Wingdings" pitchFamily="2" charset="2"/>
              <a:buNone/>
              <a:defRPr/>
            </a:pPr>
            <a:r>
              <a:rPr lang="en-US" altLang="zh-CN" sz="2400" dirty="0">
                <a:solidFill>
                  <a:srgbClr val="CC0099"/>
                </a:solidFill>
              </a:rPr>
              <a:t>p = new </a:t>
            </a:r>
            <a:r>
              <a:rPr lang="en-US" altLang="zh-CN" sz="2400" dirty="0" err="1">
                <a:solidFill>
                  <a:srgbClr val="CC0099"/>
                </a:solidFill>
              </a:rPr>
              <a:t>int</a:t>
            </a:r>
            <a:r>
              <a:rPr lang="en-US" altLang="zh-CN" sz="2400" dirty="0">
                <a:solidFill>
                  <a:srgbClr val="CC0099"/>
                </a:solidFill>
              </a:rPr>
              <a:t>;</a:t>
            </a:r>
          </a:p>
        </p:txBody>
      </p:sp>
      <p:sp>
        <p:nvSpPr>
          <p:cNvPr id="464900" name="AutoShape 4">
            <a:extLst>
              <a:ext uri="{FF2B5EF4-FFF2-40B4-BE49-F238E27FC236}">
                <a16:creationId xmlns:a16="http://schemas.microsoft.com/office/drawing/2014/main" id="{4E6F3388-F401-1EA4-AB57-A934DA8FAFD0}"/>
              </a:ext>
            </a:extLst>
          </p:cNvPr>
          <p:cNvSpPr>
            <a:spLocks noChangeArrowheads="1"/>
          </p:cNvSpPr>
          <p:nvPr/>
        </p:nvSpPr>
        <p:spPr bwMode="auto">
          <a:xfrm>
            <a:off x="4994275" y="1585913"/>
            <a:ext cx="3879850" cy="958850"/>
          </a:xfrm>
          <a:prstGeom prst="wedgeRectCallout">
            <a:avLst>
              <a:gd name="adj1" fmla="val -61477"/>
              <a:gd name="adj2" fmla="val 20606"/>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solidFill>
                  <a:srgbClr val="FF3300"/>
                </a:solidFill>
                <a:latin typeface="Arial" panose="020B0604020202020204" pitchFamily="34" charset="0"/>
                <a:ea typeface="宋体" panose="02010600030101010101" pitchFamily="2" charset="-122"/>
              </a:rPr>
              <a:t>It’s good manner to always explicitly free memory allocated by “new”.</a:t>
            </a:r>
          </a:p>
        </p:txBody>
      </p:sp>
      <p:sp>
        <p:nvSpPr>
          <p:cNvPr id="464902" name="Rectangle 6">
            <a:extLst>
              <a:ext uri="{FF2B5EF4-FFF2-40B4-BE49-F238E27FC236}">
                <a16:creationId xmlns:a16="http://schemas.microsoft.com/office/drawing/2014/main" id="{E4CD959D-B374-C316-C3C3-3316F147AEF8}"/>
              </a:ext>
            </a:extLst>
          </p:cNvPr>
          <p:cNvSpPr>
            <a:spLocks noChangeArrowheads="1"/>
          </p:cNvSpPr>
          <p:nvPr/>
        </p:nvSpPr>
        <p:spPr bwMode="auto">
          <a:xfrm>
            <a:off x="6530975" y="5156200"/>
            <a:ext cx="1574800" cy="384175"/>
          </a:xfrm>
          <a:prstGeom prst="rect">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1800">
                <a:solidFill>
                  <a:srgbClr val="FF3300"/>
                </a:solidFill>
                <a:latin typeface="Arial" panose="020B0604020202020204" pitchFamily="34" charset="0"/>
                <a:ea typeface="宋体" panose="02010600030101010101" pitchFamily="2" charset="-122"/>
              </a:rPr>
              <a:t>(0x00001234)</a:t>
            </a:r>
          </a:p>
        </p:txBody>
      </p:sp>
      <p:sp>
        <p:nvSpPr>
          <p:cNvPr id="464904" name="Rectangle 8">
            <a:extLst>
              <a:ext uri="{FF2B5EF4-FFF2-40B4-BE49-F238E27FC236}">
                <a16:creationId xmlns:a16="http://schemas.microsoft.com/office/drawing/2014/main" id="{10E52336-FC32-0CAA-F610-1F4C43172C55}"/>
              </a:ext>
            </a:extLst>
          </p:cNvPr>
          <p:cNvSpPr>
            <a:spLocks noChangeArrowheads="1"/>
          </p:cNvSpPr>
          <p:nvPr/>
        </p:nvSpPr>
        <p:spPr bwMode="auto">
          <a:xfrm>
            <a:off x="4918075" y="5310188"/>
            <a:ext cx="1036638" cy="384175"/>
          </a:xfrm>
          <a:prstGeom prst="rect">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solidFill>
                  <a:srgbClr val="FF3300"/>
                </a:solidFill>
                <a:latin typeface="Arial" panose="020B0604020202020204" pitchFamily="34" charset="0"/>
                <a:ea typeface="宋体" panose="02010600030101010101" pitchFamily="2" charset="-122"/>
              </a:rPr>
              <a:t>p</a:t>
            </a:r>
          </a:p>
        </p:txBody>
      </p:sp>
      <p:cxnSp>
        <p:nvCxnSpPr>
          <p:cNvPr id="464905" name="AutoShape 9">
            <a:extLst>
              <a:ext uri="{FF2B5EF4-FFF2-40B4-BE49-F238E27FC236}">
                <a16:creationId xmlns:a16="http://schemas.microsoft.com/office/drawing/2014/main" id="{94004009-0B04-9658-6D17-4C05A64D5C84}"/>
              </a:ext>
            </a:extLst>
          </p:cNvPr>
          <p:cNvCxnSpPr>
            <a:cxnSpLocks noChangeShapeType="1"/>
            <a:stCxn id="464904" idx="3"/>
            <a:endCxn id="464902" idx="1"/>
          </p:cNvCxnSpPr>
          <p:nvPr/>
        </p:nvCxnSpPr>
        <p:spPr bwMode="auto">
          <a:xfrm flipV="1">
            <a:off x="5954713" y="5348288"/>
            <a:ext cx="576262" cy="153987"/>
          </a:xfrm>
          <a:prstGeom prst="straightConnector1">
            <a:avLst/>
          </a:prstGeom>
          <a:noFill/>
          <a:ln w="19050">
            <a:solidFill>
              <a:srgbClr val="FF0000"/>
            </a:solidFill>
            <a:round/>
            <a:headEnd/>
            <a:tailEnd type="triangle" w="med" len="med"/>
          </a:ln>
          <a:effectLst>
            <a:prstShdw prst="shdw17" dist="17961" dir="2700000">
              <a:srgbClr val="990000">
                <a:alpha val="74997"/>
              </a:srgbClr>
            </a:prstShdw>
          </a:effectLst>
          <a:extLst>
            <a:ext uri="{909E8E84-426E-40DD-AFC4-6F175D3DCCD1}">
              <a14:hiddenFill xmlns:a14="http://schemas.microsoft.com/office/drawing/2010/main">
                <a:noFill/>
              </a14:hiddenFill>
            </a:ext>
          </a:extLst>
        </p:spPr>
      </p:cxnSp>
      <p:sp>
        <p:nvSpPr>
          <p:cNvPr id="464906" name="Rectangle 10">
            <a:extLst>
              <a:ext uri="{FF2B5EF4-FFF2-40B4-BE49-F238E27FC236}">
                <a16:creationId xmlns:a16="http://schemas.microsoft.com/office/drawing/2014/main" id="{72518500-41FB-70EB-82EB-863C883AFE28}"/>
              </a:ext>
            </a:extLst>
          </p:cNvPr>
          <p:cNvSpPr>
            <a:spLocks noChangeArrowheads="1"/>
          </p:cNvSpPr>
          <p:nvPr/>
        </p:nvSpPr>
        <p:spPr bwMode="auto">
          <a:xfrm>
            <a:off x="6530975" y="5656263"/>
            <a:ext cx="1574800" cy="384175"/>
          </a:xfrm>
          <a:prstGeom prst="rect">
            <a:avLst/>
          </a:prstGeom>
          <a:solidFill>
            <a:srgbClr val="CCFFCC"/>
          </a:solidFill>
          <a:ln>
            <a:noFill/>
          </a:ln>
          <a:effectLst>
            <a:prstShdw prst="shdw17" dist="17961" dir="2700000">
              <a:srgbClr val="7A997A">
                <a:alpha val="74997"/>
              </a:srgbClr>
            </a:prstShdw>
          </a:effectLst>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1800">
                <a:solidFill>
                  <a:srgbClr val="FF3300"/>
                </a:solidFill>
                <a:latin typeface="Arial" panose="020B0604020202020204" pitchFamily="34" charset="0"/>
                <a:ea typeface="宋体" panose="02010600030101010101" pitchFamily="2" charset="-122"/>
              </a:rPr>
              <a:t>(0x00001267)</a:t>
            </a:r>
          </a:p>
        </p:txBody>
      </p:sp>
      <p:cxnSp>
        <p:nvCxnSpPr>
          <p:cNvPr id="464907" name="AutoShape 11">
            <a:extLst>
              <a:ext uri="{FF2B5EF4-FFF2-40B4-BE49-F238E27FC236}">
                <a16:creationId xmlns:a16="http://schemas.microsoft.com/office/drawing/2014/main" id="{71E89024-8C46-9DBD-A484-5909167FD68D}"/>
              </a:ext>
            </a:extLst>
          </p:cNvPr>
          <p:cNvCxnSpPr>
            <a:cxnSpLocks noChangeShapeType="1"/>
            <a:stCxn id="464904" idx="3"/>
            <a:endCxn id="464906" idx="1"/>
          </p:cNvCxnSpPr>
          <p:nvPr/>
        </p:nvCxnSpPr>
        <p:spPr bwMode="auto">
          <a:xfrm>
            <a:off x="5954713" y="5502275"/>
            <a:ext cx="576262" cy="346075"/>
          </a:xfrm>
          <a:prstGeom prst="straightConnector1">
            <a:avLst/>
          </a:prstGeom>
          <a:noFill/>
          <a:ln w="19050">
            <a:solidFill>
              <a:srgbClr val="FF0000"/>
            </a:solidFill>
            <a:round/>
            <a:headEnd/>
            <a:tailEnd type="triangle" w="med" len="med"/>
          </a:ln>
          <a:effectLst>
            <a:prstShdw prst="shdw17" dist="17961" dir="2700000">
              <a:srgbClr val="990000">
                <a:alpha val="74997"/>
              </a:srgbClr>
            </a:prstShdw>
          </a:effectLst>
          <a:extLst>
            <a:ext uri="{909E8E84-426E-40DD-AFC4-6F175D3DCCD1}">
              <a14:hiddenFill xmlns:a14="http://schemas.microsoft.com/office/drawing/2010/main">
                <a:noFill/>
              </a14:hiddenFill>
            </a:ext>
          </a:extLst>
        </p:spPr>
      </p:cxnSp>
      <p:sp>
        <p:nvSpPr>
          <p:cNvPr id="12" name="Rectangular Callout 11">
            <a:extLst>
              <a:ext uri="{FF2B5EF4-FFF2-40B4-BE49-F238E27FC236}">
                <a16:creationId xmlns:a16="http://schemas.microsoft.com/office/drawing/2014/main" id="{4B17B16B-77F6-25C8-66BB-25108CDDC08B}"/>
              </a:ext>
            </a:extLst>
          </p:cNvPr>
          <p:cNvSpPr/>
          <p:nvPr/>
        </p:nvSpPr>
        <p:spPr bwMode="auto">
          <a:xfrm>
            <a:off x="2843213" y="5424488"/>
            <a:ext cx="1420812" cy="576262"/>
          </a:xfrm>
          <a:prstGeom prst="wedgeRectCallout">
            <a:avLst>
              <a:gd name="adj1" fmla="val -87722"/>
              <a:gd name="adj2" fmla="val -21138"/>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nchor="ctr"/>
          <a:lstStyle/>
          <a:p>
            <a:pPr>
              <a:defRPr/>
            </a:pPr>
            <a:r>
              <a:rPr lang="en-US" altLang="zh-CN" dirty="0">
                <a:solidFill>
                  <a:srgbClr val="000000"/>
                </a:solidFill>
              </a:rPr>
              <a:t>delete p;</a:t>
            </a:r>
            <a:endParaRPr lang="zh-CN" altLang="en-US" dirty="0">
              <a:solidFill>
                <a:srgbClr val="FF3300"/>
              </a:solidFill>
            </a:endParaRPr>
          </a:p>
        </p:txBody>
      </p:sp>
      <p:sp>
        <p:nvSpPr>
          <p:cNvPr id="53259" name="灯片编号占位符 3">
            <a:extLst>
              <a:ext uri="{FF2B5EF4-FFF2-40B4-BE49-F238E27FC236}">
                <a16:creationId xmlns:a16="http://schemas.microsoft.com/office/drawing/2014/main" id="{5EA2BC04-80FE-B445-B7C0-8ABADDC614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FD488874-F487-8C4C-98EA-0A98346F10E3}" type="slidenum">
              <a:rPr lang="en-US" altLang="zh-CN" sz="1600">
                <a:latin typeface="Lucida Sans Unicode" panose="020B0602030504020204" pitchFamily="34" charset="0"/>
                <a:ea typeface="宋体" panose="02010600030101010101" pitchFamily="2" charset="-122"/>
              </a:rPr>
              <a:pPr/>
              <a:t>9</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FB0CBFC3-26EC-583D-71A9-6AF412C2819B}"/>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dirty="0"/>
              <a:t>The “delete” Operator</a:t>
            </a:r>
            <a:endParaRPr lang="zh-CN" altLang="en-US" kern="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64900"/>
                                        </p:tgtEl>
                                        <p:attrNameLst>
                                          <p:attrName>style.visibility</p:attrName>
                                        </p:attrNameLst>
                                      </p:cBhvr>
                                      <p:to>
                                        <p:strVal val="visible"/>
                                      </p:to>
                                    </p:set>
                                    <p:animEffect transition="in" filter="checkerboard(across)">
                                      <p:cBhvr>
                                        <p:cTn id="7" dur="500"/>
                                        <p:tgtEl>
                                          <p:spTgt spid="464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64899">
                                            <p:txEl>
                                              <p:pRg st="3" end="3"/>
                                            </p:txEl>
                                          </p:spTgt>
                                        </p:tgtEl>
                                        <p:attrNameLst>
                                          <p:attrName>style.visibility</p:attrName>
                                        </p:attrNameLst>
                                      </p:cBhvr>
                                      <p:to>
                                        <p:strVal val="visible"/>
                                      </p:to>
                                    </p:set>
                                    <p:animEffect transition="in" filter="checkerboard(across)">
                                      <p:cBhvr>
                                        <p:cTn id="12" dur="500"/>
                                        <p:tgtEl>
                                          <p:spTgt spid="464899">
                                            <p:txEl>
                                              <p:pRg st="3" end="3"/>
                                            </p:txEl>
                                          </p:spTgt>
                                        </p:tgtEl>
                                      </p:cBhvr>
                                    </p:animEffect>
                                  </p:childTnLst>
                                </p:cTn>
                              </p:par>
                            </p:childTnLst>
                          </p:cTn>
                        </p:par>
                        <p:par>
                          <p:cTn id="13" fill="hold" nodeType="afterGroup">
                            <p:stCondLst>
                              <p:cond delay="500"/>
                            </p:stCondLst>
                            <p:childTnLst>
                              <p:par>
                                <p:cTn id="14" presetID="5" presetClass="entr" presetSubtype="10" fill="hold" nodeType="afterEffect">
                                  <p:stCondLst>
                                    <p:cond delay="0"/>
                                  </p:stCondLst>
                                  <p:childTnLst>
                                    <p:set>
                                      <p:cBhvr>
                                        <p:cTn id="15" dur="1" fill="hold">
                                          <p:stCondLst>
                                            <p:cond delay="0"/>
                                          </p:stCondLst>
                                        </p:cTn>
                                        <p:tgtEl>
                                          <p:spTgt spid="464899">
                                            <p:txEl>
                                              <p:pRg st="4" end="4"/>
                                            </p:txEl>
                                          </p:spTgt>
                                        </p:tgtEl>
                                        <p:attrNameLst>
                                          <p:attrName>style.visibility</p:attrName>
                                        </p:attrNameLst>
                                      </p:cBhvr>
                                      <p:to>
                                        <p:strVal val="visible"/>
                                      </p:to>
                                    </p:set>
                                    <p:animEffect transition="in" filter="checkerboard(across)">
                                      <p:cBhvr>
                                        <p:cTn id="16" dur="500"/>
                                        <p:tgtEl>
                                          <p:spTgt spid="464899">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64899">
                                            <p:txEl>
                                              <p:pRg st="5" end="5"/>
                                            </p:txEl>
                                          </p:spTgt>
                                        </p:tgtEl>
                                        <p:attrNameLst>
                                          <p:attrName>style.visibility</p:attrName>
                                        </p:attrNameLst>
                                      </p:cBhvr>
                                      <p:to>
                                        <p:strVal val="visible"/>
                                      </p:to>
                                    </p:set>
                                    <p:animEffect transition="in" filter="checkerboard(across)">
                                      <p:cBhvr>
                                        <p:cTn id="19" dur="500"/>
                                        <p:tgtEl>
                                          <p:spTgt spid="464899">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nodeType="clickEffect">
                                  <p:stCondLst>
                                    <p:cond delay="0"/>
                                  </p:stCondLst>
                                  <p:childTnLst>
                                    <p:set>
                                      <p:cBhvr>
                                        <p:cTn id="23" dur="1" fill="hold">
                                          <p:stCondLst>
                                            <p:cond delay="0"/>
                                          </p:stCondLst>
                                        </p:cTn>
                                        <p:tgtEl>
                                          <p:spTgt spid="464899">
                                            <p:txEl>
                                              <p:pRg st="6" end="6"/>
                                            </p:txEl>
                                          </p:spTgt>
                                        </p:tgtEl>
                                        <p:attrNameLst>
                                          <p:attrName>style.visibility</p:attrName>
                                        </p:attrNameLst>
                                      </p:cBhvr>
                                      <p:to>
                                        <p:strVal val="visible"/>
                                      </p:to>
                                    </p:set>
                                    <p:animEffect transition="in" filter="checkerboard(across)">
                                      <p:cBhvr>
                                        <p:cTn id="24" dur="500"/>
                                        <p:tgtEl>
                                          <p:spTgt spid="464899">
                                            <p:txEl>
                                              <p:pRg st="6" end="6"/>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464899">
                                            <p:txEl>
                                              <p:pRg st="7" end="7"/>
                                            </p:txEl>
                                          </p:spTgt>
                                        </p:tgtEl>
                                        <p:attrNameLst>
                                          <p:attrName>style.visibility</p:attrName>
                                        </p:attrNameLst>
                                      </p:cBhvr>
                                      <p:to>
                                        <p:strVal val="visible"/>
                                      </p:to>
                                    </p:set>
                                    <p:animEffect transition="in" filter="checkerboard(across)">
                                      <p:cBhvr>
                                        <p:cTn id="27" dur="500"/>
                                        <p:tgtEl>
                                          <p:spTgt spid="464899">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464899">
                                            <p:txEl>
                                              <p:pRg st="8" end="8"/>
                                            </p:txEl>
                                          </p:spTgt>
                                        </p:tgtEl>
                                        <p:attrNameLst>
                                          <p:attrName>style.visibility</p:attrName>
                                        </p:attrNameLst>
                                      </p:cBhvr>
                                      <p:to>
                                        <p:strVal val="visible"/>
                                      </p:to>
                                    </p:set>
                                    <p:animEffect transition="in" filter="checkerboard(across)">
                                      <p:cBhvr>
                                        <p:cTn id="32" dur="500"/>
                                        <p:tgtEl>
                                          <p:spTgt spid="464899">
                                            <p:txEl>
                                              <p:pRg st="8" end="8"/>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464899">
                                            <p:txEl>
                                              <p:pRg st="9" end="9"/>
                                            </p:txEl>
                                          </p:spTgt>
                                        </p:tgtEl>
                                        <p:attrNameLst>
                                          <p:attrName>style.visibility</p:attrName>
                                        </p:attrNameLst>
                                      </p:cBhvr>
                                      <p:to>
                                        <p:strVal val="visible"/>
                                      </p:to>
                                    </p:set>
                                    <p:animEffect transition="in" filter="checkerboard(across)">
                                      <p:cBhvr>
                                        <p:cTn id="35" dur="500"/>
                                        <p:tgtEl>
                                          <p:spTgt spid="464899">
                                            <p:txEl>
                                              <p:pRg st="9" end="9"/>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464904"/>
                                        </p:tgtEl>
                                        <p:attrNameLst>
                                          <p:attrName>style.visibility</p:attrName>
                                        </p:attrNameLst>
                                      </p:cBhvr>
                                      <p:to>
                                        <p:strVal val="visible"/>
                                      </p:to>
                                    </p:set>
                                    <p:animEffect transition="in" filter="checkerboard(across)">
                                      <p:cBhvr>
                                        <p:cTn id="40" dur="500"/>
                                        <p:tgtEl>
                                          <p:spTgt spid="464904"/>
                                        </p:tgtEl>
                                      </p:cBhvr>
                                    </p:animEffect>
                                  </p:childTnLst>
                                </p:cTn>
                              </p:par>
                            </p:childTnLst>
                          </p:cTn>
                        </p:par>
                        <p:par>
                          <p:cTn id="41" fill="hold" nodeType="afterGroup">
                            <p:stCondLst>
                              <p:cond delay="500"/>
                            </p:stCondLst>
                            <p:childTnLst>
                              <p:par>
                                <p:cTn id="42" presetID="5" presetClass="entr" presetSubtype="10" fill="hold" grpId="0" nodeType="afterEffect">
                                  <p:stCondLst>
                                    <p:cond delay="0"/>
                                  </p:stCondLst>
                                  <p:childTnLst>
                                    <p:set>
                                      <p:cBhvr>
                                        <p:cTn id="43" dur="1" fill="hold">
                                          <p:stCondLst>
                                            <p:cond delay="0"/>
                                          </p:stCondLst>
                                        </p:cTn>
                                        <p:tgtEl>
                                          <p:spTgt spid="464902"/>
                                        </p:tgtEl>
                                        <p:attrNameLst>
                                          <p:attrName>style.visibility</p:attrName>
                                        </p:attrNameLst>
                                      </p:cBhvr>
                                      <p:to>
                                        <p:strVal val="visible"/>
                                      </p:to>
                                    </p:set>
                                    <p:animEffect transition="in" filter="checkerboard(across)">
                                      <p:cBhvr>
                                        <p:cTn id="44" dur="500"/>
                                        <p:tgtEl>
                                          <p:spTgt spid="464902"/>
                                        </p:tgtEl>
                                      </p:cBhvr>
                                    </p:animEffect>
                                  </p:childTnLst>
                                </p:cTn>
                              </p:par>
                              <p:par>
                                <p:cTn id="45" presetID="5" presetClass="entr" presetSubtype="10" fill="hold" nodeType="withEffect">
                                  <p:stCondLst>
                                    <p:cond delay="0"/>
                                  </p:stCondLst>
                                  <p:childTnLst>
                                    <p:set>
                                      <p:cBhvr>
                                        <p:cTn id="46" dur="1" fill="hold">
                                          <p:stCondLst>
                                            <p:cond delay="0"/>
                                          </p:stCondLst>
                                        </p:cTn>
                                        <p:tgtEl>
                                          <p:spTgt spid="464905"/>
                                        </p:tgtEl>
                                        <p:attrNameLst>
                                          <p:attrName>style.visibility</p:attrName>
                                        </p:attrNameLst>
                                      </p:cBhvr>
                                      <p:to>
                                        <p:strVal val="visible"/>
                                      </p:to>
                                    </p:set>
                                    <p:animEffect transition="in" filter="checkerboard(across)">
                                      <p:cBhvr>
                                        <p:cTn id="47" dur="500"/>
                                        <p:tgtEl>
                                          <p:spTgt spid="46490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464906"/>
                                        </p:tgtEl>
                                        <p:attrNameLst>
                                          <p:attrName>style.visibility</p:attrName>
                                        </p:attrNameLst>
                                      </p:cBhvr>
                                      <p:to>
                                        <p:strVal val="visible"/>
                                      </p:to>
                                    </p:set>
                                    <p:animEffect transition="in" filter="checkerboard(across)">
                                      <p:cBhvr>
                                        <p:cTn id="52" dur="500"/>
                                        <p:tgtEl>
                                          <p:spTgt spid="464906"/>
                                        </p:tgtEl>
                                      </p:cBhvr>
                                    </p:animEffect>
                                  </p:childTnLst>
                                </p:cTn>
                              </p:par>
                              <p:par>
                                <p:cTn id="53" presetID="5" presetClass="entr" presetSubtype="10" fill="hold" nodeType="withEffect">
                                  <p:stCondLst>
                                    <p:cond delay="0"/>
                                  </p:stCondLst>
                                  <p:childTnLst>
                                    <p:set>
                                      <p:cBhvr>
                                        <p:cTn id="54" dur="1" fill="hold">
                                          <p:stCondLst>
                                            <p:cond delay="0"/>
                                          </p:stCondLst>
                                        </p:cTn>
                                        <p:tgtEl>
                                          <p:spTgt spid="464907"/>
                                        </p:tgtEl>
                                        <p:attrNameLst>
                                          <p:attrName>style.visibility</p:attrName>
                                        </p:attrNameLst>
                                      </p:cBhvr>
                                      <p:to>
                                        <p:strVal val="visible"/>
                                      </p:to>
                                    </p:set>
                                    <p:animEffect transition="in" filter="checkerboard(across)">
                                      <p:cBhvr>
                                        <p:cTn id="55" dur="500"/>
                                        <p:tgtEl>
                                          <p:spTgt spid="464907"/>
                                        </p:tgtEl>
                                      </p:cBhvr>
                                    </p:animEffect>
                                  </p:childTnLst>
                                </p:cTn>
                              </p:par>
                            </p:childTnLst>
                          </p:cTn>
                        </p:par>
                        <p:par>
                          <p:cTn id="56" fill="hold" nodeType="afterGroup">
                            <p:stCondLst>
                              <p:cond delay="500"/>
                            </p:stCondLst>
                            <p:childTnLst>
                              <p:par>
                                <p:cTn id="57" presetID="5" presetClass="exit" presetSubtype="10" fill="hold" nodeType="afterEffect">
                                  <p:stCondLst>
                                    <p:cond delay="0"/>
                                  </p:stCondLst>
                                  <p:childTnLst>
                                    <p:animEffect transition="out" filter="checkerboard(across)">
                                      <p:cBhvr>
                                        <p:cTn id="58" dur="500"/>
                                        <p:tgtEl>
                                          <p:spTgt spid="464905"/>
                                        </p:tgtEl>
                                      </p:cBhvr>
                                    </p:animEffect>
                                    <p:set>
                                      <p:cBhvr>
                                        <p:cTn id="59" dur="1" fill="hold">
                                          <p:stCondLst>
                                            <p:cond delay="499"/>
                                          </p:stCondLst>
                                        </p:cTn>
                                        <p:tgtEl>
                                          <p:spTgt spid="464905"/>
                                        </p:tgtEl>
                                        <p:attrNameLst>
                                          <p:attrName>style.visibility</p:attrName>
                                        </p:attrNameLst>
                                      </p:cBhvr>
                                      <p:to>
                                        <p:strVal val="hidden"/>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blinds(horizontal)">
                                      <p:cBhvr>
                                        <p:cTn id="6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0" grpId="0" animBg="1"/>
      <p:bldP spid="464902" grpId="0" animBg="1"/>
      <p:bldP spid="464904" grpId="0" animBg="1"/>
      <p:bldP spid="464906"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9" name="Rectangle 3">
            <a:extLst>
              <a:ext uri="{FF2B5EF4-FFF2-40B4-BE49-F238E27FC236}">
                <a16:creationId xmlns:a16="http://schemas.microsoft.com/office/drawing/2014/main" id="{67B2C8B1-9358-11C0-823F-4DB253497AF1}"/>
              </a:ext>
            </a:extLst>
          </p:cNvPr>
          <p:cNvSpPr>
            <a:spLocks noGrp="1" noChangeArrowheads="1"/>
          </p:cNvSpPr>
          <p:nvPr>
            <p:ph type="body" idx="1"/>
          </p:nvPr>
        </p:nvSpPr>
        <p:spPr>
          <a:xfrm>
            <a:off x="-74613" y="1239839"/>
            <a:ext cx="9101138" cy="4570272"/>
          </a:xfrm>
        </p:spPr>
        <p:txBody>
          <a:bodyPr/>
          <a:lstStyle/>
          <a:p>
            <a:pPr>
              <a:defRPr/>
            </a:pPr>
            <a:r>
              <a:rPr lang="en-US" altLang="zh-CN" dirty="0">
                <a:latin typeface="+mj-lt"/>
              </a:rPr>
              <a:t>To create a 3x4 multidimensional dynamic array</a:t>
            </a:r>
          </a:p>
          <a:p>
            <a:pPr lvl="1">
              <a:defRPr/>
            </a:pPr>
            <a:r>
              <a:rPr lang="en-US" altLang="zh-CN" dirty="0">
                <a:latin typeface="+mj-lt"/>
              </a:rPr>
              <a:t>View multidimensional arrays as arrays of arrays</a:t>
            </a:r>
          </a:p>
          <a:p>
            <a:pPr lvl="1">
              <a:defRPr/>
            </a:pPr>
            <a:r>
              <a:rPr lang="en-US" altLang="zh-CN" dirty="0">
                <a:latin typeface="+mj-lt"/>
              </a:rPr>
              <a:t>First create a one-dimensional dynamic array</a:t>
            </a:r>
          </a:p>
          <a:p>
            <a:pPr lvl="2">
              <a:defRPr/>
            </a:pPr>
            <a:r>
              <a:rPr lang="en-US" altLang="zh-CN" dirty="0">
                <a:latin typeface="+mj-lt"/>
              </a:rPr>
              <a:t>Start with a new definition:   </a:t>
            </a:r>
            <a:br>
              <a:rPr lang="en-US" altLang="zh-CN" dirty="0">
                <a:latin typeface="+mj-lt"/>
              </a:rPr>
            </a:br>
            <a:r>
              <a:rPr lang="en-US" altLang="zh-CN" dirty="0">
                <a:latin typeface="+mj-lt"/>
              </a:rPr>
              <a:t>  		</a:t>
            </a:r>
            <a:r>
              <a:rPr lang="en-US" altLang="zh-CN" b="0" dirty="0" err="1">
                <a:latin typeface="+mj-lt"/>
              </a:rPr>
              <a:t>typedef</a:t>
            </a:r>
            <a:r>
              <a:rPr lang="en-US" altLang="zh-CN" b="0" dirty="0">
                <a:latin typeface="+mj-lt"/>
              </a:rPr>
              <a:t> </a:t>
            </a:r>
            <a:r>
              <a:rPr lang="en-US" altLang="zh-CN" b="0" dirty="0" err="1">
                <a:latin typeface="+mj-lt"/>
              </a:rPr>
              <a:t>int</a:t>
            </a:r>
            <a:r>
              <a:rPr lang="en-US" altLang="zh-CN" b="0" dirty="0">
                <a:latin typeface="+mj-lt"/>
              </a:rPr>
              <a:t>* </a:t>
            </a:r>
            <a:r>
              <a:rPr lang="en-US" altLang="zh-CN" b="0" dirty="0" err="1">
                <a:latin typeface="+mj-lt"/>
              </a:rPr>
              <a:t>IntArrayPtr</a:t>
            </a:r>
            <a:r>
              <a:rPr lang="en-US" altLang="zh-CN" b="0" dirty="0">
                <a:latin typeface="+mj-lt"/>
              </a:rPr>
              <a:t>;</a:t>
            </a:r>
          </a:p>
          <a:p>
            <a:pPr lvl="2">
              <a:defRPr/>
            </a:pPr>
            <a:r>
              <a:rPr lang="en-US" altLang="zh-CN" dirty="0">
                <a:latin typeface="+mj-lt"/>
              </a:rPr>
              <a:t>Now create a dynamic  array of</a:t>
            </a:r>
            <a:r>
              <a:rPr lang="en-US" altLang="zh-CN" u="sng" dirty="0">
                <a:latin typeface="+mj-lt"/>
              </a:rPr>
              <a:t> pointers</a:t>
            </a:r>
            <a:r>
              <a:rPr lang="en-US" altLang="zh-CN" dirty="0">
                <a:latin typeface="+mj-lt"/>
              </a:rPr>
              <a:t> named m:  </a:t>
            </a:r>
            <a:br>
              <a:rPr lang="en-US" altLang="zh-CN" dirty="0">
                <a:latin typeface="+mj-lt"/>
              </a:rPr>
            </a:br>
            <a:r>
              <a:rPr lang="en-US" altLang="zh-CN" dirty="0">
                <a:latin typeface="+mj-lt"/>
              </a:rPr>
              <a:t> 		</a:t>
            </a:r>
            <a:r>
              <a:rPr lang="en-US" altLang="zh-CN" b="0" dirty="0" err="1">
                <a:latin typeface="+mj-lt"/>
              </a:rPr>
              <a:t>IntArrayPtr</a:t>
            </a:r>
            <a:r>
              <a:rPr lang="en-US" altLang="zh-CN" b="0" dirty="0">
                <a:latin typeface="+mj-lt"/>
              </a:rPr>
              <a:t> *m = new </a:t>
            </a:r>
            <a:r>
              <a:rPr lang="en-US" altLang="zh-CN" b="0" dirty="0" err="1">
                <a:latin typeface="+mj-lt"/>
              </a:rPr>
              <a:t>IntArrayPtr</a:t>
            </a:r>
            <a:r>
              <a:rPr lang="en-US" altLang="zh-CN" b="0" dirty="0">
                <a:latin typeface="+mj-lt"/>
              </a:rPr>
              <a:t>[4];</a:t>
            </a:r>
          </a:p>
          <a:p>
            <a:pPr lvl="1">
              <a:defRPr/>
            </a:pPr>
            <a:r>
              <a:rPr lang="en-US" altLang="zh-CN" dirty="0">
                <a:latin typeface="+mj-lt"/>
              </a:rPr>
              <a:t>For each pointer in m, create a dynamic array of </a:t>
            </a:r>
            <a:r>
              <a:rPr lang="en-US" altLang="zh-CN" u="sng" dirty="0" err="1">
                <a:latin typeface="+mj-lt"/>
              </a:rPr>
              <a:t>int's</a:t>
            </a:r>
            <a:endParaRPr lang="en-US" altLang="zh-CN" u="sng" dirty="0">
              <a:latin typeface="+mj-lt"/>
            </a:endParaRPr>
          </a:p>
          <a:p>
            <a:pPr marL="914400" lvl="2" indent="0">
              <a:buFontTx/>
              <a:buNone/>
              <a:defRPr/>
            </a:pPr>
            <a:r>
              <a:rPr lang="en-US" altLang="zh-CN" dirty="0">
                <a:latin typeface="+mj-lt"/>
              </a:rPr>
              <a:t> 		</a:t>
            </a:r>
            <a:r>
              <a:rPr lang="en-US" altLang="zh-CN" b="0" dirty="0">
                <a:latin typeface="+mj-lt"/>
              </a:rPr>
              <a:t>for (int </a:t>
            </a:r>
            <a:r>
              <a:rPr lang="en-US" altLang="zh-CN" b="0" dirty="0" err="1">
                <a:latin typeface="+mj-lt"/>
              </a:rPr>
              <a:t>i</a:t>
            </a:r>
            <a:r>
              <a:rPr lang="en-US" altLang="zh-CN" b="0" dirty="0">
                <a:latin typeface="+mj-lt"/>
              </a:rPr>
              <a:t> = 0; </a:t>
            </a:r>
            <a:r>
              <a:rPr lang="en-US" altLang="zh-CN" b="0" dirty="0" err="1">
                <a:latin typeface="+mj-lt"/>
              </a:rPr>
              <a:t>i</a:t>
            </a:r>
            <a:r>
              <a:rPr lang="en-US" altLang="zh-CN" b="0" dirty="0">
                <a:latin typeface="+mj-lt"/>
              </a:rPr>
              <a:t>&lt;4; </a:t>
            </a:r>
            <a:r>
              <a:rPr lang="en-US" altLang="zh-CN" b="0" dirty="0" err="1">
                <a:latin typeface="+mj-lt"/>
              </a:rPr>
              <a:t>i</a:t>
            </a:r>
            <a:r>
              <a:rPr lang="en-US" altLang="zh-CN" b="0" dirty="0">
                <a:latin typeface="+mj-lt"/>
              </a:rPr>
              <a:t>++)</a:t>
            </a:r>
            <a:br>
              <a:rPr lang="en-US" altLang="zh-CN" b="0" dirty="0">
                <a:latin typeface="+mj-lt"/>
              </a:rPr>
            </a:br>
            <a:r>
              <a:rPr lang="en-US" altLang="zh-CN" b="0" dirty="0">
                <a:latin typeface="+mj-lt"/>
              </a:rPr>
              <a:t>     		    m[</a:t>
            </a:r>
            <a:r>
              <a:rPr lang="en-US" altLang="zh-CN" b="0" dirty="0" err="1">
                <a:latin typeface="+mj-lt"/>
              </a:rPr>
              <a:t>i</a:t>
            </a:r>
            <a:r>
              <a:rPr lang="en-US" altLang="zh-CN" b="0" dirty="0">
                <a:latin typeface="+mj-lt"/>
              </a:rPr>
              <a:t>] = new int[4];</a:t>
            </a:r>
          </a:p>
        </p:txBody>
      </p:sp>
      <p:sp>
        <p:nvSpPr>
          <p:cNvPr id="55300" name="灯片编号占位符 3">
            <a:extLst>
              <a:ext uri="{FF2B5EF4-FFF2-40B4-BE49-F238E27FC236}">
                <a16:creationId xmlns:a16="http://schemas.microsoft.com/office/drawing/2014/main" id="{5BB8249D-916C-D233-3CC4-2AE5FF642CB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31D798A7-5CB6-C144-99FD-A49896A50D98}" type="slidenum">
              <a:rPr lang="en-US" altLang="zh-CN" sz="1600">
                <a:latin typeface="Lucida Sans Unicode" panose="020B0602030504020204" pitchFamily="34" charset="0"/>
                <a:ea typeface="宋体" panose="02010600030101010101" pitchFamily="2" charset="-122"/>
              </a:rPr>
              <a:pPr/>
              <a:t>10</a:t>
            </a:fld>
            <a:endParaRPr lang="en-US" altLang="zh-CN" sz="1600">
              <a:latin typeface="Lucida Sans Unicode" panose="020B0602030504020204" pitchFamily="34" charset="0"/>
              <a:ea typeface="宋体" panose="02010600030101010101" pitchFamily="2" charset="-122"/>
            </a:endParaRPr>
          </a:p>
        </p:txBody>
      </p:sp>
      <p:sp>
        <p:nvSpPr>
          <p:cNvPr id="2" name="矩形 1">
            <a:extLst>
              <a:ext uri="{FF2B5EF4-FFF2-40B4-BE49-F238E27FC236}">
                <a16:creationId xmlns:a16="http://schemas.microsoft.com/office/drawing/2014/main" id="{C5163BC7-CDCA-4F43-9C52-B08A32F49506}"/>
              </a:ext>
            </a:extLst>
          </p:cNvPr>
          <p:cNvSpPr/>
          <p:nvPr/>
        </p:nvSpPr>
        <p:spPr>
          <a:xfrm>
            <a:off x="6398883" y="4967665"/>
            <a:ext cx="2751074" cy="1569660"/>
          </a:xfrm>
          <a:prstGeom prst="rect">
            <a:avLst/>
          </a:prstGeom>
        </p:spPr>
        <p:txBody>
          <a:bodyPr wrap="none">
            <a:spAutoFit/>
          </a:bodyPr>
          <a:lstStyle/>
          <a:p>
            <a:r>
              <a:rPr lang="zh-CN" altLang="zh-CN" i="1" dirty="0">
                <a:cs typeface="Times New Roman" panose="02020603050405020304" pitchFamily="18" charset="0"/>
              </a:rPr>
              <a:t>int </a:t>
            </a:r>
            <a:r>
              <a:rPr lang="en-US" altLang="zh-CN" i="1" dirty="0">
                <a:cs typeface="Times New Roman" panose="02020603050405020304" pitchFamily="18" charset="0"/>
              </a:rPr>
              <a:t>**m;</a:t>
            </a:r>
          </a:p>
          <a:p>
            <a:r>
              <a:rPr lang="en-US" altLang="zh-CN" i="1" dirty="0">
                <a:cs typeface="Times New Roman" panose="02020603050405020304" pitchFamily="18" charset="0"/>
              </a:rPr>
              <a:t>m=new int *[4];</a:t>
            </a:r>
          </a:p>
          <a:p>
            <a:r>
              <a:rPr lang="en-US" altLang="zh-CN" i="1" dirty="0">
                <a:cs typeface="Times New Roman" panose="02020603050405020304" pitchFamily="18" charset="0"/>
              </a:rPr>
              <a:t>for(int </a:t>
            </a:r>
            <a:r>
              <a:rPr lang="en-US" altLang="zh-CN" i="1" dirty="0" err="1">
                <a:cs typeface="Times New Roman" panose="02020603050405020304" pitchFamily="18" charset="0"/>
              </a:rPr>
              <a:t>i</a:t>
            </a:r>
            <a:r>
              <a:rPr lang="en-US" altLang="zh-CN" i="1" dirty="0">
                <a:cs typeface="Times New Roman" panose="02020603050405020304" pitchFamily="18" charset="0"/>
              </a:rPr>
              <a:t>=0;i&lt;4;i++)</a:t>
            </a:r>
          </a:p>
          <a:p>
            <a:r>
              <a:rPr lang="en-US" altLang="zh-CN" i="1" dirty="0">
                <a:cs typeface="Times New Roman" panose="02020603050405020304" pitchFamily="18" charset="0"/>
              </a:rPr>
              <a:t>   m[</a:t>
            </a:r>
            <a:r>
              <a:rPr lang="en-US" altLang="zh-CN" i="1" dirty="0" err="1">
                <a:cs typeface="Times New Roman" panose="02020603050405020304" pitchFamily="18" charset="0"/>
              </a:rPr>
              <a:t>i</a:t>
            </a:r>
            <a:r>
              <a:rPr lang="en-US" altLang="zh-CN" i="1" dirty="0">
                <a:cs typeface="Times New Roman" panose="02020603050405020304" pitchFamily="18" charset="0"/>
              </a:rPr>
              <a:t>]= new int[4];</a:t>
            </a:r>
            <a:endParaRPr lang="zh-CN" altLang="en-US" i="1" dirty="0">
              <a:cs typeface="Times New Roman" panose="02020603050405020304" pitchFamily="18" charset="0"/>
            </a:endParaRPr>
          </a:p>
        </p:txBody>
      </p:sp>
      <p:sp>
        <p:nvSpPr>
          <p:cNvPr id="3" name="标题 1">
            <a:extLst>
              <a:ext uri="{FF2B5EF4-FFF2-40B4-BE49-F238E27FC236}">
                <a16:creationId xmlns:a16="http://schemas.microsoft.com/office/drawing/2014/main" id="{41431258-FC07-9D5A-7829-E3A7BF8BD95C}"/>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sz="3600" dirty="0"/>
              <a:t>Multidimensional Dynamic Arrays</a:t>
            </a:r>
            <a:endParaRPr lang="zh-CN" altLang="en-US" kern="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9" name="Rectangle 3">
            <a:extLst>
              <a:ext uri="{FF2B5EF4-FFF2-40B4-BE49-F238E27FC236}">
                <a16:creationId xmlns:a16="http://schemas.microsoft.com/office/drawing/2014/main" id="{317DE1EF-A6E8-F84E-843C-EEF8B6E14505}"/>
              </a:ext>
            </a:extLst>
          </p:cNvPr>
          <p:cNvSpPr>
            <a:spLocks noGrp="1" noChangeArrowheads="1"/>
          </p:cNvSpPr>
          <p:nvPr>
            <p:ph type="body" sz="half" idx="1"/>
          </p:nvPr>
        </p:nvSpPr>
        <p:spPr>
          <a:xfrm>
            <a:off x="493713" y="1163638"/>
            <a:ext cx="8264525" cy="4572000"/>
          </a:xfrm>
        </p:spPr>
        <p:txBody>
          <a:bodyPr/>
          <a:lstStyle/>
          <a:p>
            <a:pPr>
              <a:defRPr/>
            </a:pPr>
            <a:r>
              <a:rPr lang="en-US" altLang="zh-CN" dirty="0">
                <a:latin typeface="+mj-lt"/>
              </a:rPr>
              <a:t>The dynamic array created on the previous slide</a:t>
            </a:r>
            <a:br>
              <a:rPr lang="en-US" altLang="zh-CN" dirty="0">
                <a:latin typeface="+mj-lt"/>
              </a:rPr>
            </a:br>
            <a:r>
              <a:rPr lang="en-US" altLang="zh-CN" dirty="0">
                <a:latin typeface="+mj-lt"/>
              </a:rPr>
              <a:t>could be visualized like this:</a:t>
            </a:r>
          </a:p>
        </p:txBody>
      </p:sp>
      <p:graphicFrame>
        <p:nvGraphicFramePr>
          <p:cNvPr id="941074" name="Group 18">
            <a:extLst>
              <a:ext uri="{FF2B5EF4-FFF2-40B4-BE49-F238E27FC236}">
                <a16:creationId xmlns:a16="http://schemas.microsoft.com/office/drawing/2014/main" id="{D6D2191A-7534-FD44-EEA8-2DF9F8B65C24}"/>
              </a:ext>
            </a:extLst>
          </p:cNvPr>
          <p:cNvGraphicFramePr>
            <a:graphicFrameLocks noGrp="1"/>
          </p:cNvGraphicFramePr>
          <p:nvPr>
            <p:ph sz="quarter" idx="2"/>
          </p:nvPr>
        </p:nvGraphicFramePr>
        <p:xfrm>
          <a:off x="2465388" y="2647950"/>
          <a:ext cx="4148137" cy="742950"/>
        </p:xfrm>
        <a:graphic>
          <a:graphicData uri="http://schemas.openxmlformats.org/drawingml/2006/table">
            <a:tbl>
              <a:tblPr/>
              <a:tblGrid>
                <a:gridCol w="1036637">
                  <a:extLst>
                    <a:ext uri="{9D8B030D-6E8A-4147-A177-3AD203B41FA5}">
                      <a16:colId xmlns:a16="http://schemas.microsoft.com/office/drawing/2014/main" val="20000"/>
                    </a:ext>
                  </a:extLst>
                </a:gridCol>
                <a:gridCol w="1038225">
                  <a:extLst>
                    <a:ext uri="{9D8B030D-6E8A-4147-A177-3AD203B41FA5}">
                      <a16:colId xmlns:a16="http://schemas.microsoft.com/office/drawing/2014/main" val="20001"/>
                    </a:ext>
                  </a:extLst>
                </a:gridCol>
                <a:gridCol w="1036638">
                  <a:extLst>
                    <a:ext uri="{9D8B030D-6E8A-4147-A177-3AD203B41FA5}">
                      <a16:colId xmlns:a16="http://schemas.microsoft.com/office/drawing/2014/main" val="20002"/>
                    </a:ext>
                  </a:extLst>
                </a:gridCol>
                <a:gridCol w="1036637">
                  <a:extLst>
                    <a:ext uri="{9D8B030D-6E8A-4147-A177-3AD203B41FA5}">
                      <a16:colId xmlns:a16="http://schemas.microsoft.com/office/drawing/2014/main" val="20003"/>
                    </a:ext>
                  </a:extLst>
                </a:gridCol>
              </a:tblGrid>
              <a:tr h="7429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dirty="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41075" name="Text Box 19">
            <a:extLst>
              <a:ext uri="{FF2B5EF4-FFF2-40B4-BE49-F238E27FC236}">
                <a16:creationId xmlns:a16="http://schemas.microsoft.com/office/drawing/2014/main" id="{9D0AA92A-DFA7-6DE0-7205-9BF476B354D2}"/>
              </a:ext>
            </a:extLst>
          </p:cNvPr>
          <p:cNvSpPr txBox="1">
            <a:spLocks noChangeArrowheads="1"/>
          </p:cNvSpPr>
          <p:nvPr/>
        </p:nvSpPr>
        <p:spPr bwMode="auto">
          <a:xfrm>
            <a:off x="846138" y="2871788"/>
            <a:ext cx="481012" cy="519112"/>
          </a:xfrm>
          <a:prstGeom prst="rect">
            <a:avLst/>
          </a:prstGeom>
          <a:noFill/>
          <a:ln>
            <a:noFill/>
          </a:ln>
          <a:effectLst/>
          <a:extLst>
            <a:ext uri="{909E8E84-426E-40DD-AFC4-6F175D3DCCD1}">
              <a14:hiddenFill xmlns:a14="http://schemas.microsoft.com/office/drawing/2010/main">
                <a:solidFill>
                  <a:srgbClr val="F8BE1A"/>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a:t>m</a:t>
            </a:r>
          </a:p>
        </p:txBody>
      </p:sp>
      <p:sp>
        <p:nvSpPr>
          <p:cNvPr id="941076" name="Rectangle 20">
            <a:extLst>
              <a:ext uri="{FF2B5EF4-FFF2-40B4-BE49-F238E27FC236}">
                <a16:creationId xmlns:a16="http://schemas.microsoft.com/office/drawing/2014/main" id="{D7007660-EE3D-6843-48B7-FCAC872D122A}"/>
              </a:ext>
            </a:extLst>
          </p:cNvPr>
          <p:cNvSpPr>
            <a:spLocks noChangeArrowheads="1"/>
          </p:cNvSpPr>
          <p:nvPr/>
        </p:nvSpPr>
        <p:spPr bwMode="auto">
          <a:xfrm>
            <a:off x="1314450" y="2724150"/>
            <a:ext cx="457200" cy="666750"/>
          </a:xfrm>
          <a:prstGeom prst="rect">
            <a:avLst/>
          </a:prstGeom>
          <a:noFill/>
          <a:ln w="9525" algn="ctr">
            <a:solidFill>
              <a:schemeClr val="tx2"/>
            </a:solidFill>
            <a:miter lim="800000"/>
            <a:headEnd/>
            <a:tailEnd/>
          </a:ln>
          <a:effectLst/>
          <a:extLst>
            <a:ext uri="{909E8E84-426E-40DD-AFC4-6F175D3DCCD1}">
              <a14:hiddenFill xmlns:a14="http://schemas.microsoft.com/office/drawing/2010/main">
                <a:solidFill>
                  <a:srgbClr val="F8BE1A"/>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endParaRPr lang="zh-CN" altLang="en-US"/>
          </a:p>
        </p:txBody>
      </p:sp>
      <p:sp>
        <p:nvSpPr>
          <p:cNvPr id="941077" name="Line 21">
            <a:extLst>
              <a:ext uri="{FF2B5EF4-FFF2-40B4-BE49-F238E27FC236}">
                <a16:creationId xmlns:a16="http://schemas.microsoft.com/office/drawing/2014/main" id="{8CB9B4CA-49B7-EA24-C0F4-504CEAF060EC}"/>
              </a:ext>
            </a:extLst>
          </p:cNvPr>
          <p:cNvSpPr>
            <a:spLocks noChangeShapeType="1"/>
          </p:cNvSpPr>
          <p:nvPr/>
        </p:nvSpPr>
        <p:spPr bwMode="auto">
          <a:xfrm>
            <a:off x="1638300" y="3067050"/>
            <a:ext cx="781050" cy="19050"/>
          </a:xfrm>
          <a:prstGeom prst="line">
            <a:avLst/>
          </a:prstGeom>
          <a:noFill/>
          <a:ln w="571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941093" name="Group 37">
            <a:extLst>
              <a:ext uri="{FF2B5EF4-FFF2-40B4-BE49-F238E27FC236}">
                <a16:creationId xmlns:a16="http://schemas.microsoft.com/office/drawing/2014/main" id="{845B5FB1-1F7C-2FC6-F29C-57CC8D7AE41C}"/>
              </a:ext>
            </a:extLst>
          </p:cNvPr>
          <p:cNvGraphicFramePr>
            <a:graphicFrameLocks noGrp="1"/>
          </p:cNvGraphicFramePr>
          <p:nvPr>
            <p:ph sz="quarter" idx="3"/>
          </p:nvPr>
        </p:nvGraphicFramePr>
        <p:xfrm>
          <a:off x="2566988" y="3714750"/>
          <a:ext cx="833437" cy="2174876"/>
        </p:xfrm>
        <a:graphic>
          <a:graphicData uri="http://schemas.openxmlformats.org/drawingml/2006/table">
            <a:tbl>
              <a:tblPr/>
              <a:tblGrid>
                <a:gridCol w="833437">
                  <a:extLst>
                    <a:ext uri="{9D8B030D-6E8A-4147-A177-3AD203B41FA5}">
                      <a16:colId xmlns:a16="http://schemas.microsoft.com/office/drawing/2014/main" val="20000"/>
                    </a:ext>
                  </a:extLst>
                </a:gridCol>
              </a:tblGrid>
              <a:tr h="518126">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941130" name="Group 74">
            <a:extLst>
              <a:ext uri="{FF2B5EF4-FFF2-40B4-BE49-F238E27FC236}">
                <a16:creationId xmlns:a16="http://schemas.microsoft.com/office/drawing/2014/main" id="{644B14E6-4568-F572-2E49-623A60B87A2C}"/>
              </a:ext>
            </a:extLst>
          </p:cNvPr>
          <p:cNvGraphicFramePr>
            <a:graphicFrameLocks noGrp="1"/>
          </p:cNvGraphicFramePr>
          <p:nvPr/>
        </p:nvGraphicFramePr>
        <p:xfrm>
          <a:off x="3630613" y="3714750"/>
          <a:ext cx="833437" cy="2174876"/>
        </p:xfrm>
        <a:graphic>
          <a:graphicData uri="http://schemas.openxmlformats.org/drawingml/2006/table">
            <a:tbl>
              <a:tblPr/>
              <a:tblGrid>
                <a:gridCol w="833437">
                  <a:extLst>
                    <a:ext uri="{9D8B030D-6E8A-4147-A177-3AD203B41FA5}">
                      <a16:colId xmlns:a16="http://schemas.microsoft.com/office/drawing/2014/main" val="20000"/>
                    </a:ext>
                  </a:extLst>
                </a:gridCol>
              </a:tblGrid>
              <a:tr h="518126">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941146" name="Group 90">
            <a:extLst>
              <a:ext uri="{FF2B5EF4-FFF2-40B4-BE49-F238E27FC236}">
                <a16:creationId xmlns:a16="http://schemas.microsoft.com/office/drawing/2014/main" id="{321CFA3F-C362-C392-A921-92C471199837}"/>
              </a:ext>
            </a:extLst>
          </p:cNvPr>
          <p:cNvGraphicFramePr>
            <a:graphicFrameLocks noGrp="1"/>
          </p:cNvGraphicFramePr>
          <p:nvPr/>
        </p:nvGraphicFramePr>
        <p:xfrm>
          <a:off x="4683125" y="3724275"/>
          <a:ext cx="833438" cy="2174876"/>
        </p:xfrm>
        <a:graphic>
          <a:graphicData uri="http://schemas.openxmlformats.org/drawingml/2006/table">
            <a:tbl>
              <a:tblPr/>
              <a:tblGrid>
                <a:gridCol w="833438">
                  <a:extLst>
                    <a:ext uri="{9D8B030D-6E8A-4147-A177-3AD203B41FA5}">
                      <a16:colId xmlns:a16="http://schemas.microsoft.com/office/drawing/2014/main" val="20000"/>
                    </a:ext>
                  </a:extLst>
                </a:gridCol>
              </a:tblGrid>
              <a:tr h="518126">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2250">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941131" name="Group 75">
            <a:extLst>
              <a:ext uri="{FF2B5EF4-FFF2-40B4-BE49-F238E27FC236}">
                <a16:creationId xmlns:a16="http://schemas.microsoft.com/office/drawing/2014/main" id="{F78949E8-F7D6-FD67-037F-098276F565EF}"/>
              </a:ext>
            </a:extLst>
          </p:cNvPr>
          <p:cNvGraphicFramePr>
            <a:graphicFrameLocks noGrp="1"/>
          </p:cNvGraphicFramePr>
          <p:nvPr/>
        </p:nvGraphicFramePr>
        <p:xfrm>
          <a:off x="5729288" y="3733800"/>
          <a:ext cx="833437" cy="2152651"/>
        </p:xfrm>
        <a:graphic>
          <a:graphicData uri="http://schemas.openxmlformats.org/drawingml/2006/table">
            <a:tbl>
              <a:tblPr/>
              <a:tblGrid>
                <a:gridCol w="833437">
                  <a:extLst>
                    <a:ext uri="{9D8B030D-6E8A-4147-A177-3AD203B41FA5}">
                      <a16:colId xmlns:a16="http://schemas.microsoft.com/office/drawing/2014/main" val="20000"/>
                    </a:ext>
                  </a:extLst>
                </a:gridCol>
              </a:tblGrid>
              <a:tr h="518126">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247">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247">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0031">
                <a:tc>
                  <a:txBody>
                    <a:bodyPr/>
                    <a:lstStyle>
                      <a:lvl1pPr algn="l">
                        <a:buClr>
                          <a:schemeClr val="folHlink"/>
                        </a:buClr>
                        <a:buSzPct val="60000"/>
                        <a:defRPr sz="2800">
                          <a:solidFill>
                            <a:schemeClr val="tx1"/>
                          </a:solidFill>
                          <a:latin typeface="Times New Roman" panose="02020603050405020304" pitchFamily="18" charset="0"/>
                        </a:defRPr>
                      </a:lvl1pPr>
                      <a:lvl2pPr algn="l">
                        <a:buClr>
                          <a:schemeClr val="hlink"/>
                        </a:buClr>
                        <a:buSzPct val="55000"/>
                        <a:defRPr sz="2400">
                          <a:solidFill>
                            <a:schemeClr val="tx1"/>
                          </a:solidFill>
                          <a:latin typeface="Times New Roman" panose="02020603050405020304" pitchFamily="18" charset="0"/>
                        </a:defRPr>
                      </a:lvl2pPr>
                      <a:lvl3pPr algn="l">
                        <a:buClr>
                          <a:schemeClr val="folHlink"/>
                        </a:buClr>
                        <a:buSzPct val="50000"/>
                        <a:defRPr sz="2000">
                          <a:solidFill>
                            <a:schemeClr val="tx1"/>
                          </a:solidFill>
                          <a:latin typeface="Times New Roman" panose="02020603050405020304" pitchFamily="18" charset="0"/>
                        </a:defRPr>
                      </a:lvl3pPr>
                      <a:lvl4pPr algn="l">
                        <a:buClr>
                          <a:schemeClr val="accent2"/>
                        </a:buClr>
                        <a:buSzPct val="55000"/>
                        <a:defRPr>
                          <a:solidFill>
                            <a:schemeClr val="tx1"/>
                          </a:solidFill>
                          <a:latin typeface="Times New Roman" panose="02020603050405020304" pitchFamily="18" charset="0"/>
                        </a:defRPr>
                      </a:lvl4pPr>
                      <a:lvl5pPr algn="l">
                        <a:buClr>
                          <a:schemeClr val="accent1"/>
                        </a:buClr>
                        <a:buSzPct val="50000"/>
                        <a:defRPr>
                          <a:solidFill>
                            <a:schemeClr val="tx1"/>
                          </a:solidFill>
                          <a:latin typeface="Times New Roman" panose="02020603050405020304" pitchFamily="18"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800" b="0" i="0" u="none" strike="noStrike" cap="none" normalizeH="0" baseline="0">
                        <a:ln>
                          <a:noFill/>
                        </a:ln>
                        <a:solidFill>
                          <a:schemeClr val="tx1"/>
                        </a:solidFill>
                        <a:effectLst/>
                        <a:latin typeface="Times New Roman" panose="02020603050405020304" pitchFamily="18" charset="0"/>
                      </a:endParaRPr>
                    </a:p>
                  </a:txBody>
                  <a:tcPr marT="45703" marB="4570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41132" name="Line 76">
            <a:extLst>
              <a:ext uri="{FF2B5EF4-FFF2-40B4-BE49-F238E27FC236}">
                <a16:creationId xmlns:a16="http://schemas.microsoft.com/office/drawing/2014/main" id="{6AD0C04A-D3E2-C666-8E7E-C65D4B77D303}"/>
              </a:ext>
            </a:extLst>
          </p:cNvPr>
          <p:cNvSpPr>
            <a:spLocks noChangeShapeType="1"/>
          </p:cNvSpPr>
          <p:nvPr/>
        </p:nvSpPr>
        <p:spPr bwMode="auto">
          <a:xfrm>
            <a:off x="2952750" y="3028950"/>
            <a:ext cx="0" cy="685800"/>
          </a:xfrm>
          <a:prstGeom prst="line">
            <a:avLst/>
          </a:prstGeom>
          <a:noFill/>
          <a:ln w="571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33" name="Line 77">
            <a:extLst>
              <a:ext uri="{FF2B5EF4-FFF2-40B4-BE49-F238E27FC236}">
                <a16:creationId xmlns:a16="http://schemas.microsoft.com/office/drawing/2014/main" id="{90FC2FB6-7248-2F18-3FF8-DC1DAE6E3206}"/>
              </a:ext>
            </a:extLst>
          </p:cNvPr>
          <p:cNvSpPr>
            <a:spLocks noChangeShapeType="1"/>
          </p:cNvSpPr>
          <p:nvPr/>
        </p:nvSpPr>
        <p:spPr bwMode="auto">
          <a:xfrm>
            <a:off x="4019550" y="3028950"/>
            <a:ext cx="0" cy="685800"/>
          </a:xfrm>
          <a:prstGeom prst="line">
            <a:avLst/>
          </a:prstGeom>
          <a:noFill/>
          <a:ln w="571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34" name="Line 78">
            <a:extLst>
              <a:ext uri="{FF2B5EF4-FFF2-40B4-BE49-F238E27FC236}">
                <a16:creationId xmlns:a16="http://schemas.microsoft.com/office/drawing/2014/main" id="{42A824E0-E24B-29EF-9F82-FFFF29169FE1}"/>
              </a:ext>
            </a:extLst>
          </p:cNvPr>
          <p:cNvSpPr>
            <a:spLocks noChangeShapeType="1"/>
          </p:cNvSpPr>
          <p:nvPr/>
        </p:nvSpPr>
        <p:spPr bwMode="auto">
          <a:xfrm>
            <a:off x="4991100" y="3028950"/>
            <a:ext cx="0" cy="685800"/>
          </a:xfrm>
          <a:prstGeom prst="line">
            <a:avLst/>
          </a:prstGeom>
          <a:noFill/>
          <a:ln w="571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35" name="Line 79">
            <a:extLst>
              <a:ext uri="{FF2B5EF4-FFF2-40B4-BE49-F238E27FC236}">
                <a16:creationId xmlns:a16="http://schemas.microsoft.com/office/drawing/2014/main" id="{83290698-6BA9-5CA4-318C-098FD2DE8AA9}"/>
              </a:ext>
            </a:extLst>
          </p:cNvPr>
          <p:cNvSpPr>
            <a:spLocks noChangeShapeType="1"/>
          </p:cNvSpPr>
          <p:nvPr/>
        </p:nvSpPr>
        <p:spPr bwMode="auto">
          <a:xfrm>
            <a:off x="6115050" y="3028950"/>
            <a:ext cx="0" cy="685800"/>
          </a:xfrm>
          <a:prstGeom prst="line">
            <a:avLst/>
          </a:prstGeom>
          <a:noFill/>
          <a:ln w="571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36" name="Text Box 80">
            <a:extLst>
              <a:ext uri="{FF2B5EF4-FFF2-40B4-BE49-F238E27FC236}">
                <a16:creationId xmlns:a16="http://schemas.microsoft.com/office/drawing/2014/main" id="{2DCFD5AA-0A3E-1E32-14DB-95F5FDA9DA20}"/>
              </a:ext>
            </a:extLst>
          </p:cNvPr>
          <p:cNvSpPr txBox="1">
            <a:spLocks noChangeArrowheads="1"/>
          </p:cNvSpPr>
          <p:nvPr/>
        </p:nvSpPr>
        <p:spPr bwMode="auto">
          <a:xfrm>
            <a:off x="7337425" y="2776538"/>
            <a:ext cx="1558925" cy="366712"/>
          </a:xfrm>
          <a:prstGeom prst="rect">
            <a:avLst/>
          </a:prstGeom>
          <a:noFill/>
          <a:ln>
            <a:noFill/>
          </a:ln>
          <a:effectLst/>
          <a:extLst>
            <a:ext uri="{909E8E84-426E-40DD-AFC4-6F175D3DCCD1}">
              <a14:hiddenFill xmlns:a14="http://schemas.microsoft.com/office/drawing/2010/main">
                <a:solidFill>
                  <a:srgbClr val="F8BE1A"/>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1800" b="1"/>
              <a:t>IntArrayPtr's</a:t>
            </a:r>
          </a:p>
        </p:txBody>
      </p:sp>
      <p:sp>
        <p:nvSpPr>
          <p:cNvPr id="941138" name="Line 82">
            <a:extLst>
              <a:ext uri="{FF2B5EF4-FFF2-40B4-BE49-F238E27FC236}">
                <a16:creationId xmlns:a16="http://schemas.microsoft.com/office/drawing/2014/main" id="{3682E26F-57D0-E58B-7DCC-1C50E2C3C32A}"/>
              </a:ext>
            </a:extLst>
          </p:cNvPr>
          <p:cNvSpPr>
            <a:spLocks noChangeShapeType="1"/>
          </p:cNvSpPr>
          <p:nvPr/>
        </p:nvSpPr>
        <p:spPr bwMode="auto">
          <a:xfrm flipH="1" flipV="1">
            <a:off x="6743700" y="3009900"/>
            <a:ext cx="628650" cy="1905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39" name="Text Box 83">
            <a:extLst>
              <a:ext uri="{FF2B5EF4-FFF2-40B4-BE49-F238E27FC236}">
                <a16:creationId xmlns:a16="http://schemas.microsoft.com/office/drawing/2014/main" id="{4EAC12BF-A4AC-26A2-25F0-FB7B9632D71E}"/>
              </a:ext>
            </a:extLst>
          </p:cNvPr>
          <p:cNvSpPr txBox="1">
            <a:spLocks noChangeArrowheads="1"/>
          </p:cNvSpPr>
          <p:nvPr/>
        </p:nvSpPr>
        <p:spPr bwMode="auto">
          <a:xfrm>
            <a:off x="838200" y="4716463"/>
            <a:ext cx="765175" cy="396875"/>
          </a:xfrm>
          <a:prstGeom prst="rect">
            <a:avLst/>
          </a:prstGeom>
          <a:noFill/>
          <a:ln>
            <a:noFill/>
          </a:ln>
          <a:effectLst/>
          <a:extLst>
            <a:ext uri="{909E8E84-426E-40DD-AFC4-6F175D3DCCD1}">
              <a14:hiddenFill xmlns:a14="http://schemas.microsoft.com/office/drawing/2010/main">
                <a:solidFill>
                  <a:srgbClr val="F8BE1A"/>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2000" b="1"/>
              <a:t> int's</a:t>
            </a:r>
          </a:p>
        </p:txBody>
      </p:sp>
      <p:sp>
        <p:nvSpPr>
          <p:cNvPr id="941140" name="Line 84">
            <a:extLst>
              <a:ext uri="{FF2B5EF4-FFF2-40B4-BE49-F238E27FC236}">
                <a16:creationId xmlns:a16="http://schemas.microsoft.com/office/drawing/2014/main" id="{5CABEEA1-1414-3905-828B-8ADA3158F51E}"/>
              </a:ext>
            </a:extLst>
          </p:cNvPr>
          <p:cNvSpPr>
            <a:spLocks noChangeShapeType="1"/>
          </p:cNvSpPr>
          <p:nvPr/>
        </p:nvSpPr>
        <p:spPr bwMode="auto">
          <a:xfrm flipV="1">
            <a:off x="1695450" y="4114800"/>
            <a:ext cx="704850" cy="78105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41" name="Line 85">
            <a:extLst>
              <a:ext uri="{FF2B5EF4-FFF2-40B4-BE49-F238E27FC236}">
                <a16:creationId xmlns:a16="http://schemas.microsoft.com/office/drawing/2014/main" id="{5FBEAE8E-D24A-A4F4-858C-9E2DF519E664}"/>
              </a:ext>
            </a:extLst>
          </p:cNvPr>
          <p:cNvSpPr>
            <a:spLocks noChangeShapeType="1"/>
          </p:cNvSpPr>
          <p:nvPr/>
        </p:nvSpPr>
        <p:spPr bwMode="auto">
          <a:xfrm flipV="1">
            <a:off x="1676400" y="4629150"/>
            <a:ext cx="742950" cy="276225"/>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42" name="Line 86">
            <a:extLst>
              <a:ext uri="{FF2B5EF4-FFF2-40B4-BE49-F238E27FC236}">
                <a16:creationId xmlns:a16="http://schemas.microsoft.com/office/drawing/2014/main" id="{E396138A-3C09-EAE6-63E3-28CCF369E3C8}"/>
              </a:ext>
            </a:extLst>
          </p:cNvPr>
          <p:cNvSpPr>
            <a:spLocks noChangeShapeType="1"/>
          </p:cNvSpPr>
          <p:nvPr/>
        </p:nvSpPr>
        <p:spPr bwMode="auto">
          <a:xfrm>
            <a:off x="1704975" y="4905375"/>
            <a:ext cx="714375" cy="180975"/>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43" name="Line 87">
            <a:extLst>
              <a:ext uri="{FF2B5EF4-FFF2-40B4-BE49-F238E27FC236}">
                <a16:creationId xmlns:a16="http://schemas.microsoft.com/office/drawing/2014/main" id="{D0A773AE-E732-5EBE-3CB0-3F0274DD2DA7}"/>
              </a:ext>
            </a:extLst>
          </p:cNvPr>
          <p:cNvSpPr>
            <a:spLocks noChangeShapeType="1"/>
          </p:cNvSpPr>
          <p:nvPr/>
        </p:nvSpPr>
        <p:spPr bwMode="auto">
          <a:xfrm>
            <a:off x="1695450" y="4905375"/>
            <a:ext cx="742950" cy="695325"/>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1144" name="Text Box 88">
            <a:extLst>
              <a:ext uri="{FF2B5EF4-FFF2-40B4-BE49-F238E27FC236}">
                <a16:creationId xmlns:a16="http://schemas.microsoft.com/office/drawing/2014/main" id="{1027E5F7-63F0-65BD-84EC-9E90D5A92562}"/>
              </a:ext>
            </a:extLst>
          </p:cNvPr>
          <p:cNvSpPr txBox="1">
            <a:spLocks noChangeArrowheads="1"/>
          </p:cNvSpPr>
          <p:nvPr/>
        </p:nvSpPr>
        <p:spPr bwMode="auto">
          <a:xfrm>
            <a:off x="538163" y="3646488"/>
            <a:ext cx="1717675" cy="519112"/>
          </a:xfrm>
          <a:prstGeom prst="rect">
            <a:avLst/>
          </a:prstGeom>
          <a:noFill/>
          <a:ln>
            <a:noFill/>
          </a:ln>
          <a:effectLst/>
          <a:extLst>
            <a:ext uri="{909E8E84-426E-40DD-AFC4-6F175D3DCCD1}">
              <a14:hiddenFill xmlns:a14="http://schemas.microsoft.com/office/drawing/2010/main">
                <a:solidFill>
                  <a:srgbClr val="F8BE1A"/>
                </a:solidFill>
              </a14:hiddenFill>
            </a:ext>
            <a:ext uri="{91240B29-F687-4F45-9708-019B960494DF}">
              <a14:hiddenLine xmlns:a14="http://schemas.microsoft.com/office/drawing/2010/main" w="9525" algn="ctr">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r>
              <a:rPr lang="en-US" altLang="zh-CN" sz="2000" b="1"/>
              <a:t>IntArrayPtr</a:t>
            </a:r>
            <a:r>
              <a:rPr lang="en-US" altLang="zh-CN" sz="2000" b="1">
                <a:solidFill>
                  <a:schemeClr val="hlink"/>
                </a:solidFill>
              </a:rPr>
              <a:t> </a:t>
            </a:r>
            <a:r>
              <a:rPr lang="en-US" altLang="zh-CN" b="1">
                <a:solidFill>
                  <a:schemeClr val="hlink"/>
                </a:solidFill>
              </a:rPr>
              <a:t>*</a:t>
            </a:r>
          </a:p>
        </p:txBody>
      </p:sp>
      <p:sp>
        <p:nvSpPr>
          <p:cNvPr id="941145" name="Line 89">
            <a:extLst>
              <a:ext uri="{FF2B5EF4-FFF2-40B4-BE49-F238E27FC236}">
                <a16:creationId xmlns:a16="http://schemas.microsoft.com/office/drawing/2014/main" id="{A0DB5587-C4E9-301E-EC19-D4F4AD0C285A}"/>
              </a:ext>
            </a:extLst>
          </p:cNvPr>
          <p:cNvSpPr>
            <a:spLocks noChangeShapeType="1"/>
          </p:cNvSpPr>
          <p:nvPr/>
        </p:nvSpPr>
        <p:spPr bwMode="auto">
          <a:xfrm flipV="1">
            <a:off x="1466850" y="3390900"/>
            <a:ext cx="0" cy="419100"/>
          </a:xfrm>
          <a:prstGeom prst="line">
            <a:avLst/>
          </a:prstGeom>
          <a:noFill/>
          <a:ln w="1905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400" name="灯片编号占位符 3">
            <a:extLst>
              <a:ext uri="{FF2B5EF4-FFF2-40B4-BE49-F238E27FC236}">
                <a16:creationId xmlns:a16="http://schemas.microsoft.com/office/drawing/2014/main" id="{A259D16F-6417-2F6C-1BFA-26E48E55EB00}"/>
              </a:ext>
            </a:extLst>
          </p:cNvPr>
          <p:cNvSpPr>
            <a:spLocks/>
          </p:cNvSpPr>
          <p:nvPr/>
        </p:nvSpPr>
        <p:spPr bwMode="auto">
          <a:xfrm>
            <a:off x="8624888" y="6537325"/>
            <a:ext cx="5286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pPr algn="r"/>
            <a:fld id="{FCC95684-4675-9541-9C0E-EE1A8E79559F}" type="slidenum">
              <a:rPr lang="en-US" altLang="zh-CN" sz="1600">
                <a:latin typeface="Lucida Sans Unicode" panose="020B0602030504020204" pitchFamily="34" charset="0"/>
                <a:ea typeface="宋体" panose="02010600030101010101" pitchFamily="2" charset="-122"/>
              </a:rPr>
              <a:pPr algn="r"/>
              <a:t>11</a:t>
            </a:fld>
            <a:endParaRPr lang="en-US" altLang="zh-CN" sz="1600">
              <a:latin typeface="Lucida Sans Unicode" panose="020B0602030504020204" pitchFamily="34" charset="0"/>
              <a:ea typeface="宋体" panose="02010600030101010101" pitchFamily="2" charset="-122"/>
            </a:endParaRPr>
          </a:p>
        </p:txBody>
      </p:sp>
      <p:sp>
        <p:nvSpPr>
          <p:cNvPr id="2" name="标题 1">
            <a:extLst>
              <a:ext uri="{FF2B5EF4-FFF2-40B4-BE49-F238E27FC236}">
                <a16:creationId xmlns:a16="http://schemas.microsoft.com/office/drawing/2014/main" id="{9AD2A569-3332-9B7A-FD6E-F10468C740BF}"/>
              </a:ext>
            </a:extLst>
          </p:cNvPr>
          <p:cNvSpPr txBox="1">
            <a:spLocks noChangeArrowheads="1"/>
          </p:cNvSpPr>
          <p:nvPr/>
        </p:nvSpPr>
        <p:spPr bwMode="white">
          <a:xfrm>
            <a:off x="1000335" y="560527"/>
            <a:ext cx="73914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r>
              <a:rPr lang="en-US" altLang="zh-CN" sz="3600" dirty="0"/>
              <a:t>A </a:t>
            </a:r>
            <a:r>
              <a:rPr lang="en-US" altLang="zh-CN" sz="3600" dirty="0" err="1"/>
              <a:t>Multidimensial</a:t>
            </a:r>
            <a:r>
              <a:rPr lang="en-US" altLang="zh-CN" sz="3600" dirty="0"/>
              <a:t> Dynamic Array</a:t>
            </a:r>
            <a:endParaRPr lang="zh-CN" altLang="en-US" kern="0"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941075"/>
                                        </p:tgtEl>
                                        <p:attrNameLst>
                                          <p:attrName>style.visibility</p:attrName>
                                        </p:attrNameLst>
                                      </p:cBhvr>
                                      <p:to>
                                        <p:strVal val="visible"/>
                                      </p:to>
                                    </p:set>
                                    <p:animEffect transition="in" filter="blinds(horizontal)">
                                      <p:cBhvr>
                                        <p:cTn id="7" dur="500"/>
                                        <p:tgtEl>
                                          <p:spTgt spid="941075"/>
                                        </p:tgtEl>
                                      </p:cBhvr>
                                    </p:animEffect>
                                  </p:childTnLst>
                                </p:cTn>
                              </p:par>
                              <p:par>
                                <p:cTn id="8" presetID="3" presetClass="entr" presetSubtype="10" fill="hold" nodeType="withEffect">
                                  <p:stCondLst>
                                    <p:cond delay="0"/>
                                  </p:stCondLst>
                                  <p:childTnLst>
                                    <p:set>
                                      <p:cBhvr>
                                        <p:cTn id="9" dur="1" fill="hold">
                                          <p:stCondLst>
                                            <p:cond delay="0"/>
                                          </p:stCondLst>
                                        </p:cTn>
                                        <p:tgtEl>
                                          <p:spTgt spid="941076"/>
                                        </p:tgtEl>
                                        <p:attrNameLst>
                                          <p:attrName>style.visibility</p:attrName>
                                        </p:attrNameLst>
                                      </p:cBhvr>
                                      <p:to>
                                        <p:strVal val="visible"/>
                                      </p:to>
                                    </p:set>
                                    <p:animEffect transition="in" filter="blinds(horizontal)">
                                      <p:cBhvr>
                                        <p:cTn id="10" dur="500"/>
                                        <p:tgtEl>
                                          <p:spTgt spid="941076"/>
                                        </p:tgtEl>
                                      </p:cBhvr>
                                    </p:animEffect>
                                  </p:childTnLst>
                                </p:cTn>
                              </p:par>
                              <p:par>
                                <p:cTn id="11" presetID="3" presetClass="entr" presetSubtype="10" fill="hold" nodeType="withEffect">
                                  <p:stCondLst>
                                    <p:cond delay="0"/>
                                  </p:stCondLst>
                                  <p:childTnLst>
                                    <p:set>
                                      <p:cBhvr>
                                        <p:cTn id="12" dur="1" fill="hold">
                                          <p:stCondLst>
                                            <p:cond delay="0"/>
                                          </p:stCondLst>
                                        </p:cTn>
                                        <p:tgtEl>
                                          <p:spTgt spid="941077"/>
                                        </p:tgtEl>
                                        <p:attrNameLst>
                                          <p:attrName>style.visibility</p:attrName>
                                        </p:attrNameLst>
                                      </p:cBhvr>
                                      <p:to>
                                        <p:strVal val="visible"/>
                                      </p:to>
                                    </p:set>
                                    <p:animEffect transition="in" filter="blinds(horizontal)">
                                      <p:cBhvr>
                                        <p:cTn id="13" dur="500"/>
                                        <p:tgtEl>
                                          <p:spTgt spid="941077"/>
                                        </p:tgtEl>
                                      </p:cBhvr>
                                    </p:animEffect>
                                  </p:childTnLst>
                                </p:cTn>
                              </p:par>
                              <p:par>
                                <p:cTn id="14" presetID="3" presetClass="entr" presetSubtype="10" fill="hold" nodeType="withEffect">
                                  <p:stCondLst>
                                    <p:cond delay="0"/>
                                  </p:stCondLst>
                                  <p:childTnLst>
                                    <p:set>
                                      <p:cBhvr>
                                        <p:cTn id="15" dur="1" fill="hold">
                                          <p:stCondLst>
                                            <p:cond delay="0"/>
                                          </p:stCondLst>
                                        </p:cTn>
                                        <p:tgtEl>
                                          <p:spTgt spid="941145"/>
                                        </p:tgtEl>
                                        <p:attrNameLst>
                                          <p:attrName>style.visibility</p:attrName>
                                        </p:attrNameLst>
                                      </p:cBhvr>
                                      <p:to>
                                        <p:strVal val="visible"/>
                                      </p:to>
                                    </p:set>
                                    <p:animEffect transition="in" filter="blinds(horizontal)">
                                      <p:cBhvr>
                                        <p:cTn id="16" dur="500"/>
                                        <p:tgtEl>
                                          <p:spTgt spid="941145"/>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41144"/>
                                        </p:tgtEl>
                                        <p:attrNameLst>
                                          <p:attrName>style.visibility</p:attrName>
                                        </p:attrNameLst>
                                      </p:cBhvr>
                                      <p:to>
                                        <p:strVal val="visible"/>
                                      </p:to>
                                    </p:set>
                                    <p:animEffect transition="in" filter="blinds(horizontal)">
                                      <p:cBhvr>
                                        <p:cTn id="19" dur="500"/>
                                        <p:tgtEl>
                                          <p:spTgt spid="941144"/>
                                        </p:tgtEl>
                                      </p:cBhvr>
                                    </p:animEffect>
                                  </p:childTnLst>
                                </p:cTn>
                              </p:par>
                            </p:childTnLst>
                          </p:cTn>
                        </p:par>
                        <p:par>
                          <p:cTn id="20" fill="hold" nodeType="afterGroup">
                            <p:stCondLst>
                              <p:cond delay="500"/>
                            </p:stCondLst>
                            <p:childTnLst>
                              <p:par>
                                <p:cTn id="21" presetID="3" presetClass="entr" presetSubtype="10" fill="hold" nodeType="afterEffect">
                                  <p:stCondLst>
                                    <p:cond delay="3000"/>
                                  </p:stCondLst>
                                  <p:childTnLst>
                                    <p:set>
                                      <p:cBhvr>
                                        <p:cTn id="22" dur="1" fill="hold">
                                          <p:stCondLst>
                                            <p:cond delay="0"/>
                                          </p:stCondLst>
                                        </p:cTn>
                                        <p:tgtEl>
                                          <p:spTgt spid="941074"/>
                                        </p:tgtEl>
                                        <p:attrNameLst>
                                          <p:attrName>style.visibility</p:attrName>
                                        </p:attrNameLst>
                                      </p:cBhvr>
                                      <p:to>
                                        <p:strVal val="visible"/>
                                      </p:to>
                                    </p:set>
                                    <p:animEffect transition="in" filter="blinds(horizontal)">
                                      <p:cBhvr>
                                        <p:cTn id="23" dur="1000"/>
                                        <p:tgtEl>
                                          <p:spTgt spid="941074"/>
                                        </p:tgtEl>
                                      </p:cBhvr>
                                    </p:animEffect>
                                  </p:childTnLst>
                                </p:cTn>
                              </p:par>
                            </p:childTnLst>
                          </p:cTn>
                        </p:par>
                        <p:par>
                          <p:cTn id="24" fill="hold" nodeType="afterGroup">
                            <p:stCondLst>
                              <p:cond delay="4500"/>
                            </p:stCondLst>
                            <p:childTnLst>
                              <p:par>
                                <p:cTn id="25" presetID="3" presetClass="entr" presetSubtype="10" fill="hold" nodeType="afterEffect">
                                  <p:stCondLst>
                                    <p:cond delay="3000"/>
                                  </p:stCondLst>
                                  <p:childTnLst>
                                    <p:set>
                                      <p:cBhvr>
                                        <p:cTn id="26" dur="1" fill="hold">
                                          <p:stCondLst>
                                            <p:cond delay="0"/>
                                          </p:stCondLst>
                                        </p:cTn>
                                        <p:tgtEl>
                                          <p:spTgt spid="941074"/>
                                        </p:tgtEl>
                                        <p:attrNameLst>
                                          <p:attrName>style.visibility</p:attrName>
                                        </p:attrNameLst>
                                      </p:cBhvr>
                                      <p:to>
                                        <p:strVal val="visible"/>
                                      </p:to>
                                    </p:set>
                                    <p:animEffect transition="in" filter="blinds(horizontal)">
                                      <p:cBhvr>
                                        <p:cTn id="27" dur="500"/>
                                        <p:tgtEl>
                                          <p:spTgt spid="941074"/>
                                        </p:tgtEl>
                                      </p:cBhvr>
                                    </p:animEffect>
                                  </p:childTnLst>
                                </p:cTn>
                              </p:par>
                            </p:childTnLst>
                          </p:cTn>
                        </p:par>
                        <p:par>
                          <p:cTn id="28" fill="hold" nodeType="afterGroup">
                            <p:stCondLst>
                              <p:cond delay="8000"/>
                            </p:stCondLst>
                            <p:childTnLst>
                              <p:par>
                                <p:cTn id="29" presetID="3" presetClass="entr" presetSubtype="10" fill="hold" nodeType="afterEffect">
                                  <p:stCondLst>
                                    <p:cond delay="1000"/>
                                  </p:stCondLst>
                                  <p:childTnLst>
                                    <p:set>
                                      <p:cBhvr>
                                        <p:cTn id="30" dur="1" fill="hold">
                                          <p:stCondLst>
                                            <p:cond delay="0"/>
                                          </p:stCondLst>
                                        </p:cTn>
                                        <p:tgtEl>
                                          <p:spTgt spid="941132"/>
                                        </p:tgtEl>
                                        <p:attrNameLst>
                                          <p:attrName>style.visibility</p:attrName>
                                        </p:attrNameLst>
                                      </p:cBhvr>
                                      <p:to>
                                        <p:strVal val="visible"/>
                                      </p:to>
                                    </p:set>
                                    <p:animEffect transition="in" filter="blinds(horizontal)">
                                      <p:cBhvr>
                                        <p:cTn id="31" dur="500"/>
                                        <p:tgtEl>
                                          <p:spTgt spid="941132"/>
                                        </p:tgtEl>
                                      </p:cBhvr>
                                    </p:animEffect>
                                  </p:childTnLst>
                                </p:cTn>
                              </p:par>
                            </p:childTnLst>
                          </p:cTn>
                        </p:par>
                        <p:par>
                          <p:cTn id="32" fill="hold" nodeType="afterGroup">
                            <p:stCondLst>
                              <p:cond delay="9500"/>
                            </p:stCondLst>
                            <p:childTnLst>
                              <p:par>
                                <p:cTn id="33" presetID="3" presetClass="entr" presetSubtype="10" fill="hold" nodeType="afterEffect">
                                  <p:stCondLst>
                                    <p:cond delay="1000"/>
                                  </p:stCondLst>
                                  <p:childTnLst>
                                    <p:set>
                                      <p:cBhvr>
                                        <p:cTn id="34" dur="1" fill="hold">
                                          <p:stCondLst>
                                            <p:cond delay="0"/>
                                          </p:stCondLst>
                                        </p:cTn>
                                        <p:tgtEl>
                                          <p:spTgt spid="941133"/>
                                        </p:tgtEl>
                                        <p:attrNameLst>
                                          <p:attrName>style.visibility</p:attrName>
                                        </p:attrNameLst>
                                      </p:cBhvr>
                                      <p:to>
                                        <p:strVal val="visible"/>
                                      </p:to>
                                    </p:set>
                                    <p:animEffect transition="in" filter="blinds(horizontal)">
                                      <p:cBhvr>
                                        <p:cTn id="35" dur="500"/>
                                        <p:tgtEl>
                                          <p:spTgt spid="941133"/>
                                        </p:tgtEl>
                                      </p:cBhvr>
                                    </p:animEffect>
                                  </p:childTnLst>
                                </p:cTn>
                              </p:par>
                            </p:childTnLst>
                          </p:cTn>
                        </p:par>
                        <p:par>
                          <p:cTn id="36" fill="hold" nodeType="afterGroup">
                            <p:stCondLst>
                              <p:cond delay="11000"/>
                            </p:stCondLst>
                            <p:childTnLst>
                              <p:par>
                                <p:cTn id="37" presetID="3" presetClass="entr" presetSubtype="10" fill="hold" nodeType="afterEffect">
                                  <p:stCondLst>
                                    <p:cond delay="1000"/>
                                  </p:stCondLst>
                                  <p:childTnLst>
                                    <p:set>
                                      <p:cBhvr>
                                        <p:cTn id="38" dur="1" fill="hold">
                                          <p:stCondLst>
                                            <p:cond delay="0"/>
                                          </p:stCondLst>
                                        </p:cTn>
                                        <p:tgtEl>
                                          <p:spTgt spid="941134"/>
                                        </p:tgtEl>
                                        <p:attrNameLst>
                                          <p:attrName>style.visibility</p:attrName>
                                        </p:attrNameLst>
                                      </p:cBhvr>
                                      <p:to>
                                        <p:strVal val="visible"/>
                                      </p:to>
                                    </p:set>
                                    <p:animEffect transition="in" filter="blinds(horizontal)">
                                      <p:cBhvr>
                                        <p:cTn id="39" dur="500"/>
                                        <p:tgtEl>
                                          <p:spTgt spid="941134"/>
                                        </p:tgtEl>
                                      </p:cBhvr>
                                    </p:animEffect>
                                  </p:childTnLst>
                                </p:cTn>
                              </p:par>
                            </p:childTnLst>
                          </p:cTn>
                        </p:par>
                        <p:par>
                          <p:cTn id="40" fill="hold" nodeType="afterGroup">
                            <p:stCondLst>
                              <p:cond delay="12500"/>
                            </p:stCondLst>
                            <p:childTnLst>
                              <p:par>
                                <p:cTn id="41" presetID="3" presetClass="entr" presetSubtype="10" fill="hold" nodeType="afterEffect">
                                  <p:stCondLst>
                                    <p:cond delay="1000"/>
                                  </p:stCondLst>
                                  <p:childTnLst>
                                    <p:set>
                                      <p:cBhvr>
                                        <p:cTn id="42" dur="1" fill="hold">
                                          <p:stCondLst>
                                            <p:cond delay="0"/>
                                          </p:stCondLst>
                                        </p:cTn>
                                        <p:tgtEl>
                                          <p:spTgt spid="941135"/>
                                        </p:tgtEl>
                                        <p:attrNameLst>
                                          <p:attrName>style.visibility</p:attrName>
                                        </p:attrNameLst>
                                      </p:cBhvr>
                                      <p:to>
                                        <p:strVal val="visible"/>
                                      </p:to>
                                    </p:set>
                                    <p:animEffect transition="in" filter="blinds(horizontal)">
                                      <p:cBhvr>
                                        <p:cTn id="43" dur="500"/>
                                        <p:tgtEl>
                                          <p:spTgt spid="941135"/>
                                        </p:tgtEl>
                                      </p:cBhvr>
                                    </p:animEffect>
                                  </p:childTnLst>
                                </p:cTn>
                              </p:par>
                            </p:childTnLst>
                          </p:cTn>
                        </p:par>
                        <p:par>
                          <p:cTn id="44" fill="hold" nodeType="afterGroup">
                            <p:stCondLst>
                              <p:cond delay="14000"/>
                            </p:stCondLst>
                            <p:childTnLst>
                              <p:par>
                                <p:cTn id="45" presetID="3" presetClass="entr" presetSubtype="10" fill="hold" nodeType="afterEffect">
                                  <p:stCondLst>
                                    <p:cond delay="1000"/>
                                  </p:stCondLst>
                                  <p:childTnLst>
                                    <p:set>
                                      <p:cBhvr>
                                        <p:cTn id="46" dur="1" fill="hold">
                                          <p:stCondLst>
                                            <p:cond delay="0"/>
                                          </p:stCondLst>
                                        </p:cTn>
                                        <p:tgtEl>
                                          <p:spTgt spid="941138"/>
                                        </p:tgtEl>
                                        <p:attrNameLst>
                                          <p:attrName>style.visibility</p:attrName>
                                        </p:attrNameLst>
                                      </p:cBhvr>
                                      <p:to>
                                        <p:strVal val="visible"/>
                                      </p:to>
                                    </p:set>
                                    <p:animEffect transition="in" filter="blinds(horizontal)">
                                      <p:cBhvr>
                                        <p:cTn id="47" dur="500"/>
                                        <p:tgtEl>
                                          <p:spTgt spid="941138"/>
                                        </p:tgtEl>
                                      </p:cBhvr>
                                    </p:animEffect>
                                  </p:childTnLst>
                                </p:cTn>
                              </p:par>
                            </p:childTnLst>
                          </p:cTn>
                        </p:par>
                        <p:par>
                          <p:cTn id="48" fill="hold" nodeType="afterGroup">
                            <p:stCondLst>
                              <p:cond delay="15500"/>
                            </p:stCondLst>
                            <p:childTnLst>
                              <p:par>
                                <p:cTn id="49" presetID="3" presetClass="entr" presetSubtype="10" fill="hold" grpId="0" nodeType="afterEffect">
                                  <p:stCondLst>
                                    <p:cond delay="1000"/>
                                  </p:stCondLst>
                                  <p:childTnLst>
                                    <p:set>
                                      <p:cBhvr>
                                        <p:cTn id="50" dur="1" fill="hold">
                                          <p:stCondLst>
                                            <p:cond delay="0"/>
                                          </p:stCondLst>
                                        </p:cTn>
                                        <p:tgtEl>
                                          <p:spTgt spid="941136"/>
                                        </p:tgtEl>
                                        <p:attrNameLst>
                                          <p:attrName>style.visibility</p:attrName>
                                        </p:attrNameLst>
                                      </p:cBhvr>
                                      <p:to>
                                        <p:strVal val="visible"/>
                                      </p:to>
                                    </p:set>
                                    <p:animEffect transition="in" filter="blinds(horizontal)">
                                      <p:cBhvr>
                                        <p:cTn id="51" dur="500"/>
                                        <p:tgtEl>
                                          <p:spTgt spid="941136"/>
                                        </p:tgtEl>
                                      </p:cBhvr>
                                    </p:animEffect>
                                  </p:childTnLst>
                                </p:cTn>
                              </p:par>
                            </p:childTnLst>
                          </p:cTn>
                        </p:par>
                        <p:par>
                          <p:cTn id="52" fill="hold" nodeType="afterGroup">
                            <p:stCondLst>
                              <p:cond delay="17000"/>
                            </p:stCondLst>
                            <p:childTnLst>
                              <p:par>
                                <p:cTn id="53" presetID="3" presetClass="entr" presetSubtype="10" fill="hold" nodeType="afterEffect">
                                  <p:stCondLst>
                                    <p:cond delay="3000"/>
                                  </p:stCondLst>
                                  <p:childTnLst>
                                    <p:set>
                                      <p:cBhvr>
                                        <p:cTn id="54" dur="1" fill="hold">
                                          <p:stCondLst>
                                            <p:cond delay="0"/>
                                          </p:stCondLst>
                                        </p:cTn>
                                        <p:tgtEl>
                                          <p:spTgt spid="941093"/>
                                        </p:tgtEl>
                                        <p:attrNameLst>
                                          <p:attrName>style.visibility</p:attrName>
                                        </p:attrNameLst>
                                      </p:cBhvr>
                                      <p:to>
                                        <p:strVal val="visible"/>
                                      </p:to>
                                    </p:set>
                                    <p:animEffect transition="in" filter="blinds(horizontal)">
                                      <p:cBhvr>
                                        <p:cTn id="55" dur="500"/>
                                        <p:tgtEl>
                                          <p:spTgt spid="941093"/>
                                        </p:tgtEl>
                                      </p:cBhvr>
                                    </p:animEffect>
                                  </p:childTnLst>
                                </p:cTn>
                              </p:par>
                            </p:childTnLst>
                          </p:cTn>
                        </p:par>
                        <p:par>
                          <p:cTn id="56" fill="hold" nodeType="afterGroup">
                            <p:stCondLst>
                              <p:cond delay="20500"/>
                            </p:stCondLst>
                            <p:childTnLst>
                              <p:par>
                                <p:cTn id="57" presetID="3" presetClass="entr" presetSubtype="10" fill="hold" nodeType="afterEffect">
                                  <p:stCondLst>
                                    <p:cond delay="1000"/>
                                  </p:stCondLst>
                                  <p:childTnLst>
                                    <p:set>
                                      <p:cBhvr>
                                        <p:cTn id="58" dur="1" fill="hold">
                                          <p:stCondLst>
                                            <p:cond delay="0"/>
                                          </p:stCondLst>
                                        </p:cTn>
                                        <p:tgtEl>
                                          <p:spTgt spid="941130"/>
                                        </p:tgtEl>
                                        <p:attrNameLst>
                                          <p:attrName>style.visibility</p:attrName>
                                        </p:attrNameLst>
                                      </p:cBhvr>
                                      <p:to>
                                        <p:strVal val="visible"/>
                                      </p:to>
                                    </p:set>
                                    <p:animEffect transition="in" filter="blinds(horizontal)">
                                      <p:cBhvr>
                                        <p:cTn id="59" dur="500"/>
                                        <p:tgtEl>
                                          <p:spTgt spid="941130"/>
                                        </p:tgtEl>
                                      </p:cBhvr>
                                    </p:animEffect>
                                  </p:childTnLst>
                                </p:cTn>
                              </p:par>
                            </p:childTnLst>
                          </p:cTn>
                        </p:par>
                        <p:par>
                          <p:cTn id="60" fill="hold" nodeType="afterGroup">
                            <p:stCondLst>
                              <p:cond delay="22000"/>
                            </p:stCondLst>
                            <p:childTnLst>
                              <p:par>
                                <p:cTn id="61" presetID="3" presetClass="entr" presetSubtype="10" fill="hold" nodeType="afterEffect">
                                  <p:stCondLst>
                                    <p:cond delay="1000"/>
                                  </p:stCondLst>
                                  <p:childTnLst>
                                    <p:set>
                                      <p:cBhvr>
                                        <p:cTn id="62" dur="1" fill="hold">
                                          <p:stCondLst>
                                            <p:cond delay="0"/>
                                          </p:stCondLst>
                                        </p:cTn>
                                        <p:tgtEl>
                                          <p:spTgt spid="941146"/>
                                        </p:tgtEl>
                                        <p:attrNameLst>
                                          <p:attrName>style.visibility</p:attrName>
                                        </p:attrNameLst>
                                      </p:cBhvr>
                                      <p:to>
                                        <p:strVal val="visible"/>
                                      </p:to>
                                    </p:set>
                                    <p:animEffect transition="in" filter="blinds(horizontal)">
                                      <p:cBhvr>
                                        <p:cTn id="63" dur="500"/>
                                        <p:tgtEl>
                                          <p:spTgt spid="941146"/>
                                        </p:tgtEl>
                                      </p:cBhvr>
                                    </p:animEffect>
                                  </p:childTnLst>
                                </p:cTn>
                              </p:par>
                            </p:childTnLst>
                          </p:cTn>
                        </p:par>
                        <p:par>
                          <p:cTn id="64" fill="hold" nodeType="afterGroup">
                            <p:stCondLst>
                              <p:cond delay="23500"/>
                            </p:stCondLst>
                            <p:childTnLst>
                              <p:par>
                                <p:cTn id="65" presetID="3" presetClass="entr" presetSubtype="10" fill="hold" nodeType="afterEffect">
                                  <p:stCondLst>
                                    <p:cond delay="1000"/>
                                  </p:stCondLst>
                                  <p:childTnLst>
                                    <p:set>
                                      <p:cBhvr>
                                        <p:cTn id="66" dur="1" fill="hold">
                                          <p:stCondLst>
                                            <p:cond delay="0"/>
                                          </p:stCondLst>
                                        </p:cTn>
                                        <p:tgtEl>
                                          <p:spTgt spid="941131"/>
                                        </p:tgtEl>
                                        <p:attrNameLst>
                                          <p:attrName>style.visibility</p:attrName>
                                        </p:attrNameLst>
                                      </p:cBhvr>
                                      <p:to>
                                        <p:strVal val="visible"/>
                                      </p:to>
                                    </p:set>
                                    <p:animEffect transition="in" filter="blinds(horizontal)">
                                      <p:cBhvr>
                                        <p:cTn id="67" dur="500"/>
                                        <p:tgtEl>
                                          <p:spTgt spid="941131"/>
                                        </p:tgtEl>
                                      </p:cBhvr>
                                    </p:animEffect>
                                  </p:childTnLst>
                                </p:cTn>
                              </p:par>
                            </p:childTnLst>
                          </p:cTn>
                        </p:par>
                        <p:par>
                          <p:cTn id="68" fill="hold" nodeType="afterGroup">
                            <p:stCondLst>
                              <p:cond delay="25000"/>
                            </p:stCondLst>
                            <p:childTnLst>
                              <p:par>
                                <p:cTn id="69" presetID="3" presetClass="entr" presetSubtype="10" fill="hold" nodeType="afterEffect">
                                  <p:stCondLst>
                                    <p:cond delay="2000"/>
                                  </p:stCondLst>
                                  <p:childTnLst>
                                    <p:set>
                                      <p:cBhvr>
                                        <p:cTn id="70" dur="1" fill="hold">
                                          <p:stCondLst>
                                            <p:cond delay="0"/>
                                          </p:stCondLst>
                                        </p:cTn>
                                        <p:tgtEl>
                                          <p:spTgt spid="941139">
                                            <p:txEl>
                                              <p:pRg st="0" end="0"/>
                                            </p:txEl>
                                          </p:spTgt>
                                        </p:tgtEl>
                                        <p:attrNameLst>
                                          <p:attrName>style.visibility</p:attrName>
                                        </p:attrNameLst>
                                      </p:cBhvr>
                                      <p:to>
                                        <p:strVal val="visible"/>
                                      </p:to>
                                    </p:set>
                                    <p:animEffect transition="in" filter="blinds(horizontal)">
                                      <p:cBhvr>
                                        <p:cTn id="71" dur="500"/>
                                        <p:tgtEl>
                                          <p:spTgt spid="941139">
                                            <p:txEl>
                                              <p:pRg st="0" end="0"/>
                                            </p:txEl>
                                          </p:spTgt>
                                        </p:tgtEl>
                                      </p:cBhvr>
                                    </p:animEffect>
                                  </p:childTnLst>
                                </p:cTn>
                              </p:par>
                            </p:childTnLst>
                          </p:cTn>
                        </p:par>
                        <p:par>
                          <p:cTn id="72" fill="hold" nodeType="afterGroup">
                            <p:stCondLst>
                              <p:cond delay="27500"/>
                            </p:stCondLst>
                            <p:childTnLst>
                              <p:par>
                                <p:cTn id="73" presetID="3" presetClass="entr" presetSubtype="10" fill="hold" nodeType="afterEffect">
                                  <p:stCondLst>
                                    <p:cond delay="500"/>
                                  </p:stCondLst>
                                  <p:childTnLst>
                                    <p:set>
                                      <p:cBhvr>
                                        <p:cTn id="74" dur="1" fill="hold">
                                          <p:stCondLst>
                                            <p:cond delay="0"/>
                                          </p:stCondLst>
                                        </p:cTn>
                                        <p:tgtEl>
                                          <p:spTgt spid="941140"/>
                                        </p:tgtEl>
                                        <p:attrNameLst>
                                          <p:attrName>style.visibility</p:attrName>
                                        </p:attrNameLst>
                                      </p:cBhvr>
                                      <p:to>
                                        <p:strVal val="visible"/>
                                      </p:to>
                                    </p:set>
                                    <p:animEffect transition="in" filter="blinds(horizontal)">
                                      <p:cBhvr>
                                        <p:cTn id="75" dur="500"/>
                                        <p:tgtEl>
                                          <p:spTgt spid="941140"/>
                                        </p:tgtEl>
                                      </p:cBhvr>
                                    </p:animEffect>
                                  </p:childTnLst>
                                </p:cTn>
                              </p:par>
                            </p:childTnLst>
                          </p:cTn>
                        </p:par>
                        <p:par>
                          <p:cTn id="76" fill="hold" nodeType="afterGroup">
                            <p:stCondLst>
                              <p:cond delay="28500"/>
                            </p:stCondLst>
                            <p:childTnLst>
                              <p:par>
                                <p:cTn id="77" presetID="3" presetClass="entr" presetSubtype="10" fill="hold" nodeType="afterEffect">
                                  <p:stCondLst>
                                    <p:cond delay="500"/>
                                  </p:stCondLst>
                                  <p:childTnLst>
                                    <p:set>
                                      <p:cBhvr>
                                        <p:cTn id="78" dur="1" fill="hold">
                                          <p:stCondLst>
                                            <p:cond delay="0"/>
                                          </p:stCondLst>
                                        </p:cTn>
                                        <p:tgtEl>
                                          <p:spTgt spid="941141"/>
                                        </p:tgtEl>
                                        <p:attrNameLst>
                                          <p:attrName>style.visibility</p:attrName>
                                        </p:attrNameLst>
                                      </p:cBhvr>
                                      <p:to>
                                        <p:strVal val="visible"/>
                                      </p:to>
                                    </p:set>
                                    <p:animEffect transition="in" filter="blinds(horizontal)">
                                      <p:cBhvr>
                                        <p:cTn id="79" dur="500"/>
                                        <p:tgtEl>
                                          <p:spTgt spid="941141"/>
                                        </p:tgtEl>
                                      </p:cBhvr>
                                    </p:animEffect>
                                  </p:childTnLst>
                                </p:cTn>
                              </p:par>
                            </p:childTnLst>
                          </p:cTn>
                        </p:par>
                        <p:par>
                          <p:cTn id="80" fill="hold" nodeType="afterGroup">
                            <p:stCondLst>
                              <p:cond delay="29500"/>
                            </p:stCondLst>
                            <p:childTnLst>
                              <p:par>
                                <p:cTn id="81" presetID="3" presetClass="entr" presetSubtype="10" fill="hold" nodeType="afterEffect">
                                  <p:stCondLst>
                                    <p:cond delay="500"/>
                                  </p:stCondLst>
                                  <p:childTnLst>
                                    <p:set>
                                      <p:cBhvr>
                                        <p:cTn id="82" dur="1" fill="hold">
                                          <p:stCondLst>
                                            <p:cond delay="0"/>
                                          </p:stCondLst>
                                        </p:cTn>
                                        <p:tgtEl>
                                          <p:spTgt spid="941142"/>
                                        </p:tgtEl>
                                        <p:attrNameLst>
                                          <p:attrName>style.visibility</p:attrName>
                                        </p:attrNameLst>
                                      </p:cBhvr>
                                      <p:to>
                                        <p:strVal val="visible"/>
                                      </p:to>
                                    </p:set>
                                    <p:animEffect transition="in" filter="blinds(horizontal)">
                                      <p:cBhvr>
                                        <p:cTn id="83" dur="500"/>
                                        <p:tgtEl>
                                          <p:spTgt spid="941142"/>
                                        </p:tgtEl>
                                      </p:cBhvr>
                                    </p:animEffect>
                                  </p:childTnLst>
                                </p:cTn>
                              </p:par>
                            </p:childTnLst>
                          </p:cTn>
                        </p:par>
                        <p:par>
                          <p:cTn id="84" fill="hold" nodeType="afterGroup">
                            <p:stCondLst>
                              <p:cond delay="30500"/>
                            </p:stCondLst>
                            <p:childTnLst>
                              <p:par>
                                <p:cTn id="85" presetID="3" presetClass="entr" presetSubtype="10" fill="hold" nodeType="afterEffect">
                                  <p:stCondLst>
                                    <p:cond delay="500"/>
                                  </p:stCondLst>
                                  <p:childTnLst>
                                    <p:set>
                                      <p:cBhvr>
                                        <p:cTn id="86" dur="1" fill="hold">
                                          <p:stCondLst>
                                            <p:cond delay="0"/>
                                          </p:stCondLst>
                                        </p:cTn>
                                        <p:tgtEl>
                                          <p:spTgt spid="941143"/>
                                        </p:tgtEl>
                                        <p:attrNameLst>
                                          <p:attrName>style.visibility</p:attrName>
                                        </p:attrNameLst>
                                      </p:cBhvr>
                                      <p:to>
                                        <p:strVal val="visible"/>
                                      </p:to>
                                    </p:set>
                                    <p:animEffect transition="in" filter="blinds(horizontal)">
                                      <p:cBhvr>
                                        <p:cTn id="87" dur="500"/>
                                        <p:tgtEl>
                                          <p:spTgt spid="941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75" grpId="0"/>
      <p:bldP spid="941136" grpId="0"/>
      <p:bldP spid="94114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内容占位符 2">
            <a:extLst>
              <a:ext uri="{FF2B5EF4-FFF2-40B4-BE49-F238E27FC236}">
                <a16:creationId xmlns:a16="http://schemas.microsoft.com/office/drawing/2014/main" id="{D48A97A9-6FE1-2C47-63C6-1C87BED70982}"/>
              </a:ext>
            </a:extLst>
          </p:cNvPr>
          <p:cNvSpPr>
            <a:spLocks noGrp="1"/>
          </p:cNvSpPr>
          <p:nvPr>
            <p:ph idx="1"/>
          </p:nvPr>
        </p:nvSpPr>
        <p:spPr>
          <a:xfrm>
            <a:off x="403225" y="1449387"/>
            <a:ext cx="4292600" cy="5248275"/>
          </a:xfrm>
        </p:spPr>
        <p:txBody>
          <a:bodyPr/>
          <a:lstStyle/>
          <a:p>
            <a:r>
              <a:rPr lang="zh-CN" altLang="en-US" sz="1800" dirty="0">
                <a:latin typeface="Lato" panose="020F0502020204030204" pitchFamily="34" charset="0"/>
              </a:rPr>
              <a:t>指针练习</a:t>
            </a:r>
            <a:r>
              <a:rPr lang="en-US" altLang="zh-CN" sz="1800" dirty="0">
                <a:latin typeface="Lato" panose="020F0502020204030204" pitchFamily="34" charset="0"/>
              </a:rPr>
              <a:t>:</a:t>
            </a:r>
            <a:r>
              <a:rPr lang="zh-CN" altLang="en-US" sz="1800" dirty="0">
                <a:latin typeface="Lato" panose="020F0502020204030204" pitchFamily="34" charset="0"/>
              </a:rPr>
              <a:t>是否存在该字符</a:t>
            </a:r>
          </a:p>
          <a:p>
            <a:pPr>
              <a:buFont typeface="Wingdings" pitchFamily="2" charset="2"/>
              <a:buNone/>
            </a:pPr>
            <a:r>
              <a:rPr lang="zh-CN" altLang="en-US" sz="1400" b="0" dirty="0">
                <a:solidFill>
                  <a:schemeClr val="tx1"/>
                </a:solidFill>
                <a:latin typeface="Open Sans" panose="020F0502020204030204" pitchFamily="34" charset="0"/>
              </a:rPr>
              <a:t>        编写程序，从键盘输入一个字符</a:t>
            </a:r>
            <a:r>
              <a:rPr lang="zh-CN" altLang="zh-CN" sz="1400" b="0" dirty="0">
                <a:solidFill>
                  <a:schemeClr val="tx1"/>
                </a:solidFill>
                <a:latin typeface="Open Sans" panose="020F0502020204030204" pitchFamily="34" charset="0"/>
              </a:rPr>
              <a:t>ch，</a:t>
            </a:r>
            <a:r>
              <a:rPr lang="zh-CN" altLang="en-US" sz="1400" b="0" dirty="0">
                <a:solidFill>
                  <a:schemeClr val="tx1"/>
                </a:solidFill>
                <a:latin typeface="Open Sans" panose="020F0502020204030204" pitchFamily="34" charset="0"/>
              </a:rPr>
              <a:t>在字符串中查找是否存在有该字符，若存在，则给出该字符在字符串中第</a:t>
            </a:r>
            <a:r>
              <a:rPr lang="en-US" altLang="zh-CN" sz="1400" b="0" dirty="0">
                <a:solidFill>
                  <a:schemeClr val="tx1"/>
                </a:solidFill>
                <a:latin typeface="Open Sans" panose="020F0502020204030204" pitchFamily="34" charset="0"/>
              </a:rPr>
              <a:t>1</a:t>
            </a:r>
            <a:r>
              <a:rPr lang="zh-CN" altLang="en-US" sz="1400" b="0" dirty="0">
                <a:solidFill>
                  <a:schemeClr val="tx1"/>
                </a:solidFill>
                <a:latin typeface="Open Sans" panose="020F0502020204030204" pitchFamily="34" charset="0"/>
              </a:rPr>
              <a:t>次出现的位置。 </a:t>
            </a:r>
            <a:br>
              <a:rPr lang="zh-CN" altLang="en-US" sz="1400" dirty="0">
                <a:solidFill>
                  <a:schemeClr val="tx1"/>
                </a:solidFill>
              </a:rPr>
            </a:br>
            <a:r>
              <a:rPr lang="zh-CN" altLang="en-US" sz="1400" dirty="0">
                <a:solidFill>
                  <a:schemeClr val="tx1"/>
                </a:solidFill>
              </a:rPr>
              <a:t>       </a:t>
            </a:r>
            <a:r>
              <a:rPr lang="zh-CN" altLang="en-US" sz="1400" b="0" dirty="0">
                <a:solidFill>
                  <a:schemeClr val="tx1"/>
                </a:solidFill>
                <a:latin typeface="Open Sans" panose="020F0502020204030204" pitchFamily="34" charset="0"/>
              </a:rPr>
              <a:t>要求设计函数</a:t>
            </a:r>
            <a:r>
              <a:rPr lang="zh-CN" altLang="zh-CN" sz="1400" b="0" dirty="0">
                <a:solidFill>
                  <a:schemeClr val="tx1"/>
                </a:solidFill>
                <a:latin typeface="Open Sans" panose="020F0502020204030204" pitchFamily="34" charset="0"/>
              </a:rPr>
              <a:t>char * search(char *str,char c)，</a:t>
            </a:r>
            <a:r>
              <a:rPr lang="zh-CN" altLang="en-US" sz="1400" b="0" dirty="0">
                <a:solidFill>
                  <a:schemeClr val="tx1"/>
                </a:solidFill>
                <a:latin typeface="Open Sans" panose="020F0502020204030204" pitchFamily="34" charset="0"/>
              </a:rPr>
              <a:t>其功能为：在</a:t>
            </a:r>
            <a:r>
              <a:rPr lang="zh-CN" altLang="zh-CN" sz="1400" b="0" dirty="0">
                <a:solidFill>
                  <a:schemeClr val="tx1"/>
                </a:solidFill>
                <a:latin typeface="Open Sans" panose="020F0502020204030204" pitchFamily="34" charset="0"/>
              </a:rPr>
              <a:t>str</a:t>
            </a:r>
            <a:r>
              <a:rPr lang="zh-CN" altLang="en-US" sz="1400" b="0" dirty="0">
                <a:solidFill>
                  <a:schemeClr val="tx1"/>
                </a:solidFill>
                <a:latin typeface="Open Sans" panose="020F0502020204030204" pitchFamily="34" charset="0"/>
              </a:rPr>
              <a:t>所指的字符串中，查找是否有字符变量</a:t>
            </a:r>
            <a:r>
              <a:rPr lang="zh-CN" altLang="zh-CN" sz="1400" b="0" dirty="0">
                <a:solidFill>
                  <a:schemeClr val="tx1"/>
                </a:solidFill>
                <a:latin typeface="Open Sans" panose="020F0502020204030204" pitchFamily="34" charset="0"/>
              </a:rPr>
              <a:t>c</a:t>
            </a:r>
            <a:r>
              <a:rPr lang="zh-CN" altLang="en-US" sz="1400" b="0" dirty="0">
                <a:solidFill>
                  <a:schemeClr val="tx1"/>
                </a:solidFill>
                <a:latin typeface="Open Sans" panose="020F0502020204030204" pitchFamily="34" charset="0"/>
              </a:rPr>
              <a:t>的字符，如果有，返回字符串中相同字符的地址，如果没有则返回</a:t>
            </a:r>
            <a:r>
              <a:rPr lang="zh-CN" altLang="zh-CN" sz="1400" b="0" dirty="0">
                <a:solidFill>
                  <a:schemeClr val="tx1"/>
                </a:solidFill>
                <a:latin typeface="Open Sans" panose="020F0502020204030204" pitchFamily="34" charset="0"/>
              </a:rPr>
              <a:t>NULL </a:t>
            </a:r>
          </a:p>
          <a:p>
            <a:pPr>
              <a:buFont typeface="Wingdings" pitchFamily="2" charset="2"/>
              <a:buNone/>
            </a:pPr>
            <a:endParaRPr lang="zh-CN" altLang="zh-CN" sz="1400" b="0" dirty="0">
              <a:solidFill>
                <a:schemeClr val="tx1"/>
              </a:solidFill>
              <a:latin typeface="Open Sans" panose="020F0502020204030204" pitchFamily="34" charset="0"/>
            </a:endParaRPr>
          </a:p>
          <a:p>
            <a:r>
              <a:rPr lang="zh-CN" altLang="zh-CN" sz="1400" b="0" dirty="0">
                <a:solidFill>
                  <a:schemeClr val="tx1"/>
                </a:solidFill>
                <a:latin typeface="Open Sans" panose="020F0502020204030204" pitchFamily="34" charset="0"/>
              </a:rPr>
              <a:t>输入</a:t>
            </a:r>
            <a:r>
              <a:rPr lang="zh-CN" altLang="en-US" sz="1400" b="0" dirty="0">
                <a:solidFill>
                  <a:schemeClr val="tx1"/>
                </a:solidFill>
                <a:latin typeface="Open Sans" panose="020F0502020204030204" pitchFamily="34" charset="0"/>
              </a:rPr>
              <a:t>：分别输入字符串</a:t>
            </a:r>
            <a:r>
              <a:rPr lang="zh-CN" altLang="zh-CN" sz="1400" b="0" dirty="0">
                <a:solidFill>
                  <a:schemeClr val="tx1"/>
                </a:solidFill>
                <a:latin typeface="Open Sans" panose="020F0502020204030204" pitchFamily="34" charset="0"/>
              </a:rPr>
              <a:t>str</a:t>
            </a:r>
            <a:r>
              <a:rPr lang="zh-CN" altLang="en-US" sz="1400" b="0" dirty="0">
                <a:solidFill>
                  <a:schemeClr val="tx1"/>
                </a:solidFill>
                <a:latin typeface="Open Sans" panose="020F0502020204030204" pitchFamily="34" charset="0"/>
              </a:rPr>
              <a:t>和字符</a:t>
            </a:r>
            <a:r>
              <a:rPr lang="zh-CN" altLang="zh-CN" sz="1400" b="0" dirty="0">
                <a:solidFill>
                  <a:schemeClr val="tx1"/>
                </a:solidFill>
                <a:latin typeface="Open Sans" panose="020F0502020204030204" pitchFamily="34" charset="0"/>
              </a:rPr>
              <a:t>c</a:t>
            </a:r>
          </a:p>
          <a:p>
            <a:r>
              <a:rPr lang="zh-CN" altLang="en-US" sz="1400" b="0" dirty="0">
                <a:solidFill>
                  <a:schemeClr val="tx1"/>
                </a:solidFill>
                <a:latin typeface="Open Sans" panose="020F0502020204030204" pitchFamily="34" charset="0"/>
              </a:rPr>
              <a:t>输出：如果有则输出</a:t>
            </a:r>
            <a:r>
              <a:rPr lang="zh-CN" altLang="zh-CN" sz="1400" b="0" dirty="0">
                <a:solidFill>
                  <a:schemeClr val="tx1"/>
                </a:solidFill>
                <a:latin typeface="Open Sans" panose="020F0502020204030204" pitchFamily="34" charset="0"/>
              </a:rPr>
              <a:t>yes,</a:t>
            </a:r>
            <a:r>
              <a:rPr lang="zh-CN" altLang="en-US" sz="1400" b="0" dirty="0">
                <a:solidFill>
                  <a:schemeClr val="tx1"/>
                </a:solidFill>
                <a:latin typeface="Open Sans" panose="020F0502020204030204" pitchFamily="34" charset="0"/>
              </a:rPr>
              <a:t>没有则输出</a:t>
            </a:r>
            <a:r>
              <a:rPr lang="zh-CN" altLang="zh-CN" sz="1400" b="0" dirty="0">
                <a:solidFill>
                  <a:schemeClr val="tx1"/>
                </a:solidFill>
                <a:latin typeface="Open Sans" panose="020F0502020204030204" pitchFamily="34" charset="0"/>
              </a:rPr>
              <a:t>no.</a:t>
            </a:r>
          </a:p>
          <a:p>
            <a:endParaRPr kumimoji="1" lang="zh-CN" altLang="zh-CN" sz="1000" b="0" dirty="0">
              <a:solidFill>
                <a:srgbClr val="4D4D4D"/>
              </a:solidFill>
              <a:latin typeface="font-size:16px;background-color"/>
            </a:endParaRPr>
          </a:p>
          <a:p>
            <a:r>
              <a:rPr lang="zh-CN" altLang="zh-CN" sz="1400" b="0" dirty="0">
                <a:solidFill>
                  <a:schemeClr val="tx1"/>
                </a:solidFill>
                <a:latin typeface="Open Sans" panose="020F0502020204030204" pitchFamily="34" charset="0"/>
              </a:rPr>
              <a:t>样例</a:t>
            </a:r>
            <a:r>
              <a:rPr lang="zh-CN" altLang="en-US" sz="1400" b="0" dirty="0">
                <a:solidFill>
                  <a:schemeClr val="tx1"/>
                </a:solidFill>
                <a:latin typeface="Open Sans" panose="020F0502020204030204" pitchFamily="34" charset="0"/>
              </a:rPr>
              <a:t>输入：</a:t>
            </a:r>
            <a:endParaRPr lang="en-US" altLang="zh-CN" sz="1400" b="0" dirty="0">
              <a:solidFill>
                <a:schemeClr val="tx1"/>
              </a:solidFill>
              <a:latin typeface="Open Sans" panose="020F0502020204030204" pitchFamily="34" charset="0"/>
            </a:endParaRPr>
          </a:p>
          <a:p>
            <a:pPr marL="457200" lvl="1" indent="0">
              <a:buFont typeface="Wingdings" pitchFamily="2" charset="2"/>
              <a:buNone/>
            </a:pPr>
            <a:r>
              <a:rPr lang="zh-CN" altLang="zh-CN" sz="1400" b="0" dirty="0">
                <a:solidFill>
                  <a:schemeClr val="tx1"/>
                </a:solidFill>
                <a:latin typeface="Open Sans" panose="020F0502020204030204" pitchFamily="34" charset="0"/>
              </a:rPr>
              <a:t>Ashdaslas</a:t>
            </a:r>
          </a:p>
          <a:p>
            <a:pPr marL="457200" lvl="1" indent="0">
              <a:buFont typeface="Wingdings" pitchFamily="2" charset="2"/>
              <a:buNone/>
            </a:pPr>
            <a:r>
              <a:rPr lang="zh-CN" altLang="zh-CN" sz="1400" b="0" dirty="0">
                <a:solidFill>
                  <a:schemeClr val="tx1"/>
                </a:solidFill>
                <a:latin typeface="Open Sans" panose="020F0502020204030204" pitchFamily="34" charset="0"/>
              </a:rPr>
              <a:t>h</a:t>
            </a:r>
          </a:p>
          <a:p>
            <a:r>
              <a:rPr lang="zh-CN" altLang="zh-CN" sz="1400" b="0" dirty="0">
                <a:solidFill>
                  <a:schemeClr val="tx1"/>
                </a:solidFill>
                <a:latin typeface="Open Sans" panose="020F0502020204030204" pitchFamily="34" charset="0"/>
              </a:rPr>
              <a:t>样例</a:t>
            </a:r>
            <a:r>
              <a:rPr lang="zh-CN" altLang="en-US" sz="1400" b="0" dirty="0">
                <a:solidFill>
                  <a:schemeClr val="tx1"/>
                </a:solidFill>
                <a:latin typeface="Open Sans" panose="020F0502020204030204" pitchFamily="34" charset="0"/>
              </a:rPr>
              <a:t>输出：</a:t>
            </a:r>
            <a:endParaRPr lang="en-US" altLang="zh-CN" sz="1400" b="0" dirty="0">
              <a:solidFill>
                <a:schemeClr val="tx1"/>
              </a:solidFill>
              <a:latin typeface="Open Sans" panose="020F0502020204030204" pitchFamily="34" charset="0"/>
            </a:endParaRPr>
          </a:p>
          <a:p>
            <a:pPr marL="457200" lvl="1" indent="0">
              <a:buFont typeface="Wingdings" pitchFamily="2" charset="2"/>
              <a:buNone/>
            </a:pPr>
            <a:r>
              <a:rPr lang="zh-CN" altLang="zh-CN" sz="1400" b="0" dirty="0">
                <a:solidFill>
                  <a:schemeClr val="tx1"/>
                </a:solidFill>
                <a:latin typeface="Open Sans" panose="020F0502020204030204" pitchFamily="34" charset="0"/>
              </a:rPr>
              <a:t>yes</a:t>
            </a:r>
          </a:p>
        </p:txBody>
      </p:sp>
      <p:sp>
        <p:nvSpPr>
          <p:cNvPr id="44036" name="灯片编号占位符 3">
            <a:extLst>
              <a:ext uri="{FF2B5EF4-FFF2-40B4-BE49-F238E27FC236}">
                <a16:creationId xmlns:a16="http://schemas.microsoft.com/office/drawing/2014/main" id="{3CC77C29-EF89-0C31-EC9C-B2505177E46B}"/>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2F2736DF-23C7-0047-A8CB-8DE880E974C9}" type="slidenum">
              <a:rPr lang="en-US" altLang="zh-CN" sz="1600">
                <a:latin typeface="Lucida Sans Unicode" panose="020B0602030504020204" pitchFamily="34" charset="0"/>
                <a:ea typeface="宋体" panose="02010600030101010101" pitchFamily="2" charset="-122"/>
              </a:rPr>
              <a:pPr/>
              <a:t>12</a:t>
            </a:fld>
            <a:endParaRPr lang="en-US" altLang="zh-CN" sz="1600">
              <a:latin typeface="Lucida Sans Unicode" panose="020B0602030504020204" pitchFamily="34" charset="0"/>
              <a:ea typeface="宋体" panose="02010600030101010101" pitchFamily="2" charset="-122"/>
            </a:endParaRPr>
          </a:p>
        </p:txBody>
      </p:sp>
      <p:sp>
        <p:nvSpPr>
          <p:cNvPr id="3" name="Rectangle 2">
            <a:extLst>
              <a:ext uri="{FF2B5EF4-FFF2-40B4-BE49-F238E27FC236}">
                <a16:creationId xmlns:a16="http://schemas.microsoft.com/office/drawing/2014/main" id="{05F507E3-3A48-F5CF-A0E8-B3B1F85C1150}"/>
              </a:ext>
            </a:extLst>
          </p:cNvPr>
          <p:cNvSpPr txBox="1">
            <a:spLocks noChangeArrowheads="1"/>
          </p:cNvSpPr>
          <p:nvPr/>
        </p:nvSpPr>
        <p:spPr bwMode="white">
          <a:xfrm>
            <a:off x="1000125" y="598488"/>
            <a:ext cx="7391400" cy="487362"/>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pPr>
              <a:defRPr/>
            </a:pPr>
            <a:r>
              <a:rPr lang="en-US" altLang="zh-CN" dirty="0"/>
              <a:t>Exercise</a:t>
            </a:r>
            <a:endParaRPr lang="en-US" altLang="zh-CN" kern="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内容占位符 2">
            <a:extLst>
              <a:ext uri="{FF2B5EF4-FFF2-40B4-BE49-F238E27FC236}">
                <a16:creationId xmlns:a16="http://schemas.microsoft.com/office/drawing/2014/main" id="{197D775E-2869-2156-4F93-7CC20FC31D37}"/>
              </a:ext>
            </a:extLst>
          </p:cNvPr>
          <p:cNvSpPr>
            <a:spLocks noGrp="1"/>
          </p:cNvSpPr>
          <p:nvPr>
            <p:ph idx="1"/>
          </p:nvPr>
        </p:nvSpPr>
        <p:spPr>
          <a:xfrm>
            <a:off x="319088" y="1320800"/>
            <a:ext cx="4176712" cy="5248275"/>
          </a:xfrm>
        </p:spPr>
        <p:txBody>
          <a:bodyPr/>
          <a:lstStyle/>
          <a:p>
            <a:r>
              <a:rPr lang="zh-CN" altLang="en-US" sz="1800">
                <a:latin typeface="Lato" panose="020F0502020204030204" pitchFamily="34" charset="0"/>
              </a:rPr>
              <a:t>指针练习：报文解密</a:t>
            </a:r>
          </a:p>
          <a:p>
            <a:pPr>
              <a:buFont typeface="Wingdings" pitchFamily="2" charset="2"/>
              <a:buNone/>
            </a:pPr>
            <a:r>
              <a:rPr lang="zh-CN" altLang="en-US" sz="1400" b="0">
                <a:solidFill>
                  <a:schemeClr val="tx1"/>
                </a:solidFill>
                <a:latin typeface="Open Sans" panose="020F0502020204030204" pitchFamily="34" charset="0"/>
              </a:rPr>
              <a:t>        输入一个字符串，将该字符串进行解密。解密规则：大写字母</a:t>
            </a:r>
            <a:r>
              <a:rPr lang="en-US" altLang="zh-CN" sz="1400" b="0">
                <a:solidFill>
                  <a:schemeClr val="tx1"/>
                </a:solidFill>
                <a:latin typeface="Open Sans" panose="020F0502020204030204" pitchFamily="34" charset="0"/>
              </a:rPr>
              <a:t>‘</a:t>
            </a:r>
            <a:r>
              <a:rPr lang="zh-CN" altLang="zh-CN" sz="1400" b="0">
                <a:solidFill>
                  <a:schemeClr val="tx1"/>
                </a:solidFill>
                <a:latin typeface="Open Sans" panose="020F0502020204030204" pitchFamily="34" charset="0"/>
              </a:rPr>
              <a:t>A’, ‘B’,‘C’, ‘D’</a:t>
            </a:r>
            <a:r>
              <a:rPr lang="zh-CN" altLang="en-US" sz="1400" b="0">
                <a:solidFill>
                  <a:schemeClr val="tx1"/>
                </a:solidFill>
                <a:latin typeface="Open Sans" panose="020F0502020204030204" pitchFamily="34" charset="0"/>
              </a:rPr>
              <a:t>用</a:t>
            </a:r>
            <a:r>
              <a:rPr lang="en-US" altLang="zh-CN" sz="1400" b="0">
                <a:solidFill>
                  <a:schemeClr val="tx1"/>
                </a:solidFill>
                <a:latin typeface="Open Sans" panose="020F0502020204030204" pitchFamily="34" charset="0"/>
              </a:rPr>
              <a:t>‘</a:t>
            </a:r>
            <a:r>
              <a:rPr lang="zh-CN" altLang="zh-CN" sz="1400" b="0">
                <a:solidFill>
                  <a:schemeClr val="tx1"/>
                </a:solidFill>
                <a:latin typeface="Open Sans" panose="020F0502020204030204" pitchFamily="34" charset="0"/>
              </a:rPr>
              <a:t>W’, ‘X’, ‘Y’, ‘Z’</a:t>
            </a:r>
            <a:r>
              <a:rPr lang="zh-CN" altLang="en-US" sz="1400" b="0">
                <a:solidFill>
                  <a:schemeClr val="tx1"/>
                </a:solidFill>
                <a:latin typeface="Open Sans" panose="020F0502020204030204" pitchFamily="34" charset="0"/>
              </a:rPr>
              <a:t>代替，对于</a:t>
            </a:r>
            <a:r>
              <a:rPr lang="en-US" altLang="zh-CN" sz="1400" b="0">
                <a:solidFill>
                  <a:schemeClr val="tx1"/>
                </a:solidFill>
                <a:latin typeface="Open Sans" panose="020F0502020204030204" pitchFamily="34" charset="0"/>
              </a:rPr>
              <a:t>‘</a:t>
            </a:r>
            <a:r>
              <a:rPr lang="zh-CN" altLang="zh-CN" sz="1400" b="0">
                <a:solidFill>
                  <a:schemeClr val="tx1"/>
                </a:solidFill>
                <a:latin typeface="Open Sans" panose="020F0502020204030204" pitchFamily="34" charset="0"/>
              </a:rPr>
              <a:t>E’</a:t>
            </a:r>
            <a:r>
              <a:rPr lang="zh-CN" altLang="en-US" sz="1400" b="0">
                <a:solidFill>
                  <a:schemeClr val="tx1"/>
                </a:solidFill>
                <a:latin typeface="Open Sans" panose="020F0502020204030204" pitchFamily="34" charset="0"/>
              </a:rPr>
              <a:t>到</a:t>
            </a:r>
            <a:r>
              <a:rPr lang="en-US" altLang="zh-CN" sz="1400" b="0">
                <a:solidFill>
                  <a:schemeClr val="tx1"/>
                </a:solidFill>
                <a:latin typeface="Open Sans" panose="020F0502020204030204" pitchFamily="34" charset="0"/>
              </a:rPr>
              <a:t>‘</a:t>
            </a:r>
            <a:r>
              <a:rPr lang="zh-CN" altLang="zh-CN" sz="1400" b="0">
                <a:solidFill>
                  <a:schemeClr val="tx1"/>
                </a:solidFill>
                <a:latin typeface="Open Sans" panose="020F0502020204030204" pitchFamily="34" charset="0"/>
              </a:rPr>
              <a:t>Z’</a:t>
            </a:r>
            <a:r>
              <a:rPr lang="zh-CN" altLang="en-US" sz="1400" b="0">
                <a:solidFill>
                  <a:schemeClr val="tx1"/>
                </a:solidFill>
                <a:latin typeface="Open Sans" panose="020F0502020204030204" pitchFamily="34" charset="0"/>
              </a:rPr>
              <a:t>的字母，分别用原字母的前</a:t>
            </a:r>
            <a:r>
              <a:rPr lang="en-US" altLang="zh-CN" sz="1400" b="0">
                <a:solidFill>
                  <a:schemeClr val="tx1"/>
                </a:solidFill>
                <a:latin typeface="Open Sans" panose="020F0502020204030204" pitchFamily="34" charset="0"/>
              </a:rPr>
              <a:t>4</a:t>
            </a:r>
            <a:r>
              <a:rPr lang="zh-CN" altLang="en-US" sz="1400" b="0">
                <a:solidFill>
                  <a:schemeClr val="tx1"/>
                </a:solidFill>
                <a:latin typeface="Open Sans" panose="020F0502020204030204" pitchFamily="34" charset="0"/>
              </a:rPr>
              <a:t>个字符代替，其他字符保持不变。 </a:t>
            </a:r>
            <a:br>
              <a:rPr lang="zh-CN" altLang="en-US" sz="1400" b="0">
                <a:solidFill>
                  <a:schemeClr val="tx1"/>
                </a:solidFill>
                <a:latin typeface="Open Sans" panose="020F0502020204030204" pitchFamily="34" charset="0"/>
              </a:rPr>
            </a:br>
            <a:r>
              <a:rPr lang="zh-CN" altLang="en-US" sz="1400" b="0">
                <a:solidFill>
                  <a:schemeClr val="tx1"/>
                </a:solidFill>
                <a:latin typeface="Open Sans" panose="020F0502020204030204" pitchFamily="34" charset="0"/>
              </a:rPr>
              <a:t>（要求使用指针实现） </a:t>
            </a:r>
            <a:r>
              <a:rPr lang="zh-CN" altLang="zh-CN" sz="1400" b="0">
                <a:solidFill>
                  <a:schemeClr val="tx1"/>
                </a:solidFill>
                <a:latin typeface="Open Sans" panose="020F0502020204030204" pitchFamily="34" charset="0"/>
              </a:rPr>
              <a:t> </a:t>
            </a:r>
          </a:p>
          <a:p>
            <a:pPr>
              <a:buFont typeface="Wingdings" pitchFamily="2" charset="2"/>
              <a:buNone/>
            </a:pPr>
            <a:endParaRPr lang="zh-CN" altLang="zh-CN" sz="1400" b="0">
              <a:solidFill>
                <a:schemeClr val="tx1"/>
              </a:solidFill>
              <a:latin typeface="Open Sans" panose="020F0502020204030204" pitchFamily="34" charset="0"/>
            </a:endParaRPr>
          </a:p>
          <a:p>
            <a:r>
              <a:rPr lang="zh-CN" altLang="zh-CN" sz="1400" b="0">
                <a:solidFill>
                  <a:schemeClr val="tx1"/>
                </a:solidFill>
                <a:latin typeface="Open Sans" panose="020F0502020204030204" pitchFamily="34" charset="0"/>
              </a:rPr>
              <a:t>输入</a:t>
            </a:r>
            <a:r>
              <a:rPr lang="zh-CN" altLang="en-US" sz="1400" b="0">
                <a:solidFill>
                  <a:schemeClr val="tx1"/>
                </a:solidFill>
                <a:latin typeface="Open Sans" panose="020F0502020204030204" pitchFamily="34" charset="0"/>
              </a:rPr>
              <a:t>：输入字符串</a:t>
            </a:r>
            <a:r>
              <a:rPr lang="zh-CN" altLang="zh-CN" sz="1400" b="0">
                <a:solidFill>
                  <a:schemeClr val="tx1"/>
                </a:solidFill>
                <a:latin typeface="Open Sans" panose="020F0502020204030204" pitchFamily="34" charset="0"/>
              </a:rPr>
              <a:t>str</a:t>
            </a:r>
          </a:p>
          <a:p>
            <a:r>
              <a:rPr lang="zh-CN" altLang="en-US" sz="1400" b="0">
                <a:solidFill>
                  <a:schemeClr val="tx1"/>
                </a:solidFill>
                <a:latin typeface="Open Sans" panose="020F0502020204030204" pitchFamily="34" charset="0"/>
              </a:rPr>
              <a:t>输出：解密后的字符串</a:t>
            </a:r>
            <a:r>
              <a:rPr lang="zh-CN" altLang="zh-CN" sz="1400" b="0">
                <a:solidFill>
                  <a:schemeClr val="tx1"/>
                </a:solidFill>
                <a:latin typeface="Open Sans" panose="020F0502020204030204" pitchFamily="34" charset="0"/>
              </a:rPr>
              <a:t>.</a:t>
            </a:r>
          </a:p>
          <a:p>
            <a:endParaRPr kumimoji="1" lang="zh-CN" altLang="zh-CN" sz="1000" b="0">
              <a:solidFill>
                <a:srgbClr val="4D4D4D"/>
              </a:solidFill>
              <a:latin typeface="font-size:16px;background-color"/>
            </a:endParaRPr>
          </a:p>
          <a:p>
            <a:r>
              <a:rPr lang="zh-CN" altLang="zh-CN" sz="1400" b="0">
                <a:solidFill>
                  <a:schemeClr val="tx1"/>
                </a:solidFill>
                <a:latin typeface="Open Sans" panose="020F0502020204030204" pitchFamily="34" charset="0"/>
              </a:rPr>
              <a:t>样例</a:t>
            </a:r>
            <a:r>
              <a:rPr lang="zh-CN" altLang="en-US" sz="1400" b="0">
                <a:solidFill>
                  <a:schemeClr val="tx1"/>
                </a:solidFill>
                <a:latin typeface="Open Sans" panose="020F0502020204030204" pitchFamily="34" charset="0"/>
              </a:rPr>
              <a:t>输入：</a:t>
            </a:r>
            <a:endParaRPr lang="en-US" altLang="zh-CN" sz="1400" b="0">
              <a:solidFill>
                <a:schemeClr val="tx1"/>
              </a:solidFill>
              <a:latin typeface="Open Sans" panose="020F0502020204030204" pitchFamily="34" charset="0"/>
            </a:endParaRPr>
          </a:p>
          <a:p>
            <a:pPr marL="457200" lvl="1" indent="0">
              <a:buFont typeface="Wingdings" pitchFamily="2" charset="2"/>
              <a:buNone/>
            </a:pPr>
            <a:r>
              <a:rPr lang="zh-CN" altLang="zh-CN" sz="1400" b="0">
                <a:solidFill>
                  <a:schemeClr val="tx1"/>
                </a:solidFill>
                <a:latin typeface="Open Sans" panose="020F0502020204030204" pitchFamily="34" charset="0"/>
              </a:rPr>
              <a:t>ABCDEFGHIJKLMNOPQRSTUVWXYZ</a:t>
            </a:r>
          </a:p>
          <a:p>
            <a:r>
              <a:rPr lang="zh-CN" altLang="zh-CN" sz="1400" b="0">
                <a:solidFill>
                  <a:schemeClr val="tx1"/>
                </a:solidFill>
                <a:latin typeface="Open Sans" panose="020F0502020204030204" pitchFamily="34" charset="0"/>
              </a:rPr>
              <a:t>样例</a:t>
            </a:r>
            <a:r>
              <a:rPr lang="zh-CN" altLang="en-US" sz="1400" b="0">
                <a:solidFill>
                  <a:schemeClr val="tx1"/>
                </a:solidFill>
                <a:latin typeface="Open Sans" panose="020F0502020204030204" pitchFamily="34" charset="0"/>
              </a:rPr>
              <a:t>输出：</a:t>
            </a:r>
            <a:endParaRPr lang="en-US" altLang="zh-CN" sz="1400" b="0">
              <a:solidFill>
                <a:schemeClr val="tx1"/>
              </a:solidFill>
              <a:latin typeface="Open Sans" panose="020F0502020204030204" pitchFamily="34" charset="0"/>
            </a:endParaRPr>
          </a:p>
          <a:p>
            <a:pPr marL="457200" lvl="1" indent="0">
              <a:buFont typeface="Wingdings" pitchFamily="2" charset="2"/>
              <a:buNone/>
            </a:pPr>
            <a:r>
              <a:rPr lang="zh-CN" altLang="zh-CN" sz="1400" b="0">
                <a:solidFill>
                  <a:schemeClr val="tx1"/>
                </a:solidFill>
                <a:latin typeface="Open Sans" panose="020F0502020204030204" pitchFamily="34" charset="0"/>
              </a:rPr>
              <a:t>WXYZABCDEFGHIJKLMNOPQRSTUV</a:t>
            </a:r>
          </a:p>
        </p:txBody>
      </p:sp>
      <p:sp>
        <p:nvSpPr>
          <p:cNvPr id="45060" name="灯片编号占位符 3">
            <a:extLst>
              <a:ext uri="{FF2B5EF4-FFF2-40B4-BE49-F238E27FC236}">
                <a16:creationId xmlns:a16="http://schemas.microsoft.com/office/drawing/2014/main" id="{400D41ED-B2DF-67BB-CEC7-58B3DA726A75}"/>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BF7BA5FA-355A-7F41-9D81-4E1165C25FF7}" type="slidenum">
              <a:rPr lang="en-US" altLang="zh-CN" sz="1600">
                <a:latin typeface="Lucida Sans Unicode" panose="020B0602030504020204" pitchFamily="34" charset="0"/>
                <a:ea typeface="宋体" panose="02010600030101010101" pitchFamily="2" charset="-122"/>
              </a:rPr>
              <a:pPr/>
              <a:t>13</a:t>
            </a:fld>
            <a:endParaRPr lang="en-US" altLang="zh-CN" sz="1600">
              <a:latin typeface="Lucida Sans Unicode" panose="020B0602030504020204" pitchFamily="34" charset="0"/>
              <a:ea typeface="宋体" panose="02010600030101010101" pitchFamily="2" charset="-122"/>
            </a:endParaRPr>
          </a:p>
        </p:txBody>
      </p:sp>
      <p:sp>
        <p:nvSpPr>
          <p:cNvPr id="3" name="Rectangle 2">
            <a:extLst>
              <a:ext uri="{FF2B5EF4-FFF2-40B4-BE49-F238E27FC236}">
                <a16:creationId xmlns:a16="http://schemas.microsoft.com/office/drawing/2014/main" id="{F1682FC4-5CA6-6745-5B8C-35DA7D281849}"/>
              </a:ext>
            </a:extLst>
          </p:cNvPr>
          <p:cNvSpPr txBox="1">
            <a:spLocks noChangeArrowheads="1"/>
          </p:cNvSpPr>
          <p:nvPr/>
        </p:nvSpPr>
        <p:spPr bwMode="white">
          <a:xfrm>
            <a:off x="1000125" y="598488"/>
            <a:ext cx="7391400" cy="487362"/>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pPr>
              <a:defRPr/>
            </a:pPr>
            <a:r>
              <a:rPr lang="en-US" altLang="zh-CN" dirty="0"/>
              <a:t>Exercise</a:t>
            </a:r>
            <a:endParaRPr lang="en-US" altLang="zh-CN" kern="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内容占位符 2">
            <a:extLst>
              <a:ext uri="{FF2B5EF4-FFF2-40B4-BE49-F238E27FC236}">
                <a16:creationId xmlns:a16="http://schemas.microsoft.com/office/drawing/2014/main" id="{E84244E7-39DA-3416-6B2D-B433818EF2B8}"/>
              </a:ext>
            </a:extLst>
          </p:cNvPr>
          <p:cNvSpPr>
            <a:spLocks noGrp="1"/>
          </p:cNvSpPr>
          <p:nvPr>
            <p:ph idx="1"/>
          </p:nvPr>
        </p:nvSpPr>
        <p:spPr>
          <a:xfrm>
            <a:off x="319088" y="1320800"/>
            <a:ext cx="4176712" cy="5248275"/>
          </a:xfrm>
        </p:spPr>
        <p:txBody>
          <a:bodyPr/>
          <a:lstStyle/>
          <a:p>
            <a:r>
              <a:rPr lang="zh-CN" altLang="en-US" sz="1800">
                <a:latin typeface="Lato" panose="020F0502020204030204" pitchFamily="34" charset="0"/>
              </a:rPr>
              <a:t>指针练习：矩阵加法</a:t>
            </a:r>
          </a:p>
          <a:p>
            <a:pPr>
              <a:buFont typeface="Wingdings" pitchFamily="2" charset="2"/>
              <a:buNone/>
            </a:pPr>
            <a:r>
              <a:rPr lang="zh-CN" altLang="en-US" sz="1400" b="0">
                <a:solidFill>
                  <a:schemeClr val="tx1"/>
                </a:solidFill>
                <a:latin typeface="Open Sans" panose="020F0502020204030204" pitchFamily="34" charset="0"/>
              </a:rPr>
              <a:t>      </a:t>
            </a:r>
            <a:r>
              <a:rPr lang="zh-CN" altLang="en-US" sz="1200" b="0">
                <a:solidFill>
                  <a:schemeClr val="tx1"/>
                </a:solidFill>
                <a:latin typeface="Open Sans" panose="020F0502020204030204" pitchFamily="34" charset="0"/>
              </a:rPr>
              <a:t> 求两个</a:t>
            </a:r>
            <a:r>
              <a:rPr lang="zh-CN" altLang="zh-CN" sz="1200" b="0">
                <a:solidFill>
                  <a:schemeClr val="tx1"/>
                </a:solidFill>
                <a:latin typeface="Open Sans" panose="020F0502020204030204" pitchFamily="34" charset="0"/>
              </a:rPr>
              <a:t>n*n（n&lt;10）</a:t>
            </a:r>
            <a:r>
              <a:rPr lang="zh-CN" altLang="en-US" sz="1200" b="0">
                <a:solidFill>
                  <a:schemeClr val="tx1"/>
                </a:solidFill>
                <a:latin typeface="Open Sans" panose="020F0502020204030204" pitchFamily="34" charset="0"/>
              </a:rPr>
              <a:t>矩阵的加法。矩阵的数据由输入决定，输出矩阵和。 实现函数</a:t>
            </a:r>
            <a:endParaRPr lang="en-US" altLang="zh-CN" sz="1200" b="0">
              <a:solidFill>
                <a:schemeClr val="tx1"/>
              </a:solidFill>
              <a:latin typeface="Open Sans" panose="020F0502020204030204" pitchFamily="34" charset="0"/>
            </a:endParaRPr>
          </a:p>
          <a:p>
            <a:pPr>
              <a:buFont typeface="Wingdings" pitchFamily="2" charset="2"/>
              <a:buNone/>
            </a:pPr>
            <a:r>
              <a:rPr lang="zh-CN" altLang="en-US" sz="1200" b="0">
                <a:solidFill>
                  <a:schemeClr val="tx1"/>
                </a:solidFill>
                <a:latin typeface="Open Sans" panose="020F0502020204030204" pitchFamily="34" charset="0"/>
              </a:rPr>
              <a:t>        </a:t>
            </a:r>
            <a:r>
              <a:rPr lang="zh-CN" altLang="zh-CN" sz="1200" b="0">
                <a:solidFill>
                  <a:schemeClr val="tx1"/>
                </a:solidFill>
                <a:latin typeface="Open Sans" panose="020F0502020204030204" pitchFamily="34" charset="0"/>
              </a:rPr>
              <a:t>void ADD(int(*pa)[10],int(*pb)[10],const int n) </a:t>
            </a:r>
            <a:br>
              <a:rPr lang="zh-CN" altLang="zh-CN" sz="1200" b="0">
                <a:solidFill>
                  <a:schemeClr val="tx1"/>
                </a:solidFill>
                <a:latin typeface="Open Sans" panose="020F0502020204030204" pitchFamily="34" charset="0"/>
              </a:rPr>
            </a:br>
            <a:r>
              <a:rPr lang="zh-CN" altLang="en-US" sz="1200" b="0">
                <a:solidFill>
                  <a:schemeClr val="tx1"/>
                </a:solidFill>
                <a:latin typeface="Open Sans" panose="020F0502020204030204" pitchFamily="34" charset="0"/>
              </a:rPr>
              <a:t>将行指针</a:t>
            </a:r>
            <a:r>
              <a:rPr lang="zh-CN" altLang="zh-CN" sz="1200" b="0">
                <a:solidFill>
                  <a:schemeClr val="tx1"/>
                </a:solidFill>
                <a:latin typeface="Open Sans" panose="020F0502020204030204" pitchFamily="34" charset="0"/>
              </a:rPr>
              <a:t>pa</a:t>
            </a:r>
            <a:r>
              <a:rPr lang="zh-CN" altLang="en-US" sz="1200" b="0">
                <a:solidFill>
                  <a:schemeClr val="tx1"/>
                </a:solidFill>
                <a:latin typeface="Open Sans" panose="020F0502020204030204" pitchFamily="34" charset="0"/>
              </a:rPr>
              <a:t>指向的矩阵与行指针</a:t>
            </a:r>
            <a:r>
              <a:rPr lang="zh-CN" altLang="zh-CN" sz="1200" b="0">
                <a:solidFill>
                  <a:schemeClr val="tx1"/>
                </a:solidFill>
                <a:latin typeface="Open Sans" panose="020F0502020204030204" pitchFamily="34" charset="0"/>
              </a:rPr>
              <a:t>pb</a:t>
            </a:r>
            <a:r>
              <a:rPr lang="zh-CN" altLang="en-US" sz="1200" b="0">
                <a:solidFill>
                  <a:schemeClr val="tx1"/>
                </a:solidFill>
                <a:latin typeface="Open Sans" panose="020F0502020204030204" pitchFamily="34" charset="0"/>
              </a:rPr>
              <a:t>指向的矩阵相加，结果存放到</a:t>
            </a:r>
            <a:r>
              <a:rPr lang="zh-CN" altLang="zh-CN" sz="1200" b="0">
                <a:solidFill>
                  <a:schemeClr val="tx1"/>
                </a:solidFill>
                <a:latin typeface="Open Sans" panose="020F0502020204030204" pitchFamily="34" charset="0"/>
              </a:rPr>
              <a:t>pa</a:t>
            </a:r>
            <a:r>
              <a:rPr lang="zh-CN" altLang="en-US" sz="1200" b="0">
                <a:solidFill>
                  <a:schemeClr val="tx1"/>
                </a:solidFill>
                <a:latin typeface="Open Sans" panose="020F0502020204030204" pitchFamily="34" charset="0"/>
              </a:rPr>
              <a:t>指向的矩阵中。 </a:t>
            </a:r>
            <a:endParaRPr lang="zh-CN" altLang="zh-CN" sz="1200" b="0">
              <a:solidFill>
                <a:schemeClr val="tx1"/>
              </a:solidFill>
              <a:latin typeface="Open Sans" panose="020F0502020204030204" pitchFamily="34" charset="0"/>
            </a:endParaRPr>
          </a:p>
          <a:p>
            <a:r>
              <a:rPr lang="zh-CN" altLang="zh-CN" sz="1200" b="0">
                <a:solidFill>
                  <a:schemeClr val="tx1"/>
                </a:solidFill>
                <a:latin typeface="Open Sans" panose="020F0502020204030204" pitchFamily="34" charset="0"/>
              </a:rPr>
              <a:t>输入</a:t>
            </a:r>
            <a:r>
              <a:rPr lang="zh-CN" altLang="en-US" sz="1200" b="0">
                <a:solidFill>
                  <a:schemeClr val="tx1"/>
                </a:solidFill>
                <a:latin typeface="Open Sans" panose="020F0502020204030204" pitchFamily="34" charset="0"/>
              </a:rPr>
              <a:t>：</a:t>
            </a:r>
            <a:endParaRPr lang="en-US" altLang="zh-CN" sz="1200" b="0">
              <a:solidFill>
                <a:schemeClr val="tx1"/>
              </a:solidFill>
              <a:latin typeface="Open Sans" panose="020F0502020204030204" pitchFamily="34" charset="0"/>
            </a:endParaRPr>
          </a:p>
          <a:p>
            <a:pPr>
              <a:buFont typeface="Wingdings" pitchFamily="2" charset="2"/>
              <a:buNone/>
            </a:pPr>
            <a:r>
              <a:rPr lang="zh-CN" altLang="en-US" sz="1200" b="0">
                <a:solidFill>
                  <a:schemeClr val="tx1"/>
                </a:solidFill>
                <a:latin typeface="Open Sans" panose="020F0502020204030204" pitchFamily="34" charset="0"/>
              </a:rPr>
              <a:t>第一行输入</a:t>
            </a:r>
            <a:r>
              <a:rPr lang="zh-CN" altLang="zh-CN" sz="1200" b="0">
                <a:solidFill>
                  <a:schemeClr val="tx1"/>
                </a:solidFill>
                <a:latin typeface="Open Sans" panose="020F0502020204030204" pitchFamily="34" charset="0"/>
              </a:rPr>
              <a:t>n</a:t>
            </a:r>
            <a:r>
              <a:rPr lang="zh-CN" altLang="en-US" sz="1200" b="0">
                <a:solidFill>
                  <a:schemeClr val="tx1"/>
                </a:solidFill>
                <a:latin typeface="Open Sans" panose="020F0502020204030204" pitchFamily="34" charset="0"/>
              </a:rPr>
              <a:t>的数值；</a:t>
            </a:r>
            <a:endParaRPr lang="en-US" altLang="zh-CN" sz="1200" b="0">
              <a:solidFill>
                <a:schemeClr val="tx1"/>
              </a:solidFill>
              <a:latin typeface="Open Sans" panose="020F0502020204030204" pitchFamily="34" charset="0"/>
            </a:endParaRPr>
          </a:p>
          <a:p>
            <a:pPr>
              <a:buFont typeface="Wingdings" pitchFamily="2" charset="2"/>
              <a:buNone/>
            </a:pPr>
            <a:r>
              <a:rPr lang="zh-CN" altLang="en-US" sz="1200" b="0">
                <a:solidFill>
                  <a:schemeClr val="tx1"/>
                </a:solidFill>
                <a:latin typeface="Open Sans" panose="020F0502020204030204" pitchFamily="34" charset="0"/>
              </a:rPr>
              <a:t>然后输入矩阵</a:t>
            </a:r>
            <a:r>
              <a:rPr lang="zh-CN" altLang="zh-CN" sz="1200" b="0">
                <a:solidFill>
                  <a:schemeClr val="tx1"/>
                </a:solidFill>
                <a:latin typeface="Open Sans" panose="020F0502020204030204" pitchFamily="34" charset="0"/>
              </a:rPr>
              <a:t>a</a:t>
            </a:r>
            <a:r>
              <a:rPr lang="zh-CN" altLang="en-US" sz="1200" b="0">
                <a:solidFill>
                  <a:schemeClr val="tx1"/>
                </a:solidFill>
                <a:latin typeface="Open Sans" panose="020F0502020204030204" pitchFamily="34" charset="0"/>
              </a:rPr>
              <a:t>的</a:t>
            </a:r>
            <a:r>
              <a:rPr lang="zh-CN" altLang="zh-CN" sz="1200" b="0">
                <a:solidFill>
                  <a:schemeClr val="tx1"/>
                </a:solidFill>
                <a:latin typeface="Open Sans" panose="020F0502020204030204" pitchFamily="34" charset="0"/>
              </a:rPr>
              <a:t>n*n</a:t>
            </a:r>
            <a:r>
              <a:rPr lang="zh-CN" altLang="en-US" sz="1200" b="0">
                <a:solidFill>
                  <a:schemeClr val="tx1"/>
                </a:solidFill>
                <a:latin typeface="Open Sans" panose="020F0502020204030204" pitchFamily="34" charset="0"/>
              </a:rPr>
              <a:t>个数据和矩阵</a:t>
            </a:r>
            <a:r>
              <a:rPr lang="zh-CN" altLang="zh-CN" sz="1200" b="0">
                <a:solidFill>
                  <a:schemeClr val="tx1"/>
                </a:solidFill>
                <a:latin typeface="Open Sans" panose="020F0502020204030204" pitchFamily="34" charset="0"/>
              </a:rPr>
              <a:t>b</a:t>
            </a:r>
            <a:r>
              <a:rPr lang="zh-CN" altLang="en-US" sz="1200" b="0">
                <a:solidFill>
                  <a:schemeClr val="tx1"/>
                </a:solidFill>
                <a:latin typeface="Open Sans" panose="020F0502020204030204" pitchFamily="34" charset="0"/>
              </a:rPr>
              <a:t>的</a:t>
            </a:r>
            <a:r>
              <a:rPr lang="zh-CN" altLang="zh-CN" sz="1200" b="0">
                <a:solidFill>
                  <a:schemeClr val="tx1"/>
                </a:solidFill>
                <a:latin typeface="Open Sans" panose="020F0502020204030204" pitchFamily="34" charset="0"/>
              </a:rPr>
              <a:t>n*n</a:t>
            </a:r>
            <a:r>
              <a:rPr lang="zh-CN" altLang="en-US" sz="1200" b="0">
                <a:solidFill>
                  <a:schemeClr val="tx1"/>
                </a:solidFill>
                <a:latin typeface="Open Sans" panose="020F0502020204030204" pitchFamily="34" charset="0"/>
              </a:rPr>
              <a:t>个数据。</a:t>
            </a:r>
            <a:endParaRPr lang="en-US" altLang="zh-CN" sz="1200" b="0">
              <a:solidFill>
                <a:schemeClr val="tx1"/>
              </a:solidFill>
              <a:latin typeface="Open Sans" panose="020F0502020204030204" pitchFamily="34" charset="0"/>
            </a:endParaRPr>
          </a:p>
          <a:p>
            <a:r>
              <a:rPr lang="zh-CN" altLang="en-US" sz="1200" b="0">
                <a:solidFill>
                  <a:schemeClr val="tx1"/>
                </a:solidFill>
                <a:latin typeface="Open Sans" panose="020F0502020204030204" pitchFamily="34" charset="0"/>
              </a:rPr>
              <a:t>输出：</a:t>
            </a:r>
            <a:endParaRPr lang="en-US" altLang="zh-CN" sz="1200" b="0">
              <a:solidFill>
                <a:schemeClr val="tx1"/>
              </a:solidFill>
              <a:latin typeface="Open Sans" panose="020F0502020204030204" pitchFamily="34" charset="0"/>
            </a:endParaRPr>
          </a:p>
          <a:p>
            <a:pPr>
              <a:buFont typeface="Wingdings" pitchFamily="2" charset="2"/>
              <a:buNone/>
            </a:pPr>
            <a:r>
              <a:rPr lang="zh-CN" altLang="en-US" sz="1200" b="0">
                <a:solidFill>
                  <a:schemeClr val="tx1"/>
                </a:solidFill>
                <a:latin typeface="Open Sans" panose="020F0502020204030204" pitchFamily="34" charset="0"/>
              </a:rPr>
              <a:t>矩阵</a:t>
            </a:r>
            <a:r>
              <a:rPr lang="zh-CN" altLang="zh-CN" sz="1200" b="0">
                <a:solidFill>
                  <a:schemeClr val="tx1"/>
                </a:solidFill>
                <a:latin typeface="Open Sans" panose="020F0502020204030204" pitchFamily="34" charset="0"/>
              </a:rPr>
              <a:t>a</a:t>
            </a:r>
            <a:r>
              <a:rPr lang="zh-CN" altLang="en-US" sz="1200" b="0">
                <a:solidFill>
                  <a:schemeClr val="tx1"/>
                </a:solidFill>
                <a:latin typeface="Open Sans" panose="020F0502020204030204" pitchFamily="34" charset="0"/>
              </a:rPr>
              <a:t>和矩阵</a:t>
            </a:r>
            <a:r>
              <a:rPr lang="zh-CN" altLang="zh-CN" sz="1200" b="0">
                <a:solidFill>
                  <a:schemeClr val="tx1"/>
                </a:solidFill>
                <a:latin typeface="Open Sans" panose="020F0502020204030204" pitchFamily="34" charset="0"/>
              </a:rPr>
              <a:t>b</a:t>
            </a:r>
            <a:r>
              <a:rPr lang="zh-CN" altLang="en-US" sz="1200" b="0">
                <a:solidFill>
                  <a:schemeClr val="tx1"/>
                </a:solidFill>
                <a:latin typeface="Open Sans" panose="020F0502020204030204" pitchFamily="34" charset="0"/>
              </a:rPr>
              <a:t>相加后得到的矩阵。</a:t>
            </a:r>
            <a:endParaRPr lang="zh-CN" altLang="zh-CN" sz="1200" b="0">
              <a:solidFill>
                <a:schemeClr val="tx1"/>
              </a:solidFill>
              <a:latin typeface="Open Sans" panose="020F0502020204030204" pitchFamily="34" charset="0"/>
            </a:endParaRPr>
          </a:p>
          <a:p>
            <a:r>
              <a:rPr lang="zh-CN" altLang="zh-CN" sz="1200" b="0">
                <a:solidFill>
                  <a:schemeClr val="tx1"/>
                </a:solidFill>
                <a:latin typeface="Open Sans" panose="020F0502020204030204" pitchFamily="34" charset="0"/>
              </a:rPr>
              <a:t>样例</a:t>
            </a:r>
            <a:r>
              <a:rPr lang="zh-CN" altLang="en-US" sz="1200" b="0">
                <a:solidFill>
                  <a:schemeClr val="tx1"/>
                </a:solidFill>
                <a:latin typeface="Open Sans" panose="020F0502020204030204" pitchFamily="34" charset="0"/>
              </a:rPr>
              <a:t>输入：</a:t>
            </a:r>
            <a:endParaRPr lang="en-US" altLang="zh-CN" sz="1200" b="0">
              <a:solidFill>
                <a:schemeClr val="tx1"/>
              </a:solidFill>
              <a:latin typeface="Open Sans" panose="020F0502020204030204" pitchFamily="34" charset="0"/>
            </a:endParaRPr>
          </a:p>
          <a:p>
            <a:pPr>
              <a:buFont typeface="Wingdings" pitchFamily="2" charset="2"/>
              <a:buNone/>
            </a:pPr>
            <a:r>
              <a:rPr lang="en-US" altLang="zh-CN" sz="1200" b="0">
                <a:solidFill>
                  <a:schemeClr val="tx1"/>
                </a:solidFill>
                <a:latin typeface="Open Sans" panose="020F0502020204030204" pitchFamily="34" charset="0"/>
              </a:rPr>
              <a:t>3</a:t>
            </a:r>
          </a:p>
          <a:p>
            <a:pPr>
              <a:buFont typeface="Wingdings" pitchFamily="2" charset="2"/>
              <a:buNone/>
            </a:pPr>
            <a:r>
              <a:rPr lang="en-US" altLang="zh-CN" sz="1200" b="0">
                <a:solidFill>
                  <a:schemeClr val="tx1"/>
                </a:solidFill>
                <a:latin typeface="Open Sans" panose="020F0502020204030204" pitchFamily="34" charset="0"/>
              </a:rPr>
              <a:t>1 2 3 </a:t>
            </a:r>
          </a:p>
          <a:p>
            <a:pPr>
              <a:buFont typeface="Wingdings" pitchFamily="2" charset="2"/>
              <a:buNone/>
            </a:pPr>
            <a:r>
              <a:rPr lang="en-US" altLang="zh-CN" sz="1200" b="0">
                <a:solidFill>
                  <a:schemeClr val="tx1"/>
                </a:solidFill>
                <a:latin typeface="Open Sans" panose="020F0502020204030204" pitchFamily="34" charset="0"/>
              </a:rPr>
              <a:t>4 5 6 </a:t>
            </a:r>
          </a:p>
          <a:p>
            <a:pPr>
              <a:buFont typeface="Wingdings" pitchFamily="2" charset="2"/>
              <a:buNone/>
            </a:pPr>
            <a:r>
              <a:rPr lang="en-US" altLang="zh-CN" sz="1200" b="0">
                <a:solidFill>
                  <a:schemeClr val="tx1"/>
                </a:solidFill>
                <a:latin typeface="Open Sans" panose="020F0502020204030204" pitchFamily="34" charset="0"/>
              </a:rPr>
              <a:t>7 8 9 </a:t>
            </a:r>
          </a:p>
          <a:p>
            <a:pPr>
              <a:buFont typeface="Wingdings" pitchFamily="2" charset="2"/>
              <a:buNone/>
            </a:pPr>
            <a:r>
              <a:rPr lang="en-US" altLang="zh-CN" sz="1200" b="0">
                <a:solidFill>
                  <a:schemeClr val="tx1"/>
                </a:solidFill>
                <a:latin typeface="Open Sans" panose="020F0502020204030204" pitchFamily="34" charset="0"/>
              </a:rPr>
              <a:t>7 8 9 </a:t>
            </a:r>
          </a:p>
          <a:p>
            <a:pPr>
              <a:buFont typeface="Wingdings" pitchFamily="2" charset="2"/>
              <a:buNone/>
            </a:pPr>
            <a:r>
              <a:rPr lang="en-US" altLang="zh-CN" sz="1200" b="0">
                <a:solidFill>
                  <a:schemeClr val="tx1"/>
                </a:solidFill>
                <a:latin typeface="Open Sans" panose="020F0502020204030204" pitchFamily="34" charset="0"/>
              </a:rPr>
              <a:t>4 5 6 </a:t>
            </a:r>
          </a:p>
          <a:p>
            <a:pPr>
              <a:buFont typeface="Wingdings" pitchFamily="2" charset="2"/>
              <a:buNone/>
            </a:pPr>
            <a:r>
              <a:rPr lang="en-US" altLang="zh-CN" sz="1200" b="0">
                <a:solidFill>
                  <a:schemeClr val="tx1"/>
                </a:solidFill>
                <a:latin typeface="Open Sans" panose="020F0502020204030204" pitchFamily="34" charset="0"/>
              </a:rPr>
              <a:t>1 2 3</a:t>
            </a:r>
          </a:p>
          <a:p>
            <a:r>
              <a:rPr lang="zh-CN" altLang="zh-CN" sz="1200" b="0">
                <a:solidFill>
                  <a:schemeClr val="tx1"/>
                </a:solidFill>
                <a:latin typeface="Open Sans" panose="020F0502020204030204" pitchFamily="34" charset="0"/>
              </a:rPr>
              <a:t>样例</a:t>
            </a:r>
            <a:r>
              <a:rPr lang="zh-CN" altLang="en-US" sz="1200" b="0">
                <a:solidFill>
                  <a:schemeClr val="tx1"/>
                </a:solidFill>
                <a:latin typeface="Open Sans" panose="020F0502020204030204" pitchFamily="34" charset="0"/>
              </a:rPr>
              <a:t>输出：</a:t>
            </a:r>
            <a:endParaRPr lang="en-US" altLang="zh-CN" sz="1200" b="0">
              <a:solidFill>
                <a:schemeClr val="tx1"/>
              </a:solidFill>
              <a:latin typeface="Open Sans" panose="020F0502020204030204" pitchFamily="34" charset="0"/>
            </a:endParaRPr>
          </a:p>
          <a:p>
            <a:pPr>
              <a:buFont typeface="Wingdings" pitchFamily="2" charset="2"/>
              <a:buNone/>
            </a:pPr>
            <a:r>
              <a:rPr lang="en-US" altLang="zh-CN" sz="1200" b="0">
                <a:solidFill>
                  <a:schemeClr val="tx1"/>
                </a:solidFill>
                <a:latin typeface="Open Sans" panose="020F0502020204030204" pitchFamily="34" charset="0"/>
              </a:rPr>
              <a:t>8</a:t>
            </a:r>
            <a:r>
              <a:rPr lang="zh-CN" altLang="en-US" sz="1200" b="0">
                <a:solidFill>
                  <a:schemeClr val="tx1"/>
                </a:solidFill>
                <a:latin typeface="Open Sans" panose="020F0502020204030204" pitchFamily="34" charset="0"/>
              </a:rPr>
              <a:t> </a:t>
            </a:r>
            <a:r>
              <a:rPr lang="en-US" altLang="zh-CN" sz="1200" b="0">
                <a:solidFill>
                  <a:schemeClr val="tx1"/>
                </a:solidFill>
                <a:latin typeface="Open Sans" panose="020F0502020204030204" pitchFamily="34" charset="0"/>
              </a:rPr>
              <a:t>10</a:t>
            </a:r>
            <a:r>
              <a:rPr lang="zh-CN" altLang="en-US" sz="1200" b="0">
                <a:solidFill>
                  <a:schemeClr val="tx1"/>
                </a:solidFill>
                <a:latin typeface="Open Sans" panose="020F0502020204030204" pitchFamily="34" charset="0"/>
              </a:rPr>
              <a:t> </a:t>
            </a:r>
            <a:r>
              <a:rPr lang="en-US" altLang="zh-CN" sz="1200" b="0">
                <a:solidFill>
                  <a:schemeClr val="tx1"/>
                </a:solidFill>
                <a:latin typeface="Open Sans" panose="020F0502020204030204" pitchFamily="34" charset="0"/>
              </a:rPr>
              <a:t>12</a:t>
            </a:r>
          </a:p>
          <a:p>
            <a:pPr>
              <a:buFont typeface="Wingdings" pitchFamily="2" charset="2"/>
              <a:buNone/>
            </a:pPr>
            <a:r>
              <a:rPr lang="en-US" altLang="zh-CN" sz="1200" b="0">
                <a:solidFill>
                  <a:schemeClr val="tx1"/>
                </a:solidFill>
                <a:latin typeface="Open Sans" panose="020F0502020204030204" pitchFamily="34" charset="0"/>
              </a:rPr>
              <a:t>8</a:t>
            </a:r>
            <a:r>
              <a:rPr lang="zh-CN" altLang="en-US" sz="1200" b="0">
                <a:solidFill>
                  <a:schemeClr val="tx1"/>
                </a:solidFill>
                <a:latin typeface="Open Sans" panose="020F0502020204030204" pitchFamily="34" charset="0"/>
              </a:rPr>
              <a:t> </a:t>
            </a:r>
            <a:r>
              <a:rPr lang="en-US" altLang="zh-CN" sz="1200" b="0">
                <a:solidFill>
                  <a:schemeClr val="tx1"/>
                </a:solidFill>
                <a:latin typeface="Open Sans" panose="020F0502020204030204" pitchFamily="34" charset="0"/>
              </a:rPr>
              <a:t>10</a:t>
            </a:r>
            <a:r>
              <a:rPr lang="zh-CN" altLang="en-US" sz="1200" b="0">
                <a:solidFill>
                  <a:schemeClr val="tx1"/>
                </a:solidFill>
                <a:latin typeface="Open Sans" panose="020F0502020204030204" pitchFamily="34" charset="0"/>
              </a:rPr>
              <a:t> </a:t>
            </a:r>
            <a:r>
              <a:rPr lang="en-US" altLang="zh-CN" sz="1200" b="0">
                <a:solidFill>
                  <a:schemeClr val="tx1"/>
                </a:solidFill>
                <a:latin typeface="Open Sans" panose="020F0502020204030204" pitchFamily="34" charset="0"/>
              </a:rPr>
              <a:t>12</a:t>
            </a:r>
          </a:p>
          <a:p>
            <a:pPr>
              <a:buFont typeface="Wingdings" pitchFamily="2" charset="2"/>
              <a:buNone/>
            </a:pPr>
            <a:r>
              <a:rPr lang="en-US" altLang="zh-CN" sz="1200" b="0">
                <a:solidFill>
                  <a:schemeClr val="tx1"/>
                </a:solidFill>
                <a:latin typeface="Open Sans" panose="020F0502020204030204" pitchFamily="34" charset="0"/>
              </a:rPr>
              <a:t>8</a:t>
            </a:r>
            <a:r>
              <a:rPr lang="zh-CN" altLang="en-US" sz="1200" b="0">
                <a:solidFill>
                  <a:schemeClr val="tx1"/>
                </a:solidFill>
                <a:latin typeface="Open Sans" panose="020F0502020204030204" pitchFamily="34" charset="0"/>
              </a:rPr>
              <a:t> </a:t>
            </a:r>
            <a:r>
              <a:rPr lang="en-US" altLang="zh-CN" sz="1200" b="0">
                <a:solidFill>
                  <a:schemeClr val="tx1"/>
                </a:solidFill>
                <a:latin typeface="Open Sans" panose="020F0502020204030204" pitchFamily="34" charset="0"/>
              </a:rPr>
              <a:t>10</a:t>
            </a:r>
            <a:r>
              <a:rPr lang="zh-CN" altLang="en-US" sz="1200" b="0">
                <a:solidFill>
                  <a:schemeClr val="tx1"/>
                </a:solidFill>
                <a:latin typeface="Open Sans" panose="020F0502020204030204" pitchFamily="34" charset="0"/>
              </a:rPr>
              <a:t> </a:t>
            </a:r>
            <a:r>
              <a:rPr lang="en-US" altLang="zh-CN" sz="1200" b="0">
                <a:solidFill>
                  <a:schemeClr val="tx1"/>
                </a:solidFill>
                <a:latin typeface="Open Sans" panose="020F0502020204030204" pitchFamily="34" charset="0"/>
              </a:rPr>
              <a:t>12</a:t>
            </a:r>
            <a:endParaRPr lang="zh-CN" altLang="zh-CN" sz="1200" b="0">
              <a:solidFill>
                <a:schemeClr val="tx1"/>
              </a:solidFill>
              <a:latin typeface="Open Sans" panose="020F0502020204030204" pitchFamily="34" charset="0"/>
            </a:endParaRPr>
          </a:p>
        </p:txBody>
      </p:sp>
      <p:sp>
        <p:nvSpPr>
          <p:cNvPr id="57348" name="灯片编号占位符 3">
            <a:extLst>
              <a:ext uri="{FF2B5EF4-FFF2-40B4-BE49-F238E27FC236}">
                <a16:creationId xmlns:a16="http://schemas.microsoft.com/office/drawing/2014/main" id="{1AB7FDFE-A17E-365A-5034-068B3D14ACFC}"/>
              </a:ext>
            </a:extLst>
          </p:cNvPr>
          <p:cNvSpPr>
            <a:spLocks noGrp="1" noChangeArrowheads="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楷体_GB2312" pitchFamily="49" charset="-122"/>
              </a:defRPr>
            </a:lvl1pPr>
            <a:lvl2pPr marL="742950" indent="-285750">
              <a:defRPr sz="2400">
                <a:solidFill>
                  <a:schemeClr val="tx1"/>
                </a:solidFill>
                <a:latin typeface="Times New Roman" panose="02020603050405020304" pitchFamily="18" charset="0"/>
                <a:ea typeface="楷体_GB2312" pitchFamily="49" charset="-122"/>
              </a:defRPr>
            </a:lvl2pPr>
            <a:lvl3pPr marL="1143000" indent="-228600">
              <a:defRPr sz="2400">
                <a:solidFill>
                  <a:schemeClr val="tx1"/>
                </a:solidFill>
                <a:latin typeface="Times New Roman" panose="02020603050405020304" pitchFamily="18" charset="0"/>
                <a:ea typeface="楷体_GB2312" pitchFamily="49" charset="-122"/>
              </a:defRPr>
            </a:lvl3pPr>
            <a:lvl4pPr marL="1600200" indent="-228600">
              <a:defRPr sz="2400">
                <a:solidFill>
                  <a:schemeClr val="tx1"/>
                </a:solidFill>
                <a:latin typeface="Times New Roman" panose="02020603050405020304" pitchFamily="18" charset="0"/>
                <a:ea typeface="楷体_GB2312" pitchFamily="49" charset="-122"/>
              </a:defRPr>
            </a:lvl4pPr>
            <a:lvl5pPr marL="2057400" indent="-228600">
              <a:defRPr sz="24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楷体_GB2312" pitchFamily="49" charset="-122"/>
              </a:defRPr>
            </a:lvl9pPr>
          </a:lstStyle>
          <a:p>
            <a:fld id="{EDEC7D03-DB98-7448-858F-9368BB8263D8}" type="slidenum">
              <a:rPr lang="en-US" altLang="zh-CN" sz="1600">
                <a:latin typeface="Lucida Sans Unicode" panose="020B0602030504020204" pitchFamily="34" charset="0"/>
                <a:ea typeface="宋体" panose="02010600030101010101" pitchFamily="2" charset="-122"/>
              </a:rPr>
              <a:pPr/>
              <a:t>14</a:t>
            </a:fld>
            <a:endParaRPr lang="en-US" altLang="zh-CN" sz="1600">
              <a:latin typeface="Lucida Sans Unicode" panose="020B0602030504020204" pitchFamily="34" charset="0"/>
              <a:ea typeface="宋体" panose="02010600030101010101" pitchFamily="2" charset="-122"/>
            </a:endParaRPr>
          </a:p>
        </p:txBody>
      </p:sp>
      <p:sp>
        <p:nvSpPr>
          <p:cNvPr id="3" name="Rectangle 2">
            <a:extLst>
              <a:ext uri="{FF2B5EF4-FFF2-40B4-BE49-F238E27FC236}">
                <a16:creationId xmlns:a16="http://schemas.microsoft.com/office/drawing/2014/main" id="{1554D5E4-1F9D-528D-D698-DACD9F8EFAAE}"/>
              </a:ext>
            </a:extLst>
          </p:cNvPr>
          <p:cNvSpPr txBox="1">
            <a:spLocks noChangeArrowheads="1"/>
          </p:cNvSpPr>
          <p:nvPr/>
        </p:nvSpPr>
        <p:spPr bwMode="white">
          <a:xfrm>
            <a:off x="1000125" y="598488"/>
            <a:ext cx="7391400" cy="487362"/>
          </a:xfrm>
          <a:prstGeom prst="rect">
            <a:avLst/>
          </a:prstGeom>
          <a:noFill/>
          <a:ln>
            <a:noFill/>
          </a:ln>
        </p:spPr>
        <p:txBody>
          <a:bodyPr anchor="ctr"/>
          <a:lstStyle>
            <a:lvl1pPr algn="l" rtl="0" eaLnBrk="0" fontAlgn="base" hangingPunct="0">
              <a:spcBef>
                <a:spcPct val="0"/>
              </a:spcBef>
              <a:spcAft>
                <a:spcPct val="0"/>
              </a:spcAft>
              <a:defRPr sz="3600" b="1">
                <a:solidFill>
                  <a:schemeClr val="bg1"/>
                </a:solidFill>
                <a:latin typeface="+mj-lt"/>
                <a:ea typeface="+mj-ea"/>
                <a:cs typeface="楷体_GB2312"/>
              </a:defRPr>
            </a:lvl1pPr>
            <a:lvl2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2pPr>
            <a:lvl3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3pPr>
            <a:lvl4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4pPr>
            <a:lvl5pPr algn="l" rtl="0" eaLnBrk="0" fontAlgn="base" hangingPunct="0">
              <a:spcBef>
                <a:spcPct val="0"/>
              </a:spcBef>
              <a:spcAft>
                <a:spcPct val="0"/>
              </a:spcAft>
              <a:defRPr sz="3600" b="1">
                <a:solidFill>
                  <a:schemeClr val="bg1"/>
                </a:solidFill>
                <a:latin typeface="Times New Roman" pitchFamily="18" charset="0"/>
                <a:ea typeface="楷体_GB2312" pitchFamily="49" charset="-122"/>
                <a:cs typeface="楷体_GB2312"/>
              </a:defRPr>
            </a:lvl5pPr>
            <a:lvl6pPr marL="4572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6pPr>
            <a:lvl7pPr marL="9144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7pPr>
            <a:lvl8pPr marL="13716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8pPr>
            <a:lvl9pPr marL="1828800" algn="l" rtl="0" eaLnBrk="1" fontAlgn="base" hangingPunct="1">
              <a:spcBef>
                <a:spcPct val="0"/>
              </a:spcBef>
              <a:spcAft>
                <a:spcPct val="0"/>
              </a:spcAft>
              <a:defRPr sz="3600" b="1">
                <a:solidFill>
                  <a:schemeClr val="bg1"/>
                </a:solidFill>
                <a:latin typeface="Times New Roman" pitchFamily="18" charset="0"/>
                <a:ea typeface="楷体_GB2312" pitchFamily="49" charset="-122"/>
              </a:defRPr>
            </a:lvl9pPr>
          </a:lstStyle>
          <a:p>
            <a:pPr>
              <a:defRPr/>
            </a:pPr>
            <a:r>
              <a:rPr lang="en-US" altLang="zh-CN" dirty="0"/>
              <a:t>Exercise</a:t>
            </a:r>
            <a:endParaRPr lang="en-US" altLang="zh-CN" kern="0" dirty="0"/>
          </a:p>
        </p:txBody>
      </p:sp>
    </p:spTree>
  </p:cSld>
  <p:clrMapOvr>
    <a:masterClrMapping/>
  </p:clrMapOvr>
  <p:transition>
    <p:fade/>
  </p:transition>
</p:sld>
</file>

<file path=ppt/theme/theme1.xml><?xml version="1.0" encoding="utf-8"?>
<a:theme xmlns:a="http://schemas.openxmlformats.org/drawingml/2006/main" name="主题1">
  <a:themeElements>
    <a:clrScheme name="117TGp_report_diagram_v2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fontScheme name="117TGp_report_diagram_v2">
      <a:majorFont>
        <a:latin typeface="Times New Roman"/>
        <a:ea typeface="楷体_GB2312"/>
        <a:cs typeface=""/>
      </a:majorFont>
      <a:minorFont>
        <a:latin typeface="楷体_GB2312"/>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17TGp_report_diagram_v2 1">
        <a:dk1>
          <a:srgbClr val="000000"/>
        </a:dk1>
        <a:lt1>
          <a:srgbClr val="FFFFFF"/>
        </a:lt1>
        <a:dk2>
          <a:srgbClr val="000798"/>
        </a:dk2>
        <a:lt2>
          <a:srgbClr val="B2B2B2"/>
        </a:lt2>
        <a:accent1>
          <a:srgbClr val="1B33E7"/>
        </a:accent1>
        <a:accent2>
          <a:srgbClr val="6699FF"/>
        </a:accent2>
        <a:accent3>
          <a:srgbClr val="FFFFFF"/>
        </a:accent3>
        <a:accent4>
          <a:srgbClr val="000000"/>
        </a:accent4>
        <a:accent5>
          <a:srgbClr val="ABADF1"/>
        </a:accent5>
        <a:accent6>
          <a:srgbClr val="5C8AE7"/>
        </a:accent6>
        <a:hlink>
          <a:srgbClr val="99CCFF"/>
        </a:hlink>
        <a:folHlink>
          <a:srgbClr val="3366CC"/>
        </a:folHlink>
      </a:clrScheme>
      <a:clrMap bg1="lt1" tx1="dk1" bg2="lt2" tx2="dk2" accent1="accent1" accent2="accent2" accent3="accent3" accent4="accent4" accent5="accent5" accent6="accent6" hlink="hlink" folHlink="folHlink"/>
    </a:extraClrScheme>
    <a:extraClrScheme>
      <a:clrScheme name="117TGp_report_diagram_v2 2">
        <a:dk1>
          <a:srgbClr val="000000"/>
        </a:dk1>
        <a:lt1>
          <a:srgbClr val="FFFFFF"/>
        </a:lt1>
        <a:dk2>
          <a:srgbClr val="094332"/>
        </a:dk2>
        <a:lt2>
          <a:srgbClr val="B2B2B2"/>
        </a:lt2>
        <a:accent1>
          <a:srgbClr val="0D6531"/>
        </a:accent1>
        <a:accent2>
          <a:srgbClr val="39AF6E"/>
        </a:accent2>
        <a:accent3>
          <a:srgbClr val="FFFFFF"/>
        </a:accent3>
        <a:accent4>
          <a:srgbClr val="000000"/>
        </a:accent4>
        <a:accent5>
          <a:srgbClr val="AAB8AD"/>
        </a:accent5>
        <a:accent6>
          <a:srgbClr val="339E63"/>
        </a:accent6>
        <a:hlink>
          <a:srgbClr val="93E1A0"/>
        </a:hlink>
        <a:folHlink>
          <a:srgbClr val="1D834B"/>
        </a:folHlink>
      </a:clrScheme>
      <a:clrMap bg1="lt1" tx1="dk1" bg2="lt2" tx2="dk2" accent1="accent1" accent2="accent2" accent3="accent3" accent4="accent4" accent5="accent5" accent6="accent6" hlink="hlink" folHlink="folHlink"/>
    </a:extraClrScheme>
    <a:extraClrScheme>
      <a:clrScheme name="117TGp_report_diagram_v2 3">
        <a:dk1>
          <a:srgbClr val="000000"/>
        </a:dk1>
        <a:lt1>
          <a:srgbClr val="FFFFFF"/>
        </a:lt1>
        <a:dk2>
          <a:srgbClr val="275CA3"/>
        </a:dk2>
        <a:lt2>
          <a:srgbClr val="C0C0C0"/>
        </a:lt2>
        <a:accent1>
          <a:srgbClr val="529EBC"/>
        </a:accent1>
        <a:accent2>
          <a:srgbClr val="55BEE3"/>
        </a:accent2>
        <a:accent3>
          <a:srgbClr val="FFFFFF"/>
        </a:accent3>
        <a:accent4>
          <a:srgbClr val="000000"/>
        </a:accent4>
        <a:accent5>
          <a:srgbClr val="B3CCDA"/>
        </a:accent5>
        <a:accent6>
          <a:srgbClr val="4CACCE"/>
        </a:accent6>
        <a:hlink>
          <a:srgbClr val="9FD4F1"/>
        </a:hlink>
        <a:folHlink>
          <a:srgbClr val="0099C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13141</TotalTime>
  <Words>1701</Words>
  <Application>Microsoft Office PowerPoint</Application>
  <PresentationFormat>全屏显示(4:3)</PresentationFormat>
  <Paragraphs>248</Paragraphs>
  <Slides>14</Slides>
  <Notes>5</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幻灯片标题</vt:lpstr>
      </vt:variant>
      <vt:variant>
        <vt:i4>14</vt:i4>
      </vt:variant>
      <vt:variant>
        <vt:lpstr>自定义放映</vt:lpstr>
      </vt:variant>
      <vt:variant>
        <vt:i4>1</vt:i4>
      </vt:variant>
    </vt:vector>
  </HeadingPairs>
  <TitlesOfParts>
    <vt:vector size="32" baseType="lpstr">
      <vt:lpstr>font-size:16px;background-color</vt:lpstr>
      <vt:lpstr>KaiTi</vt:lpstr>
      <vt:lpstr>Lato</vt:lpstr>
      <vt:lpstr>Monotype Sorts</vt:lpstr>
      <vt:lpstr>Open Sans</vt:lpstr>
      <vt:lpstr>黑体</vt:lpstr>
      <vt:lpstr>楷体_GB2312</vt:lpstr>
      <vt:lpstr>宋体</vt:lpstr>
      <vt:lpstr>微软雅黑</vt:lpstr>
      <vt:lpstr>Arial</vt:lpstr>
      <vt:lpstr>Courier New</vt:lpstr>
      <vt:lpstr>Lucida Sans Unicode</vt:lpstr>
      <vt:lpstr>Tahoma</vt:lpstr>
      <vt:lpstr>Times New Roman</vt:lpstr>
      <vt:lpstr>Verdana</vt:lpstr>
      <vt:lpstr>Wingdings</vt:lpstr>
      <vt:lpstr>主题1</vt:lpstr>
      <vt:lpstr>程序设计原理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Methods</dc:title>
  <dc:creator>Y. Daniel Liang</dc:creator>
  <cp:lastModifiedBy>zmk</cp:lastModifiedBy>
  <cp:revision>436</cp:revision>
  <dcterms:created xsi:type="dcterms:W3CDTF">1995-06-10T17:31:50Z</dcterms:created>
  <dcterms:modified xsi:type="dcterms:W3CDTF">2025-11-26T01:54:32Z</dcterms:modified>
</cp:coreProperties>
</file>